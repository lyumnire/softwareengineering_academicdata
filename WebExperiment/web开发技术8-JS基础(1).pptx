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084" r:id="rId3"/>
    <p:sldId id="1186" r:id="rId5"/>
    <p:sldId id="1199" r:id="rId6"/>
    <p:sldId id="1200" r:id="rId7"/>
    <p:sldId id="1201" r:id="rId8"/>
    <p:sldId id="1202" r:id="rId9"/>
    <p:sldId id="1203" r:id="rId10"/>
    <p:sldId id="1204" r:id="rId11"/>
    <p:sldId id="1205" r:id="rId12"/>
    <p:sldId id="1206" r:id="rId13"/>
    <p:sldId id="1207" r:id="rId14"/>
    <p:sldId id="1208" r:id="rId15"/>
    <p:sldId id="1209" r:id="rId16"/>
    <p:sldId id="1210" r:id="rId17"/>
    <p:sldId id="1211" r:id="rId18"/>
    <p:sldId id="1212" r:id="rId19"/>
    <p:sldId id="1213" r:id="rId20"/>
    <p:sldId id="1214" r:id="rId21"/>
    <p:sldId id="1215" r:id="rId22"/>
    <p:sldId id="1216" r:id="rId23"/>
    <p:sldId id="1217" r:id="rId24"/>
    <p:sldId id="1218" r:id="rId25"/>
    <p:sldId id="1239" r:id="rId26"/>
    <p:sldId id="1240" r:id="rId27"/>
    <p:sldId id="1219" r:id="rId28"/>
    <p:sldId id="1220" r:id="rId29"/>
    <p:sldId id="1221" r:id="rId30"/>
    <p:sldId id="1222" r:id="rId31"/>
    <p:sldId id="1242" r:id="rId32"/>
    <p:sldId id="1223" r:id="rId33"/>
    <p:sldId id="1224" r:id="rId34"/>
    <p:sldId id="1225" r:id="rId35"/>
    <p:sldId id="1226" r:id="rId36"/>
    <p:sldId id="1227" r:id="rId37"/>
    <p:sldId id="1228" r:id="rId38"/>
    <p:sldId id="1229" r:id="rId39"/>
    <p:sldId id="1230" r:id="rId40"/>
    <p:sldId id="1231" r:id="rId41"/>
    <p:sldId id="1232" r:id="rId42"/>
    <p:sldId id="1233" r:id="rId43"/>
    <p:sldId id="1234" r:id="rId44"/>
    <p:sldId id="1235" r:id="rId45"/>
    <p:sldId id="1236" r:id="rId46"/>
    <p:sldId id="1241" r:id="rId47"/>
    <p:sldId id="1198" r:id="rId48"/>
  </p:sldIdLst>
  <p:sldSz cx="12192000" cy="6858000"/>
  <p:notesSz cx="6858000" cy="9144000"/>
  <p:custDataLst>
    <p:tags r:id="rId5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B9AF"/>
    <a:srgbClr val="5C303C"/>
    <a:srgbClr val="DF342B"/>
    <a:srgbClr val="295C56"/>
    <a:srgbClr val="0075BF"/>
    <a:srgbClr val="034EA2"/>
    <a:srgbClr val="0087CD"/>
    <a:srgbClr val="C68F06"/>
    <a:srgbClr val="DB2C03"/>
    <a:srgbClr val="EBAC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1" autoAdjust="0"/>
    <p:restoredTop sz="94660"/>
  </p:normalViewPr>
  <p:slideViewPr>
    <p:cSldViewPr>
      <p:cViewPr>
        <p:scale>
          <a:sx n="66" d="100"/>
          <a:sy n="66" d="100"/>
        </p:scale>
        <p:origin x="-592" y="0"/>
      </p:cViewPr>
      <p:guideLst>
        <p:guide orient="horz" pos="2124"/>
        <p:guide pos="384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3360" y="-96"/>
      </p:cViewPr>
      <p:guideLst>
        <p:guide orient="horz" pos="2831"/>
        <p:guide pos="216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2" Type="http://schemas.openxmlformats.org/officeDocument/2006/relationships/tags" Target="tags/tag165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2.xml"/><Relationship Id="rId49" Type="http://schemas.openxmlformats.org/officeDocument/2006/relationships/presProps" Target="presProps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2A5992-9D73-4015-9385-ABE035416B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5A699-AB68-4A20-99FB-6F69DC266D4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9295031C-36FB-4BFB-B547-5049AC3C4D2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9295031C-36FB-4BFB-B547-5049AC3C4D2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image" Target="../media/image4.png"/><Relationship Id="rId5" Type="http://schemas.openxmlformats.org/officeDocument/2006/relationships/tags" Target="../tags/tag13.xml"/><Relationship Id="rId4" Type="http://schemas.openxmlformats.org/officeDocument/2006/relationships/image" Target="../media/image3.jpeg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image" Target="../media/image2.png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image" Target="../media/image1.jpeg"/><Relationship Id="rId2" Type="http://schemas.openxmlformats.org/officeDocument/2006/relationships/tags" Target="../tags/tag1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image" Target="../media/image4.png"/><Relationship Id="rId5" Type="http://schemas.openxmlformats.org/officeDocument/2006/relationships/tags" Target="../tags/tag31.xml"/><Relationship Id="rId4" Type="http://schemas.openxmlformats.org/officeDocument/2006/relationships/image" Target="../media/image3.jpeg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2" Type="http://schemas.openxmlformats.org/officeDocument/2006/relationships/tags" Target="../tags/tag37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image" Target="../media/image4.png"/><Relationship Id="rId5" Type="http://schemas.openxmlformats.org/officeDocument/2006/relationships/tags" Target="../tags/tag40.xml"/><Relationship Id="rId4" Type="http://schemas.openxmlformats.org/officeDocument/2006/relationships/image" Target="../media/image3.jpeg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4" Type="http://schemas.openxmlformats.org/officeDocument/2006/relationships/tags" Target="../tags/tag48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image" Target="../media/image4.png"/><Relationship Id="rId6" Type="http://schemas.openxmlformats.org/officeDocument/2006/relationships/tags" Target="../tags/tag51.xml"/><Relationship Id="rId5" Type="http://schemas.openxmlformats.org/officeDocument/2006/relationships/image" Target="../media/image5.png"/><Relationship Id="rId4" Type="http://schemas.openxmlformats.org/officeDocument/2006/relationships/tags" Target="../tags/tag50.xml"/><Relationship Id="rId3" Type="http://schemas.openxmlformats.org/officeDocument/2006/relationships/image" Target="../media/image3.jpeg"/><Relationship Id="rId2" Type="http://schemas.openxmlformats.org/officeDocument/2006/relationships/tags" Target="../tags/tag49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image" Target="../media/image4.png"/><Relationship Id="rId5" Type="http://schemas.openxmlformats.org/officeDocument/2006/relationships/tags" Target="../tags/tag61.xml"/><Relationship Id="rId4" Type="http://schemas.openxmlformats.org/officeDocument/2006/relationships/image" Target="../media/image3.jpeg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image" Target="../media/image4.png"/><Relationship Id="rId5" Type="http://schemas.openxmlformats.org/officeDocument/2006/relationships/tags" Target="../tags/tag70.xml"/><Relationship Id="rId4" Type="http://schemas.openxmlformats.org/officeDocument/2006/relationships/image" Target="../media/image3.jpeg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image" Target="../media/image4.png"/><Relationship Id="rId5" Type="http://schemas.openxmlformats.org/officeDocument/2006/relationships/tags" Target="../tags/tag79.xml"/><Relationship Id="rId4" Type="http://schemas.openxmlformats.org/officeDocument/2006/relationships/image" Target="../media/image3.jpeg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1" Type="http://schemas.openxmlformats.org/officeDocument/2006/relationships/tags" Target="../tags/tag84.xml"/><Relationship Id="rId10" Type="http://schemas.openxmlformats.org/officeDocument/2006/relationships/tags" Target="../tags/tag83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image" Target="../media/image2.png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image" Target="../media/image1.jpeg"/><Relationship Id="rId2" Type="http://schemas.openxmlformats.org/officeDocument/2006/relationships/tags" Target="../tags/tag85.xml"/><Relationship Id="rId13" Type="http://schemas.openxmlformats.org/officeDocument/2006/relationships/tags" Target="../tags/tag94.xml"/><Relationship Id="rId12" Type="http://schemas.openxmlformats.org/officeDocument/2006/relationships/tags" Target="../tags/tag93.xml"/><Relationship Id="rId11" Type="http://schemas.openxmlformats.org/officeDocument/2006/relationships/tags" Target="../tags/tag92.xml"/><Relationship Id="rId10" Type="http://schemas.openxmlformats.org/officeDocument/2006/relationships/tags" Target="../tags/tag91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image" Target="../media/image7.png"/><Relationship Id="rId4" Type="http://schemas.openxmlformats.org/officeDocument/2006/relationships/tags" Target="../tags/tag96.xml"/><Relationship Id="rId3" Type="http://schemas.openxmlformats.org/officeDocument/2006/relationships/image" Target="../media/image6.png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image" Target="../media/image4.png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0" Type="http://schemas.openxmlformats.org/officeDocument/2006/relationships/tags" Target="../tags/tag108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16.xml"/><Relationship Id="rId8" Type="http://schemas.openxmlformats.org/officeDocument/2006/relationships/tags" Target="../tags/tag115.xml"/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2" Type="http://schemas.openxmlformats.org/officeDocument/2006/relationships/image" Target="../media/image8.png"/><Relationship Id="rId11" Type="http://schemas.openxmlformats.org/officeDocument/2006/relationships/tags" Target="../tags/tag117.xml"/><Relationship Id="rId10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image" Target="../media/image9.png"/><Relationship Id="rId7" Type="http://schemas.openxmlformats.org/officeDocument/2006/relationships/tags" Target="../tags/tag121.xml"/><Relationship Id="rId6" Type="http://schemas.openxmlformats.org/officeDocument/2006/relationships/image" Target="../media/image8.png"/><Relationship Id="rId5" Type="http://schemas.openxmlformats.org/officeDocument/2006/relationships/tags" Target="../tags/tag120.xml"/><Relationship Id="rId4" Type="http://schemas.openxmlformats.org/officeDocument/2006/relationships/image" Target="../media/image4.png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4" Type="http://schemas.openxmlformats.org/officeDocument/2006/relationships/tags" Target="../tags/tag127.xml"/><Relationship Id="rId13" Type="http://schemas.openxmlformats.org/officeDocument/2006/relationships/tags" Target="../tags/tag126.xml"/><Relationship Id="rId12" Type="http://schemas.openxmlformats.org/officeDocument/2006/relationships/tags" Target="../tags/tag125.xml"/><Relationship Id="rId11" Type="http://schemas.openxmlformats.org/officeDocument/2006/relationships/tags" Target="../tags/tag124.xml"/><Relationship Id="rId10" Type="http://schemas.openxmlformats.org/officeDocument/2006/relationships/tags" Target="../tags/tag123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34.xml"/><Relationship Id="rId8" Type="http://schemas.openxmlformats.org/officeDocument/2006/relationships/tags" Target="../tags/tag133.xml"/><Relationship Id="rId7" Type="http://schemas.openxmlformats.org/officeDocument/2006/relationships/tags" Target="../tags/tag132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image" Target="../media/image9.png"/><Relationship Id="rId2" Type="http://schemas.openxmlformats.org/officeDocument/2006/relationships/tags" Target="../tags/tag128.xml"/><Relationship Id="rId10" Type="http://schemas.openxmlformats.org/officeDocument/2006/relationships/tags" Target="../tags/tag135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42.xml"/><Relationship Id="rId8" Type="http://schemas.openxmlformats.org/officeDocument/2006/relationships/tags" Target="../tags/tag141.xml"/><Relationship Id="rId7" Type="http://schemas.openxmlformats.org/officeDocument/2006/relationships/tags" Target="../tags/tag140.xml"/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image" Target="../media/image4.png"/><Relationship Id="rId2" Type="http://schemas.openxmlformats.org/officeDocument/2006/relationships/tags" Target="../tags/tag136.xml"/><Relationship Id="rId12" Type="http://schemas.openxmlformats.org/officeDocument/2006/relationships/tags" Target="../tags/tag145.xml"/><Relationship Id="rId11" Type="http://schemas.openxmlformats.org/officeDocument/2006/relationships/tags" Target="../tags/tag144.xml"/><Relationship Id="rId10" Type="http://schemas.openxmlformats.org/officeDocument/2006/relationships/tags" Target="../tags/tag143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tags" Target="../tags/tag150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image" Target="../media/image6.png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0" Type="http://schemas.openxmlformats.org/officeDocument/2006/relationships/tags" Target="../tags/tag153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47"/>
            <a:ext cx="12197424" cy="6854953"/>
          </a:xfrm>
          <a:prstGeom prst="rect">
            <a:avLst/>
          </a:prstGeom>
        </p:spPr>
      </p:pic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382310" y="362404"/>
            <a:ext cx="11427380" cy="5930283"/>
          </a:xfrm>
          <a:prstGeom prst="rect">
            <a:avLst/>
          </a:prstGeom>
          <a:noFill/>
          <a:ln w="762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lt1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6"/>
          <a:srcRect/>
          <a:stretch>
            <a:fillRect/>
          </a:stretch>
        </p:blipFill>
        <p:spPr>
          <a:xfrm>
            <a:off x="-1" y="-1"/>
            <a:ext cx="8650435" cy="186474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6"/>
          <a:srcRect/>
          <a:stretch>
            <a:fillRect/>
          </a:stretch>
        </p:blipFill>
        <p:spPr>
          <a:xfrm flipH="1" flipV="1">
            <a:off x="3541565" y="4993257"/>
            <a:ext cx="8650435" cy="1864743"/>
          </a:xfrm>
          <a:prstGeom prst="rect">
            <a:avLst/>
          </a:prstGeom>
        </p:spPr>
      </p:pic>
      <p:cxnSp>
        <p:nvCxnSpPr>
          <p:cNvPr id="10" name="直接连接符 9"/>
          <p:cNvCxnSpPr/>
          <p:nvPr>
            <p:custDataLst>
              <p:tags r:id="rId8"/>
            </p:custDataLst>
          </p:nvPr>
        </p:nvCxnSpPr>
        <p:spPr>
          <a:xfrm>
            <a:off x="5921831" y="3745699"/>
            <a:ext cx="34834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 hasCustomPrompt="1"/>
            <p:custDataLst>
              <p:tags r:id="rId9"/>
            </p:custDataLst>
          </p:nvPr>
        </p:nvSpPr>
        <p:spPr>
          <a:xfrm>
            <a:off x="1524000" y="1983041"/>
            <a:ext cx="9144000" cy="1675856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7200" b="1" u="none" strike="noStrike" kern="1200" cap="none" spc="200" normalizeH="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1524000" y="3820253"/>
            <a:ext cx="9144000" cy="635221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buNone/>
              <a:defRPr sz="24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/>
          <a:p>
            <a:fld id="{B821E1E1-C2E2-4CDD-9A23-A3F1F47A2F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/>
          <a:p>
            <a:fld id="{E9DFD411-9938-4D6D-80D5-0232E79D64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0" name="图片 9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custGeom>
              <a:avLst/>
              <a:gdLst>
                <a:gd name="connsiteX0" fmla="*/ 123092 w 12192000"/>
                <a:gd name="connsiteY0" fmla="*/ 140677 h 6858000"/>
                <a:gd name="connsiteX1" fmla="*/ 123092 w 12192000"/>
                <a:gd name="connsiteY1" fmla="*/ 6739060 h 6858000"/>
                <a:gd name="connsiteX2" fmla="*/ 12027876 w 12192000"/>
                <a:gd name="connsiteY2" fmla="*/ 6739060 h 6858000"/>
                <a:gd name="connsiteX3" fmla="*/ 12027876 w 12192000"/>
                <a:gd name="connsiteY3" fmla="*/ 140677 h 6858000"/>
                <a:gd name="connsiteX4" fmla="*/ 0 w 12192000"/>
                <a:gd name="connsiteY4" fmla="*/ 0 h 6858000"/>
                <a:gd name="connsiteX5" fmla="*/ 12192000 w 12192000"/>
                <a:gd name="connsiteY5" fmla="*/ 0 h 6858000"/>
                <a:gd name="connsiteX6" fmla="*/ 12192000 w 12192000"/>
                <a:gd name="connsiteY6" fmla="*/ 6858000 h 6858000"/>
                <a:gd name="connsiteX7" fmla="*/ 0 w 1219200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8000">
                  <a:moveTo>
                    <a:pt x="123092" y="140677"/>
                  </a:moveTo>
                  <a:lnTo>
                    <a:pt x="123092" y="6739060"/>
                  </a:lnTo>
                  <a:lnTo>
                    <a:pt x="12027876" y="6739060"/>
                  </a:lnTo>
                  <a:lnTo>
                    <a:pt x="12027876" y="140677"/>
                  </a:ln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 rotWithShape="1">
            <a:blip r:embed="rId6"/>
            <a:srcRect/>
            <a:stretch>
              <a:fillRect/>
            </a:stretch>
          </p:blipFill>
          <p:spPr>
            <a:xfrm flipH="1" flipV="1">
              <a:off x="7543799" y="5856003"/>
              <a:ext cx="4648201" cy="1001996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8"/>
            </p:custDataLst>
          </p:nvPr>
        </p:nvSpPr>
        <p:spPr>
          <a:xfrm>
            <a:off x="839470" y="1628775"/>
            <a:ext cx="10231120" cy="43942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47"/>
            <a:ext cx="12197424" cy="6854953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1142263" y="625930"/>
            <a:ext cx="9907479" cy="5606145"/>
          </a:xfrm>
          <a:prstGeom prst="rect">
            <a:avLst/>
          </a:prstGeom>
          <a:noFill/>
          <a:ln w="762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6"/>
          <a:srcRect/>
          <a:stretch>
            <a:fillRect/>
          </a:stretch>
        </p:blipFill>
        <p:spPr>
          <a:xfrm>
            <a:off x="-1" y="-1"/>
            <a:ext cx="8650435" cy="1864743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6"/>
          <a:srcRect/>
          <a:stretch>
            <a:fillRect/>
          </a:stretch>
        </p:blipFill>
        <p:spPr>
          <a:xfrm flipH="1" flipV="1">
            <a:off x="3554265" y="4993257"/>
            <a:ext cx="8650435" cy="1864743"/>
          </a:xfrm>
          <a:prstGeom prst="rect">
            <a:avLst/>
          </a:prstGeom>
        </p:spPr>
      </p:pic>
      <p:cxnSp>
        <p:nvCxnSpPr>
          <p:cNvPr id="18" name="直接连接符 17"/>
          <p:cNvCxnSpPr/>
          <p:nvPr>
            <p:custDataLst>
              <p:tags r:id="rId8"/>
            </p:custDataLst>
          </p:nvPr>
        </p:nvCxnSpPr>
        <p:spPr>
          <a:xfrm>
            <a:off x="5921831" y="3785871"/>
            <a:ext cx="34834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2283362" y="2310573"/>
            <a:ext cx="7625276" cy="1426368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6000" b="1" u="none" strike="noStrike" kern="1200" cap="none" spc="200" normalizeH="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0"/>
            </p:custDataLst>
          </p:nvPr>
        </p:nvSpPr>
        <p:spPr>
          <a:xfrm>
            <a:off x="2283362" y="3858195"/>
            <a:ext cx="7625276" cy="571993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buNone/>
              <a:defRPr sz="24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/>
          <a:p>
            <a:fld id="{B821E1E1-C2E2-4CDD-9A23-A3F1F47A2F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/>
          <a:p>
            <a:fld id="{E9DFD411-9938-4D6D-80D5-0232E79D64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custGeom>
              <a:avLst/>
              <a:gdLst>
                <a:gd name="connsiteX0" fmla="*/ 123092 w 12192000"/>
                <a:gd name="connsiteY0" fmla="*/ 140677 h 6858000"/>
                <a:gd name="connsiteX1" fmla="*/ 123092 w 12192000"/>
                <a:gd name="connsiteY1" fmla="*/ 6739060 h 6858000"/>
                <a:gd name="connsiteX2" fmla="*/ 12027876 w 12192000"/>
                <a:gd name="connsiteY2" fmla="*/ 6739060 h 6858000"/>
                <a:gd name="connsiteX3" fmla="*/ 12027876 w 12192000"/>
                <a:gd name="connsiteY3" fmla="*/ 140677 h 6858000"/>
                <a:gd name="connsiteX4" fmla="*/ 0 w 12192000"/>
                <a:gd name="connsiteY4" fmla="*/ 0 h 6858000"/>
                <a:gd name="connsiteX5" fmla="*/ 12192000 w 12192000"/>
                <a:gd name="connsiteY5" fmla="*/ 0 h 6858000"/>
                <a:gd name="connsiteX6" fmla="*/ 12192000 w 12192000"/>
                <a:gd name="connsiteY6" fmla="*/ 6858000 h 6858000"/>
                <a:gd name="connsiteX7" fmla="*/ 0 w 1219200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8000">
                  <a:moveTo>
                    <a:pt x="123092" y="140677"/>
                  </a:moveTo>
                  <a:lnTo>
                    <a:pt x="123092" y="6739060"/>
                  </a:lnTo>
                  <a:lnTo>
                    <a:pt x="12027876" y="6739060"/>
                  </a:lnTo>
                  <a:lnTo>
                    <a:pt x="12027876" y="140677"/>
                  </a:ln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pic>
          <p:nvPicPr>
            <p:cNvPr id="14" name="图片 1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 rotWithShape="1">
            <a:blip r:embed="rId6"/>
            <a:srcRect/>
            <a:stretch>
              <a:fillRect/>
            </a:stretch>
          </p:blipFill>
          <p:spPr>
            <a:xfrm flipH="1" flipV="1">
              <a:off x="7543799" y="5856003"/>
              <a:ext cx="4648201" cy="1001996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8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9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4" name="图片 13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custGeom>
              <a:avLst/>
              <a:gdLst>
                <a:gd name="connsiteX0" fmla="*/ 123092 w 12192000"/>
                <a:gd name="connsiteY0" fmla="*/ 140677 h 6858000"/>
                <a:gd name="connsiteX1" fmla="*/ 123092 w 12192000"/>
                <a:gd name="connsiteY1" fmla="*/ 6739060 h 6858000"/>
                <a:gd name="connsiteX2" fmla="*/ 12027876 w 12192000"/>
                <a:gd name="connsiteY2" fmla="*/ 6739060 h 6858000"/>
                <a:gd name="connsiteX3" fmla="*/ 12027876 w 12192000"/>
                <a:gd name="connsiteY3" fmla="*/ 140677 h 6858000"/>
                <a:gd name="connsiteX4" fmla="*/ 0 w 12192000"/>
                <a:gd name="connsiteY4" fmla="*/ 0 h 6858000"/>
                <a:gd name="connsiteX5" fmla="*/ 12192000 w 12192000"/>
                <a:gd name="connsiteY5" fmla="*/ 0 h 6858000"/>
                <a:gd name="connsiteX6" fmla="*/ 12192000 w 12192000"/>
                <a:gd name="connsiteY6" fmla="*/ 6858000 h 6858000"/>
                <a:gd name="connsiteX7" fmla="*/ 0 w 1219200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8000">
                  <a:moveTo>
                    <a:pt x="123092" y="140677"/>
                  </a:moveTo>
                  <a:lnTo>
                    <a:pt x="123092" y="6739060"/>
                  </a:lnTo>
                  <a:lnTo>
                    <a:pt x="12027876" y="6739060"/>
                  </a:lnTo>
                  <a:lnTo>
                    <a:pt x="12027876" y="140677"/>
                  </a:ln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pic>
          <p:nvPicPr>
            <p:cNvPr id="16" name="图片 15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 rotWithShape="1">
            <a:blip r:embed="rId6"/>
            <a:srcRect/>
            <a:stretch>
              <a:fillRect/>
            </a:stretch>
          </p:blipFill>
          <p:spPr>
            <a:xfrm flipH="1" flipV="1">
              <a:off x="7543799" y="5856003"/>
              <a:ext cx="4648201" cy="1001996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8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9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0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1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u="none" strike="noStrike" kern="1200" cap="none" spc="0" normalizeH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u="none" strike="noStrike" kern="1200" cap="none" spc="0" normalizeH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u="none" strike="noStrike" kern="1200" cap="none" spc="0" normalizeH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6"/>
            <a:ext cx="12192000" cy="6856644"/>
          </a:xfrm>
          <a:custGeom>
            <a:avLst/>
            <a:gdLst>
              <a:gd name="connsiteX0" fmla="*/ 123092 w 12192000"/>
              <a:gd name="connsiteY0" fmla="*/ 140677 h 6858000"/>
              <a:gd name="connsiteX1" fmla="*/ 123092 w 12192000"/>
              <a:gd name="connsiteY1" fmla="*/ 6739060 h 6858000"/>
              <a:gd name="connsiteX2" fmla="*/ 12027876 w 12192000"/>
              <a:gd name="connsiteY2" fmla="*/ 6739060 h 6858000"/>
              <a:gd name="connsiteX3" fmla="*/ 12027876 w 12192000"/>
              <a:gd name="connsiteY3" fmla="*/ 140677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23092" y="140677"/>
                </a:moveTo>
                <a:lnTo>
                  <a:pt x="123092" y="6739060"/>
                </a:lnTo>
                <a:lnTo>
                  <a:pt x="12027876" y="6739060"/>
                </a:lnTo>
                <a:lnTo>
                  <a:pt x="12027876" y="140677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1" y="1"/>
            <a:ext cx="4038600" cy="87058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 flipH="1" flipV="1">
            <a:off x="7554309" y="5866513"/>
            <a:ext cx="4648201" cy="100199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1" name="图片 10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custGeom>
              <a:avLst/>
              <a:gdLst>
                <a:gd name="connsiteX0" fmla="*/ 123092 w 12192000"/>
                <a:gd name="connsiteY0" fmla="*/ 140677 h 6858000"/>
                <a:gd name="connsiteX1" fmla="*/ 123092 w 12192000"/>
                <a:gd name="connsiteY1" fmla="*/ 6739060 h 6858000"/>
                <a:gd name="connsiteX2" fmla="*/ 12027876 w 12192000"/>
                <a:gd name="connsiteY2" fmla="*/ 6739060 h 6858000"/>
                <a:gd name="connsiteX3" fmla="*/ 12027876 w 12192000"/>
                <a:gd name="connsiteY3" fmla="*/ 140677 h 6858000"/>
                <a:gd name="connsiteX4" fmla="*/ 0 w 12192000"/>
                <a:gd name="connsiteY4" fmla="*/ 0 h 6858000"/>
                <a:gd name="connsiteX5" fmla="*/ 12192000 w 12192000"/>
                <a:gd name="connsiteY5" fmla="*/ 0 h 6858000"/>
                <a:gd name="connsiteX6" fmla="*/ 12192000 w 12192000"/>
                <a:gd name="connsiteY6" fmla="*/ 6858000 h 6858000"/>
                <a:gd name="connsiteX7" fmla="*/ 0 w 1219200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8000">
                  <a:moveTo>
                    <a:pt x="123092" y="140677"/>
                  </a:moveTo>
                  <a:lnTo>
                    <a:pt x="123092" y="6739060"/>
                  </a:lnTo>
                  <a:lnTo>
                    <a:pt x="12027876" y="6739060"/>
                  </a:lnTo>
                  <a:lnTo>
                    <a:pt x="12027876" y="140677"/>
                  </a:ln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pic>
          <p:nvPicPr>
            <p:cNvPr id="12" name="图片 11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 rotWithShape="1">
            <a:blip r:embed="rId6"/>
            <a:srcRect/>
            <a:stretch>
              <a:fillRect/>
            </a:stretch>
          </p:blipFill>
          <p:spPr>
            <a:xfrm flipH="1" flipV="1">
              <a:off x="7543799" y="5856003"/>
              <a:ext cx="4648201" cy="1001996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8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9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4" name="图片 13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custGeom>
              <a:avLst/>
              <a:gdLst>
                <a:gd name="connsiteX0" fmla="*/ 123092 w 12192000"/>
                <a:gd name="connsiteY0" fmla="*/ 140677 h 6858000"/>
                <a:gd name="connsiteX1" fmla="*/ 123092 w 12192000"/>
                <a:gd name="connsiteY1" fmla="*/ 6739060 h 6858000"/>
                <a:gd name="connsiteX2" fmla="*/ 12027876 w 12192000"/>
                <a:gd name="connsiteY2" fmla="*/ 6739060 h 6858000"/>
                <a:gd name="connsiteX3" fmla="*/ 12027876 w 12192000"/>
                <a:gd name="connsiteY3" fmla="*/ 140677 h 6858000"/>
                <a:gd name="connsiteX4" fmla="*/ 0 w 12192000"/>
                <a:gd name="connsiteY4" fmla="*/ 0 h 6858000"/>
                <a:gd name="connsiteX5" fmla="*/ 12192000 w 12192000"/>
                <a:gd name="connsiteY5" fmla="*/ 0 h 6858000"/>
                <a:gd name="connsiteX6" fmla="*/ 12192000 w 12192000"/>
                <a:gd name="connsiteY6" fmla="*/ 6858000 h 6858000"/>
                <a:gd name="connsiteX7" fmla="*/ 0 w 1219200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8000">
                  <a:moveTo>
                    <a:pt x="123092" y="140677"/>
                  </a:moveTo>
                  <a:lnTo>
                    <a:pt x="123092" y="6739060"/>
                  </a:lnTo>
                  <a:lnTo>
                    <a:pt x="12027876" y="6739060"/>
                  </a:lnTo>
                  <a:lnTo>
                    <a:pt x="12027876" y="140677"/>
                  </a:ln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pic>
          <p:nvPicPr>
            <p:cNvPr id="15" name="图片 14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 rotWithShape="1">
            <a:blip r:embed="rId6"/>
            <a:srcRect/>
            <a:stretch>
              <a:fillRect/>
            </a:stretch>
          </p:blipFill>
          <p:spPr>
            <a:xfrm flipH="1" flipV="1">
              <a:off x="7543799" y="5856003"/>
              <a:ext cx="4648201" cy="1001996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 rotWithShape="1">
            <a:blip r:embed="rId6"/>
            <a:srcRect/>
            <a:stretch>
              <a:fillRect/>
            </a:stretch>
          </p:blipFill>
          <p:spPr>
            <a:xfrm rot="10800000" flipH="1" flipV="1">
              <a:off x="0" y="0"/>
              <a:ext cx="4648201" cy="1001996"/>
            </a:xfrm>
            <a:prstGeom prst="rect">
              <a:avLst/>
            </a:prstGeom>
          </p:spPr>
        </p:pic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lnSpc>
                <a:spcPct val="120000"/>
              </a:lnSpc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indent="0" eaLnBrk="1" fontAlgn="auto" latinLnBrk="0" hangingPunct="1">
              <a:lnSpc>
                <a:spcPct val="120000"/>
              </a:lnSpc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indent="0" eaLnBrk="1" fontAlgn="auto" latinLnBrk="0" hangingPunct="1">
              <a:lnSpc>
                <a:spcPct val="120000"/>
              </a:lnSpc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indent="0" eaLnBrk="1" fontAlgn="auto" latinLnBrk="0" hangingPunct="1">
              <a:lnSpc>
                <a:spcPct val="120000"/>
              </a:lnSpc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indent="0" eaLnBrk="1" fontAlgn="auto" latinLnBrk="0" hangingPunct="1">
              <a:lnSpc>
                <a:spcPct val="120000"/>
              </a:lnSpc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3" name="图片 12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custGeom>
              <a:avLst/>
              <a:gdLst>
                <a:gd name="connsiteX0" fmla="*/ 123092 w 12192000"/>
                <a:gd name="connsiteY0" fmla="*/ 140677 h 6858000"/>
                <a:gd name="connsiteX1" fmla="*/ 123092 w 12192000"/>
                <a:gd name="connsiteY1" fmla="*/ 6739060 h 6858000"/>
                <a:gd name="connsiteX2" fmla="*/ 12027876 w 12192000"/>
                <a:gd name="connsiteY2" fmla="*/ 6739060 h 6858000"/>
                <a:gd name="connsiteX3" fmla="*/ 12027876 w 12192000"/>
                <a:gd name="connsiteY3" fmla="*/ 140677 h 6858000"/>
                <a:gd name="connsiteX4" fmla="*/ 0 w 12192000"/>
                <a:gd name="connsiteY4" fmla="*/ 0 h 6858000"/>
                <a:gd name="connsiteX5" fmla="*/ 12192000 w 12192000"/>
                <a:gd name="connsiteY5" fmla="*/ 0 h 6858000"/>
                <a:gd name="connsiteX6" fmla="*/ 12192000 w 12192000"/>
                <a:gd name="connsiteY6" fmla="*/ 6858000 h 6858000"/>
                <a:gd name="connsiteX7" fmla="*/ 0 w 1219200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8000">
                  <a:moveTo>
                    <a:pt x="123092" y="140677"/>
                  </a:moveTo>
                  <a:lnTo>
                    <a:pt x="123092" y="6739060"/>
                  </a:lnTo>
                  <a:lnTo>
                    <a:pt x="12027876" y="6739060"/>
                  </a:lnTo>
                  <a:lnTo>
                    <a:pt x="12027876" y="140677"/>
                  </a:ln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pic>
          <p:nvPicPr>
            <p:cNvPr id="14" name="图片 1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 rotWithShape="1">
            <a:blip r:embed="rId6"/>
            <a:srcRect/>
            <a:stretch>
              <a:fillRect/>
            </a:stretch>
          </p:blipFill>
          <p:spPr>
            <a:xfrm flipH="1" flipV="1">
              <a:off x="7543799" y="5856003"/>
              <a:ext cx="4648201" cy="1001996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 rotWithShape="1">
            <a:blip r:embed="rId6"/>
            <a:srcRect/>
            <a:stretch>
              <a:fillRect/>
            </a:stretch>
          </p:blipFill>
          <p:spPr>
            <a:xfrm rot="10800000" flipH="1" flipV="1">
              <a:off x="0" y="0"/>
              <a:ext cx="4648201" cy="1001996"/>
            </a:xfrm>
            <a:prstGeom prst="rect">
              <a:avLst/>
            </a:prstGeom>
          </p:spPr>
        </p:pic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u="none" strike="noStrike" kern="1200" cap="none" spc="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</a:defRPr>
            </a:lvl1pPr>
            <a:lvl2pPr>
              <a:defRPr u="none" strike="noStrike" kern="1200" cap="none" spc="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</a:defRPr>
            </a:lvl2pPr>
            <a:lvl3pPr>
              <a:defRPr u="none" strike="noStrike" kern="1200" cap="none" spc="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</a:defRPr>
            </a:lvl3pPr>
            <a:lvl4pPr>
              <a:defRPr u="none" strike="noStrike" kern="1200" cap="none" spc="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</a:defRPr>
            </a:lvl4pPr>
            <a:lvl5pPr>
              <a:defRPr u="none" strike="noStrike" kern="1200" cap="none" spc="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47"/>
            <a:ext cx="12197424" cy="6854953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382310" y="362404"/>
            <a:ext cx="11427380" cy="5930283"/>
          </a:xfrm>
          <a:prstGeom prst="rect">
            <a:avLst/>
          </a:prstGeom>
          <a:noFill/>
          <a:ln w="762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6"/>
          <a:srcRect/>
          <a:stretch>
            <a:fillRect/>
          </a:stretch>
        </p:blipFill>
        <p:spPr>
          <a:xfrm>
            <a:off x="-1" y="-1"/>
            <a:ext cx="8650435" cy="186474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6"/>
          <a:srcRect/>
          <a:stretch>
            <a:fillRect/>
          </a:stretch>
        </p:blipFill>
        <p:spPr>
          <a:xfrm flipH="1" flipV="1">
            <a:off x="3556000" y="4993257"/>
            <a:ext cx="8650435" cy="1864743"/>
          </a:xfrm>
          <a:prstGeom prst="rect">
            <a:avLst/>
          </a:prstGeom>
        </p:spPr>
      </p:pic>
      <p:cxnSp>
        <p:nvCxnSpPr>
          <p:cNvPr id="7" name="直接连接符 6"/>
          <p:cNvCxnSpPr/>
          <p:nvPr>
            <p:custDataLst>
              <p:tags r:id="rId8"/>
            </p:custDataLst>
          </p:nvPr>
        </p:nvCxnSpPr>
        <p:spPr>
          <a:xfrm>
            <a:off x="5921831" y="3745699"/>
            <a:ext cx="34834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781908" y="2340239"/>
            <a:ext cx="8628184" cy="1325563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5400" b="1" u="none" strike="noStrike" kern="1200" cap="none" spc="200" normalizeH="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781175" y="3832480"/>
            <a:ext cx="8629650" cy="508108"/>
          </a:xfrm>
        </p:spPr>
        <p:txBody>
          <a:bodyPr lIns="90000" tIns="46800" rIns="90000" bIns="46800"/>
          <a:lstStyle>
            <a:lvl1pPr marL="0" indent="0" algn="ctr">
              <a:buNone/>
              <a:defRPr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/>
          <a:p>
            <a:fld id="{B821E1E1-C2E2-4CDD-9A23-A3F1F47A2F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/>
          <a:p>
            <a:fld id="{E9DFD411-9938-4D6D-80D5-0232E79D64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4038600" cy="8705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 flipH="1" flipV="1">
            <a:off x="7554595" y="5866765"/>
            <a:ext cx="4648200" cy="10020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lIns="90000" tIns="46800" rIns="90000" bIns="46800">
            <a:normAutofit/>
          </a:bodyPr>
          <a:lstStyle>
            <a:lvl1pPr algn="ctr"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735" y="304165"/>
            <a:ext cx="11606530" cy="624967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 flipH="1" flipV="1">
            <a:off x="7543800" y="5855970"/>
            <a:ext cx="4648200" cy="100203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 rot="10800000" flipH="1" flipV="1">
            <a:off x="0" y="0"/>
            <a:ext cx="4648200" cy="10020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1281600" y="1249200"/>
            <a:ext cx="9626400" cy="723600"/>
          </a:xfrm>
        </p:spPr>
        <p:txBody>
          <a:bodyPr lIns="90000" tIns="46800" rIns="90000" bIns="46800" anchor="ctr">
            <a:normAutofit/>
          </a:bodyPr>
          <a:lstStyle>
            <a:lvl1pPr>
              <a:defRPr sz="3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1281113" y="2163600"/>
            <a:ext cx="9626600" cy="3445200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83200" y="770400"/>
            <a:ext cx="3960000" cy="882000"/>
          </a:xfrm>
        </p:spPr>
        <p:txBody>
          <a:bodyPr lIns="90000" tIns="46800" rIns="90000" bIns="46800" anchor="ctr">
            <a:normAutofit/>
          </a:bodyPr>
          <a:lstStyle>
            <a:lvl1pPr>
              <a:defRPr sz="3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u="none" strike="noStrike" kern="1200" cap="none" spc="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u="none" strike="noStrike" kern="1200" cap="none" spc="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u="none" strike="noStrike" kern="1200" cap="none" spc="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u="none" strike="noStrike" kern="1200" cap="none" spc="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 flipV="1">
            <a:off x="7554595" y="5866765"/>
            <a:ext cx="4648200" cy="100203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/>
          <a:srcRect/>
          <a:stretch>
            <a:fillRect/>
          </a:stretch>
        </p:blipFill>
        <p:spPr>
          <a:xfrm rot="10800000" flipH="1" flipV="1">
            <a:off x="0" y="0"/>
            <a:ext cx="2934970" cy="10020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 flipH="1" flipV="1">
            <a:off x="7554595" y="5866765"/>
            <a:ext cx="4648200" cy="100203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 rotWithShape="1">
          <a:blip r:embed="rId6"/>
          <a:srcRect/>
          <a:stretch>
            <a:fillRect/>
          </a:stretch>
        </p:blipFill>
        <p:spPr>
          <a:xfrm rot="10800000" flipH="1" flipV="1">
            <a:off x="0" y="0"/>
            <a:ext cx="2934970" cy="100203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 rotWithShape="1">
          <a:blip r:embed="rId8"/>
          <a:srcRect/>
          <a:stretch>
            <a:fillRect/>
          </a:stretch>
        </p:blipFill>
        <p:spPr>
          <a:xfrm flipH="1" flipV="1">
            <a:off x="9251004" y="6233403"/>
            <a:ext cx="2940996" cy="63412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3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lIns="90000" tIns="46800" rIns="90000" bIns="46800">
            <a:normAutofit/>
          </a:bodyPr>
          <a:lstStyle>
            <a:lvl1pPr algn="ctr"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u="none" strike="noStrike" kern="1200" cap="none" spc="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u="none" strike="noStrike" kern="1200" cap="none" spc="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u="none" strike="noStrike" kern="1200" cap="none" spc="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u="none" strike="noStrike" kern="1200" cap="none" spc="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0" y="-3738"/>
            <a:ext cx="2940996" cy="634122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4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4800" y="669600"/>
            <a:ext cx="10976400" cy="565200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3200" u="none" strike="noStrike" kern="1200" cap="none" spc="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04837" y="1681200"/>
            <a:ext cx="10990800" cy="3211200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u="none" strike="noStrike" kern="1200" cap="none" spc="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u="none" strike="noStrike" kern="1200" cap="none" spc="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u="none" strike="noStrike" kern="1200" cap="none" spc="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u="none" strike="noStrike" kern="1200" cap="none" spc="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0"/>
            </p:custDataLst>
          </p:nvPr>
        </p:nvSpPr>
        <p:spPr>
          <a:xfrm>
            <a:off x="594000" y="5180400"/>
            <a:ext cx="11001600" cy="1011600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 flipH="1" flipV="1">
            <a:off x="7554309" y="5866513"/>
            <a:ext cx="4648201" cy="1001996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u="none" strike="noStrike" kern="1200" cap="none" spc="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u="none" strike="noStrike" kern="1200" cap="none" spc="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u="none" strike="noStrike" kern="1200" cap="none" spc="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u="none" strike="noStrike" kern="1200" cap="none" spc="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u="none" strike="noStrike" kern="1200" cap="none" spc="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u="none" strike="noStrike" kern="1200" cap="none" spc="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u="none" strike="noStrike" kern="1200" cap="none" spc="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u="none" strike="noStrike" kern="1200" cap="none" spc="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18" name="图片 17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>
            <a:off x="0" y="0"/>
            <a:ext cx="7682230" cy="165608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 rot="10800000">
            <a:off x="4524375" y="5216525"/>
            <a:ext cx="7682230" cy="16560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1522800" y="1339200"/>
            <a:ext cx="9144000" cy="2386800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60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1522413" y="3862800"/>
            <a:ext cx="9144000" cy="1656000"/>
          </a:xfrm>
        </p:spPr>
        <p:txBody>
          <a:bodyPr lIns="90000" tIns="46800" rIns="90000" bIns="46800">
            <a:normAutofit/>
          </a:bodyPr>
          <a:lstStyle>
            <a:lvl1pPr algn="ctr"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55651" y="1752600"/>
            <a:ext cx="10668000" cy="2057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55651" y="3962400"/>
            <a:ext cx="10668000" cy="2057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641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430F4A-FFE1-42B2-B719-A9A821EA147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7" Type="http://schemas.openxmlformats.org/officeDocument/2006/relationships/theme" Target="../theme/theme1.xml"/><Relationship Id="rId26" Type="http://schemas.openxmlformats.org/officeDocument/2006/relationships/tags" Target="../tags/tag159.xml"/><Relationship Id="rId25" Type="http://schemas.openxmlformats.org/officeDocument/2006/relationships/tags" Target="../tags/tag158.xml"/><Relationship Id="rId24" Type="http://schemas.openxmlformats.org/officeDocument/2006/relationships/tags" Target="../tags/tag157.xml"/><Relationship Id="rId23" Type="http://schemas.openxmlformats.org/officeDocument/2006/relationships/tags" Target="../tags/tag156.xml"/><Relationship Id="rId22" Type="http://schemas.openxmlformats.org/officeDocument/2006/relationships/tags" Target="../tags/tag155.xml"/><Relationship Id="rId21" Type="http://schemas.openxmlformats.org/officeDocument/2006/relationships/tags" Target="../tags/tag154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lnSpc>
                <a:spcPct val="120000"/>
              </a:lnSpc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20000"/>
              </a:lnSpc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lnSpc>
                <a:spcPct val="120000"/>
              </a:lnSpc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" Type="http://schemas.openxmlformats.org/officeDocument/2006/relationships/tags" Target="../tags/tag16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tags" Target="../tags/tag16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2"/>
          <p:cNvSpPr txBox="1"/>
          <p:nvPr>
            <p:custDataLst>
              <p:tags r:id="rId1"/>
            </p:custDataLst>
          </p:nvPr>
        </p:nvSpPr>
        <p:spPr>
          <a:xfrm>
            <a:off x="4583457" y="4509451"/>
            <a:ext cx="435864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主讲老师：徐晓丹（</a:t>
            </a:r>
            <a:r>
              <a:rPr lang="en-US" altLang="zh-CN" sz="24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663601</a:t>
            </a:r>
            <a:r>
              <a:rPr lang="zh-CN" altLang="en-US" sz="24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24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767080" y="1988820"/>
            <a:ext cx="9095105" cy="152146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dirty="0">
                <a:solidFill>
                  <a:schemeClr val="lt1"/>
                </a:solidFill>
                <a:sym typeface="微软雅黑" panose="020B0503020204020204" pitchFamily="34" charset="-122"/>
              </a:rPr>
              <a:t>8</a:t>
            </a:r>
            <a:r>
              <a:rPr lang="en-US" altLang="zh-CN" sz="7200" dirty="0" smtClean="0">
                <a:solidFill>
                  <a:schemeClr val="lt1"/>
                </a:solidFill>
                <a:sym typeface="微软雅黑" panose="020B0503020204020204" pitchFamily="34" charset="-122"/>
              </a:rPr>
              <a:t>  JS</a:t>
            </a:r>
            <a:r>
              <a:rPr lang="zh-CN" altLang="en-US" sz="7200" dirty="0" smtClean="0">
                <a:solidFill>
                  <a:schemeClr val="lt1"/>
                </a:solidFill>
                <a:sym typeface="微软雅黑" panose="020B0503020204020204" pitchFamily="34" charset="-122"/>
              </a:rPr>
              <a:t>基础</a:t>
            </a:r>
            <a:endParaRPr lang="zh-CN" altLang="en-US" sz="7200" dirty="0" smtClean="0">
              <a:solidFill>
                <a:schemeClr val="lt1"/>
              </a:solidFill>
              <a:sym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ct val="100000"/>
              <a:buNone/>
            </a:pPr>
            <a:r>
              <a:rPr lang="zh-CN" altLang="en-US" sz="2400" dirty="0">
                <a:solidFill>
                  <a:schemeClr val="lt1"/>
                </a:solidFill>
                <a:sym typeface="微软雅黑" panose="020B0503020204020204" pitchFamily="34" charset="-122"/>
              </a:rPr>
              <a:t>浙 江 师 范 大 学</a:t>
            </a:r>
            <a:endParaRPr lang="zh-CN" altLang="en-US" sz="2400" dirty="0">
              <a:solidFill>
                <a:schemeClr val="lt1"/>
              </a:solidFill>
              <a:sym typeface="微软雅黑" panose="020B0503020204020204" pitchFamily="34" charset="-122"/>
            </a:endParaRPr>
          </a:p>
        </p:txBody>
      </p:sp>
    </p:spTree>
    <p:custDataLst>
      <p:tags r:id="rId4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JS</a:t>
            </a:r>
            <a:r>
              <a:rPr dirty="0" smtClean="0"/>
              <a:t>基础</a:t>
            </a:r>
            <a:endParaRPr lang="en-US" altLang="zh-CN" dirty="0" smtClean="0"/>
          </a:p>
          <a:p>
            <a:r>
              <a:rPr lang="zh-CN" altLang="en-US" dirty="0" smtClean="0"/>
              <a:t>应用实例</a:t>
            </a:r>
            <a:endParaRPr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5123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3200" smtClean="0"/>
              <a:t>JavaScript</a:t>
            </a:r>
            <a:r>
              <a:rPr lang="zh-CN" altLang="en-US" sz="3200" smtClean="0"/>
              <a:t>是由</a:t>
            </a:r>
            <a:r>
              <a:rPr lang="en-US" altLang="zh-CN" sz="3200" smtClean="0"/>
              <a:t>Netscape</a:t>
            </a:r>
            <a:r>
              <a:rPr lang="zh-CN" altLang="en-US" sz="3200" smtClean="0"/>
              <a:t>公司开发并随</a:t>
            </a:r>
            <a:r>
              <a:rPr lang="en-US" altLang="zh-CN" sz="3200" smtClean="0"/>
              <a:t>Navigator</a:t>
            </a:r>
            <a:r>
              <a:rPr lang="zh-CN" altLang="en-US" sz="3200" smtClean="0"/>
              <a:t>导航者一起发布的、介于</a:t>
            </a:r>
            <a:r>
              <a:rPr lang="en-US" altLang="zh-CN" sz="3200" smtClean="0"/>
              <a:t>Java</a:t>
            </a:r>
            <a:r>
              <a:rPr lang="zh-CN" altLang="en-US" sz="3200" smtClean="0"/>
              <a:t>与</a:t>
            </a:r>
            <a:r>
              <a:rPr lang="en-US" altLang="zh-CN" sz="3200" smtClean="0"/>
              <a:t>HTML</a:t>
            </a:r>
            <a:r>
              <a:rPr lang="zh-CN" altLang="en-US" sz="3200" smtClean="0"/>
              <a:t>之间、基于对象事件驱动的编程语言。因它的开发环境简单，不需要</a:t>
            </a:r>
            <a:r>
              <a:rPr lang="en-US" altLang="zh-CN" sz="3200" smtClean="0"/>
              <a:t>Java</a:t>
            </a:r>
            <a:r>
              <a:rPr lang="zh-CN" altLang="en-US" sz="3200" smtClean="0"/>
              <a:t>编译器，而是</a:t>
            </a:r>
            <a:r>
              <a:rPr lang="zh-CN" altLang="en-US" sz="3200" smtClean="0">
                <a:solidFill>
                  <a:srgbClr val="FF0000"/>
                </a:solidFill>
              </a:rPr>
              <a:t>直接运行在</a:t>
            </a:r>
            <a:r>
              <a:rPr lang="en-US" altLang="zh-CN" sz="3200" smtClean="0">
                <a:solidFill>
                  <a:srgbClr val="FF0000"/>
                </a:solidFill>
              </a:rPr>
              <a:t>Web</a:t>
            </a:r>
            <a:r>
              <a:rPr lang="zh-CN" altLang="en-US" sz="3200" smtClean="0">
                <a:solidFill>
                  <a:srgbClr val="FF0000"/>
                </a:solidFill>
              </a:rPr>
              <a:t>浏览器</a:t>
            </a:r>
            <a:r>
              <a:rPr lang="zh-CN" altLang="en-US" sz="3200" smtClean="0"/>
              <a:t>中，因此倍受</a:t>
            </a:r>
            <a:r>
              <a:rPr lang="en-US" altLang="zh-CN" sz="3200" smtClean="0"/>
              <a:t>Web</a:t>
            </a:r>
            <a:r>
              <a:rPr lang="zh-CN" altLang="en-US" sz="3200" smtClean="0"/>
              <a:t>设计者的喜爱。</a:t>
            </a:r>
            <a:endParaRPr lang="zh-CN" altLang="en-US" sz="3200" smtClean="0"/>
          </a:p>
          <a:p>
            <a:pPr eaLnBrk="1" hangingPunct="1"/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JavaScript</a:t>
            </a:r>
            <a:r>
              <a:rPr lang="zh-CN" altLang="en-US" smtClean="0"/>
              <a:t>教程语言概况 </a:t>
            </a:r>
            <a:endParaRPr lang="zh-CN" altLang="en-US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600" smtClean="0"/>
              <a:t>JavaScript</a:t>
            </a:r>
            <a:r>
              <a:rPr lang="zh-CN" altLang="en-US" sz="2600" smtClean="0"/>
              <a:t>的出现，它可以使得信息和用户之间不仅只是一种显示和浏览的关系，而是实现了一种</a:t>
            </a:r>
            <a:r>
              <a:rPr lang="zh-CN" altLang="en-US" sz="2600" smtClean="0">
                <a:solidFill>
                  <a:srgbClr val="FF0000"/>
                </a:solidFill>
              </a:rPr>
              <a:t>实时的、动态的、可交式的</a:t>
            </a:r>
            <a:r>
              <a:rPr lang="zh-CN" altLang="en-US" sz="2600" smtClean="0"/>
              <a:t>表达能力 </a:t>
            </a:r>
            <a:r>
              <a:rPr lang="en-US" altLang="zh-CN" sz="2600" smtClean="0"/>
              <a:t>.</a:t>
            </a:r>
            <a:endParaRPr lang="en-US" altLang="zh-CN" sz="2600" smtClean="0"/>
          </a:p>
          <a:p>
            <a:pPr eaLnBrk="1" hangingPunct="1"/>
            <a:r>
              <a:rPr lang="en-US" altLang="zh-CN" sz="2600" smtClean="0"/>
              <a:t>JavaScript</a:t>
            </a:r>
            <a:r>
              <a:rPr lang="zh-CN" altLang="en-US" sz="2600" smtClean="0"/>
              <a:t>脚本正是满足这种需求而产生的语言。它深受广泛用户的喜爱的欢迎。它是众多脚本语言中较为优秀的一种，它与</a:t>
            </a:r>
            <a:r>
              <a:rPr lang="en-US" altLang="zh-CN" sz="2600" smtClean="0"/>
              <a:t>WWW</a:t>
            </a:r>
            <a:r>
              <a:rPr lang="zh-CN" altLang="en-US" sz="2600" smtClean="0"/>
              <a:t>的结合有效地实现了网络计算和网络计算机的蓝图。无凝</a:t>
            </a:r>
            <a:r>
              <a:rPr lang="en-US" altLang="zh-CN" sz="2600" smtClean="0"/>
              <a:t>Java</a:t>
            </a:r>
            <a:r>
              <a:rPr lang="zh-CN" altLang="en-US" sz="2600" smtClean="0"/>
              <a:t>家族将占领</a:t>
            </a:r>
            <a:r>
              <a:rPr lang="en-US" altLang="zh-CN" sz="2600" smtClean="0"/>
              <a:t>Internet</a:t>
            </a:r>
            <a:r>
              <a:rPr lang="zh-CN" altLang="en-US" sz="2600" smtClean="0"/>
              <a:t>网络的主导地位。 </a:t>
            </a:r>
            <a:endParaRPr lang="zh-CN" altLang="en-US" sz="260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JavaScript</a:t>
            </a:r>
            <a:r>
              <a:rPr lang="zh-CN" altLang="en-US" smtClean="0"/>
              <a:t>几个基本特点  </a:t>
            </a:r>
            <a:endParaRPr lang="zh-CN" altLang="en-US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脚本编写语言 </a:t>
            </a:r>
            <a:endParaRPr lang="zh-CN" altLang="en-US" smtClean="0"/>
          </a:p>
          <a:p>
            <a:pPr eaLnBrk="1" hangingPunct="1"/>
            <a:r>
              <a:rPr lang="zh-CN" altLang="en-US" smtClean="0"/>
              <a:t>基于对象的语言 </a:t>
            </a:r>
            <a:endParaRPr lang="zh-CN" altLang="en-US" smtClean="0"/>
          </a:p>
          <a:p>
            <a:pPr eaLnBrk="1" hangingPunct="1"/>
            <a:r>
              <a:rPr lang="zh-CN" altLang="en-US" smtClean="0"/>
              <a:t>简单性 </a:t>
            </a:r>
            <a:endParaRPr lang="zh-CN" altLang="en-US" smtClean="0"/>
          </a:p>
          <a:p>
            <a:pPr eaLnBrk="1" hangingPunct="1"/>
            <a:r>
              <a:rPr lang="zh-CN" altLang="en-US" smtClean="0"/>
              <a:t>安全性 </a:t>
            </a:r>
            <a:endParaRPr lang="zh-CN" altLang="en-US" smtClean="0"/>
          </a:p>
          <a:p>
            <a:pPr eaLnBrk="1" hangingPunct="1"/>
            <a:r>
              <a:rPr lang="zh-CN" altLang="en-US" smtClean="0"/>
              <a:t>动态性 </a:t>
            </a:r>
            <a:endParaRPr lang="zh-CN" altLang="en-US" smtClean="0"/>
          </a:p>
          <a:p>
            <a:pPr eaLnBrk="1" hangingPunct="1"/>
            <a:r>
              <a:rPr lang="zh-CN" altLang="en-US" smtClean="0"/>
              <a:t>跨平台性 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JavaScript</a:t>
            </a:r>
            <a:r>
              <a:rPr lang="zh-CN" altLang="en-US" smtClean="0"/>
              <a:t>和</a:t>
            </a:r>
            <a:r>
              <a:rPr lang="en-US" altLang="zh-CN" smtClean="0"/>
              <a:t>Java</a:t>
            </a:r>
            <a:r>
              <a:rPr lang="zh-CN" altLang="en-US" smtClean="0"/>
              <a:t>的区别 </a:t>
            </a:r>
            <a:endParaRPr lang="zh-CN" altLang="en-US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600" smtClean="0"/>
              <a:t>虽然</a:t>
            </a:r>
            <a:r>
              <a:rPr lang="en-US" altLang="zh-CN" sz="2600" smtClean="0"/>
              <a:t>JavaScript</a:t>
            </a:r>
            <a:r>
              <a:rPr lang="zh-CN" altLang="en-US" sz="2600" smtClean="0"/>
              <a:t>与</a:t>
            </a:r>
            <a:r>
              <a:rPr lang="en-US" altLang="zh-CN" sz="2600" smtClean="0"/>
              <a:t>Java</a:t>
            </a:r>
            <a:r>
              <a:rPr lang="zh-CN" altLang="en-US" sz="2600" smtClean="0"/>
              <a:t>有紧密的联系，但却是两个公司开发的不同的两个产品。</a:t>
            </a:r>
            <a:endParaRPr lang="zh-CN" altLang="en-US" sz="2600" smtClean="0"/>
          </a:p>
          <a:p>
            <a:pPr eaLnBrk="1" hangingPunct="1"/>
            <a:r>
              <a:rPr lang="en-US" altLang="zh-CN" sz="2600" smtClean="0"/>
              <a:t>Java</a:t>
            </a:r>
            <a:r>
              <a:rPr lang="zh-CN" altLang="en-US" sz="2600" smtClean="0"/>
              <a:t>是</a:t>
            </a:r>
            <a:r>
              <a:rPr lang="en-US" altLang="zh-CN" sz="2600" smtClean="0"/>
              <a:t>SUN</a:t>
            </a:r>
            <a:r>
              <a:rPr lang="zh-CN" altLang="en-US" sz="2600" smtClean="0"/>
              <a:t>公司推出的新一代面向对象的程序设计语言，特别适合于</a:t>
            </a:r>
            <a:r>
              <a:rPr lang="en-US" altLang="zh-CN" sz="2600" smtClean="0"/>
              <a:t>Internet</a:t>
            </a:r>
            <a:r>
              <a:rPr lang="zh-CN" altLang="en-US" sz="2600" smtClean="0"/>
              <a:t>应用程序开发；</a:t>
            </a:r>
            <a:endParaRPr lang="zh-CN" altLang="en-US" sz="2600" smtClean="0"/>
          </a:p>
          <a:p>
            <a:pPr eaLnBrk="1" hangingPunct="1"/>
            <a:r>
              <a:rPr lang="en-US" altLang="zh-CN" sz="2600" smtClean="0"/>
              <a:t>JavaScript</a:t>
            </a:r>
            <a:r>
              <a:rPr lang="zh-CN" altLang="en-US" sz="2600" smtClean="0"/>
              <a:t>是</a:t>
            </a:r>
            <a:r>
              <a:rPr lang="en-US" altLang="zh-CN" sz="2600" smtClean="0"/>
              <a:t>Netscape</a:t>
            </a:r>
            <a:r>
              <a:rPr lang="zh-CN" altLang="en-US" sz="2600" smtClean="0"/>
              <a:t>公司的产品，其目的是为了扩展</a:t>
            </a:r>
            <a:r>
              <a:rPr lang="en-US" altLang="zh-CN" sz="2600" smtClean="0"/>
              <a:t>Netscape Navigator</a:t>
            </a:r>
            <a:r>
              <a:rPr lang="zh-CN" altLang="en-US" sz="2600" smtClean="0"/>
              <a:t>功能，而开发的一种可以嵌入</a:t>
            </a:r>
            <a:r>
              <a:rPr lang="en-US" altLang="zh-CN" sz="2600" smtClean="0"/>
              <a:t>Web</a:t>
            </a:r>
            <a:r>
              <a:rPr lang="zh-CN" altLang="en-US" sz="2600" smtClean="0"/>
              <a:t>页面中的基于对象和事件驱动的解释性语言，它的前身是</a:t>
            </a:r>
            <a:r>
              <a:rPr lang="en-US" altLang="zh-CN" sz="2600" smtClean="0"/>
              <a:t>Live Script</a:t>
            </a:r>
            <a:r>
              <a:rPr lang="zh-CN" altLang="en-US" sz="2600" smtClean="0"/>
              <a:t>；</a:t>
            </a:r>
            <a:endParaRPr lang="zh-CN" altLang="en-US" sz="2600" smtClean="0"/>
          </a:p>
          <a:p>
            <a:pPr eaLnBrk="1" hangingPunct="1"/>
            <a:r>
              <a:rPr lang="en-US" altLang="zh-CN" sz="2600" smtClean="0"/>
              <a:t>Java</a:t>
            </a:r>
            <a:r>
              <a:rPr lang="zh-CN" altLang="en-US" sz="2600" smtClean="0"/>
              <a:t>的前身是</a:t>
            </a:r>
            <a:r>
              <a:rPr lang="en-US" altLang="zh-CN" sz="2600" smtClean="0"/>
              <a:t>Oak</a:t>
            </a:r>
            <a:r>
              <a:rPr lang="zh-CN" altLang="en-US" sz="2600" smtClean="0"/>
              <a:t>语言。</a:t>
            </a:r>
            <a:endParaRPr lang="zh-CN" altLang="en-US" sz="26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基于对象和面向对象 </a:t>
            </a:r>
            <a:endParaRPr lang="zh-CN" altLang="en-US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Java</a:t>
            </a:r>
            <a:r>
              <a:rPr lang="zh-CN" altLang="en-US" smtClean="0"/>
              <a:t>是一种真正的面向对象的语言，即使是开发简单的程序，必须设计对象。 </a:t>
            </a:r>
            <a:endParaRPr lang="zh-CN" altLang="en-US" smtClean="0"/>
          </a:p>
          <a:p>
            <a:pPr eaLnBrk="1" hangingPunct="1"/>
            <a:r>
              <a:rPr lang="en-US" altLang="zh-CN" smtClean="0"/>
              <a:t>JavaScript</a:t>
            </a:r>
            <a:r>
              <a:rPr lang="zh-CN" altLang="en-US" smtClean="0"/>
              <a:t>是脚本语言，它可以用来制作与网络无关的，与用户交互作用的复杂软件。它是一种基于对象（</a:t>
            </a:r>
            <a:r>
              <a:rPr lang="en-US" altLang="zh-CN" smtClean="0"/>
              <a:t>Object Based</a:t>
            </a:r>
            <a:r>
              <a:rPr lang="zh-CN" altLang="en-US" smtClean="0"/>
              <a:t>）和事件驱动（</a:t>
            </a:r>
            <a:r>
              <a:rPr lang="en-US" altLang="zh-CN" smtClean="0"/>
              <a:t>Event Driver</a:t>
            </a:r>
            <a:r>
              <a:rPr lang="zh-CN" altLang="en-US" smtClean="0"/>
              <a:t>）的编程语言。因而它本身提供了非常丰富的内部对象供设计人员使用。 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解释和编译 </a:t>
            </a:r>
            <a:endParaRPr lang="zh-CN" altLang="en-US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600" smtClean="0"/>
              <a:t>两种语言在其浏览器中所执行的方式不一样。</a:t>
            </a:r>
            <a:r>
              <a:rPr lang="en-US" altLang="zh-CN" sz="2600" smtClean="0"/>
              <a:t>Java</a:t>
            </a:r>
            <a:r>
              <a:rPr lang="zh-CN" altLang="en-US" sz="2600" smtClean="0"/>
              <a:t>的源代码在传递到客户端执行之前，必须经过编译，因而客户端上必须具有相应平台上的仿真器或解释器。</a:t>
            </a:r>
            <a:endParaRPr lang="zh-CN" altLang="en-US" sz="2600" smtClean="0"/>
          </a:p>
          <a:p>
            <a:pPr eaLnBrk="1" hangingPunct="1"/>
            <a:r>
              <a:rPr lang="en-US" altLang="zh-CN" sz="2600" smtClean="0"/>
              <a:t>JavaScript</a:t>
            </a:r>
            <a:r>
              <a:rPr lang="zh-CN" altLang="en-US" sz="2600" smtClean="0"/>
              <a:t>是一种解释性编程语言，其源代码在发往客户端执行之前不需经过编译，而是将文本格式的字符代码发送给客户编由</a:t>
            </a:r>
            <a:r>
              <a:rPr lang="zh-CN" altLang="en-US" sz="2600" smtClean="0">
                <a:solidFill>
                  <a:srgbClr val="FF0000"/>
                </a:solidFill>
              </a:rPr>
              <a:t>浏览器</a:t>
            </a:r>
            <a:r>
              <a:rPr lang="zh-CN" altLang="en-US" sz="2600" smtClean="0"/>
              <a:t>解释执行。 </a:t>
            </a:r>
            <a:endParaRPr lang="zh-CN" altLang="en-US" sz="26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强变量和弱变量 </a:t>
            </a:r>
            <a:endParaRPr lang="zh-CN" altLang="en-US" smtClean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100" smtClean="0"/>
              <a:t>两种语言所采取的变量是不一样的。</a:t>
            </a:r>
            <a:endParaRPr lang="zh-CN" altLang="en-US" sz="2100" smtClean="0"/>
          </a:p>
          <a:p>
            <a:pPr eaLnBrk="1" hangingPunct="1">
              <a:lnSpc>
                <a:spcPct val="90000"/>
              </a:lnSpc>
            </a:pPr>
            <a:r>
              <a:rPr lang="en-US" altLang="zh-CN" sz="2100" smtClean="0"/>
              <a:t>Java</a:t>
            </a:r>
            <a:r>
              <a:rPr lang="zh-CN" altLang="en-US" sz="2100" smtClean="0"/>
              <a:t>采用强类型变量检查，即所有变量在编译之前必须作声明。如</a:t>
            </a:r>
            <a:r>
              <a:rPr lang="en-US" altLang="zh-CN" sz="2100" smtClean="0"/>
              <a:t>: </a:t>
            </a:r>
            <a:br>
              <a:rPr lang="en-US" altLang="zh-CN" sz="2100" smtClean="0"/>
            </a:br>
            <a:r>
              <a:rPr lang="zh-CN" altLang="en-US" sz="2100" smtClean="0"/>
              <a:t>　　</a:t>
            </a:r>
            <a:r>
              <a:rPr lang="en-US" altLang="zh-CN" sz="2100" smtClean="0"/>
              <a:t>Integer x; </a:t>
            </a:r>
            <a:br>
              <a:rPr lang="en-US" altLang="zh-CN" sz="2100" smtClean="0"/>
            </a:br>
            <a:r>
              <a:rPr lang="zh-CN" altLang="en-US" sz="2100" smtClean="0"/>
              <a:t>　　</a:t>
            </a:r>
            <a:r>
              <a:rPr lang="en-US" altLang="zh-CN" sz="2100" smtClean="0"/>
              <a:t>String y;</a:t>
            </a:r>
            <a:br>
              <a:rPr lang="en-US" altLang="zh-CN" sz="2100" smtClean="0"/>
            </a:br>
            <a:r>
              <a:rPr lang="zh-CN" altLang="en-US" sz="2100" smtClean="0"/>
              <a:t>　　</a:t>
            </a:r>
            <a:r>
              <a:rPr lang="en-US" altLang="zh-CN" sz="2100" smtClean="0"/>
              <a:t>x=1234;</a:t>
            </a:r>
            <a:br>
              <a:rPr lang="en-US" altLang="zh-CN" sz="2100" smtClean="0"/>
            </a:br>
            <a:r>
              <a:rPr lang="zh-CN" altLang="en-US" sz="2100" smtClean="0"/>
              <a:t>　　</a:t>
            </a:r>
            <a:r>
              <a:rPr lang="en-US" altLang="zh-CN" sz="2100" smtClean="0"/>
              <a:t>x=4321;</a:t>
            </a:r>
            <a:br>
              <a:rPr lang="en-US" altLang="zh-CN" sz="2100" smtClean="0"/>
            </a:br>
            <a:r>
              <a:rPr lang="zh-CN" altLang="en-US" sz="2100" smtClean="0"/>
              <a:t>其中</a:t>
            </a:r>
            <a:r>
              <a:rPr lang="en-US" altLang="zh-CN" sz="2100" smtClean="0"/>
              <a:t>X=1234</a:t>
            </a:r>
            <a:r>
              <a:rPr lang="zh-CN" altLang="en-US" sz="2100" smtClean="0"/>
              <a:t>说明是一个整数，</a:t>
            </a:r>
            <a:r>
              <a:rPr lang="en-US" altLang="zh-CN" sz="2100" smtClean="0"/>
              <a:t>Y=4321</a:t>
            </a:r>
            <a:r>
              <a:rPr lang="zh-CN" altLang="en-US" sz="2100" smtClean="0"/>
              <a:t>说明是一个字符串。</a:t>
            </a:r>
            <a:endParaRPr lang="zh-CN" altLang="en-US" sz="2100" smtClean="0"/>
          </a:p>
          <a:p>
            <a:pPr eaLnBrk="1" hangingPunct="1">
              <a:lnSpc>
                <a:spcPct val="90000"/>
              </a:lnSpc>
            </a:pPr>
            <a:r>
              <a:rPr lang="en-US" altLang="zh-CN" sz="2100" smtClean="0">
                <a:solidFill>
                  <a:srgbClr val="FF0000"/>
                </a:solidFill>
              </a:rPr>
              <a:t>JavaScript</a:t>
            </a:r>
            <a:r>
              <a:rPr lang="zh-CN" altLang="en-US" sz="2100" smtClean="0">
                <a:solidFill>
                  <a:srgbClr val="FF0000"/>
                </a:solidFill>
              </a:rPr>
              <a:t>中变量声明，采用其弱类型</a:t>
            </a:r>
            <a:r>
              <a:rPr lang="zh-CN" altLang="en-US" sz="2100" smtClean="0"/>
              <a:t>。即变量在使用前不需作声明，而是解释器在运行时检查其数据类型，如：</a:t>
            </a:r>
            <a:br>
              <a:rPr lang="zh-CN" altLang="en-US" sz="2100" smtClean="0"/>
            </a:br>
            <a:r>
              <a:rPr lang="zh-CN" altLang="en-US" sz="2100" smtClean="0"/>
              <a:t>　　</a:t>
            </a:r>
            <a:r>
              <a:rPr lang="en-US" altLang="zh-CN" sz="2100" smtClean="0"/>
              <a:t>x=1234;</a:t>
            </a:r>
            <a:br>
              <a:rPr lang="en-US" altLang="zh-CN" sz="2100" smtClean="0"/>
            </a:br>
            <a:r>
              <a:rPr lang="zh-CN" altLang="en-US" sz="2100" smtClean="0"/>
              <a:t>　　</a:t>
            </a:r>
            <a:r>
              <a:rPr lang="en-US" altLang="zh-CN" sz="2100" smtClean="0"/>
              <a:t>y</a:t>
            </a:r>
            <a:r>
              <a:rPr lang="zh-CN" altLang="en-US" sz="2100" smtClean="0"/>
              <a:t>＝</a:t>
            </a:r>
            <a:r>
              <a:rPr lang="en-US" altLang="zh-CN" sz="2100" smtClean="0"/>
              <a:t>"4321";</a:t>
            </a:r>
            <a:br>
              <a:rPr lang="en-US" altLang="zh-CN" sz="2100" smtClean="0"/>
            </a:br>
            <a:r>
              <a:rPr lang="zh-CN" altLang="en-US" sz="2100" smtClean="0"/>
              <a:t>前者说明</a:t>
            </a:r>
            <a:r>
              <a:rPr lang="en-US" altLang="zh-CN" sz="2100" smtClean="0"/>
              <a:t>x</a:t>
            </a:r>
            <a:r>
              <a:rPr lang="zh-CN" altLang="en-US" sz="2100" smtClean="0"/>
              <a:t>为其数值型变量，而后者说明</a:t>
            </a:r>
            <a:r>
              <a:rPr lang="en-US" altLang="zh-CN" sz="2100" smtClean="0"/>
              <a:t>y</a:t>
            </a:r>
            <a:r>
              <a:rPr lang="zh-CN" altLang="en-US" sz="2100" smtClean="0"/>
              <a:t>为字符型变量。 </a:t>
            </a:r>
            <a:endParaRPr lang="zh-CN" altLang="en-US" sz="21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代码格式不一样 </a:t>
            </a:r>
            <a:endParaRPr lang="zh-CN" altLang="en-US" smtClean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Java</a:t>
            </a:r>
            <a:r>
              <a:rPr lang="zh-CN" altLang="en-US" smtClean="0"/>
              <a:t>是一种与</a:t>
            </a:r>
            <a:r>
              <a:rPr lang="en-US" altLang="zh-CN" smtClean="0"/>
              <a:t>HTML</a:t>
            </a:r>
            <a:r>
              <a:rPr lang="zh-CN" altLang="en-US" smtClean="0"/>
              <a:t>无关的格式，必须通过像</a:t>
            </a:r>
            <a:r>
              <a:rPr lang="en-US" altLang="zh-CN" smtClean="0"/>
              <a:t>HTML</a:t>
            </a:r>
            <a:r>
              <a:rPr lang="zh-CN" altLang="en-US" smtClean="0"/>
              <a:t>中引用外媒体那么进行装载，其代码以字节代码的形式保存在独立的文档中。</a:t>
            </a:r>
            <a:endParaRPr lang="zh-CN" altLang="en-US" smtClean="0"/>
          </a:p>
          <a:p>
            <a:pPr eaLnBrk="1" hangingPunct="1"/>
            <a:r>
              <a:rPr lang="en-US" altLang="zh-CN" smtClean="0"/>
              <a:t>JavaScript</a:t>
            </a:r>
            <a:r>
              <a:rPr lang="zh-CN" altLang="en-US" smtClean="0"/>
              <a:t>的代码是一种文本字符格式，可以直接嵌入</a:t>
            </a:r>
            <a:r>
              <a:rPr lang="en-US" altLang="zh-CN" smtClean="0"/>
              <a:t>HTML</a:t>
            </a:r>
            <a:r>
              <a:rPr lang="zh-CN" altLang="en-US" smtClean="0"/>
              <a:t>文档中，并且可动态装载。编写</a:t>
            </a:r>
            <a:r>
              <a:rPr lang="en-US" altLang="zh-CN" smtClean="0"/>
              <a:t>HTML</a:t>
            </a:r>
            <a:r>
              <a:rPr lang="zh-CN" altLang="en-US" smtClean="0"/>
              <a:t>文档就像编辑文本文件一样方便。 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嵌入方式不一样 </a:t>
            </a:r>
            <a:endParaRPr lang="zh-CN" altLang="en-US" smtClean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在</a:t>
            </a:r>
            <a:r>
              <a:rPr lang="en-US" altLang="zh-CN" smtClean="0"/>
              <a:t>HTML</a:t>
            </a:r>
            <a:r>
              <a:rPr lang="zh-CN" altLang="en-US" smtClean="0"/>
              <a:t>文档中，两种编程语言的标识不同，</a:t>
            </a:r>
            <a:endParaRPr lang="zh-CN" altLang="en-US" smtClean="0"/>
          </a:p>
          <a:p>
            <a:pPr eaLnBrk="1" hangingPunct="1"/>
            <a:r>
              <a:rPr lang="en-US" altLang="zh-CN" smtClean="0"/>
              <a:t>JavaScript</a:t>
            </a:r>
            <a:r>
              <a:rPr lang="zh-CN" altLang="en-US" smtClean="0"/>
              <a:t>使用</a:t>
            </a:r>
            <a:r>
              <a:rPr lang="en-US" altLang="zh-CN" smtClean="0"/>
              <a:t>&lt;Script&gt;...&lt;/Script&gt;</a:t>
            </a:r>
            <a:r>
              <a:rPr lang="zh-CN" altLang="en-US" smtClean="0"/>
              <a:t>来标识</a:t>
            </a:r>
            <a:endParaRPr lang="zh-CN" altLang="en-US" smtClean="0"/>
          </a:p>
          <a:p>
            <a:pPr eaLnBrk="1" hangingPunct="1"/>
            <a:r>
              <a:rPr lang="en-US" altLang="zh-CN" smtClean="0"/>
              <a:t>Java</a:t>
            </a:r>
            <a:r>
              <a:rPr lang="zh-CN" altLang="en-US" smtClean="0"/>
              <a:t>使用</a:t>
            </a:r>
            <a:r>
              <a:rPr lang="en-US" altLang="zh-CN" smtClean="0"/>
              <a:t>&lt;applet&gt;...&lt;/applet&gt;</a:t>
            </a:r>
            <a:r>
              <a:rPr lang="zh-CN" altLang="en-US" smtClean="0"/>
              <a:t>来标识。 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静态联编和动态联编 </a:t>
            </a:r>
            <a:endParaRPr lang="zh-CN" altLang="en-US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Java</a:t>
            </a:r>
            <a:r>
              <a:rPr lang="zh-CN" altLang="en-US" smtClean="0"/>
              <a:t>采用静态联编，即</a:t>
            </a:r>
            <a:r>
              <a:rPr lang="en-US" altLang="zh-CN" smtClean="0"/>
              <a:t>Java</a:t>
            </a:r>
            <a:r>
              <a:rPr lang="zh-CN" altLang="en-US" smtClean="0"/>
              <a:t>的对象引用必须在编译时的进行，以使编译器能够实现强类型检查。</a:t>
            </a:r>
            <a:endParaRPr lang="zh-CN" altLang="en-US" smtClean="0"/>
          </a:p>
          <a:p>
            <a:pPr eaLnBrk="1" hangingPunct="1"/>
            <a:r>
              <a:rPr lang="en-US" altLang="zh-CN" smtClean="0"/>
              <a:t>JavaScript</a:t>
            </a:r>
            <a:r>
              <a:rPr lang="zh-CN" altLang="en-US" smtClean="0"/>
              <a:t>采用动态联编，即</a:t>
            </a:r>
            <a:r>
              <a:rPr lang="en-US" altLang="zh-CN" smtClean="0"/>
              <a:t>JavaScript</a:t>
            </a:r>
            <a:r>
              <a:rPr lang="zh-CN" altLang="en-US" smtClean="0"/>
              <a:t>的对象引用在运行时进行检查，如不经编译则就无法实现对象引用的检查。 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HTML</a:t>
            </a:r>
            <a:r>
              <a:rPr lang="zh-CN" altLang="en-US" smtClean="0"/>
              <a:t>解析过程</a:t>
            </a:r>
            <a:endParaRPr lang="zh-CN" altLang="en-US" smtClean="0"/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smtClean="0"/>
              <a:t>页面渲染就是浏览器将</a:t>
            </a:r>
            <a:r>
              <a:rPr lang="en-US" altLang="zh-CN" b="0" smtClean="0"/>
              <a:t>html</a:t>
            </a:r>
            <a:r>
              <a:rPr lang="zh-CN" altLang="en-US" b="0" smtClean="0"/>
              <a:t>代码根据</a:t>
            </a:r>
            <a:r>
              <a:rPr lang="en-US" altLang="zh-CN" b="0" smtClean="0"/>
              <a:t>CSS</a:t>
            </a:r>
            <a:r>
              <a:rPr lang="zh-CN" altLang="en-US" b="0" smtClean="0"/>
              <a:t>定义的规则显示在浏览器窗口中的这个过程。</a:t>
            </a:r>
            <a:endParaRPr lang="en-US" altLang="zh-CN" b="0" smtClean="0"/>
          </a:p>
          <a:p>
            <a:r>
              <a:rPr lang="zh-CN" altLang="en-US" b="0" smtClean="0"/>
              <a:t>对于一个</a:t>
            </a:r>
            <a:r>
              <a:rPr lang="en-US" altLang="zh-CN" b="0" smtClean="0"/>
              <a:t>HTML</a:t>
            </a:r>
            <a:r>
              <a:rPr lang="zh-CN" altLang="en-US" b="0" smtClean="0"/>
              <a:t>文档，浏览器的解析顺序为：按照文档流，</a:t>
            </a:r>
            <a:r>
              <a:rPr lang="zh-CN" altLang="en-US" b="0" smtClean="0">
                <a:solidFill>
                  <a:srgbClr val="FF0000"/>
                </a:solidFill>
              </a:rPr>
              <a:t>从上到下</a:t>
            </a:r>
            <a:r>
              <a:rPr lang="zh-CN" altLang="en-US" b="0" smtClean="0"/>
              <a:t>逐步解析页面的结构。</a:t>
            </a:r>
            <a:endParaRPr lang="en-US" altLang="zh-CN" b="0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HTML</a:t>
            </a:r>
            <a:r>
              <a:rPr lang="zh-CN" altLang="en-US" smtClean="0"/>
              <a:t>解析过程</a:t>
            </a:r>
            <a:endParaRPr lang="zh-CN" altLang="en-US" smtClean="0"/>
          </a:p>
        </p:txBody>
      </p:sp>
      <p:sp>
        <p:nvSpPr>
          <p:cNvPr id="1638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b="0" smtClean="0"/>
              <a:t>1.</a:t>
            </a:r>
            <a:r>
              <a:rPr lang="zh-CN" altLang="en-US" b="0" smtClean="0"/>
              <a:t>用户输入网址（假设是个</a:t>
            </a:r>
            <a:r>
              <a:rPr lang="en-US" altLang="zh-CN" b="0" smtClean="0"/>
              <a:t>html</a:t>
            </a:r>
            <a:r>
              <a:rPr lang="zh-CN" altLang="en-US" b="0" smtClean="0"/>
              <a:t>页面，并且是第一次访问），浏览器向服务器发出请求，服务器返回</a:t>
            </a:r>
            <a:r>
              <a:rPr lang="en-US" altLang="zh-CN" b="0" smtClean="0"/>
              <a:t>html</a:t>
            </a:r>
            <a:r>
              <a:rPr lang="zh-CN" altLang="en-US" b="0" smtClean="0"/>
              <a:t>文件；</a:t>
            </a:r>
            <a:endParaRPr lang="en-US" altLang="zh-CN" b="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b="0" smtClean="0"/>
              <a:t>2. </a:t>
            </a:r>
            <a:r>
              <a:rPr lang="zh-CN" altLang="en-US" b="0" smtClean="0"/>
              <a:t>浏览器开始载入</a:t>
            </a:r>
            <a:r>
              <a:rPr lang="en-US" altLang="zh-CN" b="0" smtClean="0"/>
              <a:t>html</a:t>
            </a:r>
            <a:r>
              <a:rPr lang="zh-CN" altLang="en-US" b="0" smtClean="0"/>
              <a:t>代码，发现</a:t>
            </a:r>
            <a:r>
              <a:rPr lang="en-US" altLang="zh-CN" b="0" smtClean="0"/>
              <a:t>&lt;head&gt;</a:t>
            </a:r>
            <a:r>
              <a:rPr lang="zh-CN" altLang="en-US" b="0" smtClean="0"/>
              <a:t>标签内有一个</a:t>
            </a:r>
            <a:r>
              <a:rPr lang="en-US" altLang="zh-CN" b="0" smtClean="0"/>
              <a:t>&lt;</a:t>
            </a:r>
            <a:r>
              <a:rPr lang="en-US" altLang="zh-CN" b="0" smtClean="0">
                <a:solidFill>
                  <a:srgbClr val="FF0000"/>
                </a:solidFill>
              </a:rPr>
              <a:t>link</a:t>
            </a:r>
            <a:r>
              <a:rPr lang="en-US" altLang="zh-CN" b="0" smtClean="0"/>
              <a:t>&gt;</a:t>
            </a:r>
            <a:r>
              <a:rPr lang="zh-CN" altLang="en-US" b="0" smtClean="0"/>
              <a:t>标签引用外部</a:t>
            </a:r>
            <a:r>
              <a:rPr lang="en-US" altLang="zh-CN" b="0" smtClean="0"/>
              <a:t>CSS</a:t>
            </a:r>
            <a:r>
              <a:rPr lang="zh-CN" altLang="en-US" b="0" smtClean="0"/>
              <a:t>文件； 　　</a:t>
            </a:r>
            <a:endParaRPr lang="en-US" altLang="zh-CN" b="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b="0" smtClean="0"/>
              <a:t>3. </a:t>
            </a:r>
            <a:r>
              <a:rPr lang="zh-CN" altLang="en-US" b="0" smtClean="0"/>
              <a:t>浏览器又发出</a:t>
            </a:r>
            <a:r>
              <a:rPr lang="en-US" altLang="zh-CN" b="0" smtClean="0"/>
              <a:t>CSS</a:t>
            </a:r>
            <a:r>
              <a:rPr lang="zh-CN" altLang="en-US" b="0" smtClean="0"/>
              <a:t>文件的请求，服务器返回这个</a:t>
            </a:r>
            <a:r>
              <a:rPr lang="en-US" altLang="zh-CN" b="0" smtClean="0"/>
              <a:t>CSS</a:t>
            </a:r>
            <a:r>
              <a:rPr lang="zh-CN" altLang="en-US" b="0" smtClean="0"/>
              <a:t>文件； 　　</a:t>
            </a:r>
            <a:endParaRPr lang="en-US" altLang="zh-CN" b="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b="0" smtClean="0"/>
              <a:t>4. </a:t>
            </a:r>
            <a:r>
              <a:rPr lang="zh-CN" altLang="en-US" b="0" smtClean="0"/>
              <a:t>浏览器继续载入</a:t>
            </a:r>
            <a:r>
              <a:rPr lang="en-US" altLang="zh-CN" b="0" smtClean="0"/>
              <a:t>html</a:t>
            </a:r>
            <a:r>
              <a:rPr lang="zh-CN" altLang="en-US" b="0" smtClean="0"/>
              <a:t>中</a:t>
            </a:r>
            <a:r>
              <a:rPr lang="en-US" altLang="zh-CN" b="0" smtClean="0"/>
              <a:t>&lt;body&gt;</a:t>
            </a:r>
            <a:r>
              <a:rPr lang="zh-CN" altLang="en-US" b="0" smtClean="0"/>
              <a:t>部分的代码，开始渲染页面了； 　　</a:t>
            </a:r>
            <a:endParaRPr lang="zh-CN" altLang="en-US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HTML</a:t>
            </a:r>
            <a:r>
              <a:rPr lang="zh-CN" altLang="en-US" smtClean="0"/>
              <a:t>解析过程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7080" y="1556385"/>
            <a:ext cx="10231120" cy="43942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b="0" dirty="0" smtClean="0"/>
              <a:t> </a:t>
            </a:r>
            <a:r>
              <a:rPr lang="en-US" altLang="zh-CN" sz="2800" b="0" dirty="0" smtClean="0"/>
              <a:t>5. </a:t>
            </a:r>
            <a:r>
              <a:rPr lang="zh-CN" altLang="en-US" sz="2800" b="0" dirty="0" smtClean="0"/>
              <a:t>浏览器在代码中发现一个</a:t>
            </a:r>
            <a:r>
              <a:rPr lang="en-US" altLang="zh-CN" sz="2800" b="0" dirty="0" smtClean="0"/>
              <a:t>&lt;</a:t>
            </a:r>
            <a:r>
              <a:rPr lang="en-US" altLang="zh-CN" sz="2800" b="0" dirty="0" err="1" smtClean="0"/>
              <a:t>img</a:t>
            </a:r>
            <a:r>
              <a:rPr lang="en-US" altLang="zh-CN" sz="2800" b="0" dirty="0" smtClean="0"/>
              <a:t>&gt;</a:t>
            </a:r>
            <a:r>
              <a:rPr lang="zh-CN" altLang="en-US" sz="2800" b="0" dirty="0" smtClean="0"/>
              <a:t>标签引用了一张图片，向服务器发出请求。此时浏览器不会等到图片下载完，而是继续渲染后面的代码； 　　</a:t>
            </a:r>
            <a:endParaRPr lang="zh-CN" altLang="en-US" sz="2800" b="0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b="0" dirty="0" smtClean="0"/>
              <a:t>6. </a:t>
            </a:r>
            <a:r>
              <a:rPr lang="zh-CN" altLang="en-US" sz="2800" b="0" dirty="0" smtClean="0"/>
              <a:t>服务器返回图片文件，由于图片占用了一定面积，影响了后面段落的排布，因此浏览器需要回过头来重新渲染这部分代码； 　　</a:t>
            </a:r>
            <a:endParaRPr lang="en-US" altLang="zh-CN" sz="2800" b="0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b="0" dirty="0" smtClean="0"/>
              <a:t>7. </a:t>
            </a:r>
            <a:r>
              <a:rPr lang="zh-CN" altLang="en-US" sz="2800" b="0" dirty="0" smtClean="0"/>
              <a:t>浏览器发现了一个包含一行</a:t>
            </a:r>
            <a:r>
              <a:rPr lang="en-US" altLang="zh-CN" sz="2800" b="0" dirty="0" err="1" smtClean="0"/>
              <a:t>Javascript</a:t>
            </a:r>
            <a:r>
              <a:rPr lang="zh-CN" altLang="en-US" sz="2800" b="0" dirty="0" smtClean="0"/>
              <a:t>代码的</a:t>
            </a:r>
            <a:r>
              <a:rPr lang="en-US" altLang="zh-CN" sz="2800" b="0" dirty="0" smtClean="0"/>
              <a:t>&lt;script&gt;</a:t>
            </a:r>
            <a:r>
              <a:rPr lang="zh-CN" altLang="en-US" sz="2800" b="0" dirty="0" smtClean="0"/>
              <a:t>标签，</a:t>
            </a:r>
            <a:r>
              <a:rPr lang="en-US" altLang="zh-CN" sz="2800" b="0" dirty="0" smtClean="0">
                <a:solidFill>
                  <a:srgbClr val="FF0000"/>
                </a:solidFill>
              </a:rPr>
              <a:t>&lt;div&gt;</a:t>
            </a:r>
            <a:r>
              <a:rPr lang="zh-CN" altLang="en-US" sz="2800" b="0" dirty="0" smtClean="0">
                <a:solidFill>
                  <a:srgbClr val="FF0000"/>
                </a:solidFill>
              </a:rPr>
              <a:t> （</a:t>
            </a:r>
            <a:r>
              <a:rPr lang="en-US" altLang="zh-CN" sz="2800" b="0" dirty="0" err="1" smtClean="0">
                <a:solidFill>
                  <a:srgbClr val="FF0000"/>
                </a:solidFill>
              </a:rPr>
              <a:t>style.display</a:t>
            </a:r>
            <a:r>
              <a:rPr lang="en-US" altLang="zh-CN" sz="2800" b="0" dirty="0" smtClean="0">
                <a:solidFill>
                  <a:srgbClr val="FF0000"/>
                </a:solidFill>
              </a:rPr>
              <a:t>=”none”</a:t>
            </a:r>
            <a:r>
              <a:rPr lang="zh-CN" altLang="en-US" sz="2800" b="0" dirty="0" smtClean="0">
                <a:solidFill>
                  <a:srgbClr val="FF0000"/>
                </a:solidFill>
              </a:rPr>
              <a:t>）　　</a:t>
            </a:r>
            <a:endParaRPr lang="en-US" altLang="zh-CN" sz="2800" b="0" dirty="0" smtClean="0">
              <a:solidFill>
                <a:srgbClr val="FF0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b="0" dirty="0" smtClean="0"/>
              <a:t>8. </a:t>
            </a:r>
            <a:r>
              <a:rPr lang="en-US" altLang="zh-CN" sz="2800" b="0" dirty="0" err="1" smtClean="0"/>
              <a:t>Javascript</a:t>
            </a:r>
            <a:r>
              <a:rPr lang="zh-CN" altLang="en-US" sz="2800" b="0" dirty="0" smtClean="0"/>
              <a:t>脚本执行了这条语句，重新渲染相应部分代码。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HTML</a:t>
            </a:r>
            <a:r>
              <a:rPr lang="zh-CN" altLang="en-US" smtClean="0"/>
              <a:t>解析过程</a:t>
            </a:r>
            <a:endParaRPr lang="zh-CN" altLang="en-US" smtClean="0"/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b="0" smtClean="0"/>
              <a:t>9. </a:t>
            </a:r>
            <a:r>
              <a:rPr lang="zh-CN" altLang="en-US" b="0" smtClean="0"/>
              <a:t>终于等到了</a:t>
            </a:r>
            <a:r>
              <a:rPr lang="en-US" altLang="zh-CN" b="0" smtClean="0"/>
              <a:t>&lt;/html&gt;</a:t>
            </a:r>
            <a:r>
              <a:rPr lang="zh-CN" altLang="en-US" b="0" smtClean="0"/>
              <a:t>的到来。</a:t>
            </a:r>
            <a:endParaRPr lang="en-US" altLang="zh-CN" b="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b="0" smtClean="0"/>
              <a:t>10. </a:t>
            </a:r>
            <a:r>
              <a:rPr lang="zh-CN" altLang="en-US" b="0" smtClean="0"/>
              <a:t>用户交互：用户点了一下界面中的“换肤”按钮，</a:t>
            </a:r>
            <a:r>
              <a:rPr lang="en-US" altLang="zh-CN" b="0" smtClean="0"/>
              <a:t>Javascript</a:t>
            </a:r>
            <a:r>
              <a:rPr lang="zh-CN" altLang="en-US" b="0" smtClean="0"/>
              <a:t>让浏览器换了一下</a:t>
            </a:r>
            <a:r>
              <a:rPr lang="en-US" altLang="zh-CN" b="0" smtClean="0"/>
              <a:t>&lt;link&gt;</a:t>
            </a:r>
            <a:r>
              <a:rPr lang="zh-CN" altLang="en-US" b="0" smtClean="0"/>
              <a:t>标签的</a:t>
            </a:r>
            <a:r>
              <a:rPr lang="en-US" altLang="zh-CN" b="0" smtClean="0"/>
              <a:t>CSS</a:t>
            </a:r>
            <a:r>
              <a:rPr lang="zh-CN" altLang="en-US" b="0" smtClean="0"/>
              <a:t>路径； 　　</a:t>
            </a:r>
            <a:endParaRPr lang="en-US" altLang="zh-CN" b="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b="0" smtClean="0"/>
              <a:t>11. </a:t>
            </a:r>
            <a:r>
              <a:rPr lang="zh-CN" altLang="en-US" b="0" smtClean="0"/>
              <a:t>浏览器向服务器请 求了新的</a:t>
            </a:r>
            <a:r>
              <a:rPr lang="en-US" altLang="zh-CN" b="0" smtClean="0"/>
              <a:t>CSS</a:t>
            </a:r>
            <a:r>
              <a:rPr lang="zh-CN" altLang="en-US" b="0" smtClean="0"/>
              <a:t>文件，重新渲染页面。</a:t>
            </a:r>
            <a:endParaRPr lang="zh-CN" altLang="en-US" smtClean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23358" y="116841"/>
            <a:ext cx="10668000" cy="1216025"/>
          </a:xfrm>
        </p:spPr>
        <p:txBody>
          <a:bodyPr/>
          <a:lstStyle/>
          <a:p>
            <a:pPr eaLnBrk="1" hangingPunct="1"/>
            <a:r>
              <a:rPr lang="zh-CN" altLang="en-US" smtClean="0"/>
              <a:t>编写第一个</a:t>
            </a:r>
            <a:r>
              <a:rPr lang="en-US" altLang="zh-CN" smtClean="0"/>
              <a:t>JavaScript</a:t>
            </a:r>
            <a:r>
              <a:rPr lang="zh-CN" altLang="en-US" smtClean="0"/>
              <a:t>程序 </a:t>
            </a:r>
            <a:endParaRPr lang="zh-CN" altLang="en-US" smtClean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95326" y="548640"/>
            <a:ext cx="10668000" cy="2057400"/>
          </a:xfrm>
        </p:spPr>
        <p:txBody>
          <a:bodyPr>
            <a:noAutofit/>
          </a:bodyPr>
          <a:lstStyle/>
          <a:p>
            <a:pPr indent="0">
              <a:lnSpc>
                <a:spcPct val="130000"/>
              </a:lnSpc>
              <a:buNone/>
              <a:defRPr/>
            </a:pPr>
            <a:r>
              <a:rPr lang="en-US" altLang="zh-CN" sz="2000" dirty="0" smtClean="0"/>
              <a:t>&lt;html&gt;</a:t>
            </a:r>
            <a:br>
              <a:rPr lang="en-US" altLang="zh-CN" sz="2000" dirty="0" smtClean="0"/>
            </a:br>
            <a:r>
              <a:rPr lang="en-US" altLang="zh-CN" sz="2000" dirty="0" smtClean="0"/>
              <a:t>&lt;head&gt;</a:t>
            </a:r>
            <a:br>
              <a:rPr lang="en-US" altLang="zh-CN" sz="2000" dirty="0" smtClean="0"/>
            </a:br>
            <a:r>
              <a:rPr lang="en-US" altLang="zh-CN" sz="2000" dirty="0" smtClean="0"/>
              <a:t>&lt;Script Language ="JavaScript"&gt;</a:t>
            </a:r>
            <a:br>
              <a:rPr lang="en-US" altLang="zh-CN" sz="2000" dirty="0" smtClean="0"/>
            </a:br>
            <a:r>
              <a:rPr lang="en-US" altLang="zh-CN" sz="2000" dirty="0" smtClean="0"/>
              <a:t>// JavaScript Appears here.</a:t>
            </a:r>
            <a:br>
              <a:rPr lang="en-US" altLang="zh-CN" sz="2000" dirty="0" smtClean="0"/>
            </a:br>
            <a:r>
              <a:rPr lang="en-US" altLang="zh-CN" sz="2000" dirty="0" smtClean="0"/>
              <a:t>alert("</a:t>
            </a:r>
            <a:r>
              <a:rPr lang="zh-CN" altLang="en-US" sz="2000" dirty="0" smtClean="0"/>
              <a:t>这是第一个</a:t>
            </a:r>
            <a:r>
              <a:rPr lang="en-US" altLang="zh-CN" sz="2000" dirty="0" smtClean="0"/>
              <a:t>JavaScript</a:t>
            </a:r>
            <a:r>
              <a:rPr lang="zh-CN" altLang="en-US" sz="2000" dirty="0" smtClean="0"/>
              <a:t>例子</a:t>
            </a:r>
            <a:r>
              <a:rPr lang="en-US" altLang="zh-CN" sz="2000" dirty="0" smtClean="0"/>
              <a:t>!");</a:t>
            </a:r>
            <a:br>
              <a:rPr lang="en-US" altLang="zh-CN" sz="2000" dirty="0" smtClean="0"/>
            </a:br>
            <a:r>
              <a:rPr lang="en-US" altLang="zh-CN" sz="2000" dirty="0" smtClean="0"/>
              <a:t>alert("</a:t>
            </a:r>
            <a:r>
              <a:rPr lang="zh-CN" altLang="en-US" sz="2000" dirty="0" smtClean="0"/>
              <a:t>欢迎你进入</a:t>
            </a:r>
            <a:r>
              <a:rPr lang="en-US" altLang="zh-CN" sz="2000" dirty="0" smtClean="0"/>
              <a:t>JavaScript</a:t>
            </a:r>
            <a:r>
              <a:rPr lang="zh-CN" altLang="en-US" sz="2000" dirty="0" smtClean="0"/>
              <a:t>世界</a:t>
            </a:r>
            <a:r>
              <a:rPr lang="en-US" altLang="zh-CN" sz="2000" dirty="0" smtClean="0"/>
              <a:t>!"); </a:t>
            </a:r>
            <a:br>
              <a:rPr lang="en-US" altLang="zh-CN" sz="2000" dirty="0" smtClean="0"/>
            </a:br>
            <a:r>
              <a:rPr lang="en-US" altLang="zh-CN" sz="2000" dirty="0" smtClean="0"/>
              <a:t>alert("</a:t>
            </a:r>
            <a:r>
              <a:rPr lang="zh-CN" altLang="en-US" sz="2000" dirty="0" smtClean="0"/>
              <a:t>今后我们将共同学习</a:t>
            </a:r>
            <a:r>
              <a:rPr lang="en-US" altLang="zh-CN" sz="2000" dirty="0" smtClean="0"/>
              <a:t>JavaScript</a:t>
            </a:r>
            <a:r>
              <a:rPr lang="zh-CN" altLang="en-US" sz="2000" dirty="0" smtClean="0"/>
              <a:t>知识！</a:t>
            </a:r>
            <a:r>
              <a:rPr lang="en-US" altLang="zh-CN" sz="2000" dirty="0" smtClean="0"/>
              <a:t>");</a:t>
            </a:r>
            <a:br>
              <a:rPr lang="en-US" altLang="zh-CN" sz="2000" dirty="0" smtClean="0"/>
            </a:br>
            <a:r>
              <a:rPr lang="en-US" altLang="zh-CN" sz="2000" dirty="0" smtClean="0"/>
              <a:t>&lt;/Script&gt; </a:t>
            </a:r>
            <a:br>
              <a:rPr lang="en-US" altLang="zh-CN" sz="2000" dirty="0" smtClean="0"/>
            </a:br>
            <a:r>
              <a:rPr lang="en-US" altLang="zh-CN" sz="2000" dirty="0" smtClean="0"/>
              <a:t>&lt;/Head&gt;</a:t>
            </a:r>
            <a:endParaRPr lang="en-US" altLang="zh-CN" sz="2000" dirty="0" smtClean="0"/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zh-CN" sz="2000" dirty="0" smtClean="0"/>
              <a:t>    &lt;body&gt;</a:t>
            </a:r>
            <a:endParaRPr lang="en-US" altLang="zh-CN" sz="2000" dirty="0" smtClean="0"/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</a:t>
            </a:r>
            <a:r>
              <a:rPr sz="2000" dirty="0" smtClean="0"/>
              <a:t>&lt;Script Language ="JavaScript"&gt;</a:t>
            </a:r>
            <a:endParaRPr sz="2000" dirty="0" smtClean="0"/>
          </a:p>
          <a:p>
            <a:pPr marL="0" indent="0">
              <a:lnSpc>
                <a:spcPct val="80000"/>
              </a:lnSpc>
              <a:buNone/>
              <a:defRPr/>
            </a:pPr>
            <a:r>
              <a:rPr sz="2000" dirty="0" smtClean="0"/>
              <a:t>        alert("大家好");</a:t>
            </a:r>
            <a:endParaRPr sz="2000" dirty="0" smtClean="0"/>
          </a:p>
          <a:p>
            <a:pPr marL="0" indent="0">
              <a:lnSpc>
                <a:spcPct val="80000"/>
              </a:lnSpc>
              <a:buNone/>
              <a:defRPr/>
            </a:pPr>
            <a:r>
              <a:rPr sz="2000" dirty="0" smtClean="0"/>
              <a:t>       &lt;/Script&gt; </a:t>
            </a:r>
            <a:endParaRPr sz="2000" dirty="0" smtClean="0"/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zh-CN" sz="2000" dirty="0" smtClean="0"/>
              <a:t>    &lt;/body&gt;</a:t>
            </a:r>
            <a:br>
              <a:rPr lang="en-US" altLang="zh-CN" sz="2000" dirty="0" smtClean="0"/>
            </a:br>
            <a:r>
              <a:rPr lang="en-US" altLang="zh-CN" sz="2000" dirty="0" smtClean="0"/>
              <a:t>  &lt;/Html&gt; </a:t>
            </a:r>
            <a:endParaRPr lang="en-US" altLang="zh-CN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编写第一个</a:t>
            </a:r>
            <a:r>
              <a:rPr lang="en-US" altLang="zh-CN" smtClean="0"/>
              <a:t>JavaScript</a:t>
            </a:r>
            <a:r>
              <a:rPr lang="zh-CN" altLang="en-US" smtClean="0"/>
              <a:t>程序 </a:t>
            </a:r>
            <a:endParaRPr lang="zh-CN" altLang="en-US" smtClean="0"/>
          </a:p>
        </p:txBody>
      </p:sp>
      <p:sp>
        <p:nvSpPr>
          <p:cNvPr id="20483" name="内容占位符 1"/>
          <p:cNvSpPr>
            <a:spLocks noGrp="1"/>
          </p:cNvSpPr>
          <p:nvPr>
            <p:ph idx="1"/>
          </p:nvPr>
        </p:nvSpPr>
        <p:spPr>
          <a:xfrm>
            <a:off x="609600" y="1524001"/>
            <a:ext cx="10972800" cy="4411663"/>
          </a:xfrm>
        </p:spPr>
        <p:txBody>
          <a:bodyPr/>
          <a:lstStyle/>
          <a:p>
            <a:pPr eaLnBrk="1" hangingPunct="1"/>
            <a:r>
              <a:rPr lang="en-US" altLang="zh-CN" smtClean="0"/>
              <a:t>JavaScript</a:t>
            </a:r>
            <a:r>
              <a:rPr lang="zh-CN" altLang="en-US" smtClean="0"/>
              <a:t>代码由 </a:t>
            </a:r>
            <a:r>
              <a:rPr lang="en-US" altLang="zh-CN" smtClean="0"/>
              <a:t>&lt;Script Language ="JavaScript"&gt;...&lt;/Script&gt;</a:t>
            </a:r>
            <a:r>
              <a:rPr lang="zh-CN" altLang="en-US" smtClean="0"/>
              <a:t>说明。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alert()</a:t>
            </a:r>
            <a:r>
              <a:rPr lang="zh-CN" altLang="en-US" smtClean="0"/>
              <a:t>是</a:t>
            </a:r>
            <a:r>
              <a:rPr lang="en-US" altLang="zh-CN" smtClean="0"/>
              <a:t>JavaScript</a:t>
            </a:r>
            <a:r>
              <a:rPr lang="zh-CN" altLang="en-US" smtClean="0"/>
              <a:t>的窗口对象方法，其功能是弹出一个具有</a:t>
            </a:r>
            <a:r>
              <a:rPr lang="en-US" altLang="zh-CN" smtClean="0"/>
              <a:t>OK</a:t>
            </a:r>
            <a:r>
              <a:rPr lang="zh-CN" altLang="en-US" smtClean="0"/>
              <a:t>对话框并显示（）中的字符串。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通过</a:t>
            </a:r>
            <a:r>
              <a:rPr lang="en-US" altLang="zh-CN" smtClean="0"/>
              <a:t>&lt;!-- ...//--&gt;</a:t>
            </a:r>
            <a:r>
              <a:rPr lang="zh-CN" altLang="en-US" smtClean="0"/>
              <a:t>标识说明：若不认识</a:t>
            </a:r>
            <a:r>
              <a:rPr lang="en-US" altLang="zh-CN" smtClean="0"/>
              <a:t>JavaScript</a:t>
            </a:r>
            <a:r>
              <a:rPr lang="zh-CN" altLang="en-US" smtClean="0"/>
              <a:t>代码的浏览器，则所有在其中的标识均被忽略；若认识，则执行其结果。</a:t>
            </a:r>
            <a:endParaRPr lang="zh-CN" altLang="en-US" smtClean="0"/>
          </a:p>
          <a:p>
            <a:pPr eaLnBrk="1" hangingPunct="1"/>
            <a:endParaRPr lang="zh-CN" alt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JavaScript</a:t>
            </a:r>
            <a:r>
              <a:rPr lang="zh-CN" altLang="en-US" smtClean="0"/>
              <a:t>代码的加入 </a:t>
            </a:r>
            <a:endParaRPr lang="zh-CN" altLang="en-US" smtClean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600" smtClean="0"/>
              <a:t>可以直接将</a:t>
            </a:r>
            <a:r>
              <a:rPr lang="en-US" altLang="zh-CN" sz="2600" smtClean="0"/>
              <a:t>JavaScript</a:t>
            </a:r>
            <a:r>
              <a:rPr lang="zh-CN" altLang="en-US" sz="2600" smtClean="0"/>
              <a:t>脚本加入文档</a:t>
            </a:r>
            <a:r>
              <a:rPr lang="en-US" altLang="zh-CN" sz="2600" smtClean="0"/>
              <a:t>&lt;Script Language ="JavaScript"&gt; </a:t>
            </a:r>
            <a:br>
              <a:rPr lang="en-US" altLang="zh-CN" sz="2600" smtClean="0"/>
            </a:br>
            <a:r>
              <a:rPr lang="en-US" altLang="zh-CN" sz="2600" smtClean="0"/>
              <a:t>JavaScript</a:t>
            </a:r>
            <a:r>
              <a:rPr lang="zh-CN" altLang="en-US" sz="2600" smtClean="0"/>
              <a:t>语言代码；</a:t>
            </a:r>
            <a:br>
              <a:rPr lang="zh-CN" altLang="en-US" sz="2600" smtClean="0"/>
            </a:br>
            <a:r>
              <a:rPr lang="en-US" altLang="zh-CN" sz="2600" smtClean="0"/>
              <a:t>JavaScript </a:t>
            </a:r>
            <a:r>
              <a:rPr lang="zh-CN" altLang="en-US" sz="2600" smtClean="0"/>
              <a:t>语言代码</a:t>
            </a:r>
            <a:r>
              <a:rPr lang="en-US" altLang="zh-CN" sz="2600" smtClean="0"/>
              <a:t>; </a:t>
            </a:r>
            <a:br>
              <a:rPr lang="en-US" altLang="zh-CN" sz="2600" smtClean="0"/>
            </a:br>
            <a:r>
              <a:rPr lang="en-US" altLang="zh-CN" sz="2600" smtClean="0"/>
              <a:t>....</a:t>
            </a:r>
            <a:br>
              <a:rPr lang="en-US" altLang="zh-CN" sz="2600" smtClean="0"/>
            </a:br>
            <a:r>
              <a:rPr lang="en-US" altLang="zh-CN" sz="2600" smtClean="0"/>
              <a:t>&lt;/Script&gt; </a:t>
            </a:r>
            <a:endParaRPr lang="en-US" altLang="zh-CN" sz="2600" smtClean="0"/>
          </a:p>
          <a:p>
            <a:pPr eaLnBrk="1" hangingPunct="1">
              <a:lnSpc>
                <a:spcPct val="90000"/>
              </a:lnSpc>
            </a:pPr>
            <a:r>
              <a:rPr lang="zh-CN" altLang="en-US" sz="2600" smtClean="0"/>
              <a:t>说明： 通过标识</a:t>
            </a:r>
            <a:r>
              <a:rPr lang="en-US" altLang="zh-CN" sz="2600" smtClean="0">
                <a:solidFill>
                  <a:srgbClr val="FF0000"/>
                </a:solidFill>
              </a:rPr>
              <a:t>&lt;Script&gt;...&lt;/Script&gt;</a:t>
            </a:r>
            <a:r>
              <a:rPr lang="zh-CN" altLang="en-US" sz="2600" smtClean="0"/>
              <a:t>指明</a:t>
            </a:r>
            <a:r>
              <a:rPr lang="en-US" altLang="zh-CN" sz="2600" smtClean="0"/>
              <a:t>JavaScript</a:t>
            </a:r>
            <a:r>
              <a:rPr lang="zh-CN" altLang="en-US" sz="2600" smtClean="0"/>
              <a:t>脚本源代码将放入其间。</a:t>
            </a:r>
            <a:br>
              <a:rPr lang="zh-CN" altLang="en-US" sz="2600" smtClean="0"/>
            </a:br>
            <a:r>
              <a:rPr lang="zh-CN" altLang="en-US" sz="2600" smtClean="0"/>
              <a:t>通过属性</a:t>
            </a:r>
            <a:r>
              <a:rPr lang="en-US" altLang="zh-CN" sz="2600" smtClean="0"/>
              <a:t>Language ="JavaScript"</a:t>
            </a:r>
            <a:r>
              <a:rPr lang="zh-CN" altLang="en-US" sz="2600" smtClean="0"/>
              <a:t>说明标识中是使用的何种语言，这里是</a:t>
            </a:r>
            <a:r>
              <a:rPr lang="en-US" altLang="zh-CN" sz="2600" smtClean="0"/>
              <a:t>JavaScript</a:t>
            </a:r>
            <a:r>
              <a:rPr lang="zh-CN" altLang="en-US" sz="2600" smtClean="0"/>
              <a:t>语言</a:t>
            </a:r>
            <a:r>
              <a:rPr lang="en-US" altLang="zh-CN" sz="2600" smtClean="0"/>
              <a:t>, </a:t>
            </a:r>
            <a:r>
              <a:rPr lang="zh-CN" altLang="en-US" sz="2600" smtClean="0"/>
              <a:t>表示在</a:t>
            </a:r>
            <a:r>
              <a:rPr lang="en-US" altLang="zh-CN" sz="2600" smtClean="0"/>
              <a:t>JavaScript</a:t>
            </a:r>
            <a:r>
              <a:rPr lang="zh-CN" altLang="en-US" sz="2600" smtClean="0"/>
              <a:t>中使用的语言。 </a:t>
            </a:r>
            <a:endParaRPr lang="zh-CN" altLang="en-US" sz="26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exp2</a:t>
            </a:r>
            <a:endParaRPr lang="zh-CN" altLang="en-US" smtClean="0"/>
          </a:p>
        </p:txBody>
      </p:sp>
      <p:sp>
        <p:nvSpPr>
          <p:cNvPr id="22531" name="内容占位符 2"/>
          <p:cNvSpPr>
            <a:spLocks noGrp="1"/>
          </p:cNvSpPr>
          <p:nvPr>
            <p:ph idx="1"/>
          </p:nvPr>
        </p:nvSpPr>
        <p:spPr>
          <a:xfrm>
            <a:off x="767080" y="1340485"/>
            <a:ext cx="10231120" cy="43942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smtClean="0"/>
              <a:t>&lt;body&gt;</a:t>
            </a:r>
            <a:endParaRPr lang="en-US" altLang="zh-CN" sz="200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smtClean="0"/>
              <a:t>&lt;h1&gt;Current Date and Time&lt;/h1&gt;</a:t>
            </a:r>
            <a:endParaRPr lang="en-US" altLang="zh-CN" sz="200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smtClean="0"/>
              <a:t>&lt;script language="javascript"&gt;</a:t>
            </a:r>
            <a:endParaRPr lang="en-US" altLang="zh-CN" sz="200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smtClean="0"/>
              <a:t>now = new Date();</a:t>
            </a:r>
            <a:endParaRPr lang="en-US" altLang="zh-CN" sz="200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smtClean="0"/>
              <a:t>localtime = now.toString();</a:t>
            </a:r>
            <a:endParaRPr lang="en-US" altLang="zh-CN" sz="200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smtClean="0"/>
              <a:t>utctime = now.toGMTString();</a:t>
            </a:r>
            <a:endParaRPr lang="en-US" altLang="zh-CN" sz="200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smtClean="0"/>
              <a:t>document.write("&lt;strong&gt;Local time:&lt;/strong&gt; "+localtime + "&lt;br/&gt;");</a:t>
            </a:r>
            <a:endParaRPr lang="en-US" altLang="zh-CN" sz="200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smtClean="0"/>
              <a:t>document.write("&lt;strong&gt;UTC time:&lt;/strong&gt; "+ utctime);</a:t>
            </a:r>
            <a:endParaRPr lang="en-US" altLang="zh-CN" sz="200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smtClean="0"/>
              <a:t>&lt;/script&gt;</a:t>
            </a:r>
            <a:endParaRPr lang="en-US" altLang="zh-CN" sz="200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smtClean="0"/>
              <a:t>&lt;/body&gt;</a:t>
            </a:r>
            <a:endParaRPr lang="zh-CN" altLang="en-US" smtClean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exp3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&lt;body&gt;</a:t>
            </a:r>
            <a:endParaRPr lang="en-US" altLang="zh-CN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&lt;h1&gt;welcome!&lt;/h1&gt;</a:t>
            </a:r>
            <a:endParaRPr lang="en-US" altLang="zh-CN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&lt;p&gt;</a:t>
            </a:r>
            <a:endParaRPr lang="en-US" altLang="zh-CN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mtClean="0"/>
              <a:t>&lt;a href="http://www.zjnu.edu.cn/"</a:t>
            </a:r>
            <a:endParaRPr lang="en-US" altLang="zh-CN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mtClean="0"/>
              <a:t>onclick="alert('Aha!');"&gt;Go to zjnu&lt;/a&gt;</a:t>
            </a:r>
            <a:endParaRPr lang="en-US" altLang="zh-CN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&lt;/body&gt;</a:t>
            </a:r>
            <a:endParaRPr lang="en-US" altLang="zh-CN" dirty="0" smtClean="0"/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JS</a:t>
            </a:r>
            <a:r>
              <a:rPr lang="zh-CN" altLang="en-US" smtClean="0"/>
              <a:t>放置位置</a:t>
            </a:r>
            <a:endParaRPr lang="zh-CN" altLang="en-US" smtClean="0"/>
          </a:p>
        </p:txBody>
      </p:sp>
      <p:sp>
        <p:nvSpPr>
          <p:cNvPr id="2457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1.</a:t>
            </a:r>
            <a:r>
              <a:rPr lang="zh-CN" altLang="en-US" smtClean="0"/>
              <a:t>脚本在</a:t>
            </a:r>
            <a:r>
              <a:rPr lang="en-US" altLang="zh-CN" smtClean="0"/>
              <a:t>head</a:t>
            </a:r>
            <a:r>
              <a:rPr lang="zh-CN" altLang="en-US" smtClean="0"/>
              <a:t>标记中，定义成函数的形式，在</a:t>
            </a:r>
            <a:r>
              <a:rPr lang="en-US" altLang="zh-CN" smtClean="0"/>
              <a:t>body</a:t>
            </a:r>
            <a:r>
              <a:rPr lang="zh-CN" altLang="en-US" smtClean="0"/>
              <a:t>中调用：</a:t>
            </a:r>
            <a:r>
              <a:rPr lang="en-US" altLang="zh-CN" smtClean="0"/>
              <a:t>12-1-2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2.</a:t>
            </a:r>
            <a:r>
              <a:rPr lang="zh-CN" altLang="en-US" smtClean="0"/>
              <a:t>脚本位于</a:t>
            </a:r>
            <a:r>
              <a:rPr lang="en-US" altLang="zh-CN" smtClean="0"/>
              <a:t>body</a:t>
            </a:r>
            <a:r>
              <a:rPr lang="zh-CN" altLang="en-US" smtClean="0"/>
              <a:t>标记中：</a:t>
            </a:r>
            <a:r>
              <a:rPr lang="en-US" altLang="zh-CN" smtClean="0"/>
              <a:t>12-1-1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3.</a:t>
            </a:r>
            <a:r>
              <a:rPr lang="zh-CN" altLang="en-US" smtClean="0"/>
              <a:t>脚本位于外部</a:t>
            </a:r>
            <a:r>
              <a:rPr lang="en-US" altLang="zh-CN" smtClean="0"/>
              <a:t>JS</a:t>
            </a:r>
            <a:r>
              <a:rPr lang="zh-CN" altLang="en-US" smtClean="0"/>
              <a:t>文件中，在</a:t>
            </a:r>
            <a:r>
              <a:rPr lang="en-US" altLang="zh-CN" smtClean="0"/>
              <a:t>head</a:t>
            </a:r>
            <a:r>
              <a:rPr lang="zh-CN" altLang="en-US" smtClean="0"/>
              <a:t>中引入，在</a:t>
            </a:r>
            <a:r>
              <a:rPr lang="en-US" altLang="zh-CN" smtClean="0"/>
              <a:t>body</a:t>
            </a:r>
            <a:r>
              <a:rPr lang="zh-CN" altLang="en-US" smtClean="0"/>
              <a:t>中调用。</a:t>
            </a:r>
            <a:r>
              <a:rPr lang="en-US" altLang="zh-CN" smtClean="0"/>
              <a:t>12-1-3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4.</a:t>
            </a:r>
            <a:r>
              <a:rPr lang="zh-CN" altLang="en-US" smtClean="0"/>
              <a:t>直接写在事件处理的代码中。</a:t>
            </a:r>
            <a:r>
              <a:rPr lang="en-US" altLang="zh-CN" smtClean="0"/>
              <a:t>12-1-4</a:t>
            </a:r>
            <a:endParaRPr lang="en-US" altLang="zh-CN" smtClean="0"/>
          </a:p>
          <a:p>
            <a:pPr eaLnBrk="1" hangingPunct="1"/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7080" y="1196975"/>
            <a:ext cx="10231120" cy="4394200"/>
          </a:xfrm>
        </p:spPr>
        <p:txBody>
          <a:bodyPr/>
          <a:p>
            <a:pPr marL="0" indent="0">
              <a:buNone/>
            </a:pPr>
            <a:r>
              <a:rPr lang="zh-CN" altLang="en-US" sz="2000"/>
              <a:t>&lt;Script Language ="JavaScript"&gt;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/>
              <a:t>   function message()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/>
              <a:t>   {alert("这是第一个JavaScript例子!");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/>
              <a:t>   alert("欢迎你进入JavaScript世界!"); 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/>
              <a:t>   alert("今后我们将共同学习JavaScript知识！");}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/>
              <a:t>   &lt;/Script&gt;    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/>
              <a:t>&lt;/head&gt;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/>
              <a:t>&lt;body&gt;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/>
              <a:t>    &lt;form action=""&gt;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/>
              <a:t>        &lt;input type="button" name="ok" onclick="message()" value="click me"&gt;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/>
              <a:t>    &lt;/form&gt;</a:t>
            </a:r>
            <a:endParaRPr lang="zh-CN" altLang="en-US"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JS</a:t>
            </a:r>
            <a:r>
              <a:t>外部样式表示例</a:t>
            </a:r>
            <a:r>
              <a:rPr lang="en-US" altLang="zh-CN"/>
              <a:t>1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927350" y="4004945"/>
            <a:ext cx="8248650" cy="25336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39470" y="1052830"/>
            <a:ext cx="10419715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&lt;html&gt;</a:t>
            </a:r>
            <a:endParaRPr lang="zh-CN" altLang="en-US"/>
          </a:p>
          <a:p>
            <a:r>
              <a:rPr lang="zh-CN" altLang="en-US"/>
              <a:t>&lt;head&gt;</a:t>
            </a:r>
            <a:endParaRPr lang="zh-CN" altLang="en-US"/>
          </a:p>
          <a:p>
            <a:r>
              <a:rPr lang="zh-CN" altLang="en-US"/>
              <a:t> &lt;script src="demo.js"&gt;&lt;/script&gt;</a:t>
            </a:r>
            <a:endParaRPr lang="zh-CN" altLang="en-US"/>
          </a:p>
          <a:p>
            <a:r>
              <a:rPr lang="zh-CN" altLang="en-US"/>
              <a:t>&lt;/head&gt;</a:t>
            </a:r>
            <a:endParaRPr lang="zh-CN" altLang="en-US"/>
          </a:p>
          <a:p>
            <a:r>
              <a:rPr lang="zh-CN" altLang="en-US"/>
              <a:t>&lt;body&gt;</a:t>
            </a:r>
            <a:endParaRPr lang="zh-CN" altLang="en-US"/>
          </a:p>
          <a:p>
            <a:r>
              <a:rPr lang="zh-CN" altLang="en-US"/>
              <a:t>    &lt;form action=""&gt;</a:t>
            </a:r>
            <a:endParaRPr lang="zh-CN" altLang="en-US"/>
          </a:p>
          <a:p>
            <a:r>
              <a:rPr lang="zh-CN" altLang="en-US"/>
              <a:t>        &lt;input type="button" name="ok" onclick="message()" value="click me"&gt;</a:t>
            </a:r>
            <a:endParaRPr lang="zh-CN" altLang="en-US"/>
          </a:p>
          <a:p>
            <a:r>
              <a:rPr lang="zh-CN" altLang="en-US"/>
              <a:t>        &lt;input type="button" name="ck" value="welcome" onclick="alert('welcome')"&gt;</a:t>
            </a:r>
            <a:endParaRPr lang="zh-CN" altLang="en-US"/>
          </a:p>
          <a:p>
            <a:r>
              <a:rPr lang="zh-CN" altLang="en-US"/>
              <a:t>    &lt;/form&gt;</a:t>
            </a:r>
            <a:endParaRPr lang="zh-CN" altLang="en-US"/>
          </a:p>
          <a:p>
            <a:r>
              <a:rPr lang="en-US" altLang="zh-CN"/>
              <a:t>&lt;body&gt;</a:t>
            </a:r>
            <a:endParaRPr lang="en-US" altLang="zh-CN"/>
          </a:p>
          <a:p>
            <a:r>
              <a:rPr lang="en-US" altLang="zh-CN"/>
              <a:t>&lt;/head&gt;</a:t>
            </a:r>
            <a:endParaRPr lang="en-US" altLang="zh-C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>
          <a:xfrm>
            <a:off x="711200" y="152400"/>
            <a:ext cx="10058400" cy="579438"/>
          </a:xfrm>
        </p:spPr>
        <p:txBody>
          <a:bodyPr/>
          <a:lstStyle/>
          <a:p>
            <a:r>
              <a:rPr lang="zh-CN" altLang="en-US" sz="3200" smtClean="0"/>
              <a:t>外部</a:t>
            </a:r>
            <a:r>
              <a:rPr lang="en-US" altLang="zh-CN" sz="3200" smtClean="0"/>
              <a:t>JS</a:t>
            </a:r>
            <a:r>
              <a:rPr lang="zh-CN" altLang="en-US" sz="3200" smtClean="0"/>
              <a:t>文件示例</a:t>
            </a:r>
            <a:r>
              <a:rPr lang="en-US" altLang="zh-CN" sz="3200" smtClean="0"/>
              <a:t>2</a:t>
            </a:r>
            <a:endParaRPr lang="en-US" altLang="zh-CN" sz="3200" smtClean="0"/>
          </a:p>
        </p:txBody>
      </p:sp>
      <p:sp>
        <p:nvSpPr>
          <p:cNvPr id="25603" name="矩形 6"/>
          <p:cNvSpPr>
            <a:spLocks noChangeArrowheads="1"/>
          </p:cNvSpPr>
          <p:nvPr/>
        </p:nvSpPr>
        <p:spPr bwMode="auto">
          <a:xfrm>
            <a:off x="623570" y="620396"/>
            <a:ext cx="11785600" cy="286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/>
              <a:t>&lt;html&gt;</a:t>
            </a:r>
            <a:endParaRPr lang="en-US" altLang="zh-CN"/>
          </a:p>
          <a:p>
            <a:r>
              <a:rPr lang="en-US" altLang="zh-CN"/>
              <a:t>&lt;head&gt;</a:t>
            </a:r>
            <a:endParaRPr lang="en-US" altLang="zh-CN"/>
          </a:p>
          <a:p>
            <a:r>
              <a:rPr lang="en-US" altLang="zh-CN"/>
              <a:t>&lt;script type=”text/javascript” src=”st.js”&gt;&lt;/script&gt;</a:t>
            </a:r>
            <a:endParaRPr lang="en-US" altLang="zh-CN"/>
          </a:p>
          <a:p>
            <a:r>
              <a:rPr lang="en-US" altLang="zh-CN"/>
              <a:t>&lt;/head&gt;</a:t>
            </a:r>
            <a:endParaRPr lang="en-US" altLang="zh-CN"/>
          </a:p>
          <a:p>
            <a:r>
              <a:rPr lang="en-US" altLang="zh-CN"/>
              <a:t>&lt;body&gt;</a:t>
            </a:r>
            <a:endParaRPr lang="en-US" altLang="zh-CN"/>
          </a:p>
          <a:p>
            <a:r>
              <a:rPr lang="en-US" altLang="zh-CN"/>
              <a:t>&lt;form action=””&gt;</a:t>
            </a:r>
            <a:endParaRPr lang="en-US" altLang="zh-CN"/>
          </a:p>
          <a:p>
            <a:r>
              <a:rPr lang="en-US" altLang="zh-CN"/>
              <a:t>&lt;input type="button" onclick="alert('You are clicking me!');" value=”click me”&gt;</a:t>
            </a:r>
            <a:endParaRPr lang="en-US" altLang="zh-CN"/>
          </a:p>
          <a:p>
            <a:r>
              <a:rPr lang="en-US" altLang="zh-CN"/>
              <a:t>&lt;input type="button" onclick=“showtime()" value=”showtime()”&gt;</a:t>
            </a:r>
            <a:endParaRPr lang="en-US" altLang="zh-CN"/>
          </a:p>
          <a:p>
            <a:r>
              <a:rPr lang="en-US" altLang="zh-CN"/>
              <a:t>&lt;/form&gt;</a:t>
            </a:r>
            <a:endParaRPr lang="en-US" altLang="zh-CN"/>
          </a:p>
          <a:p>
            <a:r>
              <a:rPr lang="en-US" altLang="zh-CN"/>
              <a:t>&lt;/html&gt;</a:t>
            </a:r>
            <a:endParaRPr lang="en-US" altLang="zh-CN"/>
          </a:p>
        </p:txBody>
      </p:sp>
      <p:pic>
        <p:nvPicPr>
          <p:cNvPr id="25604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1540" y="3481705"/>
            <a:ext cx="6510867" cy="309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JS</a:t>
            </a:r>
            <a:r>
              <a:rPr lang="zh-CN" altLang="en-US" smtClean="0"/>
              <a:t>消息对话框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警告</a:t>
            </a:r>
            <a:r>
              <a:rPr lang="zh-CN" altLang="en-US" dirty="0" smtClean="0"/>
              <a:t>框 </a:t>
            </a:r>
            <a:r>
              <a:rPr lang="en-US" altLang="zh-CN" dirty="0" smtClean="0"/>
              <a:t>12-2-1</a:t>
            </a:r>
            <a:endParaRPr lang="en-US" altLang="zh-CN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alert(message)</a:t>
            </a:r>
            <a:endParaRPr lang="en-US" altLang="zh-CN" dirty="0" smtClean="0"/>
          </a:p>
          <a:p>
            <a:pPr>
              <a:defRPr/>
            </a:pPr>
            <a:r>
              <a:rPr lang="zh-CN" altLang="en-US" dirty="0"/>
              <a:t>确认</a:t>
            </a:r>
            <a:r>
              <a:rPr lang="zh-CN" altLang="en-US" dirty="0" smtClean="0"/>
              <a:t>框</a:t>
            </a:r>
            <a:r>
              <a:rPr lang="en-US" altLang="zh-CN" dirty="0"/>
              <a:t> </a:t>
            </a:r>
            <a:r>
              <a:rPr lang="en-US" altLang="zh-CN" dirty="0" smtClean="0"/>
              <a:t>12-2-2</a:t>
            </a:r>
            <a:endParaRPr lang="en-US" altLang="zh-CN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confirm(message)</a:t>
            </a:r>
            <a:endParaRPr lang="en-US" altLang="zh-CN" dirty="0" smtClean="0"/>
          </a:p>
          <a:p>
            <a:pPr>
              <a:defRPr/>
            </a:pPr>
            <a:r>
              <a:rPr lang="zh-CN" altLang="en-US" dirty="0"/>
              <a:t>提示</a:t>
            </a:r>
            <a:r>
              <a:rPr lang="zh-CN" altLang="en-US" dirty="0" smtClean="0"/>
              <a:t>框</a:t>
            </a:r>
            <a:r>
              <a:rPr lang="en-US" altLang="zh-CN" dirty="0" smtClean="0"/>
              <a:t>:12-2-3</a:t>
            </a:r>
            <a:endParaRPr lang="en-US" altLang="zh-CN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prompt(</a:t>
            </a:r>
            <a:r>
              <a:rPr lang="en-US" altLang="zh-CN" dirty="0" err="1" smtClean="0"/>
              <a:t>text,defautValue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Js</a:t>
            </a:r>
            <a:r>
              <a:rPr lang="zh-CN" altLang="en-US" smtClean="0"/>
              <a:t>注释</a:t>
            </a:r>
            <a:endParaRPr lang="zh-CN" altLang="en-US" smtClean="0"/>
          </a:p>
        </p:txBody>
      </p:sp>
      <p:sp>
        <p:nvSpPr>
          <p:cNvPr id="2765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单行注释 </a:t>
            </a:r>
            <a:r>
              <a:rPr lang="en-US" altLang="zh-CN" smtClean="0"/>
              <a:t>//</a:t>
            </a:r>
            <a:endParaRPr lang="en-US" altLang="zh-CN" smtClean="0"/>
          </a:p>
          <a:p>
            <a:r>
              <a:rPr lang="zh-CN" altLang="en-US" smtClean="0"/>
              <a:t>多行注释  </a:t>
            </a:r>
            <a:r>
              <a:rPr lang="en-US" altLang="zh-CN" smtClean="0"/>
              <a:t>/*     */</a:t>
            </a:r>
            <a:endParaRPr lang="en-US" altLang="zh-CN" smtClean="0"/>
          </a:p>
          <a:p>
            <a:r>
              <a:rPr lang="zh-CN" altLang="en-US" smtClean="0"/>
              <a:t>例子：</a:t>
            </a:r>
            <a:r>
              <a:rPr lang="en-US" altLang="zh-CN" smtClean="0"/>
              <a:t>12-2-4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Js</a:t>
            </a:r>
            <a:r>
              <a:rPr lang="zh-CN" altLang="en-US" smtClean="0"/>
              <a:t>语法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区分大小写</a:t>
            </a:r>
            <a:endParaRPr lang="en-US" altLang="zh-CN" dirty="0" smtClean="0"/>
          </a:p>
          <a:p>
            <a:pPr>
              <a:defRPr/>
            </a:pPr>
            <a:r>
              <a:rPr lang="en-US" altLang="zh-CN" dirty="0" err="1" smtClean="0"/>
              <a:t>var</a:t>
            </a:r>
            <a:r>
              <a:rPr lang="en-US" altLang="zh-CN" dirty="0" smtClean="0"/>
              <a:t> </a:t>
            </a:r>
            <a:r>
              <a:rPr lang="zh-CN" altLang="en-US" dirty="0" smtClean="0"/>
              <a:t>定义变量</a:t>
            </a:r>
            <a:endParaRPr lang="en-US" altLang="zh-CN" dirty="0" smtClean="0"/>
          </a:p>
          <a:p>
            <a:pPr>
              <a:defRPr/>
            </a:pPr>
            <a:r>
              <a:rPr lang="zh-CN" altLang="en-US" dirty="0" smtClean="0"/>
              <a:t>语句用分号隔开</a:t>
            </a:r>
            <a:endParaRPr lang="en-US" altLang="zh-CN" dirty="0" smtClean="0"/>
          </a:p>
          <a:p>
            <a:pPr>
              <a:defRPr/>
            </a:pPr>
            <a:r>
              <a:rPr lang="zh-CN" altLang="en-US" dirty="0" smtClean="0"/>
              <a:t>数据类型：</a:t>
            </a:r>
            <a:r>
              <a:rPr lang="en-US" altLang="zh-CN" dirty="0" smtClean="0"/>
              <a:t>String</a:t>
            </a:r>
            <a:r>
              <a:rPr lang="zh-CN" altLang="en-US" dirty="0" smtClean="0"/>
              <a:t>，</a:t>
            </a:r>
            <a:r>
              <a:rPr lang="en-US" altLang="zh-CN" dirty="0" smtClean="0"/>
              <a:t>number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boolean,null</a:t>
            </a:r>
            <a:endParaRPr lang="en-US" altLang="zh-CN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err="1" smtClean="0"/>
              <a:t>Undefined,object</a:t>
            </a:r>
            <a:r>
              <a:rPr lang="en-US" altLang="zh-CN" dirty="0" smtClean="0"/>
              <a:t>,</a:t>
            </a:r>
            <a:endParaRPr lang="en-US" altLang="zh-CN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dirty="0" smtClean="0"/>
              <a:t>例子：</a:t>
            </a:r>
            <a:r>
              <a:rPr lang="en-US" altLang="zh-CN" dirty="0" smtClean="0"/>
              <a:t>12-3-1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课堂练习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完成心理测试页面</a:t>
            </a:r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JavaScript</a:t>
            </a:r>
            <a:r>
              <a:rPr lang="zh-CN" altLang="en-US" smtClean="0"/>
              <a:t>程序构成 </a:t>
            </a:r>
            <a:endParaRPr lang="zh-CN" altLang="en-US" smtClean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控制语句 </a:t>
            </a:r>
            <a:endParaRPr lang="zh-CN" altLang="en-US" smtClean="0"/>
          </a:p>
          <a:p>
            <a:pPr eaLnBrk="1" hangingPunct="1"/>
            <a:r>
              <a:rPr lang="zh-CN" altLang="en-US" smtClean="0"/>
              <a:t>函数 </a:t>
            </a:r>
            <a:endParaRPr lang="zh-CN" altLang="en-US" smtClean="0"/>
          </a:p>
          <a:p>
            <a:pPr eaLnBrk="1" hangingPunct="1"/>
            <a:r>
              <a:rPr lang="zh-CN" altLang="en-US" smtClean="0"/>
              <a:t>对象 </a:t>
            </a:r>
            <a:endParaRPr lang="zh-CN" altLang="en-US" smtClean="0"/>
          </a:p>
          <a:p>
            <a:pPr eaLnBrk="1" hangingPunct="1"/>
            <a:r>
              <a:rPr lang="zh-CN" altLang="en-US" smtClean="0"/>
              <a:t>方法 </a:t>
            </a:r>
            <a:endParaRPr lang="zh-CN" altLang="en-US" smtClean="0"/>
          </a:p>
          <a:p>
            <a:pPr eaLnBrk="1" hangingPunct="1"/>
            <a:r>
              <a:rPr lang="zh-CN" altLang="en-US" smtClean="0"/>
              <a:t>属性 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if</a:t>
            </a:r>
            <a:r>
              <a:rPr lang="zh-CN" altLang="en-US" smtClean="0"/>
              <a:t>条件语句</a:t>
            </a:r>
            <a:endParaRPr lang="zh-CN" altLang="en-US" smtClean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767080" y="1196975"/>
            <a:ext cx="10231120" cy="4394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mtClean="0"/>
              <a:t>基本格式</a:t>
            </a:r>
            <a:br>
              <a:rPr lang="zh-CN" altLang="en-US" smtClean="0"/>
            </a:br>
            <a:r>
              <a:rPr lang="en-US" altLang="zh-CN" smtClean="0"/>
              <a:t>if</a:t>
            </a:r>
            <a:r>
              <a:rPr lang="zh-CN" altLang="en-US" smtClean="0"/>
              <a:t>（表述式）</a:t>
            </a:r>
            <a:br>
              <a:rPr lang="zh-CN" altLang="en-US" smtClean="0"/>
            </a:br>
            <a:r>
              <a:rPr lang="zh-CN" altLang="en-US" smtClean="0"/>
              <a:t>语句段１；</a:t>
            </a:r>
            <a:br>
              <a:rPr lang="zh-CN" altLang="en-US" smtClean="0"/>
            </a:br>
            <a:r>
              <a:rPr lang="en-US" altLang="zh-CN" smtClean="0"/>
              <a:t>......</a:t>
            </a:r>
            <a:br>
              <a:rPr lang="en-US" altLang="zh-CN" smtClean="0"/>
            </a:br>
            <a:r>
              <a:rPr lang="en-US" altLang="zh-CN" smtClean="0"/>
              <a:t>else</a:t>
            </a:r>
            <a:br>
              <a:rPr lang="en-US" altLang="zh-CN" smtClean="0"/>
            </a:br>
            <a:r>
              <a:rPr lang="zh-CN" altLang="en-US" smtClean="0"/>
              <a:t>语句段２；</a:t>
            </a:r>
            <a:br>
              <a:rPr lang="zh-CN" altLang="en-US" smtClean="0"/>
            </a:br>
            <a:r>
              <a:rPr lang="en-US" altLang="zh-CN" smtClean="0"/>
              <a:t>.....</a:t>
            </a:r>
            <a:br>
              <a:rPr lang="en-US" altLang="zh-CN" smtClean="0"/>
            </a:br>
            <a:r>
              <a:rPr lang="zh-CN" altLang="en-US" smtClean="0"/>
              <a:t>　功能：若表达式为</a:t>
            </a:r>
            <a:r>
              <a:rPr lang="en-US" altLang="zh-CN" smtClean="0"/>
              <a:t>true</a:t>
            </a:r>
            <a:r>
              <a:rPr lang="zh-CN" altLang="en-US" smtClean="0"/>
              <a:t>，则执行语句段１；否则执行语句段２。</a:t>
            </a:r>
            <a:endParaRPr lang="en-US" altLang="zh-CN" smtClean="0"/>
          </a:p>
          <a:p>
            <a:pPr eaLnBrk="1" hangingPunct="1">
              <a:lnSpc>
                <a:spcPct val="90000"/>
              </a:lnSpc>
            </a:pPr>
            <a:r>
              <a:rPr lang="en-US" altLang="zh-CN" smtClean="0"/>
              <a:t>12-5-2</a:t>
            </a:r>
            <a:endParaRPr lang="en-US" altLang="zh-CN" smtClean="0"/>
          </a:p>
          <a:p>
            <a:pPr eaLnBrk="1" hangingPunct="1">
              <a:lnSpc>
                <a:spcPct val="90000"/>
              </a:lnSpc>
            </a:pPr>
            <a:r>
              <a:rPr lang="en-US" altLang="zh-CN" smtClean="0"/>
              <a:t>12-5-3</a:t>
            </a:r>
            <a:br>
              <a:rPr lang="zh-CN" altLang="en-US" smtClean="0"/>
            </a:b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if</a:t>
            </a:r>
            <a:r>
              <a:rPr lang="zh-CN" altLang="en-US" smtClean="0"/>
              <a:t>语句的嵌套 </a:t>
            </a:r>
            <a:endParaRPr lang="zh-CN" altLang="en-US" smtClean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mtClean="0"/>
              <a:t>if</a:t>
            </a:r>
            <a:r>
              <a:rPr lang="zh-CN" altLang="en-US" smtClean="0"/>
              <a:t>（布尔值）语句１；</a:t>
            </a:r>
            <a:br>
              <a:rPr lang="zh-CN" altLang="en-US" smtClean="0"/>
            </a:br>
            <a:r>
              <a:rPr lang="en-US" altLang="zh-CN" smtClean="0"/>
              <a:t>else</a:t>
            </a:r>
            <a:r>
              <a:rPr lang="zh-CN" altLang="en-US" smtClean="0"/>
              <a:t>（布尔值）语句２；</a:t>
            </a:r>
            <a:br>
              <a:rPr lang="zh-CN" altLang="en-US" smtClean="0"/>
            </a:br>
            <a:r>
              <a:rPr lang="en-US" altLang="zh-CN" smtClean="0"/>
              <a:t>else if</a:t>
            </a:r>
            <a:r>
              <a:rPr lang="zh-CN" altLang="en-US" smtClean="0"/>
              <a:t>（布尔值）语句３；</a:t>
            </a:r>
            <a:br>
              <a:rPr lang="zh-CN" altLang="en-US" smtClean="0"/>
            </a:br>
            <a:r>
              <a:rPr lang="en-US" altLang="zh-CN" smtClean="0"/>
              <a:t>……</a:t>
            </a:r>
            <a:br>
              <a:rPr lang="en-US" altLang="zh-CN" smtClean="0"/>
            </a:br>
            <a:r>
              <a:rPr lang="en-US" altLang="zh-CN" smtClean="0"/>
              <a:t>else </a:t>
            </a:r>
            <a:r>
              <a:rPr lang="zh-CN" altLang="en-US" smtClean="0"/>
              <a:t>语句４；</a:t>
            </a:r>
            <a:br>
              <a:rPr lang="zh-CN" altLang="en-US" smtClean="0"/>
            </a:br>
            <a:r>
              <a:rPr lang="zh-CN" altLang="en-US" smtClean="0"/>
              <a:t>　</a:t>
            </a:r>
            <a:br>
              <a:rPr lang="zh-CN" altLang="en-US" smtClean="0"/>
            </a:br>
            <a:r>
              <a:rPr lang="zh-CN" altLang="en-US" smtClean="0"/>
              <a:t>在这种情况下，每一级的布尔表述式都会被计算，若为真，则执行其相应的语句，否则执行</a:t>
            </a:r>
            <a:r>
              <a:rPr lang="en-US" altLang="zh-CN" smtClean="0"/>
              <a:t>else</a:t>
            </a:r>
            <a:r>
              <a:rPr lang="zh-CN" altLang="en-US" smtClean="0"/>
              <a:t>后的语句。</a:t>
            </a:r>
            <a:endParaRPr lang="en-US" altLang="zh-CN" smtClean="0"/>
          </a:p>
          <a:p>
            <a:pPr eaLnBrk="1" hangingPunct="1">
              <a:lnSpc>
                <a:spcPct val="90000"/>
              </a:lnSpc>
            </a:pPr>
            <a:r>
              <a:rPr lang="en-US" altLang="zh-CN" smtClean="0"/>
              <a:t>12-5-6</a:t>
            </a:r>
            <a:endParaRPr lang="en-US" altLang="zh-CN" smtClean="0"/>
          </a:p>
          <a:p>
            <a:pPr eaLnBrk="1" hangingPunct="1">
              <a:lnSpc>
                <a:spcPct val="90000"/>
              </a:lnSpc>
            </a:pPr>
            <a:r>
              <a:rPr lang="en-US" altLang="zh-CN" smtClean="0"/>
              <a:t>Switch case </a:t>
            </a:r>
            <a:r>
              <a:rPr lang="zh-CN" altLang="en-US" smtClean="0"/>
              <a:t>语句 </a:t>
            </a:r>
            <a:r>
              <a:rPr lang="en-US" altLang="zh-CN" smtClean="0"/>
              <a:t>12-5-4</a:t>
            </a:r>
            <a:br>
              <a:rPr lang="zh-CN" altLang="en-US" smtClean="0"/>
            </a:b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For</a:t>
            </a:r>
            <a:r>
              <a:rPr lang="zh-CN" altLang="en-US" smtClean="0"/>
              <a:t>循环语句</a:t>
            </a:r>
            <a:endParaRPr lang="zh-CN" altLang="en-US" smtClean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100" smtClean="0"/>
              <a:t>基本格式</a:t>
            </a:r>
            <a:br>
              <a:rPr lang="zh-CN" altLang="en-US" sz="2100" smtClean="0"/>
            </a:br>
            <a:r>
              <a:rPr lang="en-US" altLang="zh-CN" sz="2100" smtClean="0"/>
              <a:t>for</a:t>
            </a:r>
            <a:r>
              <a:rPr lang="zh-CN" altLang="en-US" sz="2100" smtClean="0"/>
              <a:t>（初始化；条件；增量）</a:t>
            </a:r>
            <a:br>
              <a:rPr lang="zh-CN" altLang="en-US" sz="2100" smtClean="0"/>
            </a:br>
            <a:r>
              <a:rPr lang="zh-CN" altLang="en-US" sz="2100" smtClean="0"/>
              <a:t>语句集；</a:t>
            </a:r>
            <a:br>
              <a:rPr lang="zh-CN" altLang="en-US" sz="2100" smtClean="0"/>
            </a:br>
            <a:r>
              <a:rPr lang="zh-CN" altLang="en-US" sz="2100" smtClean="0"/>
              <a:t>　功能：实现条件循环，当条件成立时，执行语句集，否则跳出循环体。</a:t>
            </a:r>
            <a:br>
              <a:rPr lang="zh-CN" altLang="en-US" sz="2100" smtClean="0"/>
            </a:br>
            <a:r>
              <a:rPr lang="zh-CN" altLang="en-US" sz="2100" smtClean="0"/>
              <a:t>　说明：</a:t>
            </a:r>
            <a:br>
              <a:rPr lang="zh-CN" altLang="en-US" sz="2100" smtClean="0"/>
            </a:br>
            <a:r>
              <a:rPr lang="zh-CN" altLang="en-US" sz="2100" smtClean="0"/>
              <a:t>初始化参数告诉循环的开始位置，必须赋予变量的初值；</a:t>
            </a:r>
            <a:br>
              <a:rPr lang="zh-CN" altLang="en-US" sz="2100" smtClean="0"/>
            </a:br>
            <a:r>
              <a:rPr lang="zh-CN" altLang="en-US" sz="2100" smtClean="0"/>
              <a:t>条件：是用于判别循环停止时的条件。若条件满足，则执行循环体，否则 跳出。</a:t>
            </a:r>
            <a:br>
              <a:rPr lang="zh-CN" altLang="en-US" sz="2100" smtClean="0"/>
            </a:br>
            <a:r>
              <a:rPr lang="zh-CN" altLang="en-US" sz="2100" smtClean="0"/>
              <a:t>增量：主要定义循环控制变量在每次循环时按什么方式变化。</a:t>
            </a:r>
            <a:br>
              <a:rPr lang="zh-CN" altLang="en-US" sz="2100" smtClean="0"/>
            </a:br>
            <a:r>
              <a:rPr lang="zh-CN" altLang="en-US" sz="2100" smtClean="0"/>
              <a:t>三个主要语句之间，必须使用逗号分隔。</a:t>
            </a:r>
            <a:endParaRPr lang="en-US" altLang="zh-CN" sz="2100" smtClean="0"/>
          </a:p>
          <a:p>
            <a:pPr eaLnBrk="1" hangingPunct="1">
              <a:lnSpc>
                <a:spcPct val="90000"/>
              </a:lnSpc>
            </a:pPr>
            <a:r>
              <a:rPr lang="en-US" altLang="zh-CN" sz="2100" smtClean="0"/>
              <a:t>For   in    12-5-8</a:t>
            </a:r>
            <a:br>
              <a:rPr lang="zh-CN" altLang="en-US" sz="2100" smtClean="0"/>
            </a:br>
            <a:endParaRPr lang="zh-CN" altLang="en-US" sz="21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while</a:t>
            </a:r>
            <a:r>
              <a:rPr lang="zh-CN" altLang="en-US" smtClean="0"/>
              <a:t>循环 </a:t>
            </a:r>
            <a:endParaRPr lang="zh-CN" altLang="en-US" smtClean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767080" y="1052830"/>
            <a:ext cx="10231120" cy="4394200"/>
          </a:xfrm>
        </p:spPr>
        <p:txBody>
          <a:bodyPr/>
          <a:lstStyle/>
          <a:p>
            <a:pPr eaLnBrk="1" hangingPunct="1"/>
            <a:r>
              <a:rPr lang="zh-CN" altLang="en-US" smtClean="0"/>
              <a:t>基本格式</a:t>
            </a:r>
            <a:br>
              <a:rPr lang="zh-CN" altLang="en-US" smtClean="0"/>
            </a:br>
            <a:r>
              <a:rPr lang="en-US" altLang="zh-CN" smtClean="0"/>
              <a:t>while</a:t>
            </a:r>
            <a:r>
              <a:rPr lang="zh-CN" altLang="en-US" smtClean="0"/>
              <a:t>（条件）</a:t>
            </a:r>
            <a:br>
              <a:rPr lang="zh-CN" altLang="en-US" smtClean="0"/>
            </a:br>
            <a:r>
              <a:rPr lang="zh-CN" altLang="en-US" smtClean="0"/>
              <a:t>语句集；</a:t>
            </a:r>
            <a:br>
              <a:rPr lang="zh-CN" altLang="en-US" smtClean="0"/>
            </a:br>
            <a:r>
              <a:rPr lang="zh-CN" altLang="en-US" smtClean="0"/>
              <a:t>该语句与</a:t>
            </a:r>
            <a:r>
              <a:rPr lang="en-US" altLang="zh-CN" smtClean="0"/>
              <a:t>For</a:t>
            </a:r>
            <a:r>
              <a:rPr lang="zh-CN" altLang="en-US" smtClean="0"/>
              <a:t>语句一样，当条件为真时，重复循环，否则退出循环。</a:t>
            </a:r>
            <a:br>
              <a:rPr lang="zh-CN" altLang="en-US" smtClean="0"/>
            </a:br>
            <a:r>
              <a:rPr lang="en-US" altLang="zh-CN" smtClean="0"/>
              <a:t>For</a:t>
            </a:r>
            <a:r>
              <a:rPr lang="zh-CN" altLang="en-US" smtClean="0"/>
              <a:t>与</a:t>
            </a:r>
            <a:r>
              <a:rPr lang="en-US" altLang="zh-CN" smtClean="0"/>
              <a:t>while</a:t>
            </a:r>
            <a:r>
              <a:rPr lang="zh-CN" altLang="en-US" smtClean="0"/>
              <a:t>语句</a:t>
            </a:r>
            <a:br>
              <a:rPr lang="zh-CN" altLang="en-US" smtClean="0"/>
            </a:br>
            <a:r>
              <a:rPr lang="zh-CN" altLang="en-US" smtClean="0"/>
              <a:t>两种语句都是循环语句，使用</a:t>
            </a:r>
            <a:r>
              <a:rPr lang="en-US" altLang="zh-CN" smtClean="0"/>
              <a:t>For</a:t>
            </a:r>
            <a:r>
              <a:rPr lang="zh-CN" altLang="en-US" smtClean="0"/>
              <a:t>语句在处理有关数字时更易看懂，也较紧凑；而</a:t>
            </a:r>
            <a:r>
              <a:rPr lang="en-US" altLang="zh-CN" smtClean="0"/>
              <a:t>while</a:t>
            </a:r>
            <a:r>
              <a:rPr lang="zh-CN" altLang="en-US" smtClean="0"/>
              <a:t>循环对复杂的语句效果更特别。 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break</a:t>
            </a:r>
            <a:r>
              <a:rPr lang="zh-CN" altLang="en-US" smtClean="0"/>
              <a:t>和</a:t>
            </a:r>
            <a:r>
              <a:rPr lang="en-US" altLang="zh-CN" smtClean="0"/>
              <a:t>continue</a:t>
            </a:r>
            <a:r>
              <a:rPr lang="zh-CN" altLang="en-US" smtClean="0"/>
              <a:t>语句</a:t>
            </a:r>
            <a:endParaRPr lang="zh-CN" altLang="en-US" smtClean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与</a:t>
            </a:r>
            <a:r>
              <a:rPr lang="en-US" altLang="zh-CN" smtClean="0"/>
              <a:t>C++</a:t>
            </a:r>
            <a:r>
              <a:rPr lang="zh-CN" altLang="en-US" smtClean="0"/>
              <a:t>语言相同，使用</a:t>
            </a:r>
            <a:r>
              <a:rPr lang="en-US" altLang="zh-CN" smtClean="0"/>
              <a:t>break</a:t>
            </a:r>
            <a:r>
              <a:rPr lang="zh-CN" altLang="en-US" smtClean="0"/>
              <a:t>语句使得循环从</a:t>
            </a:r>
            <a:r>
              <a:rPr lang="en-US" altLang="zh-CN" smtClean="0"/>
              <a:t>For</a:t>
            </a:r>
            <a:r>
              <a:rPr lang="zh-CN" altLang="en-US" smtClean="0"/>
              <a:t>或</a:t>
            </a:r>
            <a:r>
              <a:rPr lang="en-US" altLang="zh-CN" smtClean="0"/>
              <a:t>while</a:t>
            </a:r>
            <a:r>
              <a:rPr lang="zh-CN" altLang="en-US" smtClean="0"/>
              <a:t>中跳出，</a:t>
            </a:r>
            <a:r>
              <a:rPr lang="en-US" altLang="zh-CN" smtClean="0"/>
              <a:t>continue</a:t>
            </a:r>
            <a:r>
              <a:rPr lang="zh-CN" altLang="en-US" smtClean="0"/>
              <a:t>使得跳过循环内剩余的语句而进入下一次循环。 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函数</a:t>
            </a:r>
            <a:endParaRPr lang="zh-CN" altLang="en-US" smtClean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mtClean="0"/>
              <a:t>函数为程序设计人员提供了一个丰常方便的能力。通常在进行一个复杂的程序设计时，总是根据所要完成的功能，将程序划分为一些相对独立的部分，每部分编写一个函数。从而，使各部分充分独立，任务单一，程序清晰，易懂、易读、易维护。</a:t>
            </a:r>
            <a:r>
              <a:rPr lang="en-US" altLang="zh-CN" smtClean="0"/>
              <a:t>JavaScript</a:t>
            </a:r>
            <a:r>
              <a:rPr lang="zh-CN" altLang="en-US" smtClean="0"/>
              <a:t>函数可以封装那些在程序中可能要多次用到的模块。并可作为事件驱动的结果而调用的程序。从而实现一个函数把它与事件驱动相关联。这是与其它语言不样的地方。 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常用系统函数</a:t>
            </a:r>
            <a:endParaRPr lang="zh-CN" altLang="en-US" smtClean="0"/>
          </a:p>
        </p:txBody>
      </p:sp>
      <p:sp>
        <p:nvSpPr>
          <p:cNvPr id="3686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mtClean="0"/>
              <a:t>Eval</a:t>
            </a:r>
            <a:r>
              <a:rPr lang="zh-CN" altLang="en-US" smtClean="0"/>
              <a:t>（</a:t>
            </a:r>
            <a:r>
              <a:rPr lang="en-US" altLang="zh-CN" smtClean="0"/>
              <a:t>string</a:t>
            </a:r>
            <a:r>
              <a:rPr lang="zh-CN" altLang="en-US" smtClean="0"/>
              <a:t>）</a:t>
            </a:r>
            <a:r>
              <a:rPr lang="en-US" altLang="zh-CN" smtClean="0"/>
              <a:t>:</a:t>
            </a:r>
            <a:r>
              <a:rPr lang="zh-CN" altLang="en-US" smtClean="0"/>
              <a:t>返回字符串</a:t>
            </a:r>
            <a:r>
              <a:rPr lang="en-US" altLang="zh-CN" smtClean="0"/>
              <a:t>string </a:t>
            </a:r>
            <a:r>
              <a:rPr lang="zh-CN" altLang="en-US" smtClean="0"/>
              <a:t>表达式的值 </a:t>
            </a:r>
            <a:r>
              <a:rPr lang="en-US" altLang="zh-CN" smtClean="0"/>
              <a:t>eval(“2+2”)    </a:t>
            </a:r>
            <a:r>
              <a:rPr lang="zh-CN" altLang="en-US" smtClean="0"/>
              <a:t>返回</a:t>
            </a:r>
            <a:r>
              <a:rPr lang="en-US" altLang="zh-CN" smtClean="0"/>
              <a:t>4</a:t>
            </a:r>
            <a:endParaRPr lang="en-US" altLang="zh-CN" smtClean="0"/>
          </a:p>
          <a:p>
            <a:r>
              <a:rPr lang="en-US" altLang="zh-CN" smtClean="0"/>
              <a:t>parseFloat(string) :</a:t>
            </a:r>
            <a:r>
              <a:rPr lang="zh-CN" altLang="en-US" smtClean="0"/>
              <a:t>返回字符串对应的数值</a:t>
            </a:r>
            <a:endParaRPr lang="en-US" altLang="zh-CN" smtClean="0"/>
          </a:p>
          <a:p>
            <a:r>
              <a:rPr lang="en-US" altLang="zh-CN" smtClean="0"/>
              <a:t>parseInt(string)</a:t>
            </a:r>
            <a:endParaRPr lang="en-US" altLang="zh-CN" smtClean="0"/>
          </a:p>
          <a:p>
            <a:r>
              <a:rPr lang="en-US" altLang="zh-CN" smtClean="0"/>
              <a:t>isNaN(string):</a:t>
            </a:r>
            <a:r>
              <a:rPr lang="zh-CN" altLang="en-US" smtClean="0"/>
              <a:t>判断字符串是否为数值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JavaScript</a:t>
            </a:r>
            <a:r>
              <a:rPr lang="zh-CN" altLang="en-US" smtClean="0"/>
              <a:t>函数定义</a:t>
            </a:r>
            <a:endParaRPr lang="zh-CN" altLang="en-US" smtClean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100" smtClean="0"/>
              <a:t>Function </a:t>
            </a:r>
            <a:r>
              <a:rPr lang="zh-CN" altLang="en-US" sz="2100" smtClean="0"/>
              <a:t>函数名 （参数</a:t>
            </a:r>
            <a:r>
              <a:rPr lang="en-US" altLang="zh-CN" sz="2100" smtClean="0"/>
              <a:t>,</a:t>
            </a:r>
            <a:r>
              <a:rPr lang="zh-CN" altLang="en-US" sz="2100" smtClean="0"/>
              <a:t>变元）</a:t>
            </a:r>
            <a:r>
              <a:rPr lang="en-US" altLang="zh-CN" sz="2100" smtClean="0"/>
              <a:t>{</a:t>
            </a:r>
            <a:br>
              <a:rPr lang="en-US" altLang="zh-CN" sz="2100" smtClean="0"/>
            </a:br>
            <a:r>
              <a:rPr lang="zh-CN" altLang="en-US" sz="2100" smtClean="0"/>
              <a:t>函数体</a:t>
            </a:r>
            <a:r>
              <a:rPr lang="en-US" altLang="zh-CN" sz="2100" smtClean="0"/>
              <a:t>;.</a:t>
            </a:r>
            <a:br>
              <a:rPr lang="en-US" altLang="zh-CN" sz="2100" smtClean="0"/>
            </a:br>
            <a:r>
              <a:rPr lang="en-US" altLang="zh-CN" sz="2100" smtClean="0"/>
              <a:t>Return </a:t>
            </a:r>
            <a:r>
              <a:rPr lang="zh-CN" altLang="en-US" sz="2100" smtClean="0"/>
              <a:t>表达式</a:t>
            </a:r>
            <a:r>
              <a:rPr lang="en-US" altLang="zh-CN" sz="2100" smtClean="0"/>
              <a:t>;</a:t>
            </a:r>
            <a:br>
              <a:rPr lang="en-US" altLang="zh-CN" sz="2100" smtClean="0"/>
            </a:br>
            <a:r>
              <a:rPr lang="en-US" altLang="zh-CN" sz="2100" smtClean="0"/>
              <a:t>}</a:t>
            </a:r>
            <a:br>
              <a:rPr lang="en-US" altLang="zh-CN" sz="2100" smtClean="0"/>
            </a:br>
            <a:r>
              <a:rPr lang="zh-CN" altLang="en-US" sz="2100" smtClean="0"/>
              <a:t>说明：</a:t>
            </a:r>
            <a:br>
              <a:rPr lang="zh-CN" altLang="en-US" sz="2100" smtClean="0"/>
            </a:br>
            <a:r>
              <a:rPr lang="zh-CN" altLang="en-US" sz="2100" smtClean="0"/>
              <a:t>当调用函数时</a:t>
            </a:r>
            <a:r>
              <a:rPr lang="en-US" altLang="zh-CN" sz="2100" smtClean="0"/>
              <a:t>,</a:t>
            </a:r>
            <a:r>
              <a:rPr lang="zh-CN" altLang="en-US" sz="2100" smtClean="0"/>
              <a:t>所用变量或字面量均可作为变元传递。</a:t>
            </a:r>
            <a:br>
              <a:rPr lang="zh-CN" altLang="en-US" sz="2100" smtClean="0"/>
            </a:br>
            <a:r>
              <a:rPr lang="zh-CN" altLang="en-US" sz="2100" smtClean="0"/>
              <a:t>函数由关键字</a:t>
            </a:r>
            <a:r>
              <a:rPr lang="en-US" altLang="zh-CN" sz="2100" smtClean="0"/>
              <a:t>Function</a:t>
            </a:r>
            <a:r>
              <a:rPr lang="zh-CN" altLang="en-US" sz="2100" smtClean="0"/>
              <a:t>定义。</a:t>
            </a:r>
            <a:br>
              <a:rPr lang="zh-CN" altLang="en-US" sz="2100" smtClean="0"/>
            </a:br>
            <a:r>
              <a:rPr lang="zh-CN" altLang="en-US" sz="2100" smtClean="0"/>
              <a:t>函数名：定义自己函数的名字。</a:t>
            </a:r>
            <a:br>
              <a:rPr lang="zh-CN" altLang="en-US" sz="2100" smtClean="0"/>
            </a:br>
            <a:r>
              <a:rPr lang="zh-CN" altLang="en-US" sz="2100" smtClean="0"/>
              <a:t>参数表，是传递给函数使用或操作的值，其值可以是常量 ，变量或其它表达式。</a:t>
            </a:r>
            <a:br>
              <a:rPr lang="zh-CN" altLang="en-US" sz="2100" smtClean="0"/>
            </a:br>
            <a:r>
              <a:rPr lang="zh-CN" altLang="en-US" sz="2100" smtClean="0"/>
              <a:t>通过指定函数名（实参）来调用一个函数。</a:t>
            </a:r>
            <a:br>
              <a:rPr lang="zh-CN" altLang="en-US" sz="2100" smtClean="0"/>
            </a:br>
            <a:r>
              <a:rPr lang="zh-CN" altLang="en-US" sz="2100" smtClean="0"/>
              <a:t>必须使用</a:t>
            </a:r>
            <a:r>
              <a:rPr lang="en-US" altLang="zh-CN" sz="2100" smtClean="0"/>
              <a:t>Return</a:t>
            </a:r>
            <a:r>
              <a:rPr lang="zh-CN" altLang="en-US" sz="2100" smtClean="0"/>
              <a:t>将值返回。</a:t>
            </a:r>
            <a:br>
              <a:rPr lang="zh-CN" altLang="en-US" sz="2100" smtClean="0"/>
            </a:br>
            <a:r>
              <a:rPr lang="zh-CN" altLang="en-US" sz="2100" smtClean="0"/>
              <a:t>函数名对大小写是敏感的。</a:t>
            </a:r>
            <a:endParaRPr lang="en-US" altLang="zh-CN" sz="2100" smtClean="0"/>
          </a:p>
          <a:p>
            <a:pPr eaLnBrk="1" hangingPunct="1">
              <a:lnSpc>
                <a:spcPct val="90000"/>
              </a:lnSpc>
            </a:pPr>
            <a:r>
              <a:rPr lang="en-US" altLang="zh-CN" sz="2100" smtClean="0"/>
              <a:t>12-6-7</a:t>
            </a:r>
            <a:r>
              <a:rPr lang="zh-CN" altLang="en-US" sz="2100" smtClean="0"/>
              <a:t>：自定义求梯形面积</a:t>
            </a:r>
            <a:endParaRPr lang="en-US" altLang="zh-CN" sz="2100" smtClean="0"/>
          </a:p>
          <a:p>
            <a:pPr eaLnBrk="1" hangingPunct="1">
              <a:lnSpc>
                <a:spcPct val="90000"/>
              </a:lnSpc>
            </a:pPr>
            <a:r>
              <a:rPr lang="en-US" altLang="zh-CN" sz="2100" smtClean="0"/>
              <a:t>12-6-8 </a:t>
            </a:r>
            <a:r>
              <a:rPr lang="zh-CN" altLang="en-US" sz="2100" smtClean="0"/>
              <a:t>：</a:t>
            </a:r>
            <a:r>
              <a:rPr lang="en-US" altLang="zh-CN" sz="2100" smtClean="0"/>
              <a:t>return</a:t>
            </a:r>
            <a:r>
              <a:rPr lang="zh-CN" altLang="en-US" sz="2100" smtClean="0"/>
              <a:t>返回计算结果</a:t>
            </a:r>
            <a:br>
              <a:rPr lang="zh-CN" altLang="en-US" sz="2100" smtClean="0"/>
            </a:br>
            <a:endParaRPr lang="zh-CN" altLang="en-US" sz="21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函数中的形式参数 </a:t>
            </a:r>
            <a:endParaRPr lang="zh-CN" altLang="en-US" smtClean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100" smtClean="0"/>
              <a:t>在函数的定义中，我们看到函数名后有参数表，这些参数变量可能是一个或几个。那么怎样才能确定参数变量的个数呢？在</a:t>
            </a:r>
            <a:r>
              <a:rPr lang="en-US" altLang="zh-CN" sz="2100" smtClean="0"/>
              <a:t>JavaScript</a:t>
            </a:r>
            <a:r>
              <a:rPr lang="zh-CN" altLang="en-US" sz="2100" smtClean="0"/>
              <a:t>中可通过</a:t>
            </a:r>
            <a:r>
              <a:rPr lang="en-US" altLang="zh-CN" sz="2100" smtClean="0"/>
              <a:t>arguments .Length</a:t>
            </a:r>
            <a:r>
              <a:rPr lang="zh-CN" altLang="en-US" sz="2100" smtClean="0"/>
              <a:t>来检查参数的个数。</a:t>
            </a:r>
            <a:br>
              <a:rPr lang="zh-CN" altLang="en-US" sz="2100" smtClean="0"/>
            </a:br>
            <a:r>
              <a:rPr lang="zh-CN" altLang="en-US" sz="2100" smtClean="0"/>
              <a:t>例：</a:t>
            </a:r>
            <a:br>
              <a:rPr lang="zh-CN" altLang="en-US" sz="2100" smtClean="0"/>
            </a:br>
            <a:r>
              <a:rPr lang="en-US" altLang="zh-CN" sz="2100" smtClean="0"/>
              <a:t>Function function_Name(exp1,exp2,exp3,exp4)</a:t>
            </a:r>
            <a:br>
              <a:rPr lang="en-US" altLang="zh-CN" sz="2100" smtClean="0"/>
            </a:br>
            <a:r>
              <a:rPr lang="en-US" altLang="zh-CN" sz="2100" smtClean="0"/>
              <a:t>Number =function _Name . arguments .length;</a:t>
            </a:r>
            <a:br>
              <a:rPr lang="en-US" altLang="zh-CN" sz="2100" smtClean="0"/>
            </a:br>
            <a:r>
              <a:rPr lang="en-US" altLang="zh-CN" sz="2100" smtClean="0"/>
              <a:t>if (Number&gt;1</a:t>
            </a:r>
            <a:r>
              <a:rPr lang="zh-CN" altLang="en-US" sz="2100" smtClean="0"/>
              <a:t>）</a:t>
            </a:r>
            <a:br>
              <a:rPr lang="zh-CN" altLang="en-US" sz="2100" smtClean="0"/>
            </a:br>
            <a:r>
              <a:rPr lang="en-US" altLang="zh-CN" sz="2100" smtClean="0"/>
              <a:t>document.wrile(exp2);</a:t>
            </a:r>
            <a:br>
              <a:rPr lang="en-US" altLang="zh-CN" sz="2100" smtClean="0"/>
            </a:br>
            <a:r>
              <a:rPr lang="en-US" altLang="zh-CN" sz="2100" smtClean="0"/>
              <a:t>if (Number&gt;2)</a:t>
            </a:r>
            <a:br>
              <a:rPr lang="en-US" altLang="zh-CN" sz="2100" smtClean="0"/>
            </a:br>
            <a:r>
              <a:rPr lang="en-US" altLang="zh-CN" sz="2100" smtClean="0"/>
              <a:t>document.write(exp3);</a:t>
            </a:r>
            <a:br>
              <a:rPr lang="en-US" altLang="zh-CN" sz="2100" smtClean="0"/>
            </a:br>
            <a:r>
              <a:rPr lang="en-US" altLang="zh-CN" sz="2100" smtClean="0"/>
              <a:t>if(Number&gt;3)</a:t>
            </a:r>
            <a:br>
              <a:rPr lang="en-US" altLang="zh-CN" sz="2100" smtClean="0"/>
            </a:br>
            <a:r>
              <a:rPr lang="en-US" altLang="zh-CN" sz="2100" smtClean="0"/>
              <a:t>document.write(exp4);</a:t>
            </a:r>
            <a:br>
              <a:rPr lang="en-US" altLang="zh-CN" sz="2100" smtClean="0"/>
            </a:br>
            <a:r>
              <a:rPr lang="en-US" altLang="zh-CN" sz="2100" smtClean="0"/>
              <a:t>... </a:t>
            </a:r>
            <a:endParaRPr lang="en-US" altLang="zh-CN" sz="21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事件驱动及事件处理 </a:t>
            </a:r>
            <a:endParaRPr lang="zh-CN" altLang="en-US" smtClean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600" smtClean="0"/>
              <a:t>JavaScript</a:t>
            </a:r>
            <a:r>
              <a:rPr lang="zh-CN" altLang="en-US" sz="2600" smtClean="0"/>
              <a:t>是基于对象</a:t>
            </a:r>
            <a:r>
              <a:rPr lang="en-US" altLang="zh-CN" sz="2600" smtClean="0"/>
              <a:t>(object-based)</a:t>
            </a:r>
            <a:r>
              <a:rPr lang="zh-CN" altLang="en-US" sz="2600" smtClean="0"/>
              <a:t>的语言。这与</a:t>
            </a:r>
            <a:r>
              <a:rPr lang="en-US" altLang="zh-CN" sz="2600" smtClean="0"/>
              <a:t>Java</a:t>
            </a:r>
            <a:r>
              <a:rPr lang="zh-CN" altLang="en-US" sz="2600" smtClean="0"/>
              <a:t>不同</a:t>
            </a:r>
            <a:r>
              <a:rPr lang="en-US" altLang="zh-CN" sz="2600" smtClean="0"/>
              <a:t>,Java</a:t>
            </a:r>
            <a:r>
              <a:rPr lang="zh-CN" altLang="en-US" sz="2600" smtClean="0"/>
              <a:t>是面向对象的语言。而基于对象的基本特征，就是采用事件驱动</a:t>
            </a:r>
            <a:r>
              <a:rPr lang="en-US" altLang="zh-CN" sz="2600" smtClean="0"/>
              <a:t>(event-driven)</a:t>
            </a:r>
            <a:r>
              <a:rPr lang="zh-CN" altLang="en-US" sz="2600" smtClean="0"/>
              <a:t>。它是在用形界面的环境下，使得一切输入变化简单化。通常鼠标或热键的动作我们称之为事件（</a:t>
            </a:r>
            <a:r>
              <a:rPr lang="en-US" altLang="zh-CN" sz="2600" smtClean="0"/>
              <a:t>Event</a:t>
            </a:r>
            <a:r>
              <a:rPr lang="zh-CN" altLang="en-US" sz="2600" smtClean="0"/>
              <a:t>），而由鼠标或热键引发的一连串程序的动作，称之为事件驱动（</a:t>
            </a:r>
            <a:r>
              <a:rPr lang="en-US" altLang="zh-CN" sz="2600" smtClean="0"/>
              <a:t>Event Driver</a:t>
            </a:r>
            <a:r>
              <a:rPr lang="zh-CN" altLang="en-US" sz="2600" smtClean="0"/>
              <a:t>）。而对事件进行处理程序或函数，我们称之为事件处理程序（</a:t>
            </a:r>
            <a:r>
              <a:rPr lang="en-US" altLang="zh-CN" sz="2600" smtClean="0"/>
              <a:t>Event Handler</a:t>
            </a:r>
            <a:r>
              <a:rPr lang="zh-CN" altLang="en-US" sz="2600" smtClean="0"/>
              <a:t>）。 </a:t>
            </a:r>
            <a:endParaRPr lang="zh-CN" altLang="en-US" sz="26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事件处理程序 </a:t>
            </a:r>
            <a:endParaRPr lang="zh-CN" altLang="en-US" smtClean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在</a:t>
            </a:r>
            <a:r>
              <a:rPr lang="en-US" altLang="zh-CN" smtClean="0"/>
              <a:t>JavaScript</a:t>
            </a:r>
            <a:r>
              <a:rPr lang="zh-CN" altLang="en-US" smtClean="0"/>
              <a:t>中对象事件的处理通常由函数</a:t>
            </a:r>
            <a:r>
              <a:rPr lang="en-US" altLang="zh-CN" smtClean="0"/>
              <a:t>(Function)</a:t>
            </a:r>
            <a:r>
              <a:rPr lang="zh-CN" altLang="en-US" smtClean="0"/>
              <a:t>担任。其基本格式与函数全部一样，可以将前面所介绍的所有函数作为事件处理程序。</a:t>
            </a:r>
            <a:br>
              <a:rPr lang="zh-CN" altLang="en-US" smtClean="0"/>
            </a:br>
            <a:r>
              <a:rPr lang="zh-CN" altLang="en-US" smtClean="0"/>
              <a:t>格式如下：</a:t>
            </a:r>
            <a:br>
              <a:rPr lang="zh-CN" altLang="en-US" smtClean="0"/>
            </a:br>
            <a:r>
              <a:rPr lang="en-US" altLang="zh-CN" smtClean="0"/>
              <a:t>Function </a:t>
            </a:r>
            <a:r>
              <a:rPr lang="zh-CN" altLang="en-US" smtClean="0"/>
              <a:t>事件处理名（参数表）</a:t>
            </a:r>
            <a:r>
              <a:rPr lang="en-US" altLang="zh-CN" smtClean="0"/>
              <a:t>{</a:t>
            </a:r>
            <a:br>
              <a:rPr lang="en-US" altLang="zh-CN" smtClean="0"/>
            </a:br>
            <a:r>
              <a:rPr lang="zh-CN" altLang="en-US" smtClean="0"/>
              <a:t>事件处理语句集；</a:t>
            </a:r>
            <a:br>
              <a:rPr lang="zh-CN" altLang="en-US" smtClean="0"/>
            </a:br>
            <a:r>
              <a:rPr lang="en-US" altLang="zh-CN" smtClean="0"/>
              <a:t>……</a:t>
            </a:r>
            <a:br>
              <a:rPr lang="en-US" altLang="zh-CN" smtClean="0"/>
            </a:br>
            <a:r>
              <a:rPr lang="en-US" altLang="zh-CN" smtClean="0"/>
              <a:t>} 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主要有以下几个事件  </a:t>
            </a:r>
            <a:endParaRPr lang="zh-CN" altLang="en-US" smtClean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单击事件</a:t>
            </a:r>
            <a:r>
              <a:rPr lang="en-US" altLang="zh-CN" smtClean="0"/>
              <a:t>onClick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onChange</a:t>
            </a:r>
            <a:r>
              <a:rPr lang="zh-CN" altLang="en-US" smtClean="0"/>
              <a:t>改变事件 </a:t>
            </a:r>
            <a:endParaRPr lang="zh-CN" altLang="en-US" smtClean="0"/>
          </a:p>
          <a:p>
            <a:pPr eaLnBrk="1" hangingPunct="1"/>
            <a:r>
              <a:rPr lang="zh-CN" altLang="en-US" smtClean="0"/>
              <a:t>选中事件</a:t>
            </a:r>
            <a:r>
              <a:rPr lang="en-US" altLang="zh-CN" smtClean="0"/>
              <a:t>onSelect 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获得焦点事件</a:t>
            </a:r>
            <a:r>
              <a:rPr lang="en-US" altLang="zh-CN" smtClean="0"/>
              <a:t>onFocus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失去焦点</a:t>
            </a:r>
            <a:r>
              <a:rPr lang="en-US" altLang="zh-CN" smtClean="0"/>
              <a:t>onBlur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载入文件</a:t>
            </a:r>
            <a:r>
              <a:rPr lang="en-US" altLang="zh-CN" smtClean="0"/>
              <a:t>onLoad 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卸载文件</a:t>
            </a:r>
            <a:r>
              <a:rPr lang="en-US" altLang="zh-CN" smtClean="0"/>
              <a:t>onUnload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范例</a:t>
            </a:r>
            <a:r>
              <a:rPr lang="en-US" altLang="zh-CN" smtClean="0"/>
              <a:t>1 </a:t>
            </a:r>
            <a:endParaRPr lang="en-US" altLang="zh-CN" smtClean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711200" y="1524001"/>
            <a:ext cx="10972800" cy="44116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400" smtClean="0"/>
              <a:t>&lt;HTML&gt;</a:t>
            </a:r>
            <a:br>
              <a:rPr lang="en-US" altLang="zh-CN" sz="2400" smtClean="0"/>
            </a:br>
            <a:r>
              <a:rPr lang="en-US" altLang="zh-CN" sz="2400" smtClean="0"/>
              <a:t>&lt;HEAD&gt;</a:t>
            </a:r>
            <a:br>
              <a:rPr lang="en-US" altLang="zh-CN" sz="2400" smtClean="0"/>
            </a:br>
            <a:r>
              <a:rPr lang="en-US" altLang="zh-CN" sz="2400" smtClean="0"/>
              <a:t>&lt;script Language="JavaScript"&gt;</a:t>
            </a:r>
            <a:br>
              <a:rPr lang="en-US" altLang="zh-CN" sz="2400" smtClean="0"/>
            </a:br>
            <a:r>
              <a:rPr lang="en-US" altLang="zh-CN" sz="2400" smtClean="0"/>
              <a:t>&lt;!--</a:t>
            </a:r>
            <a:br>
              <a:rPr lang="en-US" altLang="zh-CN" sz="2400" smtClean="0"/>
            </a:br>
            <a:r>
              <a:rPr lang="en-US" altLang="zh-CN" sz="2400" smtClean="0"/>
              <a:t>function loadform(){</a:t>
            </a:r>
            <a:br>
              <a:rPr lang="en-US" altLang="zh-CN" sz="2400" smtClean="0"/>
            </a:br>
            <a:r>
              <a:rPr lang="en-US" altLang="zh-CN" sz="2400" smtClean="0"/>
              <a:t>alert("</a:t>
            </a:r>
            <a:r>
              <a:rPr lang="zh-CN" altLang="en-US" sz="2400" smtClean="0"/>
              <a:t>这是一个自动装载例子</a:t>
            </a:r>
            <a:r>
              <a:rPr lang="en-US" altLang="zh-CN" sz="2400" smtClean="0"/>
              <a:t>!");</a:t>
            </a:r>
            <a:br>
              <a:rPr lang="en-US" altLang="zh-CN" sz="2400" smtClean="0"/>
            </a:br>
            <a:r>
              <a:rPr lang="en-US" altLang="zh-CN" sz="2400" smtClean="0"/>
              <a:t>}</a:t>
            </a:r>
            <a:br>
              <a:rPr lang="en-US" altLang="zh-CN" sz="2400" smtClean="0"/>
            </a:br>
            <a:r>
              <a:rPr lang="en-US" altLang="zh-CN" sz="2400" smtClean="0"/>
              <a:t>function unloadform(){</a:t>
            </a:r>
            <a:br>
              <a:rPr lang="en-US" altLang="zh-CN" sz="2400" smtClean="0"/>
            </a:br>
            <a:r>
              <a:rPr lang="en-US" altLang="zh-CN" sz="2400" smtClean="0"/>
              <a:t>alert("</a:t>
            </a:r>
            <a:r>
              <a:rPr lang="zh-CN" altLang="en-US" sz="2400" smtClean="0"/>
              <a:t>这是一个卸载例子</a:t>
            </a:r>
            <a:r>
              <a:rPr lang="en-US" altLang="zh-CN" sz="2400" smtClean="0"/>
              <a:t>!");</a:t>
            </a:r>
            <a:br>
              <a:rPr lang="en-US" altLang="zh-CN" sz="2400" smtClean="0"/>
            </a:br>
            <a:r>
              <a:rPr lang="en-US" altLang="zh-CN" sz="2400" smtClean="0"/>
              <a:t>}</a:t>
            </a:r>
            <a:br>
              <a:rPr lang="en-US" altLang="zh-CN" sz="2400" smtClean="0"/>
            </a:br>
            <a:r>
              <a:rPr lang="en-US" altLang="zh-CN" sz="2400" smtClean="0"/>
              <a:t>//--&gt;</a:t>
            </a:r>
            <a:br>
              <a:rPr lang="en-US" altLang="zh-CN" sz="2400" smtClean="0"/>
            </a:br>
            <a:r>
              <a:rPr lang="en-US" altLang="zh-CN" sz="2400" smtClean="0"/>
              <a:t>&lt;/Script&gt;</a:t>
            </a:r>
            <a:br>
              <a:rPr lang="en-US" altLang="zh-CN" sz="2400" smtClean="0"/>
            </a:br>
            <a:r>
              <a:rPr lang="en-US" altLang="zh-CN" sz="2400" smtClean="0"/>
              <a:t>&lt;/HEAD&gt;</a:t>
            </a:r>
            <a:br>
              <a:rPr lang="en-US" altLang="zh-CN" sz="2400" smtClean="0"/>
            </a:br>
            <a:r>
              <a:rPr lang="en-US" altLang="zh-CN" sz="2400" smtClean="0"/>
              <a:t>&lt;BODY OnLoad="loadform()" OnUnload="unloadform()"&gt;</a:t>
            </a:r>
            <a:br>
              <a:rPr lang="en-US" altLang="zh-CN" sz="2400" smtClean="0"/>
            </a:br>
            <a:r>
              <a:rPr lang="en-US" altLang="zh-CN" sz="2400" smtClean="0"/>
              <a:t>&lt;a href="test.htm"&gt;</a:t>
            </a:r>
            <a:r>
              <a:rPr lang="zh-CN" altLang="en-US" sz="2400" smtClean="0"/>
              <a:t>调用</a:t>
            </a:r>
            <a:r>
              <a:rPr lang="en-US" altLang="zh-CN" sz="2400" smtClean="0"/>
              <a:t>&lt;/a&gt;</a:t>
            </a:r>
            <a:br>
              <a:rPr lang="en-US" altLang="zh-CN" sz="2400" smtClean="0"/>
            </a:br>
            <a:r>
              <a:rPr lang="en-US" altLang="zh-CN" sz="2400" smtClean="0"/>
              <a:t>&lt;/BODY&gt;</a:t>
            </a:r>
            <a:br>
              <a:rPr lang="en-US" altLang="zh-CN" sz="2400" smtClean="0"/>
            </a:br>
            <a:r>
              <a:rPr lang="en-US" altLang="zh-CN" sz="2400" smtClean="0"/>
              <a:t>&lt;/HTML&gt;</a:t>
            </a:r>
            <a:br>
              <a:rPr lang="en-US" altLang="zh-CN" sz="2400" smtClean="0"/>
            </a:br>
            <a:endParaRPr lang="en-US" altLang="zh-CN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例子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2400" smtClean="0">
                <a:sym typeface="+mn-ea"/>
              </a:rPr>
              <a:t>13-1-4</a:t>
            </a:r>
            <a:endParaRPr lang="en-US" altLang="zh-CN" sz="2400" smtClean="0"/>
          </a:p>
          <a:p>
            <a:r>
              <a:rPr sz="2400" smtClean="0">
                <a:sym typeface="+mn-ea"/>
              </a:rPr>
              <a:t>获得焦点和失去焦点</a:t>
            </a:r>
            <a:r>
              <a:rPr lang="en-US" altLang="zh-CN" sz="2400" smtClean="0">
                <a:sym typeface="+mn-ea"/>
              </a:rPr>
              <a:t>13-2-1</a:t>
            </a:r>
            <a:endParaRPr lang="en-US" altLang="zh-CN" sz="2400" smtClean="0"/>
          </a:p>
          <a:p>
            <a:r>
              <a:rPr sz="2400" smtClean="0">
                <a:sym typeface="+mn-ea"/>
              </a:rPr>
              <a:t>提交及重置事件 </a:t>
            </a:r>
            <a:r>
              <a:rPr lang="en-US" altLang="zh-CN" sz="2400" smtClean="0">
                <a:sym typeface="+mn-ea"/>
              </a:rPr>
              <a:t>13-2-2</a:t>
            </a:r>
            <a:endParaRPr lang="en-US" altLang="zh-CN" sz="2400" smtClean="0"/>
          </a:p>
          <a:p>
            <a:r>
              <a:rPr sz="2400" smtClean="0">
                <a:sym typeface="+mn-ea"/>
              </a:rPr>
              <a:t>改变及选择事件 </a:t>
            </a:r>
            <a:r>
              <a:rPr lang="en-US" altLang="zh-CN" sz="2400" smtClean="0">
                <a:sym typeface="+mn-ea"/>
              </a:rPr>
              <a:t>13-2-3</a:t>
            </a:r>
            <a:endParaRPr lang="en-US" altLang="zh-CN" sz="2400" smtClean="0"/>
          </a:p>
          <a:p>
            <a:r>
              <a:rPr sz="2400" smtClean="0">
                <a:sym typeface="+mn-ea"/>
              </a:rPr>
              <a:t>鼠标单击</a:t>
            </a:r>
            <a:r>
              <a:rPr lang="en-US" altLang="zh-CN" sz="2400" smtClean="0">
                <a:sym typeface="+mn-ea"/>
              </a:rPr>
              <a:t>13-3-1</a:t>
            </a:r>
            <a:endParaRPr lang="en-US" altLang="zh-CN" sz="2400" smtClean="0"/>
          </a:p>
          <a:p>
            <a:r>
              <a:rPr sz="2400" smtClean="0">
                <a:sym typeface="+mn-ea"/>
              </a:rPr>
              <a:t>鼠标移动替换图片 </a:t>
            </a:r>
            <a:r>
              <a:rPr lang="en-US" altLang="zh-CN" sz="2400" smtClean="0">
                <a:sym typeface="+mn-ea"/>
              </a:rPr>
              <a:t>13-3-2</a:t>
            </a:r>
            <a:endParaRPr lang="en-US" altLang="zh-CN" sz="2400" smtClean="0"/>
          </a:p>
          <a:p>
            <a:r>
              <a:rPr sz="2400" smtClean="0">
                <a:sym typeface="+mn-ea"/>
              </a:rPr>
              <a:t>键盘事件 </a:t>
            </a:r>
            <a:r>
              <a:rPr lang="en-US" altLang="zh-CN" sz="2400" smtClean="0">
                <a:sym typeface="+mn-ea"/>
              </a:rPr>
              <a:t>13-4-1</a:t>
            </a:r>
            <a:endParaRPr lang="en-US" altLang="zh-CN" sz="2400" smtClean="0"/>
          </a:p>
          <a:p>
            <a:r>
              <a:rPr sz="2400" smtClean="0">
                <a:sym typeface="+mn-ea"/>
              </a:rPr>
              <a:t>综合实例 </a:t>
            </a:r>
            <a:r>
              <a:rPr lang="en-US" altLang="zh-CN" sz="2400" smtClean="0">
                <a:sym typeface="+mn-ea"/>
              </a:rPr>
              <a:t>13-6-1</a:t>
            </a:r>
            <a:endParaRPr lang="en-US" altLang="zh-CN" sz="2400" smtClean="0"/>
          </a:p>
          <a:p>
            <a:endParaRPr lang="zh-CN" altLang="en-US" sz="24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8021" y="0"/>
            <a:ext cx="5146716" cy="6858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1860" y="2084493"/>
            <a:ext cx="4934373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b="1" spc="-300" dirty="0" smtClean="0">
                <a:gradFill flip="none" rotWithShape="1">
                  <a:gsLst>
                    <a:gs pos="0">
                      <a:schemeClr val="accent2">
                        <a:shade val="30000"/>
                        <a:satMod val="115000"/>
                      </a:schemeClr>
                    </a:gs>
                    <a:gs pos="50000">
                      <a:schemeClr val="accent2">
                        <a:shade val="67500"/>
                        <a:satMod val="115000"/>
                      </a:schemeClr>
                    </a:gs>
                    <a:gs pos="100000">
                      <a:schemeClr val="accent2"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黑体" panose="02010609060101010101" charset="-122"/>
                <a:ea typeface="黑体" panose="02010609060101010101" charset="-122"/>
                <a:sym typeface="微软雅黑" panose="020B0503020204020204" pitchFamily="34" charset="-122"/>
              </a:rPr>
              <a:t> </a:t>
            </a:r>
            <a:r>
              <a:rPr lang="zh-CN" altLang="en-US" sz="7200" b="1" spc="-300" dirty="0" smtClean="0">
                <a:gradFill flip="none" rotWithShape="1">
                  <a:gsLst>
                    <a:gs pos="0">
                      <a:schemeClr val="accent2">
                        <a:shade val="30000"/>
                        <a:satMod val="115000"/>
                      </a:schemeClr>
                    </a:gs>
                    <a:gs pos="50000">
                      <a:schemeClr val="accent2">
                        <a:shade val="67500"/>
                        <a:satMod val="115000"/>
                      </a:schemeClr>
                    </a:gs>
                    <a:gs pos="100000">
                      <a:schemeClr val="accent2"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黑体" panose="02010609060101010101" charset="-122"/>
                <a:ea typeface="黑体" panose="02010609060101010101" charset="-122"/>
                <a:sym typeface="微软雅黑" panose="020B0503020204020204" pitchFamily="34" charset="-122"/>
              </a:rPr>
              <a:t>谢</a:t>
            </a:r>
            <a:r>
              <a:rPr lang="en-US" altLang="zh-CN" sz="7200" b="1" spc="-300" dirty="0" smtClean="0">
                <a:gradFill flip="none" rotWithShape="1">
                  <a:gsLst>
                    <a:gs pos="0">
                      <a:schemeClr val="accent2">
                        <a:shade val="30000"/>
                        <a:satMod val="115000"/>
                      </a:schemeClr>
                    </a:gs>
                    <a:gs pos="50000">
                      <a:schemeClr val="accent2">
                        <a:shade val="67500"/>
                        <a:satMod val="115000"/>
                      </a:schemeClr>
                    </a:gs>
                    <a:gs pos="100000">
                      <a:schemeClr val="accent2"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黑体" panose="02010609060101010101" charset="-122"/>
                <a:ea typeface="黑体" panose="02010609060101010101" charset="-122"/>
                <a:sym typeface="微软雅黑" panose="020B0503020204020204" pitchFamily="34" charset="-122"/>
              </a:rPr>
              <a:t>  </a:t>
            </a:r>
            <a:r>
              <a:rPr lang="zh-CN" altLang="en-US" sz="7200" b="1" spc="-300" dirty="0" smtClean="0">
                <a:gradFill flip="none" rotWithShape="1">
                  <a:gsLst>
                    <a:gs pos="0">
                      <a:schemeClr val="accent2">
                        <a:shade val="30000"/>
                        <a:satMod val="115000"/>
                      </a:schemeClr>
                    </a:gs>
                    <a:gs pos="50000">
                      <a:schemeClr val="accent2">
                        <a:shade val="67500"/>
                        <a:satMod val="115000"/>
                      </a:schemeClr>
                    </a:gs>
                    <a:gs pos="100000">
                      <a:schemeClr val="accent2"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黑体" panose="02010609060101010101" charset="-122"/>
                <a:ea typeface="黑体" panose="02010609060101010101" charset="-122"/>
                <a:sym typeface="微软雅黑" panose="020B0503020204020204" pitchFamily="34" charset="-122"/>
              </a:rPr>
              <a:t>谢</a:t>
            </a:r>
            <a:r>
              <a:rPr lang="en-US" altLang="zh-CN" sz="7200" b="1" spc="-300" dirty="0" smtClean="0">
                <a:gradFill flip="none" rotWithShape="1">
                  <a:gsLst>
                    <a:gs pos="0">
                      <a:schemeClr val="accent2">
                        <a:shade val="30000"/>
                        <a:satMod val="115000"/>
                      </a:schemeClr>
                    </a:gs>
                    <a:gs pos="50000">
                      <a:schemeClr val="accent2">
                        <a:shade val="67500"/>
                        <a:satMod val="115000"/>
                      </a:schemeClr>
                    </a:gs>
                    <a:gs pos="100000">
                      <a:schemeClr val="accent2"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黑体" panose="02010609060101010101" charset="-122"/>
                <a:ea typeface="黑体" panose="02010609060101010101" charset="-122"/>
                <a:sym typeface="微软雅黑" panose="020B0503020204020204" pitchFamily="34" charset="-122"/>
              </a:rPr>
              <a:t>  </a:t>
            </a:r>
            <a:r>
              <a:rPr lang="zh-CN" altLang="en-US" sz="7200" b="1" spc="-300" dirty="0" smtClean="0">
                <a:gradFill flip="none" rotWithShape="1">
                  <a:gsLst>
                    <a:gs pos="0">
                      <a:schemeClr val="accent2">
                        <a:shade val="30000"/>
                        <a:satMod val="115000"/>
                      </a:schemeClr>
                    </a:gs>
                    <a:gs pos="50000">
                      <a:schemeClr val="accent2">
                        <a:shade val="67500"/>
                        <a:satMod val="115000"/>
                      </a:schemeClr>
                    </a:gs>
                    <a:gs pos="100000">
                      <a:schemeClr val="accent2"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黑体" panose="02010609060101010101" charset="-122"/>
                <a:ea typeface="黑体" panose="02010609060101010101" charset="-122"/>
                <a:sym typeface="微软雅黑" panose="020B0503020204020204" pitchFamily="34" charset="-122"/>
              </a:rPr>
              <a:t>！</a:t>
            </a:r>
            <a:endParaRPr lang="zh-CN" altLang="en-US" sz="7200" b="1" spc="-300" dirty="0" smtClean="0">
              <a:gradFill flip="none" rotWithShape="1">
                <a:gsLst>
                  <a:gs pos="0">
                    <a:schemeClr val="accent2">
                      <a:shade val="30000"/>
                      <a:satMod val="115000"/>
                    </a:schemeClr>
                  </a:gs>
                  <a:gs pos="50000">
                    <a:schemeClr val="accent2">
                      <a:shade val="67500"/>
                      <a:satMod val="115000"/>
                    </a:schemeClr>
                  </a:gs>
                  <a:gs pos="100000">
                    <a:schemeClr val="accent2"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atin typeface="黑体" panose="02010609060101010101" charset="-122"/>
              <a:ea typeface="黑体" panose="02010609060101010101" charset="-122"/>
              <a:sym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11860" y="3371427"/>
            <a:ext cx="4830233" cy="748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265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4265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web</a:t>
            </a:r>
            <a:r>
              <a:rPr lang="zh-CN" altLang="en-US" sz="4265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开发</a:t>
            </a:r>
            <a:endParaRPr sz="42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84937" y="4293551"/>
            <a:ext cx="26468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主讲老师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：徐晓丹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67653" y="4964853"/>
            <a:ext cx="25628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浙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江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师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范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大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199"/>
                            </p:stCondLst>
                            <p:childTnLst>
                              <p:par>
                                <p:cTn id="24" presetID="4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7" grpId="0"/>
      <p:bldP spid="33" grpId="0"/>
      <p:bldP spid="4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general"/>
  <p:tag name="KSO_WM_SLIDE_BK_DARK_LIGHT" val="2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topBottom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ottomTop"/>
  <p:tag name="KSO_WM_SLIDE_BK_DARK_LIGHT" val="2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elt"/>
  <p:tag name="KSO_WM_SLIDE_BK_DARK_LIGHT" val="2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elt"/>
  <p:tag name="KSO_WM_SLIDE_BK_DARK_LIGHT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77434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77434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76866_1"/>
  <p:tag name="KSO_WM_TEMPLATE_CATEGORY" val="custom"/>
  <p:tag name="KSO_WM_TEMPLATE_INDEX" val="20177434"/>
  <p:tag name="KSO_WM_TEMPLATE_SUBCATEGORY" val="0"/>
  <p:tag name="KSO_WM_TEMPLATE_THUMBS_INDEX" val="1、5、6、11、12、16、17、23、24、30"/>
  <p:tag name="KSO_WM_TEMPLATE_MASTER_TYPE" val="1"/>
  <p:tag name="KSO_WM_TEMPLATE_COLOR_TYPE" val="1"/>
  <p:tag name="KSO_WM_TEMPLATE_MASTER_THUMB_INDEX" val="12"/>
</p:tagLst>
</file>

<file path=ppt/tags/tag160.xml><?xml version="1.0" encoding="utf-8"?>
<p:tagLst xmlns:p="http://schemas.openxmlformats.org/presentationml/2006/main">
  <p:tag name="KSO_WM_UNIT_TEXT_FILL_FORE_SCHEMECOLOR_INDEX_BRIGHTNESS" val="0.35"/>
  <p:tag name="KSO_WM_UNIT_TEXT_FILL_FORE_SCHEMECOLOR_INDEX" val="13"/>
  <p:tag name="KSO_WM_UNIT_TEXT_FILL_TYPE" val="1"/>
</p:tagLst>
</file>

<file path=ppt/tags/tag161.xml><?xml version="1.0" encoding="utf-8"?>
<p:tagLst xmlns:p="http://schemas.openxmlformats.org/presentationml/2006/main">
  <p:tag name="KSO_WM_TAG_VERSION" val="1.0"/>
  <p:tag name="KSO_WM_BEAUTIFY_FLAG" val="#wm#"/>
  <p:tag name="KSO_WM_UNIT_TYPE" val="a"/>
  <p:tag name="KSO_WM_UNIT_INDEX" val="1"/>
  <p:tag name="KSO_WM_UNIT_LAYERLEVEL" val="1"/>
  <p:tag name="KSO_WM_UNIT_VALUE" val="13"/>
  <p:tag name="KSO_WM_UNIT_ISCONTENTSTITLE" val="0"/>
  <p:tag name="KSO_WM_UNIT_HIGHLIGHT" val="0"/>
  <p:tag name="KSO_WM_UNIT_COMPATIBLE" val="0"/>
  <p:tag name="KSO_WM_UNIT_PRESET_TEXT" val="复古繁花模板"/>
  <p:tag name="KSO_WM_TEMPLATE_CATEGORY" val="custom"/>
  <p:tag name="KSO_WM_TEMPLATE_INDEX" val="20177434"/>
  <p:tag name="KSO_WM_UNIT_ID" val="custom20177434_1*a*1"/>
  <p:tag name="KSO_WM_UNIT_NOCLEAR" val="0"/>
  <p:tag name="KSO_WM_UNIT_DIAGRAM_ISNUMVISUAL" val="0"/>
  <p:tag name="KSO_WM_UNIT_DIAGRAM_ISREFERUNIT" val="0"/>
  <p:tag name="KSO_WM_UNIT_ISNUMDGMTITLE" val="0"/>
</p:tagLst>
</file>

<file path=ppt/tags/tag162.xml><?xml version="1.0" encoding="utf-8"?>
<p:tagLst xmlns:p="http://schemas.openxmlformats.org/presentationml/2006/main">
  <p:tag name="KSO_WM_TAG_VERSION" val="1.0"/>
  <p:tag name="KSO_WM_BEAUTIFY_FLAG" val="#wm#"/>
  <p:tag name="KSO_WM_UNIT_TYPE" val="b"/>
  <p:tag name="KSO_WM_UNIT_INDEX" val="1"/>
  <p:tag name="KSO_WM_UNIT_LAYERLEVEL" val="1"/>
  <p:tag name="KSO_WM_UNIT_VALUE" val="35"/>
  <p:tag name="KSO_WM_UNIT_ISCONTENTSTITLE" val="0"/>
  <p:tag name="KSO_WM_UNIT_HIGHLIGHT" val="0"/>
  <p:tag name="KSO_WM_UNIT_COMPATIBLE" val="0"/>
  <p:tag name="KSO_WM_TEMPLATE_CATEGORY" val="custom"/>
  <p:tag name="KSO_WM_TEMPLATE_INDEX" val="20177434"/>
  <p:tag name="KSO_WM_UNIT_ID" val="custom20177434_1*b*1"/>
  <p:tag name="KSO_WM_UNIT_NOCLEAR" val="0"/>
  <p:tag name="KSO_WM_UNIT_DIAGRAM_ISNUMVISUAL" val="0"/>
  <p:tag name="KSO_WM_UNIT_DIAGRAM_ISREFERUNIT" val="0"/>
  <p:tag name="KSO_WM_UNIT_PRESET_TEXT" val="点击此处可添加副标题"/>
  <p:tag name="KSO_WM_UNIT_ISNUMDGMTITLE" val="0"/>
  <p:tag name="KSO_WM_UNIT_TEXT_FILL_FORE_SCHEMECOLOR_INDEX_BRIGHTNESS" val="0"/>
  <p:tag name="KSO_WM_UNIT_TEXT_FILL_FORE_SCHEMECOLOR_INDEX" val="14"/>
  <p:tag name="KSO_WM_UNIT_TEXT_FILL_TYPE" val="1"/>
</p:tagLst>
</file>

<file path=ppt/tags/tag163.xml><?xml version="1.0" encoding="utf-8"?>
<p:tagLst xmlns:p="http://schemas.openxmlformats.org/presentationml/2006/main">
  <p:tag name="KSO_WM_TAG_VERSION" val="1.0"/>
  <p:tag name="KSO_WM_SLIDE_ITEM_CNT" val="0"/>
  <p:tag name="KSO_WM_SLIDE_LAYOUT" val="a_b"/>
  <p:tag name="KSO_WM_SLIDE_LAYOUT_CNT" val="1_1"/>
  <p:tag name="KSO_WM_SLIDE_TYPE" val="title"/>
  <p:tag name="KSO_WM_BEAUTIFY_FLAG" val="#wm#"/>
  <p:tag name="KSO_WM_COMBINE_RELATE_SLIDE_ID" val="background20176866_1"/>
  <p:tag name="KSO_WM_TEMPLATE_CATEGORY" val="custom"/>
  <p:tag name="KSO_WM_TEMPLATE_INDEX" val="20177434"/>
  <p:tag name="KSO_WM_SLIDE_ID" val="custom20177434_1"/>
  <p:tag name="KSO_WM_SLIDE_INDEX" val="1"/>
  <p:tag name="KSO_WM_TEMPLATE_SUBCATEGORY" val="0"/>
  <p:tag name="KSO_WM_TEMPLATE_THUMBS_INDEX" val="1、5、6、11、12、16、17、23、24、30"/>
  <p:tag name="KSO_WM_SLIDE_SUBTYPE" val="pureTxt"/>
  <p:tag name="KSO_WM_TEMPLATE_MASTER_TYPE" val="1"/>
  <p:tag name="KSO_WM_TEMPLATE_COLOR_TYPE" val="1"/>
  <p:tag name="KSO_WM_TEMPLATE_MASTER_THUMB_INDEX" val="12"/>
</p:tagLst>
</file>

<file path=ppt/tags/tag164.xml><?xml version="1.0" encoding="utf-8"?>
<p:tagLst xmlns:p="http://schemas.openxmlformats.org/presentationml/2006/main">
  <p:tag name="KSO_WM_UNIT_PLACING_PICTURE_USER_VIEWPORT" val="{&quot;height&quot;:3990,&quot;width&quot;:12990}"/>
</p:tagLst>
</file>

<file path=ppt/tags/tag165.xml><?xml version="1.0" encoding="utf-8"?>
<p:tagLst xmlns:p="http://schemas.openxmlformats.org/presentationml/2006/main">
  <p:tag name="ISPRING_PRESENTATION_TITLE" val="多彩年度工作总结"/>
  <p:tag name="ISPRING_SCORM_RATE_SLIDES" val="0"/>
  <p:tag name="ISPRING_SCORM_RATE_QUIZZES" val="0"/>
  <p:tag name="ISPRING_SCORM_PASSING_SCORE" val="0.000000"/>
  <p:tag name="ISPRING_ULTRA_SCORM_COURSE_ID" val="FDC0946D-DD76-4DA3-BA6E-E972CB53F3CC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ONLINEFOLDERID" val="0"/>
  <p:tag name="ISPRINGONLINEFOLDERPATH" val="Content List"/>
  <p:tag name="ISPRINGCLOUDFOLDERID" val="0"/>
  <p:tag name="ISPRINGCLOUDFOLDERPATH" val="Repository"/>
  <p:tag name="ISPRING_OUTPUT_FOLDER" val="G:\第九批作品\217675"/>
  <p:tag name="ISPRING_FIRST_PUBLISH" val="1"/>
</p:tagLst>
</file>

<file path=ppt/theme/theme1.xml><?xml version="1.0" encoding="utf-8"?>
<a:theme xmlns:a="http://schemas.openxmlformats.org/drawingml/2006/main" name="14_Office 主题​​">
  <a:themeElements>
    <a:clrScheme name="自定义 121">
      <a:dk1>
        <a:srgbClr val="000000"/>
      </a:dk1>
      <a:lt1>
        <a:srgbClr val="FFFFFF"/>
      </a:lt1>
      <a:dk2>
        <a:srgbClr val="D8F3F0"/>
      </a:dk2>
      <a:lt2>
        <a:srgbClr val="FFFFFF"/>
      </a:lt2>
      <a:accent1>
        <a:srgbClr val="57B3A8"/>
      </a:accent1>
      <a:accent2>
        <a:srgbClr val="6BB698"/>
      </a:accent2>
      <a:accent3>
        <a:srgbClr val="79B487"/>
      </a:accent3>
      <a:accent4>
        <a:srgbClr val="89B075"/>
      </a:accent4>
      <a:accent5>
        <a:srgbClr val="9DAD67"/>
      </a:accent5>
      <a:accent6>
        <a:srgbClr val="B1A65D"/>
      </a:accent6>
      <a:hlink>
        <a:srgbClr val="5D6FFB"/>
      </a:hlink>
      <a:folHlink>
        <a:srgbClr val="B759BC"/>
      </a:folHlink>
    </a:clrScheme>
    <a:fontScheme name="自定义 1">
      <a:majorFont>
        <a:latin typeface="微软雅黑"/>
        <a:ea typeface="汉仪旗黑-85S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6852</Words>
  <Application>WPS 演示</Application>
  <PresentationFormat>自定义</PresentationFormat>
  <Paragraphs>308</Paragraphs>
  <Slides>45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5" baseType="lpstr">
      <vt:lpstr>Arial</vt:lpstr>
      <vt:lpstr>宋体</vt:lpstr>
      <vt:lpstr>Wingdings</vt:lpstr>
      <vt:lpstr>微软雅黑</vt:lpstr>
      <vt:lpstr>汉仪旗黑-85S</vt:lpstr>
      <vt:lpstr>黑体</vt:lpstr>
      <vt:lpstr>隶书</vt:lpstr>
      <vt:lpstr>Arial Unicode MS</vt:lpstr>
      <vt:lpstr>Calibri</vt:lpstr>
      <vt:lpstr>14_Office 主题​​</vt:lpstr>
      <vt:lpstr>8  JS基础</vt:lpstr>
      <vt:lpstr>主要内容</vt:lpstr>
      <vt:lpstr>PowerPoint 演示文稿</vt:lpstr>
      <vt:lpstr>JavaScript教程语言概况 </vt:lpstr>
      <vt:lpstr>JavaScript几个基本特点  </vt:lpstr>
      <vt:lpstr>JavaScript和Java的区别 </vt:lpstr>
      <vt:lpstr>基于对象和面向对象 </vt:lpstr>
      <vt:lpstr>解释和编译 </vt:lpstr>
      <vt:lpstr>强变量和弱变量 </vt:lpstr>
      <vt:lpstr>代码格式不一样 </vt:lpstr>
      <vt:lpstr>嵌入方式不一样 </vt:lpstr>
      <vt:lpstr>静态联编和动态联编 </vt:lpstr>
      <vt:lpstr>HTML解析过程</vt:lpstr>
      <vt:lpstr>HTML解析过程</vt:lpstr>
      <vt:lpstr>HTML解析过程</vt:lpstr>
      <vt:lpstr>HTML解析过程</vt:lpstr>
      <vt:lpstr>编写第一个JavaScript程序 </vt:lpstr>
      <vt:lpstr>编写第一个JavaScript程序 </vt:lpstr>
      <vt:lpstr>JavaScript代码的加入 </vt:lpstr>
      <vt:lpstr>exp2</vt:lpstr>
      <vt:lpstr>exp3</vt:lpstr>
      <vt:lpstr>JS放置位置</vt:lpstr>
      <vt:lpstr>PowerPoint 演示文稿</vt:lpstr>
      <vt:lpstr>JS外部样式表示例1</vt:lpstr>
      <vt:lpstr>外部JS文件示例2</vt:lpstr>
      <vt:lpstr>JS消息对话框</vt:lpstr>
      <vt:lpstr>Js注释</vt:lpstr>
      <vt:lpstr>Js语法</vt:lpstr>
      <vt:lpstr>课堂练习</vt:lpstr>
      <vt:lpstr>JavaScript程序构成 </vt:lpstr>
      <vt:lpstr>if条件语句</vt:lpstr>
      <vt:lpstr>if语句的嵌套 </vt:lpstr>
      <vt:lpstr>For循环语句</vt:lpstr>
      <vt:lpstr>while循环 </vt:lpstr>
      <vt:lpstr>break和continue语句</vt:lpstr>
      <vt:lpstr>函数</vt:lpstr>
      <vt:lpstr>常用系统函数</vt:lpstr>
      <vt:lpstr>JavaScript函数定义</vt:lpstr>
      <vt:lpstr>函数中的形式参数 </vt:lpstr>
      <vt:lpstr>事件驱动及事件处理 </vt:lpstr>
      <vt:lpstr>事件处理程序 </vt:lpstr>
      <vt:lpstr>主要有以下几个事件  </vt:lpstr>
      <vt:lpstr>范例1 </vt:lpstr>
      <vt:lpstr>例子</vt:lpstr>
      <vt:lpstr>PowerPoint 演示文稿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多彩年度工作总结</dc:title>
  <dc:creator>USER</dc:creator>
  <cp:lastModifiedBy>sindar</cp:lastModifiedBy>
  <cp:revision>458</cp:revision>
  <dcterms:created xsi:type="dcterms:W3CDTF">2014-11-09T01:07:00Z</dcterms:created>
  <dcterms:modified xsi:type="dcterms:W3CDTF">2021-12-01T00:52:04Z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1A2E5D73DE2840A7A4FB855CF5DC5BAE</vt:lpwstr>
  </property>
  <property fmtid="{D5CDD505-2E9C-101B-9397-08002B2CF9AE}" pid="3" name="KSOProductBuildVer">
    <vt:lpwstr>2052-11.1.0.11115</vt:lpwstr>
  </property>
</Properties>
</file>