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gif" ContentType="image/gif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5"/>
  </p:notesMasterIdLst>
  <p:handoutMasterIdLst>
    <p:handoutMasterId r:id="rId16"/>
  </p:handoutMasterIdLst>
  <p:sldIdLst>
    <p:sldId id="327" r:id="rId4"/>
    <p:sldId id="328" r:id="rId5"/>
    <p:sldId id="313" r:id="rId6"/>
    <p:sldId id="318" r:id="rId7"/>
    <p:sldId id="319" r:id="rId8"/>
    <p:sldId id="320" r:id="rId9"/>
    <p:sldId id="314" r:id="rId10"/>
    <p:sldId id="316" r:id="rId11"/>
    <p:sldId id="315" r:id="rId12"/>
    <p:sldId id="317" r:id="rId13"/>
    <p:sldId id="321" r:id="rId14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90000"/>
      </a:lnSpc>
      <a:spcBef>
        <a:spcPct val="5000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90000"/>
      </a:lnSpc>
      <a:spcBef>
        <a:spcPct val="5000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90000"/>
      </a:lnSpc>
      <a:spcBef>
        <a:spcPct val="5000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90000"/>
      </a:lnSpc>
      <a:spcBef>
        <a:spcPct val="5000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90000"/>
      </a:lnSpc>
      <a:spcBef>
        <a:spcPct val="5000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90000"/>
      </a:lnSpc>
      <a:spcBef>
        <a:spcPct val="5000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90000"/>
      </a:lnSpc>
      <a:spcBef>
        <a:spcPct val="5000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90000"/>
      </a:lnSpc>
      <a:spcBef>
        <a:spcPct val="5000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90000"/>
      </a:lnSpc>
      <a:spcBef>
        <a:spcPct val="5000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00000"/>
    <a:srgbClr val="663300"/>
    <a:srgbClr val="00FFCC"/>
    <a:srgbClr val="99CCFF"/>
    <a:srgbClr val="FF3300"/>
    <a:srgbClr val="FFFF00"/>
    <a:srgbClr val="00FF00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20"/>
    <p:restoredTop sz="94660"/>
  </p:normalViewPr>
  <p:slideViewPr>
    <p:cSldViewPr showGuides="1">
      <p:cViewPr>
        <p:scale>
          <a:sx n="66" d="100"/>
          <a:sy n="66" d="100"/>
        </p:scale>
        <p:origin x="-2934" y="-1026"/>
      </p:cViewPr>
      <p:guideLst>
        <p:guide orient="horz" pos="2160"/>
        <p:guide pos="290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73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lnSpc>
                <a:spcPct val="100000"/>
              </a:lnSpc>
              <a:spcBef>
                <a:spcPct val="0"/>
              </a:spcBef>
              <a:defRPr sz="1200" b="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lnSpc>
                <a:spcPct val="100000"/>
              </a:lnSpc>
              <a:spcBef>
                <a:spcPct val="0"/>
              </a:spcBef>
              <a:defRPr sz="1200" b="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73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lnSpc>
                <a:spcPct val="100000"/>
              </a:lnSpc>
              <a:spcBef>
                <a:spcPct val="0"/>
              </a:spcBef>
              <a:defRPr sz="1200" b="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73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lnSpc>
                <a:spcPct val="100000"/>
              </a:lnSpc>
              <a:spcBef>
                <a:spcPct val="0"/>
              </a:spcBef>
              <a:buNone/>
            </a:pPr>
            <a:fld id="{9A0DB2DC-4C9A-4742-B13C-FB6460FD3503}" type="slidenum">
              <a:rPr lang="en-US" altLang="zh-CN" sz="1200" b="0" dirty="0">
                <a:latin typeface="Times New Roman" panose="02020603050405020304" pitchFamily="18" charset="0"/>
              </a:rPr>
            </a:fld>
            <a:endParaRPr lang="en-US" altLang="zh-CN" sz="1200" b="0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52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lnSpc>
                <a:spcPct val="100000"/>
              </a:lnSpc>
              <a:spcBef>
                <a:spcPct val="0"/>
              </a:spcBef>
              <a:defRPr sz="1200" b="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lnSpc>
                <a:spcPct val="100000"/>
              </a:lnSpc>
              <a:spcBef>
                <a:spcPct val="0"/>
              </a:spcBef>
              <a:defRPr sz="1200" b="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6" name="Rectangle 4"/>
          <p:cNvSpPr>
            <a:spLocks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53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3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lnSpc>
                <a:spcPct val="100000"/>
              </a:lnSpc>
              <a:spcBef>
                <a:spcPct val="0"/>
              </a:spcBef>
              <a:defRPr sz="1200" b="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3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lnSpc>
                <a:spcPct val="100000"/>
              </a:lnSpc>
              <a:spcBef>
                <a:spcPct val="0"/>
              </a:spcBef>
              <a:buNone/>
            </a:pPr>
            <a:fld id="{9A0DB2DC-4C9A-4742-B13C-FB6460FD3503}" type="slidenum">
              <a:rPr lang="en-US" altLang="zh-CN" sz="1200" b="0" dirty="0">
                <a:latin typeface="Times New Roman" panose="02020603050405020304" pitchFamily="18" charset="0"/>
              </a:rPr>
            </a:fld>
            <a:endParaRPr lang="en-US" altLang="zh-CN" sz="1200" b="0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2"/>
          <p:cNvSpPr>
            <a:spLocks noChangeArrowheads="1"/>
          </p:cNvSpPr>
          <p:nvPr/>
        </p:nvSpPr>
        <p:spPr bwMode="auto">
          <a:xfrm>
            <a:off x="1258888" y="476250"/>
            <a:ext cx="70104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单击此处编辑母版标题样式</a:t>
            </a:r>
            <a:endParaRPr kumimoji="1" lang="zh-CN" altLang="en-US" sz="3600" b="1" i="0" u="none" strike="noStrike" kern="1200" cap="none" spc="0" normalizeH="0" baseline="0" noProof="0" dirty="0" smtClean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51" name="Picture 14" descr="lin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8400" y="1333500"/>
            <a:ext cx="6858000" cy="111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16"/>
          <p:cNvSpPr>
            <a:spLocks noChangeArrowheads="1"/>
          </p:cNvSpPr>
          <p:nvPr/>
        </p:nvSpPr>
        <p:spPr bwMode="auto">
          <a:xfrm>
            <a:off x="0" y="0"/>
            <a:ext cx="9144000" cy="338138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  <a:r>
              <a:rPr kumimoji="1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语言课程设计实训报告书写</a:t>
            </a:r>
            <a:endParaRPr kumimoji="1" lang="zh-CN" alt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7"/>
          <p:cNvSpPr>
            <a:spLocks noChangeArrowheads="1"/>
          </p:cNvSpPr>
          <p:nvPr/>
        </p:nvSpPr>
        <p:spPr bwMode="auto">
          <a:xfrm>
            <a:off x="0" y="6564313"/>
            <a:ext cx="9144000" cy="301625"/>
          </a:xfrm>
          <a:prstGeom prst="rect">
            <a:avLst/>
          </a:prstGeom>
          <a:solidFill>
            <a:srgbClr val="33CC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浙江师范大学计算机科学</a:t>
            </a:r>
            <a:endParaRPr kumimoji="1" lang="zh-CN" altLang="en-US" sz="2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4" name="Rectangle 18"/>
          <p:cNvSpPr/>
          <p:nvPr/>
        </p:nvSpPr>
        <p:spPr>
          <a:xfrm>
            <a:off x="685800" y="1447800"/>
            <a:ext cx="7772400" cy="4876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</a:pPr>
            <a:r>
              <a:rPr lang="zh-CN" altLang="en-US" sz="2800" b="0" dirty="0">
                <a:solidFill>
                  <a:schemeClr val="tx2"/>
                </a:solidFill>
                <a:latin typeface="Arial" panose="020B0604020202020204" pitchFamily="34" charset="0"/>
              </a:rPr>
              <a:t>单击此处编辑母版文本样式</a:t>
            </a:r>
            <a:endParaRPr lang="zh-CN" altLang="en-US" sz="2800" b="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lvl="1" algn="ctr" eaLnBrk="1" hangingPunct="1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zh-CN" altLang="en-US" b="0" dirty="0">
                <a:latin typeface="Arial" panose="020B0604020202020204" pitchFamily="34" charset="0"/>
              </a:rPr>
              <a:t>第二级</a:t>
            </a:r>
            <a:endParaRPr lang="zh-CN" altLang="en-US" b="0" dirty="0">
              <a:latin typeface="Arial" panose="020B0604020202020204" pitchFamily="34" charset="0"/>
            </a:endParaRPr>
          </a:p>
          <a:p>
            <a:pPr lvl="2" algn="ctr" eaLnBrk="1" hangingPunct="1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</a:pPr>
            <a:r>
              <a:rPr lang="zh-CN" altLang="en-US" sz="2000" b="0" dirty="0">
                <a:latin typeface="Arial" panose="020B0604020202020204" pitchFamily="34" charset="0"/>
              </a:rPr>
              <a:t>第三级</a:t>
            </a:r>
            <a:endParaRPr lang="zh-CN" altLang="en-US" sz="2000" b="0" dirty="0">
              <a:latin typeface="Arial" panose="020B0604020202020204" pitchFamily="34" charset="0"/>
            </a:endParaRPr>
          </a:p>
          <a:p>
            <a:pPr lvl="3" algn="ctr" eaLnBrk="1" hangingPunct="1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zh-CN" altLang="en-US" sz="1800" b="0" dirty="0">
                <a:latin typeface="Arial" panose="020B0604020202020204" pitchFamily="34" charset="0"/>
              </a:rPr>
              <a:t>第四级</a:t>
            </a:r>
            <a:endParaRPr lang="zh-CN" altLang="en-US" sz="1800" b="0" dirty="0">
              <a:latin typeface="Arial" panose="020B0604020202020204" pitchFamily="34" charset="0"/>
            </a:endParaRPr>
          </a:p>
          <a:p>
            <a:pPr lvl="4" algn="ctr" eaLnBrk="1" hangingPunct="1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</a:pPr>
            <a:r>
              <a:rPr lang="zh-CN" altLang="en-US" sz="1800" b="0" dirty="0">
                <a:latin typeface="Arial" panose="020B0604020202020204" pitchFamily="34" charset="0"/>
              </a:rPr>
              <a:t>第五级</a:t>
            </a:r>
            <a:endParaRPr lang="zh-CN" altLang="en-US" sz="1800" b="0" dirty="0">
              <a:latin typeface="Arial" panose="020B0604020202020204" pitchFamily="34" charset="0"/>
            </a:endParaRPr>
          </a:p>
        </p:txBody>
      </p:sp>
      <p:pic>
        <p:nvPicPr>
          <p:cNvPr id="2055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0188" y="404813"/>
            <a:ext cx="669925" cy="7477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38100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38100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1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381000"/>
            <a:ext cx="1943100" cy="59436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381000"/>
            <a:ext cx="5676900" cy="59436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2"/>
          <p:cNvSpPr>
            <a:spLocks noChangeArrowheads="1"/>
          </p:cNvSpPr>
          <p:nvPr/>
        </p:nvSpPr>
        <p:spPr bwMode="auto">
          <a:xfrm>
            <a:off x="1258888" y="476250"/>
            <a:ext cx="70104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单击此处编辑母版标题样式</a:t>
            </a:r>
            <a:endParaRPr kumimoji="1" lang="zh-CN" altLang="en-US" sz="3600" b="1" i="0" u="none" strike="noStrike" kern="1200" cap="none" spc="0" normalizeH="0" baseline="0" noProof="0" dirty="0" smtClean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51" name="Picture 14" descr="lin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8400" y="1333500"/>
            <a:ext cx="6858000" cy="111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16"/>
          <p:cNvSpPr>
            <a:spLocks noChangeArrowheads="1"/>
          </p:cNvSpPr>
          <p:nvPr/>
        </p:nvSpPr>
        <p:spPr bwMode="auto">
          <a:xfrm>
            <a:off x="0" y="0"/>
            <a:ext cx="9144000" cy="338138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  <a:r>
              <a:rPr kumimoji="1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语言课程设计实训报告书写</a:t>
            </a:r>
            <a:endParaRPr kumimoji="1" lang="zh-CN" alt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7"/>
          <p:cNvSpPr>
            <a:spLocks noChangeArrowheads="1"/>
          </p:cNvSpPr>
          <p:nvPr/>
        </p:nvSpPr>
        <p:spPr bwMode="auto">
          <a:xfrm>
            <a:off x="0" y="6564313"/>
            <a:ext cx="9144000" cy="301625"/>
          </a:xfrm>
          <a:prstGeom prst="rect">
            <a:avLst/>
          </a:prstGeom>
          <a:solidFill>
            <a:srgbClr val="33CC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浙江师范大学计算机科学</a:t>
            </a:r>
            <a:endParaRPr kumimoji="1" lang="zh-CN" altLang="en-US" sz="2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4" name="Rectangle 18"/>
          <p:cNvSpPr/>
          <p:nvPr/>
        </p:nvSpPr>
        <p:spPr>
          <a:xfrm>
            <a:off x="685800" y="1447800"/>
            <a:ext cx="7772400" cy="4876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</a:pPr>
            <a:r>
              <a:rPr lang="zh-CN" altLang="en-US" sz="2800" b="0" dirty="0">
                <a:solidFill>
                  <a:schemeClr val="tx2"/>
                </a:solidFill>
                <a:latin typeface="Arial" panose="020B0604020202020204" pitchFamily="34" charset="0"/>
              </a:rPr>
              <a:t>单击此处编辑母版文本样式</a:t>
            </a:r>
            <a:endParaRPr lang="zh-CN" altLang="en-US" sz="2800" b="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lvl="1" algn="ctr" eaLnBrk="1" hangingPunct="1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zh-CN" altLang="en-US" b="0" dirty="0">
                <a:latin typeface="Arial" panose="020B0604020202020204" pitchFamily="34" charset="0"/>
              </a:rPr>
              <a:t>第二级</a:t>
            </a:r>
            <a:endParaRPr lang="zh-CN" altLang="en-US" b="0" dirty="0">
              <a:latin typeface="Arial" panose="020B0604020202020204" pitchFamily="34" charset="0"/>
            </a:endParaRPr>
          </a:p>
          <a:p>
            <a:pPr lvl="2" algn="ctr" eaLnBrk="1" hangingPunct="1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</a:pPr>
            <a:r>
              <a:rPr lang="zh-CN" altLang="en-US" sz="2000" b="0" dirty="0">
                <a:latin typeface="Arial" panose="020B0604020202020204" pitchFamily="34" charset="0"/>
              </a:rPr>
              <a:t>第三级</a:t>
            </a:r>
            <a:endParaRPr lang="zh-CN" altLang="en-US" sz="2000" b="0" dirty="0">
              <a:latin typeface="Arial" panose="020B0604020202020204" pitchFamily="34" charset="0"/>
            </a:endParaRPr>
          </a:p>
          <a:p>
            <a:pPr lvl="3" algn="ctr" eaLnBrk="1" hangingPunct="1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zh-CN" altLang="en-US" sz="1800" b="0" dirty="0">
                <a:latin typeface="Arial" panose="020B0604020202020204" pitchFamily="34" charset="0"/>
              </a:rPr>
              <a:t>第四级</a:t>
            </a:r>
            <a:endParaRPr lang="zh-CN" altLang="en-US" sz="1800" b="0" dirty="0">
              <a:latin typeface="Arial" panose="020B0604020202020204" pitchFamily="34" charset="0"/>
            </a:endParaRPr>
          </a:p>
          <a:p>
            <a:pPr lvl="4" algn="ctr" eaLnBrk="1" hangingPunct="1">
              <a:lnSpc>
                <a:spcPct val="100000"/>
              </a:lnSpc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</a:pPr>
            <a:r>
              <a:rPr lang="zh-CN" altLang="en-US" sz="1800" b="0" dirty="0">
                <a:latin typeface="Arial" panose="020B0604020202020204" pitchFamily="34" charset="0"/>
              </a:rPr>
              <a:t>第五级</a:t>
            </a:r>
            <a:endParaRPr lang="zh-CN" altLang="en-US" sz="1800" b="0" dirty="0">
              <a:latin typeface="Arial" panose="020B0604020202020204" pitchFamily="34" charset="0"/>
            </a:endParaRPr>
          </a:p>
        </p:txBody>
      </p:sp>
      <p:pic>
        <p:nvPicPr>
          <p:cNvPr id="2055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0188" y="404813"/>
            <a:ext cx="669925" cy="7477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38100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38100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1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381000"/>
            <a:ext cx="1943100" cy="59436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381000"/>
            <a:ext cx="5676900" cy="59436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png"/><Relationship Id="rId12" Type="http://schemas.openxmlformats.org/officeDocument/2006/relationships/image" Target="../media/image1.GIF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4" Type="http://schemas.openxmlformats.org/officeDocument/2006/relationships/theme" Target="../theme/theme2.xml"/><Relationship Id="rId13" Type="http://schemas.openxmlformats.org/officeDocument/2006/relationships/image" Target="../media/image2.png"/><Relationship Id="rId12" Type="http://schemas.openxmlformats.org/officeDocument/2006/relationships/image" Target="../media/image1.GIF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9"/>
          <p:cNvSpPr>
            <a:spLocks noGrp="1"/>
          </p:cNvSpPr>
          <p:nvPr>
            <p:ph type="title"/>
          </p:nvPr>
        </p:nvSpPr>
        <p:spPr>
          <a:xfrm>
            <a:off x="1168400" y="381000"/>
            <a:ext cx="7061200" cy="762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0"/>
          <p:cNvSpPr>
            <a:spLocks noGrp="1"/>
          </p:cNvSpPr>
          <p:nvPr>
            <p:ph type="body" idx="1"/>
          </p:nvPr>
        </p:nvSpPr>
        <p:spPr>
          <a:xfrm>
            <a:off x="685800" y="1447800"/>
            <a:ext cx="7772400" cy="4876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1028" name="Picture 31" descr="line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168400" y="1333500"/>
            <a:ext cx="6858000" cy="111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9" name="Rectangle 34"/>
          <p:cNvSpPr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  <a:r>
              <a:rPr kumimoji="1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语言课程设计实训报告书写</a:t>
            </a:r>
            <a:endParaRPr kumimoji="1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35"/>
          <p:cNvSpPr>
            <a:spLocks noChangeArrowheads="1"/>
          </p:cNvSpPr>
          <p:nvPr/>
        </p:nvSpPr>
        <p:spPr bwMode="auto">
          <a:xfrm>
            <a:off x="0" y="6564313"/>
            <a:ext cx="9144000" cy="301625"/>
          </a:xfrm>
          <a:prstGeom prst="rect">
            <a:avLst/>
          </a:prstGeom>
          <a:solidFill>
            <a:srgbClr val="33CC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浙江师范大学计算机科学</a:t>
            </a:r>
            <a:endParaRPr kumimoji="1" lang="zh-CN" altLang="en-US" sz="2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31" name="Picture 7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58750" y="304800"/>
            <a:ext cx="668338" cy="747713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4000">
          <a:solidFill>
            <a:srgbClr val="FF3300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4000">
          <a:solidFill>
            <a:srgbClr val="FF3300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4000">
          <a:solidFill>
            <a:srgbClr val="FF3300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4000">
          <a:solidFill>
            <a:srgbClr val="FF3300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4000">
          <a:solidFill>
            <a:srgbClr val="FF3300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kumimoji="1" sz="4000">
          <a:solidFill>
            <a:srgbClr val="FF3300"/>
          </a:solidFill>
          <a:latin typeface="Arial" panose="020B0604020202020204" pitchFamily="34" charset="0"/>
          <a:ea typeface="黑体" panose="02010609060101010101" pitchFamily="49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kumimoji="1" sz="4000">
          <a:solidFill>
            <a:srgbClr val="FF3300"/>
          </a:solidFill>
          <a:latin typeface="Arial" panose="020B0604020202020204" pitchFamily="34" charset="0"/>
          <a:ea typeface="黑体" panose="02010609060101010101" pitchFamily="49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kumimoji="1" sz="4000">
          <a:solidFill>
            <a:srgbClr val="FF3300"/>
          </a:solidFill>
          <a:latin typeface="Arial" panose="020B0604020202020204" pitchFamily="34" charset="0"/>
          <a:ea typeface="黑体" panose="02010609060101010101" pitchFamily="49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kumimoji="1" sz="4000">
          <a:solidFill>
            <a:srgbClr val="FF3300"/>
          </a:solidFill>
          <a:latin typeface="Arial" panose="020B060402020202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Char char="–"/>
        <a:defRPr kumimoji="1"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Char char="–"/>
        <a:defRPr kumimoji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9"/>
          <p:cNvSpPr>
            <a:spLocks noGrp="1"/>
          </p:cNvSpPr>
          <p:nvPr>
            <p:ph type="title"/>
          </p:nvPr>
        </p:nvSpPr>
        <p:spPr>
          <a:xfrm>
            <a:off x="1168400" y="381000"/>
            <a:ext cx="7061200" cy="762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0"/>
          <p:cNvSpPr>
            <a:spLocks noGrp="1"/>
          </p:cNvSpPr>
          <p:nvPr>
            <p:ph type="body" idx="1"/>
          </p:nvPr>
        </p:nvSpPr>
        <p:spPr>
          <a:xfrm>
            <a:off x="685800" y="1447800"/>
            <a:ext cx="7772400" cy="4876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1028" name="Picture 31" descr="line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168400" y="1333500"/>
            <a:ext cx="6858000" cy="111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9" name="Rectangle 34"/>
          <p:cNvSpPr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  <a:r>
              <a:rPr kumimoji="1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语言课程设计实训报告书写</a:t>
            </a:r>
            <a:endParaRPr kumimoji="1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35"/>
          <p:cNvSpPr>
            <a:spLocks noChangeArrowheads="1"/>
          </p:cNvSpPr>
          <p:nvPr/>
        </p:nvSpPr>
        <p:spPr bwMode="auto">
          <a:xfrm>
            <a:off x="0" y="6564313"/>
            <a:ext cx="9144000" cy="301625"/>
          </a:xfrm>
          <a:prstGeom prst="rect">
            <a:avLst/>
          </a:prstGeom>
          <a:solidFill>
            <a:srgbClr val="33CC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浙江师范大学计算机科学</a:t>
            </a:r>
            <a:endParaRPr kumimoji="1" lang="zh-CN" altLang="en-US" sz="2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31" name="Picture 7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58750" y="304800"/>
            <a:ext cx="668338" cy="747713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4000">
          <a:solidFill>
            <a:srgbClr val="FF3300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4000">
          <a:solidFill>
            <a:srgbClr val="FF3300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4000">
          <a:solidFill>
            <a:srgbClr val="FF3300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4000">
          <a:solidFill>
            <a:srgbClr val="FF3300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4000">
          <a:solidFill>
            <a:srgbClr val="FF3300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kumimoji="1" sz="4000">
          <a:solidFill>
            <a:srgbClr val="FF3300"/>
          </a:solidFill>
          <a:latin typeface="Arial" panose="020B0604020202020204" pitchFamily="34" charset="0"/>
          <a:ea typeface="黑体" panose="02010609060101010101" pitchFamily="49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kumimoji="1" sz="4000">
          <a:solidFill>
            <a:srgbClr val="FF3300"/>
          </a:solidFill>
          <a:latin typeface="Arial" panose="020B0604020202020204" pitchFamily="34" charset="0"/>
          <a:ea typeface="黑体" panose="02010609060101010101" pitchFamily="49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kumimoji="1" sz="4000">
          <a:solidFill>
            <a:srgbClr val="FF3300"/>
          </a:solidFill>
          <a:latin typeface="Arial" panose="020B0604020202020204" pitchFamily="34" charset="0"/>
          <a:ea typeface="黑体" panose="02010609060101010101" pitchFamily="49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kumimoji="1" sz="4000">
          <a:solidFill>
            <a:srgbClr val="FF3300"/>
          </a:solidFill>
          <a:latin typeface="Arial" panose="020B060402020202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Char char="–"/>
        <a:defRPr kumimoji="1"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Char char="–"/>
        <a:defRPr kumimoji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4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3.wmf"/><Relationship Id="rId1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zh-CN" b="1" dirty="0"/>
              <a:t>项目任务书</a:t>
            </a:r>
            <a:r>
              <a:rPr lang="zh-CN" altLang="en-US" b="1" dirty="0"/>
              <a:t>：</a:t>
            </a:r>
            <a:r>
              <a:rPr lang="zh-CN" altLang="en-US" b="1" dirty="0"/>
              <a:t>要求</a:t>
            </a:r>
            <a:endParaRPr lang="zh-CN" altLang="en-US" b="1" dirty="0"/>
          </a:p>
        </p:txBody>
      </p:sp>
      <p:sp>
        <p:nvSpPr>
          <p:cNvPr id="3075" name="Rectangle 3"/>
          <p:cNvSpPr txBox="1"/>
          <p:nvPr/>
        </p:nvSpPr>
        <p:spPr>
          <a:xfrm>
            <a:off x="251460" y="1268730"/>
            <a:ext cx="8717915" cy="172212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kumimoji="1" sz="2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 kumimoji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lnSpc>
                <a:spcPct val="90000"/>
              </a:lnSpc>
              <a:buNone/>
            </a:pPr>
            <a:r>
              <a:rPr lang="zh-CN" altLang="zh-CN" b="1" dirty="0">
                <a:sym typeface="+mn-ea"/>
              </a:rPr>
              <a:t>用</a:t>
            </a:r>
            <a:r>
              <a:rPr lang="zh-CN" altLang="zh-CN" b="1" dirty="0">
                <a:solidFill>
                  <a:srgbClr val="FF0000"/>
                </a:solidFill>
                <a:sym typeface="+mn-ea"/>
              </a:rPr>
              <a:t>特殊键</a:t>
            </a:r>
            <a:r>
              <a:rPr lang="zh-CN" altLang="zh-CN" b="1" dirty="0">
                <a:sym typeface="+mn-ea"/>
              </a:rPr>
              <a:t>（→、←、↑、↓、</a:t>
            </a:r>
            <a:r>
              <a:rPr lang="en-US" altLang="zh-CN" b="1" dirty="0">
                <a:sym typeface="+mn-ea"/>
              </a:rPr>
              <a:t>Alt+x</a:t>
            </a:r>
            <a:r>
              <a:rPr lang="zh-CN" altLang="zh-CN" b="1" dirty="0">
                <a:sym typeface="+mn-ea"/>
              </a:rPr>
              <a:t>）、</a:t>
            </a:r>
            <a:r>
              <a:rPr lang="en-US" altLang="zh-CN" b="1" dirty="0">
                <a:sym typeface="+mn-ea"/>
              </a:rPr>
              <a:t>Enter</a:t>
            </a:r>
            <a:r>
              <a:rPr lang="zh-CN" altLang="zh-CN" b="1" dirty="0">
                <a:sym typeface="+mn-ea"/>
              </a:rPr>
              <a:t>、</a:t>
            </a:r>
            <a:r>
              <a:rPr lang="en-US" altLang="zh-CN" b="1" dirty="0">
                <a:sym typeface="+mn-ea"/>
              </a:rPr>
              <a:t>Esc</a:t>
            </a:r>
            <a:r>
              <a:rPr lang="zh-CN" altLang="zh-CN" b="1" dirty="0">
                <a:sym typeface="+mn-ea"/>
              </a:rPr>
              <a:t>来选择处理菜单。操作菜单时如是菜单项，且按</a:t>
            </a:r>
            <a:r>
              <a:rPr lang="en-US" altLang="zh-CN" b="1" dirty="0">
                <a:sym typeface="+mn-ea"/>
              </a:rPr>
              <a:t>Enter</a:t>
            </a:r>
            <a:r>
              <a:rPr lang="zh-CN" altLang="zh-CN" b="1" dirty="0">
                <a:sym typeface="+mn-ea"/>
              </a:rPr>
              <a:t>按钮，则调用菜单项对应的功能（实现时可采用示意性处理方式）。</a:t>
            </a:r>
            <a:endParaRPr lang="en-US" altLang="zh-CN" b="1" dirty="0"/>
          </a:p>
          <a:p>
            <a:pPr marL="0" lvl="0" indent="0">
              <a:lnSpc>
                <a:spcPct val="90000"/>
              </a:lnSpc>
              <a:buNone/>
            </a:pPr>
            <a:endParaRPr lang="en-US" altLang="zh-CN" b="1" dirty="0"/>
          </a:p>
          <a:p>
            <a:pPr marL="0" lvl="0" indent="0">
              <a:lnSpc>
                <a:spcPct val="90000"/>
              </a:lnSpc>
              <a:buNone/>
            </a:pPr>
            <a:endParaRPr lang="zh-CN" altLang="en-US" b="1" dirty="0"/>
          </a:p>
        </p:txBody>
      </p:sp>
      <p:graphicFrame>
        <p:nvGraphicFramePr>
          <p:cNvPr id="2" name="对象 1"/>
          <p:cNvGraphicFramePr/>
          <p:nvPr/>
        </p:nvGraphicFramePr>
        <p:xfrm>
          <a:off x="179705" y="2966720"/>
          <a:ext cx="4069715" cy="3550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1" imgW="6924675" imgH="4381500" progId="Paint.Picture">
                  <p:embed/>
                </p:oleObj>
              </mc:Choice>
              <mc:Fallback>
                <p:oleObj name="" r:id="rId1" imgW="6924675" imgH="4381500" progId="Paint.Picture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9705" y="2966720"/>
                        <a:ext cx="4069715" cy="35509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/>
          <p:nvPr/>
        </p:nvGraphicFramePr>
        <p:xfrm>
          <a:off x="4283710" y="2966720"/>
          <a:ext cx="4712970" cy="351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3" imgW="6905625" imgH="4362450" progId="Paint.Picture">
                  <p:embed/>
                </p:oleObj>
              </mc:Choice>
              <mc:Fallback>
                <p:oleObj name="" r:id="rId3" imgW="6905625" imgH="4362450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83710" y="2966720"/>
                        <a:ext cx="4712970" cy="3517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标注 5"/>
          <p:cNvSpPr/>
          <p:nvPr/>
        </p:nvSpPr>
        <p:spPr>
          <a:xfrm>
            <a:off x="1360170" y="4498975"/>
            <a:ext cx="2500630" cy="534034"/>
          </a:xfrm>
          <a:prstGeom prst="wedgeRectCallout">
            <a:avLst>
              <a:gd name="adj1" fmla="val -61239"/>
              <a:gd name="adj2" fmla="val 132159"/>
            </a:avLst>
          </a:prstGeom>
          <a:solidFill>
            <a:schemeClr val="accent4">
              <a:lumMod val="10000"/>
              <a:lumOff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3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TurboC</a:t>
            </a:r>
            <a:r>
              <a:rPr kumimoji="1" lang="zh-CN" altLang="en-US" sz="3200" b="1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菜单</a:t>
            </a:r>
            <a:endParaRPr kumimoji="1" lang="zh-CN" altLang="en-US" sz="3200" b="1" i="0" u="none" strike="noStrike" cap="none" normalizeH="0" baseline="0" smtClean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矩形标注 6"/>
          <p:cNvSpPr/>
          <p:nvPr/>
        </p:nvSpPr>
        <p:spPr>
          <a:xfrm>
            <a:off x="5148580" y="4509135"/>
            <a:ext cx="2500630" cy="534034"/>
          </a:xfrm>
          <a:prstGeom prst="wedgeRectCallout">
            <a:avLst>
              <a:gd name="adj1" fmla="val -61239"/>
              <a:gd name="adj2" fmla="val 132159"/>
            </a:avLst>
          </a:prstGeom>
          <a:solidFill>
            <a:schemeClr val="accent4">
              <a:lumMod val="10000"/>
              <a:lumOff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3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CFree</a:t>
            </a:r>
            <a:r>
              <a:rPr kumimoji="1" lang="zh-CN" altLang="en-US" sz="3200" b="1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菜单</a:t>
            </a:r>
            <a:endParaRPr kumimoji="1" lang="zh-CN" altLang="en-US" sz="3200" b="1" i="0" u="none" strike="noStrike" cap="none" normalizeH="0" baseline="0" smtClean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6" grpId="0" bldLvl="0" animBg="1"/>
      <p:bldP spid="7" grpId="1" animBg="1"/>
      <p:bldP spid="6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zh-CN" b="1" dirty="0"/>
              <a:t>项目</a:t>
            </a:r>
            <a:r>
              <a:rPr lang="zh-CN" altLang="zh-CN" b="1" dirty="0">
                <a:sym typeface="+mn-ea"/>
              </a:rPr>
              <a:t>要求</a:t>
            </a:r>
            <a:r>
              <a:rPr lang="zh-CN" altLang="en-US" b="1" dirty="0"/>
              <a:t>：</a:t>
            </a:r>
            <a:endParaRPr lang="zh-CN" altLang="en-US" b="1" dirty="0"/>
          </a:p>
        </p:txBody>
      </p:sp>
      <p:sp>
        <p:nvSpPr>
          <p:cNvPr id="3075" name="Rectangle 3"/>
          <p:cNvSpPr txBox="1"/>
          <p:nvPr/>
        </p:nvSpPr>
        <p:spPr>
          <a:xfrm>
            <a:off x="251460" y="1268730"/>
            <a:ext cx="8717915" cy="4469765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kumimoji="1" sz="2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 kumimoji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lnSpc>
                <a:spcPct val="90000"/>
              </a:lnSpc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1.</a:t>
            </a:r>
            <a:r>
              <a:rPr lang="zh-CN" altLang="en-US" b="1" dirty="0"/>
              <a:t>项目程序</a:t>
            </a:r>
            <a:r>
              <a:rPr lang="zh-CN" altLang="en-US" b="1" dirty="0">
                <a:solidFill>
                  <a:srgbClr val="FF0000"/>
                </a:solidFill>
              </a:rPr>
              <a:t>相对通用：</a:t>
            </a:r>
            <a:r>
              <a:rPr lang="zh-CN" altLang="en-US" b="1" dirty="0">
                <a:solidFill>
                  <a:schemeClr val="tx1"/>
                </a:solidFill>
              </a:rPr>
              <a:t>当</a:t>
            </a:r>
            <a:r>
              <a:rPr lang="zh-CN" altLang="en-US" b="1" dirty="0"/>
              <a:t>菜单数据变更，不用修改程序仍能</a:t>
            </a:r>
            <a:r>
              <a:rPr lang="zh-CN" altLang="en-US" b="1" dirty="0"/>
              <a:t>进行菜单处理；</a:t>
            </a:r>
            <a:endParaRPr lang="zh-CN" altLang="en-US" b="1" dirty="0"/>
          </a:p>
          <a:p>
            <a:pPr marL="0" lvl="0" indent="0">
              <a:lnSpc>
                <a:spcPct val="90000"/>
              </a:lnSpc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2.</a:t>
            </a:r>
            <a:r>
              <a:rPr lang="zh-CN" altLang="en-US" b="1" dirty="0"/>
              <a:t>采用自顶向下逐步求精的模块化程序设计思想指导开发；</a:t>
            </a:r>
            <a:endParaRPr lang="zh-CN" altLang="en-US" b="1" dirty="0"/>
          </a:p>
          <a:p>
            <a:pPr marL="0" lvl="0" indent="0">
              <a:lnSpc>
                <a:spcPct val="90000"/>
              </a:lnSpc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3</a:t>
            </a:r>
            <a:r>
              <a:rPr lang="en-US" altLang="zh-CN" b="1" dirty="0"/>
              <a:t>.</a:t>
            </a:r>
            <a:r>
              <a:rPr lang="zh-CN" altLang="en-US" b="1" dirty="0"/>
              <a:t>每位同学单独完成；</a:t>
            </a:r>
            <a:endParaRPr lang="zh-CN" altLang="en-US" b="1" dirty="0"/>
          </a:p>
          <a:p>
            <a:pPr marL="0" lvl="0" indent="0">
              <a:lnSpc>
                <a:spcPct val="90000"/>
              </a:lnSpc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en-US" altLang="zh-CN" b="1" dirty="0"/>
              <a:t>.</a:t>
            </a:r>
            <a:r>
              <a:rPr lang="zh-CN" altLang="en-US" b="1" dirty="0"/>
              <a:t>程序算法有错，用调试工具查错；</a:t>
            </a:r>
            <a:endParaRPr lang="zh-CN" altLang="en-US" b="1" dirty="0"/>
          </a:p>
          <a:p>
            <a:pPr marL="0" lvl="0" indent="0">
              <a:lnSpc>
                <a:spcPct val="90000"/>
              </a:lnSpc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5</a:t>
            </a:r>
            <a:r>
              <a:rPr lang="en-US" altLang="zh-CN" b="1" dirty="0"/>
              <a:t>.</a:t>
            </a:r>
            <a:r>
              <a:rPr lang="zh-CN" altLang="en-US" b="1" dirty="0"/>
              <a:t>按时完成规定任务；</a:t>
            </a:r>
            <a:endParaRPr lang="zh-CN" altLang="en-US" b="1" dirty="0"/>
          </a:p>
          <a:p>
            <a:pPr marL="0" lvl="0" indent="0">
              <a:lnSpc>
                <a:spcPct val="90000"/>
              </a:lnSpc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6</a:t>
            </a:r>
            <a:r>
              <a:rPr lang="en-US" altLang="zh-CN" b="1" dirty="0"/>
              <a:t>.</a:t>
            </a:r>
            <a:r>
              <a:rPr lang="zh-CN" altLang="en-US" b="1" dirty="0"/>
              <a:t>实训报告按实训任务要求撰写，不能按实训指导书的分实验方式撰写。</a:t>
            </a:r>
            <a:endParaRPr lang="en-US" altLang="zh-CN" b="1" dirty="0"/>
          </a:p>
          <a:p>
            <a:pPr marL="0" lvl="0" indent="0">
              <a:lnSpc>
                <a:spcPct val="90000"/>
              </a:lnSpc>
              <a:buNone/>
            </a:pPr>
            <a:endParaRPr lang="en-US" altLang="zh-CN" b="1" dirty="0"/>
          </a:p>
          <a:p>
            <a:pPr marL="0" lvl="0" indent="0">
              <a:lnSpc>
                <a:spcPct val="90000"/>
              </a:lnSpc>
              <a:buNone/>
            </a:pP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zh-CN" altLang="en-US" dirty="0"/>
              <a:t>实验目的：</a:t>
            </a:r>
            <a:r>
              <a:rPr lang="zh-CN" altLang="en-US" dirty="0">
                <a:solidFill>
                  <a:schemeClr val="tx1"/>
                </a:solidFill>
              </a:rPr>
              <a:t>注意</a:t>
            </a:r>
            <a:r>
              <a:rPr lang="en-US" altLang="zh-CN" dirty="0">
                <a:solidFill>
                  <a:schemeClr val="tx1"/>
                </a:solidFill>
              </a:rPr>
              <a:t>123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099" name="内容占位符 2"/>
          <p:cNvSpPr>
            <a:spLocks noGrp="1"/>
          </p:cNvSpPr>
          <p:nvPr>
            <p:ph idx="1"/>
          </p:nvPr>
        </p:nvSpPr>
        <p:spPr>
          <a:xfrm>
            <a:off x="0" y="1447800"/>
            <a:ext cx="8964613" cy="4876800"/>
          </a:xfrm>
          <a:ln/>
        </p:spPr>
        <p:txBody>
          <a:bodyPr vert="horz" wrap="square" lIns="91440" tIns="45720" rIns="91440" bIns="45720" anchor="t" anchorCtr="0"/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zh-CN" altLang="zh-CN" dirty="0">
                <a:solidFill>
                  <a:srgbClr val="FF0000"/>
                </a:solidFill>
              </a:rPr>
              <a:t>能够针对项目进行问题分析与建模，以及数据结构的选择与构建；</a:t>
            </a:r>
            <a:endParaRPr lang="zh-CN" altLang="zh-CN" dirty="0">
              <a:solidFill>
                <a:srgbClr val="FF0000"/>
              </a:solidFill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zh-CN" altLang="zh-CN" dirty="0">
                <a:solidFill>
                  <a:srgbClr val="FF0000"/>
                </a:solidFill>
              </a:rPr>
              <a:t>能够获取项目实验数据，进行算法设计、分析、优化与验证；</a:t>
            </a:r>
            <a:endParaRPr lang="zh-CN" altLang="zh-CN" dirty="0">
              <a:solidFill>
                <a:srgbClr val="FF0000"/>
              </a:solidFill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zh-CN" altLang="zh-CN" dirty="0">
                <a:solidFill>
                  <a:srgbClr val="FF0000"/>
                </a:solidFill>
              </a:rPr>
              <a:t>能够通过自顶向下、逐步求精的模块化程序设计来实现系统；</a:t>
            </a:r>
            <a:endParaRPr lang="zh-CN" altLang="zh-CN" dirty="0">
              <a:solidFill>
                <a:srgbClr val="FF0000"/>
              </a:solidFill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zh-CN" altLang="zh-CN" dirty="0"/>
              <a:t>能恰当地选择与使用软件及相关开发工具，完成复杂软件工程问题的模拟与仿真，通过项目实训完成代码的设计、实现、调试、测试和演示。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>
              <a:buNone/>
            </a:pPr>
            <a:r>
              <a:rPr lang="zh-CN" altLang="en-US" dirty="0"/>
              <a:t>实训报告撰写要点</a:t>
            </a:r>
            <a:endParaRPr lang="zh-CN" altLang="zh-CN" dirty="0"/>
          </a:p>
        </p:txBody>
      </p:sp>
      <p:sp>
        <p:nvSpPr>
          <p:cNvPr id="5123" name="Rectangle 5"/>
          <p:cNvSpPr/>
          <p:nvPr/>
        </p:nvSpPr>
        <p:spPr>
          <a:xfrm>
            <a:off x="107950" y="2443163"/>
            <a:ext cx="1727200" cy="9144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08000"/>
            </a:solidFill>
            <a:prstDash val="solid"/>
            <a:miter/>
            <a:headEnd type="none" w="med" len="med"/>
            <a:tailEnd type="none" w="med" len="med"/>
          </a:ln>
          <a:effectLst>
            <a:prstShdw prst="shdw12" dir="16200000">
              <a:schemeClr val="bg2">
                <a:alpha val="50000"/>
              </a:schemeClr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kumimoji="1" sz="2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 kumimoji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从问题出发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auto">
          <a:xfrm>
            <a:off x="1835150" y="2443163"/>
            <a:ext cx="2449513" cy="914400"/>
          </a:xfrm>
          <a:prstGeom prst="rightArrow">
            <a:avLst>
              <a:gd name="adj1" fmla="val 50000"/>
              <a:gd name="adj2" fmla="val 137500"/>
            </a:avLst>
          </a:prstGeom>
          <a:solidFill>
            <a:schemeClr val="accent2">
              <a:lumMod val="20000"/>
              <a:lumOff val="80000"/>
            </a:schemeClr>
          </a:solidFill>
          <a:ln w="12700" algn="ctr">
            <a:solidFill>
              <a:srgbClr val="008000"/>
            </a:solidFill>
            <a:miter lim="800000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wrap="none" anchor="ctr"/>
          <a:lstStyle>
            <a:lvl1pPr eaLnBrk="0" hangingPunct="0">
              <a:defRPr sz="8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8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8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8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8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自上而下路线</a:t>
            </a:r>
            <a:endParaRPr kumimoji="1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5" name="左大括号 1"/>
          <p:cNvSpPr/>
          <p:nvPr/>
        </p:nvSpPr>
        <p:spPr>
          <a:xfrm>
            <a:off x="4284663" y="1362075"/>
            <a:ext cx="314325" cy="3046413"/>
          </a:xfrm>
          <a:prstGeom prst="leftBrace">
            <a:avLst>
              <a:gd name="adj1" fmla="val 10499"/>
              <a:gd name="adj2" fmla="val 50000"/>
            </a:avLst>
          </a:prstGeom>
          <a:gradFill rotWithShape="1">
            <a:gsLst>
              <a:gs pos="0">
                <a:schemeClr val="hlink"/>
              </a:gs>
              <a:gs pos="100000">
                <a:schemeClr val="bg1"/>
              </a:gs>
            </a:gsLst>
            <a:lin ang="5400000" scaled="1"/>
            <a:tileRect/>
          </a:gradFill>
          <a:ln w="12700" cap="flat" cmpd="sng">
            <a:solidFill>
              <a:srgbClr val="008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kumimoji="1" sz="2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 kumimoji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" name="TextBox 43"/>
          <p:cNvSpPr txBox="1">
            <a:spLocks noChangeArrowheads="1"/>
          </p:cNvSpPr>
          <p:nvPr/>
        </p:nvSpPr>
        <p:spPr bwMode="auto">
          <a:xfrm>
            <a:off x="4716463" y="1374775"/>
            <a:ext cx="4176713" cy="301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8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8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8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8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8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1.</a:t>
            </a:r>
            <a:r>
              <a:rPr kumimoji="1" lang="zh-CN" altLang="en-US" sz="2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分析问题：从实验样例等出发，陈述项目开发基础</a:t>
            </a:r>
            <a:endParaRPr kumimoji="1" lang="en-US" altLang="zh-CN" sz="2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2.</a:t>
            </a:r>
            <a:r>
              <a:rPr kumimoji="1" lang="zh-CN" altLang="en-US" sz="2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从实验样例（</a:t>
            </a:r>
            <a:r>
              <a:rPr kumimoji="1" lang="zh-CN" altLang="en-US" sz="2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界面设计</a:t>
            </a:r>
            <a:r>
              <a:rPr kumimoji="1" lang="zh-CN" altLang="en-US" sz="2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）给出设计思路（方案）</a:t>
            </a:r>
            <a:endParaRPr kumimoji="1" lang="en-US" altLang="zh-CN" sz="2200" b="1" i="0" u="none" strike="noStrike" kern="1200" cap="none" spc="0" normalizeH="0" baseline="0" noProof="0" dirty="0" smtClean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3.</a:t>
            </a:r>
            <a:r>
              <a:rPr kumimoji="1" lang="zh-CN" altLang="en-US" sz="2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系统的模块划分</a:t>
            </a:r>
            <a:endParaRPr kumimoji="1" lang="en-US" altLang="zh-CN" sz="2200" b="1" i="0" u="none" strike="noStrike" kern="1200" cap="none" spc="0" normalizeH="0" baseline="0" noProof="0" dirty="0" smtClean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4.</a:t>
            </a:r>
            <a:r>
              <a:rPr kumimoji="1" lang="zh-CN" altLang="en-US" sz="2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数据模型与算法关系</a:t>
            </a:r>
            <a:endParaRPr kumimoji="1" lang="zh-CN" altLang="en-US" sz="22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>
              <a:buNone/>
            </a:pPr>
            <a:r>
              <a:rPr lang="zh-CN" altLang="en-US" dirty="0"/>
              <a:t>实训开发基础</a:t>
            </a:r>
            <a:endParaRPr lang="zh-CN" altLang="en-US" dirty="0"/>
          </a:p>
        </p:txBody>
      </p:sp>
      <p:sp>
        <p:nvSpPr>
          <p:cNvPr id="6147" name="内容占位符 2"/>
          <p:cNvSpPr>
            <a:spLocks noGrp="1"/>
          </p:cNvSpPr>
          <p:nvPr>
            <p:ph idx="1"/>
          </p:nvPr>
        </p:nvSpPr>
        <p:spPr>
          <a:xfrm>
            <a:off x="755650" y="1447800"/>
            <a:ext cx="7702550" cy="4876800"/>
          </a:xfrm>
          <a:ln/>
        </p:spPr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1.</a:t>
            </a:r>
            <a:r>
              <a:rPr lang="zh-CN" altLang="en-US" dirty="0"/>
              <a:t>屏幕坐标系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2.</a:t>
            </a:r>
            <a:r>
              <a:rPr lang="zh-CN" altLang="en-US" dirty="0"/>
              <a:t>第三库：</a:t>
            </a:r>
            <a:r>
              <a:rPr lang="en-US" altLang="zh-CN" dirty="0"/>
              <a:t>conio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zh-CN" altLang="en-US" dirty="0"/>
              <a:t>介绍实训中用到函数及要点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标题 1"/>
          <p:cNvSpPr>
            <a:spLocks noGrp="1"/>
          </p:cNvSpPr>
          <p:nvPr>
            <p:ph type="title"/>
          </p:nvPr>
        </p:nvSpPr>
        <p:spPr>
          <a:xfrm>
            <a:off x="1112838" y="434975"/>
            <a:ext cx="7061200" cy="762000"/>
          </a:xfrm>
          <a:ln/>
        </p:spPr>
        <p:txBody>
          <a:bodyPr vert="horz" wrap="square" lIns="91440" tIns="45720" rIns="91440" bIns="45720" anchor="ctr" anchorCtr="0"/>
          <a:p>
            <a:pPr>
              <a:buNone/>
            </a:pPr>
            <a:r>
              <a:rPr lang="zh-CN" altLang="zh-CN" b="1" dirty="0">
                <a:solidFill>
                  <a:schemeClr val="tx1"/>
                </a:solidFill>
              </a:rPr>
              <a:t>分析与模型</a:t>
            </a:r>
            <a:r>
              <a:rPr lang="zh-CN" altLang="en-US" b="1" dirty="0">
                <a:solidFill>
                  <a:schemeClr val="tx1"/>
                </a:solidFill>
              </a:rPr>
              <a:t>之</a:t>
            </a:r>
            <a:r>
              <a:rPr lang="zh-CN" altLang="en-US" dirty="0"/>
              <a:t>界面设计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 bwMode="auto">
          <a:xfrm>
            <a:off x="395288" y="1436688"/>
            <a:ext cx="8497888" cy="3698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395288" y="1844675"/>
            <a:ext cx="8497888" cy="3698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File    Edit     Run   Compile   Project   Options   Debug    Break/Watch</a:t>
            </a:r>
            <a:endParaRPr kumimoji="1" lang="zh-CN" altLang="en-US" sz="20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圆角矩形标注 6"/>
          <p:cNvSpPr/>
          <p:nvPr/>
        </p:nvSpPr>
        <p:spPr bwMode="auto">
          <a:xfrm>
            <a:off x="3779838" y="620713"/>
            <a:ext cx="1368425" cy="504825"/>
          </a:xfrm>
          <a:prstGeom prst="wedgeRoundRectCallout">
            <a:avLst>
              <a:gd name="adj1" fmla="val -124657"/>
              <a:gd name="adj2" fmla="val 128835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标题</a:t>
            </a:r>
            <a:endParaRPr kumimoji="1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圆角矩形标注 7"/>
          <p:cNvSpPr/>
          <p:nvPr/>
        </p:nvSpPr>
        <p:spPr bwMode="auto">
          <a:xfrm>
            <a:off x="6588125" y="1025525"/>
            <a:ext cx="1512888" cy="503238"/>
          </a:xfrm>
          <a:prstGeom prst="wedgeRoundRectCallout">
            <a:avLst>
              <a:gd name="adj1" fmla="val -129961"/>
              <a:gd name="adj2" fmla="val 125955"/>
              <a:gd name="adj3" fmla="val 16667"/>
            </a:avLst>
          </a:prstGeom>
          <a:solidFill>
            <a:schemeClr val="accent5">
              <a:lumMod val="90000"/>
            </a:schemeClr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主菜单</a:t>
            </a:r>
            <a:endParaRPr kumimoji="1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5" name="矩形 8"/>
          <p:cNvSpPr/>
          <p:nvPr/>
        </p:nvSpPr>
        <p:spPr>
          <a:xfrm>
            <a:off x="395288" y="2276475"/>
            <a:ext cx="8497887" cy="40322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" name="圆角矩形标注 9"/>
          <p:cNvSpPr/>
          <p:nvPr/>
        </p:nvSpPr>
        <p:spPr bwMode="auto">
          <a:xfrm>
            <a:off x="539750" y="3003550"/>
            <a:ext cx="1944688" cy="504825"/>
          </a:xfrm>
          <a:prstGeom prst="wedgeRoundRectCallout">
            <a:avLst>
              <a:gd name="adj1" fmla="val 47715"/>
              <a:gd name="adj2" fmla="val 232496"/>
              <a:gd name="adj3" fmla="val 16667"/>
            </a:avLst>
          </a:prstGeom>
          <a:solidFill>
            <a:schemeClr val="accent5">
              <a:lumMod val="90000"/>
            </a:schemeClr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软件工作区</a:t>
            </a:r>
            <a:endParaRPr kumimoji="1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圆角矩形标注 10"/>
          <p:cNvSpPr/>
          <p:nvPr/>
        </p:nvSpPr>
        <p:spPr bwMode="auto">
          <a:xfrm>
            <a:off x="827088" y="6353175"/>
            <a:ext cx="1368425" cy="504825"/>
          </a:xfrm>
          <a:prstGeom prst="wedgeRoundRectCallout">
            <a:avLst>
              <a:gd name="adj1" fmla="val -79040"/>
              <a:gd name="adj2" fmla="val -58332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外框</a:t>
            </a:r>
            <a:endParaRPr kumimoji="1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8" name="TextBox 11"/>
          <p:cNvSpPr txBox="1"/>
          <p:nvPr/>
        </p:nvSpPr>
        <p:spPr>
          <a:xfrm>
            <a:off x="5076825" y="2355850"/>
            <a:ext cx="1727200" cy="19367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r>
              <a:rPr lang="en-US" altLang="zh-CN" sz="1800" dirty="0">
                <a:latin typeface="Arial" panose="020B0604020202020204" pitchFamily="34" charset="0"/>
              </a:rPr>
              <a:t>Compiler</a:t>
            </a:r>
            <a:endParaRPr lang="en-US" altLang="zh-CN" sz="1800" dirty="0">
              <a:latin typeface="Arial" panose="020B0604020202020204" pitchFamily="34" charset="0"/>
            </a:endParaRPr>
          </a:p>
          <a:p>
            <a:r>
              <a:rPr lang="en-US" altLang="zh-CN" sz="1800" dirty="0">
                <a:latin typeface="Arial" panose="020B0604020202020204" pitchFamily="34" charset="0"/>
              </a:rPr>
              <a:t>Linker</a:t>
            </a:r>
            <a:endParaRPr lang="en-US" altLang="zh-CN" sz="1800" dirty="0">
              <a:latin typeface="Arial" panose="020B0604020202020204" pitchFamily="34" charset="0"/>
            </a:endParaRPr>
          </a:p>
          <a:p>
            <a:r>
              <a:rPr lang="en-US" altLang="zh-CN" sz="1800" dirty="0">
                <a:latin typeface="Arial" panose="020B0604020202020204" pitchFamily="34" charset="0"/>
              </a:rPr>
              <a:t>Environment</a:t>
            </a:r>
            <a:endParaRPr lang="en-US" altLang="zh-CN" sz="1800" dirty="0">
              <a:latin typeface="Arial" panose="020B0604020202020204" pitchFamily="34" charset="0"/>
            </a:endParaRPr>
          </a:p>
          <a:p>
            <a:r>
              <a:rPr lang="en-US" altLang="zh-CN" sz="1800" dirty="0">
                <a:latin typeface="Arial" panose="020B0604020202020204" pitchFamily="34" charset="0"/>
              </a:rPr>
              <a:t>Directories</a:t>
            </a:r>
            <a:endParaRPr lang="en-US" altLang="zh-CN" sz="1800" dirty="0">
              <a:latin typeface="Arial" panose="020B0604020202020204" pitchFamily="34" charset="0"/>
            </a:endParaRPr>
          </a:p>
          <a:p>
            <a:r>
              <a:rPr lang="en-US" altLang="zh-CN" sz="1800" dirty="0">
                <a:latin typeface="Arial" panose="020B0604020202020204" pitchFamily="34" charset="0"/>
              </a:rPr>
              <a:t>Arguments</a:t>
            </a:r>
            <a:endParaRPr lang="zh-CN" altLang="en-US" sz="1800" dirty="0">
              <a:latin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76825" y="4373563"/>
            <a:ext cx="2159000" cy="784225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1800" kern="1200" cap="none" spc="0" normalizeH="0" baseline="0" noProof="0" dirty="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Save  options</a:t>
            </a:r>
            <a:endParaRPr kumimoji="1" lang="en-US" altLang="zh-CN" sz="1800" kern="1200" cap="none" spc="0" normalizeH="0" baseline="0" noProof="0" dirty="0" smtClean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1800" kern="1200" cap="none" spc="0" normalizeH="0" baseline="0" noProof="0" dirty="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Retrieve Options</a:t>
            </a:r>
            <a:endParaRPr kumimoji="1" lang="zh-CN" altLang="en-US" sz="1800" kern="1200" cap="none" spc="0" normalizeH="0" baseline="0" noProof="0" dirty="0" smtClean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80" name="TextBox 13"/>
          <p:cNvSpPr txBox="1"/>
          <p:nvPr/>
        </p:nvSpPr>
        <p:spPr>
          <a:xfrm>
            <a:off x="2914650" y="3978275"/>
            <a:ext cx="2160588" cy="784225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dash"/>
            <a:miter/>
            <a:headEnd type="none" w="med" len="med"/>
            <a:tailEnd type="none" w="med" len="med"/>
          </a:ln>
        </p:spPr>
        <p:txBody>
          <a:bodyPr/>
          <a:p>
            <a:r>
              <a:rPr lang="en-US" altLang="zh-CN" sz="1800" dirty="0">
                <a:latin typeface="Arial" panose="020B0604020202020204" pitchFamily="34" charset="0"/>
              </a:rPr>
              <a:t>Save  options</a:t>
            </a:r>
            <a:endParaRPr lang="en-US" altLang="zh-CN" sz="1800" dirty="0">
              <a:latin typeface="Arial" panose="020B0604020202020204" pitchFamily="34" charset="0"/>
            </a:endParaRPr>
          </a:p>
          <a:p>
            <a:r>
              <a:rPr lang="en-US" altLang="zh-CN" sz="1800" dirty="0">
                <a:latin typeface="Arial" panose="020B0604020202020204" pitchFamily="34" charset="0"/>
              </a:rPr>
              <a:t>Retrieve Options</a:t>
            </a:r>
            <a:endParaRPr lang="zh-CN" altLang="en-US" sz="1800" dirty="0">
              <a:latin typeface="Arial" panose="020B0604020202020204" pitchFamily="34" charset="0"/>
            </a:endParaRPr>
          </a:p>
        </p:txBody>
      </p:sp>
      <p:sp>
        <p:nvSpPr>
          <p:cNvPr id="15" name="圆角矩形标注 14"/>
          <p:cNvSpPr/>
          <p:nvPr/>
        </p:nvSpPr>
        <p:spPr bwMode="auto">
          <a:xfrm>
            <a:off x="6588125" y="2276475"/>
            <a:ext cx="2447925" cy="504825"/>
          </a:xfrm>
          <a:prstGeom prst="wedgeRoundRectCallout">
            <a:avLst>
              <a:gd name="adj1" fmla="val -60038"/>
              <a:gd name="adj2" fmla="val 212341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</a:t>
            </a:r>
            <a:r>
              <a:rPr kumimoji="1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级子菜单布局</a:t>
            </a:r>
            <a:endParaRPr kumimoji="1" lang="zh-CN" altLang="en-US" sz="2000" b="1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圆角矩形标注 15"/>
          <p:cNvSpPr/>
          <p:nvPr/>
        </p:nvSpPr>
        <p:spPr bwMode="auto">
          <a:xfrm>
            <a:off x="2195513" y="5203825"/>
            <a:ext cx="2447925" cy="504825"/>
          </a:xfrm>
          <a:prstGeom prst="wedgeRoundRectCallout">
            <a:avLst>
              <a:gd name="adj1" fmla="val 69794"/>
              <a:gd name="adj2" fmla="val -118801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</a:t>
            </a:r>
            <a:r>
              <a:rPr kumimoji="1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级后子菜单布局</a:t>
            </a:r>
            <a:endParaRPr kumimoji="1" lang="zh-CN" altLang="en-US" sz="2000" b="1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7183" name="直接箭头连接符 17"/>
          <p:cNvCxnSpPr>
            <a:stCxn id="7180" idx="2"/>
            <a:endCxn id="16" idx="0"/>
          </p:cNvCxnSpPr>
          <p:nvPr/>
        </p:nvCxnSpPr>
        <p:spPr>
          <a:xfrm flipH="1">
            <a:off x="3419475" y="4762500"/>
            <a:ext cx="574675" cy="441325"/>
          </a:xfrm>
          <a:prstGeom prst="straightConnector1">
            <a:avLst/>
          </a:prstGeom>
          <a:ln w="9525" cap="flat" cmpd="sng">
            <a:solidFill>
              <a:srgbClr val="C00000"/>
            </a:solidFill>
            <a:prstDash val="solid"/>
            <a:headEnd type="stealth" w="med" len="med"/>
            <a:tailEnd type="none" w="med" len="med"/>
          </a:ln>
        </p:spPr>
      </p:cxnSp>
      <p:sp>
        <p:nvSpPr>
          <p:cNvPr id="23" name="椭圆形标注 22"/>
          <p:cNvSpPr/>
          <p:nvPr/>
        </p:nvSpPr>
        <p:spPr bwMode="auto">
          <a:xfrm>
            <a:off x="5148263" y="5302250"/>
            <a:ext cx="3952875" cy="1414463"/>
          </a:xfrm>
          <a:prstGeom prst="wedgeEllipseCallout">
            <a:avLst>
              <a:gd name="adj1" fmla="val -61622"/>
              <a:gd name="adj2" fmla="val -60395"/>
            </a:avLst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根据界面设计可以得哪些规律性的东西（含计算公式等）</a:t>
            </a:r>
            <a:endParaRPr kumimoji="1" lang="zh-CN" altLang="en-US" sz="22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194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1300" y="2924175"/>
            <a:ext cx="6843713" cy="22336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195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zh-CN" altLang="en-US" b="1" dirty="0"/>
              <a:t>报告中  </a:t>
            </a:r>
            <a:r>
              <a:rPr lang="zh-CN" altLang="zh-CN" b="1" dirty="0">
                <a:solidFill>
                  <a:schemeClr val="tx1"/>
                </a:solidFill>
              </a:rPr>
              <a:t>四、分析与模型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950" y="1447800"/>
            <a:ext cx="9036050" cy="13335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+mj-lt"/>
              <a:buAutoNum type="arabicPeriod"/>
              <a:defRPr/>
            </a:pPr>
            <a:r>
              <a:rPr kumimoji="1" lang="zh-CN" alt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菜单系统界面分析</a:t>
            </a:r>
            <a:r>
              <a:rPr kumimoji="1" lang="zh-CN" alt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→做成什么→有什么规律→引出怎么做</a:t>
            </a:r>
            <a:endParaRPr kumimoji="1" lang="en-US" altLang="zh-CN" sz="2600" b="0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1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　</a:t>
            </a:r>
            <a:r>
              <a:rPr kumimoji="1" lang="zh-CN" alt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　</a:t>
            </a:r>
            <a:r>
              <a:rPr kumimoji="1" lang="zh-CN" alt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菜单系统其实是种树型结构，菜单展示的形式多种多样，常见的．．．，本系统采用</a:t>
            </a:r>
            <a:r>
              <a:rPr kumimoji="1" lang="zh-CN" alt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层叠方式来实施</a:t>
            </a:r>
            <a:r>
              <a:rPr kumimoji="1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...</a:t>
            </a:r>
            <a:r>
              <a:rPr kumimoji="1" lang="zh-CN" alt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1" lang="zh-CN" altLang="en-US" sz="26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197" name="Rectangle 5"/>
          <p:cNvSpPr/>
          <p:nvPr/>
        </p:nvSpPr>
        <p:spPr>
          <a:xfrm>
            <a:off x="469900" y="2924175"/>
            <a:ext cx="571500" cy="247650"/>
          </a:xfrm>
          <a:prstGeom prst="rect">
            <a:avLst/>
          </a:prstGeom>
          <a:solidFill>
            <a:srgbClr val="339966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kumimoji="1" sz="2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 kumimoji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400" dirty="0">
                <a:latin typeface="Calibri" panose="020F0502020204030204" pitchFamily="34" charset="0"/>
              </a:rPr>
              <a:t>File</a:t>
            </a:r>
            <a:endParaRPr lang="zh-CN" altLang="zh-CN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55613" y="3357563"/>
            <a:ext cx="1020763" cy="2325688"/>
          </a:xfrm>
          <a:prstGeom prst="rect">
            <a:avLst/>
          </a:prstGeom>
          <a:noFill/>
          <a:ln>
            <a:solidFill>
              <a:schemeClr val="tx1">
                <a:lumMod val="50000"/>
              </a:schemeClr>
            </a:solidFill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1200" b="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Load     F3</a:t>
            </a:r>
            <a:endParaRPr kumimoji="1" lang="en-US" altLang="zh-CN" sz="1200" b="0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1200" b="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Pick Alt-F3</a:t>
            </a:r>
            <a:endParaRPr kumimoji="1" lang="en-US" altLang="zh-CN" sz="1200" b="0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1200" b="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New</a:t>
            </a:r>
            <a:endParaRPr kumimoji="1" lang="en-US" altLang="zh-CN" sz="1200" b="0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1200" b="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Save     F2</a:t>
            </a:r>
            <a:endParaRPr kumimoji="1" lang="en-US" altLang="zh-CN" sz="1200" b="0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1200" b="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Write to</a:t>
            </a:r>
            <a:endParaRPr kumimoji="1" lang="en-US" altLang="zh-CN" sz="1200" b="0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1200" b="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Diretory</a:t>
            </a:r>
            <a:endParaRPr kumimoji="1" lang="en-US" altLang="zh-CN" sz="1200" b="0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1200" b="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Change Dir</a:t>
            </a:r>
            <a:endParaRPr kumimoji="1" lang="en-US" altLang="zh-CN" sz="1200" b="0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1200" b="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Os Shell</a:t>
            </a:r>
            <a:endParaRPr kumimoji="1" lang="en-US" altLang="zh-CN" sz="1200" b="0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1200" b="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Quit  Alx-X</a:t>
            </a:r>
            <a:endParaRPr kumimoji="1" lang="zh-CN" altLang="en-US" sz="1200" b="0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9" name="圆角矩形标注 10"/>
          <p:cNvSpPr/>
          <p:nvPr/>
        </p:nvSpPr>
        <p:spPr>
          <a:xfrm>
            <a:off x="2339975" y="3533775"/>
            <a:ext cx="5761038" cy="2968625"/>
          </a:xfrm>
          <a:prstGeom prst="wedgeRoundRectCallout">
            <a:avLst>
              <a:gd name="adj1" fmla="val -53801"/>
              <a:gd name="adj2" fmla="val -61241"/>
              <a:gd name="adj3" fmla="val 16667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kumimoji="1" sz="2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 kumimoji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/>
              <a:t>１</a:t>
            </a:r>
            <a:r>
              <a:rPr lang="en-US" altLang="zh-CN" sz="2400" b="1" dirty="0"/>
              <a:t>.</a:t>
            </a:r>
            <a:r>
              <a:rPr lang="zh-CN" altLang="en-US" sz="2400" b="1" dirty="0"/>
              <a:t>有什么特点</a:t>
            </a:r>
            <a:endParaRPr lang="en-US" altLang="zh-CN" sz="2400" b="1" dirty="0"/>
          </a:p>
          <a:p>
            <a:pPr marL="0" lvl="0" indent="0" eaLnBrk="1" hangingPunct="1"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/>
              <a:t>２</a:t>
            </a:r>
            <a:r>
              <a:rPr lang="en-US" altLang="zh-CN" sz="2400" b="1" dirty="0"/>
              <a:t>.</a:t>
            </a:r>
            <a:r>
              <a:rPr lang="zh-CN" altLang="en-US" sz="2400" b="1" dirty="0"/>
              <a:t>有哪些规律性的东西</a:t>
            </a:r>
            <a:endParaRPr lang="en-US" altLang="zh-CN" sz="2400" b="1" dirty="0"/>
          </a:p>
          <a:p>
            <a:pPr marL="0" lvl="0" indent="0" eaLnBrk="1" hangingPunct="1"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/>
              <a:t>３</a:t>
            </a:r>
            <a:r>
              <a:rPr lang="en-US" altLang="zh-CN" sz="2400" b="1" dirty="0"/>
              <a:t>.</a:t>
            </a:r>
            <a:r>
              <a:rPr lang="zh-CN" altLang="en-US" sz="2400" b="1" dirty="0"/>
              <a:t>对应键所做的工作</a:t>
            </a:r>
            <a:r>
              <a:rPr lang="en-US" altLang="zh-CN" sz="2400" b="1" dirty="0"/>
              <a:t>:</a:t>
            </a:r>
            <a:r>
              <a:rPr lang="zh-CN" altLang="en-US" sz="2400" b="1" dirty="0"/>
              <a:t>如</a:t>
            </a:r>
            <a:r>
              <a:rPr lang="en-US" altLang="zh-CN" sz="2400" b="1" dirty="0"/>
              <a:t>Enter</a:t>
            </a:r>
            <a:r>
              <a:rPr lang="zh-CN" altLang="en-US" sz="2400" b="1" dirty="0"/>
              <a:t>键功能是下拉子菜单（相当于进栈处理），</a:t>
            </a:r>
            <a:r>
              <a:rPr lang="en-US" altLang="zh-CN" sz="2400" b="1" dirty="0"/>
              <a:t>Esc</a:t>
            </a:r>
            <a:r>
              <a:rPr lang="zh-CN" altLang="en-US" sz="2400" b="1" dirty="0"/>
              <a:t>键功能是回退子菜单（相当于</a:t>
            </a:r>
            <a:r>
              <a:rPr lang="en-US" altLang="zh-CN" sz="2400" b="1" dirty="0"/>
              <a:t>...</a:t>
            </a:r>
            <a:r>
              <a:rPr lang="zh-CN" altLang="en-US" sz="2400" b="1" dirty="0"/>
              <a:t>）</a:t>
            </a:r>
            <a:endParaRPr lang="en-US" altLang="zh-CN" sz="2400" b="1" dirty="0"/>
          </a:p>
          <a:p>
            <a:pPr marL="0" lvl="0" indent="0" eaLnBrk="1" hangingPunct="1"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/>
              <a:t>...</a:t>
            </a:r>
            <a:endParaRPr lang="zh-CN" alt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zh-CN" altLang="en-US" b="1" dirty="0"/>
              <a:t>报告中  </a:t>
            </a:r>
            <a:r>
              <a:rPr lang="zh-CN" altLang="zh-CN" b="1" dirty="0">
                <a:solidFill>
                  <a:schemeClr val="tx1"/>
                </a:solidFill>
              </a:rPr>
              <a:t>四、分析与模型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388" y="1484313"/>
            <a:ext cx="8785225" cy="4876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2.</a:t>
            </a:r>
            <a:r>
              <a:rPr kumimoji="1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得出规律性的东西（概念层次描述，尽量用逻辑图展示）：</a:t>
            </a:r>
            <a:endParaRPr kumimoji="1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主子菜单的位置分布；多叉树的菜单数据组织形式</a:t>
            </a:r>
            <a:r>
              <a:rPr kumimoji="1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....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根据可执行程序案例和常规的菜单数据：菜单数据是应按</a:t>
            </a:r>
            <a:r>
              <a:rPr kumimoji="1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多叉树</a:t>
            </a:r>
            <a:r>
              <a:rPr kumimoji="1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方式组织；从</a:t>
            </a:r>
            <a:r>
              <a:rPr kumimoji="1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逻辑结构（结合各种图表形式）</a:t>
            </a:r>
            <a:r>
              <a:rPr kumimoji="1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到</a:t>
            </a:r>
            <a:r>
              <a:rPr kumimoji="1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存储结构（类似结构体）</a:t>
            </a:r>
            <a:r>
              <a:rPr kumimoji="1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应该交代清楚（</a:t>
            </a:r>
            <a:r>
              <a:rPr kumimoji="1" lang="zh-CN" altLang="en-US" sz="2400" b="0" i="0" u="sng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相</a:t>
            </a:r>
            <a:r>
              <a:rPr kumimoji="1" lang="zh-CN" altLang="en-US" sz="2400" b="0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关数组、结构体等</a:t>
            </a:r>
            <a:r>
              <a:rPr kumimoji="1" lang="en-US" altLang="zh-CN" sz="2400" b="0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+</a:t>
            </a:r>
            <a:r>
              <a:rPr kumimoji="1" lang="zh-CN" altLang="en-US" sz="2400" b="0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说明</a:t>
            </a:r>
            <a:r>
              <a:rPr kumimoji="1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）。</a:t>
            </a:r>
            <a:endParaRPr kumimoji="1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根</a:t>
            </a:r>
            <a:r>
              <a:rPr kumimoji="1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据菜单系统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案</a:t>
            </a:r>
            <a:r>
              <a:rPr kumimoji="1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找</a:t>
            </a:r>
            <a:r>
              <a:rPr kumimoji="1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寻规律：菜单处理过程有先进后出、后进先出的典型的栈式结构的处理特点，菜单选择过程采用栈式结构来管理即可。总体菜单系统的处理结合</a:t>
            </a:r>
            <a:r>
              <a:rPr kumimoji="1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栈结构</a:t>
            </a:r>
            <a:r>
              <a:rPr kumimoji="1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来实现。用实例说明思想及处理过程；同时给出栈的相关模型。</a:t>
            </a:r>
            <a:endParaRPr kumimoji="1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   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怎</a:t>
            </a:r>
            <a:r>
              <a:rPr kumimoji="1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么做：</a:t>
            </a:r>
            <a:r>
              <a:rPr kumimoji="1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按模块化程序设计理念：自顶向下逐步求精的思想，给出菜单系统处理的总体思路，最好用粗框架的流程图（或示意图）表示</a:t>
            </a:r>
            <a:r>
              <a:rPr kumimoji="1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（大致表达出：先做什么后做什么或反复做什么）。</a:t>
            </a:r>
            <a:endParaRPr kumimoji="1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+mj-lt"/>
              <a:buAutoNum type="arabicPeriod"/>
              <a:defRPr/>
            </a:pPr>
            <a:endParaRPr kumimoji="1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zh-CN" altLang="en-US" b="1" dirty="0"/>
              <a:t>报告中  五、</a:t>
            </a:r>
            <a:r>
              <a:rPr lang="zh-CN" altLang="zh-CN" b="1" dirty="0"/>
              <a:t>算法设计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925" y="1412875"/>
            <a:ext cx="9037638" cy="4876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</a:t>
            </a:r>
            <a:r>
              <a:rPr kumimoji="1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给出模块划分及模块关系图（</a:t>
            </a:r>
            <a:r>
              <a:rPr kumimoji="1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参考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ppt</a:t>
            </a:r>
            <a:r>
              <a:rPr kumimoji="1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1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1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按四中的总体处理框图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1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参考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ppt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1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分块给出相应的逐步求精算法（用流程图、类自然语言像严蔚敏教材中那种陈述方式）。</a:t>
            </a:r>
            <a:endParaRPr kumimoji="1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陈</a:t>
            </a:r>
            <a:r>
              <a:rPr kumimoji="1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述中涉及的模型可在算法前陈述。</a:t>
            </a:r>
            <a:endParaRPr kumimoji="1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要点：围绕总控程序，再分块写算法。</a:t>
            </a:r>
            <a:endParaRPr kumimoji="1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注</a:t>
            </a:r>
            <a:r>
              <a:rPr kumimoji="1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意：不能以程序代替算法设计</a:t>
            </a:r>
            <a:endParaRPr kumimoji="1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要</a:t>
            </a:r>
            <a:r>
              <a:rPr kumimoji="1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求：报告四五部分至少５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1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６页以上</a:t>
            </a:r>
            <a:endParaRPr kumimoji="1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zh-CN" altLang="en-US" sz="3400" b="0" i="0" u="sng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警告：严禁直接抄袭实习报告中的算法陈述</a:t>
            </a:r>
            <a:endParaRPr kumimoji="1" lang="en-US" altLang="zh-CN" sz="3400" b="0" i="0" u="sng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1" lang="en-US" altLang="zh-CN" sz="4000" b="0" i="0" u="sng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圆角矩形标注 10"/>
          <p:cNvSpPr>
            <a:spLocks noChangeArrowheads="1"/>
          </p:cNvSpPr>
          <p:nvPr/>
        </p:nvSpPr>
        <p:spPr bwMode="auto">
          <a:xfrm>
            <a:off x="6227763" y="3357563"/>
            <a:ext cx="2808288" cy="1041400"/>
          </a:xfrm>
          <a:prstGeom prst="wedgeRoundRectCallout">
            <a:avLst>
              <a:gd name="adj1" fmla="val -66683"/>
              <a:gd name="adj2" fmla="val -99577"/>
              <a:gd name="adj3" fmla="val 16667"/>
            </a:avLst>
          </a:prstGeom>
          <a:solidFill>
            <a:schemeClr val="accent5">
              <a:lumMod val="90000"/>
            </a:schemeClr>
          </a:solidFill>
          <a:ln w="9525" algn="ctr">
            <a:solidFill>
              <a:srgbClr val="FF0000"/>
            </a:solidFill>
            <a:round/>
          </a:ln>
          <a:effectLst/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尽量用流程图</a:t>
            </a:r>
            <a:endParaRPr kumimoji="1" lang="en-US" altLang="zh-CN" sz="2400" b="1" i="0" u="none" strike="noStrike" kern="120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以免落入抄袭嫌疑</a:t>
            </a:r>
            <a:endParaRPr kumimoji="1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zh-CN" altLang="en-US" dirty="0"/>
              <a:t>系统的总体</a:t>
            </a:r>
            <a:r>
              <a:rPr lang="zh-CN" altLang="en-US" dirty="0"/>
              <a:t>设计思路</a:t>
            </a:r>
            <a:endParaRPr lang="zh-CN" altLang="en-US" dirty="0"/>
          </a:p>
        </p:txBody>
      </p:sp>
      <p:pic>
        <p:nvPicPr>
          <p:cNvPr id="11267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113" y="1341438"/>
            <a:ext cx="6985000" cy="51958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1042988" y="404813"/>
            <a:ext cx="7850187" cy="762000"/>
          </a:xfrm>
          <a:ln/>
        </p:spPr>
        <p:txBody>
          <a:bodyPr vert="horz" wrap="square" lIns="91440" tIns="45720" rIns="91440" bIns="45720" anchor="ctr" anchorCtr="0"/>
          <a:p>
            <a:pPr>
              <a:buNone/>
            </a:pPr>
            <a:r>
              <a:rPr lang="zh-CN" altLang="en-US" dirty="0">
                <a:solidFill>
                  <a:srgbClr val="000000"/>
                </a:solidFill>
              </a:rPr>
              <a:t>参考：</a:t>
            </a:r>
            <a:r>
              <a:rPr lang="zh-CN" altLang="zh-CN" dirty="0"/>
              <a:t>日历的模块分解层次关系</a:t>
            </a:r>
            <a:endParaRPr lang="zh-CN" altLang="en-US" dirty="0"/>
          </a:p>
        </p:txBody>
      </p:sp>
      <p:pic>
        <p:nvPicPr>
          <p:cNvPr id="12291" name="图片 3" descr="d:\Documents\Tencent Files\304928774\FileRecv\MobileFile\Image\U9FJ$VPJPHM1C~T6DR035U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288" y="1471613"/>
            <a:ext cx="8497887" cy="48371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apsules">
  <a:themeElements>
    <a:clrScheme name="Capsules 2">
      <a:dk1>
        <a:srgbClr val="003366"/>
      </a:dk1>
      <a:lt1>
        <a:srgbClr val="FFFFFF"/>
      </a:lt1>
      <a:dk2>
        <a:srgbClr val="006666"/>
      </a:dk2>
      <a:lt2>
        <a:srgbClr val="003366"/>
      </a:lt2>
      <a:accent1>
        <a:srgbClr val="99CC99"/>
      </a:accent1>
      <a:accent2>
        <a:srgbClr val="33CCCC"/>
      </a:accent2>
      <a:accent3>
        <a:srgbClr val="FFFFFF"/>
      </a:accent3>
      <a:accent4>
        <a:srgbClr val="002A56"/>
      </a:accent4>
      <a:accent5>
        <a:srgbClr val="CAE2CA"/>
      </a:accent5>
      <a:accent6>
        <a:srgbClr val="2DB9B9"/>
      </a:accent6>
      <a:hlink>
        <a:srgbClr val="666699"/>
      </a:hlink>
      <a:folHlink>
        <a:srgbClr val="CC99FF"/>
      </a:folHlink>
    </a:clrScheme>
    <a:fontScheme name="Capsules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Capsules 1">
        <a:dk1>
          <a:srgbClr val="000066"/>
        </a:dk1>
        <a:lt1>
          <a:srgbClr val="FFFFEB"/>
        </a:lt1>
        <a:dk2>
          <a:srgbClr val="336699"/>
        </a:dk2>
        <a:lt2>
          <a:srgbClr val="FFFFEB"/>
        </a:lt2>
        <a:accent1>
          <a:srgbClr val="666699"/>
        </a:accent1>
        <a:accent2>
          <a:srgbClr val="99CCFF"/>
        </a:accent2>
        <a:accent3>
          <a:srgbClr val="ADB8CA"/>
        </a:accent3>
        <a:accent4>
          <a:srgbClr val="DADAC9"/>
        </a:accent4>
        <a:accent5>
          <a:srgbClr val="B8B8CA"/>
        </a:accent5>
        <a:accent6>
          <a:srgbClr val="8AB9E7"/>
        </a:accent6>
        <a:hlink>
          <a:srgbClr val="CCCCFF"/>
        </a:hlink>
        <a:folHlink>
          <a:srgbClr val="C68D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2">
        <a:dk1>
          <a:srgbClr val="003366"/>
        </a:dk1>
        <a:lt1>
          <a:srgbClr val="FFFFFF"/>
        </a:lt1>
        <a:dk2>
          <a:srgbClr val="006666"/>
        </a:dk2>
        <a:lt2>
          <a:srgbClr val="003366"/>
        </a:lt2>
        <a:accent1>
          <a:srgbClr val="99CC99"/>
        </a:accent1>
        <a:accent2>
          <a:srgbClr val="33CCCC"/>
        </a:accent2>
        <a:accent3>
          <a:srgbClr val="FFFFFF"/>
        </a:accent3>
        <a:accent4>
          <a:srgbClr val="002A56"/>
        </a:accent4>
        <a:accent5>
          <a:srgbClr val="CAE2CA"/>
        </a:accent5>
        <a:accent6>
          <a:srgbClr val="2DB9B9"/>
        </a:accent6>
        <a:hlink>
          <a:srgbClr val="666699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C0C0C0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737373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4">
        <a:dk1>
          <a:srgbClr val="000000"/>
        </a:dk1>
        <a:lt1>
          <a:srgbClr val="FFFFFF"/>
        </a:lt1>
        <a:dk2>
          <a:srgbClr val="9900CC"/>
        </a:dk2>
        <a:lt2>
          <a:srgbClr val="0033CC"/>
        </a:lt2>
        <a:accent1>
          <a:srgbClr val="FFCC66"/>
        </a:accent1>
        <a:accent2>
          <a:srgbClr val="33CC33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2DB92D"/>
        </a:accent6>
        <a:hlink>
          <a:srgbClr val="9900CC"/>
        </a:hlink>
        <a:folHlink>
          <a:srgbClr val="9900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apsules">
  <a:themeElements>
    <a:clrScheme name="Capsules 2">
      <a:dk1>
        <a:srgbClr val="003366"/>
      </a:dk1>
      <a:lt1>
        <a:srgbClr val="FFFFFF"/>
      </a:lt1>
      <a:dk2>
        <a:srgbClr val="006666"/>
      </a:dk2>
      <a:lt2>
        <a:srgbClr val="003366"/>
      </a:lt2>
      <a:accent1>
        <a:srgbClr val="99CC99"/>
      </a:accent1>
      <a:accent2>
        <a:srgbClr val="33CCCC"/>
      </a:accent2>
      <a:accent3>
        <a:srgbClr val="FFFFFF"/>
      </a:accent3>
      <a:accent4>
        <a:srgbClr val="002A56"/>
      </a:accent4>
      <a:accent5>
        <a:srgbClr val="CAE2CA"/>
      </a:accent5>
      <a:accent6>
        <a:srgbClr val="2DB9B9"/>
      </a:accent6>
      <a:hlink>
        <a:srgbClr val="666699"/>
      </a:hlink>
      <a:folHlink>
        <a:srgbClr val="CC99FF"/>
      </a:folHlink>
    </a:clrScheme>
    <a:fontScheme name="Capsules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Capsules 1">
        <a:dk1>
          <a:srgbClr val="000066"/>
        </a:dk1>
        <a:lt1>
          <a:srgbClr val="FFFFEB"/>
        </a:lt1>
        <a:dk2>
          <a:srgbClr val="336699"/>
        </a:dk2>
        <a:lt2>
          <a:srgbClr val="FFFFEB"/>
        </a:lt2>
        <a:accent1>
          <a:srgbClr val="666699"/>
        </a:accent1>
        <a:accent2>
          <a:srgbClr val="99CCFF"/>
        </a:accent2>
        <a:accent3>
          <a:srgbClr val="ADB8CA"/>
        </a:accent3>
        <a:accent4>
          <a:srgbClr val="DADAC9"/>
        </a:accent4>
        <a:accent5>
          <a:srgbClr val="B8B8CA"/>
        </a:accent5>
        <a:accent6>
          <a:srgbClr val="8AB9E7"/>
        </a:accent6>
        <a:hlink>
          <a:srgbClr val="CCCCFF"/>
        </a:hlink>
        <a:folHlink>
          <a:srgbClr val="C68D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2">
        <a:dk1>
          <a:srgbClr val="003366"/>
        </a:dk1>
        <a:lt1>
          <a:srgbClr val="FFFFFF"/>
        </a:lt1>
        <a:dk2>
          <a:srgbClr val="006666"/>
        </a:dk2>
        <a:lt2>
          <a:srgbClr val="003366"/>
        </a:lt2>
        <a:accent1>
          <a:srgbClr val="99CC99"/>
        </a:accent1>
        <a:accent2>
          <a:srgbClr val="33CCCC"/>
        </a:accent2>
        <a:accent3>
          <a:srgbClr val="FFFFFF"/>
        </a:accent3>
        <a:accent4>
          <a:srgbClr val="002A56"/>
        </a:accent4>
        <a:accent5>
          <a:srgbClr val="CAE2CA"/>
        </a:accent5>
        <a:accent6>
          <a:srgbClr val="2DB9B9"/>
        </a:accent6>
        <a:hlink>
          <a:srgbClr val="666699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C0C0C0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737373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4">
        <a:dk1>
          <a:srgbClr val="000000"/>
        </a:dk1>
        <a:lt1>
          <a:srgbClr val="FFFFFF"/>
        </a:lt1>
        <a:dk2>
          <a:srgbClr val="9900CC"/>
        </a:dk2>
        <a:lt2>
          <a:srgbClr val="0033CC"/>
        </a:lt2>
        <a:accent1>
          <a:srgbClr val="FFCC66"/>
        </a:accent1>
        <a:accent2>
          <a:srgbClr val="33CC33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2DB92D"/>
        </a:accent6>
        <a:hlink>
          <a:srgbClr val="9900CC"/>
        </a:hlink>
        <a:folHlink>
          <a:srgbClr val="9900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Designs\Capsules.pot</Template>
  <TotalTime>0</TotalTime>
  <Words>1564</Words>
  <Application>WPS 演示</Application>
  <PresentationFormat>全屏显示(4:3)</PresentationFormat>
  <Paragraphs>124</Paragraphs>
  <Slides>11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4" baseType="lpstr">
      <vt:lpstr>Arial</vt:lpstr>
      <vt:lpstr>宋体</vt:lpstr>
      <vt:lpstr>Wingdings</vt:lpstr>
      <vt:lpstr>黑体</vt:lpstr>
      <vt:lpstr>Times New Roman</vt:lpstr>
      <vt:lpstr>楷体</vt:lpstr>
      <vt:lpstr>Calibri</vt:lpstr>
      <vt:lpstr>微软雅黑</vt:lpstr>
      <vt:lpstr>Arial Unicode MS</vt:lpstr>
      <vt:lpstr>Capsules</vt:lpstr>
      <vt:lpstr>1_Capsules</vt:lpstr>
      <vt:lpstr>Paint.Picture</vt:lpstr>
      <vt:lpstr>Paint.Picture</vt:lpstr>
      <vt:lpstr>项目任务书：要求</vt:lpstr>
      <vt:lpstr>项目要求：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NUDT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Mao xinjun</dc:creator>
  <cp:lastModifiedBy>Administrator</cp:lastModifiedBy>
  <cp:revision>912</cp:revision>
  <dcterms:created xsi:type="dcterms:W3CDTF">1999-03-27T08:54:29Z</dcterms:created>
  <dcterms:modified xsi:type="dcterms:W3CDTF">2025-10-28T10:16:54Z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471DABC8547C4A6C95581ED2F70EC4FC</vt:lpwstr>
  </property>
  <property fmtid="{D5CDD505-2E9C-101B-9397-08002B2CF9AE}" pid="3" name="KSOProductBuildVer">
    <vt:lpwstr>2052-11.8.2.10912</vt:lpwstr>
  </property>
</Properties>
</file>