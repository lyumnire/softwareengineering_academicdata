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06"/>
  </p:notesMasterIdLst>
  <p:handoutMasterIdLst>
    <p:handoutMasterId r:id="rId107"/>
  </p:handoutMasterIdLst>
  <p:sldIdLst>
    <p:sldId id="541" r:id="rId2"/>
    <p:sldId id="542" r:id="rId3"/>
    <p:sldId id="545" r:id="rId4"/>
    <p:sldId id="676" r:id="rId5"/>
    <p:sldId id="677" r:id="rId6"/>
    <p:sldId id="678" r:id="rId7"/>
    <p:sldId id="679" r:id="rId8"/>
    <p:sldId id="680" r:id="rId9"/>
    <p:sldId id="681" r:id="rId10"/>
    <p:sldId id="682" r:id="rId11"/>
    <p:sldId id="683" r:id="rId12"/>
    <p:sldId id="684" r:id="rId13"/>
    <p:sldId id="685" r:id="rId14"/>
    <p:sldId id="547" r:id="rId15"/>
    <p:sldId id="548" r:id="rId16"/>
    <p:sldId id="549" r:id="rId17"/>
    <p:sldId id="550" r:id="rId18"/>
    <p:sldId id="551" r:id="rId19"/>
    <p:sldId id="552" r:id="rId20"/>
    <p:sldId id="711" r:id="rId21"/>
    <p:sldId id="704" r:id="rId22"/>
    <p:sldId id="659" r:id="rId23"/>
    <p:sldId id="553" r:id="rId24"/>
    <p:sldId id="554" r:id="rId25"/>
    <p:sldId id="556" r:id="rId26"/>
    <p:sldId id="660" r:id="rId27"/>
    <p:sldId id="558" r:id="rId28"/>
    <p:sldId id="559" r:id="rId29"/>
    <p:sldId id="560" r:id="rId30"/>
    <p:sldId id="661" r:id="rId31"/>
    <p:sldId id="563" r:id="rId32"/>
    <p:sldId id="564" r:id="rId33"/>
    <p:sldId id="568" r:id="rId34"/>
    <p:sldId id="712" r:id="rId35"/>
    <p:sldId id="269" r:id="rId36"/>
    <p:sldId id="662" r:id="rId37"/>
    <p:sldId id="569" r:id="rId38"/>
    <p:sldId id="570" r:id="rId39"/>
    <p:sldId id="571" r:id="rId40"/>
    <p:sldId id="572" r:id="rId41"/>
    <p:sldId id="573" r:id="rId42"/>
    <p:sldId id="574" r:id="rId43"/>
    <p:sldId id="686" r:id="rId44"/>
    <p:sldId id="687" r:id="rId45"/>
    <p:sldId id="270" r:id="rId46"/>
    <p:sldId id="705" r:id="rId47"/>
    <p:sldId id="706" r:id="rId48"/>
    <p:sldId id="663" r:id="rId49"/>
    <p:sldId id="576" r:id="rId50"/>
    <p:sldId id="664" r:id="rId51"/>
    <p:sldId id="578" r:id="rId52"/>
    <p:sldId id="579" r:id="rId53"/>
    <p:sldId id="689" r:id="rId54"/>
    <p:sldId id="665" r:id="rId55"/>
    <p:sldId id="580" r:id="rId56"/>
    <p:sldId id="666" r:id="rId57"/>
    <p:sldId id="581" r:id="rId58"/>
    <p:sldId id="582" r:id="rId59"/>
    <p:sldId id="688" r:id="rId60"/>
    <p:sldId id="584" r:id="rId61"/>
    <p:sldId id="585" r:id="rId62"/>
    <p:sldId id="667" r:id="rId63"/>
    <p:sldId id="586" r:id="rId64"/>
    <p:sldId id="587" r:id="rId65"/>
    <p:sldId id="690" r:id="rId66"/>
    <p:sldId id="693" r:id="rId67"/>
    <p:sldId id="691" r:id="rId68"/>
    <p:sldId id="692" r:id="rId69"/>
    <p:sldId id="668" r:id="rId70"/>
    <p:sldId id="589" r:id="rId71"/>
    <p:sldId id="258" r:id="rId72"/>
    <p:sldId id="259" r:id="rId73"/>
    <p:sldId id="260" r:id="rId74"/>
    <p:sldId id="264" r:id="rId75"/>
    <p:sldId id="265" r:id="rId76"/>
    <p:sldId id="266" r:id="rId77"/>
    <p:sldId id="268" r:id="rId78"/>
    <p:sldId id="707" r:id="rId79"/>
    <p:sldId id="708" r:id="rId80"/>
    <p:sldId id="697" r:id="rId81"/>
    <p:sldId id="709" r:id="rId82"/>
    <p:sldId id="710" r:id="rId83"/>
    <p:sldId id="271" r:id="rId84"/>
    <p:sldId id="272" r:id="rId85"/>
    <p:sldId id="696" r:id="rId86"/>
    <p:sldId id="698" r:id="rId87"/>
    <p:sldId id="699" r:id="rId88"/>
    <p:sldId id="700" r:id="rId89"/>
    <p:sldId id="701" r:id="rId90"/>
    <p:sldId id="274" r:id="rId91"/>
    <p:sldId id="275" r:id="rId92"/>
    <p:sldId id="276" r:id="rId93"/>
    <p:sldId id="277" r:id="rId94"/>
    <p:sldId id="278" r:id="rId95"/>
    <p:sldId id="594" r:id="rId96"/>
    <p:sldId id="452" r:id="rId97"/>
    <p:sldId id="444" r:id="rId98"/>
    <p:sldId id="595" r:id="rId99"/>
    <p:sldId id="674" r:id="rId100"/>
    <p:sldId id="675" r:id="rId101"/>
    <p:sldId id="596" r:id="rId102"/>
    <p:sldId id="597" r:id="rId103"/>
    <p:sldId id="702" r:id="rId104"/>
    <p:sldId id="703" r:id="rId105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00FF"/>
    <a:srgbClr val="FF00FF"/>
    <a:srgbClr val="72BE2C"/>
    <a:srgbClr val="FF66FF"/>
    <a:srgbClr val="130A36"/>
    <a:srgbClr val="79710F"/>
    <a:srgbClr val="EEE6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10" autoAdjust="0"/>
    <p:restoredTop sz="90621" autoAdjust="0"/>
  </p:normalViewPr>
  <p:slideViewPr>
    <p:cSldViewPr>
      <p:cViewPr varScale="1">
        <p:scale>
          <a:sx n="130" d="100"/>
          <a:sy n="130" d="100"/>
        </p:scale>
        <p:origin x="336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41" d="100"/>
          <a:sy n="41" d="100"/>
        </p:scale>
        <p:origin x="-152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539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539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539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fld id="{E04F0AFE-DE6F-4DA2-990C-4F66D9505E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3783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fld id="{30745266-44D2-4209-96CF-E64C9C24DE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76982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F9D891-C917-4787-BB84-F3ABB1F51AE1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31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1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66449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TRUNCATE</a:t>
            </a:r>
            <a:r>
              <a:rPr lang="zh-CN" altLang="en-US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语句：快速删除表中所有数据，不能删单条记录，类似不带</a:t>
            </a:r>
            <a:r>
              <a:rPr lang="en-US" altLang="zh-CN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where</a:t>
            </a:r>
            <a:r>
              <a:rPr lang="zh-CN" altLang="en-US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子句的</a:t>
            </a:r>
            <a:r>
              <a:rPr lang="en-US" altLang="zh-CN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delete</a:t>
            </a:r>
            <a:r>
              <a:rPr lang="zh-CN" altLang="en-US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，使用系统资源和系统日志资源更少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45266-44D2-4209-96CF-E64C9C24DEE8}" type="slidenum">
              <a:rPr lang="en-US" altLang="zh-CN" smtClean="0"/>
              <a:pPr/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4659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981386-4258-4418-9579-04724879895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6986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45266-44D2-4209-96CF-E64C9C24DEE8}" type="slidenum">
              <a:rPr lang="en-US" altLang="zh-CN" smtClean="0"/>
              <a:pPr/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9084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Freeform 2"/>
          <p:cNvSpPr>
            <a:spLocks/>
          </p:cNvSpPr>
          <p:nvPr/>
        </p:nvSpPr>
        <p:spPr bwMode="gray">
          <a:xfrm>
            <a:off x="-9525" y="1447800"/>
            <a:ext cx="9164638" cy="3832225"/>
          </a:xfrm>
          <a:custGeom>
            <a:avLst/>
            <a:gdLst>
              <a:gd name="T0" fmla="*/ 12 w 5773"/>
              <a:gd name="T1" fmla="*/ 124 h 2414"/>
              <a:gd name="T2" fmla="*/ 1381 w 5773"/>
              <a:gd name="T3" fmla="*/ 12 h 2414"/>
              <a:gd name="T4" fmla="*/ 4064 w 5773"/>
              <a:gd name="T5" fmla="*/ 581 h 2414"/>
              <a:gd name="T6" fmla="*/ 5773 w 5773"/>
              <a:gd name="T7" fmla="*/ 118 h 2414"/>
              <a:gd name="T8" fmla="*/ 5766 w 5773"/>
              <a:gd name="T9" fmla="*/ 2151 h 2414"/>
              <a:gd name="T10" fmla="*/ 3966 w 5773"/>
              <a:gd name="T11" fmla="*/ 2263 h 2414"/>
              <a:gd name="T12" fmla="*/ 1963 w 5773"/>
              <a:gd name="T13" fmla="*/ 1897 h 2414"/>
              <a:gd name="T14" fmla="*/ 6 w 5773"/>
              <a:gd name="T15" fmla="*/ 2407 h 2414"/>
              <a:gd name="T16" fmla="*/ 12 w 5773"/>
              <a:gd name="T17" fmla="*/ 124 h 24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5251" name="Freeform 3"/>
          <p:cNvSpPr>
            <a:spLocks/>
          </p:cNvSpPr>
          <p:nvPr/>
        </p:nvSpPr>
        <p:spPr bwMode="gray">
          <a:xfrm>
            <a:off x="-9525" y="1730375"/>
            <a:ext cx="9150350" cy="3265488"/>
          </a:xfrm>
          <a:custGeom>
            <a:avLst/>
            <a:gdLst>
              <a:gd name="T0" fmla="*/ 6 w 5764"/>
              <a:gd name="T1" fmla="*/ 272 h 2057"/>
              <a:gd name="T2" fmla="*/ 1453 w 5764"/>
              <a:gd name="T3" fmla="*/ 10 h 2057"/>
              <a:gd name="T4" fmla="*/ 4182 w 5764"/>
              <a:gd name="T5" fmla="*/ 482 h 2057"/>
              <a:gd name="T6" fmla="*/ 5764 w 5764"/>
              <a:gd name="T7" fmla="*/ 154 h 2057"/>
              <a:gd name="T8" fmla="*/ 5764 w 5764"/>
              <a:gd name="T9" fmla="*/ 1806 h 2057"/>
              <a:gd name="T10" fmla="*/ 4005 w 5764"/>
              <a:gd name="T11" fmla="*/ 1994 h 2057"/>
              <a:gd name="T12" fmla="*/ 1891 w 5764"/>
              <a:gd name="T13" fmla="*/ 1522 h 2057"/>
              <a:gd name="T14" fmla="*/ 6 w 5764"/>
              <a:gd name="T15" fmla="*/ 1967 h 2057"/>
              <a:gd name="T16" fmla="*/ 6 w 5764"/>
              <a:gd name="T17" fmla="*/ 272 h 20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65252" name="Group 4"/>
          <p:cNvGrpSpPr>
            <a:grpSpLocks/>
          </p:cNvGrpSpPr>
          <p:nvPr/>
        </p:nvGrpSpPr>
        <p:grpSpPr bwMode="auto">
          <a:xfrm>
            <a:off x="7086600" y="1947863"/>
            <a:ext cx="533400" cy="533400"/>
            <a:chOff x="4752" y="1200"/>
            <a:chExt cx="288" cy="288"/>
          </a:xfrm>
        </p:grpSpPr>
        <p:sp>
          <p:nvSpPr>
            <p:cNvPr id="565253" name="Oval 5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54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5255" name="Group 7"/>
          <p:cNvGrpSpPr>
            <a:grpSpLocks/>
          </p:cNvGrpSpPr>
          <p:nvPr/>
        </p:nvGrpSpPr>
        <p:grpSpPr bwMode="auto">
          <a:xfrm>
            <a:off x="7620000" y="1371600"/>
            <a:ext cx="914400" cy="914400"/>
            <a:chOff x="4992" y="816"/>
            <a:chExt cx="576" cy="576"/>
          </a:xfrm>
        </p:grpSpPr>
        <p:sp>
          <p:nvSpPr>
            <p:cNvPr id="565256" name="Oval 8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57" name="Oval 9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5258" name="Group 10"/>
          <p:cNvGrpSpPr>
            <a:grpSpLocks/>
          </p:cNvGrpSpPr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565259" name="Oval 11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5260" name="Oval 12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52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5652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5364163" y="6381750"/>
            <a:ext cx="3529012" cy="287338"/>
          </a:xfrm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565263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1143000" y="2590800"/>
            <a:ext cx="7086600" cy="1012825"/>
          </a:xfrm>
          <a:effectLst>
            <a:outerShdw dist="53882" dir="2700000" algn="ctr" rotWithShape="0">
              <a:schemeClr val="tx1"/>
            </a:outerShdw>
          </a:effectLst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65264" name="Rectangle 16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95400" y="3581400"/>
            <a:ext cx="6705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pic>
        <p:nvPicPr>
          <p:cNvPr id="565265" name="Picture 17" descr="zjnu校标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863600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CD36C2-C71C-45E6-BA0F-4D091CFDA3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002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C4968F-5C4C-46A9-A19C-C80D5209F0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21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0CF745-38F8-4F60-9ECE-A3D6CD86FF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1929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8FE7B8-6780-4422-8979-1531F29AC8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9367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066F64-D05F-416A-995B-B9A8366AB1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1668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92B0CC-ED81-46F1-B051-A46D2E45FEA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34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EBFB5B-E647-4A12-A790-7614D4D7344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62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889FF5-6DDC-4784-8A85-E79B6A94AE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2071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5C2DB9-48D0-429D-9F79-82740AD2E5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0044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5800"/>
            <a:ext cx="20574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912DD2-E63E-41B4-813C-BA13FB29AE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94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An Introduction to Database System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3502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4226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Image" r:id="rId15" imgW="9561905" imgH="1600000" progId="Photoshop.Image.6">
                  <p:embed/>
                </p:oleObj>
              </mc:Choice>
              <mc:Fallback>
                <p:oleObj name="Image" r:id="rId15" imgW="9561905" imgH="1600000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4227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6 w 5767"/>
              <a:gd name="T1" fmla="*/ 109 h 1021"/>
              <a:gd name="T2" fmla="*/ 1427 w 5767"/>
              <a:gd name="T3" fmla="*/ 46 h 1021"/>
              <a:gd name="T4" fmla="*/ 4032 w 5767"/>
              <a:gd name="T5" fmla="*/ 255 h 1021"/>
              <a:gd name="T6" fmla="*/ 5767 w 5767"/>
              <a:gd name="T7" fmla="*/ 0 h 1021"/>
              <a:gd name="T8" fmla="*/ 5767 w 5767"/>
              <a:gd name="T9" fmla="*/ 776 h 1021"/>
              <a:gd name="T10" fmla="*/ 4065 w 5767"/>
              <a:gd name="T11" fmla="*/ 831 h 1021"/>
              <a:gd name="T12" fmla="*/ 1984 w 5767"/>
              <a:gd name="T13" fmla="*/ 674 h 1021"/>
              <a:gd name="T14" fmla="*/ 14 w 5767"/>
              <a:gd name="T15" fmla="*/ 995 h 1021"/>
              <a:gd name="T16" fmla="*/ 6 w 5767"/>
              <a:gd name="T17" fmla="*/ 109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4228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0 w 5771"/>
              <a:gd name="T1" fmla="*/ 109 h 634"/>
              <a:gd name="T2" fmla="*/ 1442 w 5771"/>
              <a:gd name="T3" fmla="*/ 3 h 634"/>
              <a:gd name="T4" fmla="*/ 4150 w 5771"/>
              <a:gd name="T5" fmla="*/ 148 h 634"/>
              <a:gd name="T6" fmla="*/ 5771 w 5771"/>
              <a:gd name="T7" fmla="*/ 37 h 634"/>
              <a:gd name="T8" fmla="*/ 5771 w 5771"/>
              <a:gd name="T9" fmla="*/ 557 h 634"/>
              <a:gd name="T10" fmla="*/ 3942 w 5771"/>
              <a:gd name="T11" fmla="*/ 592 h 634"/>
              <a:gd name="T12" fmla="*/ 1839 w 5771"/>
              <a:gd name="T13" fmla="*/ 456 h 634"/>
              <a:gd name="T14" fmla="*/ 6 w 5771"/>
              <a:gd name="T15" fmla="*/ 620 h 634"/>
              <a:gd name="T16" fmla="*/ 20 w 5771"/>
              <a:gd name="T17" fmla="*/ 109 h 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64229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564230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231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4232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564233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234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4235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564236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237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4238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64239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0113" y="63087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56424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solidFill>
                  <a:srgbClr val="F03628"/>
                </a:solidFill>
                <a:latin typeface="+mn-lt"/>
              </a:defRPr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564241" name="Rectangle 17"/>
          <p:cNvSpPr>
            <a:spLocks noGrp="1" noChangeArrowheads="1"/>
          </p:cNvSpPr>
          <p:nvPr>
            <p:ph type="title"/>
          </p:nvPr>
        </p:nvSpPr>
        <p:spPr bwMode="white">
          <a:xfrm>
            <a:off x="914400" y="6858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564242" name="Picture 18" descr="zjnu校标2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42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0825" y="6237288"/>
            <a:ext cx="585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fld id="{3AF5EF89-F06E-43C4-85E7-A5F69EC462D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330759" name="Rectangle 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sz="5400" dirty="0"/>
              <a:t>第五章  数据库完整性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8E136-2A9C-4471-AD82-02EABA28BF33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数据库完整性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362950" cy="48244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数据库的完整性</a:t>
            </a:r>
          </a:p>
          <a:p>
            <a:pPr lvl="1">
              <a:lnSpc>
                <a:spcPct val="150000"/>
              </a:lnSpc>
            </a:pPr>
            <a:r>
              <a:rPr lang="zh-CN" altLang="en-US" sz="2100" b="1" dirty="0"/>
              <a:t>数据的</a:t>
            </a:r>
            <a:r>
              <a:rPr lang="zh-CN" altLang="en-US" sz="2100" b="1" dirty="0">
                <a:solidFill>
                  <a:srgbClr val="FF66FF"/>
                </a:solidFill>
              </a:rPr>
              <a:t>正确性</a:t>
            </a:r>
            <a:r>
              <a:rPr lang="zh-CN" altLang="en-US" sz="2100" b="1" dirty="0"/>
              <a:t>和</a:t>
            </a:r>
            <a:r>
              <a:rPr lang="zh-CN" altLang="en-US" sz="2100" b="1" dirty="0">
                <a:solidFill>
                  <a:srgbClr val="FF66FF"/>
                </a:solidFill>
              </a:rPr>
              <a:t>相容性</a:t>
            </a:r>
          </a:p>
          <a:p>
            <a:pPr lvl="1">
              <a:lnSpc>
                <a:spcPct val="150000"/>
              </a:lnSpc>
              <a:buSzPct val="50000"/>
              <a:buFont typeface="Wingdings" panose="05000000000000000000" pitchFamily="2" charset="2"/>
              <a:buChar char="n"/>
            </a:pPr>
            <a:r>
              <a:rPr lang="zh-CN" altLang="en-US" sz="2000" b="1" dirty="0"/>
              <a:t>是否真实反映现实世界，同一对象在不同关系表中是否符合逻辑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/>
              <a:t>数据的完整性和安全性是两个不同概念</a:t>
            </a:r>
          </a:p>
          <a:p>
            <a:pPr lvl="1">
              <a:lnSpc>
                <a:spcPct val="120000"/>
              </a:lnSpc>
            </a:pPr>
            <a:r>
              <a:rPr lang="zh-CN" altLang="en-US" sz="1800" b="1" dirty="0">
                <a:solidFill>
                  <a:srgbClr val="0000FF"/>
                </a:solidFill>
              </a:rPr>
              <a:t>数据的完整性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/>
              <a:t>防止数据库中存在不符合语义的数据，也就是防止数据库中存在不正确的数据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/>
              <a:t>防范对象：不合语义的、不正确的数据</a:t>
            </a:r>
          </a:p>
          <a:p>
            <a:pPr lvl="1">
              <a:lnSpc>
                <a:spcPct val="120000"/>
              </a:lnSpc>
            </a:pPr>
            <a:r>
              <a:rPr lang="zh-CN" altLang="en-US" sz="1800" b="1" dirty="0">
                <a:solidFill>
                  <a:srgbClr val="0000FF"/>
                </a:solidFill>
              </a:rPr>
              <a:t>数据的安全性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/>
              <a:t>保护数据库防止恶意的破坏和非法的存取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/>
              <a:t>防范对象：非法用户和非法操作</a:t>
            </a:r>
            <a:endParaRPr lang="zh-CN" altLang="en-US" sz="1800" b="1" dirty="0">
              <a:solidFill>
                <a:srgbClr val="FF66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36FE4-FEE6-47AE-95BD-D2FF147A24D7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数据库完整性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/>
              <a:t>为维护数据库的完整性，</a:t>
            </a:r>
            <a:r>
              <a:rPr lang="en-US" altLang="zh-CN"/>
              <a:t>DBMS</a:t>
            </a:r>
            <a:r>
              <a:rPr lang="zh-CN" altLang="en-US"/>
              <a:t>必须：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n"/>
            </a:pPr>
            <a:r>
              <a:rPr lang="en-US" altLang="zh-CN"/>
              <a:t>1.</a:t>
            </a:r>
            <a:r>
              <a:rPr lang="zh-CN" altLang="en-US"/>
              <a:t>提供定义完整性约束条件的机制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n"/>
            </a:pPr>
            <a:r>
              <a:rPr lang="en-US" altLang="zh-CN"/>
              <a:t>2.</a:t>
            </a:r>
            <a:r>
              <a:rPr lang="zh-CN" altLang="en-US"/>
              <a:t>提供完整性检查的方法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n"/>
            </a:pPr>
            <a:r>
              <a:rPr lang="en-US" altLang="zh-CN"/>
              <a:t>3.</a:t>
            </a:r>
            <a:r>
              <a:rPr lang="zh-CN" altLang="en-US"/>
              <a:t>违约处理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450E3-E53C-45A5-86DE-A1ED3AA32C2C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完整性约束条件</a:t>
            </a:r>
          </a:p>
        </p:txBody>
      </p:sp>
      <p:sp>
        <p:nvSpPr>
          <p:cNvPr id="56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完整性约束条件作用的对象：</a:t>
            </a:r>
          </a:p>
          <a:p>
            <a:pPr lvl="1"/>
            <a:r>
              <a:rPr lang="zh-CN" altLang="en-US" b="1" dirty="0"/>
              <a:t>列：对属性的取值类型、范围、精度等的约束条件；</a:t>
            </a:r>
          </a:p>
          <a:p>
            <a:pPr lvl="1"/>
            <a:r>
              <a:rPr lang="zh-CN" altLang="en-US" b="1" dirty="0"/>
              <a:t>元组：对元组中各个属性列间的联系的约束；</a:t>
            </a:r>
          </a:p>
          <a:p>
            <a:pPr lvl="1"/>
            <a:r>
              <a:rPr lang="zh-CN" altLang="en-US" b="1" dirty="0"/>
              <a:t>关系：对若干元组间、关系集合上以及关系之间的联系的约束；</a:t>
            </a:r>
          </a:p>
          <a:p>
            <a:r>
              <a:rPr lang="zh-CN" altLang="en-US" b="1" dirty="0"/>
              <a:t>静态</a:t>
            </a:r>
          </a:p>
          <a:p>
            <a:pPr lvl="1"/>
            <a:r>
              <a:rPr lang="zh-CN" altLang="en-US" b="1" dirty="0"/>
              <a:t>对静态对象的约束是反映数据库</a:t>
            </a:r>
            <a:r>
              <a:rPr lang="zh-CN" altLang="en-US" b="1" dirty="0">
                <a:solidFill>
                  <a:srgbClr val="0000FF"/>
                </a:solidFill>
              </a:rPr>
              <a:t>状态合理性</a:t>
            </a:r>
            <a:r>
              <a:rPr lang="zh-CN" altLang="en-US" b="1" dirty="0"/>
              <a:t>的约束</a:t>
            </a:r>
          </a:p>
          <a:p>
            <a:r>
              <a:rPr lang="zh-CN" altLang="en-US" b="1" dirty="0"/>
              <a:t> 动态</a:t>
            </a:r>
          </a:p>
          <a:p>
            <a:pPr lvl="1"/>
            <a:r>
              <a:rPr lang="zh-CN" altLang="en-US" b="1" dirty="0"/>
              <a:t>对动态对象的约束是反映数据库</a:t>
            </a:r>
            <a:r>
              <a:rPr lang="zh-CN" altLang="en-US" b="1" dirty="0">
                <a:solidFill>
                  <a:srgbClr val="0000FF"/>
                </a:solidFill>
              </a:rPr>
              <a:t>状态变迁</a:t>
            </a:r>
            <a:r>
              <a:rPr lang="zh-CN" altLang="en-US" b="1" dirty="0"/>
              <a:t>的约束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2D58-F883-4C27-B3A2-00135D4E0361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完整性约束条件分类</a:t>
            </a:r>
          </a:p>
        </p:txBody>
      </p:sp>
      <p:sp>
        <p:nvSpPr>
          <p:cNvPr id="568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00213"/>
            <a:ext cx="8229600" cy="3816350"/>
          </a:xfrm>
        </p:spPr>
        <p:txBody>
          <a:bodyPr/>
          <a:lstStyle/>
          <a:p>
            <a:r>
              <a:rPr lang="zh-CN" altLang="en-US" b="1"/>
              <a:t>六类完整性约束条件</a:t>
            </a:r>
          </a:p>
          <a:p>
            <a:pPr>
              <a:buFont typeface="Wingdings" panose="05000000000000000000" pitchFamily="2" charset="2"/>
              <a:buChar char=""/>
            </a:pPr>
            <a:r>
              <a:rPr lang="zh-CN" altLang="en-US" b="1"/>
              <a:t>静态列级约束</a:t>
            </a:r>
          </a:p>
          <a:p>
            <a:pPr>
              <a:buFont typeface="Wingdings" panose="05000000000000000000" pitchFamily="2" charset="2"/>
              <a:buChar char=""/>
            </a:pPr>
            <a:r>
              <a:rPr lang="zh-CN" altLang="en-US" b="1"/>
              <a:t>静态元组约束</a:t>
            </a:r>
          </a:p>
          <a:p>
            <a:pPr>
              <a:buFont typeface="Wingdings" panose="05000000000000000000" pitchFamily="2" charset="2"/>
              <a:buChar char=""/>
            </a:pPr>
            <a:r>
              <a:rPr lang="zh-CN" altLang="en-US" b="1"/>
              <a:t>静态关系约束</a:t>
            </a:r>
          </a:p>
          <a:p>
            <a:pPr>
              <a:buFont typeface="Wingdings" panose="05000000000000000000" pitchFamily="2" charset="2"/>
              <a:buChar char=""/>
            </a:pPr>
            <a:r>
              <a:rPr lang="zh-CN" altLang="en-US" b="1"/>
              <a:t>动态列级约束</a:t>
            </a:r>
          </a:p>
          <a:p>
            <a:pPr>
              <a:buFont typeface="Wingdings" panose="05000000000000000000" pitchFamily="2" charset="2"/>
              <a:buChar char=""/>
            </a:pPr>
            <a:r>
              <a:rPr lang="zh-CN" altLang="en-US" b="1"/>
              <a:t>动态元组约束</a:t>
            </a:r>
          </a:p>
          <a:p>
            <a:pPr>
              <a:buFont typeface="Wingdings" panose="05000000000000000000" pitchFamily="2" charset="2"/>
              <a:buChar char=""/>
            </a:pPr>
            <a:r>
              <a:rPr lang="zh-CN" altLang="en-US" b="1"/>
              <a:t>动态关系约束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B81B0-D29C-482E-9B38-76DE76B6EDE5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569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完整性约束条件（续）</a:t>
            </a:r>
          </a:p>
        </p:txBody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28775"/>
            <a:ext cx="8229600" cy="4495800"/>
          </a:xfrm>
        </p:spPr>
        <p:txBody>
          <a:bodyPr/>
          <a:lstStyle/>
          <a:p>
            <a:r>
              <a:rPr lang="zh-CN" altLang="en-US" b="1">
                <a:solidFill>
                  <a:srgbClr val="0000FF"/>
                </a:solidFill>
              </a:rPr>
              <a:t>静态列级约束</a:t>
            </a:r>
          </a:p>
          <a:p>
            <a:pPr lvl="1"/>
            <a:r>
              <a:rPr lang="zh-CN" altLang="en-US" b="1"/>
              <a:t>  对取值域的说明</a:t>
            </a:r>
          </a:p>
          <a:p>
            <a:pPr lvl="1"/>
            <a:r>
              <a:rPr lang="zh-CN" altLang="en-US" b="1"/>
              <a:t>最常见、最简单、最容易实现的一类完整性约束</a:t>
            </a:r>
          </a:p>
          <a:p>
            <a:pPr lvl="1"/>
            <a:r>
              <a:rPr lang="zh-CN" altLang="en-US" b="1"/>
              <a:t>五类静态列级约束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（</a:t>
            </a: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1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）数据类型约束：数据的类型、长度、单位、精度等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  例：学生姓名的数据类型为字符型，长度</a:t>
            </a: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8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（</a:t>
            </a: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2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）对数据格式的约束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   例：学号：前两位表示入学年份，后四位为顺序编号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       日期：</a:t>
            </a: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YY.MM.DD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 b="1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DF88-10B1-42A9-AC55-F5718B38F8FA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570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完整性约束条件（续）</a:t>
            </a:r>
          </a:p>
        </p:txBody>
      </p:sp>
      <p:sp>
        <p:nvSpPr>
          <p:cNvPr id="570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47672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（</a:t>
            </a: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3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）取值范围或取值集合的约束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    例：规定成绩的取值范围为</a:t>
            </a: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0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～</a:t>
            </a: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100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        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年龄的取值范围为</a:t>
            </a: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14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～</a:t>
            </a: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29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         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性别的取值集合为</a:t>
            </a: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[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男、女</a:t>
            </a: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（</a:t>
            </a: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4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）对空值的约束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     空值：未定义或未知的值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     空值：与零值和空格不同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     有的列允许空值，有的则不允许，如成绩可为空值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 （</a:t>
            </a:r>
            <a:r>
              <a:rPr lang="en-US" altLang="zh-CN" sz="2400" b="1">
                <a:latin typeface="仿宋_GB2312" pitchFamily="49" charset="-122"/>
                <a:ea typeface="仿宋_GB2312" pitchFamily="49" charset="-122"/>
              </a:rPr>
              <a:t>5</a:t>
            </a: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）其他约束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仿宋_GB2312" pitchFamily="49" charset="-122"/>
                <a:ea typeface="仿宋_GB2312" pitchFamily="49" charset="-122"/>
              </a:rPr>
              <a:t>     例：关于列的排序说明、组合列等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9BDBB-4859-45BF-A7C4-F763B8E3A6DE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571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完整性约束条件（续）</a:t>
            </a: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557338"/>
            <a:ext cx="8229600" cy="4495800"/>
          </a:xfrm>
        </p:spPr>
        <p:txBody>
          <a:bodyPr/>
          <a:lstStyle/>
          <a:p>
            <a:r>
              <a:rPr lang="zh-CN" altLang="en-US" b="1" dirty="0">
                <a:solidFill>
                  <a:srgbClr val="0000FF"/>
                </a:solidFill>
              </a:rPr>
              <a:t>静态元组约束</a:t>
            </a:r>
          </a:p>
          <a:p>
            <a:pPr lvl="1"/>
            <a:r>
              <a:rPr lang="zh-CN" altLang="en-US" b="1" dirty="0"/>
              <a:t>规定元组的各个列之间的约束关系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 dirty="0"/>
              <a:t>　例：订货关系中　发货量＜＝订货量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 dirty="0"/>
              <a:t>　　　教师关系中　教授的工资＞＝</a:t>
            </a:r>
            <a:r>
              <a:rPr lang="en-US" altLang="zh-CN" b="1" dirty="0"/>
              <a:t>7000</a:t>
            </a:r>
            <a:r>
              <a:rPr lang="zh-CN" altLang="en-US" b="1" dirty="0"/>
              <a:t>元</a:t>
            </a:r>
          </a:p>
          <a:p>
            <a:r>
              <a:rPr lang="zh-CN" altLang="en-US" b="1" dirty="0">
                <a:solidFill>
                  <a:srgbClr val="3333FF"/>
                </a:solidFill>
              </a:rPr>
              <a:t>静态关系约束</a:t>
            </a:r>
          </a:p>
          <a:p>
            <a:pPr lvl="1"/>
            <a:r>
              <a:rPr lang="zh-CN" altLang="en-US" b="1" dirty="0"/>
              <a:t>关系的各个元组之间或若干关系之间存在的各种联系或约束</a:t>
            </a:r>
          </a:p>
          <a:p>
            <a:pPr lvl="1"/>
            <a:r>
              <a:rPr lang="zh-CN" altLang="en-US" b="1" dirty="0"/>
              <a:t>常见静态关系约束：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 dirty="0">
                <a:ea typeface="仿宋_GB2312" pitchFamily="49" charset="-122"/>
              </a:rPr>
              <a:t>实体完整性约束、参照完整性约束、函数依赖关系、统计约束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EDF9-B50D-4C17-AE1C-43284C4F0FFE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完整性约束条件（续）</a:t>
            </a:r>
          </a:p>
        </p:txBody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229600" cy="4495800"/>
          </a:xfrm>
        </p:spPr>
        <p:txBody>
          <a:bodyPr/>
          <a:lstStyle/>
          <a:p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函数依赖约束</a:t>
            </a:r>
          </a:p>
          <a:p>
            <a:pPr lvl="1"/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函数字段间存在的函数依赖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例：在学生－课程－教师关系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　　　</a:t>
            </a:r>
            <a:r>
              <a:rPr lang="en-US" altLang="zh-CN" sz="2000" b="1" dirty="0">
                <a:latin typeface="仿宋_GB2312" pitchFamily="49" charset="-122"/>
                <a:ea typeface="仿宋_GB2312" pitchFamily="49" charset="-122"/>
              </a:rPr>
              <a:t>SJT(S,J,T)</a:t>
            </a: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的函数依赖：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             （（</a:t>
            </a:r>
            <a:r>
              <a:rPr lang="en-US" altLang="zh-CN" sz="2000" b="1" dirty="0">
                <a:latin typeface="仿宋_GB2312" pitchFamily="49" charset="-122"/>
                <a:ea typeface="仿宋_GB2312" pitchFamily="49" charset="-122"/>
              </a:rPr>
              <a:t>S,J</a:t>
            </a: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lang="en-US" altLang="en-US" sz="2000" b="1" dirty="0"/>
              <a:t>→</a:t>
            </a:r>
            <a:r>
              <a:rPr lang="en-US" altLang="zh-CN" sz="2000" b="1" dirty="0">
                <a:latin typeface="仿宋_GB2312" pitchFamily="49" charset="-122"/>
                <a:ea typeface="仿宋_GB2312" pitchFamily="49" charset="-122"/>
              </a:rPr>
              <a:t>T,T</a:t>
            </a:r>
            <a:r>
              <a:rPr lang="en-US" altLang="en-US" sz="2000" b="1" dirty="0"/>
              <a:t>→</a:t>
            </a:r>
            <a:r>
              <a:rPr lang="en-US" altLang="zh-CN" sz="2000" b="1" dirty="0">
                <a:latin typeface="仿宋_GB2312" pitchFamily="49" charset="-122"/>
                <a:ea typeface="仿宋_GB2312" pitchFamily="49" charset="-122"/>
              </a:rPr>
              <a:t>J</a:t>
            </a: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）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主码</a:t>
            </a:r>
            <a:r>
              <a:rPr lang="zh-CN" altLang="en-US" sz="2000" b="1" dirty="0">
                <a:latin typeface="仿宋_GB2312" pitchFamily="49" charset="-122"/>
                <a:ea typeface="仿宋_GB2312" pitchFamily="49" charset="-122"/>
                <a:sym typeface="Wingdings" panose="05000000000000000000" pitchFamily="2" charset="2"/>
              </a:rPr>
              <a:t>：（</a:t>
            </a:r>
            <a:r>
              <a:rPr lang="en-US" altLang="zh-CN" sz="2000" b="1" dirty="0">
                <a:latin typeface="仿宋_GB2312" pitchFamily="49" charset="-122"/>
                <a:ea typeface="仿宋_GB2312" pitchFamily="49" charset="-122"/>
                <a:sym typeface="Wingdings" panose="05000000000000000000" pitchFamily="2" charset="2"/>
              </a:rPr>
              <a:t>S,J)</a:t>
            </a:r>
          </a:p>
          <a:p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统计约束</a:t>
            </a:r>
          </a:p>
          <a:p>
            <a:pPr lvl="1"/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定义某个字段值，一个关系多个元组的统计值之间的约束关系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例：职工平均工资的</a:t>
            </a:r>
            <a:r>
              <a:rPr lang="en-US" altLang="zh-CN" sz="2000" b="1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倍</a:t>
            </a:r>
            <a:r>
              <a:rPr lang="en-US" altLang="zh-CN" sz="2000" b="1" dirty="0">
                <a:latin typeface="仿宋_GB2312" pitchFamily="49" charset="-122"/>
                <a:ea typeface="仿宋_GB2312" pitchFamily="49" charset="-122"/>
              </a:rPr>
              <a:t>&lt;=</a:t>
            </a: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部门经理的工资</a:t>
            </a:r>
            <a:r>
              <a:rPr lang="en-US" altLang="zh-CN" sz="2000" b="1" dirty="0">
                <a:latin typeface="仿宋_GB2312" pitchFamily="49" charset="-122"/>
                <a:ea typeface="仿宋_GB2312" pitchFamily="49" charset="-122"/>
              </a:rPr>
              <a:t>&lt;=</a:t>
            </a: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职工平均工资的</a:t>
            </a:r>
            <a:r>
              <a:rPr lang="en-US" altLang="zh-CN" sz="2000" b="1" dirty="0">
                <a:latin typeface="仿宋_GB2312" pitchFamily="49" charset="-122"/>
                <a:ea typeface="仿宋_GB2312" pitchFamily="49" charset="-122"/>
              </a:rPr>
              <a:t>5</a:t>
            </a: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倍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仿宋_GB2312" pitchFamily="49" charset="-122"/>
                <a:ea typeface="仿宋_GB2312" pitchFamily="49" charset="-122"/>
              </a:rPr>
              <a:t>职工平均工资值：统计值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5562E-A10E-48E3-B416-9ACB322C3349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完整性约束条件（续）</a:t>
            </a:r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28775"/>
            <a:ext cx="8229600" cy="4495800"/>
          </a:xfrm>
        </p:spPr>
        <p:txBody>
          <a:bodyPr/>
          <a:lstStyle/>
          <a:p>
            <a:r>
              <a:rPr lang="zh-CN" altLang="en-US" b="1">
                <a:solidFill>
                  <a:srgbClr val="0000FF"/>
                </a:solidFill>
              </a:rPr>
              <a:t>动态列级约束</a:t>
            </a:r>
          </a:p>
          <a:p>
            <a:pPr lvl="1"/>
            <a:r>
              <a:rPr lang="zh-CN" altLang="en-US" b="1"/>
              <a:t>动态列级约束是修改列定义或列值时应满足的约束条件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b="1"/>
              <a:t>1</a:t>
            </a:r>
            <a:r>
              <a:rPr lang="zh-CN" altLang="en-US" b="1"/>
              <a:t>）修改列定义时的约束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例：将原来允许空值的列改为不允许空值时：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       该列目前已存在空值，则拒绝这种修改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b="1"/>
              <a:t>2</a:t>
            </a:r>
            <a:r>
              <a:rPr lang="zh-CN" altLang="en-US" b="1"/>
              <a:t>）修改列值时的约束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    修改列值时新旧值之间要满足的约束条件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    例</a:t>
            </a:r>
            <a:r>
              <a:rPr lang="en-US" altLang="zh-CN" b="1"/>
              <a:t>: </a:t>
            </a:r>
            <a:r>
              <a:rPr lang="zh-CN" altLang="en-US" b="1"/>
              <a:t>职工工资调整</a:t>
            </a:r>
            <a:r>
              <a:rPr lang="en-US" altLang="zh-CN" b="1"/>
              <a:t>&gt;=</a:t>
            </a:r>
            <a:r>
              <a:rPr lang="zh-CN" altLang="en-US" b="1"/>
              <a:t>原来工资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          年龄只能增长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B03E-5B92-4BF9-B94C-418FB2F2F0B5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完整性约束条件（续）</a:t>
            </a:r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0000FF"/>
                </a:solidFill>
              </a:rPr>
              <a:t>动态元组约束</a:t>
            </a:r>
          </a:p>
          <a:p>
            <a:pPr lvl="1"/>
            <a:r>
              <a:rPr lang="zh-CN" altLang="en-US" b="1"/>
              <a:t>修改元组值：各个字段之间要满足的约束条件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例：职工工资调整不得低于其原来工资</a:t>
            </a:r>
            <a:r>
              <a:rPr lang="en-US" altLang="zh-CN" b="1"/>
              <a:t>+</a:t>
            </a:r>
            <a:r>
              <a:rPr lang="zh-CN" altLang="en-US" b="1"/>
              <a:t>工龄*</a:t>
            </a:r>
            <a:r>
              <a:rPr lang="en-US" altLang="zh-CN" b="1"/>
              <a:t>1.5</a:t>
            </a:r>
          </a:p>
          <a:p>
            <a:r>
              <a:rPr lang="zh-CN" altLang="en-US" b="1">
                <a:solidFill>
                  <a:srgbClr val="0000FF"/>
                </a:solidFill>
              </a:rPr>
              <a:t>动态关系约束</a:t>
            </a:r>
          </a:p>
          <a:p>
            <a:pPr lvl="1"/>
            <a:r>
              <a:rPr lang="zh-CN" altLang="en-US" b="1"/>
              <a:t>关系变化前后状态：限制条件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例：事务一致性、原子性等约束条件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456B2-4041-4A86-BE08-63A44A9093C3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575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完整性检查</a:t>
            </a:r>
          </a:p>
        </p:txBody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695825"/>
          </a:xfrm>
        </p:spPr>
        <p:txBody>
          <a:bodyPr/>
          <a:lstStyle/>
          <a:p>
            <a:r>
              <a:rPr lang="zh-CN" altLang="en-US" b="1">
                <a:solidFill>
                  <a:srgbClr val="0000FF"/>
                </a:solidFill>
              </a:rPr>
              <a:t>立即执行的约束（</a:t>
            </a:r>
            <a:r>
              <a:rPr lang="en-US" altLang="zh-CN" b="1">
                <a:solidFill>
                  <a:srgbClr val="0000FF"/>
                </a:solidFill>
              </a:rPr>
              <a:t>Immediate constraints</a:t>
            </a:r>
            <a:r>
              <a:rPr lang="zh-CN" altLang="en-US" b="1">
                <a:solidFill>
                  <a:srgbClr val="0000FF"/>
                </a:solidFill>
              </a:rPr>
              <a:t>）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语句执行完后立即检查是否违背完整性约束</a:t>
            </a:r>
          </a:p>
          <a:p>
            <a:r>
              <a:rPr lang="zh-CN" altLang="en-US" b="1">
                <a:solidFill>
                  <a:srgbClr val="0000FF"/>
                </a:solidFill>
              </a:rPr>
              <a:t>延迟执行的约束（</a:t>
            </a:r>
            <a:r>
              <a:rPr lang="en-US" altLang="zh-CN" b="1">
                <a:solidFill>
                  <a:srgbClr val="0000FF"/>
                </a:solidFill>
              </a:rPr>
              <a:t>Deferred constraints</a:t>
            </a:r>
            <a:r>
              <a:rPr lang="zh-CN" altLang="en-US" b="1">
                <a:solidFill>
                  <a:srgbClr val="0000FF"/>
                </a:solidFill>
              </a:rPr>
              <a:t>）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完整性检查延迟到整个事务执行结束后进行</a:t>
            </a:r>
          </a:p>
          <a:p>
            <a:pPr lvl="1">
              <a:buFont typeface="Wingdings" panose="05000000000000000000" pitchFamily="2" charset="2"/>
              <a:buNone/>
            </a:pPr>
            <a:endParaRPr lang="zh-CN" altLang="en-US" b="1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例：银行数据库中</a:t>
            </a:r>
            <a:r>
              <a:rPr lang="zh-CN" altLang="en-US" b="1">
                <a:ea typeface="仿宋_GB2312" pitchFamily="49" charset="-122"/>
              </a:rPr>
              <a:t>”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借贷总金额应平衡</a:t>
            </a:r>
            <a:r>
              <a:rPr lang="zh-CN" altLang="en-US" b="1">
                <a:ea typeface="仿宋_GB2312" pitchFamily="49" charset="-122"/>
              </a:rPr>
              <a:t>“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的约束就应该是延迟执行的约束</a:t>
            </a:r>
          </a:p>
          <a:p>
            <a:pPr lvl="1"/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从账号</a:t>
            </a: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A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转一笔钱到账号</a:t>
            </a: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B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为一个事务，从账号</a:t>
            </a: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A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转出去钱后账就不平了，必须等转入账号</a:t>
            </a: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B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后账才能重新平衡，这时才能进行完整性检查。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11B28-6C88-4E8D-8D7F-E21DDA133968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违约处理</a:t>
            </a:r>
          </a:p>
        </p:txBody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 </a:t>
            </a:r>
            <a:r>
              <a:rPr lang="zh-CN" altLang="en-US"/>
              <a:t>拒绝该操作</a:t>
            </a:r>
          </a:p>
          <a:p>
            <a:r>
              <a:rPr lang="zh-CN" altLang="en-US"/>
              <a:t> 其他处理方法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CD441-0A37-45CE-9334-F798CACA8B37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数据库完整性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73238"/>
            <a:ext cx="7859712" cy="4495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5.1  </a:t>
            </a:r>
            <a:r>
              <a:rPr lang="zh-CN" altLang="en-US" b="1" dirty="0">
                <a:solidFill>
                  <a:schemeClr val="tx2"/>
                </a:solidFill>
              </a:rPr>
              <a:t>实体完整性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5.2  </a:t>
            </a:r>
            <a:r>
              <a:rPr lang="zh-CN" altLang="en-US" b="1" dirty="0"/>
              <a:t>参照完整性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5.3  </a:t>
            </a:r>
            <a:r>
              <a:rPr lang="zh-CN" altLang="en-US" b="1" dirty="0"/>
              <a:t>用户定义的完整性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5.4  </a:t>
            </a:r>
            <a:r>
              <a:rPr lang="zh-CN" altLang="en-US" b="1" dirty="0"/>
              <a:t>完整性约束命名字句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5.5  </a:t>
            </a:r>
            <a:r>
              <a:rPr lang="zh-CN" altLang="en-US" b="1" dirty="0"/>
              <a:t>域中的完整性限制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5.6  </a:t>
            </a:r>
            <a:r>
              <a:rPr lang="zh-CN" altLang="en-US" b="1" dirty="0"/>
              <a:t>触发器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5.7  </a:t>
            </a:r>
            <a:r>
              <a:rPr lang="zh-CN" altLang="en-US" b="1" dirty="0"/>
              <a:t>小结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20347-7532-4E25-95A7-761149E477E0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实体完整性</a:t>
            </a:r>
          </a:p>
        </p:txBody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90000"/>
              </a:lnSpc>
            </a:pPr>
            <a:r>
              <a:rPr lang="en-US" altLang="zh-CN" b="1" dirty="0">
                <a:solidFill>
                  <a:srgbClr val="3333FF"/>
                </a:solidFill>
              </a:rPr>
              <a:t>5.1.1 </a:t>
            </a:r>
            <a:r>
              <a:rPr lang="zh-CN" altLang="en-US" b="1" dirty="0">
                <a:solidFill>
                  <a:srgbClr val="3333FF"/>
                </a:solidFill>
              </a:rPr>
              <a:t>实体完整性定义</a:t>
            </a:r>
          </a:p>
          <a:p>
            <a:pPr>
              <a:lnSpc>
                <a:spcPct val="190000"/>
              </a:lnSpc>
            </a:pPr>
            <a:r>
              <a:rPr lang="en-US" altLang="zh-CN" b="1" dirty="0"/>
              <a:t>5.1.2 </a:t>
            </a:r>
            <a:r>
              <a:rPr lang="zh-CN" altLang="en-US" b="1" dirty="0"/>
              <a:t>实体完整性检查和违约处理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C64AA-C1CE-42D9-8C14-D0FCF57BC46A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5.1.1 </a:t>
            </a:r>
            <a:r>
              <a:rPr lang="zh-CN" altLang="en-US" dirty="0"/>
              <a:t>实体完整性定义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29600" cy="44958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2400" b="1"/>
              <a:t>关系模型的实体完整性</a:t>
            </a:r>
          </a:p>
          <a:p>
            <a:pPr lvl="1">
              <a:lnSpc>
                <a:spcPct val="140000"/>
              </a:lnSpc>
            </a:pPr>
            <a:r>
              <a:rPr lang="en-US" altLang="zh-CN" sz="2200" b="1"/>
              <a:t>CREATE  TABLE</a:t>
            </a:r>
            <a:r>
              <a:rPr lang="zh-CN" altLang="en-US" sz="2200" b="1"/>
              <a:t>中用</a:t>
            </a:r>
            <a:r>
              <a:rPr lang="en-US" altLang="zh-CN" sz="2200" b="1"/>
              <a:t>PRIMARY KEY</a:t>
            </a:r>
            <a:r>
              <a:rPr lang="zh-CN" altLang="en-US" sz="2200" b="1"/>
              <a:t>定义</a:t>
            </a:r>
          </a:p>
          <a:p>
            <a:pPr>
              <a:lnSpc>
                <a:spcPct val="140000"/>
              </a:lnSpc>
            </a:pPr>
            <a:r>
              <a:rPr lang="zh-CN" altLang="en-US" sz="2400" b="1"/>
              <a:t>单属性构成的码有两种说明方法 </a:t>
            </a:r>
          </a:p>
          <a:p>
            <a:pPr lvl="1">
              <a:lnSpc>
                <a:spcPct val="140000"/>
              </a:lnSpc>
            </a:pPr>
            <a:r>
              <a:rPr lang="zh-CN" altLang="en-US" sz="2200" b="1"/>
              <a:t>定义为列级约束条件</a:t>
            </a:r>
          </a:p>
          <a:p>
            <a:pPr lvl="1">
              <a:lnSpc>
                <a:spcPct val="140000"/>
              </a:lnSpc>
            </a:pPr>
            <a:r>
              <a:rPr lang="zh-CN" altLang="en-US" sz="2200" b="1"/>
              <a:t>定义为表级约束条件</a:t>
            </a:r>
          </a:p>
          <a:p>
            <a:pPr>
              <a:lnSpc>
                <a:spcPct val="140000"/>
              </a:lnSpc>
            </a:pPr>
            <a:r>
              <a:rPr lang="zh-CN" altLang="en-US" sz="2400" b="1"/>
              <a:t>对多个属性构成的码只有一种说明方法</a:t>
            </a:r>
          </a:p>
          <a:p>
            <a:pPr lvl="1">
              <a:lnSpc>
                <a:spcPct val="140000"/>
              </a:lnSpc>
            </a:pPr>
            <a:r>
              <a:rPr lang="zh-CN" altLang="en-US" sz="2200" b="1"/>
              <a:t>定义为表级约束条件</a:t>
            </a:r>
            <a:r>
              <a:rPr lang="zh-CN" altLang="en-US" b="1"/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48A9B-5A03-407E-858D-8F75716D18B8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实体完整性定义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［</a:t>
            </a:r>
            <a:r>
              <a:rPr lang="zh-CN" altLang="en-US" sz="2400"/>
              <a:t>例</a:t>
            </a:r>
            <a:r>
              <a:rPr lang="en-US" altLang="zh-CN" sz="2400"/>
              <a:t>1</a:t>
            </a:r>
            <a:r>
              <a:rPr lang="zh-CN" altLang="en-US" sz="2400"/>
              <a:t>］  将</a:t>
            </a:r>
            <a:r>
              <a:rPr lang="en-US" altLang="zh-CN" sz="2400"/>
              <a:t>Student</a:t>
            </a:r>
            <a:r>
              <a:rPr lang="zh-CN" altLang="en-US" sz="2400"/>
              <a:t>表中的</a:t>
            </a:r>
            <a:r>
              <a:rPr lang="en-US" altLang="zh-CN" sz="2400"/>
              <a:t>Sno</a:t>
            </a:r>
            <a:r>
              <a:rPr lang="zh-CN" altLang="en-US" sz="2400"/>
              <a:t>属性定义为码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</a:t>
            </a:r>
            <a:r>
              <a:rPr lang="en-US" altLang="zh-CN" sz="2400" b="1"/>
              <a:t>(1)</a:t>
            </a:r>
            <a:r>
              <a:rPr lang="zh-CN" altLang="en-US" sz="2400" b="1"/>
              <a:t>在列级定义主码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          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  </a:t>
            </a:r>
            <a:r>
              <a:rPr lang="en-US" altLang="zh-CN" sz="2200"/>
              <a:t>CREATE TABLE Student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        (</a:t>
            </a:r>
            <a:r>
              <a:rPr lang="en-US" altLang="zh-CN" sz="2200">
                <a:solidFill>
                  <a:srgbClr val="FF00FF"/>
                </a:solidFill>
              </a:rPr>
              <a:t>Sno  CHAR(9)  PRIMARY KEY</a:t>
            </a:r>
            <a:r>
              <a:rPr lang="zh-CN" altLang="en-US" sz="2200">
                <a:solidFill>
                  <a:srgbClr val="FF00FF"/>
                </a:solidFill>
              </a:rPr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     </a:t>
            </a:r>
            <a:r>
              <a:rPr lang="en-US" altLang="zh-CN" sz="2200"/>
              <a:t>Sname  CHAR(20) NOT NULL</a:t>
            </a:r>
            <a:r>
              <a:rPr lang="zh-CN" altLang="en-US" sz="2200"/>
              <a:t>，    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     </a:t>
            </a:r>
            <a:r>
              <a:rPr lang="en-US" altLang="zh-CN" sz="2200"/>
              <a:t>Ssex  CHAR(2) </a:t>
            </a:r>
            <a:r>
              <a:rPr lang="zh-CN" altLang="en-US" sz="2200"/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     </a:t>
            </a:r>
            <a:r>
              <a:rPr lang="en-US" altLang="zh-CN" sz="2200"/>
              <a:t>Sage  SMALLINT</a:t>
            </a:r>
            <a:r>
              <a:rPr lang="zh-CN" altLang="en-US" sz="2200"/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     </a:t>
            </a:r>
            <a:r>
              <a:rPr lang="en-US" altLang="zh-CN" sz="2200"/>
              <a:t>Sdept  CHAR(20));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38A8A-6EA2-4F7C-AEC8-1E07BD3B6691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实体完整性定义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400" b="1"/>
              <a:t>(2)</a:t>
            </a:r>
            <a:r>
              <a:rPr lang="zh-CN" altLang="en-US" sz="2400" b="1"/>
              <a:t>在表级定义主码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600"/>
              <a:t>    </a:t>
            </a:r>
            <a:r>
              <a:rPr lang="en-US" altLang="zh-CN" sz="2200"/>
              <a:t>CREATE TABLE Student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        (Sno  CHAR(9)</a:t>
            </a:r>
            <a:r>
              <a:rPr lang="zh-CN" altLang="en-US" sz="2200"/>
              <a:t>， 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200"/>
              <a:t>         </a:t>
            </a:r>
            <a:r>
              <a:rPr lang="en-US" altLang="zh-CN" sz="2200"/>
              <a:t>Sname  CHAR(20) NOT NULL</a:t>
            </a:r>
            <a:r>
              <a:rPr lang="zh-CN" altLang="en-US" sz="2200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200"/>
              <a:t>         </a:t>
            </a:r>
            <a:r>
              <a:rPr lang="en-US" altLang="zh-CN" sz="2200"/>
              <a:t>Ssex  CHAR(2) </a:t>
            </a:r>
            <a:r>
              <a:rPr lang="zh-CN" altLang="en-US" sz="2200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200"/>
              <a:t>         </a:t>
            </a:r>
            <a:r>
              <a:rPr lang="en-US" altLang="zh-CN" sz="2200"/>
              <a:t>Sage  SMALLINT</a:t>
            </a:r>
            <a:r>
              <a:rPr lang="zh-CN" altLang="en-US" sz="2200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200"/>
              <a:t>         </a:t>
            </a:r>
            <a:r>
              <a:rPr lang="en-US" altLang="zh-CN" sz="2200"/>
              <a:t>Sdept  CHAR(20)</a:t>
            </a:r>
            <a:r>
              <a:rPr lang="zh-CN" altLang="en-US" sz="2200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200"/>
              <a:t>         </a:t>
            </a:r>
            <a:r>
              <a:rPr lang="en-US" altLang="zh-CN" sz="2200">
                <a:solidFill>
                  <a:srgbClr val="FF00FF"/>
                </a:solidFill>
              </a:rPr>
              <a:t>PRIMARY KEY (Sno)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/>
              <a:t>      );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2A344-9163-4376-9304-9DB4A87F0734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实体完整性定义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［例</a:t>
            </a:r>
            <a:r>
              <a:rPr lang="en-US" altLang="zh-CN" sz="2400"/>
              <a:t>2</a:t>
            </a:r>
            <a:r>
              <a:rPr lang="zh-CN" altLang="en-US" sz="2400"/>
              <a:t>］将</a:t>
            </a:r>
            <a:r>
              <a:rPr lang="en-US" altLang="zh-CN" sz="2400"/>
              <a:t>SC</a:t>
            </a:r>
            <a:r>
              <a:rPr lang="zh-CN" altLang="en-US" sz="2400"/>
              <a:t>表中的</a:t>
            </a:r>
            <a:r>
              <a:rPr lang="en-US" altLang="zh-CN" sz="2400"/>
              <a:t>Sno</a:t>
            </a:r>
            <a:r>
              <a:rPr lang="zh-CN" altLang="en-US" sz="2400"/>
              <a:t>，</a:t>
            </a:r>
            <a:r>
              <a:rPr lang="en-US" altLang="zh-CN" sz="2400"/>
              <a:t>Cno</a:t>
            </a:r>
            <a:r>
              <a:rPr lang="zh-CN" altLang="en-US" sz="2400"/>
              <a:t>属性组定义为码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</a:t>
            </a:r>
            <a:r>
              <a:rPr lang="en-US" altLang="zh-CN" sz="2200"/>
              <a:t>CREATE TABLE SC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   (Sno   CHAR(9)  NOT NULL</a:t>
            </a:r>
            <a:r>
              <a:rPr lang="zh-CN" altLang="en-US" sz="2200"/>
              <a:t>， 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</a:t>
            </a:r>
            <a:r>
              <a:rPr lang="en-US" altLang="zh-CN" sz="2200"/>
              <a:t>Cno  CHAR(4)  NOT NULL</a:t>
            </a:r>
            <a:r>
              <a:rPr lang="zh-CN" altLang="en-US" sz="2200"/>
              <a:t>，  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</a:t>
            </a:r>
            <a:r>
              <a:rPr lang="en-US" altLang="zh-CN" sz="2200"/>
              <a:t>Grade    SMALLINT</a:t>
            </a:r>
            <a:r>
              <a:rPr lang="zh-CN" altLang="en-US" sz="2200"/>
              <a:t>，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</a:t>
            </a:r>
            <a:r>
              <a:rPr lang="en-US" altLang="zh-CN" sz="2200">
                <a:solidFill>
                  <a:srgbClr val="FF00FF"/>
                </a:solidFill>
              </a:rPr>
              <a:t>PRIMARY KEY (Sno</a:t>
            </a:r>
            <a:r>
              <a:rPr lang="zh-CN" altLang="en-US" sz="2200">
                <a:solidFill>
                  <a:srgbClr val="FF00FF"/>
                </a:solidFill>
              </a:rPr>
              <a:t>，</a:t>
            </a:r>
            <a:r>
              <a:rPr lang="en-US" altLang="zh-CN" sz="2200">
                <a:solidFill>
                  <a:srgbClr val="FF00FF"/>
                </a:solidFill>
              </a:rPr>
              <a:t>Cno)     /*</a:t>
            </a:r>
            <a:r>
              <a:rPr lang="zh-CN" altLang="en-US" sz="2200">
                <a:solidFill>
                  <a:srgbClr val="FF00FF"/>
                </a:solidFill>
              </a:rPr>
              <a:t>只能在表级定义主码*</a:t>
            </a:r>
            <a:r>
              <a:rPr lang="en-US" altLang="zh-CN" sz="2200">
                <a:solidFill>
                  <a:srgbClr val="FF00FF"/>
                </a:solidFill>
              </a:rPr>
              <a:t>/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  );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1520" y="1484784"/>
            <a:ext cx="8229600" cy="4495800"/>
          </a:xfrm>
        </p:spPr>
        <p:txBody>
          <a:bodyPr/>
          <a:lstStyle/>
          <a:p>
            <a:pPr lvl="1"/>
            <a:r>
              <a:rPr lang="zh-CN" altLang="en-US" dirty="0">
                <a:solidFill>
                  <a:srgbClr val="FF0000"/>
                </a:solidFill>
              </a:rPr>
              <a:t>列级</a:t>
            </a:r>
            <a:r>
              <a:rPr lang="zh-CN" altLang="en-US" dirty="0"/>
              <a:t>，主键只有一列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342900" lvl="1" indent="0">
              <a:buNone/>
            </a:pPr>
            <a:endParaRPr lang="en-US" altLang="zh-CN" dirty="0"/>
          </a:p>
          <a:p>
            <a:pPr marL="342900" lvl="1" indent="0">
              <a:buNone/>
            </a:pPr>
            <a:endParaRPr lang="en-US" altLang="zh-CN" dirty="0"/>
          </a:p>
          <a:p>
            <a:pPr marL="342900" lvl="1" indent="0">
              <a:buNone/>
            </a:pPr>
            <a:endParaRPr lang="en-US" altLang="zh-CN" sz="900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表级</a:t>
            </a:r>
            <a:r>
              <a:rPr lang="zh-CN" altLang="en-US" dirty="0"/>
              <a:t>，主键有一列或多列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实体完整性定义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103056" y="2044326"/>
            <a:ext cx="4968552" cy="17543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employee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empno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u="sng" dirty="0">
                <a:solidFill>
                  <a:srgbClr val="FF0000"/>
                </a:solidFill>
                <a:latin typeface="Courier New" panose="02070309020205020404" pitchFamily="49" charset="0"/>
              </a:rPr>
              <a:t>PRIMARY KEY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</a:p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name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8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pPr algn="l"/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age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3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pPr algn="l"/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deptno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7" name="矩形 6"/>
          <p:cNvSpPr/>
          <p:nvPr/>
        </p:nvSpPr>
        <p:spPr>
          <a:xfrm>
            <a:off x="61710" y="4305807"/>
            <a:ext cx="4082693" cy="23083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employee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empno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name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8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age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3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deptno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u="sng" dirty="0">
                <a:solidFill>
                  <a:srgbClr val="FF0000"/>
                </a:solidFill>
                <a:latin typeface="Courier New" panose="02070309020205020404" pitchFamily="49" charset="0"/>
              </a:rPr>
              <a:t>CONSTRAINT</a:t>
            </a:r>
            <a:r>
              <a:rPr lang="en-US" altLang="zh-CN" u="sng" dirty="0">
                <a:solidFill>
                  <a:srgbClr val="FF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u="sng" dirty="0" err="1">
                <a:solidFill>
                  <a:srgbClr val="FF0000"/>
                </a:solidFill>
                <a:latin typeface="Courier New" panose="02070309020205020404" pitchFamily="49" charset="0"/>
              </a:rPr>
              <a:t>pk_no</a:t>
            </a:r>
            <a:r>
              <a:rPr lang="en-US" altLang="zh-CN" u="sng" dirty="0">
                <a:solidFill>
                  <a:srgbClr val="FF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u="sng" dirty="0">
                <a:solidFill>
                  <a:srgbClr val="FF0000"/>
                </a:solidFill>
                <a:latin typeface="Courier New" panose="02070309020205020404" pitchFamily="49" charset="0"/>
              </a:rPr>
              <a:t>PRIMARY</a:t>
            </a:r>
            <a:r>
              <a:rPr lang="en-US" altLang="zh-CN" u="sng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u="sng" dirty="0">
                <a:solidFill>
                  <a:srgbClr val="FF0000"/>
                </a:solidFill>
                <a:latin typeface="Courier New" panose="02070309020205020404" pitchFamily="49" charset="0"/>
              </a:rPr>
              <a:t>KEY</a:t>
            </a:r>
            <a:r>
              <a:rPr lang="en-US" altLang="zh-CN" u="sng" dirty="0">
                <a:solidFill>
                  <a:srgbClr val="FF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u="sng" dirty="0" err="1">
                <a:solidFill>
                  <a:srgbClr val="FF0000"/>
                </a:solidFill>
                <a:latin typeface="Courier New" panose="02070309020205020404" pitchFamily="49" charset="0"/>
              </a:rPr>
              <a:t>empno</a:t>
            </a:r>
            <a:r>
              <a:rPr lang="en-US" altLang="zh-CN" u="sng" dirty="0">
                <a:solidFill>
                  <a:srgbClr val="FF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8" name="矩形 7"/>
          <p:cNvSpPr/>
          <p:nvPr/>
        </p:nvSpPr>
        <p:spPr>
          <a:xfrm>
            <a:off x="4242416" y="4322805"/>
            <a:ext cx="4862522" cy="23083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employee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empno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name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8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age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3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deptno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u="sng" dirty="0">
                <a:solidFill>
                  <a:srgbClr val="FF0000"/>
                </a:solidFill>
                <a:latin typeface="Courier New" panose="02070309020205020404" pitchFamily="49" charset="0"/>
              </a:rPr>
              <a:t>CONSTRAINT</a:t>
            </a:r>
            <a:r>
              <a:rPr lang="en-US" altLang="zh-CN" u="sng" dirty="0">
                <a:solidFill>
                  <a:srgbClr val="FF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u="sng" dirty="0" err="1">
                <a:solidFill>
                  <a:srgbClr val="FF0000"/>
                </a:solidFill>
                <a:latin typeface="Courier New" panose="02070309020205020404" pitchFamily="49" charset="0"/>
              </a:rPr>
              <a:t>pk_no</a:t>
            </a:r>
            <a:r>
              <a:rPr lang="en-US" altLang="zh-CN" u="sng" dirty="0">
                <a:solidFill>
                  <a:srgbClr val="FF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u="sng" dirty="0">
                <a:solidFill>
                  <a:srgbClr val="FF0000"/>
                </a:solidFill>
                <a:latin typeface="Courier New" panose="02070309020205020404" pitchFamily="49" charset="0"/>
              </a:rPr>
              <a:t>PRIMARY</a:t>
            </a:r>
            <a:r>
              <a:rPr lang="en-US" altLang="zh-CN" u="sng" dirty="0">
                <a:solidFill>
                  <a:srgbClr val="FF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u="sng" dirty="0">
                <a:solidFill>
                  <a:srgbClr val="FF0000"/>
                </a:solidFill>
                <a:latin typeface="Courier New" panose="02070309020205020404" pitchFamily="49" charset="0"/>
              </a:rPr>
              <a:t>KEY</a:t>
            </a:r>
            <a:r>
              <a:rPr lang="en-US" altLang="zh-CN" u="sng" dirty="0">
                <a:solidFill>
                  <a:srgbClr val="FF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u="sng" dirty="0" err="1">
                <a:solidFill>
                  <a:srgbClr val="FF0000"/>
                </a:solidFill>
                <a:latin typeface="Courier New" panose="02070309020205020404" pitchFamily="49" charset="0"/>
              </a:rPr>
              <a:t>empno,deptno</a:t>
            </a:r>
            <a:r>
              <a:rPr lang="en-US" altLang="zh-CN" u="sng" dirty="0">
                <a:solidFill>
                  <a:srgbClr val="FF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41275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831960-AA15-449B-AA7E-7785966ED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A3EF22-FE3E-4C03-B8FE-3E511A65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36C2-C71C-45E6-BA0F-4D091CFDA314}" type="slidenum">
              <a:rPr lang="en-US" altLang="zh-CN" smtClean="0"/>
              <a:pPr/>
              <a:t>21</a:t>
            </a:fld>
            <a:endParaRPr lang="en-US" altLang="zh-CN"/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BE9A3603-B9B2-47D3-A5BF-D1B6EAF38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2608312"/>
          </a:xfrm>
        </p:spPr>
        <p:txBody>
          <a:bodyPr/>
          <a:lstStyle/>
          <a:p>
            <a:r>
              <a:rPr lang="zh-CN" altLang="en-US" dirty="0"/>
              <a:t>删除主键约束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创建表后添加主键约束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7164FB-02E8-44CE-A9DB-0B08E8E94B0D}"/>
              </a:ext>
            </a:extLst>
          </p:cNvPr>
          <p:cNvSpPr/>
          <p:nvPr/>
        </p:nvSpPr>
        <p:spPr>
          <a:xfrm>
            <a:off x="836613" y="2636912"/>
            <a:ext cx="60960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Student</a:t>
            </a:r>
          </a:p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DROP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PRIMARY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KEY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25E1DF-A51A-457E-BC97-4E81BFACF13A}"/>
              </a:ext>
            </a:extLst>
          </p:cNvPr>
          <p:cNvSpPr/>
          <p:nvPr/>
        </p:nvSpPr>
        <p:spPr>
          <a:xfrm>
            <a:off x="1115616" y="4690868"/>
            <a:ext cx="60960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Student</a:t>
            </a:r>
          </a:p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ADD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CONSTRAINT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pk_no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PRIMARY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KEY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sno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18D76DD-9999-4110-B522-D15DDE89F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 dirty="0"/>
              <a:t>实体完整性定义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3123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6B03-EC27-4A26-AEBC-F284F7A27063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实体完整性</a:t>
            </a:r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90000"/>
              </a:lnSpc>
            </a:pPr>
            <a:r>
              <a:rPr lang="en-US" altLang="zh-CN" b="1" dirty="0"/>
              <a:t>5.1.1 </a:t>
            </a:r>
            <a:r>
              <a:rPr lang="zh-CN" altLang="en-US" b="1" dirty="0"/>
              <a:t>实体完整性定义</a:t>
            </a:r>
          </a:p>
          <a:p>
            <a:pPr>
              <a:lnSpc>
                <a:spcPct val="190000"/>
              </a:lnSpc>
            </a:pPr>
            <a:r>
              <a:rPr lang="en-US" altLang="zh-CN" b="1" dirty="0">
                <a:solidFill>
                  <a:srgbClr val="3333FF"/>
                </a:solidFill>
              </a:rPr>
              <a:t>5.1.2 </a:t>
            </a:r>
            <a:r>
              <a:rPr lang="zh-CN" altLang="en-US" b="1" dirty="0">
                <a:solidFill>
                  <a:srgbClr val="3333FF"/>
                </a:solidFill>
              </a:rPr>
              <a:t>实体完整性检查和违约处理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A7C4-ADEB-4307-95E7-24EB9FD15250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5.1.2 </a:t>
            </a:r>
            <a:r>
              <a:rPr lang="zh-CN" altLang="en-US" dirty="0"/>
              <a:t>实体完整性检查和违约处理</a:t>
            </a:r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495800"/>
          </a:xfrm>
        </p:spPr>
        <p:txBody>
          <a:bodyPr/>
          <a:lstStyle/>
          <a:p>
            <a:pPr>
              <a:lnSpc>
                <a:spcPct val="180000"/>
              </a:lnSpc>
            </a:pPr>
            <a:r>
              <a:rPr lang="zh-CN" altLang="en-US" sz="2400" b="1" dirty="0"/>
              <a:t>插入或对主码列进行更新操作时，</a:t>
            </a:r>
            <a:r>
              <a:rPr lang="en-US" altLang="zh-CN" sz="2400" b="1" dirty="0"/>
              <a:t>RDBMS</a:t>
            </a:r>
            <a:r>
              <a:rPr lang="zh-CN" altLang="en-US" sz="2400" b="1" dirty="0"/>
              <a:t>按照实体完整性规则自动进行检查。包括：</a:t>
            </a:r>
          </a:p>
          <a:p>
            <a:pPr lvl="1">
              <a:lnSpc>
                <a:spcPct val="180000"/>
              </a:lnSpc>
            </a:pPr>
            <a:r>
              <a:rPr lang="en-US" altLang="zh-CN" sz="2200" b="1" dirty="0"/>
              <a:t>1. </a:t>
            </a:r>
            <a:r>
              <a:rPr lang="zh-CN" altLang="en-US" sz="2200" b="1" dirty="0"/>
              <a:t>检查主码值是否唯一，如果不唯一则拒绝插入或修改</a:t>
            </a:r>
          </a:p>
          <a:p>
            <a:pPr lvl="1">
              <a:lnSpc>
                <a:spcPct val="180000"/>
              </a:lnSpc>
            </a:pPr>
            <a:r>
              <a:rPr lang="en-US" altLang="zh-CN" sz="2200" b="1" dirty="0"/>
              <a:t>2. </a:t>
            </a:r>
            <a:r>
              <a:rPr lang="zh-CN" altLang="en-US" sz="2200" b="1" dirty="0"/>
              <a:t>检查主码的各个属性是否为空，只要有一个为空就拒绝插入或修改</a:t>
            </a:r>
          </a:p>
          <a:p>
            <a:endParaRPr lang="en-US" altLang="zh-CN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46311-3E14-4B55-A2D9-5E7547A91EFA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实体完整性检查和违约处理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1600200"/>
          </a:xfrm>
        </p:spPr>
        <p:txBody>
          <a:bodyPr/>
          <a:lstStyle/>
          <a:p>
            <a:pPr>
              <a:lnSpc>
                <a:spcPct val="180000"/>
              </a:lnSpc>
            </a:pPr>
            <a:r>
              <a:rPr lang="zh-CN" altLang="en-US" sz="2400" b="1"/>
              <a:t>检查记录中主码值是否唯一的一种方法是进行</a:t>
            </a:r>
            <a:r>
              <a:rPr lang="zh-CN" altLang="en-US" sz="2400" b="1">
                <a:solidFill>
                  <a:srgbClr val="FF66FF"/>
                </a:solidFill>
              </a:rPr>
              <a:t>全表扫描</a:t>
            </a:r>
            <a:endParaRPr lang="zh-CN" altLang="en-US" sz="2400" b="1"/>
          </a:p>
        </p:txBody>
      </p:sp>
      <p:pic>
        <p:nvPicPr>
          <p:cNvPr id="432132" name="Picture 4" descr="5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708275"/>
            <a:ext cx="6480175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277B5-0F86-45A0-B510-D5F59F62FB9D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实体完整性检查和违约处理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3719" y="1448744"/>
            <a:ext cx="8229600" cy="111616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66FF"/>
                </a:solidFill>
              </a:rPr>
              <a:t>索引</a:t>
            </a:r>
            <a:endParaRPr lang="en-US" altLang="zh-CN" dirty="0">
              <a:solidFill>
                <a:srgbClr val="FF66FF"/>
              </a:solidFill>
            </a:endParaRPr>
          </a:p>
          <a:p>
            <a:pPr marL="0" indent="0">
              <a:buNone/>
            </a:pPr>
            <a:r>
              <a:rPr lang="zh-CN" altLang="en-US" sz="2000" dirty="0"/>
              <a:t>全表扫描十分耗时，</a:t>
            </a:r>
            <a:r>
              <a:rPr lang="en-US" altLang="zh-CN" sz="2000" dirty="0"/>
              <a:t>RDBMS</a:t>
            </a:r>
            <a:r>
              <a:rPr lang="zh-CN" altLang="en-US" sz="2000" dirty="0"/>
              <a:t>一般都在主码上自动建立一个索引。</a:t>
            </a:r>
            <a:r>
              <a:rPr lang="zh-CN" altLang="en-US" dirty="0"/>
              <a:t> </a:t>
            </a:r>
          </a:p>
        </p:txBody>
      </p:sp>
      <p:pic>
        <p:nvPicPr>
          <p:cNvPr id="434180" name="Picture 4" descr="5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780928"/>
            <a:ext cx="6264275" cy="327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299F8AB-6520-2316-3574-F7D12441081C}"/>
              </a:ext>
            </a:extLst>
          </p:cNvPr>
          <p:cNvSpPr txBox="1"/>
          <p:nvPr/>
        </p:nvSpPr>
        <p:spPr>
          <a:xfrm>
            <a:off x="3707904" y="3003897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（或</a:t>
            </a:r>
            <a:r>
              <a:rPr lang="en-US" altLang="zh-CN" sz="1400" dirty="0"/>
              <a:t>86 </a:t>
            </a:r>
            <a:r>
              <a:rPr lang="zh-CN" altLang="en-US" sz="1400" dirty="0"/>
              <a:t>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9DD71-B5DE-4E37-9423-709C39AB5F8B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数据库完整性</a:t>
            </a:r>
          </a:p>
        </p:txBody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73238"/>
            <a:ext cx="7643812" cy="4495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5.1  </a:t>
            </a:r>
            <a:r>
              <a:rPr lang="zh-CN" altLang="en-US" b="1" dirty="0"/>
              <a:t>实体完整性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5.2  </a:t>
            </a:r>
            <a:r>
              <a:rPr lang="zh-CN" altLang="en-US" b="1" dirty="0">
                <a:solidFill>
                  <a:schemeClr val="tx2"/>
                </a:solidFill>
              </a:rPr>
              <a:t>参照完整性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5.3  </a:t>
            </a:r>
            <a:r>
              <a:rPr lang="zh-CN" altLang="en-US" b="1" dirty="0"/>
              <a:t>用户定义的完整性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5.4  </a:t>
            </a:r>
            <a:r>
              <a:rPr lang="zh-CN" altLang="en-US" b="1" dirty="0"/>
              <a:t>完整性约束命名字句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5.5  </a:t>
            </a:r>
            <a:r>
              <a:rPr lang="zh-CN" altLang="en-US" b="1" dirty="0"/>
              <a:t>域中的完整性限制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5.6  </a:t>
            </a:r>
            <a:r>
              <a:rPr lang="zh-CN" altLang="en-US" b="1" dirty="0"/>
              <a:t>触发器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5.7  </a:t>
            </a:r>
            <a:r>
              <a:rPr lang="zh-CN" altLang="en-US" b="1" dirty="0"/>
              <a:t>小结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06FF-45FB-438F-B812-13BB9082ACFC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 </a:t>
            </a:r>
            <a:r>
              <a:rPr lang="zh-CN" altLang="en-US" dirty="0"/>
              <a:t>参照完整性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90000"/>
              </a:lnSpc>
            </a:pPr>
            <a:r>
              <a:rPr lang="en-US" altLang="zh-CN" b="1" dirty="0">
                <a:solidFill>
                  <a:srgbClr val="3333FF"/>
                </a:solidFill>
              </a:rPr>
              <a:t>5.2.1 </a:t>
            </a:r>
            <a:r>
              <a:rPr lang="zh-CN" altLang="en-US" b="1" dirty="0">
                <a:solidFill>
                  <a:srgbClr val="3333FF"/>
                </a:solidFill>
              </a:rPr>
              <a:t>参照完整性定义</a:t>
            </a:r>
          </a:p>
          <a:p>
            <a:pPr>
              <a:lnSpc>
                <a:spcPct val="190000"/>
              </a:lnSpc>
            </a:pPr>
            <a:r>
              <a:rPr lang="en-US" altLang="zh-CN" b="1" dirty="0"/>
              <a:t>5.2.2 </a:t>
            </a:r>
            <a:r>
              <a:rPr lang="zh-CN" altLang="en-US" b="1" dirty="0"/>
              <a:t>参照完整性检查和违约处理</a:t>
            </a:r>
          </a:p>
          <a:p>
            <a:endParaRPr lang="en-US" altLang="zh-CN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BA23-9C5C-45F1-AE3C-424C563B22B6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5.2.1 </a:t>
            </a:r>
            <a:r>
              <a:rPr lang="zh-CN" altLang="en-US" dirty="0"/>
              <a:t>参照完整性定义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8769"/>
            <a:ext cx="8229600" cy="4495800"/>
          </a:xfrm>
        </p:spPr>
        <p:txBody>
          <a:bodyPr/>
          <a:lstStyle/>
          <a:p>
            <a:pPr>
              <a:lnSpc>
                <a:spcPct val="180000"/>
              </a:lnSpc>
            </a:pPr>
            <a:r>
              <a:rPr lang="zh-CN" altLang="en-US" dirty="0"/>
              <a:t>关系模型的参照完整性定义</a:t>
            </a:r>
          </a:p>
          <a:p>
            <a:pPr lvl="1">
              <a:lnSpc>
                <a:spcPct val="18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CREATE  TABLE</a:t>
            </a:r>
            <a:r>
              <a:rPr lang="zh-CN" altLang="en-US" dirty="0"/>
              <a:t>中用</a:t>
            </a:r>
            <a:r>
              <a:rPr lang="en-US" altLang="zh-CN" dirty="0">
                <a:solidFill>
                  <a:srgbClr val="FF00FF"/>
                </a:solidFill>
              </a:rPr>
              <a:t>FOREIGN KEY</a:t>
            </a:r>
            <a:r>
              <a:rPr lang="zh-CN" altLang="en-US" dirty="0"/>
              <a:t>短语定义哪些列为外码</a:t>
            </a:r>
            <a:r>
              <a:rPr lang="en-US" altLang="zh-CN" dirty="0"/>
              <a:t>;</a:t>
            </a:r>
            <a:endParaRPr lang="zh-CN" altLang="en-US" dirty="0"/>
          </a:p>
          <a:p>
            <a:pPr lvl="1">
              <a:lnSpc>
                <a:spcPct val="180000"/>
              </a:lnSpc>
            </a:pPr>
            <a:r>
              <a:rPr lang="zh-CN" altLang="en-US" dirty="0"/>
              <a:t>用</a:t>
            </a:r>
            <a:r>
              <a:rPr lang="en-US" altLang="zh-CN" dirty="0">
                <a:solidFill>
                  <a:srgbClr val="FF00FF"/>
                </a:solidFill>
              </a:rPr>
              <a:t>REFERENCES</a:t>
            </a:r>
            <a:r>
              <a:rPr lang="zh-CN" altLang="en-US" dirty="0"/>
              <a:t>短语指明这些外码参照哪些表的主码</a:t>
            </a:r>
            <a:r>
              <a:rPr lang="en-US" altLang="zh-CN" dirty="0"/>
              <a:t>;</a:t>
            </a:r>
          </a:p>
          <a:p>
            <a:pPr lvl="1">
              <a:lnSpc>
                <a:spcPct val="180000"/>
              </a:lnSpc>
            </a:pPr>
            <a:r>
              <a:rPr lang="zh-CN" altLang="en-US" dirty="0"/>
              <a:t>外键约束要求：被定义为外键的属性，其取值只能为主表中引用属性的值或</a:t>
            </a:r>
            <a:r>
              <a:rPr lang="en-US" altLang="zh-CN" dirty="0"/>
              <a:t>NULL</a:t>
            </a:r>
            <a:r>
              <a:rPr lang="zh-CN" altLang="en-US" dirty="0"/>
              <a:t>值 </a:t>
            </a:r>
            <a:r>
              <a:rPr lang="en-US" altLang="zh-CN" dirty="0"/>
              <a:t>;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5DB-4663-48A2-A19C-898D6F5FBDB3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参照完整性定义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8229600" cy="44958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例如，关系</a:t>
            </a:r>
            <a:r>
              <a:rPr lang="en-US" altLang="zh-CN" sz="2200" b="1"/>
              <a:t>SC</a:t>
            </a:r>
            <a:r>
              <a:rPr lang="zh-CN" altLang="en-US" sz="2200" b="1"/>
              <a:t>中一个元组表示一个学生选修的某门课程的成绩，（</a:t>
            </a:r>
            <a:r>
              <a:rPr lang="en-US" altLang="zh-CN" sz="2200" b="1"/>
              <a:t>Sno</a:t>
            </a:r>
            <a:r>
              <a:rPr lang="zh-CN" altLang="en-US" sz="2200" b="1"/>
              <a:t>，</a:t>
            </a:r>
            <a:r>
              <a:rPr lang="en-US" altLang="zh-CN" sz="2200" b="1"/>
              <a:t>Cno</a:t>
            </a:r>
            <a:r>
              <a:rPr lang="zh-CN" altLang="en-US" sz="2200" b="1"/>
              <a:t>）是主码。</a:t>
            </a:r>
            <a:r>
              <a:rPr lang="en-US" altLang="zh-CN" sz="2200" b="1"/>
              <a:t>Sno</a:t>
            </a:r>
            <a:r>
              <a:rPr lang="zh-CN" altLang="en-US" sz="2200" b="1"/>
              <a:t>，</a:t>
            </a:r>
            <a:r>
              <a:rPr lang="en-US" altLang="zh-CN" sz="2200" b="1"/>
              <a:t>Cno</a:t>
            </a:r>
            <a:r>
              <a:rPr lang="zh-CN" altLang="en-US" sz="2200" b="1"/>
              <a:t>分别参照引用</a:t>
            </a:r>
            <a:r>
              <a:rPr lang="en-US" altLang="zh-CN" sz="2200" b="1"/>
              <a:t>Student</a:t>
            </a:r>
            <a:r>
              <a:rPr lang="zh-CN" altLang="en-US" sz="2200" b="1"/>
              <a:t>表的主码和</a:t>
            </a:r>
            <a:r>
              <a:rPr lang="en-US" altLang="zh-CN" sz="2200" b="1"/>
              <a:t>Course</a:t>
            </a:r>
            <a:r>
              <a:rPr lang="zh-CN" altLang="en-US" sz="2200" b="1"/>
              <a:t>表的主码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［例</a:t>
            </a:r>
            <a:r>
              <a:rPr lang="en-US" altLang="zh-CN" sz="2200" b="1"/>
              <a:t>3</a:t>
            </a:r>
            <a:r>
              <a:rPr lang="zh-CN" altLang="en-US" sz="2200" b="1"/>
              <a:t>］  定义</a:t>
            </a:r>
            <a:r>
              <a:rPr lang="en-US" altLang="zh-CN" sz="2200" b="1"/>
              <a:t>SC</a:t>
            </a:r>
            <a:r>
              <a:rPr lang="zh-CN" altLang="en-US" sz="2200" b="1"/>
              <a:t>中的参照完整性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 </a:t>
            </a:r>
            <a:r>
              <a:rPr lang="en-US" altLang="zh-CN" sz="2200" b="1"/>
              <a:t>CREATE TABLE SC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 (Sno    CHAR(9)  NOT NULL</a:t>
            </a:r>
            <a:r>
              <a:rPr lang="zh-CN" altLang="en-US" sz="2200" b="1"/>
              <a:t>，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     </a:t>
            </a:r>
            <a:r>
              <a:rPr lang="en-US" altLang="zh-CN" sz="2200" b="1"/>
              <a:t>Cno     CHAR(4)  NOT NULL</a:t>
            </a:r>
            <a:r>
              <a:rPr lang="zh-CN" altLang="en-US" sz="2200" b="1"/>
              <a:t>，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     </a:t>
            </a:r>
            <a:r>
              <a:rPr lang="en-US" altLang="zh-CN" sz="2200" b="1"/>
              <a:t>Grade    SMALLINT</a:t>
            </a:r>
            <a:r>
              <a:rPr lang="zh-CN" altLang="en-US" sz="2200" b="1"/>
              <a:t>，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     </a:t>
            </a:r>
            <a:r>
              <a:rPr lang="en-US" altLang="zh-CN" sz="2200" b="1">
                <a:solidFill>
                  <a:srgbClr val="FF00FF"/>
                </a:solidFill>
              </a:rPr>
              <a:t>PRIMARY KEY (Sno</a:t>
            </a:r>
            <a:r>
              <a:rPr lang="zh-CN" altLang="en-US" sz="2200" b="1">
                <a:solidFill>
                  <a:srgbClr val="FF00FF"/>
                </a:solidFill>
              </a:rPr>
              <a:t>， </a:t>
            </a:r>
            <a:r>
              <a:rPr lang="en-US" altLang="zh-CN" sz="2200" b="1">
                <a:solidFill>
                  <a:srgbClr val="FF00FF"/>
                </a:solidFill>
              </a:rPr>
              <a:t>Cno)</a:t>
            </a:r>
            <a:r>
              <a:rPr lang="zh-CN" altLang="en-US" sz="2200" b="1"/>
              <a:t>，   </a:t>
            </a:r>
            <a:r>
              <a:rPr lang="en-US" altLang="zh-CN" sz="2200" b="1">
                <a:solidFill>
                  <a:srgbClr val="FF00FF"/>
                </a:solidFill>
              </a:rPr>
              <a:t>/*</a:t>
            </a:r>
            <a:r>
              <a:rPr lang="zh-CN" altLang="en-US" sz="2200" b="1">
                <a:solidFill>
                  <a:srgbClr val="FF00FF"/>
                </a:solidFill>
              </a:rPr>
              <a:t>在表级定义实体完整性*</a:t>
            </a:r>
            <a:r>
              <a:rPr lang="en-US" altLang="zh-CN" sz="2200" b="1">
                <a:solidFill>
                  <a:srgbClr val="FF00FF"/>
                </a:solidFill>
              </a:rPr>
              <a:t>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  </a:t>
            </a:r>
            <a:r>
              <a:rPr lang="en-US" altLang="zh-CN" sz="2200" b="1">
                <a:solidFill>
                  <a:srgbClr val="72BE2C"/>
                </a:solidFill>
              </a:rPr>
              <a:t>FOREIGN KEY (Sno) REFERENCES Student(Sno)</a:t>
            </a:r>
            <a:r>
              <a:rPr lang="zh-CN" altLang="en-US" sz="2200" b="1"/>
              <a:t>，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       </a:t>
            </a:r>
            <a:r>
              <a:rPr lang="en-US" altLang="zh-CN" sz="2200" b="1"/>
              <a:t>/*</a:t>
            </a:r>
            <a:r>
              <a:rPr lang="zh-CN" altLang="en-US" sz="2200" b="1"/>
              <a:t>在表级定义参照完整性*</a:t>
            </a:r>
            <a:r>
              <a:rPr lang="en-US" altLang="zh-CN" sz="2200" b="1"/>
              <a:t>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  </a:t>
            </a:r>
            <a:r>
              <a:rPr lang="en-US" altLang="zh-CN" sz="2200" b="1">
                <a:solidFill>
                  <a:srgbClr val="72BE2C"/>
                </a:solidFill>
              </a:rPr>
              <a:t>FOREIGN KEY (Cno) REFERENCES Course(Cno)</a:t>
            </a:r>
            <a:r>
              <a:rPr lang="en-US" altLang="zh-CN" sz="2200" b="1"/>
              <a:t> 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  /*</a:t>
            </a:r>
            <a:r>
              <a:rPr lang="zh-CN" altLang="en-US" sz="2200" b="1"/>
              <a:t>在表级定义参照完整性*</a:t>
            </a:r>
            <a:r>
              <a:rPr lang="en-US" altLang="zh-CN" sz="2200" b="1"/>
              <a:t>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F45CB-866D-4B3C-8EE1-D33F02DB28D8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 </a:t>
            </a:r>
            <a:r>
              <a:rPr lang="zh-CN" altLang="en-US" dirty="0"/>
              <a:t>参照完整性</a:t>
            </a:r>
          </a:p>
        </p:txBody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90000"/>
              </a:lnSpc>
            </a:pPr>
            <a:r>
              <a:rPr lang="en-US" altLang="zh-CN" b="1" dirty="0"/>
              <a:t>5.2.1 </a:t>
            </a:r>
            <a:r>
              <a:rPr lang="zh-CN" altLang="en-US" b="1" dirty="0"/>
              <a:t>参照完整性定义</a:t>
            </a:r>
          </a:p>
          <a:p>
            <a:pPr>
              <a:lnSpc>
                <a:spcPct val="190000"/>
              </a:lnSpc>
            </a:pPr>
            <a:r>
              <a:rPr lang="en-US" altLang="zh-CN" b="1" dirty="0">
                <a:solidFill>
                  <a:srgbClr val="3333FF"/>
                </a:solidFill>
              </a:rPr>
              <a:t>5.2.2 </a:t>
            </a:r>
            <a:r>
              <a:rPr lang="zh-CN" altLang="en-US" b="1" dirty="0">
                <a:solidFill>
                  <a:srgbClr val="3333FF"/>
                </a:solidFill>
              </a:rPr>
              <a:t>参照完整性检查和违约处理</a:t>
            </a:r>
          </a:p>
          <a:p>
            <a:endParaRPr lang="en-US" altLang="zh-CN" b="1" dirty="0">
              <a:solidFill>
                <a:srgbClr val="3333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D589-80BF-433D-A231-AB2AEAB64588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参照完整性检查和违约处理</a:t>
            </a:r>
          </a:p>
        </p:txBody>
      </p:sp>
      <p:sp>
        <p:nvSpPr>
          <p:cNvPr id="441352" name="Rectangle 8"/>
          <p:cNvSpPr>
            <a:spLocks noChangeArrowheads="1"/>
          </p:cNvSpPr>
          <p:nvPr/>
        </p:nvSpPr>
        <p:spPr bwMode="auto">
          <a:xfrm>
            <a:off x="2298700" y="1700213"/>
            <a:ext cx="450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000">
                <a:ea typeface="黑体" panose="02010609060101010101" pitchFamily="49" charset="-122"/>
                <a:cs typeface="Times New Roman" panose="02020603050405020304" pitchFamily="18" charset="0"/>
              </a:rPr>
              <a:t>可能破坏参照完整性的情况及违约处理</a:t>
            </a:r>
          </a:p>
        </p:txBody>
      </p:sp>
      <p:sp>
        <p:nvSpPr>
          <p:cNvPr id="441356" name="Rectangle 12"/>
          <p:cNvSpPr>
            <a:spLocks noChangeArrowheads="1"/>
          </p:cNvSpPr>
          <p:nvPr/>
        </p:nvSpPr>
        <p:spPr bwMode="auto">
          <a:xfrm>
            <a:off x="1619250" y="2676525"/>
            <a:ext cx="1498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41360" name="Rectangle 16"/>
          <p:cNvSpPr>
            <a:spLocks noChangeArrowheads="1"/>
          </p:cNvSpPr>
          <p:nvPr/>
        </p:nvSpPr>
        <p:spPr bwMode="auto">
          <a:xfrm>
            <a:off x="1619250" y="2676525"/>
            <a:ext cx="1498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41364" name="Rectangle 20"/>
          <p:cNvSpPr>
            <a:spLocks noChangeArrowheads="1"/>
          </p:cNvSpPr>
          <p:nvPr/>
        </p:nvSpPr>
        <p:spPr bwMode="auto">
          <a:xfrm>
            <a:off x="1619250" y="2676525"/>
            <a:ext cx="1498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41368" name="Rectangle 24"/>
          <p:cNvSpPr>
            <a:spLocks noChangeArrowheads="1"/>
          </p:cNvSpPr>
          <p:nvPr/>
        </p:nvSpPr>
        <p:spPr bwMode="auto">
          <a:xfrm>
            <a:off x="1619250" y="2676525"/>
            <a:ext cx="1498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aphicFrame>
        <p:nvGraphicFramePr>
          <p:cNvPr id="441476" name="Group 132"/>
          <p:cNvGraphicFramePr>
            <a:graphicFrameLocks noGrp="1"/>
          </p:cNvGraphicFramePr>
          <p:nvPr/>
        </p:nvGraphicFramePr>
        <p:xfrm>
          <a:off x="468313" y="2349500"/>
          <a:ext cx="8280400" cy="3600452"/>
        </p:xfrm>
        <a:graphic>
          <a:graphicData uri="http://schemas.openxmlformats.org/drawingml/2006/table">
            <a:tbl>
              <a:tblPr/>
              <a:tblGrid>
                <a:gridCol w="278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74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被参照表（例如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Student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参照表（例如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违约处理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可能破坏参照完整性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插入元组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拒绝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可能破坏参照完整性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修改外码值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拒绝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1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删除元组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可能破坏参照完整性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拒绝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级连删除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设置为空值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修改主码值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可能破坏参照完整性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拒绝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级连修改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设置为空值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1468" name="Line 124"/>
          <p:cNvSpPr>
            <a:spLocks noChangeShapeType="1"/>
          </p:cNvSpPr>
          <p:nvPr/>
        </p:nvSpPr>
        <p:spPr bwMode="auto">
          <a:xfrm flipH="1">
            <a:off x="2843213" y="3429000"/>
            <a:ext cx="5762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469" name="Line 125"/>
          <p:cNvSpPr>
            <a:spLocks noChangeShapeType="1"/>
          </p:cNvSpPr>
          <p:nvPr/>
        </p:nvSpPr>
        <p:spPr bwMode="auto">
          <a:xfrm flipH="1">
            <a:off x="2843213" y="4076700"/>
            <a:ext cx="649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470" name="Line 126"/>
          <p:cNvSpPr>
            <a:spLocks noChangeShapeType="1"/>
          </p:cNvSpPr>
          <p:nvPr/>
        </p:nvSpPr>
        <p:spPr bwMode="auto">
          <a:xfrm>
            <a:off x="2843213" y="4724400"/>
            <a:ext cx="649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471" name="Line 127"/>
          <p:cNvSpPr>
            <a:spLocks noChangeShapeType="1"/>
          </p:cNvSpPr>
          <p:nvPr/>
        </p:nvSpPr>
        <p:spPr bwMode="auto">
          <a:xfrm>
            <a:off x="2844800" y="5516563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FDD9-D693-4665-9632-492FBB06FA72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违约处理</a:t>
            </a:r>
          </a:p>
        </p:txBody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3976464"/>
          </a:xfrm>
        </p:spPr>
        <p:txBody>
          <a:bodyPr/>
          <a:lstStyle/>
          <a:p>
            <a:r>
              <a:rPr lang="zh-CN" altLang="en-US" sz="2400" dirty="0"/>
              <a:t>参照完整性违约处理</a:t>
            </a:r>
          </a:p>
          <a:p>
            <a:endParaRPr lang="zh-CN" altLang="en-US" sz="1000" dirty="0"/>
          </a:p>
          <a:p>
            <a:pPr lvl="1"/>
            <a:r>
              <a:rPr lang="en-US" altLang="zh-CN" sz="2200" dirty="0"/>
              <a:t>1. </a:t>
            </a:r>
            <a:r>
              <a:rPr lang="zh-CN" altLang="en-US" sz="2200" dirty="0"/>
              <a:t>拒绝</a:t>
            </a:r>
            <a:r>
              <a:rPr lang="en-US" altLang="zh-CN" sz="2200" dirty="0"/>
              <a:t>(NO ACTION)</a:t>
            </a:r>
            <a:r>
              <a:rPr lang="zh-CN" altLang="en-US" sz="2200" dirty="0"/>
              <a:t>执行</a:t>
            </a:r>
          </a:p>
          <a:p>
            <a:pPr lvl="2"/>
            <a:r>
              <a:rPr lang="zh-CN" altLang="en-US" sz="2000" dirty="0"/>
              <a:t>默认策略</a:t>
            </a:r>
          </a:p>
          <a:p>
            <a:pPr lvl="1"/>
            <a:endParaRPr lang="zh-CN" altLang="en-US" sz="800" b="1" dirty="0"/>
          </a:p>
          <a:p>
            <a:pPr lvl="1"/>
            <a:r>
              <a:rPr lang="en-US" altLang="zh-CN" sz="2200" dirty="0"/>
              <a:t>2. </a:t>
            </a:r>
            <a:r>
              <a:rPr lang="zh-CN" altLang="en-US" sz="2200" dirty="0"/>
              <a:t>级联</a:t>
            </a:r>
            <a:r>
              <a:rPr lang="en-US" altLang="zh-CN" sz="2200" dirty="0"/>
              <a:t>(CASCADE)</a:t>
            </a:r>
            <a:r>
              <a:rPr lang="zh-CN" altLang="en-US" sz="2200" dirty="0"/>
              <a:t>操作</a:t>
            </a:r>
          </a:p>
          <a:p>
            <a:pPr lvl="1"/>
            <a:endParaRPr lang="zh-CN" altLang="en-US" sz="800" dirty="0"/>
          </a:p>
          <a:p>
            <a:pPr lvl="1"/>
            <a:r>
              <a:rPr lang="en-US" altLang="zh-CN" sz="2200" dirty="0"/>
              <a:t>3. </a:t>
            </a:r>
            <a:r>
              <a:rPr lang="zh-CN" altLang="en-US" sz="2200" dirty="0"/>
              <a:t>设置为空值（</a:t>
            </a:r>
            <a:r>
              <a:rPr lang="en-US" altLang="zh-CN" sz="2200" dirty="0"/>
              <a:t>SET-NULL</a:t>
            </a:r>
            <a:r>
              <a:rPr lang="zh-CN" altLang="en-US" sz="2200" dirty="0"/>
              <a:t>）</a:t>
            </a:r>
          </a:p>
          <a:p>
            <a:pPr lvl="2"/>
            <a:r>
              <a:rPr lang="zh-CN" altLang="en-US" sz="2000" dirty="0"/>
              <a:t>对于参照完整性，除了应该定义外码，还应定义</a:t>
            </a:r>
            <a:r>
              <a:rPr lang="zh-CN" altLang="en-US" sz="2000" dirty="0">
                <a:solidFill>
                  <a:srgbClr val="FF00FF"/>
                </a:solidFill>
              </a:rPr>
              <a:t>外码列是否允许空值</a:t>
            </a:r>
            <a:endParaRPr lang="en-US" altLang="zh-CN" sz="2000" dirty="0">
              <a:solidFill>
                <a:srgbClr val="FF00FF"/>
              </a:solidFill>
            </a:endParaRPr>
          </a:p>
          <a:p>
            <a:pPr marL="914400" lvl="2" indent="0">
              <a:buNone/>
            </a:pPr>
            <a:r>
              <a:rPr lang="zh-CN" altLang="en-US" sz="1800" dirty="0"/>
              <a:t>如 学生（</a:t>
            </a:r>
            <a:r>
              <a:rPr lang="zh-CN" altLang="en-US" sz="1800" u="sng" dirty="0"/>
              <a:t>学号</a:t>
            </a:r>
            <a:r>
              <a:rPr lang="zh-CN" altLang="en-US" sz="1800" dirty="0"/>
              <a:t>，姓名，性别，专业号，年龄）</a:t>
            </a:r>
            <a:endParaRPr lang="en-US" altLang="zh-CN" sz="1800" dirty="0"/>
          </a:p>
          <a:p>
            <a:pPr marL="914400" lvl="2" indent="0">
              <a:buNone/>
            </a:pPr>
            <a:r>
              <a:rPr lang="en-US" altLang="zh-CN" sz="1800" dirty="0"/>
              <a:t>      </a:t>
            </a:r>
            <a:r>
              <a:rPr lang="zh-CN" altLang="en-US" sz="1800" dirty="0"/>
              <a:t>专业（</a:t>
            </a:r>
            <a:r>
              <a:rPr lang="zh-CN" altLang="en-US" sz="1800" u="sng" dirty="0"/>
              <a:t>专业号</a:t>
            </a:r>
            <a:r>
              <a:rPr lang="zh-CN" altLang="en-US" sz="1800" dirty="0"/>
              <a:t>，专业名）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55DA9-48BD-4691-B9DC-69421DA79D32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违约处理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4911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1800" b="1" dirty="0"/>
              <a:t>［例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］  显式说明参照完整性的违约处理示例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b="1" dirty="0"/>
              <a:t>    </a:t>
            </a:r>
            <a:r>
              <a:rPr lang="en-US" altLang="zh-CN" sz="1800" b="1" dirty="0"/>
              <a:t>CREATE TABLE SC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dirty="0"/>
              <a:t>        (</a:t>
            </a:r>
            <a:r>
              <a:rPr lang="en-US" altLang="zh-CN" sz="1800" b="1" dirty="0" err="1"/>
              <a:t>Sno</a:t>
            </a:r>
            <a:r>
              <a:rPr lang="en-US" altLang="zh-CN" sz="1800" b="1" dirty="0"/>
              <a:t>   CHAR(9)  NOT NULL</a:t>
            </a:r>
            <a:r>
              <a:rPr lang="zh-CN" altLang="en-US" sz="1800" b="1" dirty="0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b="1" dirty="0"/>
              <a:t>         </a:t>
            </a:r>
            <a:r>
              <a:rPr lang="en-US" altLang="zh-CN" sz="1800" b="1" dirty="0" err="1"/>
              <a:t>Cno</a:t>
            </a:r>
            <a:r>
              <a:rPr lang="en-US" altLang="zh-CN" sz="1800" b="1" dirty="0"/>
              <a:t>   CHAR(4)  NOT NULL</a:t>
            </a:r>
            <a:r>
              <a:rPr lang="zh-CN" altLang="en-US" sz="1800" b="1" dirty="0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b="1" dirty="0"/>
              <a:t>         </a:t>
            </a:r>
            <a:r>
              <a:rPr lang="en-US" altLang="zh-CN" sz="1800" b="1" dirty="0"/>
              <a:t>Grade  SMALLINT</a:t>
            </a:r>
            <a:r>
              <a:rPr lang="zh-CN" altLang="en-US" sz="1800" b="1" dirty="0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b="1" dirty="0"/>
              <a:t>         </a:t>
            </a:r>
            <a:r>
              <a:rPr lang="en-US" altLang="zh-CN" sz="1800" b="1" dirty="0"/>
              <a:t>PRIMARY KEY</a:t>
            </a:r>
            <a:r>
              <a:rPr lang="zh-CN" altLang="en-US" sz="1800" b="1" dirty="0"/>
              <a:t>（</a:t>
            </a:r>
            <a:r>
              <a:rPr lang="en-US" altLang="zh-CN" sz="1800" b="1" dirty="0" err="1"/>
              <a:t>Sno</a:t>
            </a:r>
            <a:r>
              <a:rPr lang="zh-CN" altLang="en-US" sz="1800" b="1" dirty="0"/>
              <a:t>，</a:t>
            </a:r>
            <a:r>
              <a:rPr lang="en-US" altLang="zh-CN" sz="1800" b="1" dirty="0" err="1"/>
              <a:t>Cno</a:t>
            </a:r>
            <a:r>
              <a:rPr lang="zh-CN" altLang="en-US" sz="1800" b="1" dirty="0"/>
              <a:t>）， 				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b="1" dirty="0"/>
              <a:t>         </a:t>
            </a:r>
            <a:r>
              <a:rPr lang="en-US" altLang="zh-CN" sz="1800" b="1" dirty="0"/>
              <a:t>FOREIGN KEY (</a:t>
            </a:r>
            <a:r>
              <a:rPr lang="en-US" altLang="zh-CN" sz="1800" b="1" dirty="0" err="1"/>
              <a:t>Sno</a:t>
            </a:r>
            <a:r>
              <a:rPr lang="en-US" altLang="zh-CN" sz="1800" b="1" dirty="0"/>
              <a:t>) REFERENCES Student(</a:t>
            </a:r>
            <a:r>
              <a:rPr lang="en-US" altLang="zh-CN" sz="1800" b="1" dirty="0" err="1"/>
              <a:t>Sno</a:t>
            </a:r>
            <a:r>
              <a:rPr lang="en-US" altLang="zh-CN" sz="1800" b="1" dirty="0"/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dirty="0"/>
              <a:t>		ON DELETE CASCADE     /*</a:t>
            </a:r>
            <a:r>
              <a:rPr lang="zh-CN" altLang="en-US" sz="1800" b="1" dirty="0"/>
              <a:t>当删除</a:t>
            </a:r>
            <a:r>
              <a:rPr lang="en-US" altLang="zh-CN" sz="1800" b="1" dirty="0"/>
              <a:t>student</a:t>
            </a:r>
            <a:r>
              <a:rPr lang="zh-CN" altLang="en-US" sz="1800" b="1" dirty="0"/>
              <a:t>表中的元组时，</a:t>
            </a:r>
            <a:r>
              <a:rPr lang="zh-CN" altLang="en-US" sz="1800" b="1" dirty="0">
                <a:solidFill>
                  <a:srgbClr val="FF00FF"/>
                </a:solidFill>
              </a:rPr>
              <a:t>级联删除</a:t>
            </a:r>
            <a:r>
              <a:rPr lang="en-US" altLang="zh-CN" sz="1800" b="1" dirty="0"/>
              <a:t>SC</a:t>
            </a:r>
            <a:r>
              <a:rPr lang="zh-CN" altLang="en-US" sz="1800" b="1" dirty="0"/>
              <a:t>表中相应的元组*</a:t>
            </a:r>
            <a:r>
              <a:rPr lang="en-US" altLang="zh-CN" sz="1800" b="1" dirty="0"/>
              <a:t>/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dirty="0"/>
              <a:t>                ON UPDATE CASCADE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/*</a:t>
            </a:r>
            <a:r>
              <a:rPr lang="zh-CN" altLang="en-US" sz="1800" b="1" dirty="0">
                <a:solidFill>
                  <a:srgbClr val="FF00FF"/>
                </a:solidFill>
              </a:rPr>
              <a:t>级联更新</a:t>
            </a:r>
            <a:r>
              <a:rPr lang="en-US" altLang="zh-CN" sz="1800" b="1" dirty="0"/>
              <a:t>SC</a:t>
            </a:r>
            <a:r>
              <a:rPr lang="zh-CN" altLang="en-US" sz="1800" b="1" dirty="0"/>
              <a:t>表中相应的元组*</a:t>
            </a:r>
            <a:r>
              <a:rPr lang="en-US" altLang="zh-CN" sz="1800" b="1" dirty="0"/>
              <a:t>/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dirty="0"/>
              <a:t>         FOREIGN KEY (</a:t>
            </a:r>
            <a:r>
              <a:rPr lang="en-US" altLang="zh-CN" sz="1800" b="1" dirty="0" err="1"/>
              <a:t>Cno</a:t>
            </a:r>
            <a:r>
              <a:rPr lang="en-US" altLang="zh-CN" sz="1800" b="1" dirty="0"/>
              <a:t>) REFERENCES Course(</a:t>
            </a:r>
            <a:r>
              <a:rPr lang="en-US" altLang="zh-CN" sz="1800" b="1" dirty="0" err="1"/>
              <a:t>Cno</a:t>
            </a:r>
            <a:r>
              <a:rPr lang="en-US" altLang="zh-CN" sz="1800" b="1" dirty="0"/>
              <a:t>) 	         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dirty="0"/>
              <a:t>               ON DELETE NO ACTION 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dirty="0"/>
              <a:t>               /*</a:t>
            </a:r>
            <a:r>
              <a:rPr lang="zh-CN" altLang="en-US" sz="1800" b="1" dirty="0"/>
              <a:t>当删除</a:t>
            </a:r>
            <a:r>
              <a:rPr lang="en-US" altLang="zh-CN" sz="1800" b="1" dirty="0"/>
              <a:t>course </a:t>
            </a:r>
            <a:r>
              <a:rPr lang="zh-CN" altLang="en-US" sz="1800" b="1" dirty="0"/>
              <a:t>表中的元组造成了与</a:t>
            </a:r>
            <a:r>
              <a:rPr lang="en-US" altLang="zh-CN" sz="1800" b="1" dirty="0"/>
              <a:t>SC</a:t>
            </a:r>
            <a:r>
              <a:rPr lang="zh-CN" altLang="en-US" sz="1800" b="1" dirty="0"/>
              <a:t>表不一致时</a:t>
            </a:r>
            <a:r>
              <a:rPr lang="zh-CN" altLang="en-US" sz="1800" b="1" dirty="0">
                <a:solidFill>
                  <a:srgbClr val="FF00FF"/>
                </a:solidFill>
              </a:rPr>
              <a:t>拒绝删除</a:t>
            </a:r>
            <a:r>
              <a:rPr lang="zh-CN" altLang="en-US" sz="1800" b="1" dirty="0"/>
              <a:t>*</a:t>
            </a:r>
            <a:r>
              <a:rPr lang="en-US" altLang="zh-CN" sz="1800" b="1" dirty="0"/>
              <a:t>/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dirty="0"/>
              <a:t>               ON UPDATE CASCADE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dirty="0"/>
              <a:t>      	/*</a:t>
            </a:r>
            <a:r>
              <a:rPr lang="zh-CN" altLang="en-US" sz="1800" b="1" dirty="0"/>
              <a:t>当更新</a:t>
            </a:r>
            <a:r>
              <a:rPr lang="en-US" altLang="zh-CN" sz="1800" b="1" dirty="0"/>
              <a:t>course</a:t>
            </a:r>
            <a:r>
              <a:rPr lang="zh-CN" altLang="en-US" sz="1800" b="1" dirty="0"/>
              <a:t>表中的</a:t>
            </a:r>
            <a:r>
              <a:rPr lang="en-US" altLang="zh-CN" sz="1800" b="1" dirty="0" err="1"/>
              <a:t>cno</a:t>
            </a:r>
            <a:r>
              <a:rPr lang="zh-CN" altLang="en-US" sz="1800" b="1" dirty="0"/>
              <a:t>时，</a:t>
            </a:r>
            <a:r>
              <a:rPr lang="zh-CN" altLang="en-US" sz="1800" b="1" dirty="0">
                <a:solidFill>
                  <a:srgbClr val="FF00FF"/>
                </a:solidFill>
              </a:rPr>
              <a:t>级联更新</a:t>
            </a:r>
            <a:r>
              <a:rPr lang="en-US" altLang="zh-CN" sz="1800" b="1" dirty="0"/>
              <a:t>SC</a:t>
            </a:r>
            <a:r>
              <a:rPr lang="zh-CN" altLang="en-US" sz="1800" b="1" dirty="0"/>
              <a:t>表中相应的元组*</a:t>
            </a:r>
            <a:r>
              <a:rPr lang="en-US" altLang="zh-CN" sz="1800" b="1" dirty="0"/>
              <a:t>/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dirty="0"/>
              <a:t>        )</a:t>
            </a:r>
            <a:r>
              <a:rPr lang="zh-CN" altLang="en-US" sz="1800" b="1" dirty="0"/>
              <a:t>；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800" b="1" dirty="0"/>
              <a:t>显式说明参照完整性</a:t>
            </a:r>
            <a:endParaRPr lang="zh-CN" altLang="en-US" sz="28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583507"/>
            <a:ext cx="8363272" cy="3943350"/>
          </a:xfrm>
        </p:spPr>
        <p:txBody>
          <a:bodyPr/>
          <a:lstStyle/>
          <a:p>
            <a:r>
              <a:rPr lang="zh-CN" altLang="en-US" sz="2400" dirty="0"/>
              <a:t>例：</a:t>
            </a:r>
            <a:r>
              <a:rPr lang="zh-CN" altLang="en-US" sz="2400" dirty="0">
                <a:latin typeface="Times New Roman" panose="02020603050405020304" pitchFamily="18" charset="0"/>
              </a:rPr>
              <a:t>建立</a:t>
            </a:r>
            <a:r>
              <a:rPr lang="pt-BR" altLang="en-US" sz="2400" dirty="0">
                <a:latin typeface="Times New Roman" panose="02020603050405020304" pitchFamily="18" charset="0"/>
              </a:rPr>
              <a:t>employee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pt-BR" altLang="en-US" sz="2400" dirty="0">
                <a:latin typeface="Times New Roman" panose="02020603050405020304" pitchFamily="18" charset="0"/>
              </a:rPr>
              <a:t>department</a:t>
            </a:r>
            <a:r>
              <a:rPr lang="zh-CN" altLang="en-US" sz="2400" dirty="0">
                <a:latin typeface="Times New Roman" panose="02020603050405020304" pitchFamily="18" charset="0"/>
              </a:rPr>
              <a:t>表，实现两表间的外键约束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1619672" y="2088882"/>
            <a:ext cx="6552136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department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deptno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5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PRIMARY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KEY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dept_name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16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7" name="矩形 6"/>
          <p:cNvSpPr/>
          <p:nvPr/>
        </p:nvSpPr>
        <p:spPr>
          <a:xfrm>
            <a:off x="1522620" y="3400580"/>
            <a:ext cx="6746239" cy="258532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dirty="0">
                <a:solidFill>
                  <a:srgbClr val="FF00FF"/>
                </a:solidFill>
                <a:latin typeface="Courier New" panose="02070309020205020404" pitchFamily="49" charset="0"/>
              </a:rPr>
              <a:t>employee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empno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5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PRIMARY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KEY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name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10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age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3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deptno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5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CONSTRAINT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FK_ID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FOREIGN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KEY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deptno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REFERENCES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department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deptno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ON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UPDATE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CASCADE</a:t>
            </a:r>
          </a:p>
          <a:p>
            <a:pPr algn="l"/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2603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删除</a:t>
            </a:r>
            <a:r>
              <a:rPr lang="en-US" altLang="zh-CN" sz="2400" dirty="0"/>
              <a:t>employee</a:t>
            </a:r>
            <a:r>
              <a:rPr lang="zh-CN" altLang="en-US" sz="2400" dirty="0"/>
              <a:t>表上的</a:t>
            </a:r>
            <a:r>
              <a:rPr lang="en-US" altLang="zh-CN" sz="2400" dirty="0"/>
              <a:t>FK_ID</a:t>
            </a:r>
            <a:r>
              <a:rPr lang="zh-CN" altLang="en-US" sz="2400" dirty="0"/>
              <a:t>约束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sz="2400" dirty="0"/>
              <a:t>为</a:t>
            </a:r>
            <a:r>
              <a:rPr lang="en-US" altLang="zh-CN" sz="2400" dirty="0"/>
              <a:t>employee</a:t>
            </a:r>
            <a:r>
              <a:rPr lang="zh-CN" altLang="en-US" sz="2400" dirty="0"/>
              <a:t>表和</a:t>
            </a:r>
            <a:r>
              <a:rPr lang="en-US" altLang="zh-CN" sz="2400" dirty="0"/>
              <a:t>department</a:t>
            </a:r>
            <a:r>
              <a:rPr lang="zh-CN" altLang="en-US" sz="2400" dirty="0"/>
              <a:t>表设置外键约束，并指定为级联删除</a:t>
            </a:r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286000" y="2346715"/>
            <a:ext cx="45720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FF00FF"/>
                </a:solidFill>
                <a:latin typeface="Courier New" panose="02070309020205020404" pitchFamily="49" charset="0"/>
              </a:rPr>
              <a:t>employee</a:t>
            </a:r>
          </a:p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DROP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CONSTRAINT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FK_ID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7" name="矩形 6"/>
          <p:cNvSpPr/>
          <p:nvPr/>
        </p:nvSpPr>
        <p:spPr>
          <a:xfrm>
            <a:off x="1547664" y="4103898"/>
            <a:ext cx="7294533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FF00FF"/>
                </a:solidFill>
                <a:latin typeface="Courier New" panose="02070309020205020404" pitchFamily="49" charset="0"/>
              </a:rPr>
              <a:t>employee</a:t>
            </a:r>
          </a:p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ADD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CONSTRAINT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FK_ID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FOREIGN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KEY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deptno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REFERENCES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FF00FF"/>
                </a:solidFill>
                <a:latin typeface="Courier New" panose="02070309020205020404" pitchFamily="49" charset="0"/>
              </a:rPr>
              <a:t>department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deptno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ON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DELETE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CASCADE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E9E15E2-EC72-4E5D-82E0-D5028D21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5220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22ED-8A3E-4659-ADE2-70AD9229E6F7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数据库完整性</a:t>
            </a:r>
          </a:p>
        </p:txBody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844675"/>
            <a:ext cx="7786688" cy="4495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5.1  </a:t>
            </a:r>
            <a:r>
              <a:rPr lang="zh-CN" altLang="en-US" b="1" dirty="0"/>
              <a:t>实体完整性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5.2  </a:t>
            </a:r>
            <a:r>
              <a:rPr lang="zh-CN" altLang="en-US" b="1" dirty="0"/>
              <a:t>参照完整性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5.3  </a:t>
            </a:r>
            <a:r>
              <a:rPr lang="zh-CN" altLang="en-US" b="1" dirty="0">
                <a:solidFill>
                  <a:schemeClr val="tx2"/>
                </a:solidFill>
              </a:rPr>
              <a:t>用户定义的完整性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5.4  </a:t>
            </a:r>
            <a:r>
              <a:rPr lang="zh-CN" altLang="en-US" b="1" dirty="0"/>
              <a:t>完整性约束命名字句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5.5  </a:t>
            </a:r>
            <a:r>
              <a:rPr lang="zh-CN" altLang="en-US" b="1" dirty="0"/>
              <a:t>域中的完整性限制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5.6  </a:t>
            </a:r>
            <a:r>
              <a:rPr lang="zh-CN" altLang="en-US" b="1" dirty="0"/>
              <a:t>触发器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5.7  </a:t>
            </a:r>
            <a:r>
              <a:rPr lang="zh-CN" altLang="en-US" b="1" dirty="0"/>
              <a:t>小结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B3D7-1A84-406E-BD09-CBE19917C391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692696"/>
            <a:ext cx="7391400" cy="563563"/>
          </a:xfrm>
        </p:spPr>
        <p:txBody>
          <a:bodyPr/>
          <a:lstStyle/>
          <a:p>
            <a:r>
              <a:rPr lang="en-US" altLang="zh-CN" dirty="0"/>
              <a:t>5.3  </a:t>
            </a:r>
            <a:r>
              <a:rPr lang="zh-CN" altLang="en-US" dirty="0"/>
              <a:t>用户定义的完整性</a:t>
            </a:r>
          </a:p>
        </p:txBody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70000"/>
              </a:lnSpc>
            </a:pPr>
            <a:r>
              <a:rPr lang="zh-CN" altLang="en-US"/>
              <a:t>用户定义的完整性就是针对</a:t>
            </a:r>
            <a:r>
              <a:rPr lang="zh-CN" altLang="en-US">
                <a:solidFill>
                  <a:srgbClr val="FF00FF"/>
                </a:solidFill>
              </a:rPr>
              <a:t>某一具体应用</a:t>
            </a:r>
            <a:r>
              <a:rPr lang="zh-CN" altLang="en-US"/>
              <a:t>的数据必须满足的语义要求 </a:t>
            </a:r>
          </a:p>
          <a:p>
            <a:pPr>
              <a:lnSpc>
                <a:spcPct val="170000"/>
              </a:lnSpc>
            </a:pPr>
            <a:r>
              <a:rPr lang="en-US" altLang="zh-CN"/>
              <a:t>RDBMS</a:t>
            </a:r>
            <a:r>
              <a:rPr lang="zh-CN" altLang="en-US"/>
              <a:t>提供，而不必由应用程序承担</a:t>
            </a:r>
            <a:endParaRPr lang="zh-CN" altLang="en-US" sz="3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56DB1-3ED9-49D2-8066-74DCBB7E23BD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 </a:t>
            </a:r>
            <a:r>
              <a:rPr lang="zh-CN" altLang="en-US" dirty="0"/>
              <a:t>用户定义的完整性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90000"/>
              </a:lnSpc>
            </a:pPr>
            <a:r>
              <a:rPr lang="en-US" altLang="zh-CN" b="1" dirty="0">
                <a:solidFill>
                  <a:srgbClr val="3333FF"/>
                </a:solidFill>
              </a:rPr>
              <a:t>5.3.1 </a:t>
            </a:r>
            <a:r>
              <a:rPr lang="zh-CN" altLang="en-US" b="1" dirty="0">
                <a:solidFill>
                  <a:srgbClr val="3333FF"/>
                </a:solidFill>
              </a:rPr>
              <a:t>属性上的约束条件的定义</a:t>
            </a:r>
          </a:p>
          <a:p>
            <a:pPr>
              <a:lnSpc>
                <a:spcPct val="190000"/>
              </a:lnSpc>
            </a:pPr>
            <a:r>
              <a:rPr lang="en-US" altLang="zh-CN" b="1" dirty="0"/>
              <a:t>5.3.2 </a:t>
            </a:r>
            <a:r>
              <a:rPr lang="zh-CN" altLang="en-US" b="1" dirty="0"/>
              <a:t>属性上的约束条件检查和违约处理 </a:t>
            </a:r>
          </a:p>
          <a:p>
            <a:pPr>
              <a:lnSpc>
                <a:spcPct val="190000"/>
              </a:lnSpc>
            </a:pPr>
            <a:r>
              <a:rPr lang="en-US" altLang="zh-CN" b="1" dirty="0"/>
              <a:t>5.3.3 </a:t>
            </a:r>
            <a:r>
              <a:rPr lang="zh-CN" altLang="en-US" b="1" dirty="0"/>
              <a:t>元组上的约束条件的定义 </a:t>
            </a:r>
          </a:p>
          <a:p>
            <a:pPr>
              <a:lnSpc>
                <a:spcPct val="190000"/>
              </a:lnSpc>
            </a:pPr>
            <a:r>
              <a:rPr lang="en-US" altLang="zh-CN" b="1" dirty="0"/>
              <a:t>5.3.4</a:t>
            </a:r>
            <a:r>
              <a:rPr lang="zh-CN" altLang="en-US" b="1" dirty="0"/>
              <a:t>元组上的约束条件检查和违约处理</a:t>
            </a:r>
            <a:endParaRPr lang="zh-CN" altLang="en-US" b="1" dirty="0">
              <a:solidFill>
                <a:srgbClr val="3333FF"/>
              </a:solidFill>
            </a:endParaRPr>
          </a:p>
          <a:p>
            <a:endParaRPr lang="en-US" altLang="zh-CN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7337-EB3B-4436-949C-B815032C0E89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5.3.1 </a:t>
            </a:r>
            <a:r>
              <a:rPr lang="zh-CN" altLang="en-US" dirty="0"/>
              <a:t>属性上的约束条件的定义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/>
              <a:t>CREATE TABLE</a:t>
            </a:r>
            <a:r>
              <a:rPr lang="zh-CN" altLang="en-US"/>
              <a:t>时定义</a:t>
            </a:r>
          </a:p>
          <a:p>
            <a:pPr lvl="1">
              <a:lnSpc>
                <a:spcPct val="150000"/>
              </a:lnSpc>
            </a:pPr>
            <a:r>
              <a:rPr lang="zh-CN" altLang="en-US"/>
              <a:t>列值非空（</a:t>
            </a:r>
            <a:r>
              <a:rPr lang="en-US" altLang="zh-CN"/>
              <a:t>NOT NULL</a:t>
            </a:r>
            <a:r>
              <a:rPr lang="zh-CN" altLang="en-US"/>
              <a:t>）</a:t>
            </a:r>
          </a:p>
          <a:p>
            <a:pPr lvl="1">
              <a:lnSpc>
                <a:spcPct val="150000"/>
              </a:lnSpc>
            </a:pPr>
            <a:r>
              <a:rPr lang="zh-CN" altLang="en-US"/>
              <a:t>列值唯一（</a:t>
            </a:r>
            <a:r>
              <a:rPr lang="en-US" altLang="zh-CN"/>
              <a:t>UNIQUE</a:t>
            </a:r>
            <a:r>
              <a:rPr lang="zh-CN" altLang="en-US"/>
              <a:t>）</a:t>
            </a:r>
          </a:p>
          <a:p>
            <a:pPr lvl="1">
              <a:lnSpc>
                <a:spcPct val="150000"/>
              </a:lnSpc>
            </a:pPr>
            <a:r>
              <a:rPr lang="zh-CN" altLang="en-US"/>
              <a:t>检查列值是否满足一个布尔表达式（</a:t>
            </a:r>
            <a:r>
              <a:rPr lang="en-US" altLang="zh-CN"/>
              <a:t>CHECK</a:t>
            </a:r>
            <a:r>
              <a:rPr lang="zh-CN" altLang="en-US"/>
              <a:t>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B969-E3E7-4DD1-AB27-A87EAD276E19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属性上的约束条件的定义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不允许取空值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90000"/>
              </a:lnSpc>
            </a:pP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［例</a:t>
            </a:r>
            <a:r>
              <a:rPr lang="en-US" altLang="zh-CN" sz="2000" b="1"/>
              <a:t>5</a:t>
            </a:r>
            <a:r>
              <a:rPr lang="zh-CN" altLang="en-US" sz="2000" b="1"/>
              <a:t>］  在定义</a:t>
            </a:r>
            <a:r>
              <a:rPr lang="en-US" altLang="zh-CN" sz="2000" b="1"/>
              <a:t>SC</a:t>
            </a:r>
            <a:r>
              <a:rPr lang="zh-CN" altLang="en-US" sz="2000" b="1"/>
              <a:t>表时，说明</a:t>
            </a:r>
            <a:r>
              <a:rPr lang="en-US" altLang="zh-CN" sz="2000" b="1"/>
              <a:t>Sno</a:t>
            </a:r>
            <a:r>
              <a:rPr lang="zh-CN" altLang="en-US" sz="2000" b="1"/>
              <a:t>、</a:t>
            </a:r>
            <a:r>
              <a:rPr lang="en-US" altLang="zh-CN" sz="2000" b="1"/>
              <a:t>Cno</a:t>
            </a:r>
            <a:r>
              <a:rPr lang="zh-CN" altLang="en-US" sz="2000" b="1"/>
              <a:t>、</a:t>
            </a:r>
            <a:r>
              <a:rPr lang="en-US" altLang="zh-CN" sz="2000" b="1"/>
              <a:t>Grade</a:t>
            </a:r>
            <a:r>
              <a:rPr lang="zh-CN" altLang="en-US" sz="2000" b="1"/>
              <a:t>属性不允许取空值。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</a:t>
            </a:r>
            <a:r>
              <a:rPr lang="en-US" altLang="zh-CN" sz="2000" b="1"/>
              <a:t>CREATE TABLE SC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 </a:t>
            </a:r>
            <a:r>
              <a:rPr lang="zh-CN" altLang="en-US" sz="2000" b="1"/>
              <a:t>（</a:t>
            </a:r>
            <a:r>
              <a:rPr lang="en-US" altLang="zh-CN" sz="2000" b="1"/>
              <a:t>Sno  CHAR(9)  </a:t>
            </a:r>
            <a:r>
              <a:rPr lang="en-US" altLang="zh-CN" sz="2000" b="1">
                <a:solidFill>
                  <a:srgbClr val="FF00FF"/>
                </a:solidFill>
              </a:rPr>
              <a:t>NOT NULL</a:t>
            </a:r>
            <a:r>
              <a:rPr lang="zh-CN" altLang="en-US" sz="2000" b="1"/>
              <a:t>，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  </a:t>
            </a:r>
            <a:r>
              <a:rPr lang="en-US" altLang="zh-CN" sz="2000" b="1"/>
              <a:t>Cno  CHAR(4)  </a:t>
            </a:r>
            <a:r>
              <a:rPr lang="en-US" altLang="zh-CN" sz="2000" b="1">
                <a:solidFill>
                  <a:srgbClr val="FF00FF"/>
                </a:solidFill>
              </a:rPr>
              <a:t>NOT NULL</a:t>
            </a:r>
            <a:r>
              <a:rPr lang="zh-CN" altLang="en-US" sz="2000" b="1"/>
              <a:t>，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  </a:t>
            </a:r>
            <a:r>
              <a:rPr lang="en-US" altLang="zh-CN" sz="2000" b="1"/>
              <a:t>Grade  SMALLINT </a:t>
            </a:r>
            <a:r>
              <a:rPr lang="en-US" altLang="zh-CN" sz="2000" b="1">
                <a:solidFill>
                  <a:srgbClr val="FF00FF"/>
                </a:solidFill>
              </a:rPr>
              <a:t>NOT NULL</a:t>
            </a:r>
            <a:r>
              <a:rPr lang="zh-CN" altLang="en-US" sz="2000" b="1"/>
              <a:t>，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  </a:t>
            </a:r>
            <a:r>
              <a:rPr lang="en-US" altLang="zh-CN" sz="2000" b="1"/>
              <a:t>PRIMARY KEY (Sno</a:t>
            </a:r>
            <a:r>
              <a:rPr lang="zh-CN" altLang="en-US" sz="2000" b="1"/>
              <a:t>， </a:t>
            </a:r>
            <a:r>
              <a:rPr lang="en-US" altLang="zh-CN" sz="2000" b="1"/>
              <a:t>Cno)</a:t>
            </a:r>
            <a:r>
              <a:rPr lang="zh-CN" altLang="en-US" sz="2000" b="1"/>
              <a:t>，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  </a:t>
            </a:r>
            <a:r>
              <a:rPr lang="en-US" altLang="zh-CN" sz="2000" b="1"/>
              <a:t>/* </a:t>
            </a:r>
            <a:r>
              <a:rPr lang="zh-CN" altLang="en-US" sz="2000" b="1"/>
              <a:t>如果在表级定义实体完整性，隐含了</a:t>
            </a:r>
            <a:r>
              <a:rPr lang="en-US" altLang="zh-CN" sz="2000" b="1"/>
              <a:t>Sno</a:t>
            </a:r>
            <a:r>
              <a:rPr lang="zh-CN" altLang="en-US" sz="2000" b="1"/>
              <a:t>，</a:t>
            </a:r>
            <a:r>
              <a:rPr lang="en-US" altLang="zh-CN" sz="2000" b="1"/>
              <a:t>Cno</a:t>
            </a:r>
            <a:r>
              <a:rPr lang="zh-CN" altLang="en-US" sz="2000" b="1"/>
              <a:t>不允许取空值，则在列级不允许取空值的定义就不必写了 * </a:t>
            </a:r>
            <a:r>
              <a:rPr lang="en-US" altLang="zh-CN" sz="2000" b="1"/>
              <a:t>/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   </a:t>
            </a:r>
            <a:r>
              <a:rPr lang="zh-CN" altLang="en-US" sz="2000" b="1"/>
              <a:t>）；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494F-4959-45D5-A8E9-BB4E90EE37AA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属性上的约束条件的定义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列值唯一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90000"/>
              </a:lnSpc>
            </a:pP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［例</a:t>
            </a:r>
            <a:r>
              <a:rPr lang="en-US" altLang="zh-CN" sz="2000" b="1"/>
              <a:t>6</a:t>
            </a:r>
            <a:r>
              <a:rPr lang="zh-CN" altLang="en-US" sz="2000" b="1"/>
              <a:t>］  建立部门表</a:t>
            </a:r>
            <a:r>
              <a:rPr lang="en-US" altLang="zh-CN" sz="2000" b="1"/>
              <a:t>DEPT</a:t>
            </a:r>
            <a:r>
              <a:rPr lang="zh-CN" altLang="en-US" sz="2000" b="1"/>
              <a:t>，要求部门名称</a:t>
            </a:r>
            <a:r>
              <a:rPr lang="en-US" altLang="zh-CN" sz="2000" b="1"/>
              <a:t>Dname</a:t>
            </a:r>
            <a:r>
              <a:rPr lang="zh-CN" altLang="en-US" sz="2000" b="1"/>
              <a:t>列取值唯一，部门编号</a:t>
            </a:r>
            <a:r>
              <a:rPr lang="en-US" altLang="zh-CN" sz="2000" b="1"/>
              <a:t>Deptno</a:t>
            </a:r>
            <a:r>
              <a:rPr lang="zh-CN" altLang="en-US" sz="2000" b="1"/>
              <a:t>列为主码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</a:t>
            </a:r>
            <a:r>
              <a:rPr lang="en-US" altLang="zh-CN" sz="2000" b="1"/>
              <a:t>CREATE TABLE DEPT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   (Deptno  NUMERIC(2)</a:t>
            </a:r>
            <a:r>
              <a:rPr lang="zh-CN" altLang="en-US" sz="2000" b="1"/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  </a:t>
            </a:r>
            <a:r>
              <a:rPr lang="en-US" altLang="zh-CN" sz="2000" b="1"/>
              <a:t>Dname  CHAR(9)  </a:t>
            </a:r>
            <a:r>
              <a:rPr lang="en-US" altLang="zh-CN" sz="2000" b="1">
                <a:solidFill>
                  <a:srgbClr val="FF00FF"/>
                </a:solidFill>
              </a:rPr>
              <a:t>UNIQUE</a:t>
            </a:r>
            <a:r>
              <a:rPr lang="zh-CN" altLang="en-US" sz="2000" b="1"/>
              <a:t>，</a:t>
            </a:r>
            <a:r>
              <a:rPr lang="en-US" altLang="zh-CN" sz="2000" b="1"/>
              <a:t>/*</a:t>
            </a:r>
            <a:r>
              <a:rPr lang="zh-CN" altLang="en-US" sz="2000" b="1"/>
              <a:t>要求</a:t>
            </a:r>
            <a:r>
              <a:rPr lang="en-US" altLang="zh-CN" sz="2000" b="1"/>
              <a:t>Dname</a:t>
            </a:r>
            <a:r>
              <a:rPr lang="zh-CN" altLang="en-US" sz="2000" b="1"/>
              <a:t>列值唯一*</a:t>
            </a:r>
            <a:r>
              <a:rPr lang="en-US" altLang="zh-CN" sz="2000" b="1"/>
              <a:t>/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     Location  CHAR(10)</a:t>
            </a:r>
            <a:r>
              <a:rPr lang="zh-CN" altLang="en-US" sz="2000" b="1"/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  </a:t>
            </a:r>
            <a:r>
              <a:rPr lang="en-US" altLang="zh-CN" sz="2000" b="1"/>
              <a:t>PRIMARY KEY (Deptno)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  )</a:t>
            </a:r>
            <a:r>
              <a:rPr lang="zh-CN" altLang="en-US" sz="2000" b="1"/>
              <a:t>；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EF637-C58B-4924-83F9-E005DE2ACB59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属性上的约束条件的定义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CHECK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短语指定列值应该满足的条件</a:t>
            </a:r>
          </a:p>
          <a:p>
            <a:pPr>
              <a:lnSpc>
                <a:spcPct val="80000"/>
              </a:lnSpc>
            </a:pPr>
            <a:endParaRPr lang="zh-CN" altLang="en-US" sz="2400" b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［例</a:t>
            </a:r>
            <a:r>
              <a:rPr lang="en-US" altLang="zh-CN" sz="2000" b="1" dirty="0"/>
              <a:t>7</a:t>
            </a:r>
            <a:r>
              <a:rPr lang="zh-CN" altLang="en-US" sz="2000" b="1" dirty="0"/>
              <a:t>］  </a:t>
            </a:r>
            <a:r>
              <a:rPr lang="en-US" altLang="zh-CN" sz="2000" b="1" dirty="0"/>
              <a:t>Student</a:t>
            </a:r>
            <a:r>
              <a:rPr lang="zh-CN" altLang="en-US" sz="2000" b="1" dirty="0"/>
              <a:t>表的</a:t>
            </a:r>
            <a:r>
              <a:rPr lang="en-US" altLang="zh-CN" sz="2000" b="1" dirty="0" err="1"/>
              <a:t>Ssex</a:t>
            </a:r>
            <a:r>
              <a:rPr lang="zh-CN" altLang="en-US" sz="2000" b="1" dirty="0"/>
              <a:t>只允许取“男”或“女”。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</a:t>
            </a:r>
            <a:r>
              <a:rPr lang="en-US" altLang="zh-CN" sz="2000" b="1" dirty="0"/>
              <a:t>CREATE TABLE Student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(</a:t>
            </a:r>
            <a:r>
              <a:rPr lang="en-US" altLang="zh-CN" sz="2000" b="1" dirty="0" err="1"/>
              <a:t>Sno</a:t>
            </a:r>
            <a:r>
              <a:rPr lang="en-US" altLang="zh-CN" sz="2000" b="1" dirty="0"/>
              <a:t>  CHAR(9) PRIMARY KEY</a:t>
            </a:r>
            <a:r>
              <a:rPr lang="zh-CN" altLang="en-US" sz="2000" b="1" dirty="0"/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      </a:t>
            </a:r>
            <a:r>
              <a:rPr lang="en-US" altLang="zh-CN" sz="2000" b="1" dirty="0" err="1"/>
              <a:t>Sname</a:t>
            </a:r>
            <a:r>
              <a:rPr lang="en-US" altLang="zh-CN" sz="2000" b="1" dirty="0"/>
              <a:t> CHAR(8) NOT NULL</a:t>
            </a:r>
            <a:r>
              <a:rPr lang="zh-CN" altLang="en-US" sz="2000" b="1" dirty="0"/>
              <a:t>，                    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      </a:t>
            </a:r>
            <a:r>
              <a:rPr lang="en-US" altLang="zh-CN" sz="2000" b="1" dirty="0" err="1"/>
              <a:t>Ssex</a:t>
            </a:r>
            <a:r>
              <a:rPr lang="en-US" altLang="zh-CN" sz="2000" b="1" dirty="0"/>
              <a:t>  CHAR(2)  </a:t>
            </a:r>
            <a:r>
              <a:rPr lang="en-US" altLang="zh-CN" sz="2000" b="1" dirty="0">
                <a:solidFill>
                  <a:srgbClr val="FF00FF"/>
                </a:solidFill>
              </a:rPr>
              <a:t>CHECK (</a:t>
            </a:r>
            <a:r>
              <a:rPr lang="en-US" altLang="zh-CN" sz="2000" b="1" dirty="0" err="1">
                <a:solidFill>
                  <a:srgbClr val="FF00FF"/>
                </a:solidFill>
              </a:rPr>
              <a:t>Ssex</a:t>
            </a:r>
            <a:r>
              <a:rPr lang="en-US" altLang="zh-CN" sz="2000" b="1" dirty="0">
                <a:solidFill>
                  <a:srgbClr val="FF00FF"/>
                </a:solidFill>
              </a:rPr>
              <a:t> =‘</a:t>
            </a:r>
            <a:r>
              <a:rPr lang="zh-CN" altLang="en-US" sz="2000" b="1" dirty="0">
                <a:solidFill>
                  <a:srgbClr val="FF00FF"/>
                </a:solidFill>
              </a:rPr>
              <a:t>男</a:t>
            </a:r>
            <a:r>
              <a:rPr lang="en-US" altLang="zh-CN" sz="2000" b="1" dirty="0">
                <a:solidFill>
                  <a:srgbClr val="FF00FF"/>
                </a:solidFill>
              </a:rPr>
              <a:t>’ OR </a:t>
            </a:r>
            <a:r>
              <a:rPr lang="en-US" altLang="zh-CN" sz="2000" b="1" dirty="0" err="1">
                <a:solidFill>
                  <a:srgbClr val="FF00FF"/>
                </a:solidFill>
              </a:rPr>
              <a:t>Ssex</a:t>
            </a:r>
            <a:r>
              <a:rPr lang="en-US" altLang="zh-CN" sz="2000" b="1" dirty="0">
                <a:solidFill>
                  <a:srgbClr val="FF00FF"/>
                </a:solidFill>
              </a:rPr>
              <a:t>=‘</a:t>
            </a:r>
            <a:r>
              <a:rPr lang="zh-CN" altLang="en-US" sz="2000" b="1" dirty="0">
                <a:solidFill>
                  <a:srgbClr val="FF00FF"/>
                </a:solidFill>
              </a:rPr>
              <a:t>女</a:t>
            </a:r>
            <a:r>
              <a:rPr lang="en-US" altLang="zh-CN" sz="2000" b="1" dirty="0">
                <a:solidFill>
                  <a:srgbClr val="FF00FF"/>
                </a:solidFill>
              </a:rPr>
              <a:t>’ ) )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，               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          </a:t>
            </a:r>
            <a:r>
              <a:rPr lang="en-US" altLang="zh-CN" sz="2000" b="1" dirty="0"/>
              <a:t>/*</a:t>
            </a:r>
            <a:r>
              <a:rPr lang="zh-CN" altLang="en-US" sz="2000" b="1" dirty="0"/>
              <a:t>性别属性</a:t>
            </a:r>
            <a:r>
              <a:rPr lang="en-US" altLang="zh-CN" sz="2000" b="1" dirty="0" err="1"/>
              <a:t>Ssex</a:t>
            </a:r>
            <a:r>
              <a:rPr lang="zh-CN" altLang="en-US" sz="2000" b="1" dirty="0"/>
              <a:t>只允许取</a:t>
            </a:r>
            <a:r>
              <a:rPr lang="en-US" altLang="zh-CN" sz="2000" b="1" dirty="0"/>
              <a:t>'</a:t>
            </a:r>
            <a:r>
              <a:rPr lang="zh-CN" altLang="en-US" sz="2000" b="1" dirty="0"/>
              <a:t>男</a:t>
            </a:r>
            <a:r>
              <a:rPr lang="en-US" altLang="zh-CN" sz="2000" b="1" dirty="0"/>
              <a:t>'</a:t>
            </a:r>
            <a:r>
              <a:rPr lang="zh-CN" altLang="en-US" sz="2000" b="1" dirty="0"/>
              <a:t>或</a:t>
            </a:r>
            <a:r>
              <a:rPr lang="en-US" altLang="zh-CN" sz="2000" b="1" dirty="0"/>
              <a:t>'</a:t>
            </a:r>
            <a:r>
              <a:rPr lang="zh-CN" altLang="en-US" sz="2000" b="1" dirty="0"/>
              <a:t>女</a:t>
            </a:r>
            <a:r>
              <a:rPr lang="en-US" altLang="zh-CN" sz="2000" b="1" dirty="0"/>
              <a:t>' */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Sage  SMALLINT</a:t>
            </a:r>
            <a:r>
              <a:rPr lang="zh-CN" altLang="en-US" sz="2000" b="1" dirty="0"/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      </a:t>
            </a:r>
            <a:r>
              <a:rPr lang="en-US" altLang="zh-CN" sz="2000" b="1" dirty="0" err="1"/>
              <a:t>Sdept</a:t>
            </a:r>
            <a:r>
              <a:rPr lang="en-US" altLang="zh-CN" sz="2000" b="1" dirty="0"/>
              <a:t>  CHAR(20)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);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92836" y="1399003"/>
            <a:ext cx="7567596" cy="2604281"/>
          </a:xfrm>
          <a:prstGeom prst="rect">
            <a:avLst/>
          </a:prstGeom>
        </p:spPr>
        <p:txBody>
          <a:bodyPr vert="horz" wrap="square" lIns="0" tIns="39095" rIns="0" bIns="0" rtlCol="0">
            <a:spAutoFit/>
          </a:bodyPr>
          <a:lstStyle/>
          <a:p>
            <a:pPr marL="10860" algn="l">
              <a:spcBef>
                <a:spcPts val="308"/>
              </a:spcBef>
            </a:pPr>
            <a:r>
              <a:rPr sz="2000" b="1" dirty="0">
                <a:latin typeface="Microsoft YaHei"/>
                <a:cs typeface="Microsoft YaHei"/>
              </a:rPr>
              <a:t>示例</a:t>
            </a:r>
          </a:p>
          <a:p>
            <a:pPr marL="1041452" marR="4344" algn="l">
              <a:lnSpc>
                <a:spcPct val="130300"/>
              </a:lnSpc>
              <a:spcBef>
                <a:spcPts val="86"/>
              </a:spcBef>
            </a:pPr>
            <a:r>
              <a:rPr sz="2000" b="1" spc="-4" dirty="0">
                <a:latin typeface="Arial"/>
                <a:cs typeface="Arial"/>
              </a:rPr>
              <a:t>Create  </a:t>
            </a:r>
            <a:r>
              <a:rPr sz="2000" b="1" dirty="0">
                <a:latin typeface="Arial"/>
                <a:cs typeface="Arial"/>
              </a:rPr>
              <a:t>Table </a:t>
            </a:r>
            <a:r>
              <a:rPr sz="2000" b="1" spc="-4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Course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0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C#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latin typeface="Arial"/>
                <a:cs typeface="Arial"/>
              </a:rPr>
              <a:t>char(3) 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, 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9" dirty="0">
                <a:solidFill>
                  <a:srgbClr val="FF0065"/>
                </a:solidFill>
                <a:latin typeface="Arial"/>
                <a:cs typeface="Arial"/>
              </a:rPr>
              <a:t>Cnam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e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latin typeface="Arial"/>
                <a:cs typeface="Arial"/>
              </a:rPr>
              <a:t>char(12)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,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4" dirty="0" err="1">
                <a:solidFill>
                  <a:srgbClr val="FF0065"/>
                </a:solidFill>
                <a:latin typeface="Arial"/>
                <a:cs typeface="Arial"/>
              </a:rPr>
              <a:t>Chour</a:t>
            </a:r>
            <a:r>
              <a:rPr sz="2000" b="1" dirty="0" err="1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sz="20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integer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,  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Credit </a:t>
            </a:r>
            <a:r>
              <a:rPr sz="2000" b="1" dirty="0">
                <a:latin typeface="Arial"/>
                <a:cs typeface="Arial"/>
              </a:rPr>
              <a:t>float(1) </a:t>
            </a:r>
            <a:r>
              <a:rPr lang="en-US" sz="2000" b="1" dirty="0">
                <a:latin typeface="Arial"/>
                <a:cs typeface="Arial"/>
              </a:rPr>
              <a:t>  </a:t>
            </a:r>
            <a:r>
              <a:rPr sz="20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check (Credit &gt;=0.0</a:t>
            </a:r>
            <a:r>
              <a:rPr sz="2000" b="1" u="sng" spc="376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and</a:t>
            </a:r>
            <a:r>
              <a:rPr lang="en-US" altLang="zh-CN" sz="20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Credit&lt;=5.0 </a:t>
            </a:r>
            <a:r>
              <a:rPr lang="en-US" altLang="zh-CN" sz="2000" b="1" u="sng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)</a:t>
            </a:r>
            <a:r>
              <a:rPr lang="en-US" altLang="zh-CN" sz="2000" b="1" dirty="0">
                <a:solidFill>
                  <a:srgbClr val="FF0065"/>
                </a:solidFill>
                <a:latin typeface="Arial"/>
                <a:cs typeface="Arial"/>
              </a:rPr>
              <a:t>, </a:t>
            </a:r>
            <a:r>
              <a:rPr lang="en-US" altLang="zh-CN" sz="2000" b="1" spc="-4" dirty="0">
                <a:solidFill>
                  <a:srgbClr val="FF0065"/>
                </a:solidFill>
                <a:latin typeface="Arial"/>
                <a:cs typeface="Arial"/>
              </a:rPr>
              <a:t>T# </a:t>
            </a:r>
            <a:r>
              <a:rPr lang="en-US" altLang="zh-CN" sz="2000" b="1" spc="-4" dirty="0">
                <a:latin typeface="Arial"/>
                <a:cs typeface="Arial"/>
              </a:rPr>
              <a:t>char(3) </a:t>
            </a:r>
            <a:r>
              <a:rPr lang="en-US" altLang="zh-CN" sz="20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references Teacher(T#) on</a:t>
            </a:r>
            <a:r>
              <a:rPr lang="en-US" altLang="zh-CN" sz="2000" b="1" u="sng" spc="-68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lang="en-US" altLang="zh-CN" sz="20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delete  cascade</a:t>
            </a:r>
            <a:r>
              <a:rPr lang="en-US" altLang="zh-CN" sz="20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000" b="1" dirty="0">
                <a:solidFill>
                  <a:srgbClr val="3333CC"/>
                </a:solidFill>
                <a:latin typeface="Arial"/>
                <a:cs typeface="Arial"/>
              </a:rPr>
              <a:t>);</a:t>
            </a:r>
            <a:endParaRPr lang="en-US" altLang="zh-CN" sz="2000" b="1" dirty="0">
              <a:latin typeface="Arial"/>
              <a:cs typeface="Arial"/>
            </a:endParaRPr>
          </a:p>
          <a:p>
            <a:pPr marL="10860">
              <a:spcBef>
                <a:spcPts val="522"/>
              </a:spcBef>
            </a:pP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//</a:t>
            </a:r>
            <a:r>
              <a:rPr lang="zh-CN" altLang="en-US" spc="-4" dirty="0">
                <a:solidFill>
                  <a:srgbClr val="3333CC"/>
                </a:solidFill>
                <a:latin typeface="NSimSun"/>
                <a:cs typeface="NSimSun"/>
              </a:rPr>
              <a:t>假定每门课学分最多</a:t>
            </a:r>
            <a:r>
              <a:rPr lang="en-US" altLang="zh-CN" spc="-9" dirty="0">
                <a:solidFill>
                  <a:srgbClr val="3333CC"/>
                </a:solidFill>
                <a:latin typeface="Arial"/>
                <a:cs typeface="Arial"/>
              </a:rPr>
              <a:t>5</a:t>
            </a:r>
            <a:r>
              <a:rPr lang="zh-CN" altLang="en-US" spc="-4" dirty="0">
                <a:solidFill>
                  <a:srgbClr val="3333CC"/>
                </a:solidFill>
                <a:latin typeface="NSimSun"/>
                <a:cs typeface="NSimSun"/>
              </a:rPr>
              <a:t>分，最</a:t>
            </a:r>
            <a:r>
              <a:rPr lang="zh-CN" altLang="en-US" spc="4" dirty="0">
                <a:solidFill>
                  <a:srgbClr val="3333CC"/>
                </a:solidFill>
                <a:latin typeface="NSimSun"/>
                <a:cs typeface="NSimSun"/>
              </a:rPr>
              <a:t>少</a:t>
            </a:r>
            <a:r>
              <a:rPr lang="en-US" altLang="zh-CN" spc="-9" dirty="0">
                <a:solidFill>
                  <a:srgbClr val="3333CC"/>
                </a:solidFill>
                <a:latin typeface="Arial"/>
                <a:cs typeface="Arial"/>
              </a:rPr>
              <a:t>0</a:t>
            </a:r>
            <a:r>
              <a:rPr lang="zh-CN" altLang="en-US" dirty="0">
                <a:solidFill>
                  <a:srgbClr val="3333CC"/>
                </a:solidFill>
                <a:latin typeface="NSimSun"/>
                <a:cs typeface="NSimSun"/>
              </a:rPr>
              <a:t>分</a:t>
            </a:r>
            <a:endParaRPr lang="zh-CN" altLang="en-US" dirty="0">
              <a:latin typeface="NSimSun"/>
              <a:cs typeface="NSimSun"/>
            </a:endParaRPr>
          </a:p>
          <a:p>
            <a:pPr marL="1443806" marR="4344" indent="-999642" algn="l">
              <a:spcBef>
                <a:spcPts val="171"/>
              </a:spcBef>
              <a:tabLst>
                <a:tab pos="6329617" algn="l"/>
              </a:tabLst>
            </a:pP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04568" y="3933056"/>
            <a:ext cx="2668918" cy="10998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9815" y="4047686"/>
            <a:ext cx="2676955" cy="1107705"/>
          </a:xfrm>
          <a:custGeom>
            <a:avLst/>
            <a:gdLst/>
            <a:ahLst/>
            <a:cxnLst/>
            <a:rect l="l" t="t" r="r" b="b"/>
            <a:pathLst>
              <a:path w="3130550" h="1295400">
                <a:moveTo>
                  <a:pt x="0" y="1295400"/>
                </a:moveTo>
                <a:lnTo>
                  <a:pt x="0" y="0"/>
                </a:lnTo>
                <a:lnTo>
                  <a:pt x="3130295" y="0"/>
                </a:lnTo>
                <a:lnTo>
                  <a:pt x="3130295" y="1295400"/>
                </a:lnTo>
                <a:lnTo>
                  <a:pt x="0" y="1295400"/>
                </a:lnTo>
                <a:close/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03814" y="5202958"/>
            <a:ext cx="2041435" cy="1006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99904" y="5199047"/>
            <a:ext cx="2049255" cy="1014311"/>
          </a:xfrm>
          <a:custGeom>
            <a:avLst/>
            <a:gdLst/>
            <a:ahLst/>
            <a:cxnLst/>
            <a:rect l="l" t="t" r="r" b="b"/>
            <a:pathLst>
              <a:path w="2396490" h="1186179">
                <a:moveTo>
                  <a:pt x="0" y="1185672"/>
                </a:moveTo>
                <a:lnTo>
                  <a:pt x="0" y="0"/>
                </a:lnTo>
                <a:lnTo>
                  <a:pt x="2396489" y="0"/>
                </a:lnTo>
                <a:lnTo>
                  <a:pt x="2396490" y="1185672"/>
                </a:lnTo>
                <a:lnTo>
                  <a:pt x="0" y="1185672"/>
                </a:lnTo>
                <a:close/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43</a:t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9318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36C2-C71C-45E6-BA0F-4D091CFDA314}" type="slidenum">
              <a:rPr lang="en-US" altLang="zh-CN" smtClean="0"/>
              <a:pPr/>
              <a:t>44</a:t>
            </a:fld>
            <a:endParaRPr lang="en-US" altLang="zh-CN"/>
          </a:p>
        </p:txBody>
      </p:sp>
      <p:sp>
        <p:nvSpPr>
          <p:cNvPr id="6" name="object 3"/>
          <p:cNvSpPr txBox="1">
            <a:spLocks noGrp="1"/>
          </p:cNvSpPr>
          <p:nvPr>
            <p:ph idx="1"/>
          </p:nvPr>
        </p:nvSpPr>
        <p:spPr>
          <a:xfrm>
            <a:off x="543719" y="1265568"/>
            <a:ext cx="8348761" cy="3907532"/>
          </a:xfrm>
          <a:prstGeom prst="rect">
            <a:avLst/>
          </a:prstGeom>
        </p:spPr>
        <p:txBody>
          <a:bodyPr vert="horz" wrap="square" lIns="0" tIns="115114" rIns="0" bIns="0" rtlCol="0">
            <a:spAutoFit/>
          </a:bodyPr>
          <a:lstStyle/>
          <a:p>
            <a:pPr marL="0" indent="0" algn="l">
              <a:spcBef>
                <a:spcPts val="906"/>
              </a:spcBef>
              <a:buNone/>
            </a:pPr>
            <a:r>
              <a:rPr sz="2400" b="1" dirty="0">
                <a:latin typeface="Microsoft YaHei"/>
                <a:cs typeface="Microsoft YaHei"/>
              </a:rPr>
              <a:t>示例</a:t>
            </a:r>
          </a:p>
          <a:p>
            <a:pPr marL="401268" marR="69503" indent="0" algn="l">
              <a:lnSpc>
                <a:spcPct val="130300"/>
              </a:lnSpc>
              <a:spcBef>
                <a:spcPts val="56"/>
              </a:spcBef>
              <a:buNone/>
              <a:tabLst>
                <a:tab pos="1737019" algn="l"/>
                <a:tab pos="2986437" algn="l"/>
                <a:tab pos="4560560" algn="l"/>
              </a:tabLst>
            </a:pPr>
            <a:r>
              <a:rPr sz="2200" b="1" spc="-4" dirty="0">
                <a:latin typeface="Arial"/>
                <a:cs typeface="Arial"/>
              </a:rPr>
              <a:t>Create 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Table</a:t>
            </a:r>
            <a:r>
              <a:rPr lang="en-US" sz="2200" b="1" spc="-4" dirty="0">
                <a:latin typeface="Arial"/>
                <a:cs typeface="Arial"/>
              </a:rPr>
              <a:t>  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Student 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br>
              <a:rPr lang="en-US" sz="2200" b="1" spc="-4" dirty="0">
                <a:solidFill>
                  <a:srgbClr val="3333CC"/>
                </a:solidFill>
                <a:latin typeface="Arial"/>
                <a:cs typeface="Arial"/>
              </a:rPr>
            </a:br>
            <a:r>
              <a:rPr lang="en-US" sz="22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S#</a:t>
            </a:r>
            <a:r>
              <a:rPr lang="en-US" sz="22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char(8) 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not</a:t>
            </a:r>
            <a:r>
              <a:rPr sz="2200" b="1" u="sng" spc="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null</a:t>
            </a:r>
            <a:r>
              <a:rPr lang="en-US" sz="2200" b="1" u="sng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unique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br>
              <a:rPr lang="en-US" sz="2200" b="1" dirty="0">
                <a:solidFill>
                  <a:srgbClr val="3333CC"/>
                </a:solidFill>
                <a:latin typeface="Arial"/>
                <a:cs typeface="Arial"/>
              </a:rPr>
            </a:b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Sname </a:t>
            </a:r>
            <a:r>
              <a:rPr sz="2200" b="1" spc="-4" dirty="0">
                <a:latin typeface="Arial"/>
                <a:cs typeface="Arial"/>
              </a:rPr>
              <a:t>char(10)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,  </a:t>
            </a:r>
            <a:r>
              <a:rPr lang="en-US" sz="22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br>
              <a:rPr lang="en-US" sz="2200" b="1" spc="-4" dirty="0">
                <a:solidFill>
                  <a:srgbClr val="3333CC"/>
                </a:solidFill>
                <a:latin typeface="Arial"/>
                <a:cs typeface="Arial"/>
              </a:rPr>
            </a:br>
            <a:r>
              <a:rPr lang="en-US" sz="22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 err="1">
                <a:solidFill>
                  <a:srgbClr val="FF0065"/>
                </a:solidFill>
                <a:latin typeface="Arial"/>
                <a:cs typeface="Arial"/>
              </a:rPr>
              <a:t>Ssex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char(2)</a:t>
            </a:r>
            <a:r>
              <a:rPr sz="2200" b="1" spc="4" dirty="0">
                <a:latin typeface="Arial"/>
                <a:cs typeface="Arial"/>
              </a:rPr>
              <a:t> </a:t>
            </a:r>
            <a:r>
              <a:rPr sz="22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check </a:t>
            </a:r>
            <a:r>
              <a:rPr sz="2200" b="1" u="sng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(Ssex=‘</a:t>
            </a:r>
            <a:r>
              <a:rPr sz="22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NSimSun"/>
                <a:cs typeface="NSimSun"/>
              </a:rPr>
              <a:t>男</a:t>
            </a:r>
            <a:r>
              <a:rPr sz="2200" b="1" u="sng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’</a:t>
            </a:r>
            <a:r>
              <a:rPr sz="22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or</a:t>
            </a:r>
            <a:r>
              <a:rPr lang="en-US" sz="22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spc="-4" dirty="0" err="1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Ssex</a:t>
            </a:r>
            <a:r>
              <a:rPr sz="22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=‘</a:t>
            </a:r>
            <a:r>
              <a:rPr sz="22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NSimSun"/>
                <a:cs typeface="NSimSun"/>
              </a:rPr>
              <a:t>女</a:t>
            </a:r>
            <a:r>
              <a:rPr sz="22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’)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,	</a:t>
            </a:r>
            <a:r>
              <a:rPr lang="en-US" sz="22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br>
              <a:rPr lang="en-US" sz="2200" b="1" spc="-4" dirty="0">
                <a:solidFill>
                  <a:srgbClr val="3333CC"/>
                </a:solidFill>
                <a:latin typeface="Arial"/>
                <a:cs typeface="Arial"/>
              </a:rPr>
            </a:br>
            <a:r>
              <a:rPr lang="en-US" sz="22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Sage </a:t>
            </a:r>
            <a:r>
              <a:rPr sz="2200" b="1" dirty="0">
                <a:latin typeface="Arial"/>
                <a:cs typeface="Arial"/>
              </a:rPr>
              <a:t>integer </a:t>
            </a:r>
            <a:r>
              <a:rPr sz="22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check (Sage&gt;=1 and Sage&lt;150)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br>
              <a:rPr lang="en-US" sz="2200" b="1" spc="-4" dirty="0">
                <a:solidFill>
                  <a:srgbClr val="3333CC"/>
                </a:solidFill>
                <a:latin typeface="Arial"/>
                <a:cs typeface="Arial"/>
              </a:rPr>
            </a:b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D#</a:t>
            </a:r>
            <a:r>
              <a:rPr lang="en-US" sz="22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char(2) </a:t>
            </a:r>
            <a:r>
              <a:rPr sz="22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references Dept(D#) on delete</a:t>
            </a:r>
            <a:r>
              <a:rPr sz="2200" b="1" u="sng" spc="-9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cascade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endParaRPr lang="en-US" sz="2200" b="1" dirty="0">
              <a:latin typeface="Arial"/>
              <a:cs typeface="Arial"/>
            </a:endParaRPr>
          </a:p>
          <a:p>
            <a:pPr marL="401268" marR="69503" indent="0" algn="l">
              <a:lnSpc>
                <a:spcPct val="130300"/>
              </a:lnSpc>
              <a:spcBef>
                <a:spcPts val="56"/>
              </a:spcBef>
              <a:buNone/>
              <a:tabLst>
                <a:tab pos="1737019" algn="l"/>
                <a:tab pos="2986437" algn="l"/>
                <a:tab pos="4560560" algn="l"/>
              </a:tabLst>
            </a:pPr>
            <a:r>
              <a:rPr lang="en-US" sz="22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 err="1">
                <a:solidFill>
                  <a:srgbClr val="FF0065"/>
                </a:solidFill>
                <a:latin typeface="Arial"/>
                <a:cs typeface="Arial"/>
              </a:rPr>
              <a:t>Sclass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char(6) 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);</a:t>
            </a:r>
            <a:endParaRPr sz="2200" b="1" dirty="0">
              <a:latin typeface="Arial"/>
              <a:cs typeface="Arial"/>
            </a:endParaRPr>
          </a:p>
          <a:p>
            <a:pPr marL="102351" indent="0" algn="l">
              <a:spcBef>
                <a:spcPts val="278"/>
              </a:spcBef>
              <a:buNone/>
            </a:pPr>
            <a:r>
              <a:rPr lang="en-US" sz="1800" b="1" dirty="0">
                <a:solidFill>
                  <a:srgbClr val="3333CC"/>
                </a:solidFill>
                <a:latin typeface="Arial"/>
                <a:cs typeface="Arial"/>
              </a:rPr>
              <a:t>                    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//</a:t>
            </a:r>
            <a:r>
              <a:rPr sz="1800" b="1" dirty="0">
                <a:solidFill>
                  <a:srgbClr val="3333CC"/>
                </a:solidFill>
                <a:latin typeface="NSimSun"/>
                <a:cs typeface="NSimSun"/>
              </a:rPr>
              <a:t>假定</a:t>
            </a:r>
            <a:r>
              <a:rPr sz="1800" b="1" spc="-9" dirty="0">
                <a:solidFill>
                  <a:srgbClr val="3333CC"/>
                </a:solidFill>
                <a:latin typeface="Arial"/>
                <a:cs typeface="Arial"/>
              </a:rPr>
              <a:t>Ssex</a:t>
            </a:r>
            <a:r>
              <a:rPr sz="1800" b="1" dirty="0">
                <a:solidFill>
                  <a:srgbClr val="3333CC"/>
                </a:solidFill>
                <a:latin typeface="NSimSun"/>
                <a:cs typeface="NSimSun"/>
              </a:rPr>
              <a:t>只能</a:t>
            </a:r>
            <a:r>
              <a:rPr sz="1800" b="1" spc="4" dirty="0">
                <a:solidFill>
                  <a:srgbClr val="3333CC"/>
                </a:solidFill>
                <a:latin typeface="NSimSun"/>
                <a:cs typeface="NSimSun"/>
              </a:rPr>
              <a:t>取</a:t>
            </a:r>
            <a:r>
              <a:rPr sz="1800" b="1" spc="-9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r>
              <a:rPr sz="1800" b="1" dirty="0">
                <a:solidFill>
                  <a:srgbClr val="3333CC"/>
                </a:solidFill>
                <a:latin typeface="NSimSun"/>
                <a:cs typeface="NSimSun"/>
              </a:rPr>
              <a:t>男，</a:t>
            </a:r>
            <a:r>
              <a:rPr sz="1800" b="1" spc="4" dirty="0">
                <a:solidFill>
                  <a:srgbClr val="3333CC"/>
                </a:solidFill>
                <a:latin typeface="NSimSun"/>
                <a:cs typeface="NSimSun"/>
              </a:rPr>
              <a:t>女</a:t>
            </a:r>
            <a:r>
              <a:rPr sz="1800" b="1" spc="-4" dirty="0">
                <a:solidFill>
                  <a:srgbClr val="3333CC"/>
                </a:solidFill>
                <a:latin typeface="Arial"/>
                <a:cs typeface="Arial"/>
              </a:rPr>
              <a:t>},</a:t>
            </a:r>
            <a:r>
              <a:rPr sz="18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4" dirty="0">
                <a:solidFill>
                  <a:srgbClr val="3333CC"/>
                </a:solidFill>
                <a:latin typeface="Arial"/>
                <a:cs typeface="Arial"/>
              </a:rPr>
              <a:t>1=&lt;Sage&lt;=150, </a:t>
            </a:r>
            <a:r>
              <a:rPr sz="1800" b="1" spc="-9" dirty="0">
                <a:solidFill>
                  <a:srgbClr val="3333CC"/>
                </a:solidFill>
                <a:latin typeface="Arial"/>
                <a:cs typeface="Arial"/>
              </a:rPr>
              <a:t>D#</a:t>
            </a:r>
            <a:r>
              <a:rPr sz="1800" b="1" dirty="0">
                <a:solidFill>
                  <a:srgbClr val="3333CC"/>
                </a:solidFill>
                <a:latin typeface="NSimSun"/>
                <a:cs typeface="NSimSun"/>
              </a:rPr>
              <a:t>是外键</a:t>
            </a:r>
            <a:endParaRPr sz="1800" b="1" dirty="0">
              <a:latin typeface="NSimSun"/>
              <a:cs typeface="NSimSun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6012160" y="1412776"/>
            <a:ext cx="2960832" cy="12289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/>
          <p:cNvSpPr/>
          <p:nvPr/>
        </p:nvSpPr>
        <p:spPr>
          <a:xfrm>
            <a:off x="6008252" y="1408867"/>
            <a:ext cx="2969084" cy="1236938"/>
          </a:xfrm>
          <a:custGeom>
            <a:avLst/>
            <a:gdLst/>
            <a:ahLst/>
            <a:cxnLst/>
            <a:rect l="l" t="t" r="r" b="b"/>
            <a:pathLst>
              <a:path w="3472179" h="1446529">
                <a:moveTo>
                  <a:pt x="0" y="1446276"/>
                </a:moveTo>
                <a:lnTo>
                  <a:pt x="0" y="0"/>
                </a:lnTo>
                <a:lnTo>
                  <a:pt x="3471672" y="0"/>
                </a:lnTo>
                <a:lnTo>
                  <a:pt x="3471672" y="1446276"/>
                </a:lnTo>
                <a:lnTo>
                  <a:pt x="0" y="1446276"/>
                </a:lnTo>
                <a:close/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/>
          <p:cNvSpPr/>
          <p:nvPr/>
        </p:nvSpPr>
        <p:spPr>
          <a:xfrm>
            <a:off x="7319253" y="2671652"/>
            <a:ext cx="1652436" cy="10190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/>
          <p:cNvSpPr/>
          <p:nvPr/>
        </p:nvSpPr>
        <p:spPr>
          <a:xfrm>
            <a:off x="7315344" y="2667740"/>
            <a:ext cx="1660472" cy="1027343"/>
          </a:xfrm>
          <a:custGeom>
            <a:avLst/>
            <a:gdLst/>
            <a:ahLst/>
            <a:cxnLst/>
            <a:rect l="l" t="t" r="r" b="b"/>
            <a:pathLst>
              <a:path w="1941829" h="1201420">
                <a:moveTo>
                  <a:pt x="0" y="1200912"/>
                </a:moveTo>
                <a:lnTo>
                  <a:pt x="0" y="0"/>
                </a:lnTo>
                <a:lnTo>
                  <a:pt x="1941575" y="0"/>
                </a:lnTo>
                <a:lnTo>
                  <a:pt x="1941576" y="1200912"/>
                </a:lnTo>
                <a:lnTo>
                  <a:pt x="0" y="1200912"/>
                </a:lnTo>
                <a:close/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59009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检查约束</a:t>
            </a:r>
            <a:r>
              <a:rPr lang="en-US" altLang="zh-CN" dirty="0"/>
              <a:t> check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95300" y="1443965"/>
            <a:ext cx="8229600" cy="4495800"/>
          </a:xfrm>
        </p:spPr>
        <p:txBody>
          <a:bodyPr/>
          <a:lstStyle/>
          <a:p>
            <a:r>
              <a:rPr lang="en-US" altLang="zh-CN" dirty="0"/>
              <a:t>MySQL</a:t>
            </a:r>
            <a:r>
              <a:rPr lang="zh-CN" altLang="en-US" dirty="0"/>
              <a:t>数据库中可以设置检查约束，但是检查约束在表中是不生效的，也就是说仍然可以插入不符合条件的数据。</a:t>
            </a:r>
            <a:endParaRPr lang="en-US" altLang="zh-CN" dirty="0"/>
          </a:p>
          <a:p>
            <a:r>
              <a:rPr lang="zh-CN" altLang="en-US" dirty="0"/>
              <a:t>例：建立</a:t>
            </a:r>
            <a:r>
              <a:rPr lang="en-US" altLang="zh-CN" dirty="0"/>
              <a:t>employee</a:t>
            </a:r>
            <a:r>
              <a:rPr lang="zh-CN" altLang="en-US" dirty="0"/>
              <a:t>表，限制</a:t>
            </a:r>
            <a:r>
              <a:rPr lang="en-US" altLang="zh-CN" dirty="0"/>
              <a:t>age</a:t>
            </a:r>
            <a:r>
              <a:rPr lang="zh-CN" altLang="en-US" dirty="0"/>
              <a:t>字段的值必须大于</a:t>
            </a:r>
            <a:r>
              <a:rPr lang="en-US" altLang="zh-CN" dirty="0"/>
              <a:t>20</a:t>
            </a:r>
            <a:r>
              <a:rPr lang="zh-CN" altLang="en-US" dirty="0"/>
              <a:t>且小于</a:t>
            </a:r>
            <a:r>
              <a:rPr lang="en-US" altLang="zh-CN" dirty="0"/>
              <a:t>60</a:t>
            </a:r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293953" y="3898141"/>
            <a:ext cx="6632294" cy="23083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dirty="0">
                <a:solidFill>
                  <a:srgbClr val="FF00FF"/>
                </a:solidFill>
                <a:latin typeface="Courier New" panose="02070309020205020404" pitchFamily="49" charset="0"/>
              </a:rPr>
              <a:t>employee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empno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PRIMARY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KEY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name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8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age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3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phone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12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UNIQUE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deptno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800000"/>
                </a:solidFill>
                <a:latin typeface="Courier New" panose="02070309020205020404" pitchFamily="49" charset="0"/>
              </a:rPr>
              <a:t>DECIMAL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CONSTRAINT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808000"/>
                </a:solidFill>
                <a:latin typeface="Courier New" panose="02070309020205020404" pitchFamily="49" charset="0"/>
              </a:rPr>
              <a:t>age_CK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CHECK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age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20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AND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age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</a:rPr>
              <a:t>60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070704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EF637-C58B-4924-83F9-E005DE2ACB59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检查约束</a:t>
            </a:r>
            <a:r>
              <a:rPr lang="en-US" altLang="zh-CN" dirty="0"/>
              <a:t> check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5482" y="1567656"/>
            <a:ext cx="8229600" cy="449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改用</a:t>
            </a:r>
            <a:r>
              <a:rPr lang="en-US" altLang="zh-CN" sz="2400" b="1" dirty="0" err="1">
                <a:solidFill>
                  <a:srgbClr val="0000FF"/>
                </a:solidFill>
              </a:rPr>
              <a:t>enum</a:t>
            </a:r>
            <a:r>
              <a:rPr lang="zh-CN" altLang="en-US" sz="2400" b="1" dirty="0">
                <a:solidFill>
                  <a:srgbClr val="0000FF"/>
                </a:solidFill>
              </a:rPr>
              <a:t>类型（约束条件少的）和触发器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［例</a:t>
            </a:r>
            <a:r>
              <a:rPr lang="en-US" altLang="zh-CN" sz="2000" b="1" dirty="0"/>
              <a:t>7</a:t>
            </a:r>
            <a:r>
              <a:rPr lang="zh-CN" altLang="en-US" sz="2000" b="1" dirty="0"/>
              <a:t>］  </a:t>
            </a:r>
            <a:r>
              <a:rPr lang="en-US" altLang="zh-CN" sz="2000" b="1" dirty="0"/>
              <a:t>Student</a:t>
            </a:r>
            <a:r>
              <a:rPr lang="zh-CN" altLang="en-US" sz="2000" b="1" dirty="0"/>
              <a:t>表的</a:t>
            </a:r>
            <a:r>
              <a:rPr lang="en-US" altLang="zh-CN" sz="2000" b="1" dirty="0" err="1"/>
              <a:t>Ssex</a:t>
            </a:r>
            <a:r>
              <a:rPr lang="zh-CN" altLang="en-US" sz="2000" b="1" dirty="0"/>
              <a:t>只允许取“男”或“女”。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</a:t>
            </a:r>
            <a:r>
              <a:rPr lang="en-US" altLang="zh-CN" sz="2000" b="1" dirty="0"/>
              <a:t>CREATE TABLE Student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(</a:t>
            </a:r>
            <a:r>
              <a:rPr lang="en-US" altLang="zh-CN" sz="2000" b="1" dirty="0" err="1"/>
              <a:t>Sno</a:t>
            </a:r>
            <a:r>
              <a:rPr lang="en-US" altLang="zh-CN" sz="2000" b="1" dirty="0"/>
              <a:t>  CHAR(9) PRIMARY KEY</a:t>
            </a:r>
            <a:r>
              <a:rPr lang="zh-CN" altLang="en-US" sz="2000" b="1" dirty="0"/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      </a:t>
            </a:r>
            <a:r>
              <a:rPr lang="en-US" altLang="zh-CN" sz="2000" b="1" dirty="0" err="1"/>
              <a:t>Sname</a:t>
            </a:r>
            <a:r>
              <a:rPr lang="en-US" altLang="zh-CN" sz="2000" b="1" dirty="0"/>
              <a:t> CHAR(8) NOT NULL</a:t>
            </a:r>
            <a:r>
              <a:rPr lang="zh-CN" altLang="en-US" sz="2000" b="1" dirty="0"/>
              <a:t>，                    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      </a:t>
            </a:r>
            <a:r>
              <a:rPr lang="en-US" altLang="zh-CN" sz="2000" b="1" dirty="0" err="1"/>
              <a:t>Ssex</a:t>
            </a:r>
            <a:r>
              <a:rPr lang="en-US" altLang="zh-CN" sz="2000" b="1" dirty="0"/>
              <a:t>  </a:t>
            </a:r>
            <a:r>
              <a:rPr lang="en-US" altLang="zh-CN" sz="2000" b="1" dirty="0" err="1">
                <a:solidFill>
                  <a:srgbClr val="FF00FF"/>
                </a:solidFill>
              </a:rPr>
              <a:t>enum</a:t>
            </a:r>
            <a:r>
              <a:rPr lang="en-US" altLang="zh-CN" sz="2000" b="1" dirty="0">
                <a:solidFill>
                  <a:srgbClr val="FF00FF"/>
                </a:solidFill>
              </a:rPr>
              <a:t>(‘</a:t>
            </a:r>
            <a:r>
              <a:rPr lang="zh-CN" altLang="en-US" sz="2000" b="1" dirty="0">
                <a:solidFill>
                  <a:srgbClr val="FF00FF"/>
                </a:solidFill>
              </a:rPr>
              <a:t>男</a:t>
            </a:r>
            <a:r>
              <a:rPr lang="en-US" altLang="zh-CN" sz="2000" b="1" dirty="0">
                <a:solidFill>
                  <a:srgbClr val="FF00FF"/>
                </a:solidFill>
              </a:rPr>
              <a:t>’‘</a:t>
            </a:r>
            <a:r>
              <a:rPr lang="zh-CN" altLang="en-US" sz="2000" b="1" dirty="0">
                <a:solidFill>
                  <a:srgbClr val="FF00FF"/>
                </a:solidFill>
              </a:rPr>
              <a:t>女</a:t>
            </a:r>
            <a:r>
              <a:rPr lang="en-US" altLang="zh-CN" sz="2000" b="1" dirty="0">
                <a:solidFill>
                  <a:srgbClr val="FF00FF"/>
                </a:solidFill>
              </a:rPr>
              <a:t>’ ) </a:t>
            </a:r>
            <a:r>
              <a:rPr lang="zh-CN" altLang="en-US" sz="2000" b="1" dirty="0"/>
              <a:t>，               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          </a:t>
            </a:r>
            <a:r>
              <a:rPr lang="en-US" altLang="zh-CN" sz="2000" b="1" dirty="0"/>
              <a:t>/*</a:t>
            </a:r>
            <a:r>
              <a:rPr lang="zh-CN" altLang="en-US" sz="2000" b="1" dirty="0"/>
              <a:t>性别属性</a:t>
            </a:r>
            <a:r>
              <a:rPr lang="en-US" altLang="zh-CN" sz="2000" b="1" dirty="0" err="1"/>
              <a:t>Ssex</a:t>
            </a:r>
            <a:r>
              <a:rPr lang="zh-CN" altLang="en-US" sz="2000" b="1" dirty="0"/>
              <a:t>只允许取</a:t>
            </a:r>
            <a:r>
              <a:rPr lang="en-US" altLang="zh-CN" sz="2000" b="1" dirty="0"/>
              <a:t>'</a:t>
            </a:r>
            <a:r>
              <a:rPr lang="zh-CN" altLang="en-US" sz="2000" b="1" dirty="0"/>
              <a:t>男</a:t>
            </a:r>
            <a:r>
              <a:rPr lang="en-US" altLang="zh-CN" sz="2000" b="1" dirty="0"/>
              <a:t>'</a:t>
            </a:r>
            <a:r>
              <a:rPr lang="zh-CN" altLang="en-US" sz="2000" b="1" dirty="0"/>
              <a:t>或</a:t>
            </a:r>
            <a:r>
              <a:rPr lang="en-US" altLang="zh-CN" sz="2000" b="1" dirty="0"/>
              <a:t>'</a:t>
            </a:r>
            <a:r>
              <a:rPr lang="zh-CN" altLang="en-US" sz="2000" b="1" dirty="0"/>
              <a:t>女</a:t>
            </a:r>
            <a:r>
              <a:rPr lang="en-US" altLang="zh-CN" sz="2000" b="1" dirty="0"/>
              <a:t>' */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Sage  SMALLINT</a:t>
            </a:r>
            <a:r>
              <a:rPr lang="zh-CN" altLang="en-US" sz="2000" b="1" dirty="0"/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      </a:t>
            </a:r>
            <a:r>
              <a:rPr lang="en-US" altLang="zh-CN" sz="2000" b="1" dirty="0" err="1"/>
              <a:t>Sdept</a:t>
            </a:r>
            <a:r>
              <a:rPr lang="en-US" altLang="zh-CN" sz="2000" b="1" dirty="0"/>
              <a:t>  CHAR(20)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);</a:t>
            </a:r>
          </a:p>
        </p:txBody>
      </p:sp>
    </p:spTree>
    <p:extLst>
      <p:ext uri="{BB962C8B-B14F-4D97-AF65-F5344CB8AC3E}">
        <p14:creationId xmlns:p14="http://schemas.microsoft.com/office/powerpoint/2010/main" val="39675124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F730E-86D7-47CE-9449-CE43B49D1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995727-CDF1-4E36-AB5B-A9D486B15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BB7087-3DE6-4BAA-8C25-2E4295FB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36C2-C71C-45E6-BA0F-4D091CFDA314}" type="slidenum">
              <a:rPr lang="en-US" altLang="zh-CN" smtClean="0"/>
              <a:pPr/>
              <a:t>47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7ED680-35AC-4A1C-8082-910E32230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387018"/>
            <a:ext cx="3456384" cy="15451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43F8AC-F663-4CFD-AEAC-37D09A1E0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19" y="3164304"/>
            <a:ext cx="6692577" cy="5293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2991B4E-B53F-43C8-B8B6-3E420139F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7" y="4621601"/>
            <a:ext cx="5845047" cy="3810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C41139-D7C3-40E7-96AA-9A799EB9E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97" y="4191813"/>
            <a:ext cx="5715495" cy="33530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FBDAABF-9A23-4011-AE86-D8E59305B4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042" y="1379630"/>
            <a:ext cx="3970553" cy="160273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E82B1C4-9B42-4E78-9FF2-FF3557FC9ABA}"/>
              </a:ext>
            </a:extLst>
          </p:cNvPr>
          <p:cNvSpPr/>
          <p:nvPr/>
        </p:nvSpPr>
        <p:spPr>
          <a:xfrm>
            <a:off x="805491" y="2132856"/>
            <a:ext cx="1318237" cy="144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A3CDF2-8E83-47EE-87B8-6631163C9312}"/>
              </a:ext>
            </a:extLst>
          </p:cNvPr>
          <p:cNvSpPr/>
          <p:nvPr/>
        </p:nvSpPr>
        <p:spPr>
          <a:xfrm>
            <a:off x="5003258" y="2132856"/>
            <a:ext cx="1728982" cy="1817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34725A-44B7-4B2F-9A1A-535D08E9070C}"/>
              </a:ext>
            </a:extLst>
          </p:cNvPr>
          <p:cNvSpPr/>
          <p:nvPr/>
        </p:nvSpPr>
        <p:spPr>
          <a:xfrm>
            <a:off x="539552" y="4741514"/>
            <a:ext cx="710135" cy="1996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EE5BCB-3262-4FE8-A0EB-DDEA5F1102B0}"/>
              </a:ext>
            </a:extLst>
          </p:cNvPr>
          <p:cNvSpPr/>
          <p:nvPr/>
        </p:nvSpPr>
        <p:spPr>
          <a:xfrm>
            <a:off x="559333" y="4327468"/>
            <a:ext cx="484276" cy="1996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780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4E75-E2C3-401D-96C1-BBA85F78A60D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 </a:t>
            </a:r>
            <a:r>
              <a:rPr lang="zh-CN" altLang="en-US" dirty="0"/>
              <a:t>用户定义的完整性</a:t>
            </a:r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90000"/>
              </a:lnSpc>
            </a:pPr>
            <a:r>
              <a:rPr lang="en-US" altLang="zh-CN" b="1" dirty="0"/>
              <a:t>5.3.1 </a:t>
            </a:r>
            <a:r>
              <a:rPr lang="zh-CN" altLang="en-US" b="1" dirty="0"/>
              <a:t>属性上的约束条件的定义</a:t>
            </a:r>
          </a:p>
          <a:p>
            <a:pPr>
              <a:lnSpc>
                <a:spcPct val="190000"/>
              </a:lnSpc>
            </a:pPr>
            <a:r>
              <a:rPr lang="en-US" altLang="zh-CN" b="1" dirty="0">
                <a:solidFill>
                  <a:srgbClr val="3333FF"/>
                </a:solidFill>
              </a:rPr>
              <a:t>5.3.2 </a:t>
            </a:r>
            <a:r>
              <a:rPr lang="zh-CN" altLang="en-US" b="1" dirty="0">
                <a:solidFill>
                  <a:srgbClr val="3333FF"/>
                </a:solidFill>
              </a:rPr>
              <a:t>属性上的约束条件检查和违约处理</a:t>
            </a:r>
            <a:r>
              <a:rPr lang="zh-CN" altLang="en-US" b="1" dirty="0"/>
              <a:t> </a:t>
            </a:r>
          </a:p>
          <a:p>
            <a:pPr>
              <a:lnSpc>
                <a:spcPct val="190000"/>
              </a:lnSpc>
            </a:pPr>
            <a:r>
              <a:rPr lang="en-US" altLang="zh-CN" b="1" dirty="0"/>
              <a:t>5.3.3 </a:t>
            </a:r>
            <a:r>
              <a:rPr lang="zh-CN" altLang="en-US" b="1" dirty="0"/>
              <a:t>元组上的约束条件的定义 </a:t>
            </a:r>
          </a:p>
          <a:p>
            <a:pPr>
              <a:lnSpc>
                <a:spcPct val="190000"/>
              </a:lnSpc>
            </a:pPr>
            <a:r>
              <a:rPr lang="en-US" altLang="zh-CN" b="1" dirty="0"/>
              <a:t>5.3.4</a:t>
            </a:r>
            <a:r>
              <a:rPr lang="zh-CN" altLang="en-US" b="1" dirty="0"/>
              <a:t>元组上的约束条件检查和违约处理</a:t>
            </a:r>
            <a:endParaRPr lang="zh-CN" altLang="en-US" b="1" dirty="0">
              <a:solidFill>
                <a:srgbClr val="3333FF"/>
              </a:solidFill>
            </a:endParaRP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8B07-1D12-4F70-BA30-7663497B682B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5.3.2 </a:t>
            </a:r>
            <a:r>
              <a:rPr lang="zh-CN" altLang="en-US" sz="3200" dirty="0"/>
              <a:t>属性上的约束条件检查和违约处理</a:t>
            </a:r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20000"/>
              </a:lnSpc>
            </a:pPr>
            <a:r>
              <a:rPr lang="zh-CN" altLang="en-US" b="1"/>
              <a:t>插入元组或修改属性的值时，</a:t>
            </a:r>
            <a:r>
              <a:rPr lang="en-US" altLang="zh-CN" b="1"/>
              <a:t>RDBMS</a:t>
            </a:r>
            <a:r>
              <a:rPr lang="zh-CN" altLang="en-US" b="1"/>
              <a:t>检查属性上的约束条件是否被满足</a:t>
            </a:r>
          </a:p>
          <a:p>
            <a:pPr>
              <a:lnSpc>
                <a:spcPct val="220000"/>
              </a:lnSpc>
            </a:pPr>
            <a:r>
              <a:rPr lang="zh-CN" altLang="en-US" b="1"/>
              <a:t>如果不满足则操作被</a:t>
            </a:r>
            <a:r>
              <a:rPr lang="zh-CN" altLang="en-US" b="1">
                <a:solidFill>
                  <a:srgbClr val="0000FF"/>
                </a:solidFill>
              </a:rPr>
              <a:t>拒绝执行</a:t>
            </a:r>
            <a:r>
              <a:rPr lang="zh-CN" altLang="en-US" b="1"/>
              <a:t>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BF223-E029-427F-AE4F-22E9BD5AF3F9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 </a:t>
            </a:r>
            <a:r>
              <a:rPr lang="zh-CN" altLang="en-US" dirty="0"/>
              <a:t>用户定义的完整性</a:t>
            </a:r>
          </a:p>
        </p:txBody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90000"/>
              </a:lnSpc>
            </a:pPr>
            <a:r>
              <a:rPr lang="en-US" altLang="zh-CN" b="1" dirty="0"/>
              <a:t>5.3.1 </a:t>
            </a:r>
            <a:r>
              <a:rPr lang="zh-CN" altLang="en-US" b="1" dirty="0"/>
              <a:t>属性上的约束条件的定义</a:t>
            </a:r>
          </a:p>
          <a:p>
            <a:pPr>
              <a:lnSpc>
                <a:spcPct val="190000"/>
              </a:lnSpc>
            </a:pPr>
            <a:r>
              <a:rPr lang="en-US" altLang="zh-CN" b="1" dirty="0"/>
              <a:t>5.3.2 </a:t>
            </a:r>
            <a:r>
              <a:rPr lang="zh-CN" altLang="en-US" b="1" dirty="0"/>
              <a:t>属性上的约束条件检查和违约处理 </a:t>
            </a:r>
          </a:p>
          <a:p>
            <a:pPr>
              <a:lnSpc>
                <a:spcPct val="190000"/>
              </a:lnSpc>
            </a:pPr>
            <a:r>
              <a:rPr lang="en-US" altLang="zh-CN" b="1" dirty="0">
                <a:solidFill>
                  <a:srgbClr val="3333FF"/>
                </a:solidFill>
              </a:rPr>
              <a:t>5.3.3 </a:t>
            </a:r>
            <a:r>
              <a:rPr lang="zh-CN" altLang="en-US" b="1" dirty="0">
                <a:solidFill>
                  <a:srgbClr val="3333FF"/>
                </a:solidFill>
              </a:rPr>
              <a:t>元组上的约束条件的定义</a:t>
            </a:r>
            <a:r>
              <a:rPr lang="zh-CN" altLang="en-US" b="1" dirty="0"/>
              <a:t> </a:t>
            </a:r>
          </a:p>
          <a:p>
            <a:pPr>
              <a:lnSpc>
                <a:spcPct val="190000"/>
              </a:lnSpc>
            </a:pPr>
            <a:r>
              <a:rPr lang="en-US" altLang="zh-CN" b="1" dirty="0"/>
              <a:t>5.3.4</a:t>
            </a:r>
            <a:r>
              <a:rPr lang="zh-CN" altLang="en-US" b="1" dirty="0"/>
              <a:t>元组上的约束条件检查和违约处理</a:t>
            </a:r>
            <a:endParaRPr lang="zh-CN" altLang="en-US" b="1" dirty="0">
              <a:solidFill>
                <a:srgbClr val="3333FF"/>
              </a:solidFill>
            </a:endParaRP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EA528-B67E-407F-AF92-69B359F61428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5.3.3 </a:t>
            </a:r>
            <a:r>
              <a:rPr lang="zh-CN" altLang="en-US" dirty="0"/>
              <a:t>元组上的约束条件的定义</a:t>
            </a:r>
          </a:p>
        </p:txBody>
      </p:sp>
      <p:sp>
        <p:nvSpPr>
          <p:cNvPr id="456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70000"/>
              </a:lnSpc>
            </a:pPr>
            <a:r>
              <a:rPr lang="zh-CN" altLang="en-US" sz="2400" b="1" dirty="0"/>
              <a:t>在</a:t>
            </a:r>
            <a:r>
              <a:rPr lang="en-US" altLang="zh-CN" sz="2400" b="1" dirty="0"/>
              <a:t>CREATE TABLE</a:t>
            </a:r>
            <a:r>
              <a:rPr lang="zh-CN" altLang="en-US" sz="2400" b="1" dirty="0"/>
              <a:t>时可以用</a:t>
            </a:r>
            <a:r>
              <a:rPr lang="en-US" altLang="zh-CN" sz="2400" b="1" dirty="0">
                <a:solidFill>
                  <a:srgbClr val="FF00FF"/>
                </a:solidFill>
              </a:rPr>
              <a:t>CHECK</a:t>
            </a:r>
            <a:r>
              <a:rPr lang="zh-CN" altLang="en-US" sz="2400" b="1" dirty="0"/>
              <a:t>短语定义元组上的约束条件，即</a:t>
            </a:r>
            <a:r>
              <a:rPr lang="zh-CN" altLang="en-US" sz="2400" b="1" dirty="0">
                <a:solidFill>
                  <a:srgbClr val="FF00FF"/>
                </a:solidFill>
              </a:rPr>
              <a:t>元组级的限制</a:t>
            </a:r>
          </a:p>
          <a:p>
            <a:pPr>
              <a:lnSpc>
                <a:spcPct val="170000"/>
              </a:lnSpc>
            </a:pPr>
            <a:r>
              <a:rPr lang="zh-CN" altLang="en-US" sz="2400" b="1" dirty="0"/>
              <a:t>同属性值限制相比，元组级的限制可以设置</a:t>
            </a:r>
            <a:r>
              <a:rPr lang="zh-CN" altLang="en-US" sz="2400" b="1" u="sng" dirty="0"/>
              <a:t>不同属性之间</a:t>
            </a:r>
            <a:r>
              <a:rPr lang="zh-CN" altLang="en-US" sz="2400" b="1" dirty="0"/>
              <a:t>的取值的相互约束条件</a:t>
            </a:r>
            <a:r>
              <a:rPr lang="zh-CN" altLang="en-US" b="1" dirty="0"/>
              <a:t>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ADA2E-939D-474C-B0F4-B58E11363327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元组上的约束条件的定义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47672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000" b="1"/>
              <a:t>［例</a:t>
            </a:r>
            <a:r>
              <a:rPr lang="en-US" altLang="zh-CN" sz="2000" b="1"/>
              <a:t>9</a:t>
            </a:r>
            <a:r>
              <a:rPr lang="zh-CN" altLang="en-US" sz="2000" b="1"/>
              <a:t>］  当学生的性别是男时，其名字不能以</a:t>
            </a:r>
            <a:r>
              <a:rPr lang="en-US" altLang="zh-CN" sz="2000" b="1"/>
              <a:t>Ms.</a:t>
            </a:r>
            <a:r>
              <a:rPr lang="zh-CN" altLang="en-US" sz="2000" b="1"/>
              <a:t>打头。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b="1"/>
              <a:t>    </a:t>
            </a:r>
            <a:r>
              <a:rPr lang="en-US" altLang="zh-CN" sz="1800" b="1"/>
              <a:t>CREATE TABLE Student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/>
              <a:t>         (Sno    CHAR(9)</a:t>
            </a:r>
            <a:r>
              <a:rPr lang="zh-CN" altLang="en-US" sz="1800" b="1"/>
              <a:t>，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b="1"/>
              <a:t>          </a:t>
            </a:r>
            <a:r>
              <a:rPr lang="en-US" altLang="zh-CN" sz="1800" b="1"/>
              <a:t>Sname  CHAR(8) NOT NULL</a:t>
            </a:r>
            <a:r>
              <a:rPr lang="zh-CN" altLang="en-US" sz="1800" b="1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b="1"/>
              <a:t>          </a:t>
            </a:r>
            <a:r>
              <a:rPr lang="en-US" altLang="zh-CN" sz="1800" b="1"/>
              <a:t>Ssex    CHAR(2)</a:t>
            </a:r>
            <a:r>
              <a:rPr lang="zh-CN" altLang="en-US" sz="1800" b="1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b="1"/>
              <a:t>          </a:t>
            </a:r>
            <a:r>
              <a:rPr lang="en-US" altLang="zh-CN" sz="1800" b="1"/>
              <a:t>Sage   SMALLINT</a:t>
            </a:r>
            <a:r>
              <a:rPr lang="zh-CN" altLang="en-US" sz="1800" b="1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b="1"/>
              <a:t>          </a:t>
            </a:r>
            <a:r>
              <a:rPr lang="en-US" altLang="zh-CN" sz="1800" b="1"/>
              <a:t>Sdept  CHAR(20)</a:t>
            </a:r>
            <a:r>
              <a:rPr lang="zh-CN" altLang="en-US" sz="1800" b="1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b="1"/>
              <a:t>          </a:t>
            </a:r>
            <a:r>
              <a:rPr lang="en-US" altLang="zh-CN" sz="1800" b="1"/>
              <a:t>PRIMARY KEY (Sno)</a:t>
            </a:r>
            <a:r>
              <a:rPr lang="zh-CN" altLang="en-US" sz="1800" b="1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b="1"/>
              <a:t>          </a:t>
            </a:r>
            <a:r>
              <a:rPr lang="en-US" altLang="zh-CN" sz="1800" b="1">
                <a:solidFill>
                  <a:srgbClr val="FF00FF"/>
                </a:solidFill>
              </a:rPr>
              <a:t>CHECK (Ssex='</a:t>
            </a:r>
            <a:r>
              <a:rPr lang="zh-CN" altLang="en-US" sz="1800" b="1">
                <a:solidFill>
                  <a:srgbClr val="FF00FF"/>
                </a:solidFill>
              </a:rPr>
              <a:t>女</a:t>
            </a:r>
            <a:r>
              <a:rPr lang="en-US" altLang="zh-CN" sz="1800" b="1">
                <a:solidFill>
                  <a:srgbClr val="FF00FF"/>
                </a:solidFill>
              </a:rPr>
              <a:t>' OR Sname NOT LIKE 'Ms.%')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/>
              <a:t>          /*</a:t>
            </a:r>
            <a:r>
              <a:rPr lang="zh-CN" altLang="en-US" sz="1800" b="1"/>
              <a:t>定义了元组中</a:t>
            </a:r>
            <a:r>
              <a:rPr lang="en-US" altLang="zh-CN" sz="1800" b="1"/>
              <a:t>Sname</a:t>
            </a:r>
            <a:r>
              <a:rPr lang="zh-CN" altLang="en-US" sz="1800" b="1"/>
              <a:t>和 </a:t>
            </a:r>
            <a:r>
              <a:rPr lang="en-US" altLang="zh-CN" sz="1800" b="1"/>
              <a:t>Ssex</a:t>
            </a:r>
            <a:r>
              <a:rPr lang="zh-CN" altLang="en-US" sz="1800" b="1"/>
              <a:t>两个属性值之间的约束条件*</a:t>
            </a:r>
            <a:r>
              <a:rPr lang="en-US" altLang="zh-CN" sz="1800" b="1"/>
              <a:t>/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/>
              <a:t>        )</a:t>
            </a:r>
            <a:r>
              <a:rPr lang="zh-CN" altLang="en-US" sz="1800" b="1"/>
              <a:t>；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性别是女性的元组都能通过该项检查，因为</a:t>
            </a: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Ssex=</a:t>
            </a:r>
            <a:r>
              <a:rPr lang="en-US" altLang="zh-CN" sz="1800" b="1">
                <a:ea typeface="仿宋_GB2312" pitchFamily="49" charset="-122"/>
              </a:rPr>
              <a:t>‘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女</a:t>
            </a:r>
            <a:r>
              <a:rPr lang="zh-CN" altLang="en-US" sz="1800" b="1">
                <a:ea typeface="仿宋_GB2312" pitchFamily="49" charset="-122"/>
              </a:rPr>
              <a:t>’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成立；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当性别是男性时，要通过检查则名字一定不能以</a:t>
            </a: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Ms.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打头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544" y="1772816"/>
            <a:ext cx="8352928" cy="2661243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 algn="l">
              <a:lnSpc>
                <a:spcPct val="136500"/>
              </a:lnSpc>
              <a:spcBef>
                <a:spcPts val="86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b="1" spc="-4" dirty="0">
                <a:solidFill>
                  <a:srgbClr val="7030A0"/>
                </a:solidFill>
                <a:latin typeface="Arial"/>
                <a:cs typeface="Arial"/>
              </a:rPr>
              <a:t>check</a:t>
            </a:r>
            <a:r>
              <a:rPr sz="2000" b="1" spc="-9" dirty="0">
                <a:solidFill>
                  <a:srgbClr val="7030A0"/>
                </a:solidFill>
                <a:latin typeface="NSimSun"/>
                <a:cs typeface="NSimSun"/>
              </a:rPr>
              <a:t>中的条件可以</a:t>
            </a:r>
            <a:r>
              <a:rPr sz="2000" b="1" dirty="0">
                <a:solidFill>
                  <a:srgbClr val="7030A0"/>
                </a:solidFill>
                <a:latin typeface="NSimSun"/>
                <a:cs typeface="NSimSun"/>
              </a:rPr>
              <a:t>是</a:t>
            </a:r>
            <a:r>
              <a:rPr sz="2000" b="1" spc="-4" dirty="0">
                <a:solidFill>
                  <a:srgbClr val="7030A0"/>
                </a:solidFill>
                <a:latin typeface="Arial"/>
                <a:cs typeface="Arial"/>
              </a:rPr>
              <a:t>Select-From-Where</a:t>
            </a:r>
            <a:r>
              <a:rPr sz="2000" b="1" spc="-4" dirty="0">
                <a:solidFill>
                  <a:srgbClr val="7030A0"/>
                </a:solidFill>
                <a:latin typeface="NSimSun"/>
                <a:cs typeface="NSimSun"/>
              </a:rPr>
              <a:t>内任何</a:t>
            </a:r>
            <a:r>
              <a:rPr sz="2000" b="1" spc="-4" dirty="0">
                <a:solidFill>
                  <a:srgbClr val="7030A0"/>
                </a:solidFill>
                <a:latin typeface="Arial"/>
                <a:cs typeface="Arial"/>
              </a:rPr>
              <a:t>Where</a:t>
            </a:r>
            <a:r>
              <a:rPr sz="2000" b="1" spc="-9" dirty="0">
                <a:solidFill>
                  <a:srgbClr val="7030A0"/>
                </a:solidFill>
                <a:latin typeface="NSimSun"/>
                <a:cs typeface="NSimSun"/>
              </a:rPr>
              <a:t>后的语句，包含 子查询。</a:t>
            </a:r>
            <a:endParaRPr sz="2000" b="1" dirty="0">
              <a:solidFill>
                <a:srgbClr val="7030A0"/>
              </a:solidFill>
              <a:latin typeface="NSimSun"/>
              <a:cs typeface="NSimSun"/>
            </a:endParaRPr>
          </a:p>
          <a:p>
            <a:pPr marL="10860" algn="l">
              <a:spcBef>
                <a:spcPts val="556"/>
              </a:spcBef>
            </a:pPr>
            <a:r>
              <a:rPr sz="2052" b="1" dirty="0">
                <a:latin typeface="Microsoft YaHei"/>
                <a:cs typeface="Microsoft YaHei"/>
              </a:rPr>
              <a:t>示例</a:t>
            </a:r>
          </a:p>
          <a:p>
            <a:pPr marL="1432404" marR="166697" indent="-1151136" algn="l">
              <a:lnSpc>
                <a:spcPct val="130300"/>
              </a:lnSpc>
              <a:spcBef>
                <a:spcPts val="56"/>
              </a:spcBef>
              <a:tabLst>
                <a:tab pos="1791318" algn="l"/>
              </a:tabLst>
            </a:pPr>
            <a:r>
              <a:rPr sz="1900" b="1" spc="-4" dirty="0">
                <a:latin typeface="Arial"/>
                <a:cs typeface="Arial"/>
              </a:rPr>
              <a:t>Create Table </a:t>
            </a:r>
            <a:r>
              <a:rPr sz="1900" b="1" spc="-4" dirty="0">
                <a:solidFill>
                  <a:srgbClr val="FF0065"/>
                </a:solidFill>
                <a:latin typeface="Arial"/>
                <a:cs typeface="Arial"/>
              </a:rPr>
              <a:t>SC </a:t>
            </a:r>
            <a:r>
              <a:rPr sz="1900" b="1" dirty="0">
                <a:solidFill>
                  <a:srgbClr val="3333CC"/>
                </a:solidFill>
                <a:latin typeface="Arial"/>
                <a:cs typeface="Arial"/>
              </a:rPr>
              <a:t>( </a:t>
            </a:r>
            <a:r>
              <a:rPr sz="1900" b="1" spc="-4" dirty="0" err="1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altLang="zh-CN" sz="1900" b="1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19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latin typeface="Arial"/>
                <a:cs typeface="Arial"/>
              </a:rPr>
              <a:t>char(8) </a:t>
            </a:r>
            <a:r>
              <a:rPr sz="19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check( S# in (select S# from student))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3333CC"/>
                </a:solidFill>
                <a:latin typeface="Arial"/>
                <a:cs typeface="Arial"/>
              </a:rPr>
              <a:t>,  </a:t>
            </a:r>
            <a:r>
              <a:rPr sz="1900" b="1" spc="-4" dirty="0" err="1">
                <a:solidFill>
                  <a:srgbClr val="FF0065"/>
                </a:solidFill>
                <a:latin typeface="Arial"/>
                <a:cs typeface="Arial"/>
              </a:rPr>
              <a:t>C</a:t>
            </a:r>
            <a:r>
              <a:rPr lang="en-US" altLang="zh-CN" sz="1900" b="1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lang="en-US" altLang="zh-CN" sz="19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latin typeface="Arial"/>
                <a:cs typeface="Arial"/>
              </a:rPr>
              <a:t>char(3) </a:t>
            </a:r>
            <a:r>
              <a:rPr sz="19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check( C# in (select C# from course))</a:t>
            </a:r>
            <a:r>
              <a:rPr sz="1900" b="1" spc="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endParaRPr sz="1900" b="1" dirty="0">
              <a:latin typeface="Arial"/>
              <a:cs typeface="Arial"/>
            </a:endParaRPr>
          </a:p>
          <a:p>
            <a:pPr marL="1432404" marR="264978" indent="11403" algn="l">
              <a:lnSpc>
                <a:spcPts val="2403"/>
              </a:lnSpc>
              <a:spcBef>
                <a:spcPts val="171"/>
              </a:spcBef>
            </a:pPr>
            <a:r>
              <a:rPr sz="1900" b="1" spc="-4" dirty="0">
                <a:solidFill>
                  <a:srgbClr val="FF0065"/>
                </a:solidFill>
                <a:latin typeface="Arial"/>
                <a:cs typeface="Arial"/>
              </a:rPr>
              <a:t>Score </a:t>
            </a:r>
            <a:r>
              <a:rPr sz="1900" b="1" dirty="0">
                <a:latin typeface="Arial"/>
                <a:cs typeface="Arial"/>
              </a:rPr>
              <a:t>float(1) constraint </a:t>
            </a:r>
            <a:r>
              <a:rPr sz="1900" b="1" spc="-4" dirty="0">
                <a:latin typeface="Arial"/>
                <a:cs typeface="Arial"/>
              </a:rPr>
              <a:t>ctscore check </a:t>
            </a:r>
            <a:r>
              <a:rPr sz="1900" b="1" dirty="0">
                <a:latin typeface="Arial"/>
                <a:cs typeface="Arial"/>
              </a:rPr>
              <a:t>(Score&gt;=0.0 and  </a:t>
            </a:r>
            <a:r>
              <a:rPr sz="1900" b="1" spc="-4" dirty="0">
                <a:latin typeface="Arial"/>
                <a:cs typeface="Arial"/>
              </a:rPr>
              <a:t>Score&lt;=100.0)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endParaRPr sz="1900" b="1" dirty="0">
              <a:latin typeface="Arial"/>
              <a:cs typeface="Arial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96949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BBF73-90AB-457E-B621-AC520A994F92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 </a:t>
            </a:r>
            <a:r>
              <a:rPr lang="zh-CN" altLang="en-US" dirty="0"/>
              <a:t>用户定义的完整性</a:t>
            </a:r>
          </a:p>
        </p:txBody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90000"/>
              </a:lnSpc>
            </a:pPr>
            <a:r>
              <a:rPr lang="en-US" altLang="zh-CN" b="1" dirty="0"/>
              <a:t>5.3.1 </a:t>
            </a:r>
            <a:r>
              <a:rPr lang="zh-CN" altLang="en-US" b="1" dirty="0"/>
              <a:t>属性上的约束条件的定义</a:t>
            </a:r>
          </a:p>
          <a:p>
            <a:pPr>
              <a:lnSpc>
                <a:spcPct val="190000"/>
              </a:lnSpc>
            </a:pPr>
            <a:r>
              <a:rPr lang="en-US" altLang="zh-CN" b="1" dirty="0"/>
              <a:t>5.3.2 </a:t>
            </a:r>
            <a:r>
              <a:rPr lang="zh-CN" altLang="en-US" b="1" dirty="0"/>
              <a:t>属性上的约束条件检查和违约处理 </a:t>
            </a:r>
          </a:p>
          <a:p>
            <a:pPr>
              <a:lnSpc>
                <a:spcPct val="190000"/>
              </a:lnSpc>
            </a:pPr>
            <a:r>
              <a:rPr lang="en-US" altLang="zh-CN" b="1" dirty="0"/>
              <a:t>5.3.3 </a:t>
            </a:r>
            <a:r>
              <a:rPr lang="zh-CN" altLang="en-US" b="1" dirty="0"/>
              <a:t>元组上的约束条件的定义 </a:t>
            </a:r>
          </a:p>
          <a:p>
            <a:pPr>
              <a:lnSpc>
                <a:spcPct val="190000"/>
              </a:lnSpc>
            </a:pPr>
            <a:r>
              <a:rPr lang="en-US" altLang="zh-CN" b="1" dirty="0">
                <a:solidFill>
                  <a:srgbClr val="3333FF"/>
                </a:solidFill>
              </a:rPr>
              <a:t>5.3.4 </a:t>
            </a:r>
            <a:r>
              <a:rPr lang="zh-CN" altLang="en-US" b="1" dirty="0">
                <a:solidFill>
                  <a:srgbClr val="3333FF"/>
                </a:solidFill>
              </a:rPr>
              <a:t>元组上的约束条件检查和违约处理</a:t>
            </a:r>
          </a:p>
          <a:p>
            <a:endParaRPr lang="en-US" altLang="zh-CN" b="1" dirty="0">
              <a:solidFill>
                <a:srgbClr val="3333F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880B-3719-4CBB-AFCD-A7016C8F7C2A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5.3.4 </a:t>
            </a:r>
            <a:r>
              <a:rPr lang="zh-CN" altLang="en-US" sz="3200" dirty="0"/>
              <a:t>元组上的约束条件检查和违约处理</a:t>
            </a:r>
          </a:p>
        </p:txBody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80000"/>
              </a:lnSpc>
            </a:pPr>
            <a:r>
              <a:rPr lang="zh-CN" altLang="en-US" sz="2400" b="1"/>
              <a:t>插入元组或修改属性的值时，</a:t>
            </a:r>
            <a:r>
              <a:rPr lang="en-US" altLang="zh-CN" sz="2400" b="1"/>
              <a:t>RDBMS</a:t>
            </a:r>
            <a:r>
              <a:rPr lang="zh-CN" altLang="en-US" sz="2400" b="1"/>
              <a:t>检查元组上的约束条件是否被满足</a:t>
            </a:r>
          </a:p>
          <a:p>
            <a:pPr>
              <a:lnSpc>
                <a:spcPct val="180000"/>
              </a:lnSpc>
            </a:pPr>
            <a:r>
              <a:rPr lang="zh-CN" altLang="en-US" sz="2400" b="1"/>
              <a:t>如果不满足则操作被拒绝执行</a:t>
            </a:r>
            <a:r>
              <a:rPr lang="zh-CN" altLang="en-US" b="1"/>
              <a:t>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0232-EA00-4ED6-A3E8-8B1357AD8176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549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数据库完整性</a:t>
            </a:r>
          </a:p>
        </p:txBody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73238"/>
            <a:ext cx="7859712" cy="4495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5.1  </a:t>
            </a:r>
            <a:r>
              <a:rPr lang="zh-CN" altLang="en-US" b="1" dirty="0"/>
              <a:t>实体完整性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5.2  </a:t>
            </a:r>
            <a:r>
              <a:rPr lang="zh-CN" altLang="en-US" b="1" dirty="0"/>
              <a:t>参照完整性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5.3  </a:t>
            </a:r>
            <a:r>
              <a:rPr lang="zh-CN" altLang="en-US" b="1" dirty="0"/>
              <a:t>用户定义的完整性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5.4  </a:t>
            </a:r>
            <a:r>
              <a:rPr lang="zh-CN" altLang="en-US" b="1" dirty="0">
                <a:solidFill>
                  <a:schemeClr val="tx2"/>
                </a:solidFill>
              </a:rPr>
              <a:t>完整性约束命名子句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5.5  </a:t>
            </a:r>
            <a:r>
              <a:rPr lang="zh-CN" altLang="en-US" b="1" dirty="0"/>
              <a:t>域中的完整性限制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5.6  </a:t>
            </a:r>
            <a:r>
              <a:rPr lang="zh-CN" altLang="en-US" b="1" dirty="0"/>
              <a:t>触发器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5.7  </a:t>
            </a:r>
            <a:r>
              <a:rPr lang="zh-CN" altLang="en-US" b="1" dirty="0"/>
              <a:t>小结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2A353-1939-492E-964B-141843EE5069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 </a:t>
            </a:r>
            <a:r>
              <a:rPr lang="zh-CN" altLang="en-US" dirty="0"/>
              <a:t>完整性约束命名子句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/>
              <a:t>CONSTRAINT </a:t>
            </a:r>
            <a:r>
              <a:rPr lang="zh-CN" altLang="en-US" b="1"/>
              <a:t>约束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400" b="1"/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CONSTRAINT &lt;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完整性约束条件名</a:t>
            </a: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&gt;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［</a:t>
            </a: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PRIMARY KEY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短语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   </a:t>
            </a: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|FOREIGN KEY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短语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   </a:t>
            </a:r>
            <a:r>
              <a:rPr lang="en-US" altLang="zh-CN" b="1">
                <a:latin typeface="仿宋_GB2312" pitchFamily="49" charset="-122"/>
                <a:ea typeface="仿宋_GB2312" pitchFamily="49" charset="-122"/>
              </a:rPr>
              <a:t>|CHECK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短语］</a:t>
            </a:r>
          </a:p>
          <a:p>
            <a:pPr>
              <a:lnSpc>
                <a:spcPct val="150000"/>
              </a:lnSpc>
            </a:pPr>
            <a:endParaRPr lang="en-US" altLang="zh-CN" sz="2400" b="1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917F2-DE54-4054-AFC0-401C0A5EECD4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完整性约束命名子句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557338"/>
            <a:ext cx="8569325" cy="489585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［例</a:t>
            </a:r>
            <a:r>
              <a:rPr lang="en-US" altLang="zh-CN" sz="2000" b="1"/>
              <a:t>10</a:t>
            </a:r>
            <a:r>
              <a:rPr lang="zh-CN" altLang="en-US" sz="2000" b="1"/>
              <a:t>］  建立学生登记表</a:t>
            </a:r>
            <a:r>
              <a:rPr lang="en-US" altLang="zh-CN" sz="2000" b="1"/>
              <a:t>Student</a:t>
            </a:r>
            <a:r>
              <a:rPr lang="zh-CN" altLang="en-US" sz="2000" b="1"/>
              <a:t>，要求学号在</a:t>
            </a:r>
            <a:r>
              <a:rPr lang="en-US" altLang="zh-CN" sz="2000" b="1"/>
              <a:t>90000~99999</a:t>
            </a:r>
            <a:r>
              <a:rPr lang="zh-CN" altLang="en-US" sz="2000" b="1"/>
              <a:t>之间，姓名不能取空值，年龄小于</a:t>
            </a:r>
            <a:r>
              <a:rPr lang="en-US" altLang="zh-CN" sz="2000" b="1"/>
              <a:t>30</a:t>
            </a:r>
            <a:r>
              <a:rPr lang="zh-CN" altLang="en-US" sz="2000" b="1"/>
              <a:t>，性别只能是“男”或“女”。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</a:t>
            </a:r>
            <a:r>
              <a:rPr lang="en-US" altLang="zh-CN" sz="2000" b="1"/>
              <a:t>CREATE TABLE Student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 (Sno  NUMERIC(6)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   </a:t>
            </a:r>
            <a:r>
              <a:rPr lang="en-US" altLang="zh-CN" sz="2000" b="1">
                <a:solidFill>
                  <a:srgbClr val="FF66FF"/>
                </a:solidFill>
              </a:rPr>
              <a:t>CONSTRAINT C1 CHECK (Sno BETWEEN 90000 AND 99999)</a:t>
            </a:r>
            <a:r>
              <a:rPr lang="zh-CN" altLang="en-US" sz="2000" b="1"/>
              <a:t>，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</a:t>
            </a:r>
            <a:r>
              <a:rPr lang="en-US" altLang="zh-CN" sz="2000" b="1"/>
              <a:t>Sname  CHAR(20)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   </a:t>
            </a:r>
            <a:r>
              <a:rPr lang="en-US" altLang="zh-CN" sz="2000" b="1">
                <a:solidFill>
                  <a:srgbClr val="FF66FF"/>
                </a:solidFill>
              </a:rPr>
              <a:t>CONSTRAINT C2 NOT NULL</a:t>
            </a:r>
            <a:r>
              <a:rPr lang="zh-CN" altLang="en-US" sz="2000" b="1"/>
              <a:t>，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</a:t>
            </a:r>
            <a:r>
              <a:rPr lang="en-US" altLang="zh-CN" sz="2000" b="1"/>
              <a:t>Sage  NUMERIC(3)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   </a:t>
            </a:r>
            <a:r>
              <a:rPr lang="en-US" altLang="zh-CN" sz="2000" b="1">
                <a:solidFill>
                  <a:srgbClr val="FF66FF"/>
                </a:solidFill>
              </a:rPr>
              <a:t>CONSTRAINT C3 CHECK (Sage &lt; 30)</a:t>
            </a:r>
            <a:r>
              <a:rPr lang="zh-CN" altLang="en-US" sz="2000" b="1"/>
              <a:t>，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</a:t>
            </a:r>
            <a:r>
              <a:rPr lang="en-US" altLang="zh-CN" sz="2000" b="1"/>
              <a:t>Ssex  CHAR(2)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   </a:t>
            </a:r>
            <a:r>
              <a:rPr lang="en-US" altLang="zh-CN" sz="2000" b="1">
                <a:solidFill>
                  <a:srgbClr val="FF66FF"/>
                </a:solidFill>
              </a:rPr>
              <a:t>CONSTRAINT C4 CHECK (Ssex IN ( '</a:t>
            </a:r>
            <a:r>
              <a:rPr lang="zh-CN" altLang="en-US" sz="2000" b="1">
                <a:solidFill>
                  <a:srgbClr val="FF66FF"/>
                </a:solidFill>
              </a:rPr>
              <a:t>男</a:t>
            </a:r>
            <a:r>
              <a:rPr lang="en-US" altLang="zh-CN" sz="2000" b="1">
                <a:solidFill>
                  <a:srgbClr val="FF66FF"/>
                </a:solidFill>
              </a:rPr>
              <a:t>'</a:t>
            </a:r>
            <a:r>
              <a:rPr lang="zh-CN" altLang="en-US" sz="2000" b="1">
                <a:solidFill>
                  <a:srgbClr val="FF66FF"/>
                </a:solidFill>
              </a:rPr>
              <a:t>，</a:t>
            </a:r>
            <a:r>
              <a:rPr lang="en-US" altLang="zh-CN" sz="2000" b="1">
                <a:solidFill>
                  <a:srgbClr val="FF66FF"/>
                </a:solidFill>
              </a:rPr>
              <a:t>'</a:t>
            </a:r>
            <a:r>
              <a:rPr lang="zh-CN" altLang="en-US" sz="2000" b="1">
                <a:solidFill>
                  <a:srgbClr val="FF66FF"/>
                </a:solidFill>
              </a:rPr>
              <a:t>女</a:t>
            </a:r>
            <a:r>
              <a:rPr lang="en-US" altLang="zh-CN" sz="2000" b="1">
                <a:solidFill>
                  <a:srgbClr val="FF66FF"/>
                </a:solidFill>
              </a:rPr>
              <a:t>'))</a:t>
            </a:r>
            <a:r>
              <a:rPr lang="zh-CN" altLang="en-US" sz="2000" b="1">
                <a:solidFill>
                  <a:srgbClr val="FF66FF"/>
                </a:solidFill>
              </a:rPr>
              <a:t>，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FF66FF"/>
                </a:solidFill>
              </a:rPr>
              <a:t>        </a:t>
            </a:r>
            <a:r>
              <a:rPr lang="en-US" altLang="zh-CN" sz="2000" b="1">
                <a:solidFill>
                  <a:srgbClr val="FF66FF"/>
                </a:solidFill>
              </a:rPr>
              <a:t>CONSTRAINT StudentKey PRIMARY KEY(Sno)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 )</a:t>
            </a:r>
            <a:r>
              <a:rPr lang="zh-CN" altLang="en-US" sz="2000" b="1"/>
              <a:t>；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在</a:t>
            </a: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Student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表上建立了</a:t>
            </a: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5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个约束条件，包括主码约束（命名为</a:t>
            </a: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StudentKey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）以及</a:t>
            </a: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C1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、</a:t>
            </a: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C2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、</a:t>
            </a: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C3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、</a:t>
            </a: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C4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四个列级约束。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 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493" y="1628800"/>
            <a:ext cx="7556907" cy="2880320"/>
          </a:xfrm>
        </p:spPr>
        <p:txBody>
          <a:bodyPr/>
          <a:lstStyle/>
          <a:p>
            <a:pPr marL="444164" marR="290499" indent="0">
              <a:spcBef>
                <a:spcPts val="2005"/>
              </a:spcBef>
              <a:buNone/>
              <a:tabLst>
                <a:tab pos="6329617" algn="l"/>
              </a:tabLst>
            </a:pPr>
            <a:r>
              <a:rPr lang="en-US" altLang="zh-CN" sz="2000" b="1" spc="-4" dirty="0">
                <a:cs typeface="Arial"/>
              </a:rPr>
              <a:t>Create  </a:t>
            </a:r>
            <a:r>
              <a:rPr lang="en-US" altLang="zh-CN" sz="2000" b="1" dirty="0">
                <a:cs typeface="Arial"/>
              </a:rPr>
              <a:t>Table </a:t>
            </a:r>
            <a:r>
              <a:rPr lang="en-US" altLang="zh-CN" sz="2000" b="1" spc="-4" dirty="0">
                <a:cs typeface="Arial"/>
              </a:rPr>
              <a:t> </a:t>
            </a:r>
            <a:r>
              <a:rPr lang="en-US" altLang="zh-CN" sz="2000" b="1" dirty="0">
                <a:solidFill>
                  <a:srgbClr val="FF0065"/>
                </a:solidFill>
                <a:cs typeface="Arial"/>
              </a:rPr>
              <a:t>Course</a:t>
            </a:r>
            <a:r>
              <a:rPr lang="en-US" altLang="zh-CN" sz="2000" b="1" spc="-4" dirty="0">
                <a:solidFill>
                  <a:srgbClr val="FF0065"/>
                </a:solidFill>
                <a:cs typeface="Arial"/>
              </a:rPr>
              <a:t> </a:t>
            </a:r>
            <a:r>
              <a:rPr lang="en-US" altLang="zh-CN" sz="2000" b="1" dirty="0">
                <a:solidFill>
                  <a:srgbClr val="3333CC"/>
                </a:solidFill>
                <a:cs typeface="Arial"/>
              </a:rPr>
              <a:t>(</a:t>
            </a:r>
            <a:r>
              <a:rPr lang="en-US" altLang="zh-CN" sz="2000" b="1" spc="-4" dirty="0">
                <a:solidFill>
                  <a:srgbClr val="3333CC"/>
                </a:solidFill>
                <a:cs typeface="Arial"/>
              </a:rPr>
              <a:t> </a:t>
            </a:r>
            <a:r>
              <a:rPr lang="en-US" altLang="zh-CN" sz="2000" b="1" spc="-4" dirty="0" err="1">
                <a:solidFill>
                  <a:srgbClr val="FF0065"/>
                </a:solidFill>
                <a:cs typeface="Arial"/>
              </a:rPr>
              <a:t>Cno</a:t>
            </a:r>
            <a:r>
              <a:rPr lang="en-US" altLang="zh-CN" sz="2000" b="1" dirty="0">
                <a:solidFill>
                  <a:srgbClr val="FF0065"/>
                </a:solidFill>
                <a:cs typeface="Arial"/>
              </a:rPr>
              <a:t> </a:t>
            </a:r>
            <a:r>
              <a:rPr lang="en-US" altLang="zh-CN" sz="2000" b="1" spc="-4" dirty="0">
                <a:solidFill>
                  <a:srgbClr val="FF0065"/>
                </a:solidFill>
                <a:cs typeface="Arial"/>
              </a:rPr>
              <a:t> </a:t>
            </a:r>
            <a:r>
              <a:rPr lang="en-US" altLang="zh-CN" sz="2000" b="1" spc="-4" dirty="0">
                <a:cs typeface="Arial"/>
              </a:rPr>
              <a:t>char(3) </a:t>
            </a:r>
            <a:r>
              <a:rPr lang="en-US" altLang="zh-CN" sz="2000" b="1" dirty="0">
                <a:solidFill>
                  <a:srgbClr val="FF0065"/>
                </a:solidFill>
                <a:cs typeface="Arial"/>
              </a:rPr>
              <a:t>, </a:t>
            </a:r>
            <a:r>
              <a:rPr lang="en-US" altLang="zh-CN" sz="2000" b="1" spc="-4" dirty="0">
                <a:solidFill>
                  <a:srgbClr val="FF0065"/>
                </a:solidFill>
                <a:cs typeface="Arial"/>
              </a:rPr>
              <a:t> </a:t>
            </a:r>
            <a:r>
              <a:rPr lang="en-US" altLang="zh-CN" sz="2000" b="1" spc="-9" dirty="0" err="1">
                <a:solidFill>
                  <a:srgbClr val="FF0065"/>
                </a:solidFill>
                <a:cs typeface="Arial"/>
              </a:rPr>
              <a:t>Cnam</a:t>
            </a:r>
            <a:r>
              <a:rPr lang="en-US" altLang="zh-CN" sz="2000" b="1" spc="-4" dirty="0" err="1">
                <a:solidFill>
                  <a:srgbClr val="FF0065"/>
                </a:solidFill>
                <a:cs typeface="Arial"/>
              </a:rPr>
              <a:t>e</a:t>
            </a:r>
            <a:r>
              <a:rPr lang="en-US" altLang="zh-CN" sz="2000" b="1" dirty="0">
                <a:solidFill>
                  <a:srgbClr val="FF0065"/>
                </a:solidFill>
                <a:cs typeface="Arial"/>
              </a:rPr>
              <a:t> </a:t>
            </a:r>
            <a:r>
              <a:rPr lang="en-US" altLang="zh-CN" sz="2000" b="1" spc="-9" dirty="0">
                <a:solidFill>
                  <a:srgbClr val="FF0065"/>
                </a:solidFill>
                <a:cs typeface="Arial"/>
              </a:rPr>
              <a:t> </a:t>
            </a:r>
            <a:r>
              <a:rPr lang="en-US" altLang="zh-CN" sz="2000" b="1" spc="-4" dirty="0">
                <a:cs typeface="Arial"/>
              </a:rPr>
              <a:t>char(12)</a:t>
            </a:r>
            <a:r>
              <a:rPr lang="en-US" altLang="zh-CN" sz="2000" b="1" dirty="0">
                <a:solidFill>
                  <a:srgbClr val="FF0065"/>
                </a:solidFill>
                <a:cs typeface="Arial"/>
              </a:rPr>
              <a:t>,</a:t>
            </a:r>
            <a:r>
              <a:rPr lang="en-US" altLang="zh-CN" sz="2000" b="1" spc="-4" dirty="0">
                <a:solidFill>
                  <a:srgbClr val="FF0065"/>
                </a:solidFill>
                <a:cs typeface="Arial"/>
              </a:rPr>
              <a:t> </a:t>
            </a:r>
            <a:r>
              <a:rPr lang="en-US" altLang="zh-CN" sz="2000" b="1" spc="-4" dirty="0" err="1">
                <a:solidFill>
                  <a:srgbClr val="FF0065"/>
                </a:solidFill>
                <a:cs typeface="Arial"/>
              </a:rPr>
              <a:t>Chour</a:t>
            </a:r>
            <a:r>
              <a:rPr lang="en-US" altLang="zh-CN" sz="2000" b="1" dirty="0" err="1">
                <a:solidFill>
                  <a:srgbClr val="FF0065"/>
                </a:solidFill>
                <a:cs typeface="Arial"/>
              </a:rPr>
              <a:t>s</a:t>
            </a:r>
            <a:r>
              <a:rPr lang="en-US" altLang="zh-CN" sz="2000" b="1" dirty="0">
                <a:solidFill>
                  <a:srgbClr val="FF0065"/>
                </a:solidFill>
                <a:cs typeface="Arial"/>
              </a:rPr>
              <a:t> </a:t>
            </a:r>
            <a:r>
              <a:rPr lang="en-US" altLang="zh-CN" sz="2000" b="1" dirty="0">
                <a:cs typeface="Arial"/>
              </a:rPr>
              <a:t>integer</a:t>
            </a:r>
            <a:r>
              <a:rPr lang="en-US" altLang="zh-CN" sz="2000" b="1" dirty="0">
                <a:solidFill>
                  <a:srgbClr val="FF0065"/>
                </a:solidFill>
                <a:cs typeface="Arial"/>
              </a:rPr>
              <a:t>,   </a:t>
            </a:r>
            <a:r>
              <a:rPr lang="en-US" altLang="zh-CN" sz="2000" b="1" spc="-4" dirty="0">
                <a:solidFill>
                  <a:srgbClr val="FF0065"/>
                </a:solidFill>
                <a:cs typeface="Arial"/>
              </a:rPr>
              <a:t>Credit </a:t>
            </a:r>
            <a:r>
              <a:rPr lang="en-US" altLang="zh-CN" sz="2000" b="1" spc="-4" dirty="0">
                <a:cs typeface="Arial"/>
              </a:rPr>
              <a:t>float(1) constraint </a:t>
            </a:r>
            <a:r>
              <a:rPr lang="en-US" altLang="zh-CN" sz="2000" b="1" spc="-4" dirty="0" err="1">
                <a:cs typeface="Arial"/>
              </a:rPr>
              <a:t>ctcredit</a:t>
            </a:r>
            <a:r>
              <a:rPr lang="en-US" altLang="zh-CN" sz="2000" b="1" spc="-4" dirty="0">
                <a:cs typeface="Arial"/>
              </a:rPr>
              <a:t> check (Credit &gt;=0.0</a:t>
            </a:r>
            <a:r>
              <a:rPr lang="en-US" altLang="zh-CN" sz="2000" b="1" spc="385" dirty="0">
                <a:cs typeface="Arial"/>
              </a:rPr>
              <a:t> </a:t>
            </a:r>
            <a:r>
              <a:rPr lang="en-US" altLang="zh-CN" sz="2000" b="1" spc="-4" dirty="0">
                <a:cs typeface="Arial"/>
              </a:rPr>
              <a:t>and Credit&lt;=5.0 </a:t>
            </a:r>
            <a:r>
              <a:rPr lang="en-US" altLang="zh-CN" sz="2000" b="1" dirty="0">
                <a:cs typeface="Arial"/>
              </a:rPr>
              <a:t>)</a:t>
            </a:r>
            <a:r>
              <a:rPr lang="en-US" altLang="zh-CN" sz="2000" b="1" dirty="0">
                <a:solidFill>
                  <a:srgbClr val="FF0065"/>
                </a:solidFill>
                <a:cs typeface="Arial"/>
              </a:rPr>
              <a:t>, </a:t>
            </a:r>
            <a:r>
              <a:rPr lang="en-US" altLang="zh-CN" sz="2000" b="1" spc="17" dirty="0">
                <a:solidFill>
                  <a:srgbClr val="FF0065"/>
                </a:solidFill>
                <a:cs typeface="Arial"/>
              </a:rPr>
              <a:t>  </a:t>
            </a:r>
            <a:r>
              <a:rPr lang="en-US" altLang="zh-CN" sz="2000" b="1" spc="-4" dirty="0" err="1">
                <a:solidFill>
                  <a:srgbClr val="FF0065"/>
                </a:solidFill>
                <a:cs typeface="Arial"/>
              </a:rPr>
              <a:t>Tno</a:t>
            </a:r>
            <a:r>
              <a:rPr lang="en-US" altLang="zh-CN" sz="2000" b="1" spc="-4" dirty="0">
                <a:solidFill>
                  <a:srgbClr val="FF0065"/>
                </a:solidFill>
                <a:cs typeface="Arial"/>
              </a:rPr>
              <a:t> </a:t>
            </a:r>
            <a:r>
              <a:rPr lang="en-US" altLang="zh-CN" sz="2000" b="1" spc="13" dirty="0">
                <a:solidFill>
                  <a:srgbClr val="FF0065"/>
                </a:solidFill>
                <a:cs typeface="Arial"/>
              </a:rPr>
              <a:t> </a:t>
            </a:r>
            <a:r>
              <a:rPr lang="en-US" altLang="zh-CN" sz="2000" b="1" spc="-4" dirty="0">
                <a:cs typeface="Arial"/>
              </a:rPr>
              <a:t>char(3) references </a:t>
            </a:r>
            <a:r>
              <a:rPr lang="en-US" altLang="zh-CN" sz="2000" b="1" dirty="0">
                <a:cs typeface="Arial"/>
              </a:rPr>
              <a:t>Teacher(</a:t>
            </a:r>
            <a:r>
              <a:rPr lang="en-US" altLang="zh-CN" sz="2000" b="1" dirty="0" err="1">
                <a:cs typeface="Arial"/>
              </a:rPr>
              <a:t>Tno</a:t>
            </a:r>
            <a:r>
              <a:rPr lang="en-US" altLang="zh-CN" sz="2000" b="1" dirty="0">
                <a:cs typeface="Arial"/>
              </a:rPr>
              <a:t>) on</a:t>
            </a:r>
            <a:r>
              <a:rPr lang="en-US" altLang="zh-CN" sz="2000" b="1" spc="-21" dirty="0">
                <a:cs typeface="Arial"/>
              </a:rPr>
              <a:t> </a:t>
            </a:r>
            <a:r>
              <a:rPr lang="en-US" altLang="zh-CN" sz="2000" b="1" dirty="0">
                <a:cs typeface="Arial"/>
              </a:rPr>
              <a:t>delete  </a:t>
            </a:r>
            <a:r>
              <a:rPr lang="en-US" altLang="zh-CN" sz="2000" b="1" spc="-4" dirty="0">
                <a:cs typeface="Arial"/>
              </a:rPr>
              <a:t>cascade</a:t>
            </a:r>
            <a:r>
              <a:rPr lang="en-US" altLang="zh-CN" sz="2000" b="1" u="heavy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  <a:t>, </a:t>
            </a:r>
          </a:p>
          <a:p>
            <a:pPr marL="444164" marR="290499" indent="0">
              <a:spcBef>
                <a:spcPts val="2005"/>
              </a:spcBef>
              <a:buNone/>
              <a:tabLst>
                <a:tab pos="6329617" algn="l"/>
              </a:tabLst>
            </a:pPr>
            <a:r>
              <a:rPr lang="en-US" altLang="zh-CN" sz="2000" b="1" u="heavy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  <a:t>primary</a:t>
            </a:r>
            <a:r>
              <a:rPr lang="en-US" altLang="zh-CN" sz="2000" b="1" u="heavy" spc="-9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  <a:t> key(</a:t>
            </a:r>
            <a:r>
              <a:rPr lang="en-US" altLang="zh-CN" sz="2000" b="1" u="heavy" spc="-9" dirty="0" err="1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  <a:t>Cno</a:t>
            </a:r>
            <a:r>
              <a:rPr lang="en-US" altLang="zh-CN" sz="2000" b="1" u="heavy" spc="-9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  <a:t>),</a:t>
            </a:r>
            <a:br>
              <a:rPr lang="en-US" altLang="zh-CN" sz="2000" b="1" u="heavy" spc="-9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</a:br>
            <a:r>
              <a:rPr lang="en-US" altLang="zh-CN" sz="2000" b="1" u="heavy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  <a:t>constraint  </a:t>
            </a:r>
            <a:r>
              <a:rPr lang="en-US" altLang="zh-CN" sz="2000" b="1" u="heavy" spc="-4" dirty="0" err="1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  <a:t>ctc</a:t>
            </a:r>
            <a:r>
              <a:rPr lang="en-US" altLang="zh-CN" sz="2000" b="1" u="heavy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  <a:t>  </a:t>
            </a:r>
            <a:r>
              <a:rPr lang="en-US" altLang="zh-CN" sz="2000" b="1" u="heavy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  <a:t>check(</a:t>
            </a:r>
            <a:r>
              <a:rPr lang="en-US" altLang="zh-CN" sz="2000" b="1" u="heavy" dirty="0" err="1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  <a:t>Chours</a:t>
            </a:r>
            <a:r>
              <a:rPr lang="en-US" altLang="zh-CN" sz="2000" b="1" u="heavy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  <a:t>/Credit = </a:t>
            </a:r>
            <a:r>
              <a:rPr lang="en-US" altLang="zh-CN" sz="2000" b="1" u="heavy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cs typeface="Arial"/>
              </a:rPr>
              <a:t>20)</a:t>
            </a:r>
            <a:r>
              <a:rPr lang="en-US" altLang="zh-CN" sz="2000" b="1" spc="-77" dirty="0">
                <a:solidFill>
                  <a:srgbClr val="3333CC"/>
                </a:solidFill>
                <a:cs typeface="Arial"/>
              </a:rPr>
              <a:t> </a:t>
            </a:r>
            <a:r>
              <a:rPr lang="en-US" altLang="zh-CN" sz="2000" b="1" spc="-4" dirty="0">
                <a:cs typeface="Arial"/>
              </a:rPr>
              <a:t>)</a:t>
            </a:r>
            <a:r>
              <a:rPr lang="en-US" altLang="zh-CN" sz="2000" b="1" spc="-4" dirty="0">
                <a:solidFill>
                  <a:srgbClr val="3333CC"/>
                </a:solidFill>
                <a:cs typeface="Arial"/>
              </a:rPr>
              <a:t>;</a:t>
            </a:r>
            <a:endParaRPr lang="en-US" altLang="zh-CN" sz="2000" b="1" dirty="0">
              <a:cs typeface="Arial"/>
            </a:endParaRPr>
          </a:p>
          <a:p>
            <a:pPr marL="2013670" indent="0">
              <a:spcBef>
                <a:spcPts val="573"/>
              </a:spcBef>
              <a:buNone/>
            </a:pPr>
            <a:r>
              <a:rPr lang="en-US" altLang="zh-CN" sz="2000" b="1" dirty="0">
                <a:solidFill>
                  <a:srgbClr val="3333CC"/>
                </a:solidFill>
                <a:cs typeface="Arial"/>
              </a:rPr>
              <a:t>//</a:t>
            </a:r>
            <a:r>
              <a:rPr lang="zh-CN" altLang="en-US" sz="2000" b="1" dirty="0">
                <a:solidFill>
                  <a:srgbClr val="3333CC"/>
                </a:solidFill>
                <a:latin typeface="NSimSun"/>
                <a:cs typeface="NSimSun"/>
              </a:rPr>
              <a:t>假定严格约束</a:t>
            </a:r>
            <a:r>
              <a:rPr lang="en-US" altLang="zh-CN" sz="2000" b="1" spc="-9" dirty="0">
                <a:solidFill>
                  <a:srgbClr val="3333CC"/>
                </a:solidFill>
                <a:cs typeface="Arial"/>
              </a:rPr>
              <a:t>20</a:t>
            </a:r>
            <a:r>
              <a:rPr lang="zh-CN" altLang="en-US" sz="2000" b="1" spc="-4" dirty="0">
                <a:solidFill>
                  <a:srgbClr val="3333CC"/>
                </a:solidFill>
                <a:latin typeface="NSimSun"/>
                <a:cs typeface="NSimSun"/>
              </a:rPr>
              <a:t>学时一个学分</a:t>
            </a:r>
            <a:endParaRPr lang="zh-CN" altLang="en-US" sz="2000" b="1" dirty="0">
              <a:latin typeface="NSimSun"/>
              <a:cs typeface="NSimSun"/>
            </a:endParaRPr>
          </a:p>
          <a:p>
            <a:pPr marL="0" indent="0">
              <a:buNone/>
            </a:pPr>
            <a:endParaRPr lang="zh-CN" altLang="en-US" b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36C2-C71C-45E6-BA0F-4D091CFDA314}" type="slidenum">
              <a:rPr lang="en-US" altLang="zh-CN" smtClean="0"/>
              <a:pPr/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74859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ABE3-3B5A-4EA3-A582-A342715B2101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完整性约束命名子句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62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en-US" altLang="zh-CN" sz="3200" b="1"/>
              <a:t>2. </a:t>
            </a:r>
            <a:r>
              <a:rPr lang="zh-CN" altLang="en-US" sz="3200" b="1"/>
              <a:t>修改表中的完整性限制</a:t>
            </a:r>
          </a:p>
          <a:p>
            <a:pPr lvl="1">
              <a:lnSpc>
                <a:spcPct val="160000"/>
              </a:lnSpc>
            </a:pPr>
            <a:r>
              <a:rPr lang="zh-CN" altLang="en-US" sz="2800"/>
              <a:t>使用</a:t>
            </a:r>
            <a:r>
              <a:rPr lang="en-US" altLang="zh-CN" sz="2800"/>
              <a:t>ALTER TABLE</a:t>
            </a:r>
            <a:r>
              <a:rPr lang="zh-CN" altLang="en-US" sz="2800"/>
              <a:t>语句修改表中的完整性限制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D922-E115-4986-AF4D-AD807D319189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完整性约束命名子句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57338"/>
            <a:ext cx="9144000" cy="50403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/>
              <a:t>［例</a:t>
            </a:r>
            <a:r>
              <a:rPr lang="en-US" altLang="zh-CN" sz="2400" b="1"/>
              <a:t>13</a:t>
            </a:r>
            <a:r>
              <a:rPr lang="zh-CN" altLang="en-US" sz="2400" b="1"/>
              <a:t>］  修改表</a:t>
            </a:r>
            <a:r>
              <a:rPr lang="en-US" altLang="zh-CN" sz="2400" b="1"/>
              <a:t>Student</a:t>
            </a:r>
            <a:r>
              <a:rPr lang="zh-CN" altLang="en-US" sz="2400" b="1"/>
              <a:t>中的约束条件，要求学号改为在</a:t>
            </a:r>
            <a:r>
              <a:rPr lang="en-US" altLang="zh-CN" sz="2400" b="1"/>
              <a:t>900000~999999</a:t>
            </a:r>
            <a:r>
              <a:rPr lang="zh-CN" altLang="en-US" sz="2400" b="1"/>
              <a:t>之间，年龄由小于</a:t>
            </a:r>
            <a:r>
              <a:rPr lang="en-US" altLang="zh-CN" sz="2400" b="1"/>
              <a:t>30</a:t>
            </a:r>
            <a:r>
              <a:rPr lang="zh-CN" altLang="en-US" sz="2400" b="1"/>
              <a:t>改为小于</a:t>
            </a:r>
            <a:r>
              <a:rPr lang="en-US" altLang="zh-CN" sz="2400" b="1"/>
              <a:t>40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zh-CN" altLang="en-US" b="1">
                <a:solidFill>
                  <a:srgbClr val="3333FF"/>
                </a:solidFill>
              </a:rPr>
              <a:t>可以先删除原来的约束条件，再增加新的约束条件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  </a:t>
            </a:r>
            <a:r>
              <a:rPr lang="en-US" altLang="zh-CN" sz="2000" b="1">
                <a:solidFill>
                  <a:srgbClr val="72BE2C"/>
                </a:solidFill>
              </a:rPr>
              <a:t>ALTER TABLE Student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72BE2C"/>
                </a:solidFill>
              </a:rPr>
              <a:t>        DROP CONSTRAINT C1;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/>
              <a:t>        </a:t>
            </a:r>
            <a:r>
              <a:rPr lang="en-US" altLang="zh-CN" sz="2000" b="1">
                <a:solidFill>
                  <a:srgbClr val="FF00FF"/>
                </a:solidFill>
              </a:rPr>
              <a:t>ALTER TABLE Student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FF00FF"/>
                </a:solidFill>
              </a:rPr>
              <a:t>        ADD CONSTRAINT C1 CHECK (Sno BETWEEN 900000 AND 999999)</a:t>
            </a:r>
            <a:r>
              <a:rPr lang="zh-CN" altLang="en-US" sz="2000" b="1">
                <a:solidFill>
                  <a:srgbClr val="FF00FF"/>
                </a:solidFill>
              </a:rPr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b="1"/>
              <a:t>        </a:t>
            </a:r>
            <a:r>
              <a:rPr lang="en-US" altLang="zh-CN" sz="2000" b="1">
                <a:solidFill>
                  <a:srgbClr val="72BE2C"/>
                </a:solidFill>
              </a:rPr>
              <a:t>ALTER TABLE Student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72BE2C"/>
                </a:solidFill>
              </a:rPr>
              <a:t>        DROP CONSTRAINT C3;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/>
              <a:t>        </a:t>
            </a:r>
            <a:r>
              <a:rPr lang="en-US" altLang="zh-CN" sz="2000" b="1">
                <a:solidFill>
                  <a:srgbClr val="FF00FF"/>
                </a:solidFill>
              </a:rPr>
              <a:t>ALTER TABLE Student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FF00FF"/>
                </a:solidFill>
              </a:rPr>
              <a:t>        ADD CONSTRAINT C3 CHECK (Sage &lt; 40)</a:t>
            </a:r>
            <a:r>
              <a:rPr lang="zh-CN" altLang="en-US" sz="2000" b="1">
                <a:solidFill>
                  <a:srgbClr val="FF00FF"/>
                </a:solidFill>
              </a:rPr>
              <a:t>；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64F-CF23-4AED-996E-FAD25B80FA22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数据库完整性</a:t>
            </a:r>
          </a:p>
        </p:txBody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73238"/>
            <a:ext cx="7859712" cy="4495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5.1  </a:t>
            </a:r>
            <a:r>
              <a:rPr lang="zh-CN" altLang="en-US" b="1" dirty="0"/>
              <a:t>实体完整性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5.2  </a:t>
            </a:r>
            <a:r>
              <a:rPr lang="zh-CN" altLang="en-US" b="1" dirty="0"/>
              <a:t>参照完整性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5.3  </a:t>
            </a:r>
            <a:r>
              <a:rPr lang="zh-CN" altLang="en-US" b="1" dirty="0"/>
              <a:t>用户定义的完整性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5.4  </a:t>
            </a:r>
            <a:r>
              <a:rPr lang="zh-CN" altLang="en-US" b="1" dirty="0"/>
              <a:t>完整性约束命名字句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*</a:t>
            </a:r>
            <a:r>
              <a:rPr lang="en-US" altLang="zh-CN" b="1" dirty="0">
                <a:solidFill>
                  <a:schemeClr val="tx2"/>
                </a:solidFill>
              </a:rPr>
              <a:t>5.5  </a:t>
            </a:r>
            <a:r>
              <a:rPr lang="zh-CN" altLang="en-US" b="1" dirty="0">
                <a:solidFill>
                  <a:schemeClr val="tx2"/>
                </a:solidFill>
              </a:rPr>
              <a:t>域中的完整性限制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5.6  </a:t>
            </a:r>
            <a:r>
              <a:rPr lang="zh-CN" altLang="en-US" b="1" dirty="0"/>
              <a:t>触发器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5.7  </a:t>
            </a:r>
            <a:r>
              <a:rPr lang="zh-CN" altLang="en-US" b="1" dirty="0"/>
              <a:t>小结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C5AC-82D4-4453-80E6-E75733E3C1B7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 </a:t>
            </a:r>
            <a:r>
              <a:rPr lang="zh-CN" altLang="en-US" dirty="0"/>
              <a:t>域中的完整性限制</a:t>
            </a: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496300" cy="489585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400" b="1" dirty="0"/>
              <a:t>SQL</a:t>
            </a:r>
            <a:r>
              <a:rPr lang="zh-CN" altLang="en-US" sz="2400" b="1" dirty="0"/>
              <a:t>支持</a:t>
            </a:r>
            <a:r>
              <a:rPr lang="zh-CN" altLang="en-US" sz="2400" b="1" dirty="0">
                <a:solidFill>
                  <a:srgbClr val="0000FF"/>
                </a:solidFill>
              </a:rPr>
              <a:t>域</a:t>
            </a:r>
            <a:r>
              <a:rPr lang="zh-CN" altLang="en-US" sz="2400" b="1" dirty="0"/>
              <a:t>的概念，并可以用</a:t>
            </a:r>
            <a:r>
              <a:rPr lang="en-US" altLang="zh-CN" sz="2400" b="1" dirty="0">
                <a:solidFill>
                  <a:srgbClr val="FF00FF"/>
                </a:solidFill>
              </a:rPr>
              <a:t>CREATE DOMAIN</a:t>
            </a:r>
            <a:r>
              <a:rPr lang="zh-CN" altLang="en-US" sz="2400" b="1" dirty="0"/>
              <a:t>语句建立一个域以及该域应该满足的完整性约束条件。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［例</a:t>
            </a:r>
            <a:r>
              <a:rPr lang="en-US" altLang="zh-CN" sz="2200" b="1" dirty="0"/>
              <a:t>14</a:t>
            </a:r>
            <a:r>
              <a:rPr lang="zh-CN" altLang="en-US" sz="2200" b="1" dirty="0"/>
              <a:t>］建立一个性别域，并声明性别域的取值范围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       </a:t>
            </a:r>
            <a:r>
              <a:rPr lang="en-US" altLang="zh-CN" sz="2200" b="1" dirty="0"/>
              <a:t>CREATE DOMAIN </a:t>
            </a:r>
            <a:r>
              <a:rPr lang="en-US" altLang="zh-CN" sz="2200" b="1" dirty="0" err="1"/>
              <a:t>GenderDomain</a:t>
            </a:r>
            <a:r>
              <a:rPr lang="en-US" altLang="zh-CN" sz="2200" b="1" dirty="0"/>
              <a:t> CHAR(2)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   CHECK (VALUE IN ('</a:t>
            </a:r>
            <a:r>
              <a:rPr lang="zh-CN" altLang="en-US" sz="2200" b="1" dirty="0"/>
              <a:t>男</a:t>
            </a:r>
            <a:r>
              <a:rPr lang="en-US" altLang="zh-CN" sz="2200" b="1" dirty="0"/>
              <a:t>'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'</a:t>
            </a:r>
            <a:r>
              <a:rPr lang="zh-CN" altLang="en-US" sz="2200" b="1" dirty="0"/>
              <a:t>女</a:t>
            </a:r>
            <a:r>
              <a:rPr lang="en-US" altLang="zh-CN" sz="2200" b="1" dirty="0"/>
              <a:t>') );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  </a:t>
            </a:r>
            <a:r>
              <a:rPr lang="zh-CN" altLang="en-US" sz="2200" b="1" dirty="0"/>
              <a:t>这样［例</a:t>
            </a:r>
            <a:r>
              <a:rPr lang="en-US" altLang="zh-CN" sz="2200" b="1" dirty="0"/>
              <a:t>10</a:t>
            </a:r>
            <a:r>
              <a:rPr lang="zh-CN" altLang="en-US" sz="2200" b="1" dirty="0"/>
              <a:t>］中对</a:t>
            </a:r>
            <a:r>
              <a:rPr lang="en-US" altLang="zh-CN" sz="2200" b="1" dirty="0" err="1"/>
              <a:t>Ssex</a:t>
            </a:r>
            <a:r>
              <a:rPr lang="zh-CN" altLang="en-US" sz="2200" b="1" dirty="0"/>
              <a:t>的说明可以改写为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      </a:t>
            </a:r>
            <a:r>
              <a:rPr lang="en-US" altLang="zh-CN" sz="2200" b="1" dirty="0" err="1"/>
              <a:t>Ssex</a:t>
            </a:r>
            <a:r>
              <a:rPr lang="en-US" altLang="zh-CN" sz="2200" b="1" dirty="0"/>
              <a:t> </a:t>
            </a:r>
            <a:r>
              <a:rPr lang="en-US" altLang="zh-CN" sz="2200" b="1" dirty="0" err="1"/>
              <a:t>GenderDomain</a:t>
            </a:r>
            <a:endParaRPr lang="en-US" altLang="zh-CN" sz="2200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［例</a:t>
            </a:r>
            <a:r>
              <a:rPr lang="en-US" altLang="zh-CN" sz="2200" b="1" dirty="0"/>
              <a:t>15</a:t>
            </a:r>
            <a:r>
              <a:rPr lang="zh-CN" altLang="en-US" sz="2200" b="1" dirty="0"/>
              <a:t>］建立一个性别域</a:t>
            </a:r>
            <a:r>
              <a:rPr lang="en-US" altLang="zh-CN" sz="2200" b="1" dirty="0" err="1"/>
              <a:t>GenderDomain</a:t>
            </a:r>
            <a:r>
              <a:rPr lang="zh-CN" altLang="en-US" sz="2200" b="1" dirty="0"/>
              <a:t>，并对其中的限制命名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       </a:t>
            </a:r>
            <a:r>
              <a:rPr lang="en-US" altLang="zh-CN" sz="2200" b="1" dirty="0"/>
              <a:t>CREATE DOMAIN </a:t>
            </a:r>
            <a:r>
              <a:rPr lang="en-US" altLang="zh-CN" sz="2200" b="1" dirty="0" err="1"/>
              <a:t>GenderDomain</a:t>
            </a:r>
            <a:r>
              <a:rPr lang="en-US" altLang="zh-CN" sz="2200" b="1" dirty="0"/>
              <a:t> CHAR(2)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   CONSTRAINT GD CHECK ( VALUE IN ('</a:t>
            </a:r>
            <a:r>
              <a:rPr lang="zh-CN" altLang="en-US" sz="2200" b="1" dirty="0"/>
              <a:t>男</a:t>
            </a:r>
            <a:r>
              <a:rPr lang="en-US" altLang="zh-CN" sz="2200" b="1" dirty="0"/>
              <a:t>'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'</a:t>
            </a:r>
            <a:r>
              <a:rPr lang="zh-CN" altLang="en-US" sz="2200" b="1" dirty="0"/>
              <a:t>女</a:t>
            </a:r>
            <a:r>
              <a:rPr lang="en-US" altLang="zh-CN" sz="2200" b="1" dirty="0"/>
              <a:t>') );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53E4-431D-4349-9BA7-AE5A3930E496}" type="slidenum">
              <a:rPr lang="en-US" altLang="zh-CN"/>
              <a:pPr/>
              <a:t>64</a:t>
            </a:fld>
            <a:endParaRPr lang="en-US" altLang="zh-CN"/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域中的完整性限制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［例</a:t>
            </a:r>
            <a:r>
              <a:rPr lang="en-US" altLang="zh-CN" sz="2200" b="1"/>
              <a:t>16</a:t>
            </a:r>
            <a:r>
              <a:rPr lang="zh-CN" altLang="en-US" sz="2200" b="1"/>
              <a:t>］删除域</a:t>
            </a:r>
            <a:r>
              <a:rPr lang="en-US" altLang="zh-CN" sz="2200" b="1"/>
              <a:t>GenderDomain</a:t>
            </a:r>
            <a:r>
              <a:rPr lang="zh-CN" altLang="en-US" sz="2200" b="1"/>
              <a:t>的限制条件</a:t>
            </a:r>
            <a:r>
              <a:rPr lang="en-US" altLang="zh-CN" sz="2200" b="1"/>
              <a:t>GD</a:t>
            </a:r>
            <a:r>
              <a:rPr lang="zh-CN" altLang="en-US" sz="2200" b="1"/>
              <a:t>。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      </a:t>
            </a:r>
            <a:r>
              <a:rPr lang="en-US" altLang="zh-CN" sz="2200" b="1"/>
              <a:t>ALTER  DOMAIN  GenderDomain 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   DROP CONSTRAINT GD;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［例</a:t>
            </a:r>
            <a:r>
              <a:rPr lang="en-US" altLang="zh-CN" sz="2200" b="1"/>
              <a:t>17</a:t>
            </a:r>
            <a:r>
              <a:rPr lang="zh-CN" altLang="en-US" sz="2200" b="1"/>
              <a:t>］在域</a:t>
            </a:r>
            <a:r>
              <a:rPr lang="en-US" altLang="zh-CN" sz="2200" b="1"/>
              <a:t>GenderDomain</a:t>
            </a:r>
            <a:r>
              <a:rPr lang="zh-CN" altLang="en-US" sz="2200" b="1"/>
              <a:t>上增加限制条件</a:t>
            </a:r>
            <a:r>
              <a:rPr lang="en-US" altLang="zh-CN" sz="2200" b="1"/>
              <a:t>GDD</a:t>
            </a:r>
            <a:r>
              <a:rPr lang="zh-CN" altLang="en-US" sz="2200" b="1"/>
              <a:t>。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     </a:t>
            </a:r>
            <a:r>
              <a:rPr lang="en-US" altLang="zh-CN" sz="2200" b="1"/>
              <a:t>ALTER  DOMAIN  GenderDomain 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         ADD CONSTRAINT GDD CHECK (VALUE IN ( '1'</a:t>
            </a:r>
            <a:r>
              <a:rPr lang="zh-CN" altLang="en-US" sz="2200" b="1"/>
              <a:t>，</a:t>
            </a:r>
            <a:r>
              <a:rPr lang="en-US" altLang="zh-CN" sz="2200" b="1"/>
              <a:t>'0') ); 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>
                <a:latin typeface="仿宋_GB2312" pitchFamily="49" charset="-122"/>
                <a:ea typeface="仿宋_GB2312" pitchFamily="49" charset="-122"/>
              </a:rPr>
              <a:t>通过［例</a:t>
            </a:r>
            <a:r>
              <a:rPr lang="en-US" altLang="zh-CN" sz="2000" b="1">
                <a:latin typeface="仿宋_GB2312" pitchFamily="49" charset="-122"/>
                <a:ea typeface="仿宋_GB2312" pitchFamily="49" charset="-122"/>
              </a:rPr>
              <a:t>16</a:t>
            </a:r>
            <a:r>
              <a:rPr lang="zh-CN" altLang="en-US" sz="2000" b="1">
                <a:latin typeface="仿宋_GB2312" pitchFamily="49" charset="-122"/>
                <a:ea typeface="仿宋_GB2312" pitchFamily="49" charset="-122"/>
              </a:rPr>
              <a:t>］和［例</a:t>
            </a:r>
            <a:r>
              <a:rPr lang="en-US" altLang="zh-CN" sz="2000" b="1">
                <a:latin typeface="仿宋_GB2312" pitchFamily="49" charset="-122"/>
                <a:ea typeface="仿宋_GB2312" pitchFamily="49" charset="-122"/>
              </a:rPr>
              <a:t>17</a:t>
            </a:r>
            <a:r>
              <a:rPr lang="zh-CN" altLang="en-US" sz="2000" b="1">
                <a:latin typeface="仿宋_GB2312" pitchFamily="49" charset="-122"/>
                <a:ea typeface="仿宋_GB2312" pitchFamily="49" charset="-122"/>
              </a:rPr>
              <a:t>］，就把性别的取值范围由</a:t>
            </a:r>
            <a:r>
              <a:rPr lang="en-US" altLang="zh-CN" sz="2000" b="1">
                <a:latin typeface="仿宋_GB2312" pitchFamily="49" charset="-122"/>
                <a:ea typeface="仿宋_GB2312" pitchFamily="49" charset="-122"/>
              </a:rPr>
              <a:t>('</a:t>
            </a:r>
            <a:r>
              <a:rPr lang="zh-CN" altLang="en-US" sz="2000" b="1">
                <a:latin typeface="仿宋_GB2312" pitchFamily="49" charset="-122"/>
                <a:ea typeface="仿宋_GB2312" pitchFamily="49" charset="-122"/>
              </a:rPr>
              <a:t>男</a:t>
            </a:r>
            <a:r>
              <a:rPr lang="en-US" altLang="zh-CN" sz="2000" b="1">
                <a:latin typeface="仿宋_GB2312" pitchFamily="49" charset="-122"/>
                <a:ea typeface="仿宋_GB2312" pitchFamily="49" charset="-122"/>
              </a:rPr>
              <a:t>'</a:t>
            </a:r>
            <a:r>
              <a:rPr lang="zh-CN" altLang="en-US" sz="2000" b="1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 sz="2000" b="1">
                <a:latin typeface="仿宋_GB2312" pitchFamily="49" charset="-122"/>
                <a:ea typeface="仿宋_GB2312" pitchFamily="49" charset="-122"/>
              </a:rPr>
              <a:t>'</a:t>
            </a:r>
            <a:r>
              <a:rPr lang="zh-CN" altLang="en-US" sz="2000" b="1">
                <a:latin typeface="仿宋_GB2312" pitchFamily="49" charset="-122"/>
                <a:ea typeface="仿宋_GB2312" pitchFamily="49" charset="-122"/>
              </a:rPr>
              <a:t>女</a:t>
            </a:r>
            <a:r>
              <a:rPr lang="en-US" altLang="zh-CN" sz="2000" b="1">
                <a:latin typeface="仿宋_GB2312" pitchFamily="49" charset="-122"/>
                <a:ea typeface="仿宋_GB2312" pitchFamily="49" charset="-122"/>
              </a:rPr>
              <a:t>')</a:t>
            </a:r>
            <a:r>
              <a:rPr lang="zh-CN" altLang="en-US" sz="2000" b="1">
                <a:latin typeface="仿宋_GB2312" pitchFamily="49" charset="-122"/>
                <a:ea typeface="仿宋_GB2312" pitchFamily="49" charset="-122"/>
              </a:rPr>
              <a:t>改为 </a:t>
            </a:r>
            <a:r>
              <a:rPr lang="en-US" altLang="zh-CN" sz="2000" b="1">
                <a:latin typeface="仿宋_GB2312" pitchFamily="49" charset="-122"/>
                <a:ea typeface="仿宋_GB2312" pitchFamily="49" charset="-122"/>
              </a:rPr>
              <a:t>( '1'</a:t>
            </a:r>
            <a:r>
              <a:rPr lang="zh-CN" altLang="en-US" sz="2000" b="1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 sz="2000" b="1">
                <a:latin typeface="仿宋_GB2312" pitchFamily="49" charset="-122"/>
                <a:ea typeface="仿宋_GB2312" pitchFamily="49" charset="-122"/>
              </a:rPr>
              <a:t>'0')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91762" y="1412776"/>
            <a:ext cx="8544734" cy="2943123"/>
          </a:xfrm>
          <a:prstGeom prst="rect">
            <a:avLst/>
          </a:prstGeom>
        </p:spPr>
        <p:txBody>
          <a:bodyPr vert="horz" wrap="square" lIns="0" tIns="155839" rIns="0" bIns="0" rtlCol="0">
            <a:spAutoFit/>
          </a:bodyPr>
          <a:lstStyle/>
          <a:p>
            <a:pPr marL="10860" algn="l">
              <a:spcBef>
                <a:spcPts val="1227"/>
              </a:spcBef>
            </a:pPr>
            <a:r>
              <a:rPr sz="2736" spc="-13" dirty="0">
                <a:latin typeface="NSimSun"/>
                <a:cs typeface="NSimSun"/>
              </a:rPr>
              <a:t>断</a:t>
            </a:r>
            <a:r>
              <a:rPr sz="2736" spc="-4" dirty="0">
                <a:latin typeface="NSimSun"/>
                <a:cs typeface="NSimSun"/>
              </a:rPr>
              <a:t>言</a:t>
            </a:r>
            <a:r>
              <a:rPr sz="2736" spc="-4" dirty="0">
                <a:latin typeface="Arial"/>
                <a:cs typeface="Arial"/>
              </a:rPr>
              <a:t>ASSERTION</a:t>
            </a:r>
            <a:endParaRPr sz="2736" dirty="0">
              <a:latin typeface="Arial"/>
              <a:cs typeface="Arial"/>
            </a:endParaRPr>
          </a:p>
          <a:p>
            <a:pPr marL="10860" algn="l">
              <a:spcBef>
                <a:spcPts val="714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spc="-9" dirty="0">
                <a:latin typeface="NSimSun"/>
                <a:cs typeface="NSimSun"/>
              </a:rPr>
              <a:t>一个断言就是一个谓词表达式，它表达了希望数据库总能满足的条件</a:t>
            </a:r>
            <a:endParaRPr sz="2000" dirty="0">
              <a:latin typeface="NSimSun"/>
              <a:cs typeface="NSimSun"/>
            </a:endParaRPr>
          </a:p>
          <a:p>
            <a:pPr marL="10860" algn="l">
              <a:spcBef>
                <a:spcPts val="743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spc="-9" dirty="0">
                <a:latin typeface="NSimSun"/>
                <a:cs typeface="NSimSun"/>
              </a:rPr>
              <a:t>表约束和列约束就是一些特殊的断言</a:t>
            </a:r>
            <a:endParaRPr sz="2000" dirty="0">
              <a:latin typeface="NSimSun"/>
              <a:cs typeface="NSimSun"/>
            </a:endParaRPr>
          </a:p>
          <a:p>
            <a:pPr marL="10860" algn="l">
              <a:spcBef>
                <a:spcPts val="492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spc="-9" dirty="0">
                <a:latin typeface="Arial"/>
                <a:cs typeface="Arial"/>
              </a:rPr>
              <a:t>SQL</a:t>
            </a:r>
            <a:r>
              <a:rPr sz="2000" dirty="0">
                <a:latin typeface="NSimSun"/>
                <a:cs typeface="NSimSun"/>
              </a:rPr>
              <a:t>还</a:t>
            </a:r>
            <a:r>
              <a:rPr sz="2000" spc="-4" dirty="0">
                <a:latin typeface="NSimSun"/>
                <a:cs typeface="NSimSun"/>
              </a:rPr>
              <a:t>提</a:t>
            </a:r>
            <a:r>
              <a:rPr sz="2000" spc="-9" dirty="0">
                <a:latin typeface="NSimSun"/>
                <a:cs typeface="NSimSun"/>
              </a:rPr>
              <a:t>供了复杂条件表达的断言。其语法形式为：</a:t>
            </a:r>
            <a:endParaRPr sz="2000" dirty="0">
              <a:latin typeface="NSimSun"/>
              <a:cs typeface="NSimSun"/>
            </a:endParaRPr>
          </a:p>
          <a:p>
            <a:pPr marL="310589" algn="l">
              <a:spcBef>
                <a:spcPts val="620"/>
              </a:spcBef>
              <a:tabLst>
                <a:tab pos="1324892" algn="l"/>
              </a:tabLst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CREATE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ASSERTION </a:t>
            </a:r>
            <a:r>
              <a:rPr sz="2000" spc="-9" dirty="0">
                <a:latin typeface="Arial"/>
                <a:cs typeface="Arial"/>
              </a:rPr>
              <a:t>&lt;assertion-name&gt;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CHECK</a:t>
            </a:r>
            <a:r>
              <a:rPr sz="2000" spc="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&lt;predicate&gt;</a:t>
            </a:r>
            <a:endParaRPr sz="2000" dirty="0">
              <a:latin typeface="Arial"/>
              <a:cs typeface="Arial"/>
            </a:endParaRPr>
          </a:p>
          <a:p>
            <a:pPr marL="10860" marR="4344" algn="l">
              <a:lnSpc>
                <a:spcPct val="130300"/>
              </a:lnSpc>
              <a:spcBef>
                <a:spcPts val="128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spc="-9" dirty="0">
                <a:latin typeface="NSimSun"/>
                <a:cs typeface="NSimSun"/>
              </a:rPr>
              <a:t>当一个断言创建后，系统将检测其</a:t>
            </a:r>
            <a:r>
              <a:rPr sz="2000" spc="-4" dirty="0">
                <a:latin typeface="NSimSun"/>
                <a:cs typeface="NSimSun"/>
              </a:rPr>
              <a:t>有</a:t>
            </a:r>
            <a:r>
              <a:rPr sz="2000" spc="-9" dirty="0">
                <a:latin typeface="NSimSun"/>
                <a:cs typeface="NSimSun"/>
              </a:rPr>
              <a:t>效性，并在每一次更新中测试更新是 否违反该断言。</a:t>
            </a:r>
            <a:endParaRPr sz="20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347" y="4557844"/>
            <a:ext cx="7122981" cy="1032197"/>
          </a:xfrm>
          <a:prstGeom prst="rect">
            <a:avLst/>
          </a:prstGeom>
        </p:spPr>
        <p:txBody>
          <a:bodyPr vert="horz" wrap="square" lIns="0" tIns="57014" rIns="0" bIns="0" rtlCol="0">
            <a:spAutoFit/>
          </a:bodyPr>
          <a:lstStyle/>
          <a:p>
            <a:pPr marL="183529" indent="-172670" algn="l">
              <a:spcBef>
                <a:spcPts val="449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spc="-9" dirty="0">
                <a:latin typeface="NSimSun"/>
                <a:cs typeface="NSimSun"/>
              </a:rPr>
              <a:t>断言测试增加了数据库维护的负担，要小心使用复杂的断言。</a:t>
            </a:r>
            <a:endParaRPr sz="2000" dirty="0">
              <a:latin typeface="NSimSun"/>
              <a:cs typeface="NSimSun"/>
            </a:endParaRPr>
          </a:p>
          <a:p>
            <a:pPr marL="595658" lvl="1" indent="-193847" algn="l">
              <a:spcBef>
                <a:spcPts val="363"/>
              </a:spcBef>
              <a:buSzPct val="95000"/>
              <a:buFont typeface="Wingdings"/>
              <a:buChar char=""/>
              <a:tabLst>
                <a:tab pos="596201" algn="l"/>
              </a:tabLst>
            </a:pPr>
            <a:r>
              <a:rPr sz="2000" spc="-4" dirty="0">
                <a:solidFill>
                  <a:srgbClr val="CC0000"/>
                </a:solidFill>
                <a:latin typeface="STKaiti"/>
                <a:cs typeface="STKaiti"/>
              </a:rPr>
              <a:t>“每位教师不能在同一个学期的同一时间段在两个不同的教室上课”</a:t>
            </a:r>
            <a:endParaRPr sz="2000" dirty="0">
              <a:latin typeface="STKaiti"/>
              <a:cs typeface="STKait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5576" y="738604"/>
            <a:ext cx="5807840" cy="4259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2700" spc="-9" dirty="0" err="1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700" spc="-4" dirty="0" err="1">
                <a:solidFill>
                  <a:srgbClr val="FFFFFF"/>
                </a:solidFill>
                <a:latin typeface="STZhongsong"/>
                <a:cs typeface="STZhongsong"/>
              </a:rPr>
              <a:t>语言实现约束的方</a:t>
            </a:r>
            <a:r>
              <a:rPr sz="2700" dirty="0" err="1">
                <a:solidFill>
                  <a:srgbClr val="FFFFFF"/>
                </a:solidFill>
                <a:latin typeface="STZhongsong"/>
                <a:cs typeface="STZhongsong"/>
              </a:rPr>
              <a:t>法</a:t>
            </a:r>
            <a:r>
              <a:rPr sz="2700" spc="-13" dirty="0" err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700" spc="-4" dirty="0" err="1">
                <a:solidFill>
                  <a:srgbClr val="FFFFFF"/>
                </a:solidFill>
                <a:latin typeface="STZhongsong"/>
                <a:cs typeface="STZhongsong"/>
              </a:rPr>
              <a:t>断言</a:t>
            </a:r>
            <a:endParaRPr sz="2700" dirty="0">
              <a:latin typeface="STZhongsong"/>
              <a:cs typeface="STZhongsong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27858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84784"/>
            <a:ext cx="8712968" cy="4495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b="1" dirty="0"/>
              <a:t>例：限制数据库课程最多</a:t>
            </a:r>
            <a:r>
              <a:rPr lang="en-US" altLang="zh-CN" sz="2000" b="1" dirty="0"/>
              <a:t>60</a:t>
            </a:r>
            <a:r>
              <a:rPr lang="zh-CN" altLang="en-US" sz="2000" b="1" dirty="0"/>
              <a:t>名学生选修。</a:t>
            </a:r>
            <a:endParaRPr lang="en-US" altLang="zh-CN" sz="2000" b="1" dirty="0"/>
          </a:p>
          <a:p>
            <a:pPr marL="0" indent="0">
              <a:buNone/>
            </a:pPr>
            <a:r>
              <a:rPr lang="en-US" altLang="zh-CN" sz="2000" b="1" dirty="0"/>
              <a:t> CREATE ASSERTION ASSE_SC_DB_NUM</a:t>
            </a:r>
          </a:p>
          <a:p>
            <a:pPr marL="0" indent="0">
              <a:buNone/>
            </a:pPr>
            <a:r>
              <a:rPr lang="en-US" altLang="zh-CN" sz="2000" b="1" dirty="0"/>
              <a:t>   CHECK (60&gt;= </a:t>
            </a:r>
          </a:p>
          <a:p>
            <a:pPr marL="0" indent="0">
              <a:buNone/>
            </a:pPr>
            <a:r>
              <a:rPr lang="en-US" altLang="zh-CN" sz="2000" b="1" dirty="0"/>
              <a:t>                    </a:t>
            </a:r>
            <a:r>
              <a:rPr lang="en-US" altLang="zh-CN" sz="1800" b="1" dirty="0"/>
              <a:t>( SELECT  count(*)     </a:t>
            </a:r>
            <a:r>
              <a:rPr lang="en-US" altLang="zh-CN" sz="1600" b="1" dirty="0"/>
              <a:t>/*</a:t>
            </a:r>
            <a:r>
              <a:rPr lang="zh-CN" altLang="en-US" sz="1600" b="1" dirty="0"/>
              <a:t>此断言的谓词涉及聚集操作</a:t>
            </a:r>
            <a:r>
              <a:rPr lang="en-US" altLang="zh-CN" sz="1600" b="1" dirty="0"/>
              <a:t>count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SQL</a:t>
            </a:r>
            <a:r>
              <a:rPr lang="zh-CN" altLang="en-US" sz="1600" b="1" dirty="0"/>
              <a:t>语句</a:t>
            </a:r>
            <a:r>
              <a:rPr lang="en-US" altLang="zh-CN" sz="1600" b="1" dirty="0"/>
              <a:t>*/</a:t>
            </a:r>
            <a:r>
              <a:rPr lang="en-US" altLang="zh-CN" sz="2000" b="1" dirty="0"/>
              <a:t>   </a:t>
            </a:r>
          </a:p>
          <a:p>
            <a:pPr marL="0" indent="0">
              <a:buNone/>
            </a:pPr>
            <a:r>
              <a:rPr lang="en-US" altLang="zh-CN" sz="2000" b="1" dirty="0"/>
              <a:t>                      </a:t>
            </a:r>
            <a:r>
              <a:rPr lang="en-US" altLang="zh-CN" sz="1800" b="1" dirty="0"/>
              <a:t>FROM  Course, SC</a:t>
            </a:r>
          </a:p>
          <a:p>
            <a:pPr marL="0" indent="0">
              <a:buNone/>
            </a:pPr>
            <a:r>
              <a:rPr lang="en-US" altLang="zh-CN" sz="2000" b="1" dirty="0"/>
              <a:t>                     </a:t>
            </a:r>
            <a:r>
              <a:rPr lang="en-US" altLang="zh-CN" sz="1800" b="1" dirty="0"/>
              <a:t>WHERE  SC.CNO=Course. </a:t>
            </a:r>
            <a:r>
              <a:rPr lang="en-US" altLang="zh-CN" sz="1800" b="1" dirty="0" err="1"/>
              <a:t>Cno</a:t>
            </a:r>
            <a:r>
              <a:rPr lang="en-US" altLang="zh-CN" sz="1800" b="1" dirty="0"/>
              <a:t> and </a:t>
            </a:r>
            <a:r>
              <a:rPr lang="en-US" altLang="zh-CN" sz="1800" b="1" dirty="0" err="1"/>
              <a:t>Course.cname</a:t>
            </a:r>
            <a:r>
              <a:rPr lang="en-US" altLang="zh-CN" sz="1800" b="1" dirty="0"/>
              <a:t>=‘</a:t>
            </a:r>
            <a:r>
              <a:rPr lang="zh-CN" altLang="en-US" sz="1800" b="1" dirty="0"/>
              <a:t>数据库</a:t>
            </a:r>
            <a:r>
              <a:rPr lang="en-US" altLang="zh-CN" sz="1800" b="1" dirty="0"/>
              <a:t>’ )</a:t>
            </a:r>
          </a:p>
          <a:p>
            <a:pPr marL="0" indent="0">
              <a:buNone/>
            </a:pPr>
            <a:r>
              <a:rPr lang="en-US" altLang="zh-CN" sz="2000" b="1" dirty="0"/>
              <a:t>      )</a:t>
            </a:r>
            <a:r>
              <a:rPr lang="zh-CN" altLang="en-US" sz="2000" b="1" dirty="0"/>
              <a:t>；</a:t>
            </a:r>
            <a:endParaRPr lang="en-US" altLang="zh-CN" sz="2000" b="1" dirty="0"/>
          </a:p>
          <a:p>
            <a:pPr marL="0" indent="0">
              <a:buNone/>
            </a:pPr>
            <a:r>
              <a:rPr lang="zh-CN" altLang="en-US" sz="2000" b="1" dirty="0"/>
              <a:t>例：限制每一门课最多</a:t>
            </a:r>
            <a:r>
              <a:rPr lang="en-US" altLang="zh-CN" sz="2000" b="1" dirty="0"/>
              <a:t>60</a:t>
            </a:r>
            <a:r>
              <a:rPr lang="zh-CN" altLang="en-US" sz="2000" b="1" dirty="0"/>
              <a:t>名学生选修。</a:t>
            </a:r>
            <a:endParaRPr lang="en-US" altLang="zh-CN" sz="2000" b="1" dirty="0"/>
          </a:p>
          <a:p>
            <a:pPr marL="0" indent="0">
              <a:buNone/>
            </a:pPr>
            <a:r>
              <a:rPr lang="en-US" altLang="zh-CN" sz="2000" b="1" dirty="0"/>
              <a:t> CREATE ASSERTION ASSE_SC_CNUM</a:t>
            </a:r>
          </a:p>
          <a:p>
            <a:pPr marL="0" indent="0">
              <a:buNone/>
            </a:pPr>
            <a:r>
              <a:rPr lang="en-US" altLang="zh-CN" sz="2000" b="1" dirty="0"/>
              <a:t>       CHECK (60&gt;= ALL ( SELECT  count(*)  </a:t>
            </a:r>
            <a:br>
              <a:rPr lang="en-US" altLang="zh-CN" sz="2000" b="1" dirty="0"/>
            </a:br>
            <a:r>
              <a:rPr lang="en-US" altLang="zh-CN" sz="2000" b="1" dirty="0"/>
              <a:t>                         FROM  SC</a:t>
            </a:r>
          </a:p>
          <a:p>
            <a:pPr marL="0" indent="0">
              <a:buNone/>
            </a:pPr>
            <a:r>
              <a:rPr lang="en-US" altLang="zh-CN" sz="2000" b="1" dirty="0"/>
              <a:t>                          GROUP by CNO )</a:t>
            </a:r>
          </a:p>
          <a:p>
            <a:pPr marL="0" indent="0">
              <a:buNone/>
            </a:pPr>
            <a:r>
              <a:rPr lang="en-US" altLang="zh-CN" sz="2000" b="1" dirty="0"/>
              <a:t>      )</a:t>
            </a:r>
            <a:r>
              <a:rPr lang="zh-CN" altLang="en-US" sz="2000" b="1" dirty="0"/>
              <a:t>；</a:t>
            </a:r>
            <a:endParaRPr lang="en-US" altLang="zh-CN" sz="2000" b="1" dirty="0"/>
          </a:p>
          <a:p>
            <a:pPr marL="0" indent="0">
              <a:buNone/>
            </a:pPr>
            <a:endParaRPr lang="zh-CN" altLang="en-US" sz="2000" b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36C2-C71C-45E6-BA0F-4D091CFDA314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38847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544" y="1294696"/>
            <a:ext cx="8748463" cy="3723591"/>
          </a:xfrm>
          <a:prstGeom prst="rect">
            <a:avLst/>
          </a:prstGeom>
        </p:spPr>
        <p:txBody>
          <a:bodyPr vert="horz" wrap="square" lIns="0" tIns="134119" rIns="0" bIns="0" rtlCol="0">
            <a:spAutoFit/>
          </a:bodyPr>
          <a:lstStyle/>
          <a:p>
            <a:pPr marL="10860" algn="l">
              <a:spcBef>
                <a:spcPts val="1056"/>
              </a:spcBef>
            </a:pPr>
            <a:r>
              <a:rPr sz="2400" dirty="0">
                <a:latin typeface="Microsoft YaHei"/>
                <a:cs typeface="Microsoft YaHei"/>
              </a:rPr>
              <a:t>示例</a:t>
            </a:r>
          </a:p>
          <a:p>
            <a:pPr marL="10860" algn="l">
              <a:spcBef>
                <a:spcPts val="812"/>
              </a:spcBef>
            </a:pPr>
            <a:r>
              <a:rPr sz="1900" spc="-4" dirty="0">
                <a:solidFill>
                  <a:srgbClr val="CC0000"/>
                </a:solidFill>
                <a:latin typeface="STKaiti"/>
                <a:cs typeface="STKaiti"/>
              </a:rPr>
              <a:t>“每笔贷款</a:t>
            </a:r>
            <a:r>
              <a:rPr sz="1900" spc="-13" dirty="0">
                <a:solidFill>
                  <a:srgbClr val="CC0000"/>
                </a:solidFill>
                <a:latin typeface="Arial"/>
                <a:cs typeface="Arial"/>
              </a:rPr>
              <a:t>,</a:t>
            </a:r>
            <a:r>
              <a:rPr sz="1900" spc="-4" dirty="0">
                <a:solidFill>
                  <a:srgbClr val="CC0000"/>
                </a:solidFill>
                <a:latin typeface="STKaiti"/>
                <a:cs typeface="STKaiti"/>
              </a:rPr>
              <a:t>要求至少一位借款者账户中存有最低数目的余额，例如</a:t>
            </a:r>
            <a:r>
              <a:rPr sz="1900" spc="-4" dirty="0">
                <a:solidFill>
                  <a:srgbClr val="CC0000"/>
                </a:solidFill>
                <a:latin typeface="Arial"/>
                <a:cs typeface="Arial"/>
              </a:rPr>
              <a:t>1000</a:t>
            </a:r>
            <a:r>
              <a:rPr sz="1900" dirty="0">
                <a:solidFill>
                  <a:srgbClr val="CC0000"/>
                </a:solidFill>
                <a:latin typeface="STKaiti"/>
                <a:cs typeface="STKaiti"/>
              </a:rPr>
              <a:t>元”</a:t>
            </a:r>
            <a:endParaRPr sz="1900" dirty="0">
              <a:latin typeface="STKaiti"/>
              <a:cs typeface="STKaiti"/>
            </a:endParaRPr>
          </a:p>
          <a:p>
            <a:pPr marL="250318" marR="2818653" algn="l">
              <a:spcBef>
                <a:spcPts val="795"/>
              </a:spcBef>
            </a:pPr>
            <a:r>
              <a:rPr sz="1900" spc="-9" dirty="0">
                <a:solidFill>
                  <a:srgbClr val="3333CC"/>
                </a:solidFill>
                <a:latin typeface="Arial"/>
                <a:cs typeface="Arial"/>
              </a:rPr>
              <a:t>create assertion </a:t>
            </a:r>
            <a:r>
              <a:rPr sz="1900" i="1" spc="-4" dirty="0">
                <a:latin typeface="Arial"/>
                <a:cs typeface="Arial"/>
              </a:rPr>
              <a:t>balance_constraint 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check  </a:t>
            </a:r>
            <a:br>
              <a:rPr lang="en-US" sz="1900" spc="-4" dirty="0">
                <a:solidFill>
                  <a:srgbClr val="3333CC"/>
                </a:solidFill>
                <a:latin typeface="Arial"/>
                <a:cs typeface="Arial"/>
              </a:rPr>
            </a:br>
            <a:r>
              <a:rPr lang="en-US" sz="1900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spc="-4" dirty="0">
                <a:latin typeface="Arial"/>
                <a:cs typeface="Arial"/>
              </a:rPr>
              <a:t>(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not </a:t>
            </a:r>
            <a:r>
              <a:rPr sz="1900" spc="-9" dirty="0">
                <a:solidFill>
                  <a:srgbClr val="3333CC"/>
                </a:solidFill>
                <a:latin typeface="Arial"/>
                <a:cs typeface="Arial"/>
              </a:rPr>
              <a:t>exists</a:t>
            </a:r>
            <a:r>
              <a:rPr sz="19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spc="-4" dirty="0">
                <a:latin typeface="Arial"/>
                <a:cs typeface="Arial"/>
              </a:rPr>
              <a:t>(</a:t>
            </a:r>
            <a:endParaRPr sz="1900" dirty="0">
              <a:latin typeface="Arial"/>
              <a:cs typeface="Arial"/>
            </a:endParaRPr>
          </a:p>
          <a:p>
            <a:pPr marL="548961" algn="l"/>
            <a:r>
              <a:rPr sz="1900" spc="-9" dirty="0">
                <a:solidFill>
                  <a:srgbClr val="3333CC"/>
                </a:solidFill>
                <a:latin typeface="Arial"/>
                <a:cs typeface="Arial"/>
              </a:rPr>
              <a:t>select </a:t>
            </a:r>
            <a:r>
              <a:rPr sz="1900" spc="-4" dirty="0">
                <a:latin typeface="Arial"/>
                <a:cs typeface="Arial"/>
              </a:rPr>
              <a:t>* 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sz="1900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i="1" spc="-9" dirty="0">
                <a:latin typeface="Arial"/>
                <a:cs typeface="Arial"/>
              </a:rPr>
              <a:t>loan</a:t>
            </a:r>
            <a:endParaRPr sz="1900" dirty="0">
              <a:latin typeface="Arial"/>
              <a:cs typeface="Arial"/>
            </a:endParaRPr>
          </a:p>
          <a:p>
            <a:pPr marL="547875" algn="l">
              <a:spcBef>
                <a:spcPts val="710"/>
              </a:spcBef>
            </a:pP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where not exists</a:t>
            </a:r>
            <a:r>
              <a:rPr sz="1900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spc="-4" dirty="0">
                <a:latin typeface="Arial"/>
                <a:cs typeface="Arial"/>
              </a:rPr>
              <a:t>(</a:t>
            </a:r>
            <a:endParaRPr sz="1900" dirty="0">
              <a:latin typeface="Arial"/>
              <a:cs typeface="Arial"/>
            </a:endParaRPr>
          </a:p>
          <a:p>
            <a:pPr marL="1026248" algn="l">
              <a:tabLst>
                <a:tab pos="1963989" algn="l"/>
              </a:tabLst>
            </a:pPr>
            <a:r>
              <a:rPr sz="1900" spc="-9" dirty="0">
                <a:solidFill>
                  <a:srgbClr val="3333CC"/>
                </a:solidFill>
                <a:latin typeface="Arial"/>
                <a:cs typeface="Arial"/>
              </a:rPr>
              <a:t>select</a:t>
            </a:r>
            <a:r>
              <a:rPr sz="1900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spc="-4" dirty="0">
                <a:latin typeface="Arial"/>
                <a:cs typeface="Arial"/>
              </a:rPr>
              <a:t>*	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1900" i="1" spc="-9" dirty="0">
                <a:latin typeface="Arial"/>
                <a:cs typeface="Arial"/>
              </a:rPr>
              <a:t>borrower, depositor,</a:t>
            </a:r>
            <a:r>
              <a:rPr sz="1900" i="1" dirty="0">
                <a:latin typeface="Arial"/>
                <a:cs typeface="Arial"/>
              </a:rPr>
              <a:t> </a:t>
            </a:r>
            <a:r>
              <a:rPr sz="1900" i="1" spc="-9" dirty="0">
                <a:latin typeface="Arial"/>
                <a:cs typeface="Arial"/>
              </a:rPr>
              <a:t>account</a:t>
            </a:r>
            <a:endParaRPr sz="1900" dirty="0">
              <a:latin typeface="Arial"/>
              <a:cs typeface="Arial"/>
            </a:endParaRPr>
          </a:p>
          <a:p>
            <a:pPr marL="1032221" algn="l"/>
            <a:r>
              <a:rPr sz="1900" spc="-9" dirty="0">
                <a:solidFill>
                  <a:srgbClr val="3333CC"/>
                </a:solidFill>
                <a:latin typeface="Arial"/>
                <a:cs typeface="Arial"/>
              </a:rPr>
              <a:t>where </a:t>
            </a:r>
            <a:r>
              <a:rPr sz="1900" i="1" spc="-4" dirty="0">
                <a:latin typeface="Arial"/>
                <a:cs typeface="Arial"/>
              </a:rPr>
              <a:t>loan.loan_number =</a:t>
            </a:r>
            <a:r>
              <a:rPr sz="1900" i="1" spc="4" dirty="0">
                <a:latin typeface="Arial"/>
                <a:cs typeface="Arial"/>
              </a:rPr>
              <a:t> </a:t>
            </a:r>
            <a:r>
              <a:rPr sz="1900" i="1" spc="-4" dirty="0">
                <a:latin typeface="Arial"/>
                <a:cs typeface="Arial"/>
              </a:rPr>
              <a:t>borrower.loan_number</a:t>
            </a:r>
            <a:endParaRPr sz="1900" dirty="0">
              <a:latin typeface="Arial"/>
              <a:cs typeface="Arial"/>
            </a:endParaRPr>
          </a:p>
          <a:p>
            <a:pPr marL="1271136" marR="323078" algn="l"/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and </a:t>
            </a:r>
            <a:r>
              <a:rPr sz="1900" i="1" spc="-9" dirty="0">
                <a:latin typeface="Arial"/>
                <a:cs typeface="Arial"/>
              </a:rPr>
              <a:t>borrower.customer_name </a:t>
            </a:r>
            <a:r>
              <a:rPr sz="1900" i="1" spc="-4" dirty="0">
                <a:latin typeface="Arial"/>
                <a:cs typeface="Arial"/>
              </a:rPr>
              <a:t>= </a:t>
            </a:r>
            <a:r>
              <a:rPr sz="1900" i="1" spc="-9" dirty="0">
                <a:latin typeface="Arial"/>
                <a:cs typeface="Arial"/>
              </a:rPr>
              <a:t>depositor.customer_name  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and </a:t>
            </a:r>
            <a:r>
              <a:rPr sz="1900" i="1" spc="-9" dirty="0">
                <a:latin typeface="Arial"/>
                <a:cs typeface="Arial"/>
              </a:rPr>
              <a:t>depositor.account_number </a:t>
            </a:r>
            <a:r>
              <a:rPr sz="1900" i="1" spc="-4" dirty="0">
                <a:latin typeface="Arial"/>
                <a:cs typeface="Arial"/>
              </a:rPr>
              <a:t>= </a:t>
            </a:r>
            <a:r>
              <a:rPr sz="1900" i="1" spc="-9" dirty="0">
                <a:latin typeface="Arial"/>
                <a:cs typeface="Arial"/>
              </a:rPr>
              <a:t>account.account_number  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and </a:t>
            </a:r>
            <a:r>
              <a:rPr sz="1900" i="1" spc="-4" dirty="0">
                <a:latin typeface="Arial"/>
                <a:cs typeface="Arial"/>
              </a:rPr>
              <a:t>account.balance &gt;=</a:t>
            </a:r>
            <a:r>
              <a:rPr sz="1900" i="1" spc="-9" dirty="0">
                <a:latin typeface="Arial"/>
                <a:cs typeface="Arial"/>
              </a:rPr>
              <a:t> </a:t>
            </a:r>
            <a:r>
              <a:rPr sz="1900" spc="-9" dirty="0">
                <a:latin typeface="Arial"/>
                <a:cs typeface="Arial"/>
              </a:rPr>
              <a:t>1000)))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536" y="5026376"/>
            <a:ext cx="8640960" cy="1145829"/>
          </a:xfrm>
          <a:prstGeom prst="rect">
            <a:avLst/>
          </a:prstGeom>
          <a:ln w="9525">
            <a:solidFill>
              <a:srgbClr val="CC0000"/>
            </a:solidFill>
          </a:ln>
        </p:spPr>
        <p:txBody>
          <a:bodyPr vert="horz" wrap="square" lIns="0" tIns="37467" rIns="0" bIns="0" rtlCol="0">
            <a:spAutoFit/>
          </a:bodyPr>
          <a:lstStyle/>
          <a:p>
            <a:pPr marL="82534" marR="441993" algn="l">
              <a:spcBef>
                <a:spcPts val="295"/>
              </a:spcBef>
              <a:tabLst>
                <a:tab pos="3838386" algn="l"/>
                <a:tab pos="4306985" algn="l"/>
              </a:tabLst>
            </a:pPr>
            <a:r>
              <a:rPr spc="-4" dirty="0">
                <a:latin typeface="Arial"/>
                <a:cs typeface="Arial"/>
              </a:rPr>
              <a:t>borrower(customer_name,</a:t>
            </a:r>
            <a:r>
              <a:rPr spc="90" dirty="0">
                <a:latin typeface="Arial"/>
                <a:cs typeface="Arial"/>
              </a:rPr>
              <a:t> </a:t>
            </a:r>
            <a:r>
              <a:rPr dirty="0" err="1">
                <a:latin typeface="Arial"/>
                <a:cs typeface="Arial"/>
              </a:rPr>
              <a:t>loan_number</a:t>
            </a:r>
            <a:r>
              <a:rPr dirty="0">
                <a:latin typeface="Arial"/>
                <a:cs typeface="Arial"/>
              </a:rPr>
              <a:t>,…)</a:t>
            </a:r>
            <a:r>
              <a:rPr lang="en-US" dirty="0">
                <a:latin typeface="Arial"/>
                <a:cs typeface="Arial"/>
              </a:rPr>
              <a:t>   </a:t>
            </a:r>
            <a:r>
              <a:rPr sz="1600" dirty="0">
                <a:latin typeface="Arial"/>
                <a:cs typeface="Arial"/>
              </a:rPr>
              <a:t>//</a:t>
            </a:r>
            <a:r>
              <a:rPr sz="1600" spc="-9" dirty="0">
                <a:latin typeface="NSimSun"/>
                <a:cs typeface="NSimSun"/>
              </a:rPr>
              <a:t>客户及其贷</a:t>
            </a:r>
            <a:r>
              <a:rPr sz="1600" spc="-4" dirty="0">
                <a:latin typeface="NSimSun"/>
                <a:cs typeface="NSimSun"/>
              </a:rPr>
              <a:t>款</a:t>
            </a:r>
            <a:r>
              <a:rPr sz="1600" spc="-9" dirty="0">
                <a:latin typeface="Arial"/>
                <a:cs typeface="Arial"/>
              </a:rPr>
              <a:t>(</a:t>
            </a:r>
            <a:r>
              <a:rPr sz="1600" spc="-9" dirty="0">
                <a:latin typeface="NSimSun"/>
                <a:cs typeface="NSimSun"/>
              </a:rPr>
              <a:t>一笔贷款的借款</a:t>
            </a:r>
            <a:r>
              <a:rPr sz="1600" spc="-4" dirty="0">
                <a:latin typeface="NSimSun"/>
                <a:cs typeface="NSimSun"/>
              </a:rPr>
              <a:t>者</a:t>
            </a:r>
            <a:r>
              <a:rPr sz="1600" dirty="0">
                <a:latin typeface="Arial"/>
                <a:cs typeface="Arial"/>
              </a:rPr>
              <a:t>) </a:t>
            </a:r>
            <a:br>
              <a:rPr lang="en-US" sz="1600" dirty="0">
                <a:latin typeface="Arial"/>
                <a:cs typeface="Arial"/>
              </a:rPr>
            </a:br>
            <a:r>
              <a:rPr sz="1600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account(account_number,…, balance)	</a:t>
            </a:r>
            <a:r>
              <a:rPr lang="en-US" spc="-4" dirty="0">
                <a:latin typeface="Arial"/>
                <a:cs typeface="Arial"/>
              </a:rPr>
              <a:t>  </a:t>
            </a:r>
            <a:r>
              <a:rPr dirty="0">
                <a:latin typeface="Arial"/>
                <a:cs typeface="Arial"/>
              </a:rPr>
              <a:t>//</a:t>
            </a:r>
            <a:r>
              <a:rPr spc="-9" dirty="0" err="1">
                <a:latin typeface="NSimSun"/>
                <a:cs typeface="NSimSun"/>
              </a:rPr>
              <a:t>账户及其余额</a:t>
            </a:r>
            <a:br>
              <a:rPr lang="en-US" spc="-9" dirty="0">
                <a:latin typeface="NSimSun"/>
                <a:cs typeface="NSimSun"/>
              </a:rPr>
            </a:br>
            <a:r>
              <a:rPr spc="-4" dirty="0">
                <a:latin typeface="Arial"/>
                <a:cs typeface="Arial"/>
              </a:rPr>
              <a:t>depositor(</a:t>
            </a:r>
            <a:r>
              <a:rPr spc="-4" dirty="0" err="1">
                <a:latin typeface="Arial"/>
                <a:cs typeface="Arial"/>
              </a:rPr>
              <a:t>account_number</a:t>
            </a:r>
            <a:r>
              <a:rPr spc="-4" dirty="0">
                <a:latin typeface="Arial"/>
                <a:cs typeface="Arial"/>
              </a:rPr>
              <a:t>,</a:t>
            </a:r>
            <a:r>
              <a:rPr spc="-17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customer_name)</a:t>
            </a:r>
            <a:r>
              <a:rPr spc="402" dirty="0">
                <a:latin typeface="Arial"/>
                <a:cs typeface="Arial"/>
              </a:rPr>
              <a:t> </a:t>
            </a:r>
            <a:r>
              <a:rPr sz="1600" spc="-4" dirty="0">
                <a:latin typeface="Arial"/>
                <a:cs typeface="Arial"/>
              </a:rPr>
              <a:t>//</a:t>
            </a:r>
            <a:r>
              <a:rPr sz="1600" spc="-9" dirty="0">
                <a:latin typeface="NSimSun"/>
                <a:cs typeface="NSimSun"/>
              </a:rPr>
              <a:t>客户及其账</a:t>
            </a:r>
            <a:r>
              <a:rPr sz="1600" spc="-4" dirty="0">
                <a:latin typeface="NSimSun"/>
                <a:cs typeface="NSimSun"/>
              </a:rPr>
              <a:t>户</a:t>
            </a:r>
            <a:r>
              <a:rPr sz="1600" spc="-9" dirty="0">
                <a:latin typeface="Arial"/>
                <a:cs typeface="Arial"/>
              </a:rPr>
              <a:t>(</a:t>
            </a:r>
            <a:r>
              <a:rPr sz="1600" spc="-9" dirty="0" err="1">
                <a:latin typeface="NSimSun"/>
                <a:cs typeface="NSimSun"/>
              </a:rPr>
              <a:t>一个借款者的账</a:t>
            </a:r>
            <a:r>
              <a:rPr sz="1600" spc="-4" dirty="0" err="1">
                <a:latin typeface="NSimSun"/>
                <a:cs typeface="NSimSun"/>
              </a:rPr>
              <a:t>户</a:t>
            </a:r>
            <a:r>
              <a:rPr sz="1600" dirty="0">
                <a:latin typeface="Arial"/>
                <a:cs typeface="Arial"/>
              </a:rPr>
              <a:t>)</a:t>
            </a:r>
            <a:br>
              <a:rPr lang="en-US" sz="1600" dirty="0">
                <a:latin typeface="Arial"/>
                <a:cs typeface="Arial"/>
              </a:rPr>
            </a:br>
            <a:r>
              <a:rPr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loan(loan_number, amount)</a:t>
            </a:r>
            <a:r>
              <a:rPr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spc="-4" dirty="0">
                <a:latin typeface="Arial"/>
                <a:cs typeface="Arial"/>
              </a:rPr>
              <a:t>//</a:t>
            </a:r>
            <a:r>
              <a:rPr spc="-9" dirty="0">
                <a:latin typeface="NSimSun"/>
                <a:cs typeface="NSimSun"/>
              </a:rPr>
              <a:t>每一笔贷款</a:t>
            </a:r>
            <a:endParaRPr dirty="0">
              <a:latin typeface="NSimSun"/>
              <a:cs typeface="N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9988" y="868780"/>
            <a:ext cx="5718236" cy="4259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2700" spc="-9" dirty="0" err="1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700" spc="-4" dirty="0" err="1">
                <a:solidFill>
                  <a:srgbClr val="FFFFFF"/>
                </a:solidFill>
                <a:latin typeface="STZhongsong"/>
                <a:cs typeface="STZhongsong"/>
              </a:rPr>
              <a:t>语言实现约束的方</a:t>
            </a:r>
            <a:r>
              <a:rPr sz="2700" dirty="0" err="1">
                <a:solidFill>
                  <a:srgbClr val="FFFFFF"/>
                </a:solidFill>
                <a:latin typeface="STZhongsong"/>
                <a:cs typeface="STZhongsong"/>
              </a:rPr>
              <a:t>法</a:t>
            </a:r>
            <a:r>
              <a:rPr sz="2700" spc="-13" dirty="0" err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700" spc="-4" dirty="0" err="1">
                <a:solidFill>
                  <a:srgbClr val="FFFFFF"/>
                </a:solidFill>
                <a:latin typeface="STZhongsong"/>
                <a:cs typeface="STZhongsong"/>
              </a:rPr>
              <a:t>断言</a:t>
            </a:r>
            <a:endParaRPr sz="2700" dirty="0">
              <a:latin typeface="STZhongsong"/>
              <a:cs typeface="STZhongsong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59543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51038" y="1067303"/>
            <a:ext cx="8442159" cy="3723414"/>
          </a:xfrm>
          <a:prstGeom prst="rect">
            <a:avLst/>
          </a:prstGeom>
        </p:spPr>
        <p:txBody>
          <a:bodyPr vert="horz" wrap="square" lIns="0" tIns="131404" rIns="0" bIns="0" rtlCol="0">
            <a:spAutoFit/>
          </a:bodyPr>
          <a:lstStyle/>
          <a:p>
            <a:pPr marL="10860" algn="l">
              <a:spcBef>
                <a:spcPts val="1035"/>
              </a:spcBef>
            </a:pPr>
            <a:r>
              <a:rPr sz="2200" dirty="0">
                <a:latin typeface="Microsoft YaHei"/>
                <a:cs typeface="Microsoft YaHei"/>
              </a:rPr>
              <a:t>示例</a:t>
            </a:r>
          </a:p>
          <a:p>
            <a:pPr marL="10860" algn="l">
              <a:spcBef>
                <a:spcPts val="786"/>
              </a:spcBef>
            </a:pPr>
            <a:r>
              <a:rPr sz="2200" spc="-4" dirty="0">
                <a:solidFill>
                  <a:srgbClr val="CC0000"/>
                </a:solidFill>
                <a:latin typeface="STKaiti"/>
                <a:cs typeface="STKaiti"/>
              </a:rPr>
              <a:t>“每个分行的贷款总量必须小于该分行所有账户的余额总和”</a:t>
            </a:r>
            <a:endParaRPr sz="2200" dirty="0">
              <a:latin typeface="STKaiti"/>
              <a:cs typeface="STKaiti"/>
            </a:endParaRPr>
          </a:p>
          <a:p>
            <a:pPr marL="250318" algn="l">
              <a:spcBef>
                <a:spcPts val="817"/>
              </a:spcBef>
            </a:pP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create assertion </a:t>
            </a:r>
            <a:r>
              <a:rPr sz="2200" i="1" spc="-4" dirty="0">
                <a:latin typeface="Arial"/>
                <a:cs typeface="Arial"/>
              </a:rPr>
              <a:t>sum_constraint</a:t>
            </a:r>
            <a:r>
              <a:rPr sz="2200" i="1" spc="17" dirty="0">
                <a:latin typeface="Arial"/>
                <a:cs typeface="Arial"/>
              </a:rPr>
              <a:t> </a:t>
            </a: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check</a:t>
            </a:r>
            <a:endParaRPr sz="2200" dirty="0">
              <a:latin typeface="Arial"/>
              <a:cs typeface="Arial"/>
            </a:endParaRPr>
          </a:p>
          <a:p>
            <a:pPr marL="309503" algn="l">
              <a:tabLst>
                <a:tab pos="2403810" algn="l"/>
              </a:tabLst>
            </a:pPr>
            <a:r>
              <a:rPr sz="2200" spc="-4" dirty="0">
                <a:latin typeface="Arial"/>
                <a:cs typeface="Arial"/>
              </a:rPr>
              <a:t>(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not </a:t>
            </a: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exists</a:t>
            </a:r>
            <a:r>
              <a:rPr sz="2200" spc="1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(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select</a:t>
            </a:r>
            <a:r>
              <a:rPr sz="22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*</a:t>
            </a:r>
            <a:r>
              <a:rPr lang="en-US" sz="2200" spc="-4" dirty="0">
                <a:latin typeface="Arial"/>
                <a:cs typeface="Arial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sz="22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i="1" spc="-9" dirty="0">
                <a:latin typeface="Arial"/>
                <a:cs typeface="Arial"/>
              </a:rPr>
              <a:t>branch</a:t>
            </a:r>
            <a:endParaRPr sz="2200" dirty="0">
              <a:latin typeface="Arial"/>
              <a:cs typeface="Arial"/>
            </a:endParaRPr>
          </a:p>
          <a:p>
            <a:pPr marL="1508964" algn="l"/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where </a:t>
            </a:r>
            <a:r>
              <a:rPr sz="2200" spc="-4" dirty="0">
                <a:latin typeface="Arial"/>
                <a:cs typeface="Arial"/>
              </a:rPr>
              <a:t>(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select </a:t>
            </a: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sum</a:t>
            </a:r>
            <a:r>
              <a:rPr sz="2200" spc="-9" dirty="0">
                <a:latin typeface="Arial"/>
                <a:cs typeface="Arial"/>
              </a:rPr>
              <a:t>(</a:t>
            </a:r>
            <a:r>
              <a:rPr sz="2200" i="1" spc="-9" dirty="0">
                <a:latin typeface="Arial"/>
                <a:cs typeface="Arial"/>
              </a:rPr>
              <a:t>amount </a:t>
            </a:r>
            <a:r>
              <a:rPr sz="2200" spc="-4" dirty="0">
                <a:latin typeface="Arial"/>
                <a:cs typeface="Arial"/>
              </a:rPr>
              <a:t>) 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sz="2200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i="1" spc="-9" dirty="0">
                <a:latin typeface="Arial"/>
                <a:cs typeface="Arial"/>
              </a:rPr>
              <a:t>loan</a:t>
            </a:r>
            <a:endParaRPr sz="2200" dirty="0">
              <a:latin typeface="Arial"/>
              <a:cs typeface="Arial"/>
            </a:endParaRPr>
          </a:p>
          <a:p>
            <a:pPr marL="2937568" marR="1061000" indent="-646699" algn="l"/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where </a:t>
            </a:r>
            <a:r>
              <a:rPr sz="2200" i="1" spc="-9" dirty="0">
                <a:latin typeface="Arial"/>
                <a:cs typeface="Arial"/>
              </a:rPr>
              <a:t>loan.branch_name </a:t>
            </a:r>
            <a:r>
              <a:rPr sz="2200" i="1" spc="-4" dirty="0">
                <a:latin typeface="Arial"/>
                <a:cs typeface="Arial"/>
              </a:rPr>
              <a:t>=  </a:t>
            </a:r>
            <a:r>
              <a:rPr sz="2200" i="1" spc="-9" dirty="0">
                <a:latin typeface="Arial"/>
                <a:cs typeface="Arial"/>
              </a:rPr>
              <a:t>branch.branch_name</a:t>
            </a:r>
            <a:r>
              <a:rPr sz="2200" i="1" spc="-13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)</a:t>
            </a:r>
            <a:endParaRPr sz="2200" dirty="0">
              <a:latin typeface="Arial"/>
              <a:cs typeface="Arial"/>
            </a:endParaRPr>
          </a:p>
          <a:p>
            <a:pPr marL="2285982" algn="l"/>
            <a:r>
              <a:rPr sz="2200" i="1" spc="-9" dirty="0">
                <a:latin typeface="Arial"/>
                <a:cs typeface="Arial"/>
              </a:rPr>
              <a:t>&gt;= </a:t>
            </a:r>
            <a:r>
              <a:rPr sz="2200" spc="-9" dirty="0">
                <a:latin typeface="Arial"/>
                <a:cs typeface="Arial"/>
              </a:rPr>
              <a:t>(</a:t>
            </a: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select 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sum </a:t>
            </a:r>
            <a:r>
              <a:rPr sz="2200" spc="-4" dirty="0">
                <a:latin typeface="Arial"/>
                <a:cs typeface="Arial"/>
              </a:rPr>
              <a:t>(</a:t>
            </a:r>
            <a:r>
              <a:rPr sz="2200" i="1" spc="-4" dirty="0">
                <a:latin typeface="Arial"/>
                <a:cs typeface="Arial"/>
              </a:rPr>
              <a:t>balance </a:t>
            </a:r>
            <a:r>
              <a:rPr sz="2200" spc="-4" dirty="0">
                <a:latin typeface="Arial"/>
                <a:cs typeface="Arial"/>
              </a:rPr>
              <a:t>) 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2200" i="1" spc="-9" dirty="0">
                <a:latin typeface="Arial"/>
                <a:cs typeface="Arial"/>
              </a:rPr>
              <a:t>account</a:t>
            </a:r>
            <a:endParaRPr sz="2200" dirty="0">
              <a:latin typeface="Arial"/>
              <a:cs typeface="Arial"/>
            </a:endParaRPr>
          </a:p>
          <a:p>
            <a:pPr marL="2937568" marR="820998" indent="-597830" algn="l"/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where </a:t>
            </a:r>
            <a:r>
              <a:rPr sz="2200" i="1" spc="-9" dirty="0">
                <a:latin typeface="Arial"/>
                <a:cs typeface="Arial"/>
              </a:rPr>
              <a:t>account.branch_name </a:t>
            </a:r>
            <a:r>
              <a:rPr sz="2200" i="1" spc="-4" dirty="0">
                <a:latin typeface="Arial"/>
                <a:cs typeface="Arial"/>
              </a:rPr>
              <a:t>=  </a:t>
            </a:r>
            <a:r>
              <a:rPr sz="2200" i="1" spc="-9" dirty="0">
                <a:latin typeface="Arial"/>
                <a:cs typeface="Arial"/>
              </a:rPr>
              <a:t>branch.branch_name </a:t>
            </a:r>
            <a:r>
              <a:rPr sz="2200" spc="-9" dirty="0">
                <a:latin typeface="Arial"/>
                <a:cs typeface="Arial"/>
              </a:rPr>
              <a:t>)))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2568" y="5157192"/>
            <a:ext cx="8013888" cy="1145829"/>
          </a:xfrm>
          <a:prstGeom prst="rect">
            <a:avLst/>
          </a:prstGeom>
          <a:ln w="9525">
            <a:solidFill>
              <a:srgbClr val="CC0000"/>
            </a:solidFill>
          </a:ln>
        </p:spPr>
        <p:txBody>
          <a:bodyPr vert="horz" wrap="square" lIns="0" tIns="37467" rIns="0" bIns="0" rtlCol="0">
            <a:spAutoFit/>
          </a:bodyPr>
          <a:lstStyle/>
          <a:p>
            <a:pPr marL="82534" marR="725433" algn="l">
              <a:spcBef>
                <a:spcPts val="295"/>
              </a:spcBef>
              <a:tabLst>
                <a:tab pos="2602001" algn="l"/>
                <a:tab pos="5217034" algn="l"/>
              </a:tabLst>
            </a:pPr>
            <a:r>
              <a:rPr spc="-4" dirty="0">
                <a:latin typeface="Arial"/>
                <a:cs typeface="Arial"/>
              </a:rPr>
              <a:t>account(branch_name, account_number,…,</a:t>
            </a:r>
            <a:r>
              <a:rPr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balance)	</a:t>
            </a:r>
            <a:br>
              <a:rPr lang="en-US" spc="-4" dirty="0">
                <a:latin typeface="Arial"/>
                <a:cs typeface="Arial"/>
              </a:rPr>
            </a:br>
            <a:r>
              <a:rPr lang="en-US" spc="-4" dirty="0">
                <a:latin typeface="Arial"/>
                <a:cs typeface="Arial"/>
              </a:rPr>
              <a:t>                                                                            </a:t>
            </a:r>
            <a:r>
              <a:rPr dirty="0">
                <a:latin typeface="Arial"/>
                <a:cs typeface="Arial"/>
              </a:rPr>
              <a:t>//</a:t>
            </a:r>
            <a:r>
              <a:rPr spc="-9" dirty="0" err="1">
                <a:latin typeface="NSimSun"/>
                <a:cs typeface="NSimSun"/>
              </a:rPr>
              <a:t>分行，账户及其余额</a:t>
            </a:r>
            <a:r>
              <a:rPr spc="-9" dirty="0">
                <a:latin typeface="NSimSun"/>
                <a:cs typeface="NSimSun"/>
              </a:rPr>
              <a:t> </a:t>
            </a:r>
            <a:br>
              <a:rPr lang="en-US" spc="-9" dirty="0">
                <a:latin typeface="NSimSun"/>
                <a:cs typeface="NSimSun"/>
              </a:rPr>
            </a:br>
            <a:r>
              <a:rPr spc="-4" dirty="0">
                <a:latin typeface="Arial"/>
                <a:cs typeface="Arial"/>
              </a:rPr>
              <a:t>loan(</a:t>
            </a:r>
            <a:r>
              <a:rPr spc="-4" dirty="0" err="1">
                <a:latin typeface="Arial"/>
                <a:cs typeface="Arial"/>
              </a:rPr>
              <a:t>branch_name</a:t>
            </a:r>
            <a:r>
              <a:rPr spc="-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,</a:t>
            </a:r>
            <a:r>
              <a:rPr spc="-9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loan_number, amount,)</a:t>
            </a:r>
            <a:r>
              <a:rPr lang="en-US" spc="-4" dirty="0">
                <a:latin typeface="Arial"/>
                <a:cs typeface="Arial"/>
              </a:rPr>
              <a:t>  </a:t>
            </a:r>
            <a:r>
              <a:rPr spc="-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//</a:t>
            </a:r>
            <a:r>
              <a:rPr spc="-9" dirty="0">
                <a:latin typeface="NSimSun"/>
                <a:cs typeface="NSimSun"/>
              </a:rPr>
              <a:t>分行的每一笔贷款 </a:t>
            </a:r>
            <a:r>
              <a:rPr spc="-4" dirty="0">
                <a:latin typeface="Arial"/>
                <a:cs typeface="Arial"/>
              </a:rPr>
              <a:t>branch(branch_name,</a:t>
            </a:r>
            <a:r>
              <a:rPr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… </a:t>
            </a:r>
            <a:r>
              <a:rPr dirty="0">
                <a:latin typeface="Arial"/>
                <a:cs typeface="Arial"/>
              </a:rPr>
              <a:t>)	</a:t>
            </a:r>
            <a:r>
              <a:rPr spc="-4" dirty="0">
                <a:latin typeface="Arial"/>
                <a:cs typeface="Arial"/>
              </a:rPr>
              <a:t>//</a:t>
            </a:r>
            <a:r>
              <a:rPr spc="-4" dirty="0">
                <a:latin typeface="NSimSun"/>
                <a:cs typeface="NSimSun"/>
              </a:rPr>
              <a:t>分行</a:t>
            </a:r>
            <a:endParaRPr dirty="0">
              <a:latin typeface="NSimSun"/>
              <a:cs typeface="NSimSu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0848" y="588751"/>
            <a:ext cx="5419344" cy="478552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700" spc="-9" dirty="0" err="1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700" spc="-4" dirty="0" err="1">
                <a:solidFill>
                  <a:srgbClr val="FFFFFF"/>
                </a:solidFill>
                <a:latin typeface="STZhongsong"/>
                <a:cs typeface="STZhongsong"/>
              </a:rPr>
              <a:t>语言实现约束的方</a:t>
            </a:r>
            <a:r>
              <a:rPr sz="2700" dirty="0" err="1">
                <a:solidFill>
                  <a:srgbClr val="FFFFFF"/>
                </a:solidFill>
                <a:latin typeface="STZhongsong"/>
                <a:cs typeface="STZhongsong"/>
              </a:rPr>
              <a:t>法</a:t>
            </a:r>
            <a:r>
              <a:rPr sz="2700" spc="-13" dirty="0" err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700" spc="-4" dirty="0" err="1">
                <a:solidFill>
                  <a:srgbClr val="FFFFFF"/>
                </a:solidFill>
                <a:latin typeface="STZhongsong"/>
                <a:cs typeface="STZhongsong"/>
              </a:rPr>
              <a:t>断言</a:t>
            </a:r>
            <a:endParaRPr sz="27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9613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91EDB-31D5-4FBC-90AC-4A5EAAE66868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数据库完整性</a:t>
            </a:r>
          </a:p>
        </p:txBody>
      </p:sp>
      <p:sp>
        <p:nvSpPr>
          <p:cNvPr id="551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73238"/>
            <a:ext cx="7859712" cy="4495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5.1  </a:t>
            </a:r>
            <a:r>
              <a:rPr lang="zh-CN" altLang="en-US" b="1" dirty="0"/>
              <a:t>实体完整性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5.2  </a:t>
            </a:r>
            <a:r>
              <a:rPr lang="zh-CN" altLang="en-US" b="1" dirty="0"/>
              <a:t>参照完整性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5.3  </a:t>
            </a:r>
            <a:r>
              <a:rPr lang="zh-CN" altLang="en-US" b="1" dirty="0"/>
              <a:t>用户定义的完整性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5.4  </a:t>
            </a:r>
            <a:r>
              <a:rPr lang="zh-CN" altLang="en-US" b="1" dirty="0"/>
              <a:t>完整性约束命名字句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5.5  </a:t>
            </a:r>
            <a:r>
              <a:rPr lang="zh-CN" altLang="en-US" b="1" dirty="0"/>
              <a:t>域中的完整性限制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5.6  </a:t>
            </a:r>
            <a:r>
              <a:rPr lang="zh-CN" altLang="en-US" b="1" dirty="0">
                <a:solidFill>
                  <a:schemeClr val="tx2"/>
                </a:solidFill>
              </a:rPr>
              <a:t>触发器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5.7  </a:t>
            </a:r>
            <a:r>
              <a:rPr lang="zh-CN" altLang="en-US" b="1" dirty="0"/>
              <a:t>小结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A45B-7045-40D8-9320-ACACA95367E3}" type="slidenum">
              <a:rPr lang="en-US" altLang="zh-CN"/>
              <a:pPr/>
              <a:t>70</a:t>
            </a:fld>
            <a:endParaRPr lang="en-US" altLang="zh-CN"/>
          </a:p>
        </p:txBody>
      </p: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触发器</a:t>
            </a:r>
            <a:r>
              <a:rPr lang="en-US" altLang="zh-CN" sz="3200" dirty="0"/>
              <a:t>Trigger</a:t>
            </a:r>
            <a:endParaRPr lang="zh-CN" altLang="en-US" sz="3200" dirty="0"/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3286" y="4142606"/>
            <a:ext cx="8510904" cy="223914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触发器激活原则：</a:t>
            </a:r>
            <a:endParaRPr lang="en-US" altLang="zh-CN" sz="20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/>
            <a:r>
              <a:rPr lang="zh-CN" altLang="en-US" sz="1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使用</a:t>
            </a:r>
            <a:r>
              <a:rPr lang="en-US" altLang="zh-CN" sz="1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INSERT</a:t>
            </a:r>
            <a:r>
              <a:rPr lang="zh-CN" altLang="en-US" sz="1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</a:t>
            </a:r>
            <a:r>
              <a:rPr lang="en-US" altLang="zh-CN" sz="1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DELETE</a:t>
            </a:r>
            <a:r>
              <a:rPr lang="zh-CN" altLang="en-US" sz="1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en-US" altLang="zh-CN" sz="1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UPDATE</a:t>
            </a:r>
            <a:r>
              <a:rPr lang="zh-CN" altLang="en-US" sz="1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语句或基于这些语句封装的高级操作对表进行更新时，与该表关联的触发器会被激活</a:t>
            </a:r>
            <a:endParaRPr lang="en-US" altLang="zh-CN" sz="18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2"/>
            <a:r>
              <a:rPr lang="zh-CN" altLang="en-US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例如：</a:t>
            </a:r>
            <a:r>
              <a:rPr lang="en-US" altLang="zh-CN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REPLACE</a:t>
            </a:r>
            <a:r>
              <a:rPr lang="zh-CN" altLang="en-US" sz="1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（与</a:t>
            </a:r>
            <a:r>
              <a:rPr lang="en-US" altLang="zh-CN" sz="1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INSERT</a:t>
            </a:r>
            <a:r>
              <a:rPr lang="zh-CN" altLang="en-US" sz="1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类似，如果插入的数据与表中数据具有相同的</a:t>
            </a:r>
            <a:r>
              <a:rPr lang="en-US" altLang="zh-CN" sz="1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PRIMARYKEY</a:t>
            </a:r>
            <a:r>
              <a:rPr lang="zh-CN" altLang="en-US" sz="1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en-US" altLang="zh-CN" sz="1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UNIQUE</a:t>
            </a:r>
            <a:r>
              <a:rPr lang="zh-CN" altLang="en-US" sz="1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索引，则先删除原来数据，然后增加一条新的数据） </a:t>
            </a:r>
            <a:r>
              <a:rPr lang="zh-CN" altLang="en-US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  </a:t>
            </a:r>
            <a:r>
              <a:rPr lang="en-US" altLang="zh-CN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LOAD DATA</a:t>
            </a:r>
            <a:r>
              <a:rPr lang="zh-CN" altLang="en-US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语句</a:t>
            </a:r>
            <a:r>
              <a:rPr lang="zh-CN" altLang="en-US" sz="1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（将一个文件导入数据表中）</a:t>
            </a:r>
            <a:r>
              <a:rPr lang="zh-CN" altLang="en-US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，因为它们调用了</a:t>
            </a:r>
            <a:r>
              <a:rPr lang="en-US" altLang="zh-CN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insert</a:t>
            </a:r>
            <a:r>
              <a:rPr lang="zh-CN" altLang="en-US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，所以使用这些语句也会激活表关联的触发器</a:t>
            </a:r>
          </a:p>
          <a:p>
            <a:pPr lvl="2"/>
            <a:r>
              <a:rPr lang="zh-CN" altLang="en-US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但采用</a:t>
            </a:r>
            <a:r>
              <a:rPr lang="en-US" altLang="zh-CN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drop</a:t>
            </a:r>
            <a:r>
              <a:rPr lang="zh-CN" altLang="en-US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table</a:t>
            </a:r>
            <a:r>
              <a:rPr lang="zh-CN" altLang="en-US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</a:t>
            </a:r>
            <a:r>
              <a:rPr lang="en-US" altLang="zh-CN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TRUNCATE</a:t>
            </a:r>
            <a:r>
              <a:rPr lang="zh-CN" altLang="en-US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语句删除表的所有数据时，不会激活该表关联的触发器，因为它们没有用</a:t>
            </a:r>
            <a:r>
              <a:rPr lang="en-US" altLang="zh-CN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delete</a:t>
            </a:r>
            <a:r>
              <a:rPr lang="zh-CN" altLang="en-US" sz="16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语句</a:t>
            </a:r>
            <a:endParaRPr lang="en-US" altLang="zh-CN" sz="16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81872BB9-CFB4-40E7-BF88-33C4831F81F8}"/>
              </a:ext>
            </a:extLst>
          </p:cNvPr>
          <p:cNvSpPr txBox="1"/>
          <p:nvPr/>
        </p:nvSpPr>
        <p:spPr>
          <a:xfrm>
            <a:off x="543719" y="1283730"/>
            <a:ext cx="8510905" cy="2808654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 marR="78740" algn="just">
              <a:lnSpc>
                <a:spcPct val="130100"/>
              </a:lnSpc>
              <a:spcBef>
                <a:spcPts val="7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b="1" spc="-5" dirty="0">
                <a:latin typeface="Arial"/>
                <a:cs typeface="Arial"/>
              </a:rPr>
              <a:t>Create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Table</a:t>
            </a:r>
            <a:r>
              <a:rPr sz="1800" b="1" spc="-10" dirty="0">
                <a:latin typeface="NSimSun"/>
                <a:cs typeface="NSimSun"/>
              </a:rPr>
              <a:t>中的表约束和列约束基本上都是静态的约束，也基本上都是对单一列 或单一元组的约</a:t>
            </a:r>
            <a:r>
              <a:rPr sz="1800" b="1" spc="-5" dirty="0">
                <a:latin typeface="NSimSun"/>
                <a:cs typeface="NSimSun"/>
              </a:rPr>
              <a:t>束</a:t>
            </a:r>
            <a:r>
              <a:rPr sz="1800" b="1" spc="-10" dirty="0">
                <a:latin typeface="Arial"/>
                <a:cs typeface="Arial"/>
              </a:rPr>
              <a:t>(</a:t>
            </a:r>
            <a:r>
              <a:rPr sz="1800" b="1" spc="-10" dirty="0">
                <a:latin typeface="NSimSun"/>
                <a:cs typeface="NSimSun"/>
              </a:rPr>
              <a:t>尽管有参照完整</a:t>
            </a:r>
            <a:r>
              <a:rPr sz="1800" b="1" spc="-5" dirty="0">
                <a:latin typeface="NSimSun"/>
                <a:cs typeface="NSimSun"/>
              </a:rPr>
              <a:t>性</a:t>
            </a:r>
            <a:r>
              <a:rPr sz="1800" b="1" spc="-10" dirty="0">
                <a:latin typeface="Arial"/>
                <a:cs typeface="Arial"/>
              </a:rPr>
              <a:t>)</a:t>
            </a:r>
            <a:r>
              <a:rPr sz="1800" b="1" spc="-10" dirty="0">
                <a:latin typeface="NSimSun"/>
                <a:cs typeface="NSimSun"/>
              </a:rPr>
              <a:t>，为实现动态约束以及多个元组之间的完整性 约束，就需要触发器技</a:t>
            </a:r>
            <a:r>
              <a:rPr sz="1800" b="1" spc="-5" dirty="0">
                <a:latin typeface="NSimSun"/>
                <a:cs typeface="NSimSun"/>
              </a:rPr>
              <a:t>术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Trigger</a:t>
            </a:r>
            <a:endParaRPr sz="1800" dirty="0">
              <a:latin typeface="Arial"/>
              <a:cs typeface="Arial"/>
            </a:endParaRPr>
          </a:p>
          <a:p>
            <a:pPr marL="214629" indent="-201930" algn="l">
              <a:lnSpc>
                <a:spcPct val="100000"/>
              </a:lnSpc>
              <a:spcBef>
                <a:spcPts val="71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Trigger</a:t>
            </a:r>
            <a:r>
              <a:rPr sz="2000" b="1" spc="-10" dirty="0">
                <a:latin typeface="NSimSun"/>
                <a:cs typeface="NSimSun"/>
              </a:rPr>
              <a:t>是一种过程完整性约</a:t>
            </a:r>
            <a:r>
              <a:rPr sz="2000" b="1" spc="-5" dirty="0">
                <a:latin typeface="NSimSun"/>
                <a:cs typeface="NSimSun"/>
              </a:rPr>
              <a:t>束</a:t>
            </a:r>
            <a:r>
              <a:rPr sz="1600" b="1" spc="-10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1600" b="1" spc="-10" dirty="0">
                <a:solidFill>
                  <a:srgbClr val="3333CC"/>
                </a:solidFill>
                <a:latin typeface="NSimSun"/>
                <a:cs typeface="NSimSun"/>
              </a:rPr>
              <a:t>相比之下</a:t>
            </a:r>
            <a:r>
              <a:rPr sz="1600" b="1" spc="-5" dirty="0">
                <a:solidFill>
                  <a:srgbClr val="3333CC"/>
                </a:solidFill>
                <a:latin typeface="NSimSun"/>
                <a:cs typeface="NSimSun"/>
              </a:rPr>
              <a:t>，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Create</a:t>
            </a:r>
            <a:r>
              <a:rPr sz="1600" b="1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Table</a:t>
            </a:r>
            <a:r>
              <a:rPr sz="1600" b="1" spc="-10" dirty="0">
                <a:solidFill>
                  <a:srgbClr val="3333CC"/>
                </a:solidFill>
                <a:latin typeface="NSimSun"/>
                <a:cs typeface="NSimSun"/>
              </a:rPr>
              <a:t>中定义的都是非过程性约</a:t>
            </a:r>
            <a:r>
              <a:rPr sz="1600" b="1" spc="-5" dirty="0">
                <a:solidFill>
                  <a:srgbClr val="3333CC"/>
                </a:solidFill>
                <a:latin typeface="NSimSun"/>
                <a:cs typeface="NSimSun"/>
              </a:rPr>
              <a:t>束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),</a:t>
            </a:r>
            <a:endParaRPr sz="1600" dirty="0">
              <a:latin typeface="Arial"/>
              <a:cs typeface="Arial"/>
            </a:endParaRPr>
          </a:p>
          <a:p>
            <a:pPr marL="12700" marR="107950" algn="l">
              <a:lnSpc>
                <a:spcPct val="130300"/>
              </a:lnSpc>
              <a:spcBef>
                <a:spcPts val="150"/>
              </a:spcBef>
            </a:pPr>
            <a:r>
              <a:rPr lang="zh-CN" altLang="en-US" sz="2000" b="1" spc="-10" dirty="0">
                <a:latin typeface="NSimSun"/>
                <a:cs typeface="NSimSun"/>
              </a:rPr>
              <a:t>是</a:t>
            </a:r>
            <a:r>
              <a:rPr lang="zh-CN" altLang="en-US" sz="2000" b="1" spc="-10" dirty="0">
                <a:solidFill>
                  <a:srgbClr val="7030A0"/>
                </a:solidFill>
                <a:latin typeface="NSimSun"/>
                <a:cs typeface="NSimSun"/>
              </a:rPr>
              <a:t>一段程序</a:t>
            </a:r>
            <a:r>
              <a:rPr lang="zh-CN" altLang="en-US" sz="2000" b="1" spc="-10" dirty="0">
                <a:latin typeface="NSimSun"/>
                <a:cs typeface="NSimSun"/>
              </a:rPr>
              <a:t>，该程序可以在特定的</a:t>
            </a:r>
            <a:r>
              <a:rPr lang="zh-CN" altLang="en-US" sz="2000" b="1" spc="-5" dirty="0">
                <a:latin typeface="NSimSun"/>
                <a:cs typeface="NSimSun"/>
              </a:rPr>
              <a:t>时</a:t>
            </a:r>
            <a:r>
              <a:rPr lang="zh-CN" altLang="en-US" sz="2000" b="1" spc="-10" dirty="0">
                <a:latin typeface="NSimSun"/>
                <a:cs typeface="NSimSun"/>
              </a:rPr>
              <a:t>刻被自动触发执行，比如在一次更新操作之前或之后执行，更新操作包括：</a:t>
            </a:r>
            <a:r>
              <a:rPr lang="en-US" altLang="zh-CN" sz="2000" b="1" spc="-10" dirty="0">
                <a:latin typeface="NSimSun"/>
                <a:cs typeface="NSimSun"/>
              </a:rPr>
              <a:t>Insert</a:t>
            </a:r>
            <a:r>
              <a:rPr lang="zh-CN" altLang="en-US" sz="2000" b="1" spc="-10" dirty="0">
                <a:latin typeface="NSimSun"/>
                <a:cs typeface="NSimSun"/>
              </a:rPr>
              <a:t>、</a:t>
            </a:r>
            <a:r>
              <a:rPr lang="en-US" altLang="zh-CN" sz="2000" b="1" spc="-10" dirty="0">
                <a:latin typeface="NSimSun"/>
                <a:cs typeface="NSimSun"/>
              </a:rPr>
              <a:t>delete</a:t>
            </a:r>
            <a:r>
              <a:rPr lang="zh-CN" altLang="en-US" sz="2000" b="1" spc="-10" dirty="0">
                <a:latin typeface="NSimSun"/>
                <a:cs typeface="NSimSun"/>
              </a:rPr>
              <a:t>、</a:t>
            </a:r>
            <a:r>
              <a:rPr lang="en-US" altLang="zh-CN" sz="2000" b="1" spc="-10" dirty="0">
                <a:latin typeface="NSimSun"/>
                <a:cs typeface="NSimSun"/>
              </a:rPr>
              <a:t>update</a:t>
            </a:r>
            <a:r>
              <a:rPr lang="zh-CN" altLang="en-US" sz="2000" b="1" spc="-10" dirty="0">
                <a:latin typeface="NSimSun"/>
                <a:cs typeface="NSimSun"/>
              </a:rPr>
              <a:t>。</a:t>
            </a:r>
            <a:r>
              <a:rPr lang="zh-CN" altLang="en-US" sz="2000" b="1" dirty="0"/>
              <a:t>触发器是用户定义在关系表上的一类由</a:t>
            </a:r>
            <a:r>
              <a:rPr lang="zh-CN" altLang="en-US" sz="2000" b="1" dirty="0">
                <a:solidFill>
                  <a:srgbClr val="FF00FF"/>
                </a:solidFill>
              </a:rPr>
              <a:t>事件驱动</a:t>
            </a:r>
            <a:r>
              <a:rPr lang="zh-CN" altLang="en-US" sz="2000" b="1" dirty="0"/>
              <a:t>的特殊过程。</a:t>
            </a:r>
            <a:endParaRPr lang="zh-CN" altLang="en-US" sz="2000" dirty="0">
              <a:latin typeface="NSimSun"/>
              <a:cs typeface="NSimSu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触发器 </a:t>
            </a:r>
            <a:r>
              <a:rPr lang="en-US" altLang="zh-CN" dirty="0"/>
              <a:t>trigger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495800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触发器</a:t>
            </a:r>
            <a:r>
              <a:rPr lang="zh-CN" altLang="en-US" sz="2400" dirty="0">
                <a:latin typeface="新宋体" panose="02010609030101010101" pitchFamily="49" charset="-122"/>
                <a:ea typeface="新宋体" panose="02010609030101010101" pitchFamily="49" charset="-122"/>
              </a:rPr>
              <a:t>的作用是：</a:t>
            </a:r>
            <a:endParaRPr lang="en-US" altLang="zh-CN" sz="2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/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确保数据库完整性的一种</a:t>
            </a:r>
            <a:r>
              <a:rPr lang="zh-CN" altLang="en-US" sz="2000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动态约束机制</a:t>
            </a:r>
            <a:endParaRPr lang="en-US" altLang="zh-CN" sz="2000" dirty="0">
              <a:solidFill>
                <a:srgbClr val="FF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2"/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主键、外键约束、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CHECK 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约束等属于静态约束机制</a:t>
            </a:r>
          </a:p>
          <a:p>
            <a:pPr lvl="1"/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实现比 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FOREIGN KEY 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约束、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CHECK 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约束</a:t>
            </a:r>
            <a:r>
              <a:rPr lang="zh-CN" altLang="en-US" sz="20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更复杂的检查和操作</a:t>
            </a:r>
            <a:endParaRPr lang="en-US" altLang="zh-CN" sz="2000" b="1" dirty="0">
              <a:solidFill>
                <a:srgbClr val="FF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/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实现</a:t>
            </a:r>
            <a:r>
              <a:rPr lang="zh-CN" altLang="en-US" sz="20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跨表级联修改</a:t>
            </a:r>
            <a:endParaRPr lang="en-US" altLang="zh-CN" sz="2000" b="1" dirty="0">
              <a:solidFill>
                <a:srgbClr val="FF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可视为一种特殊的存储过程，</a:t>
            </a:r>
            <a:r>
              <a:rPr lang="zh-CN" altLang="en-US" sz="2400" dirty="0">
                <a:latin typeface="新宋体" panose="02010609030101010101" pitchFamily="49" charset="-122"/>
                <a:ea typeface="新宋体" panose="02010609030101010101" pitchFamily="49" charset="-122"/>
              </a:rPr>
              <a:t>与</a:t>
            </a:r>
            <a:r>
              <a:rPr lang="zh-CN" altLang="en-US" sz="24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存储过程</a:t>
            </a:r>
            <a:r>
              <a:rPr lang="zh-CN" altLang="en-US" sz="2400" dirty="0">
                <a:latin typeface="新宋体" panose="02010609030101010101" pitchFamily="49" charset="-122"/>
                <a:ea typeface="新宋体" panose="02010609030101010101" pitchFamily="49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区别</a:t>
            </a:r>
            <a:r>
              <a:rPr lang="zh-CN" altLang="en-US" sz="2400" dirty="0">
                <a:latin typeface="新宋体" panose="02010609030101010101" pitchFamily="49" charset="-122"/>
                <a:ea typeface="新宋体" panose="02010609030101010101" pitchFamily="49" charset="-122"/>
              </a:rPr>
              <a:t>：</a:t>
            </a:r>
            <a:endParaRPr lang="en-US" altLang="zh-CN" sz="2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/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存储过程需使用 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CALL 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语句调用</a:t>
            </a:r>
            <a:endParaRPr lang="en-US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/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触发器的执行既不需要使用 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CALL 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语句，也不需要手工启动，只要一个预定义的事件发生就会被自动调用</a:t>
            </a:r>
            <a:endParaRPr lang="en-US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92347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触发器 </a:t>
            </a:r>
            <a:r>
              <a:rPr lang="en-US" altLang="zh-CN" dirty="0"/>
              <a:t>trigger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614970"/>
            <a:ext cx="8229600" cy="491037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语法格式：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>
                <a:solidFill>
                  <a:srgbClr val="808000"/>
                </a:solidFill>
                <a:latin typeface="Courier New" panose="02070309020205020404" pitchFamily="49" charset="0"/>
              </a:rPr>
              <a:t>执行时间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BEFORE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AFTER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before</a:t>
            </a:r>
            <a:r>
              <a:rPr lang="zh-CN" alt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每行数据被更新之前</a:t>
            </a: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after</a:t>
            </a:r>
            <a:r>
              <a:rPr lang="zh-CN" alt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每行数据被更新之后</a:t>
            </a: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lvl="1"/>
            <a:r>
              <a:rPr lang="zh-CN" altLang="en-US" dirty="0">
                <a:solidFill>
                  <a:srgbClr val="808000"/>
                </a:solidFill>
                <a:latin typeface="Courier New" panose="02070309020205020404" pitchFamily="49" charset="0"/>
              </a:rPr>
              <a:t>触发事件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UPDATE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DELETE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FOR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EACH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ROW</a:t>
            </a:r>
            <a:r>
              <a:rPr lang="zh-CN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：</a:t>
            </a:r>
            <a:r>
              <a:rPr lang="zh-CN" altLang="en-US" sz="2200" b="1" dirty="0">
                <a:latin typeface="Courier New" panose="02070309020205020404" pitchFamily="49" charset="0"/>
                <a:ea typeface="+mn-ea"/>
              </a:rPr>
              <a:t>行级触发说明，即对受触发操作事件影响的每一行都要激活触发程序。目前</a:t>
            </a:r>
            <a:r>
              <a:rPr lang="en-US" altLang="zh-CN" sz="2200" b="1" dirty="0">
                <a:latin typeface="Courier New" panose="02070309020205020404" pitchFamily="49" charset="0"/>
                <a:ea typeface="+mn-ea"/>
              </a:rPr>
              <a:t>MySQL</a:t>
            </a:r>
            <a:r>
              <a:rPr lang="zh-CN" altLang="en-US" sz="2200" b="1" dirty="0">
                <a:latin typeface="Courier New" panose="02070309020205020404" pitchFamily="49" charset="0"/>
                <a:ea typeface="+mn-ea"/>
              </a:rPr>
              <a:t>只支持行级触发器，不支持语句级触发器</a:t>
            </a:r>
            <a:endParaRPr lang="en-US" altLang="zh-CN" sz="2200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lvl="1"/>
            <a:r>
              <a:rPr lang="zh-CN" altLang="en-US" kern="1200" dirty="0">
                <a:solidFill>
                  <a:srgbClr val="808000"/>
                </a:solidFill>
                <a:latin typeface="Courier New" panose="02070309020205020404" pitchFamily="49" charset="0"/>
              </a:rPr>
              <a:t>触发器执行顺序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FOLLOWS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PRECEDES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dirty="0">
                <a:solidFill>
                  <a:srgbClr val="808000"/>
                </a:solidFill>
                <a:latin typeface="Courier New" panose="02070309020205020404" pitchFamily="49" charset="0"/>
              </a:rPr>
              <a:t>其他触发器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74415" y="2082265"/>
            <a:ext cx="7948345" cy="14773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CREATE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TRIGGER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zh-CN" altLang="en-US" dirty="0">
                <a:solidFill>
                  <a:srgbClr val="808000"/>
                </a:solidFill>
                <a:latin typeface="Courier New" panose="02070309020205020404" pitchFamily="49" charset="0"/>
                <a:ea typeface="+mn-ea"/>
              </a:rPr>
              <a:t>触发器名</a:t>
            </a:r>
            <a:endParaRPr lang="en-US" altLang="zh-CN" dirty="0">
              <a:solidFill>
                <a:srgbClr val="808000"/>
              </a:solidFill>
              <a:latin typeface="Courier New" panose="02070309020205020404" pitchFamily="49" charset="0"/>
              <a:ea typeface="+mn-ea"/>
            </a:endParaRPr>
          </a:p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rgbClr val="808000"/>
                </a:solidFill>
                <a:latin typeface="Courier New" panose="02070309020205020404" pitchFamily="49" charset="0"/>
                <a:ea typeface="+mn-ea"/>
              </a:rPr>
              <a:t>执行时间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触发事件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ON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zh-CN" altLang="en-US" dirty="0">
                <a:solidFill>
                  <a:srgbClr val="808000"/>
                </a:solidFill>
                <a:latin typeface="Courier New" panose="02070309020205020404" pitchFamily="49" charset="0"/>
                <a:ea typeface="+mn-ea"/>
              </a:rPr>
              <a:t>表名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</a:p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FOR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EACH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ROW</a:t>
            </a:r>
          </a:p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[</a:t>
            </a:r>
            <a:r>
              <a:rPr lang="zh-CN" altLang="en-US" dirty="0">
                <a:solidFill>
                  <a:srgbClr val="808000"/>
                </a:solidFill>
                <a:latin typeface="Courier New" panose="02070309020205020404" pitchFamily="49" charset="0"/>
                <a:ea typeface="+mn-ea"/>
              </a:rPr>
              <a:t>触发器执行顺序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]</a:t>
            </a:r>
          </a:p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rgbClr val="808000"/>
                </a:solidFill>
                <a:latin typeface="Courier New" panose="02070309020205020404" pitchFamily="49" charset="0"/>
                <a:ea typeface="+mn-ea"/>
              </a:rPr>
              <a:t>触发体</a:t>
            </a:r>
          </a:p>
        </p:txBody>
      </p:sp>
    </p:spTree>
    <p:extLst>
      <p:ext uri="{BB962C8B-B14F-4D97-AF65-F5344CB8AC3E}">
        <p14:creationId xmlns:p14="http://schemas.microsoft.com/office/powerpoint/2010/main" val="37393022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触发器</a:t>
            </a:r>
            <a:r>
              <a:rPr lang="en-US" altLang="zh-CN" dirty="0"/>
              <a:t> trigger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484784"/>
            <a:ext cx="8469188" cy="4495800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触发器类型</a:t>
            </a: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触发时间与触发事件的组合</a:t>
            </a: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)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：</a:t>
            </a:r>
            <a:endParaRPr lang="en-US" altLang="zh-CN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/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BEFORE INSERT - 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在将数据插入表格之前激活</a:t>
            </a:r>
          </a:p>
          <a:p>
            <a:pPr lvl="1"/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AFTER INSERT - 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将数据插入表格后激活</a:t>
            </a:r>
          </a:p>
          <a:p>
            <a:pPr lvl="1"/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BEFORE UPDATE - 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在更新表中的数据之前激活</a:t>
            </a:r>
          </a:p>
          <a:p>
            <a:pPr lvl="1"/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AFTER UPDATE - 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更新表中的数据后激活</a:t>
            </a:r>
          </a:p>
          <a:p>
            <a:pPr lvl="1"/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BEFORE DELETE - 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在从表中删除数据之前激活</a:t>
            </a:r>
          </a:p>
          <a:p>
            <a:pPr lvl="1"/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AFTER DELETE - 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从表中删除数据后激活</a:t>
            </a:r>
            <a:endParaRPr lang="en-US" altLang="zh-CN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MySQL 5.7.2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版之前，每个表最多只能定义上述六个触发器</a:t>
            </a:r>
            <a:endParaRPr lang="en-US" altLang="zh-CN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MySQL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5.7.2+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开始，可以为同一触发事件和时间定义多个触发器</a:t>
            </a:r>
            <a:endParaRPr lang="en-US" altLang="zh-CN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从</a:t>
            </a: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MySQL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版本</a:t>
            </a: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5.1.4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开始，触发器可以调用存储过程或存储函数</a:t>
            </a:r>
          </a:p>
        </p:txBody>
      </p:sp>
    </p:spTree>
    <p:extLst>
      <p:ext uri="{BB962C8B-B14F-4D97-AF65-F5344CB8AC3E}">
        <p14:creationId xmlns:p14="http://schemas.microsoft.com/office/powerpoint/2010/main" val="9038494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创建触发器</a:t>
            </a:r>
            <a:r>
              <a:rPr lang="en-US" altLang="zh-CN" dirty="0"/>
              <a:t>Create Trigger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727985"/>
            <a:ext cx="7886700" cy="465334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TRIGGER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zh-CN" altLang="en-US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触发器名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altLang="zh-CN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BEFORE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AFTER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UPDATE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DELETE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ON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zh-CN" altLang="en-US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表名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EACH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ROW</a:t>
            </a:r>
          </a:p>
          <a:p>
            <a:pPr marL="0" indent="0">
              <a:buNone/>
            </a:pP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BEGIN</a:t>
            </a:r>
          </a:p>
          <a:p>
            <a:pPr marL="0" indent="0">
              <a:buNone/>
            </a:pP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zh-CN" altLang="en-US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触发器主体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en-US" altLang="zh-CN" sz="13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sz="3200" dirty="0">
                <a:latin typeface="新宋体" panose="02010609030101010101" pitchFamily="49" charset="-122"/>
                <a:ea typeface="新宋体" panose="02010609030101010101" pitchFamily="49" charset="-122"/>
              </a:rPr>
              <a:t>触发器命名原则</a:t>
            </a:r>
            <a:endParaRPr lang="en-US" altLang="zh-CN" sz="3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dirty="0">
                <a:latin typeface="新宋体" panose="02010609030101010101" pitchFamily="49" charset="-122"/>
                <a:ea typeface="新宋体" panose="02010609030101010101" pitchFamily="49" charset="-122"/>
              </a:rPr>
              <a:t>同一表上定义的触发器，命名要互不相同；</a:t>
            </a:r>
            <a:endParaRPr lang="en-US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dirty="0">
                <a:latin typeface="新宋体" panose="02010609030101010101" pitchFamily="49" charset="-122"/>
                <a:ea typeface="新宋体" panose="02010609030101010101" pitchFamily="49" charset="-122"/>
              </a:rPr>
              <a:t>不同表上定义的触发器，命名可以相同。</a:t>
            </a:r>
            <a:endParaRPr lang="en-US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zh-CN" altLang="en-US" dirty="0">
                <a:latin typeface="新宋体" panose="02010609030101010101" pitchFamily="49" charset="-122"/>
                <a:ea typeface="新宋体" panose="02010609030101010101" pitchFamily="49" charset="-122"/>
              </a:rPr>
              <a:t>命名约定：推荐采用以下格式，意义直观</a:t>
            </a:r>
            <a:endParaRPr lang="en-US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spcAft>
                <a:spcPts val="600"/>
              </a:spcAft>
            </a:pPr>
            <a:r>
              <a:rPr lang="en-US" altLang="zh-CN" dirty="0">
                <a:latin typeface="新宋体" panose="02010609030101010101" pitchFamily="49" charset="-122"/>
                <a:ea typeface="新宋体" panose="02010609030101010101" pitchFamily="49" charset="-122"/>
              </a:rPr>
              <a:t>(BEFORE | AFTER)_</a:t>
            </a:r>
            <a:r>
              <a:rPr lang="en-US" altLang="zh-CN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tableName</a:t>
            </a:r>
            <a:r>
              <a:rPr lang="en-US" altLang="zh-CN" dirty="0">
                <a:latin typeface="新宋体" panose="02010609030101010101" pitchFamily="49" charset="-122"/>
                <a:ea typeface="新宋体" panose="02010609030101010101" pitchFamily="49" charset="-122"/>
              </a:rPr>
              <a:t>_(INSERT| UPDATE | DELETE) </a:t>
            </a:r>
          </a:p>
          <a:p>
            <a:pPr lvl="2">
              <a:spcAft>
                <a:spcPts val="600"/>
              </a:spcAft>
            </a:pPr>
            <a:r>
              <a:rPr lang="zh-CN" altLang="en-US" dirty="0">
                <a:latin typeface="新宋体" panose="02010609030101010101" pitchFamily="49" charset="-122"/>
                <a:ea typeface="新宋体" panose="02010609030101010101" pitchFamily="49" charset="-122"/>
              </a:rPr>
              <a:t>例如：</a:t>
            </a:r>
            <a:r>
              <a:rPr lang="en-US" altLang="zh-CN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before_order_update</a:t>
            </a:r>
            <a:r>
              <a:rPr lang="zh-CN" altLang="en-US" dirty="0">
                <a:latin typeface="新宋体" panose="02010609030101010101" pitchFamily="49" charset="-122"/>
                <a:ea typeface="新宋体" panose="02010609030101010101" pitchFamily="49" charset="-122"/>
              </a:rPr>
              <a:t>，含义是在</a:t>
            </a:r>
            <a:r>
              <a:rPr lang="en-US" altLang="zh-CN" dirty="0">
                <a:latin typeface="新宋体" panose="02010609030101010101" pitchFamily="49" charset="-122"/>
                <a:ea typeface="新宋体" panose="02010609030101010101" pitchFamily="49" charset="-122"/>
              </a:rPr>
              <a:t>order</a:t>
            </a:r>
            <a:r>
              <a:rPr lang="zh-CN" altLang="en-US" dirty="0">
                <a:latin typeface="新宋体" panose="02010609030101010101" pitchFamily="49" charset="-122"/>
                <a:ea typeface="新宋体" panose="02010609030101010101" pitchFamily="49" charset="-122"/>
              </a:rPr>
              <a:t>表更新之前调用的触发器</a:t>
            </a:r>
            <a:endParaRPr lang="en-US" altLang="zh-CN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dirty="0">
                <a:latin typeface="新宋体" panose="02010609030101010101" pitchFamily="49" charset="-122"/>
                <a:ea typeface="新宋体" panose="02010609030101010101" pitchFamily="49" charset="-122"/>
              </a:rPr>
              <a:t>或 </a:t>
            </a:r>
            <a:r>
              <a:rPr lang="en-US" altLang="zh-CN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tablename</a:t>
            </a:r>
            <a:r>
              <a:rPr lang="en-US" altLang="zh-CN" dirty="0">
                <a:latin typeface="新宋体" panose="02010609030101010101" pitchFamily="49" charset="-122"/>
                <a:ea typeface="新宋体" panose="02010609030101010101" pitchFamily="49" charset="-122"/>
              </a:rPr>
              <a:t>_(BEFORE | AFTER)_(INSERT| UPDATE | DELETE)</a:t>
            </a:r>
          </a:p>
          <a:p>
            <a:pPr lvl="2">
              <a:spcAft>
                <a:spcPts val="600"/>
              </a:spcAft>
            </a:pPr>
            <a:r>
              <a:rPr lang="zh-CN" altLang="en-US" dirty="0">
                <a:latin typeface="新宋体" panose="02010609030101010101" pitchFamily="49" charset="-122"/>
                <a:ea typeface="新宋体" panose="02010609030101010101" pitchFamily="49" charset="-122"/>
              </a:rPr>
              <a:t>例如：</a:t>
            </a:r>
            <a:r>
              <a:rPr lang="en-US" altLang="zh-CN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order_before_update</a:t>
            </a:r>
            <a:endParaRPr lang="zh-CN" altLang="en-US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68095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INSERT </a:t>
            </a:r>
            <a:r>
              <a:rPr lang="zh-CN" altLang="en-US" dirty="0"/>
              <a:t>触发器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698286"/>
            <a:ext cx="8325172" cy="3602922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在 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INSERT 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语句执行之前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(before)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或之后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(after)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响应的触发器</a:t>
            </a:r>
            <a:endParaRPr lang="en-US" altLang="zh-CN" sz="2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zh-CN" altLang="en-US" sz="105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使用 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INSERT 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触发器需要注意以下几点：</a:t>
            </a:r>
          </a:p>
          <a:p>
            <a:pPr lvl="1"/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在 </a:t>
            </a: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INSERT 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触发器的代码内，可引用一个名为 </a:t>
            </a:r>
            <a:r>
              <a:rPr lang="en-US" altLang="zh-CN" sz="2000" b="1" dirty="0">
                <a:solidFill>
                  <a:srgbClr val="C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NEW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（不区分大小写）的虚拟表来访问被插入的行</a:t>
            </a:r>
          </a:p>
          <a:p>
            <a:pPr lvl="1"/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在 </a:t>
            </a: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BEFORE INSERT 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触发器中，</a:t>
            </a: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NEW 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中的值也可以被更新，即允许更改被插入的值（只要具有对应的操作权限）</a:t>
            </a:r>
          </a:p>
          <a:p>
            <a:pPr lvl="1"/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对于 </a:t>
            </a: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AUTO_INCREMENT 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列，</a:t>
            </a: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NEW 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在 </a:t>
            </a: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INSERT 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执行之前包含的值是 </a:t>
            </a: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0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，在 </a:t>
            </a: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INSERT 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执行之后将包含新的自动生成值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754694-1DA4-4E43-A906-3BC3993499EB}"/>
              </a:ext>
            </a:extLst>
          </p:cNvPr>
          <p:cNvSpPr txBox="1"/>
          <p:nvPr/>
        </p:nvSpPr>
        <p:spPr>
          <a:xfrm>
            <a:off x="539552" y="5301208"/>
            <a:ext cx="8280920" cy="9233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说明：在触发器执行过程中，</a:t>
            </a:r>
            <a:r>
              <a:rPr lang="en-US" altLang="zh-CN" dirty="0"/>
              <a:t>MySQL</a:t>
            </a:r>
            <a:r>
              <a:rPr lang="zh-CN" altLang="en-US" dirty="0"/>
              <a:t>可以分别使用</a:t>
            </a:r>
            <a:r>
              <a:rPr lang="en-US" altLang="zh-CN" dirty="0">
                <a:solidFill>
                  <a:srgbClr val="C00000"/>
                </a:solidFill>
              </a:rPr>
              <a:t>NEW</a:t>
            </a:r>
            <a:r>
              <a:rPr lang="zh-CN" altLang="en-US" dirty="0">
                <a:solidFill>
                  <a:srgbClr val="C00000"/>
                </a:solidFill>
              </a:rPr>
              <a:t>和</a:t>
            </a:r>
            <a:r>
              <a:rPr lang="en-US" altLang="zh-CN" dirty="0">
                <a:solidFill>
                  <a:srgbClr val="C00000"/>
                </a:solidFill>
              </a:rPr>
              <a:t>OLD</a:t>
            </a:r>
            <a:r>
              <a:rPr lang="zh-CN" altLang="en-US" dirty="0">
                <a:solidFill>
                  <a:srgbClr val="C00000"/>
                </a:solidFill>
              </a:rPr>
              <a:t>关键字</a:t>
            </a:r>
            <a:r>
              <a:rPr lang="zh-CN" altLang="en-US" dirty="0"/>
              <a:t>来创建与原表属性完全一样的两个临时表</a:t>
            </a:r>
            <a:r>
              <a:rPr lang="en-US" altLang="zh-CN" dirty="0"/>
              <a:t>NEW</a:t>
            </a:r>
            <a:r>
              <a:rPr lang="zh-CN" altLang="en-US" dirty="0"/>
              <a:t>表和</a:t>
            </a:r>
            <a:r>
              <a:rPr lang="en-US" altLang="zh-CN" dirty="0"/>
              <a:t>OLD</a:t>
            </a:r>
            <a:r>
              <a:rPr lang="zh-CN" altLang="en-US" dirty="0"/>
              <a:t>表。其中，</a:t>
            </a:r>
            <a:r>
              <a:rPr lang="en-US" altLang="zh-CN" dirty="0"/>
              <a:t>NEW</a:t>
            </a:r>
            <a:r>
              <a:rPr lang="zh-CN" altLang="en-US" dirty="0"/>
              <a:t>表用于存放数据修改过程中将要更新的数据，</a:t>
            </a:r>
            <a:r>
              <a:rPr lang="en-US" altLang="zh-CN" dirty="0"/>
              <a:t>OLD</a:t>
            </a:r>
            <a:r>
              <a:rPr lang="zh-CN" altLang="en-US" dirty="0"/>
              <a:t>表用于存放数据修改过程中的原有数据。</a:t>
            </a:r>
          </a:p>
        </p:txBody>
      </p:sp>
    </p:spTree>
    <p:extLst>
      <p:ext uri="{BB962C8B-B14F-4D97-AF65-F5344CB8AC3E}">
        <p14:creationId xmlns:p14="http://schemas.microsoft.com/office/powerpoint/2010/main" val="1205237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UPDATE </a:t>
            </a:r>
            <a:r>
              <a:rPr lang="zh-CN" altLang="en-US" dirty="0"/>
              <a:t>触发器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57351"/>
            <a:ext cx="7886700" cy="4154036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在 </a:t>
            </a:r>
            <a:r>
              <a:rPr lang="en-US" altLang="zh-CN" dirty="0"/>
              <a:t>UPDATE </a:t>
            </a:r>
            <a:r>
              <a:rPr lang="zh-CN" altLang="en-US" dirty="0"/>
              <a:t>语句执行之前</a:t>
            </a:r>
            <a:r>
              <a:rPr lang="en-US" altLang="zh-CN" dirty="0"/>
              <a:t>(before)</a:t>
            </a:r>
            <a:r>
              <a:rPr lang="zh-CN" altLang="en-US" dirty="0"/>
              <a:t>或之后</a:t>
            </a:r>
            <a:r>
              <a:rPr lang="en-US" altLang="zh-CN" dirty="0"/>
              <a:t>(after)</a:t>
            </a:r>
            <a:r>
              <a:rPr lang="zh-CN" altLang="en-US" dirty="0"/>
              <a:t>响应的触发器</a:t>
            </a:r>
          </a:p>
          <a:p>
            <a:endParaRPr lang="zh-CN" altLang="en-US" dirty="0"/>
          </a:p>
          <a:p>
            <a:r>
              <a:rPr lang="zh-CN" altLang="en-US" dirty="0"/>
              <a:t>使用 </a:t>
            </a:r>
            <a:r>
              <a:rPr lang="en-US" altLang="zh-CN" dirty="0"/>
              <a:t>UPDATE </a:t>
            </a:r>
            <a:r>
              <a:rPr lang="zh-CN" altLang="en-US" dirty="0"/>
              <a:t>触发器需要注意以下几点：</a:t>
            </a:r>
          </a:p>
          <a:p>
            <a:pPr lvl="1">
              <a:spcAft>
                <a:spcPts val="600"/>
              </a:spcAft>
            </a:pPr>
            <a:r>
              <a:rPr lang="zh-CN" altLang="en-US" dirty="0"/>
              <a:t>在 </a:t>
            </a:r>
            <a:r>
              <a:rPr lang="en-US" altLang="zh-CN" dirty="0"/>
              <a:t>UPDATE </a:t>
            </a:r>
            <a:r>
              <a:rPr lang="zh-CN" altLang="en-US" dirty="0"/>
              <a:t>触发器代码内，可引用一个名为 </a:t>
            </a:r>
            <a:r>
              <a:rPr lang="en-US" altLang="zh-CN" dirty="0">
                <a:solidFill>
                  <a:srgbClr val="C00000"/>
                </a:solidFill>
              </a:rPr>
              <a:t>NEW</a:t>
            </a:r>
            <a:r>
              <a:rPr lang="zh-CN" altLang="en-US" dirty="0"/>
              <a:t>（不区分大小写）的虚拟表来访问更新的值</a:t>
            </a:r>
          </a:p>
          <a:p>
            <a:pPr lvl="1">
              <a:spcAft>
                <a:spcPts val="600"/>
              </a:spcAft>
            </a:pPr>
            <a:r>
              <a:rPr lang="zh-CN" altLang="en-US" dirty="0"/>
              <a:t>在 </a:t>
            </a:r>
            <a:r>
              <a:rPr lang="en-US" altLang="zh-CN" dirty="0"/>
              <a:t>UPDATE </a:t>
            </a:r>
            <a:r>
              <a:rPr lang="zh-CN" altLang="en-US" dirty="0"/>
              <a:t>触发器代码内，可引用一个名为 </a:t>
            </a:r>
            <a:r>
              <a:rPr lang="en-US" altLang="zh-CN" dirty="0">
                <a:solidFill>
                  <a:srgbClr val="C00000"/>
                </a:solidFill>
              </a:rPr>
              <a:t>OLD</a:t>
            </a:r>
            <a:r>
              <a:rPr lang="zh-CN" altLang="en-US" dirty="0"/>
              <a:t>（不区分大小写）的虚拟表来访问 </a:t>
            </a:r>
            <a:r>
              <a:rPr lang="en-US" altLang="zh-CN" dirty="0"/>
              <a:t>UPDATE </a:t>
            </a:r>
            <a:r>
              <a:rPr lang="zh-CN" altLang="en-US" dirty="0"/>
              <a:t>语句执行前的值</a:t>
            </a:r>
          </a:p>
          <a:p>
            <a:pPr lvl="1">
              <a:spcAft>
                <a:spcPts val="600"/>
              </a:spcAft>
            </a:pPr>
            <a:r>
              <a:rPr lang="zh-CN" altLang="en-US" dirty="0"/>
              <a:t>在 </a:t>
            </a:r>
            <a:r>
              <a:rPr lang="en-US" altLang="zh-CN" dirty="0"/>
              <a:t>BEFORE UPDATE </a:t>
            </a:r>
            <a:r>
              <a:rPr lang="zh-CN" altLang="en-US" dirty="0"/>
              <a:t>触发器中，</a:t>
            </a:r>
            <a:r>
              <a:rPr lang="en-US" altLang="zh-CN" dirty="0"/>
              <a:t>NEW </a:t>
            </a:r>
            <a:r>
              <a:rPr lang="zh-CN" altLang="en-US" dirty="0"/>
              <a:t>中的值可能也被更新，即允许更改将要用于 </a:t>
            </a:r>
            <a:r>
              <a:rPr lang="en-US" altLang="zh-CN" dirty="0"/>
              <a:t>UPDATE </a:t>
            </a:r>
            <a:r>
              <a:rPr lang="zh-CN" altLang="en-US" dirty="0"/>
              <a:t>语句中的值（只要具有对应的操作权限）</a:t>
            </a:r>
          </a:p>
          <a:p>
            <a:pPr lvl="1">
              <a:spcAft>
                <a:spcPts val="600"/>
              </a:spcAft>
            </a:pPr>
            <a:r>
              <a:rPr lang="en-US" altLang="zh-CN" dirty="0"/>
              <a:t>OLD </a:t>
            </a:r>
            <a:r>
              <a:rPr lang="zh-CN" altLang="en-US" dirty="0"/>
              <a:t>中的值全部是只读的，只能引用，不能被更新</a:t>
            </a:r>
          </a:p>
        </p:txBody>
      </p:sp>
    </p:spTree>
    <p:extLst>
      <p:ext uri="{BB962C8B-B14F-4D97-AF65-F5344CB8AC3E}">
        <p14:creationId xmlns:p14="http://schemas.microsoft.com/office/powerpoint/2010/main" val="30198897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DELETE </a:t>
            </a:r>
            <a:r>
              <a:rPr lang="zh-CN" altLang="en-US" dirty="0"/>
              <a:t>触发器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在 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DELETE 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语句执行之前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(before)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或之后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(after)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响应的触发器</a:t>
            </a:r>
          </a:p>
          <a:p>
            <a:endParaRPr lang="zh-CN" altLang="en-US" sz="1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使用 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DELETE 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触发器需要注意以下几点：</a:t>
            </a:r>
          </a:p>
          <a:p>
            <a:pPr lvl="1"/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在 </a:t>
            </a:r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DELETE 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触发器代码内，可以引用一个名为 </a:t>
            </a:r>
            <a:r>
              <a:rPr lang="en-US" altLang="zh-CN" sz="2000" b="1" dirty="0">
                <a:solidFill>
                  <a:srgbClr val="C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OLD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（不区分大小写）的虚拟表来访问被删除的行</a:t>
            </a:r>
          </a:p>
          <a:p>
            <a:pPr lvl="1"/>
            <a:r>
              <a:rPr lang="en-US" altLang="zh-CN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OLD </a:t>
            </a:r>
            <a:r>
              <a:rPr lang="zh-CN" altLang="en-US" sz="20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中的值全部是只读的，不能被更新</a:t>
            </a:r>
          </a:p>
        </p:txBody>
      </p:sp>
    </p:spTree>
    <p:extLst>
      <p:ext uri="{BB962C8B-B14F-4D97-AF65-F5344CB8AC3E}">
        <p14:creationId xmlns:p14="http://schemas.microsoft.com/office/powerpoint/2010/main" val="5398750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BF7F9-F22D-417D-A6FF-B5C6419D1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触发</a:t>
            </a:r>
            <a:r>
              <a:rPr lang="zh-CN" altLang="en-US" sz="2800" dirty="0">
                <a:solidFill>
                  <a:srgbClr val="FFFFFF"/>
                </a:solidFill>
                <a:latin typeface="STZhongsong"/>
                <a:cs typeface="STZhongsong"/>
              </a:rPr>
              <a:t>器</a:t>
            </a:r>
            <a:r>
              <a:rPr lang="en-US" altLang="zh-CN" sz="2800" spc="-4" dirty="0">
                <a:solidFill>
                  <a:srgbClr val="FFFFFF"/>
                </a:solidFill>
                <a:latin typeface="Arial"/>
                <a:cs typeface="Arial"/>
              </a:rPr>
              <a:t>Trigger</a:t>
            </a:r>
            <a:r>
              <a:rPr lang="zh-CN" altLang="en-US" sz="2800" dirty="0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ABC1DF-2ED6-4139-A8ED-02888919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631" y="2060848"/>
            <a:ext cx="8229600" cy="427725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USE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sct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DROP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TRIGGER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EXISTS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Before_sc_insert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delimiter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/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/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TRIGGER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EXISTS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Before_sc_insert</a:t>
            </a:r>
            <a:endParaRPr lang="en-US" altLang="zh-CN" sz="1800" b="0" i="0" u="none" strike="noStrike" baseline="0" dirty="0">
              <a:solidFill>
                <a:srgbClr val="808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BEFORE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ON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FF00FF"/>
                </a:solidFill>
                <a:latin typeface="Courier New" panose="02070309020205020404" pitchFamily="49" charset="0"/>
              </a:rPr>
              <a:t>sc</a:t>
            </a:r>
            <a:endParaRPr lang="en-US" altLang="zh-CN" sz="1800" b="0" i="0" u="none" strike="noStrike" baseline="0" dirty="0">
              <a:solidFill>
                <a:srgbClr val="FF00FF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EACH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ROW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BEGIN</a:t>
            </a: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800" b="0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score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IS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then</a:t>
            </a: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SET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800" b="0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sz="18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score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1800" b="0" i="0" u="none" strike="noStrike" baseline="0" dirty="0">
                <a:solidFill>
                  <a:srgbClr val="800080"/>
                </a:solidFill>
                <a:latin typeface="Courier New" panose="02070309020205020404" pitchFamily="49" charset="0"/>
              </a:rPr>
              <a:t>0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/</a:t>
            </a:r>
          </a:p>
          <a:p>
            <a:pPr marL="0" indent="0">
              <a:buNone/>
            </a:pPr>
            <a:r>
              <a:rPr lang="en-US" altLang="zh-CN" sz="18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delimiter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D2695E-F512-4F76-A169-1BB712D2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C031DB-E509-41D4-AC40-D702B266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36C2-C71C-45E6-BA0F-4D091CFDA314}" type="slidenum">
              <a:rPr lang="en-US" altLang="zh-CN" smtClean="0"/>
              <a:pPr/>
              <a:t>78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D7165D-A041-4068-98B5-C9A4917BD762}"/>
              </a:ext>
            </a:extLst>
          </p:cNvPr>
          <p:cNvSpPr txBox="1"/>
          <p:nvPr/>
        </p:nvSpPr>
        <p:spPr>
          <a:xfrm>
            <a:off x="568630" y="1394555"/>
            <a:ext cx="839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创建一个触发器，其功能是当向</a:t>
            </a:r>
            <a:r>
              <a:rPr lang="en-US" altLang="zh-CN" dirty="0" err="1"/>
              <a:t>sc</a:t>
            </a:r>
            <a:r>
              <a:rPr lang="zh-CN" altLang="en-US" dirty="0"/>
              <a:t>表中插入某个学生的课程成绩为空时，就把成绩设置为</a:t>
            </a:r>
            <a:r>
              <a:rPr lang="en-US" altLang="zh-CN" dirty="0"/>
              <a:t>0</a:t>
            </a:r>
            <a:r>
              <a:rPr lang="zh-CN" altLang="en-US" dirty="0"/>
              <a:t>，如果不为空就按照设定值插入。</a:t>
            </a:r>
          </a:p>
        </p:txBody>
      </p:sp>
    </p:spTree>
    <p:extLst>
      <p:ext uri="{BB962C8B-B14F-4D97-AF65-F5344CB8AC3E}">
        <p14:creationId xmlns:p14="http://schemas.microsoft.com/office/powerpoint/2010/main" val="28569023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C2EFC-0F1B-45FF-8174-238FACEE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400" dirty="0"/>
              <a:t>结果截图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0841A4-471E-4521-975C-D4E4D9E1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7A1040-7CD2-4F3E-9151-2D0F57AD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36C2-C71C-45E6-BA0F-4D091CFDA314}" type="slidenum">
              <a:rPr lang="en-US" altLang="zh-CN" smtClean="0"/>
              <a:pPr/>
              <a:t>79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E75CA5D-E5AA-46F7-917B-A2C43DA18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247942"/>
            <a:ext cx="2149026" cy="31016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147367B-C06E-4BDD-8D68-B4BEDBD91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778" y="2780928"/>
            <a:ext cx="3040643" cy="25910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CC72742-1A1E-48D1-9398-CBE2F9DC6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605" y="2337344"/>
            <a:ext cx="2469094" cy="291109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3108041-47AF-47A3-A419-E2DC4E2CE1AF}"/>
              </a:ext>
            </a:extLst>
          </p:cNvPr>
          <p:cNvSpPr txBox="1"/>
          <p:nvPr/>
        </p:nvSpPr>
        <p:spPr>
          <a:xfrm>
            <a:off x="683568" y="177281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执行前：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426104E-AA26-4D17-9B48-BF61E0D7E605}"/>
              </a:ext>
            </a:extLst>
          </p:cNvPr>
          <p:cNvSpPr txBox="1"/>
          <p:nvPr/>
        </p:nvSpPr>
        <p:spPr>
          <a:xfrm>
            <a:off x="6300192" y="177281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执行后：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C2B56D-729E-4383-A658-AC7C5157D1E4}"/>
              </a:ext>
            </a:extLst>
          </p:cNvPr>
          <p:cNvSpPr/>
          <p:nvPr/>
        </p:nvSpPr>
        <p:spPr>
          <a:xfrm>
            <a:off x="6311408" y="4221088"/>
            <a:ext cx="1933000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3577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定界符与</a:t>
            </a:r>
            <a:r>
              <a:rPr lang="en-US" altLang="zh-CN" sz="2400" dirty="0"/>
              <a:t>DELIMITER</a:t>
            </a:r>
            <a:r>
              <a:rPr lang="zh-CN" altLang="en-US" sz="2400" dirty="0"/>
              <a:t>命令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4495800"/>
          </a:xfrm>
        </p:spPr>
        <p:txBody>
          <a:bodyPr/>
          <a:lstStyle/>
          <a:p>
            <a:r>
              <a:rPr lang="en-US" altLang="zh-CN" sz="2400" dirty="0">
                <a:solidFill>
                  <a:srgbClr val="FF0000"/>
                </a:solidFill>
              </a:rPr>
              <a:t>DELIMITER // </a:t>
            </a:r>
            <a:r>
              <a:rPr lang="zh-CN" altLang="en-US" sz="2400" dirty="0">
                <a:solidFill>
                  <a:srgbClr val="FF0000"/>
                </a:solidFill>
              </a:rPr>
              <a:t>语句的作用是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 </a:t>
            </a:r>
            <a:r>
              <a:rPr lang="zh-CN" altLang="en-US" sz="2200" b="1" dirty="0"/>
              <a:t>将</a:t>
            </a:r>
            <a:r>
              <a:rPr lang="en-US" altLang="zh-CN" sz="2200" b="1" dirty="0"/>
              <a:t>MySQL</a:t>
            </a:r>
            <a:r>
              <a:rPr lang="zh-CN" altLang="en-US" sz="2200" b="1" dirty="0"/>
              <a:t>的结束符设置为</a:t>
            </a:r>
            <a:r>
              <a:rPr lang="en-US" altLang="zh-CN" sz="2200" b="1" dirty="0"/>
              <a:t>//</a:t>
            </a:r>
            <a:r>
              <a:rPr lang="zh-CN" altLang="en-US" sz="2200" b="1" dirty="0"/>
              <a:t>，因为</a:t>
            </a:r>
            <a:r>
              <a:rPr lang="en-US" altLang="zh-CN" sz="2200" b="1" dirty="0"/>
              <a:t>MySQL</a:t>
            </a:r>
            <a:r>
              <a:rPr lang="zh-CN" altLang="en-US" sz="2200" b="1" dirty="0"/>
              <a:t>默认的语句结束符为分号“</a:t>
            </a:r>
            <a:r>
              <a:rPr lang="en-US" altLang="zh-CN" sz="2200" b="1" dirty="0"/>
              <a:t>;</a:t>
            </a:r>
            <a:r>
              <a:rPr lang="zh-CN" altLang="en-US" sz="2200" b="1" dirty="0"/>
              <a:t>”。为了避免与存储过程中</a:t>
            </a:r>
            <a:r>
              <a:rPr lang="en-US" altLang="zh-CN" sz="2200" b="1" dirty="0"/>
              <a:t>SOL</a:t>
            </a:r>
            <a:r>
              <a:rPr lang="zh-CN" altLang="en-US" sz="2200" b="1" dirty="0"/>
              <a:t>语句结束符相冲突，需要使用</a:t>
            </a:r>
            <a:r>
              <a:rPr lang="en-US" altLang="zh-CN" sz="2200" b="1" dirty="0"/>
              <a:t>DELIMITER</a:t>
            </a:r>
            <a:r>
              <a:rPr lang="zh-CN" altLang="en-US" sz="2200" b="1" dirty="0"/>
              <a:t>改变存储过程的结束符，并以“</a:t>
            </a:r>
            <a:r>
              <a:rPr lang="en-US" altLang="zh-CN" sz="2200" b="1" dirty="0"/>
              <a:t>END//</a:t>
            </a:r>
            <a:r>
              <a:rPr lang="zh-CN" altLang="en-US" sz="2200" b="1" dirty="0"/>
              <a:t>”结束存储过程。存储过程定义完毕，再使用“</a:t>
            </a:r>
            <a:r>
              <a:rPr lang="en-US" altLang="zh-CN" sz="2200" b="1" dirty="0"/>
              <a:t>DELITIMIN ;</a:t>
            </a:r>
            <a:r>
              <a:rPr lang="zh-CN" altLang="en-US" sz="2200" b="1" dirty="0"/>
              <a:t>”恢复默认结束符。</a:t>
            </a:r>
            <a:r>
              <a:rPr lang="en-US" altLang="zh-CN" sz="2200" b="1" dirty="0"/>
              <a:t>DELIMITER</a:t>
            </a:r>
            <a:r>
              <a:rPr lang="zh-CN" altLang="en-US" sz="2200" b="1" dirty="0"/>
              <a:t>也可以指定其他符号作为结束符。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12762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604891"/>
          </a:xfrm>
        </p:spPr>
        <p:txBody>
          <a:bodyPr/>
          <a:lstStyle/>
          <a:p>
            <a:r>
              <a:rPr lang="zh-CN" altLang="en-US" dirty="0"/>
              <a:t>触发器管理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6184" y="1484784"/>
            <a:ext cx="8515350" cy="4752527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查看触发器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sz="2100" b="1" dirty="0">
                <a:solidFill>
                  <a:srgbClr val="0000FF"/>
                </a:solidFill>
                <a:latin typeface="Courier New" panose="02070309020205020404" pitchFamily="49" charset="0"/>
              </a:rPr>
              <a:t>SHOW</a:t>
            </a:r>
            <a:r>
              <a:rPr lang="en-US" altLang="zh-CN" sz="21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100" b="1" dirty="0">
                <a:solidFill>
                  <a:srgbClr val="0000FF"/>
                </a:solidFill>
                <a:latin typeface="Courier New" panose="02070309020205020404" pitchFamily="49" charset="0"/>
              </a:rPr>
              <a:t>TRIGGERS</a:t>
            </a:r>
            <a:r>
              <a:rPr lang="en-US" altLang="zh-CN" sz="21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100" dirty="0">
                <a:solidFill>
                  <a:srgbClr val="0000FF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sz="21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altLang="zh-CN" sz="2100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sz="21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US" altLang="zh-CN" sz="2100" dirty="0">
                <a:solidFill>
                  <a:srgbClr val="0000FF"/>
                </a:solidFill>
                <a:latin typeface="Courier New" panose="02070309020205020404" pitchFamily="49" charset="0"/>
              </a:rPr>
              <a:t>]</a:t>
            </a:r>
            <a:r>
              <a:rPr lang="en-US" altLang="zh-CN" sz="21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2100" dirty="0">
                <a:solidFill>
                  <a:srgbClr val="808000"/>
                </a:solidFill>
                <a:latin typeface="Courier New" panose="02070309020205020404" pitchFamily="49" charset="0"/>
              </a:rPr>
              <a:t>数据库名 </a:t>
            </a:r>
            <a:r>
              <a:rPr lang="en-US" altLang="zh-CN" sz="2100" dirty="0">
                <a:solidFill>
                  <a:srgbClr val="0000FF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sz="2100" b="1" dirty="0">
                <a:solidFill>
                  <a:srgbClr val="0000FF"/>
                </a:solidFill>
                <a:latin typeface="Courier New" panose="02070309020205020404" pitchFamily="49" charset="0"/>
              </a:rPr>
              <a:t>LIKE</a:t>
            </a:r>
            <a:r>
              <a:rPr lang="en-US" altLang="zh-CN" sz="21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100" dirty="0">
                <a:solidFill>
                  <a:srgbClr val="808000"/>
                </a:solidFill>
                <a:latin typeface="Courier New" panose="02070309020205020404" pitchFamily="49" charset="0"/>
              </a:rPr>
              <a:t>expr</a:t>
            </a:r>
            <a:r>
              <a:rPr lang="en-US" altLang="zh-CN" sz="21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100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sz="21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100" b="1" dirty="0">
                <a:solidFill>
                  <a:srgbClr val="0000FF"/>
                </a:solidFill>
                <a:latin typeface="Courier New" panose="02070309020205020404" pitchFamily="49" charset="0"/>
              </a:rPr>
              <a:t>WHERE</a:t>
            </a:r>
            <a:r>
              <a:rPr lang="en-US" altLang="zh-CN" sz="21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100" dirty="0">
                <a:solidFill>
                  <a:srgbClr val="808000"/>
                </a:solidFill>
                <a:latin typeface="Courier New" panose="02070309020205020404" pitchFamily="49" charset="0"/>
              </a:rPr>
              <a:t>expr</a:t>
            </a:r>
            <a:r>
              <a:rPr lang="en-US" altLang="zh-CN" sz="2100" dirty="0">
                <a:solidFill>
                  <a:srgbClr val="0000FF"/>
                </a:solidFill>
                <a:latin typeface="Courier New" panose="02070309020205020404" pitchFamily="49" charset="0"/>
              </a:rPr>
              <a:t>];</a:t>
            </a:r>
            <a:r>
              <a:rPr lang="en-US" altLang="zh-CN" sz="21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zh-CN" altLang="en-US" dirty="0"/>
              <a:t>例如：</a:t>
            </a:r>
            <a:endParaRPr lang="en-US" altLang="zh-CN" dirty="0"/>
          </a:p>
          <a:p>
            <a:pPr lvl="2"/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SHOW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TRIGGERS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#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查看当前数据库中的触发器</a:t>
            </a:r>
            <a:endParaRPr lang="en-US" altLang="zh-CN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SHOW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TRIGGERS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mysqldemo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#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查看数据库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mysqldemo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中的触发器</a:t>
            </a:r>
            <a:endParaRPr lang="en-US" altLang="zh-CN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SHOW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TRIGGERS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mysqldemo</a:t>
            </a:r>
            <a:endParaRPr lang="en-US" altLang="zh-CN" b="0" i="0" u="none" strike="noStrike" baseline="0" dirty="0">
              <a:solidFill>
                <a:srgbClr val="808000"/>
              </a:solidFill>
              <a:latin typeface="Courier New" panose="02070309020205020404" pitchFamily="49" charset="0"/>
            </a:endParaRPr>
          </a:p>
          <a:p>
            <a:pPr marL="685800" lvl="2" indent="0">
              <a:buNone/>
            </a:pP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     WHERE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`table`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‘employees’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# 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查看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employees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表的触发器</a:t>
            </a:r>
            <a:endParaRPr lang="en-US" altLang="zh-CN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dirty="0"/>
              <a:t>删除触发器</a:t>
            </a:r>
            <a:endParaRPr lang="en-US" altLang="zh-CN" dirty="0"/>
          </a:p>
          <a:p>
            <a:pPr lvl="1"/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DROP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TRIGGER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EXISTS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]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[</a:t>
            </a:r>
            <a:r>
              <a:rPr lang="zh-CN" altLang="en-US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数据库名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]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zh-CN" altLang="en-US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触发器名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pPr lvl="2"/>
            <a:r>
              <a:rPr lang="zh-CN" alt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例如：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DROP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TRIGGER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before_products_update_2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zh-CN" alt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修改触发器</a:t>
            </a:r>
            <a:endParaRPr lang="en-US" altLang="zh-CN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zh-CN" altLang="en-US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先删除，再重建</a:t>
            </a:r>
            <a:endParaRPr lang="en-US" altLang="zh-CN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6005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723E4C-EB42-400B-98D2-B231A164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F5601F-D060-415C-A0BF-5DAA838B3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41AE7E-C61F-4AEC-9993-3B8345157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DE0777-D1FA-43D1-A38D-6FC159445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36C2-C71C-45E6-BA0F-4D091CFDA314}" type="slidenum">
              <a:rPr lang="en-US" altLang="zh-CN" smtClean="0"/>
              <a:pPr/>
              <a:t>82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37E91B2-924E-49FA-94F1-76AF5092C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37" y="1628800"/>
            <a:ext cx="8682926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79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创建多个触发器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4468" y="1628800"/>
            <a:ext cx="8291264" cy="4495800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MySQL 5.7.2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及以上的版本中可以为相同事件和操作时间创建多个触发器</a:t>
            </a:r>
            <a:endParaRPr lang="en-US" altLang="zh-CN" sz="2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表中相同事件的多个触发器，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MySQL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默认按创建顺序调用触发器</a:t>
            </a:r>
            <a:endParaRPr lang="en-US" altLang="zh-CN" sz="2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要更改触发器的执行顺序，需要在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FOR EACH ROW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之后指定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FOLLOWS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或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PRECEDES</a:t>
            </a:r>
          </a:p>
          <a:p>
            <a:pPr lvl="1"/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en-US" altLang="zh-CN" b="1" dirty="0">
                <a:solidFill>
                  <a:srgbClr val="C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FOLLOWS </a:t>
            </a: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指在</a:t>
            </a: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follows 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后跟随的触发器之后激活当前创建的这个触发器</a:t>
            </a:r>
          </a:p>
          <a:p>
            <a:pPr lvl="1"/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en-US" altLang="zh-CN" b="1" dirty="0">
                <a:solidFill>
                  <a:srgbClr val="C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PRECEDES</a:t>
            </a: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指在</a:t>
            </a: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precedes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后跟随的触发器之前激活当前创建的新触发器</a:t>
            </a:r>
          </a:p>
        </p:txBody>
      </p:sp>
    </p:spTree>
    <p:extLst>
      <p:ext uri="{BB962C8B-B14F-4D97-AF65-F5344CB8AC3E}">
        <p14:creationId xmlns:p14="http://schemas.microsoft.com/office/powerpoint/2010/main" val="8567960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创建多重触发器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972955"/>
            <a:ext cx="7886700" cy="35170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DELIMITER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$</a:t>
            </a:r>
          </a:p>
          <a:p>
            <a:pPr marL="0" indent="0">
              <a:buNone/>
            </a:pP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TRIGGER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zh-CN" altLang="en-US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触发器</a:t>
            </a:r>
            <a:r>
              <a:rPr lang="en-US" altLang="zh-CN" dirty="0">
                <a:solidFill>
                  <a:srgbClr val="808000"/>
                </a:solidFill>
                <a:latin typeface="Courier New" panose="02070309020205020404" pitchFamily="49" charset="0"/>
              </a:rPr>
              <a:t>A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BEFORE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AFTER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]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UPDATE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DELETE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]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ON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zh-CN" altLang="en-US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表名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EACH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ROW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b="1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FOLLOWS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|</a:t>
            </a:r>
            <a:r>
              <a:rPr lang="en-US" altLang="zh-CN" b="1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PRECEDES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]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zh-CN" altLang="en-US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触发器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</a:rPr>
              <a:t>B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BEGIN</a:t>
            </a:r>
          </a:p>
          <a:p>
            <a:pPr marL="0" indent="0">
              <a:buNone/>
            </a:pP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zh-CN" altLang="en-US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触发器主体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en-US" altLang="zh-CN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$</a:t>
            </a:r>
          </a:p>
          <a:p>
            <a:pPr marL="0" indent="0">
              <a:buNone/>
            </a:pPr>
            <a:r>
              <a:rPr lang="en-US" altLang="zh-CN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DELIMITER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08984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58260" y="1315031"/>
            <a:ext cx="8034220" cy="4464698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 algn="l">
              <a:spcBef>
                <a:spcPts val="855"/>
              </a:spcBef>
            </a:pPr>
            <a:r>
              <a:rPr sz="2400" dirty="0">
                <a:latin typeface="Microsoft YaHei"/>
                <a:cs typeface="Microsoft YaHei"/>
              </a:rPr>
              <a:t>示例一</a:t>
            </a:r>
          </a:p>
          <a:p>
            <a:pPr marL="10860" algn="l">
              <a:spcBef>
                <a:spcPts val="637"/>
              </a:spcBef>
            </a:pPr>
            <a:r>
              <a:rPr sz="2000" spc="-4" dirty="0">
                <a:latin typeface="Microsoft YaHei"/>
                <a:cs typeface="Microsoft YaHei"/>
              </a:rPr>
              <a:t>设计一个触发器当进行Teacher表更新元组时,</a:t>
            </a:r>
            <a:r>
              <a:rPr sz="2000" dirty="0">
                <a:latin typeface="Microsoft YaHei"/>
                <a:cs typeface="Microsoft YaHei"/>
              </a:rPr>
              <a:t> </a:t>
            </a:r>
            <a:r>
              <a:rPr sz="2000" spc="-4" dirty="0">
                <a:latin typeface="Microsoft YaHei"/>
                <a:cs typeface="Microsoft YaHei"/>
              </a:rPr>
              <a:t>使其工资只能升不能降</a:t>
            </a:r>
            <a:endParaRPr sz="2000" dirty="0">
              <a:latin typeface="Microsoft YaHei"/>
              <a:cs typeface="Microsoft YaHei"/>
            </a:endParaRPr>
          </a:p>
          <a:p>
            <a:pPr marL="761269" marR="548418" indent="-360001" algn="l">
              <a:lnSpc>
                <a:spcPct val="130000"/>
              </a:lnSpc>
              <a:spcBef>
                <a:spcPts val="38"/>
              </a:spcBef>
              <a:tabLst>
                <a:tab pos="1205434" algn="l"/>
                <a:tab pos="1967247" algn="l"/>
                <a:tab pos="3729245" algn="l"/>
                <a:tab pos="4511691" algn="l"/>
                <a:tab pos="5608528" algn="l"/>
              </a:tabLst>
            </a:pP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delimiter //</a:t>
            </a:r>
          </a:p>
          <a:p>
            <a:pPr marL="761269" marR="548418" indent="-360001" algn="l">
              <a:lnSpc>
                <a:spcPct val="130000"/>
              </a:lnSpc>
              <a:spcBef>
                <a:spcPts val="38"/>
              </a:spcBef>
              <a:tabLst>
                <a:tab pos="1205434" algn="l"/>
                <a:tab pos="1967247" algn="l"/>
                <a:tab pos="3729245" algn="l"/>
                <a:tab pos="4511691" algn="l"/>
                <a:tab pos="5608528" algn="l"/>
              </a:tabLst>
            </a:pPr>
            <a:r>
              <a:rPr lang="en-US" sz="2000" spc="-9" dirty="0">
                <a:solidFill>
                  <a:srgbClr val="C00000"/>
                </a:solidFill>
                <a:latin typeface="Arial"/>
                <a:cs typeface="Arial"/>
              </a:rPr>
              <a:t>create trigger </a:t>
            </a:r>
            <a:r>
              <a:rPr lang="en-US" sz="2000" spc="-9" dirty="0" err="1">
                <a:solidFill>
                  <a:srgbClr val="3333CC"/>
                </a:solidFill>
                <a:latin typeface="Arial"/>
                <a:cs typeface="Arial"/>
              </a:rPr>
              <a:t>teacher_chgsal</a:t>
            </a: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 before update </a:t>
            </a:r>
            <a:r>
              <a:rPr lang="en-US" sz="2000" spc="-9" dirty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 teacher </a:t>
            </a:r>
          </a:p>
          <a:p>
            <a:pPr marL="761269" marR="548418" indent="-360001" algn="l">
              <a:lnSpc>
                <a:spcPct val="130000"/>
              </a:lnSpc>
              <a:spcBef>
                <a:spcPts val="38"/>
              </a:spcBef>
              <a:tabLst>
                <a:tab pos="1205434" algn="l"/>
                <a:tab pos="1967247" algn="l"/>
                <a:tab pos="3729245" algn="l"/>
                <a:tab pos="4511691" algn="l"/>
                <a:tab pos="5608528" algn="l"/>
              </a:tabLst>
            </a:pPr>
            <a:r>
              <a:rPr lang="en-US" sz="2000" spc="-9" dirty="0">
                <a:solidFill>
                  <a:srgbClr val="C00000"/>
                </a:solidFill>
                <a:latin typeface="Arial"/>
                <a:cs typeface="Arial"/>
              </a:rPr>
              <a:t>for each row  begin</a:t>
            </a: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</a:p>
          <a:p>
            <a:pPr marL="761269" marR="548418" indent="-360001" algn="l">
              <a:lnSpc>
                <a:spcPct val="130000"/>
              </a:lnSpc>
              <a:spcBef>
                <a:spcPts val="38"/>
              </a:spcBef>
              <a:tabLst>
                <a:tab pos="1205434" algn="l"/>
                <a:tab pos="1967247" algn="l"/>
                <a:tab pos="3729245" algn="l"/>
                <a:tab pos="4511691" algn="l"/>
                <a:tab pos="5608528" algn="l"/>
              </a:tabLst>
            </a:pPr>
            <a:r>
              <a:rPr lang="en-US" sz="2000" spc="-9" dirty="0">
                <a:solidFill>
                  <a:srgbClr val="C00000"/>
                </a:solidFill>
                <a:latin typeface="Arial"/>
                <a:cs typeface="Arial"/>
              </a:rPr>
              <a:t> if </a:t>
            </a:r>
            <a:r>
              <a:rPr lang="en-US" sz="2000" spc="-9" dirty="0" err="1">
                <a:solidFill>
                  <a:srgbClr val="3333CC"/>
                </a:solidFill>
                <a:latin typeface="Arial"/>
                <a:cs typeface="Arial"/>
              </a:rPr>
              <a:t>new.salary</a:t>
            </a: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 &lt; </a:t>
            </a:r>
            <a:r>
              <a:rPr lang="en-US" sz="2000" spc="-9" dirty="0" err="1">
                <a:solidFill>
                  <a:srgbClr val="3333CC"/>
                </a:solidFill>
                <a:latin typeface="Arial"/>
                <a:cs typeface="Arial"/>
              </a:rPr>
              <a:t>old.salary</a:t>
            </a: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lang="en-US" sz="2000" spc="-9" dirty="0">
                <a:solidFill>
                  <a:srgbClr val="C00000"/>
                </a:solidFill>
                <a:latin typeface="Arial"/>
                <a:cs typeface="Arial"/>
              </a:rPr>
              <a:t>then</a:t>
            </a: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</a:p>
          <a:p>
            <a:pPr marL="761269" marR="548418" indent="-360001" algn="l">
              <a:lnSpc>
                <a:spcPct val="130000"/>
              </a:lnSpc>
              <a:spcBef>
                <a:spcPts val="38"/>
              </a:spcBef>
              <a:tabLst>
                <a:tab pos="1205434" algn="l"/>
                <a:tab pos="1967247" algn="l"/>
                <a:tab pos="3729245" algn="l"/>
                <a:tab pos="4511691" algn="l"/>
                <a:tab pos="5608528" algn="l"/>
              </a:tabLst>
            </a:pP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         update teacher  set  salary=</a:t>
            </a:r>
            <a:r>
              <a:rPr lang="en-US" sz="2000" spc="-9" dirty="0" err="1">
                <a:solidFill>
                  <a:srgbClr val="3333CC"/>
                </a:solidFill>
                <a:latin typeface="Arial"/>
                <a:cs typeface="Arial"/>
              </a:rPr>
              <a:t>old.salary</a:t>
            </a: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</a:p>
          <a:p>
            <a:pPr marL="761269" marR="548418" indent="-360001" algn="l">
              <a:lnSpc>
                <a:spcPct val="130000"/>
              </a:lnSpc>
              <a:spcBef>
                <a:spcPts val="38"/>
              </a:spcBef>
              <a:tabLst>
                <a:tab pos="1205434" algn="l"/>
                <a:tab pos="1967247" algn="l"/>
                <a:tab pos="3729245" algn="l"/>
                <a:tab pos="4511691" algn="l"/>
                <a:tab pos="5608528" algn="l"/>
              </a:tabLst>
            </a:pP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sz="2000" spc="-9" dirty="0">
                <a:solidFill>
                  <a:srgbClr val="C00000"/>
                </a:solidFill>
                <a:latin typeface="Arial"/>
                <a:cs typeface="Arial"/>
              </a:rPr>
              <a:t>end if</a:t>
            </a: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</a:p>
          <a:p>
            <a:pPr marL="761269" marR="548418" indent="-360001" algn="l">
              <a:lnSpc>
                <a:spcPct val="130000"/>
              </a:lnSpc>
              <a:spcBef>
                <a:spcPts val="38"/>
              </a:spcBef>
              <a:tabLst>
                <a:tab pos="1205434" algn="l"/>
                <a:tab pos="1967247" algn="l"/>
                <a:tab pos="3729245" algn="l"/>
                <a:tab pos="4511691" algn="l"/>
                <a:tab pos="5608528" algn="l"/>
              </a:tabLst>
            </a:pPr>
            <a:r>
              <a:rPr lang="en-US" sz="2000" spc="-9" dirty="0">
                <a:solidFill>
                  <a:srgbClr val="C00000"/>
                </a:solidFill>
                <a:latin typeface="Arial"/>
                <a:cs typeface="Arial"/>
              </a:rPr>
              <a:t> end</a:t>
            </a:r>
          </a:p>
          <a:p>
            <a:pPr marL="761269" marR="548418" indent="-360001" algn="l">
              <a:lnSpc>
                <a:spcPct val="130000"/>
              </a:lnSpc>
              <a:spcBef>
                <a:spcPts val="38"/>
              </a:spcBef>
              <a:tabLst>
                <a:tab pos="1205434" algn="l"/>
                <a:tab pos="1967247" algn="l"/>
                <a:tab pos="3729245" algn="l"/>
                <a:tab pos="4511691" algn="l"/>
                <a:tab pos="5608528" algn="l"/>
              </a:tabLst>
            </a:pP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//</a:t>
            </a:r>
          </a:p>
          <a:p>
            <a:pPr marL="761269" marR="548418" indent="-360001" algn="l">
              <a:lnSpc>
                <a:spcPct val="130000"/>
              </a:lnSpc>
              <a:spcBef>
                <a:spcPts val="38"/>
              </a:spcBef>
              <a:tabLst>
                <a:tab pos="1205434" algn="l"/>
                <a:tab pos="1967247" algn="l"/>
                <a:tab pos="3729245" algn="l"/>
                <a:tab pos="4511691" algn="l"/>
                <a:tab pos="5608528" algn="l"/>
              </a:tabLst>
            </a:pP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delimiter 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6910" y="644186"/>
            <a:ext cx="3716243" cy="493941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触发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器</a:t>
            </a:r>
            <a:r>
              <a:rPr sz="2800" spc="-4" dirty="0" err="1">
                <a:solidFill>
                  <a:srgbClr val="FFFFFF"/>
                </a:solidFill>
                <a:latin typeface="Arial"/>
                <a:cs typeface="Arial"/>
              </a:rPr>
              <a:t>Trigger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784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1052" y="1346677"/>
            <a:ext cx="8197411" cy="1739336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 algn="l">
              <a:spcBef>
                <a:spcPts val="855"/>
              </a:spcBef>
            </a:pPr>
            <a:r>
              <a:rPr sz="2400" dirty="0">
                <a:latin typeface="Microsoft YaHei"/>
                <a:cs typeface="Microsoft YaHei"/>
              </a:rPr>
              <a:t>示例二</a:t>
            </a:r>
          </a:p>
          <a:p>
            <a:pPr marL="10860" marR="4344" algn="l">
              <a:lnSpc>
                <a:spcPct val="130300"/>
              </a:lnSpc>
              <a:spcBef>
                <a:spcPts val="17"/>
              </a:spcBef>
            </a:pPr>
            <a:r>
              <a:rPr sz="2100" spc="-4" dirty="0" err="1">
                <a:latin typeface="Microsoft YaHei"/>
                <a:cs typeface="Microsoft YaHei"/>
              </a:rPr>
              <a:t>假设</a:t>
            </a:r>
            <a:r>
              <a:rPr lang="en-US" sz="2100" spc="-4" dirty="0" err="1">
                <a:latin typeface="Microsoft YaHei"/>
                <a:cs typeface="Microsoft YaHei"/>
              </a:rPr>
              <a:t>stu_sumcourse</a:t>
            </a:r>
            <a:r>
              <a:rPr lang="en-US" sz="2100" spc="-4" dirty="0">
                <a:latin typeface="Microsoft YaHei"/>
                <a:cs typeface="Microsoft YaHei"/>
              </a:rPr>
              <a:t> </a:t>
            </a:r>
            <a:r>
              <a:rPr sz="2100" spc="-4" dirty="0">
                <a:latin typeface="Microsoft YaHei"/>
                <a:cs typeface="Microsoft YaHei"/>
              </a:rPr>
              <a:t>(</a:t>
            </a:r>
            <a:r>
              <a:rPr sz="2100" spc="-4" dirty="0" err="1">
                <a:latin typeface="Microsoft YaHei"/>
                <a:cs typeface="Microsoft YaHei"/>
              </a:rPr>
              <a:t>S</a:t>
            </a:r>
            <a:r>
              <a:rPr lang="en-US" sz="2100" spc="-4" dirty="0" err="1">
                <a:latin typeface="Microsoft YaHei"/>
                <a:cs typeface="Microsoft YaHei"/>
              </a:rPr>
              <a:t>no</a:t>
            </a:r>
            <a:r>
              <a:rPr sz="2100" spc="-4" dirty="0">
                <a:latin typeface="Microsoft YaHei"/>
                <a:cs typeface="Microsoft YaHei"/>
              </a:rPr>
              <a:t>,</a:t>
            </a:r>
            <a:r>
              <a:rPr sz="2100" spc="17" dirty="0">
                <a:latin typeface="Microsoft YaHei"/>
                <a:cs typeface="Microsoft YaHei"/>
              </a:rPr>
              <a:t> </a:t>
            </a:r>
            <a:r>
              <a:rPr sz="2100" spc="-4" dirty="0">
                <a:latin typeface="Microsoft YaHei"/>
                <a:cs typeface="Microsoft YaHei"/>
              </a:rPr>
              <a:t>Sname,</a:t>
            </a:r>
            <a:r>
              <a:rPr sz="2100" spc="21" dirty="0">
                <a:latin typeface="Microsoft YaHei"/>
                <a:cs typeface="Microsoft YaHei"/>
              </a:rPr>
              <a:t> </a:t>
            </a:r>
            <a:r>
              <a:rPr sz="2100" spc="-4" dirty="0">
                <a:latin typeface="Microsoft YaHei"/>
                <a:cs typeface="Microsoft YaHei"/>
              </a:rPr>
              <a:t>SumCourse),</a:t>
            </a:r>
            <a:r>
              <a:rPr sz="2100" spc="17" dirty="0">
                <a:latin typeface="Microsoft YaHei"/>
                <a:cs typeface="Microsoft YaHei"/>
              </a:rPr>
              <a:t> </a:t>
            </a:r>
            <a:r>
              <a:rPr sz="2100" spc="-4" dirty="0">
                <a:latin typeface="Microsoft YaHei"/>
                <a:cs typeface="Microsoft YaHei"/>
              </a:rPr>
              <a:t>SumCourse为该同学已学习课程的门数，初始值为0，以后每选修一门都</a:t>
            </a:r>
            <a:r>
              <a:rPr sz="2100" dirty="0">
                <a:latin typeface="Microsoft YaHei"/>
                <a:cs typeface="Microsoft YaHei"/>
              </a:rPr>
              <a:t>要</a:t>
            </a:r>
            <a:r>
              <a:rPr sz="2100" spc="-4" dirty="0">
                <a:latin typeface="Microsoft YaHei"/>
                <a:cs typeface="Microsoft YaHei"/>
              </a:rPr>
              <a:t>对其增1</a:t>
            </a:r>
            <a:r>
              <a:rPr sz="2100" spc="4" dirty="0">
                <a:latin typeface="Microsoft YaHei"/>
                <a:cs typeface="Microsoft YaHei"/>
              </a:rPr>
              <a:t> </a:t>
            </a:r>
            <a:r>
              <a:rPr sz="2100" spc="-4" dirty="0">
                <a:latin typeface="Microsoft YaHei"/>
                <a:cs typeface="Microsoft YaHei"/>
              </a:rPr>
              <a:t>。设计一个触发器自动完成上 </a:t>
            </a:r>
            <a:r>
              <a:rPr sz="2100" spc="-4" dirty="0" err="1">
                <a:latin typeface="Microsoft YaHei"/>
                <a:cs typeface="Microsoft YaHei"/>
              </a:rPr>
              <a:t>述功能</a:t>
            </a:r>
            <a:r>
              <a:rPr sz="2100" spc="-4" dirty="0">
                <a:latin typeface="Microsoft YaHei"/>
                <a:cs typeface="Microsoft YaHei"/>
              </a:rPr>
              <a:t>。</a:t>
            </a:r>
            <a:endParaRPr sz="21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516" y="3116958"/>
            <a:ext cx="7776864" cy="3608874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 algn="l">
              <a:lnSpc>
                <a:spcPct val="130300"/>
              </a:lnSpc>
              <a:spcBef>
                <a:spcPts val="86"/>
              </a:spcBef>
              <a:tabLst>
                <a:tab pos="539188" algn="l"/>
              </a:tabLst>
            </a:pPr>
            <a:r>
              <a:rPr lang="en-US" sz="2200" spc="-9" dirty="0">
                <a:solidFill>
                  <a:srgbClr val="3333CC"/>
                </a:solidFill>
                <a:latin typeface="Arial"/>
                <a:cs typeface="Arial"/>
              </a:rPr>
              <a:t>delimiter //</a:t>
            </a:r>
          </a:p>
          <a:p>
            <a:pPr marL="10860" marR="4344" algn="l">
              <a:lnSpc>
                <a:spcPct val="130300"/>
              </a:lnSpc>
              <a:spcBef>
                <a:spcPts val="86"/>
              </a:spcBef>
              <a:tabLst>
                <a:tab pos="539188" algn="l"/>
              </a:tabLst>
            </a:pPr>
            <a:r>
              <a:rPr lang="en-US" sz="2200" spc="-9" dirty="0">
                <a:solidFill>
                  <a:srgbClr val="FF0000"/>
                </a:solidFill>
                <a:latin typeface="Arial"/>
                <a:cs typeface="Arial"/>
              </a:rPr>
              <a:t>create trigger </a:t>
            </a:r>
            <a:r>
              <a:rPr lang="en-US" sz="2200" spc="-9" dirty="0" err="1">
                <a:solidFill>
                  <a:srgbClr val="3333CC"/>
                </a:solidFill>
                <a:latin typeface="Arial"/>
                <a:cs typeface="Arial"/>
              </a:rPr>
              <a:t>sumc</a:t>
            </a:r>
            <a:r>
              <a:rPr lang="en-US" sz="2200" spc="-9" dirty="0">
                <a:solidFill>
                  <a:srgbClr val="3333CC"/>
                </a:solidFill>
                <a:latin typeface="Arial"/>
                <a:cs typeface="Arial"/>
              </a:rPr>
              <a:t> after insert </a:t>
            </a:r>
            <a:r>
              <a:rPr lang="en-US" sz="2200" spc="-9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lang="en-US" sz="2200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sz="2200" spc="-9" dirty="0" err="1">
                <a:solidFill>
                  <a:srgbClr val="3333CC"/>
                </a:solidFill>
                <a:latin typeface="Arial"/>
                <a:cs typeface="Arial"/>
              </a:rPr>
              <a:t>sc</a:t>
            </a:r>
            <a:r>
              <a:rPr lang="en-US" sz="2200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</a:p>
          <a:p>
            <a:pPr marL="10860" marR="4344" algn="l">
              <a:lnSpc>
                <a:spcPct val="130300"/>
              </a:lnSpc>
              <a:spcBef>
                <a:spcPts val="86"/>
              </a:spcBef>
              <a:tabLst>
                <a:tab pos="539188" algn="l"/>
              </a:tabLst>
            </a:pPr>
            <a:r>
              <a:rPr lang="en-US" sz="2200" spc="-9" dirty="0">
                <a:solidFill>
                  <a:srgbClr val="FF0000"/>
                </a:solidFill>
                <a:latin typeface="Arial"/>
                <a:cs typeface="Arial"/>
              </a:rPr>
              <a:t>for each row  begin </a:t>
            </a:r>
          </a:p>
          <a:p>
            <a:pPr marL="10860" marR="4344" algn="l">
              <a:lnSpc>
                <a:spcPct val="130300"/>
              </a:lnSpc>
              <a:spcBef>
                <a:spcPts val="86"/>
              </a:spcBef>
              <a:tabLst>
                <a:tab pos="539188" algn="l"/>
              </a:tabLst>
            </a:pPr>
            <a:r>
              <a:rPr lang="en-US" sz="2200" spc="-9" dirty="0">
                <a:solidFill>
                  <a:srgbClr val="3333CC"/>
                </a:solidFill>
                <a:latin typeface="Arial"/>
                <a:cs typeface="Arial"/>
              </a:rPr>
              <a:t>    update </a:t>
            </a:r>
            <a:r>
              <a:rPr lang="en-US" sz="2200" spc="-9" dirty="0" err="1">
                <a:solidFill>
                  <a:srgbClr val="3333CC"/>
                </a:solidFill>
                <a:latin typeface="Arial"/>
                <a:cs typeface="Arial"/>
              </a:rPr>
              <a:t>stu_sumcourse</a:t>
            </a:r>
            <a:r>
              <a:rPr lang="en-US" sz="2200" spc="-9" dirty="0">
                <a:solidFill>
                  <a:srgbClr val="3333CC"/>
                </a:solidFill>
                <a:latin typeface="Arial"/>
                <a:cs typeface="Arial"/>
              </a:rPr>
              <a:t>  set </a:t>
            </a:r>
            <a:r>
              <a:rPr lang="en-US" sz="2200" spc="-9" dirty="0" err="1">
                <a:solidFill>
                  <a:srgbClr val="3333CC"/>
                </a:solidFill>
                <a:latin typeface="Arial"/>
                <a:cs typeface="Arial"/>
              </a:rPr>
              <a:t>sumcourse</a:t>
            </a:r>
            <a:r>
              <a:rPr lang="en-US" sz="2200" spc="-9" dirty="0">
                <a:solidFill>
                  <a:srgbClr val="3333CC"/>
                </a:solidFill>
                <a:latin typeface="Arial"/>
                <a:cs typeface="Arial"/>
              </a:rPr>
              <a:t>= sumcourse+1  where </a:t>
            </a:r>
            <a:r>
              <a:rPr lang="en-US" sz="2200" spc="-9" dirty="0" err="1">
                <a:solidFill>
                  <a:srgbClr val="3333CC"/>
                </a:solidFill>
                <a:latin typeface="Arial"/>
                <a:cs typeface="Arial"/>
              </a:rPr>
              <a:t>sno</a:t>
            </a:r>
            <a:r>
              <a:rPr lang="en-US" sz="2200" spc="-9" dirty="0">
                <a:solidFill>
                  <a:srgbClr val="3333CC"/>
                </a:solidFill>
                <a:latin typeface="Arial"/>
                <a:cs typeface="Arial"/>
              </a:rPr>
              <a:t> = </a:t>
            </a:r>
            <a:r>
              <a:rPr lang="en-US" sz="2200" spc="-9" dirty="0" err="1">
                <a:solidFill>
                  <a:srgbClr val="3333CC"/>
                </a:solidFill>
                <a:latin typeface="Arial"/>
                <a:cs typeface="Arial"/>
              </a:rPr>
              <a:t>new.sno</a:t>
            </a:r>
            <a:r>
              <a:rPr lang="en-US" sz="2200" spc="-9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</a:p>
          <a:p>
            <a:pPr marL="10860" marR="4344" algn="l">
              <a:lnSpc>
                <a:spcPct val="130300"/>
              </a:lnSpc>
              <a:spcBef>
                <a:spcPts val="86"/>
              </a:spcBef>
              <a:tabLst>
                <a:tab pos="539188" algn="l"/>
              </a:tabLst>
            </a:pPr>
            <a:r>
              <a:rPr lang="en-US" sz="2200" spc="-9" dirty="0">
                <a:solidFill>
                  <a:srgbClr val="FF0000"/>
                </a:solidFill>
                <a:latin typeface="Arial"/>
                <a:cs typeface="Arial"/>
              </a:rPr>
              <a:t> end</a:t>
            </a:r>
          </a:p>
          <a:p>
            <a:pPr marL="10860" marR="4344" algn="l">
              <a:lnSpc>
                <a:spcPct val="130300"/>
              </a:lnSpc>
              <a:spcBef>
                <a:spcPts val="86"/>
              </a:spcBef>
              <a:tabLst>
                <a:tab pos="539188" algn="l"/>
              </a:tabLst>
            </a:pPr>
            <a:r>
              <a:rPr lang="en-US" sz="2200" spc="-9" dirty="0">
                <a:solidFill>
                  <a:srgbClr val="3333CC"/>
                </a:solidFill>
                <a:latin typeface="Arial"/>
                <a:cs typeface="Arial"/>
              </a:rPr>
              <a:t>//</a:t>
            </a:r>
          </a:p>
          <a:p>
            <a:pPr marL="10860" marR="4344" algn="l">
              <a:lnSpc>
                <a:spcPct val="130300"/>
              </a:lnSpc>
              <a:spcBef>
                <a:spcPts val="86"/>
              </a:spcBef>
              <a:tabLst>
                <a:tab pos="539188" algn="l"/>
              </a:tabLst>
            </a:pPr>
            <a:r>
              <a:rPr lang="en-US" sz="2200" spc="-9" dirty="0">
                <a:solidFill>
                  <a:srgbClr val="3333CC"/>
                </a:solidFill>
                <a:latin typeface="Arial"/>
                <a:cs typeface="Arial"/>
              </a:rPr>
              <a:t>delimiter ;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3521" y="739302"/>
            <a:ext cx="3716243" cy="493941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触发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器</a:t>
            </a:r>
            <a:r>
              <a:rPr sz="2800" spc="-4" dirty="0" err="1">
                <a:solidFill>
                  <a:srgbClr val="FFFFFF"/>
                </a:solidFill>
                <a:latin typeface="Arial"/>
                <a:cs typeface="Arial"/>
              </a:rPr>
              <a:t>Trigger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68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87016" y="1268760"/>
            <a:ext cx="8677472" cy="2192922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 algn="l">
              <a:spcBef>
                <a:spcPts val="855"/>
              </a:spcBef>
            </a:pPr>
            <a:r>
              <a:rPr sz="2400" dirty="0">
                <a:latin typeface="Microsoft YaHei"/>
                <a:cs typeface="Microsoft YaHei"/>
              </a:rPr>
              <a:t>示例三</a:t>
            </a:r>
          </a:p>
          <a:p>
            <a:pPr marL="10860" marR="4344" algn="l">
              <a:lnSpc>
                <a:spcPct val="130100"/>
              </a:lnSpc>
              <a:spcBef>
                <a:spcPts val="21"/>
              </a:spcBef>
            </a:pPr>
            <a:r>
              <a:rPr lang="en-US" sz="2200" spc="-4" dirty="0">
                <a:latin typeface="Microsoft YaHei"/>
                <a:cs typeface="Microsoft YaHei"/>
              </a:rPr>
              <a:t>    </a:t>
            </a:r>
            <a:r>
              <a:rPr sz="2200" spc="-4" dirty="0" err="1">
                <a:latin typeface="Microsoft YaHei"/>
                <a:cs typeface="Microsoft YaHei"/>
              </a:rPr>
              <a:t>假设student</a:t>
            </a:r>
            <a:r>
              <a:rPr sz="2200" spc="-4" dirty="0">
                <a:latin typeface="Microsoft YaHei"/>
                <a:cs typeface="Microsoft YaHei"/>
              </a:rPr>
              <a:t>(</a:t>
            </a:r>
            <a:r>
              <a:rPr sz="2200" spc="-4" dirty="0" err="1">
                <a:latin typeface="Microsoft YaHei"/>
                <a:cs typeface="Microsoft YaHei"/>
              </a:rPr>
              <a:t>S</a:t>
            </a:r>
            <a:r>
              <a:rPr lang="en-US" sz="2200" spc="-4" dirty="0" err="1">
                <a:latin typeface="Microsoft YaHei"/>
                <a:cs typeface="Microsoft YaHei"/>
              </a:rPr>
              <a:t>no</a:t>
            </a:r>
            <a:r>
              <a:rPr sz="2200" spc="-4" dirty="0">
                <a:latin typeface="Microsoft YaHei"/>
                <a:cs typeface="Microsoft YaHei"/>
              </a:rPr>
              <a:t>,</a:t>
            </a:r>
            <a:r>
              <a:rPr sz="2200" spc="17" dirty="0">
                <a:latin typeface="Microsoft YaHei"/>
                <a:cs typeface="Microsoft YaHei"/>
              </a:rPr>
              <a:t> </a:t>
            </a:r>
            <a:r>
              <a:rPr sz="2200" spc="-4" dirty="0">
                <a:latin typeface="Microsoft YaHei"/>
                <a:cs typeface="Microsoft YaHei"/>
              </a:rPr>
              <a:t>Sname,</a:t>
            </a:r>
            <a:r>
              <a:rPr sz="2200" spc="17" dirty="0">
                <a:latin typeface="Microsoft YaHei"/>
                <a:cs typeface="Microsoft YaHei"/>
              </a:rPr>
              <a:t> </a:t>
            </a:r>
            <a:r>
              <a:rPr sz="2200" spc="-4" dirty="0">
                <a:latin typeface="Microsoft YaHei"/>
                <a:cs typeface="Microsoft YaHei"/>
              </a:rPr>
              <a:t>Sage,</a:t>
            </a:r>
            <a:r>
              <a:rPr sz="2200" spc="17" dirty="0">
                <a:latin typeface="Microsoft YaHei"/>
                <a:cs typeface="Microsoft YaHei"/>
              </a:rPr>
              <a:t> </a:t>
            </a:r>
            <a:r>
              <a:rPr sz="2200" spc="-4" dirty="0">
                <a:latin typeface="Microsoft YaHei"/>
                <a:cs typeface="Microsoft YaHei"/>
              </a:rPr>
              <a:t>Ssex,</a:t>
            </a:r>
            <a:r>
              <a:rPr sz="2200" spc="17" dirty="0">
                <a:latin typeface="Microsoft YaHei"/>
                <a:cs typeface="Microsoft YaHei"/>
              </a:rPr>
              <a:t> </a:t>
            </a:r>
            <a:r>
              <a:rPr sz="2200" spc="-4" dirty="0">
                <a:latin typeface="Microsoft YaHei"/>
                <a:cs typeface="Microsoft YaHei"/>
              </a:rPr>
              <a:t>Sclass)中某一学生要变更其主码S</a:t>
            </a:r>
            <a:r>
              <a:rPr lang="en-US" sz="2200" spc="-4" dirty="0">
                <a:latin typeface="Microsoft YaHei"/>
                <a:cs typeface="Microsoft YaHei"/>
              </a:rPr>
              <a:t>no</a:t>
            </a:r>
            <a:r>
              <a:rPr sz="2200" spc="-4" dirty="0">
                <a:latin typeface="Microsoft YaHei"/>
                <a:cs typeface="Microsoft YaHei"/>
              </a:rPr>
              <a:t>的值，如使其原来的98030101变更为99030131,</a:t>
            </a:r>
            <a:r>
              <a:rPr sz="2200" spc="30" dirty="0">
                <a:latin typeface="Microsoft YaHei"/>
                <a:cs typeface="Microsoft YaHei"/>
              </a:rPr>
              <a:t> </a:t>
            </a:r>
            <a:r>
              <a:rPr sz="2200" spc="-4" dirty="0" err="1">
                <a:latin typeface="Microsoft YaHei"/>
                <a:cs typeface="Microsoft YaHei"/>
              </a:rPr>
              <a:t>此时sc表中该同学已选课记录的S</a:t>
            </a:r>
            <a:r>
              <a:rPr lang="en-US" sz="2200" spc="-4" dirty="0" err="1">
                <a:latin typeface="Microsoft YaHei"/>
                <a:cs typeface="Microsoft YaHei"/>
              </a:rPr>
              <a:t>no</a:t>
            </a:r>
            <a:r>
              <a:rPr sz="2200" spc="-4" dirty="0" err="1">
                <a:latin typeface="Microsoft YaHei"/>
                <a:cs typeface="Microsoft YaHei"/>
              </a:rPr>
              <a:t>也需自动随其改变。设计一个触发器完成上述功能</a:t>
            </a:r>
            <a:endParaRPr sz="2200" dirty="0">
              <a:latin typeface="Microsoft YaHei"/>
              <a:cs typeface="Microsoft YaHe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6613" y="717602"/>
            <a:ext cx="3716243" cy="493941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触发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器</a:t>
            </a:r>
            <a:r>
              <a:rPr sz="2800" spc="-4" dirty="0" err="1">
                <a:solidFill>
                  <a:srgbClr val="FFFFFF"/>
                </a:solidFill>
                <a:latin typeface="Arial"/>
                <a:cs typeface="Arial"/>
              </a:rPr>
              <a:t>Trigger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7624" y="3403751"/>
            <a:ext cx="7272808" cy="3035384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delimiter //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FF0000"/>
                </a:solidFill>
                <a:latin typeface="Arial"/>
                <a:cs typeface="Arial"/>
              </a:rPr>
              <a:t>create trigger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uptsno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after update </a:t>
            </a:r>
            <a:r>
              <a:rPr lang="en-US" sz="2394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student 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FF0000"/>
                </a:solidFill>
                <a:latin typeface="Arial"/>
                <a:cs typeface="Arial"/>
              </a:rPr>
              <a:t>for each row  begin 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   update 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sc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 set  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sno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=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new.sno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b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</a:b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        where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sno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=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old.sno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FF0000"/>
                </a:solidFill>
                <a:latin typeface="Arial"/>
                <a:cs typeface="Arial"/>
              </a:rPr>
              <a:t> end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//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delimiter ;</a:t>
            </a:r>
            <a:endParaRPr sz="2394" dirty="0">
              <a:latin typeface="Arial"/>
              <a:cs typeface="Arial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6317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15907" y="1327411"/>
            <a:ext cx="7860549" cy="1175336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 algn="l">
              <a:spcBef>
                <a:spcPts val="855"/>
              </a:spcBef>
            </a:pPr>
            <a:r>
              <a:rPr sz="2000" dirty="0">
                <a:latin typeface="Microsoft YaHei"/>
                <a:cs typeface="Microsoft YaHei"/>
              </a:rPr>
              <a:t>示例四</a:t>
            </a:r>
          </a:p>
          <a:p>
            <a:pPr marL="10860" marR="4344" algn="l">
              <a:lnSpc>
                <a:spcPct val="130000"/>
              </a:lnSpc>
              <a:spcBef>
                <a:spcPts val="21"/>
              </a:spcBef>
            </a:pPr>
            <a:r>
              <a:rPr sz="2000" spc="-4" dirty="0" err="1">
                <a:latin typeface="Microsoft YaHei"/>
                <a:cs typeface="Microsoft YaHei"/>
              </a:rPr>
              <a:t>假设</a:t>
            </a:r>
            <a:r>
              <a:rPr lang="en-US" altLang="zh-CN" sz="2000" spc="-4" dirty="0" err="1">
                <a:latin typeface="Microsoft YaHei"/>
                <a:cs typeface="Microsoft YaHei"/>
              </a:rPr>
              <a:t>student</a:t>
            </a:r>
            <a:r>
              <a:rPr lang="en-US" altLang="zh-CN" sz="2000" spc="-4" dirty="0">
                <a:latin typeface="Microsoft YaHei"/>
                <a:cs typeface="Microsoft YaHei"/>
              </a:rPr>
              <a:t>(</a:t>
            </a:r>
            <a:r>
              <a:rPr lang="en-US" altLang="zh-CN" sz="2000" spc="-4" dirty="0" err="1">
                <a:latin typeface="Microsoft YaHei"/>
                <a:cs typeface="Microsoft YaHei"/>
              </a:rPr>
              <a:t>Sno</a:t>
            </a:r>
            <a:r>
              <a:rPr lang="en-US" altLang="zh-CN" sz="2000" spc="-4" dirty="0">
                <a:latin typeface="Microsoft YaHei"/>
                <a:cs typeface="Microsoft YaHei"/>
              </a:rPr>
              <a:t>,</a:t>
            </a:r>
            <a:r>
              <a:rPr lang="en-US" altLang="zh-CN" sz="2000" spc="17" dirty="0">
                <a:latin typeface="Microsoft YaHei"/>
                <a:cs typeface="Microsoft YaHei"/>
              </a:rPr>
              <a:t> </a:t>
            </a:r>
            <a:r>
              <a:rPr lang="en-US" altLang="zh-CN" sz="2000" spc="-4" dirty="0" err="1">
                <a:latin typeface="Microsoft YaHei"/>
                <a:cs typeface="Microsoft YaHei"/>
              </a:rPr>
              <a:t>Sname</a:t>
            </a:r>
            <a:r>
              <a:rPr lang="en-US" altLang="zh-CN" sz="2000" spc="-4" dirty="0">
                <a:latin typeface="Microsoft YaHei"/>
                <a:cs typeface="Microsoft YaHei"/>
              </a:rPr>
              <a:t>,</a:t>
            </a:r>
            <a:r>
              <a:rPr lang="en-US" altLang="zh-CN" sz="2000" spc="17" dirty="0">
                <a:latin typeface="Microsoft YaHei"/>
                <a:cs typeface="Microsoft YaHei"/>
              </a:rPr>
              <a:t> </a:t>
            </a:r>
            <a:r>
              <a:rPr lang="en-US" altLang="zh-CN" sz="2000" spc="-4" dirty="0">
                <a:latin typeface="Microsoft YaHei"/>
                <a:cs typeface="Microsoft YaHei"/>
              </a:rPr>
              <a:t>Sage,</a:t>
            </a:r>
            <a:r>
              <a:rPr lang="en-US" altLang="zh-CN" sz="2000" spc="17" dirty="0">
                <a:latin typeface="Microsoft YaHei"/>
                <a:cs typeface="Microsoft YaHei"/>
              </a:rPr>
              <a:t> </a:t>
            </a:r>
            <a:r>
              <a:rPr lang="en-US" altLang="zh-CN" sz="2000" spc="-4" dirty="0" err="1">
                <a:latin typeface="Microsoft YaHei"/>
                <a:cs typeface="Microsoft YaHei"/>
              </a:rPr>
              <a:t>Ssex</a:t>
            </a:r>
            <a:r>
              <a:rPr lang="en-US" altLang="zh-CN" sz="2000" spc="-4" dirty="0">
                <a:latin typeface="Microsoft YaHei"/>
                <a:cs typeface="Microsoft YaHei"/>
              </a:rPr>
              <a:t>,</a:t>
            </a:r>
            <a:r>
              <a:rPr lang="en-US" altLang="zh-CN" sz="2000" spc="17" dirty="0">
                <a:latin typeface="Microsoft YaHei"/>
                <a:cs typeface="Microsoft YaHei"/>
              </a:rPr>
              <a:t> </a:t>
            </a:r>
            <a:r>
              <a:rPr lang="en-US" altLang="zh-CN" sz="2000" spc="-4" dirty="0" err="1">
                <a:latin typeface="Microsoft YaHei"/>
                <a:cs typeface="Microsoft YaHei"/>
              </a:rPr>
              <a:t>Sclass</a:t>
            </a:r>
            <a:r>
              <a:rPr lang="en-US" altLang="zh-CN" sz="2000" spc="-4" dirty="0">
                <a:latin typeface="Microsoft YaHei"/>
                <a:cs typeface="Microsoft YaHei"/>
              </a:rPr>
              <a:t>)</a:t>
            </a:r>
            <a:r>
              <a:rPr sz="2000" spc="-4" dirty="0">
                <a:latin typeface="Microsoft YaHei"/>
                <a:cs typeface="Microsoft YaHei"/>
              </a:rPr>
              <a:t>,</a:t>
            </a:r>
            <a:r>
              <a:rPr sz="2000" spc="17" dirty="0">
                <a:latin typeface="Microsoft YaHei"/>
                <a:cs typeface="Microsoft YaHei"/>
              </a:rPr>
              <a:t> </a:t>
            </a:r>
            <a:r>
              <a:rPr sz="2000" spc="-4" dirty="0" err="1">
                <a:latin typeface="Microsoft YaHei"/>
                <a:cs typeface="Microsoft YaHei"/>
              </a:rPr>
              <a:t>当删除某一同学S</a:t>
            </a:r>
            <a:r>
              <a:rPr lang="en-US" sz="2000" spc="-4" dirty="0" err="1">
                <a:latin typeface="Microsoft YaHei"/>
                <a:cs typeface="Microsoft YaHei"/>
              </a:rPr>
              <a:t>no</a:t>
            </a:r>
            <a:r>
              <a:rPr sz="2000" spc="-4" dirty="0" err="1">
                <a:latin typeface="Microsoft YaHei"/>
                <a:cs typeface="Microsoft YaHei"/>
              </a:rPr>
              <a:t>时，该同学的所有选课也都要删除。设计一个触发器完成上述功能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2479" y="650359"/>
            <a:ext cx="3716243" cy="493941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触发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器</a:t>
            </a:r>
            <a:r>
              <a:rPr sz="2800" spc="-4" dirty="0" err="1">
                <a:solidFill>
                  <a:srgbClr val="FFFFFF"/>
                </a:solidFill>
                <a:latin typeface="Arial"/>
                <a:cs typeface="Arial"/>
              </a:rPr>
              <a:t>Trigger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9632" y="2752853"/>
            <a:ext cx="7128792" cy="266695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delimiter //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FF0000"/>
                </a:solidFill>
                <a:latin typeface="Arial"/>
                <a:cs typeface="Arial"/>
              </a:rPr>
              <a:t>create trigger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delsno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after delete </a:t>
            </a:r>
            <a:r>
              <a:rPr lang="en-US" sz="2394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student 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FF0000"/>
                </a:solidFill>
                <a:latin typeface="Arial"/>
                <a:cs typeface="Arial"/>
              </a:rPr>
              <a:t>for each row  begin 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delete  from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sc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   where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sno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=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old.sno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FF0000"/>
                </a:solidFill>
                <a:latin typeface="Arial"/>
                <a:cs typeface="Arial"/>
              </a:rPr>
              <a:t> end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//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delimiter ;</a:t>
            </a:r>
            <a:endParaRPr sz="2394" dirty="0">
              <a:latin typeface="Arial"/>
              <a:cs typeface="Arial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34708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1823" y="1528649"/>
            <a:ext cx="8406641" cy="1637001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 algn="l">
              <a:spcBef>
                <a:spcPts val="855"/>
              </a:spcBef>
            </a:pPr>
            <a:r>
              <a:rPr sz="2400" dirty="0">
                <a:latin typeface="Microsoft YaHei"/>
                <a:cs typeface="Microsoft YaHei"/>
              </a:rPr>
              <a:t>示例五</a:t>
            </a:r>
          </a:p>
          <a:p>
            <a:pPr marL="10860" marR="4344" algn="l">
              <a:lnSpc>
                <a:spcPct val="130300"/>
              </a:lnSpc>
              <a:spcBef>
                <a:spcPts val="17"/>
              </a:spcBef>
            </a:pPr>
            <a:r>
              <a:rPr sz="2000" spc="-4" dirty="0" err="1">
                <a:latin typeface="Microsoft YaHei"/>
                <a:cs typeface="Microsoft YaHei"/>
              </a:rPr>
              <a:t>假设</a:t>
            </a:r>
            <a:r>
              <a:rPr lang="en-US" sz="2000" spc="-4" dirty="0" err="1">
                <a:latin typeface="Microsoft YaHei"/>
                <a:cs typeface="Microsoft YaHei"/>
              </a:rPr>
              <a:t>stu_sumcourse</a:t>
            </a:r>
            <a:r>
              <a:rPr lang="en-US" sz="2000" spc="-4" dirty="0">
                <a:latin typeface="Microsoft YaHei"/>
                <a:cs typeface="Microsoft YaHei"/>
              </a:rPr>
              <a:t> </a:t>
            </a:r>
            <a:r>
              <a:rPr sz="2000" spc="-4" dirty="0">
                <a:latin typeface="Microsoft YaHei"/>
                <a:cs typeface="Microsoft YaHei"/>
              </a:rPr>
              <a:t>(</a:t>
            </a:r>
            <a:r>
              <a:rPr sz="2000" spc="-4" dirty="0" err="1">
                <a:latin typeface="Microsoft YaHei"/>
                <a:cs typeface="Microsoft YaHei"/>
              </a:rPr>
              <a:t>S</a:t>
            </a:r>
            <a:r>
              <a:rPr lang="en-US" sz="2000" spc="-4" dirty="0" err="1">
                <a:latin typeface="Microsoft YaHei"/>
                <a:cs typeface="Microsoft YaHei"/>
              </a:rPr>
              <a:t>no</a:t>
            </a:r>
            <a:r>
              <a:rPr sz="2000" spc="-4" dirty="0">
                <a:latin typeface="Microsoft YaHei"/>
                <a:cs typeface="Microsoft YaHei"/>
              </a:rPr>
              <a:t>,</a:t>
            </a:r>
            <a:r>
              <a:rPr sz="2000" spc="17" dirty="0">
                <a:latin typeface="Microsoft YaHei"/>
                <a:cs typeface="Microsoft YaHei"/>
              </a:rPr>
              <a:t> </a:t>
            </a:r>
            <a:r>
              <a:rPr sz="2000" spc="-4" dirty="0">
                <a:latin typeface="Microsoft YaHei"/>
                <a:cs typeface="Microsoft YaHei"/>
              </a:rPr>
              <a:t>Sname,</a:t>
            </a:r>
            <a:r>
              <a:rPr sz="2000" spc="17" dirty="0">
                <a:latin typeface="Microsoft YaHei"/>
                <a:cs typeface="Microsoft YaHei"/>
              </a:rPr>
              <a:t> </a:t>
            </a:r>
            <a:r>
              <a:rPr sz="2000" spc="-4" dirty="0">
                <a:latin typeface="Microsoft YaHei"/>
                <a:cs typeface="Microsoft YaHei"/>
              </a:rPr>
              <a:t>SumCourse),</a:t>
            </a:r>
            <a:r>
              <a:rPr sz="2000" spc="17" dirty="0">
                <a:latin typeface="Microsoft YaHei"/>
                <a:cs typeface="Microsoft YaHei"/>
              </a:rPr>
              <a:t> </a:t>
            </a:r>
            <a:r>
              <a:rPr sz="2000" spc="-4" dirty="0" err="1">
                <a:latin typeface="Microsoft YaHei"/>
                <a:cs typeface="Microsoft YaHei"/>
              </a:rPr>
              <a:t>当删除某一同学S</a:t>
            </a:r>
            <a:r>
              <a:rPr lang="en-US" sz="2000" spc="-4" dirty="0" err="1">
                <a:latin typeface="Microsoft YaHei"/>
                <a:cs typeface="Microsoft YaHei"/>
              </a:rPr>
              <a:t>no</a:t>
            </a:r>
            <a:r>
              <a:rPr sz="2000" spc="-4" dirty="0" err="1">
                <a:latin typeface="Microsoft YaHei"/>
                <a:cs typeface="Microsoft YaHei"/>
              </a:rPr>
              <a:t>时，该同学的所有选课中的S</a:t>
            </a:r>
            <a:r>
              <a:rPr lang="en-US" sz="2000" spc="-4" dirty="0" err="1">
                <a:latin typeface="Microsoft YaHei"/>
                <a:cs typeface="Microsoft YaHei"/>
              </a:rPr>
              <a:t>no</a:t>
            </a:r>
            <a:r>
              <a:rPr sz="2000" spc="-4" dirty="0" err="1">
                <a:latin typeface="Microsoft YaHei"/>
                <a:cs typeface="Microsoft YaHei"/>
              </a:rPr>
              <a:t>都要置为空值</a:t>
            </a:r>
            <a:r>
              <a:rPr lang="zh-CN" altLang="en-US" sz="2000" spc="-4" dirty="0">
                <a:latin typeface="Microsoft YaHei"/>
                <a:cs typeface="Microsoft YaHei"/>
              </a:rPr>
              <a:t>（</a:t>
            </a:r>
            <a:r>
              <a:rPr lang="en-US" altLang="zh-CN" sz="2000" spc="-4" dirty="0">
                <a:latin typeface="Microsoft YaHei"/>
                <a:cs typeface="Microsoft YaHei"/>
              </a:rPr>
              <a:t>0</a:t>
            </a:r>
            <a:r>
              <a:rPr lang="zh-CN" altLang="en-US" sz="2000" spc="-4" dirty="0">
                <a:latin typeface="Microsoft YaHei"/>
                <a:cs typeface="Microsoft YaHei"/>
              </a:rPr>
              <a:t>）</a:t>
            </a:r>
            <a:r>
              <a:rPr sz="2000" spc="-4" dirty="0">
                <a:latin typeface="Microsoft YaHei"/>
                <a:cs typeface="Microsoft YaHei"/>
              </a:rPr>
              <a:t>。</a:t>
            </a:r>
            <a:r>
              <a:rPr sz="2000" spc="-4" dirty="0" err="1">
                <a:latin typeface="Microsoft YaHei"/>
                <a:cs typeface="Microsoft YaHei"/>
              </a:rPr>
              <a:t>设计一个触发器完成上述功能</a:t>
            </a:r>
            <a:r>
              <a:rPr lang="zh-CN" altLang="en-US" sz="2000" dirty="0">
                <a:latin typeface="Arial"/>
                <a:cs typeface="Arial"/>
              </a:rPr>
              <a:t>。</a:t>
            </a:r>
            <a:endParaRPr sz="2000" spc="-4" dirty="0">
              <a:latin typeface="Microsoft YaHei"/>
              <a:cs typeface="Microsoft YaHe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5310" y="682744"/>
            <a:ext cx="3716243" cy="493941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触发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器</a:t>
            </a:r>
            <a:r>
              <a:rPr sz="2800" spc="-4" dirty="0" err="1">
                <a:solidFill>
                  <a:srgbClr val="FFFFFF"/>
                </a:solidFill>
                <a:latin typeface="Arial"/>
                <a:cs typeface="Arial"/>
              </a:rPr>
              <a:t>Trigger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5616" y="3020720"/>
            <a:ext cx="7357793" cy="3403818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delimiter //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create trigger delsno2 after delete on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stu_sumcourse</a:t>
            </a:r>
            <a:endParaRPr lang="en-US" sz="2394" dirty="0">
              <a:solidFill>
                <a:srgbClr val="3333CC"/>
              </a:solidFill>
              <a:latin typeface="Arial"/>
              <a:cs typeface="Arial"/>
            </a:endParaRP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for each row  begin 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    update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sc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 set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sno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="00000000" </a:t>
            </a:r>
            <a:b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</a:b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          where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sno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= </a:t>
            </a:r>
            <a:r>
              <a:rPr lang="en-US" sz="2394" dirty="0" err="1">
                <a:solidFill>
                  <a:srgbClr val="3333CC"/>
                </a:solidFill>
                <a:latin typeface="Arial"/>
                <a:cs typeface="Arial"/>
              </a:rPr>
              <a:t>old.sno</a:t>
            </a: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 end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//</a:t>
            </a:r>
          </a:p>
          <a:p>
            <a:pPr marL="10860" algn="l">
              <a:spcBef>
                <a:spcPts val="86"/>
              </a:spcBef>
            </a:pPr>
            <a:r>
              <a:rPr lang="en-US" sz="2394" dirty="0">
                <a:solidFill>
                  <a:srgbClr val="3333CC"/>
                </a:solidFill>
                <a:latin typeface="Arial"/>
                <a:cs typeface="Arial"/>
              </a:rPr>
              <a:t>delimiter ;</a:t>
            </a:r>
            <a:endParaRPr sz="2394" dirty="0">
              <a:latin typeface="Arial"/>
              <a:cs typeface="Arial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87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练习：触发器示例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492896"/>
            <a:ext cx="2802488" cy="3263504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429000"/>
            <a:ext cx="3286584" cy="154326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425ED41-FB83-4CAB-B2B8-A13B59570393}"/>
              </a:ext>
            </a:extLst>
          </p:cNvPr>
          <p:cNvSpPr txBox="1"/>
          <p:nvPr/>
        </p:nvSpPr>
        <p:spPr>
          <a:xfrm>
            <a:off x="467544" y="1547964"/>
            <a:ext cx="81696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练习：在</a:t>
            </a:r>
            <a:r>
              <a:rPr lang="en-US" altLang="zh-CN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EMP01</a:t>
            </a:r>
            <a:r>
              <a:rPr lang="zh-CN" altLang="en-US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表上建立删除触发器</a:t>
            </a:r>
            <a:r>
              <a:rPr lang="en-US" altLang="zh-CN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tr_delete_emp01</a:t>
            </a:r>
            <a:r>
              <a:rPr lang="zh-CN" altLang="en-US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，将被删除的雇员姓名及删除日期记录到表</a:t>
            </a:r>
            <a:r>
              <a:rPr lang="en-US" altLang="zh-CN" sz="1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audit_delete_emp</a:t>
            </a:r>
            <a:r>
              <a:rPr lang="zh-CN" altLang="en-US" sz="1800" dirty="0">
                <a:latin typeface="新宋体" panose="02010609030101010101" pitchFamily="49" charset="-122"/>
                <a:ea typeface="新宋体" panose="02010609030101010101" pitchFamily="49" charset="-122"/>
              </a:rPr>
              <a:t>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62241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5656" y="707891"/>
            <a:ext cx="7048072" cy="650183"/>
          </a:xfrm>
        </p:spPr>
        <p:txBody>
          <a:bodyPr/>
          <a:lstStyle/>
          <a:p>
            <a:r>
              <a:rPr lang="zh-CN" altLang="en-US" dirty="0"/>
              <a:t>多重触发器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17" y="1994018"/>
            <a:ext cx="5515745" cy="2214872"/>
          </a:xfrm>
          <a:prstGeom prst="rect">
            <a:avLst/>
          </a:prstGeom>
        </p:spPr>
      </p:pic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543" y="3572511"/>
            <a:ext cx="4236835" cy="2343477"/>
          </a:xfrm>
        </p:spPr>
      </p:pic>
      <p:sp>
        <p:nvSpPr>
          <p:cNvPr id="7" name="矩形 6"/>
          <p:cNvSpPr/>
          <p:nvPr/>
        </p:nvSpPr>
        <p:spPr>
          <a:xfrm>
            <a:off x="738003" y="1670366"/>
            <a:ext cx="270458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dirty="0">
                <a:solidFill>
                  <a:srgbClr val="000000"/>
                </a:solidFill>
                <a:latin typeface="Arial"/>
                <a:ea typeface="+mn-ea"/>
              </a:rPr>
              <a:t>第一步：创建一个新表</a:t>
            </a:r>
            <a:r>
              <a:rPr lang="en-US" altLang="zh-CN" sz="1350" dirty="0" err="1">
                <a:solidFill>
                  <a:srgbClr val="000000"/>
                </a:solidFill>
                <a:latin typeface="Arial"/>
                <a:ea typeface="+mn-ea"/>
              </a:rPr>
              <a:t>price_logs</a:t>
            </a:r>
            <a:endParaRPr lang="zh-CN" altLang="en-US" sz="1350" dirty="0">
              <a:solidFill>
                <a:srgbClr val="000000"/>
              </a:solidFill>
              <a:latin typeface="Arial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89873" y="3244093"/>
            <a:ext cx="328166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dirty="0">
                <a:solidFill>
                  <a:srgbClr val="000000"/>
                </a:solidFill>
                <a:latin typeface="Arial"/>
                <a:ea typeface="+mn-ea"/>
              </a:rPr>
              <a:t>第二步：创建表</a:t>
            </a:r>
            <a:r>
              <a:rPr lang="en-US" altLang="zh-CN" sz="1350" dirty="0">
                <a:solidFill>
                  <a:srgbClr val="000000"/>
                </a:solidFill>
                <a:latin typeface="Arial"/>
                <a:ea typeface="+mn-ea"/>
              </a:rPr>
              <a:t>products</a:t>
            </a:r>
            <a:r>
              <a:rPr lang="zh-CN" altLang="en-US" sz="1350" dirty="0">
                <a:solidFill>
                  <a:srgbClr val="000000"/>
                </a:solidFill>
                <a:latin typeface="Arial"/>
                <a:ea typeface="+mn-ea"/>
              </a:rPr>
              <a:t>的</a:t>
            </a:r>
            <a:r>
              <a:rPr lang="en-US" altLang="zh-CN" sz="1350" dirty="0">
                <a:solidFill>
                  <a:srgbClr val="000000"/>
                </a:solidFill>
                <a:latin typeface="Arial"/>
                <a:ea typeface="+mn-ea"/>
              </a:rPr>
              <a:t>update</a:t>
            </a:r>
            <a:r>
              <a:rPr lang="zh-CN" altLang="en-US" sz="1350" dirty="0">
                <a:solidFill>
                  <a:srgbClr val="000000"/>
                </a:solidFill>
                <a:latin typeface="Arial"/>
                <a:ea typeface="+mn-ea"/>
              </a:rPr>
              <a:t>触发器</a:t>
            </a:r>
          </a:p>
        </p:txBody>
      </p:sp>
    </p:spTree>
    <p:extLst>
      <p:ext uri="{BB962C8B-B14F-4D97-AF65-F5344CB8AC3E}">
        <p14:creationId xmlns:p14="http://schemas.microsoft.com/office/powerpoint/2010/main" val="238765462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3246" y="620743"/>
            <a:ext cx="7216310" cy="617675"/>
          </a:xfrm>
        </p:spPr>
        <p:txBody>
          <a:bodyPr/>
          <a:lstStyle/>
          <a:p>
            <a:r>
              <a:rPr lang="zh-CN" altLang="en-US" dirty="0"/>
              <a:t>多重触发器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91" y="2125267"/>
            <a:ext cx="5944430" cy="1836200"/>
          </a:xfrm>
          <a:prstGeom prst="rect">
            <a:avLst/>
          </a:prstGeom>
        </p:spPr>
      </p:pic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401" y="3288332"/>
            <a:ext cx="4422599" cy="2600688"/>
          </a:xfrm>
        </p:spPr>
      </p:pic>
      <p:sp>
        <p:nvSpPr>
          <p:cNvPr id="6" name="矩形 5"/>
          <p:cNvSpPr/>
          <p:nvPr/>
        </p:nvSpPr>
        <p:spPr>
          <a:xfrm>
            <a:off x="628650" y="1848267"/>
            <a:ext cx="332975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dirty="0">
                <a:solidFill>
                  <a:srgbClr val="000000"/>
                </a:solidFill>
                <a:latin typeface="Arial"/>
                <a:ea typeface="+mn-ea"/>
              </a:rPr>
              <a:t>第一步：创建一个新表</a:t>
            </a:r>
            <a:r>
              <a:rPr lang="en-US" altLang="zh-CN" sz="1350" dirty="0" err="1">
                <a:solidFill>
                  <a:srgbClr val="000000"/>
                </a:solidFill>
                <a:latin typeface="Arial"/>
                <a:ea typeface="+mn-ea"/>
              </a:rPr>
              <a:t>user_change_logs</a:t>
            </a:r>
            <a:endParaRPr lang="en-US" altLang="zh-CN" sz="1350" dirty="0">
              <a:solidFill>
                <a:srgbClr val="000000"/>
              </a:solidFill>
              <a:latin typeface="Arial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51739" y="3043366"/>
            <a:ext cx="37240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dirty="0">
                <a:solidFill>
                  <a:srgbClr val="000000"/>
                </a:solidFill>
                <a:latin typeface="Arial"/>
                <a:ea typeface="+mn-ea"/>
              </a:rPr>
              <a:t>第二步：创建表</a:t>
            </a:r>
            <a:r>
              <a:rPr lang="en-US" altLang="zh-CN" sz="1350" dirty="0">
                <a:solidFill>
                  <a:srgbClr val="000000"/>
                </a:solidFill>
                <a:latin typeface="Arial"/>
                <a:ea typeface="+mn-ea"/>
              </a:rPr>
              <a:t>products</a:t>
            </a:r>
            <a:r>
              <a:rPr lang="zh-CN" altLang="en-US" sz="1350" dirty="0">
                <a:solidFill>
                  <a:srgbClr val="000000"/>
                </a:solidFill>
                <a:latin typeface="Arial"/>
                <a:ea typeface="+mn-ea"/>
              </a:rPr>
              <a:t>的第</a:t>
            </a:r>
            <a:r>
              <a:rPr lang="en-US" altLang="zh-CN" sz="1350" dirty="0">
                <a:solidFill>
                  <a:srgbClr val="000000"/>
                </a:solidFill>
                <a:latin typeface="Arial"/>
                <a:ea typeface="+mn-ea"/>
              </a:rPr>
              <a:t>2</a:t>
            </a:r>
            <a:r>
              <a:rPr lang="zh-CN" altLang="en-US" sz="1350" dirty="0">
                <a:solidFill>
                  <a:srgbClr val="000000"/>
                </a:solidFill>
                <a:latin typeface="Arial"/>
                <a:ea typeface="+mn-ea"/>
              </a:rPr>
              <a:t>个</a:t>
            </a:r>
            <a:r>
              <a:rPr lang="en-US" altLang="zh-CN" sz="1350" dirty="0">
                <a:solidFill>
                  <a:srgbClr val="000000"/>
                </a:solidFill>
                <a:latin typeface="Arial"/>
                <a:ea typeface="+mn-ea"/>
              </a:rPr>
              <a:t>update</a:t>
            </a:r>
            <a:r>
              <a:rPr lang="zh-CN" altLang="en-US" sz="1350" dirty="0">
                <a:solidFill>
                  <a:srgbClr val="000000"/>
                </a:solidFill>
                <a:latin typeface="Arial"/>
                <a:ea typeface="+mn-ea"/>
              </a:rPr>
              <a:t>触发器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780" y="4896454"/>
            <a:ext cx="3064669" cy="73580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033196" y="4613278"/>
            <a:ext cx="305083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dirty="0">
                <a:solidFill>
                  <a:srgbClr val="000000"/>
                </a:solidFill>
                <a:latin typeface="Arial"/>
                <a:ea typeface="+mn-ea"/>
              </a:rPr>
              <a:t>第三步：查看第</a:t>
            </a:r>
            <a:r>
              <a:rPr lang="en-US" altLang="zh-CN" sz="1350" dirty="0">
                <a:solidFill>
                  <a:srgbClr val="000000"/>
                </a:solidFill>
                <a:latin typeface="Arial"/>
                <a:ea typeface="+mn-ea"/>
              </a:rPr>
              <a:t>2</a:t>
            </a:r>
            <a:r>
              <a:rPr lang="zh-CN" altLang="en-US" sz="1350" dirty="0">
                <a:solidFill>
                  <a:srgbClr val="000000"/>
                </a:solidFill>
                <a:latin typeface="Arial"/>
                <a:ea typeface="+mn-ea"/>
              </a:rPr>
              <a:t>个触发器产生的结果</a:t>
            </a:r>
            <a:endParaRPr lang="en-US" altLang="zh-CN" sz="1350" dirty="0">
              <a:solidFill>
                <a:srgbClr val="000000"/>
              </a:solidFill>
              <a:latin typeface="Arial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00590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利用数据字典查看触发器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95536" y="1772816"/>
            <a:ext cx="8928992" cy="4783832"/>
          </a:xfrm>
        </p:spPr>
        <p:txBody>
          <a:bodyPr/>
          <a:lstStyle/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在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MySQL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中，所有触发器的定义都存储在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INFORMATION_SCHEMA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数据库下的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TRIGGERS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表中。</a:t>
            </a:r>
            <a:endParaRPr lang="en-US" altLang="zh-CN" sz="2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查看给定数据库中的触发器</a:t>
            </a:r>
            <a:endParaRPr lang="en-US" altLang="zh-CN" sz="2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sz="2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sz="2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sz="2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查看数据库中特定表的触发器</a:t>
            </a:r>
            <a:endParaRPr lang="en-US" altLang="zh-CN" sz="2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907704" y="3113567"/>
            <a:ext cx="4572000" cy="7155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SELECT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*</a:t>
            </a:r>
          </a:p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FROM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 err="1">
                <a:solidFill>
                  <a:srgbClr val="808000"/>
                </a:solidFill>
                <a:latin typeface="Courier New" panose="02070309020205020404" pitchFamily="49" charset="0"/>
                <a:ea typeface="+mn-ea"/>
              </a:rPr>
              <a:t>information_schema</a:t>
            </a:r>
            <a:r>
              <a:rPr lang="en-US" altLang="zh-CN" sz="135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.</a:t>
            </a:r>
            <a:r>
              <a:rPr lang="en-US" altLang="zh-CN" sz="1350" b="1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triggers</a:t>
            </a:r>
            <a:endParaRPr lang="en-US" altLang="zh-CN" sz="1350" b="1" dirty="0">
              <a:solidFill>
                <a:srgbClr val="0000FF"/>
              </a:solidFill>
              <a:latin typeface="Courier New" panose="02070309020205020404" pitchFamily="49" charset="0"/>
              <a:ea typeface="+mn-ea"/>
            </a:endParaRPr>
          </a:p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WHERE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 err="1">
                <a:solidFill>
                  <a:srgbClr val="808000"/>
                </a:solidFill>
                <a:latin typeface="Courier New" panose="02070309020205020404" pitchFamily="49" charset="0"/>
                <a:ea typeface="+mn-ea"/>
              </a:rPr>
              <a:t>trigger_schema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=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>
                <a:solidFill>
                  <a:srgbClr val="008000"/>
                </a:solidFill>
                <a:latin typeface="Courier New" panose="02070309020205020404" pitchFamily="49" charset="0"/>
                <a:ea typeface="+mn-ea"/>
              </a:rPr>
              <a:t>'</a:t>
            </a:r>
            <a:r>
              <a:rPr lang="zh-CN" altLang="en-US" sz="1350" dirty="0">
                <a:solidFill>
                  <a:srgbClr val="008000"/>
                </a:solidFill>
                <a:latin typeface="Courier New" panose="02070309020205020404" pitchFamily="49" charset="0"/>
                <a:ea typeface="+mn-ea"/>
              </a:rPr>
              <a:t>数据库名</a:t>
            </a:r>
            <a:r>
              <a:rPr lang="en-US" altLang="zh-CN" sz="1350" dirty="0">
                <a:solidFill>
                  <a:srgbClr val="008000"/>
                </a:solidFill>
                <a:latin typeface="Courier New" panose="02070309020205020404" pitchFamily="49" charset="0"/>
                <a:ea typeface="+mn-ea"/>
              </a:rPr>
              <a:t>'</a:t>
            </a:r>
            <a:r>
              <a:rPr lang="en-US" altLang="zh-CN" sz="135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;</a:t>
            </a:r>
            <a:r>
              <a:rPr lang="zh-CN" altLang="en-US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1907704" y="4941168"/>
            <a:ext cx="4572000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SELECT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*</a:t>
            </a:r>
          </a:p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FROM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 err="1">
                <a:solidFill>
                  <a:srgbClr val="808000"/>
                </a:solidFill>
                <a:latin typeface="Courier New" panose="02070309020205020404" pitchFamily="49" charset="0"/>
                <a:ea typeface="+mn-ea"/>
              </a:rPr>
              <a:t>information_schema</a:t>
            </a:r>
            <a:r>
              <a:rPr lang="en-US" altLang="zh-CN" sz="1350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.</a:t>
            </a:r>
            <a:r>
              <a:rPr lang="en-US" altLang="zh-CN" sz="1350" b="1" dirty="0" err="1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triggers</a:t>
            </a:r>
            <a:endParaRPr lang="en-US" altLang="zh-CN" sz="1350" b="1" dirty="0">
              <a:solidFill>
                <a:srgbClr val="0000FF"/>
              </a:solidFill>
              <a:latin typeface="Courier New" panose="02070309020205020404" pitchFamily="49" charset="0"/>
              <a:ea typeface="+mn-ea"/>
            </a:endParaRPr>
          </a:p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WHERE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 err="1">
                <a:solidFill>
                  <a:srgbClr val="808000"/>
                </a:solidFill>
                <a:latin typeface="Courier New" panose="02070309020205020404" pitchFamily="49" charset="0"/>
                <a:ea typeface="+mn-ea"/>
              </a:rPr>
              <a:t>trigger_schema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=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>
                <a:solidFill>
                  <a:srgbClr val="008000"/>
                </a:solidFill>
                <a:latin typeface="Courier New" panose="02070309020205020404" pitchFamily="49" charset="0"/>
                <a:ea typeface="+mn-ea"/>
              </a:rPr>
              <a:t>'</a:t>
            </a:r>
            <a:r>
              <a:rPr lang="zh-CN" altLang="en-US" sz="1350" dirty="0">
                <a:solidFill>
                  <a:srgbClr val="008000"/>
                </a:solidFill>
                <a:latin typeface="Courier New" panose="02070309020205020404" pitchFamily="49" charset="0"/>
                <a:ea typeface="+mn-ea"/>
              </a:rPr>
              <a:t>数据库名</a:t>
            </a:r>
            <a:r>
              <a:rPr lang="en-US" altLang="zh-CN" sz="1350" dirty="0">
                <a:solidFill>
                  <a:srgbClr val="008000"/>
                </a:solidFill>
                <a:latin typeface="Courier New" panose="02070309020205020404" pitchFamily="49" charset="0"/>
                <a:ea typeface="+mn-ea"/>
              </a:rPr>
              <a:t>'</a:t>
            </a:r>
          </a:p>
          <a:p>
            <a:pPr algn="l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b="1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AND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 err="1">
                <a:solidFill>
                  <a:srgbClr val="808000"/>
                </a:solidFill>
                <a:latin typeface="Courier New" panose="02070309020205020404" pitchFamily="49" charset="0"/>
                <a:ea typeface="+mn-ea"/>
              </a:rPr>
              <a:t>event_object_table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=</a:t>
            </a:r>
            <a:r>
              <a:rPr lang="en-US" altLang="zh-CN" sz="135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 </a:t>
            </a:r>
            <a:r>
              <a:rPr lang="en-US" altLang="zh-CN" sz="1350" dirty="0">
                <a:solidFill>
                  <a:srgbClr val="008000"/>
                </a:solidFill>
                <a:latin typeface="Courier New" panose="02070309020205020404" pitchFamily="49" charset="0"/>
                <a:ea typeface="+mn-ea"/>
              </a:rPr>
              <a:t>'</a:t>
            </a:r>
            <a:r>
              <a:rPr lang="zh-CN" altLang="en-US" sz="1350" dirty="0">
                <a:solidFill>
                  <a:srgbClr val="008000"/>
                </a:solidFill>
                <a:latin typeface="Courier New" panose="02070309020205020404" pitchFamily="49" charset="0"/>
                <a:ea typeface="+mn-ea"/>
              </a:rPr>
              <a:t>表名</a:t>
            </a:r>
            <a:r>
              <a:rPr lang="en-US" altLang="zh-CN" sz="1350" dirty="0">
                <a:solidFill>
                  <a:srgbClr val="008000"/>
                </a:solidFill>
                <a:latin typeface="Courier New" panose="02070309020205020404" pitchFamily="49" charset="0"/>
                <a:ea typeface="+mn-ea"/>
              </a:rPr>
              <a:t>'</a:t>
            </a:r>
            <a:r>
              <a:rPr lang="en-US" altLang="zh-CN" sz="135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9468375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查看触发器执行顺序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SHOW TRIGGERS</a:t>
            </a:r>
            <a:r>
              <a:rPr lang="zh-CN" altLang="en-US" sz="2400" dirty="0"/>
              <a:t>语句不能看到表中针对相同事件和操作的触发器被激活的顺序</a:t>
            </a:r>
            <a:endParaRPr lang="en-US" altLang="zh-CN" sz="2400" dirty="0"/>
          </a:p>
          <a:p>
            <a:r>
              <a:rPr lang="zh-CN" altLang="en-US" sz="2400" dirty="0"/>
              <a:t>要查看激活顺序，就需要查询</a:t>
            </a:r>
            <a:r>
              <a:rPr lang="en-US" altLang="zh-CN" sz="2400" dirty="0" err="1"/>
              <a:t>information_schema</a:t>
            </a:r>
            <a:r>
              <a:rPr lang="zh-CN" altLang="en-US" sz="2400" dirty="0"/>
              <a:t>数据库的</a:t>
            </a:r>
            <a:r>
              <a:rPr lang="en-US" altLang="zh-CN" sz="2400" dirty="0"/>
              <a:t>triggers</a:t>
            </a:r>
            <a:r>
              <a:rPr lang="zh-CN" altLang="en-US" sz="2400" dirty="0"/>
              <a:t>表中的</a:t>
            </a:r>
            <a:r>
              <a:rPr lang="en-US" altLang="zh-CN" sz="2400" dirty="0" err="1">
                <a:solidFill>
                  <a:srgbClr val="FF0000"/>
                </a:solidFill>
              </a:rPr>
              <a:t>action_order</a:t>
            </a:r>
            <a:r>
              <a:rPr lang="zh-CN" altLang="en-US" sz="2400" dirty="0"/>
              <a:t>列</a:t>
            </a:r>
          </a:p>
          <a:p>
            <a:pPr lvl="1"/>
            <a:r>
              <a:rPr lang="zh-CN" altLang="en-US" sz="2000" dirty="0"/>
              <a:t>例如：</a:t>
            </a:r>
          </a:p>
        </p:txBody>
      </p:sp>
      <p:pic>
        <p:nvPicPr>
          <p:cNvPr id="6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789040"/>
            <a:ext cx="2593544" cy="167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1113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8F4EE-8A33-407A-908A-368F9B87E8C9}" type="slidenum">
              <a:rPr lang="en-US" altLang="zh-CN"/>
              <a:pPr/>
              <a:t>95</a:t>
            </a:fld>
            <a:endParaRPr lang="en-US" altLang="zh-CN"/>
          </a:p>
        </p:txBody>
      </p:sp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定义触发器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624388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［例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］  定义一个</a:t>
            </a:r>
            <a:r>
              <a:rPr lang="en-US" altLang="zh-CN" sz="2000" b="1" dirty="0"/>
              <a:t>BEFORE</a:t>
            </a:r>
            <a:r>
              <a:rPr lang="zh-CN" altLang="en-US" sz="2000" b="1" dirty="0"/>
              <a:t>行级触发器，为教师表</a:t>
            </a:r>
            <a:r>
              <a:rPr lang="en-US" altLang="zh-CN" sz="2000" b="1" dirty="0"/>
              <a:t>Teacher</a:t>
            </a:r>
            <a:r>
              <a:rPr lang="zh-CN" altLang="en-US" sz="2000" b="1" dirty="0"/>
              <a:t>定义完整性规则“教授的工资不得低于</a:t>
            </a:r>
            <a:r>
              <a:rPr lang="en-US" altLang="zh-CN" sz="2000" b="1" dirty="0"/>
              <a:t>4000</a:t>
            </a:r>
            <a:r>
              <a:rPr lang="zh-CN" altLang="en-US" sz="2000" b="1" dirty="0"/>
              <a:t>元，如果低于</a:t>
            </a:r>
            <a:r>
              <a:rPr lang="en-US" altLang="zh-CN" sz="2000" b="1" dirty="0"/>
              <a:t>4000</a:t>
            </a:r>
            <a:r>
              <a:rPr lang="zh-CN" altLang="en-US" sz="2000" b="1" dirty="0"/>
              <a:t>元，自动改为</a:t>
            </a:r>
            <a:r>
              <a:rPr lang="en-US" altLang="zh-CN" sz="2000" b="1" dirty="0"/>
              <a:t>4000</a:t>
            </a:r>
            <a:r>
              <a:rPr lang="zh-CN" altLang="en-US" sz="2000" b="1" dirty="0"/>
              <a:t>元”。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</a:t>
            </a:r>
            <a:r>
              <a:rPr lang="en-US" altLang="zh-CN" sz="2000" b="1" dirty="0"/>
              <a:t>CREATE TRIGGER  </a:t>
            </a:r>
            <a:r>
              <a:rPr lang="en-US" altLang="zh-CN" sz="2000" b="1" dirty="0" err="1"/>
              <a:t>Before_Sal</a:t>
            </a:r>
            <a:r>
              <a:rPr lang="en-US" altLang="zh-CN" sz="2000" b="1" dirty="0"/>
              <a:t> _ </a:t>
            </a:r>
            <a:r>
              <a:rPr lang="en-US" altLang="zh-CN" sz="2000" b="1" dirty="0" err="1"/>
              <a:t>Insert_Or_Update</a:t>
            </a:r>
            <a:r>
              <a:rPr lang="en-US" altLang="zh-CN" sz="2000" b="1" dirty="0"/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BEFORE </a:t>
            </a:r>
            <a:r>
              <a:rPr lang="en-US" altLang="zh-CN" sz="2000" b="1" dirty="0">
                <a:solidFill>
                  <a:srgbClr val="72BE2C"/>
                </a:solidFill>
              </a:rPr>
              <a:t>INSERT OR UPDATE</a:t>
            </a:r>
            <a:r>
              <a:rPr lang="en-US" altLang="zh-CN" sz="2000" b="1" dirty="0"/>
              <a:t> ON Teacher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</a:t>
            </a:r>
            <a:r>
              <a:rPr lang="en-US" altLang="zh-CN" sz="1800" b="1" dirty="0"/>
              <a:t>/*</a:t>
            </a:r>
            <a:r>
              <a:rPr lang="zh-CN" altLang="en-US" sz="1800" b="1" dirty="0"/>
              <a:t>触发事件是插入或更新操作*</a:t>
            </a:r>
            <a:r>
              <a:rPr lang="en-US" altLang="zh-CN" sz="1800" b="1" dirty="0"/>
              <a:t>/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FOR </a:t>
            </a:r>
            <a:r>
              <a:rPr lang="en-US" altLang="zh-CN" sz="2000" b="1" dirty="0">
                <a:solidFill>
                  <a:srgbClr val="72BE2C"/>
                </a:solidFill>
              </a:rPr>
              <a:t>EACH ROW</a:t>
            </a:r>
            <a:r>
              <a:rPr lang="en-US" altLang="zh-CN" sz="2000" b="1" dirty="0"/>
              <a:t>                      </a:t>
            </a:r>
            <a:r>
              <a:rPr lang="en-US" altLang="zh-CN" sz="1800" b="1" dirty="0"/>
              <a:t>/*</a:t>
            </a:r>
            <a:r>
              <a:rPr lang="zh-CN" altLang="en-US" sz="1800" b="1" dirty="0"/>
              <a:t>行级触发器*</a:t>
            </a:r>
            <a:r>
              <a:rPr lang="en-US" altLang="zh-CN" sz="1800" b="1" dirty="0"/>
              <a:t>/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BEGIN                                  </a:t>
            </a:r>
            <a:r>
              <a:rPr lang="en-US" altLang="zh-CN" sz="1800" b="1" dirty="0"/>
              <a:t>/*</a:t>
            </a:r>
            <a:r>
              <a:rPr lang="zh-CN" altLang="en-US" sz="1800" b="1" dirty="0"/>
              <a:t>定义触发动作体，是</a:t>
            </a:r>
            <a:r>
              <a:rPr lang="en-US" altLang="zh-CN" sz="1800" b="1" dirty="0"/>
              <a:t>PL/SQL</a:t>
            </a:r>
            <a:r>
              <a:rPr lang="zh-CN" altLang="en-US" sz="1800" b="1" dirty="0"/>
              <a:t>过程块*</a:t>
            </a:r>
            <a:r>
              <a:rPr lang="en-US" altLang="zh-CN" sz="1800" b="1" dirty="0"/>
              <a:t>/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IF (</a:t>
            </a:r>
            <a:r>
              <a:rPr lang="en-US" altLang="zh-CN" sz="2000" b="1" dirty="0" err="1"/>
              <a:t>new.Job</a:t>
            </a:r>
            <a:r>
              <a:rPr lang="en-US" altLang="zh-CN" sz="2000" b="1" dirty="0"/>
              <a:t>='</a:t>
            </a:r>
            <a:r>
              <a:rPr lang="zh-CN" altLang="en-US" sz="2000" b="1" dirty="0"/>
              <a:t>教授</a:t>
            </a:r>
            <a:r>
              <a:rPr lang="en-US" altLang="zh-CN" sz="2000" b="1" dirty="0"/>
              <a:t>') AND (</a:t>
            </a:r>
            <a:r>
              <a:rPr lang="en-US" altLang="zh-CN" sz="2000" b="1" dirty="0" err="1"/>
              <a:t>new.Sal</a:t>
            </a:r>
            <a:r>
              <a:rPr lang="en-US" altLang="zh-CN" sz="2000" b="1" dirty="0"/>
              <a:t> &lt; 4000) THEN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   </a:t>
            </a:r>
            <a:r>
              <a:rPr lang="en-US" altLang="zh-CN" sz="2000" b="1" dirty="0" err="1"/>
              <a:t>new.Sal</a:t>
            </a:r>
            <a:r>
              <a:rPr lang="en-US" altLang="zh-CN" sz="2000" b="1" dirty="0"/>
              <a:t> :=4000;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END IF;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END;                               	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页脚占位符 4">
            <a:extLst>
              <a:ext uri="{FF2B5EF4-FFF2-40B4-BE49-F238E27FC236}">
                <a16:creationId xmlns:a16="http://schemas.microsoft.com/office/drawing/2014/main" id="{00B86170-7AA0-473F-B61A-B3A517243E3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1ED7F24F-381E-4D04-866F-6334835624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/>
              <a:t>定义触发器</a:t>
            </a:r>
            <a:r>
              <a:rPr lang="en-US" altLang="zh-CN" sz="3600" dirty="0"/>
              <a:t>（</a:t>
            </a:r>
            <a:r>
              <a:rPr lang="zh-CN" altLang="en-US" sz="3600" dirty="0"/>
              <a:t>续</a:t>
            </a:r>
            <a:r>
              <a:rPr lang="en-US" altLang="zh-CN" sz="3600" dirty="0"/>
              <a:t>）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9D775AD7-E44D-40F2-A579-66F6B268B7C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7544" y="1700808"/>
            <a:ext cx="8497069" cy="489684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800" b="1" dirty="0"/>
              <a:t>[</a:t>
            </a:r>
            <a:r>
              <a:rPr lang="zh-CN" altLang="en-US" sz="1800" b="1" dirty="0"/>
              <a:t>例</a:t>
            </a:r>
            <a:r>
              <a:rPr lang="en-US" altLang="zh-CN" sz="1800" b="1" dirty="0"/>
              <a:t>2]</a:t>
            </a:r>
            <a:r>
              <a:rPr lang="zh-CN" altLang="en-US" sz="1800" b="1" dirty="0"/>
              <a:t>当对表</a:t>
            </a:r>
            <a:r>
              <a:rPr lang="en-US" altLang="zh-CN" sz="1800" b="1" dirty="0"/>
              <a:t>SC</a:t>
            </a:r>
            <a:r>
              <a:rPr lang="zh-CN" altLang="en-US" sz="1800" b="1" dirty="0"/>
              <a:t>的</a:t>
            </a:r>
            <a:r>
              <a:rPr lang="en-US" altLang="zh-CN" sz="1800" b="1" dirty="0"/>
              <a:t>Grade</a:t>
            </a:r>
            <a:r>
              <a:rPr lang="zh-CN" altLang="en-US" sz="1800" b="1" dirty="0"/>
              <a:t>属性进行修改时，若分数增加了</a:t>
            </a:r>
            <a:r>
              <a:rPr lang="en-US" altLang="zh-CN" sz="1800" b="1" dirty="0"/>
              <a:t>10%</a:t>
            </a:r>
            <a:r>
              <a:rPr lang="zh-CN" altLang="en-US" sz="1800" b="1" dirty="0"/>
              <a:t>则将此次操作记录到下面表中：</a:t>
            </a:r>
            <a:endParaRPr lang="en-US" altLang="zh-CN" sz="1800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800" b="1" dirty="0"/>
              <a:t>                   SC_U</a:t>
            </a:r>
            <a:r>
              <a:rPr lang="zh-CN" altLang="en-US" sz="1800" b="1" dirty="0"/>
              <a:t>（</a:t>
            </a:r>
            <a:r>
              <a:rPr lang="en-US" altLang="zh-CN" sz="1800" b="1" dirty="0" err="1"/>
              <a:t>Sno</a:t>
            </a:r>
            <a:r>
              <a:rPr lang="zh-CN" altLang="en-US" sz="1800" b="1" dirty="0"/>
              <a:t>, </a:t>
            </a:r>
            <a:r>
              <a:rPr lang="en-US" altLang="zh-CN" sz="1800" b="1" dirty="0" err="1"/>
              <a:t>Cno</a:t>
            </a:r>
            <a:r>
              <a:rPr lang="zh-CN" altLang="en-US" sz="1800" b="1" dirty="0"/>
              <a:t>, </a:t>
            </a:r>
            <a:r>
              <a:rPr lang="en-US" altLang="zh-CN" sz="1800" b="1" dirty="0" err="1"/>
              <a:t>Oldgrade</a:t>
            </a:r>
            <a:r>
              <a:rPr lang="zh-CN" altLang="en-US" sz="1800" b="1" dirty="0"/>
              <a:t>, </a:t>
            </a:r>
            <a:r>
              <a:rPr lang="en-US" altLang="zh-CN" sz="1800" b="1" dirty="0" err="1"/>
              <a:t>Newgrade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</a:t>
            </a:r>
            <a:r>
              <a:rPr lang="zh-CN" altLang="en-US" sz="1800" b="1" dirty="0"/>
              <a:t>其中</a:t>
            </a:r>
            <a:r>
              <a:rPr lang="en-US" altLang="zh-CN" sz="1800" b="1" dirty="0" err="1"/>
              <a:t>Oldgrade</a:t>
            </a:r>
            <a:r>
              <a:rPr lang="zh-CN" altLang="en-US" sz="1800" b="1" dirty="0"/>
              <a:t>是修改前的分数，</a:t>
            </a:r>
            <a:r>
              <a:rPr lang="en-US" altLang="zh-CN" sz="1800" b="1" dirty="0" err="1"/>
              <a:t>Newgrade</a:t>
            </a:r>
            <a:r>
              <a:rPr lang="zh-CN" altLang="en-US" sz="1800" b="1" dirty="0"/>
              <a:t>是修改后的分数。</a:t>
            </a:r>
            <a:endParaRPr lang="en-US" altLang="zh-CN" sz="1800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18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/>
              <a:t>	CREATE TRIGGER  SC_T		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/>
              <a:t>	AFTER UPDATE OF Grade ON SC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/>
              <a:t>	FOR EACH ROW 	</a:t>
            </a:r>
            <a:endParaRPr lang="zh-CN" altLang="en-US" sz="18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/>
              <a:t>	BEGIN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/>
              <a:t>         IF </a:t>
            </a:r>
            <a:r>
              <a:rPr lang="zh-CN" altLang="en-US" sz="1800" dirty="0"/>
              <a:t>(</a:t>
            </a:r>
            <a:r>
              <a:rPr lang="en-US" altLang="zh-CN" sz="1800" dirty="0" err="1"/>
              <a:t>New.Grade</a:t>
            </a:r>
            <a:r>
              <a:rPr lang="en-US" altLang="zh-CN" sz="1800" dirty="0"/>
              <a:t> &gt;= 1.1*</a:t>
            </a:r>
            <a:r>
              <a:rPr lang="en-US" altLang="zh-CN" sz="1800" dirty="0" err="1"/>
              <a:t>Old.Grade</a:t>
            </a:r>
            <a:r>
              <a:rPr lang="zh-CN" altLang="en-US" sz="1800" dirty="0"/>
              <a:t>)  </a:t>
            </a:r>
            <a:r>
              <a:rPr lang="en-US" altLang="zh-CN" sz="1800" dirty="0"/>
              <a:t>THEN</a:t>
            </a:r>
            <a:endParaRPr lang="zh-CN" altLang="en-US" sz="18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/>
              <a:t>	        INSERT INTO SC_U</a:t>
            </a:r>
            <a:r>
              <a:rPr lang="zh-CN" altLang="en-US" sz="1800" dirty="0"/>
              <a:t>(</a:t>
            </a:r>
            <a:r>
              <a:rPr lang="en-US" altLang="zh-CN" sz="1800" dirty="0" err="1"/>
              <a:t>Sno,Cno,OldGrade,NewGrade</a:t>
            </a:r>
            <a:r>
              <a:rPr lang="zh-CN" altLang="en-US" sz="1800" dirty="0"/>
              <a:t>)</a:t>
            </a:r>
            <a:r>
              <a:rPr lang="en-US" altLang="zh-CN" sz="1800" dirty="0"/>
              <a:t> 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/>
              <a:t>      VALUES</a:t>
            </a:r>
            <a:r>
              <a:rPr lang="zh-CN" altLang="en-US" sz="1800" dirty="0"/>
              <a:t>(</a:t>
            </a:r>
            <a:r>
              <a:rPr lang="en-US" altLang="zh-CN" sz="1800" dirty="0" err="1"/>
              <a:t>Old.Sno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Old.Cno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Old.Grade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New.Grade</a:t>
            </a:r>
            <a:r>
              <a:rPr lang="zh-CN" altLang="en-US" sz="1800" dirty="0"/>
              <a:t>)</a:t>
            </a:r>
            <a:endParaRPr lang="en-US" altLang="zh-CN" sz="1800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/>
              <a:t>  END IF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/>
              <a:t>END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页脚占位符 4">
            <a:extLst>
              <a:ext uri="{FF2B5EF4-FFF2-40B4-BE49-F238E27FC236}">
                <a16:creationId xmlns:a16="http://schemas.microsoft.com/office/drawing/2014/main" id="{D8341B53-9B11-4E0F-BCFF-AC478C85D9F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52A6071C-9FCD-4CBE-B941-4BA8F0E1FC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定义触发器</a:t>
            </a:r>
            <a:r>
              <a:rPr lang="en-US" altLang="zh-CN" sz="3600"/>
              <a:t>（</a:t>
            </a:r>
            <a:r>
              <a:rPr lang="zh-CN" altLang="en-US" sz="3600"/>
              <a:t>续</a:t>
            </a:r>
            <a:r>
              <a:rPr lang="en-US" altLang="zh-CN" sz="3600"/>
              <a:t>）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DC74C75E-2190-4444-96E6-23D9B70D3D7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3099" y="1587500"/>
            <a:ext cx="8229600" cy="47942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3] </a:t>
            </a:r>
            <a:r>
              <a:rPr lang="zh-CN" altLang="en-US" sz="2400" dirty="0"/>
              <a:t>将每次对表</a:t>
            </a:r>
            <a:r>
              <a:rPr lang="en-US" altLang="zh-CN" sz="2400" dirty="0"/>
              <a:t>Student</a:t>
            </a:r>
            <a:r>
              <a:rPr lang="zh-CN" altLang="en-US" sz="2400" dirty="0"/>
              <a:t>的插入操作所增加的学生个数记录到表</a:t>
            </a:r>
            <a:r>
              <a:rPr lang="en-US" altLang="zh-CN" sz="2400" dirty="0" err="1"/>
              <a:t>StudentInsertLog</a:t>
            </a:r>
            <a:r>
              <a:rPr lang="zh-CN" altLang="en-US" sz="2400" dirty="0"/>
              <a:t>中。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	CREATE TRIGGER </a:t>
            </a:r>
            <a:r>
              <a:rPr lang="en-US" altLang="zh-CN" sz="2200" dirty="0" err="1"/>
              <a:t>Student_Count</a:t>
            </a:r>
            <a:endParaRPr lang="zh-CN" altLang="en-US" sz="2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	AFTER INSERT ON Student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	</a:t>
            </a:r>
            <a:r>
              <a:rPr lang="en-US" altLang="zh-CN" sz="1800" dirty="0"/>
              <a:t>        /*</a:t>
            </a:r>
            <a:r>
              <a:rPr lang="zh-CN" altLang="en-US" sz="1800" dirty="0"/>
              <a:t>指明触发器激活的时间是在执行</a:t>
            </a:r>
            <a:r>
              <a:rPr lang="en-US" altLang="zh-CN" sz="1800" dirty="0"/>
              <a:t>INSERT</a:t>
            </a:r>
            <a:r>
              <a:rPr lang="zh-CN" altLang="en-US" sz="1800" dirty="0"/>
              <a:t>后</a:t>
            </a:r>
            <a:r>
              <a:rPr lang="en-US" altLang="zh-CN" sz="1800" dirty="0"/>
              <a:t>*/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	REFERENCING</a:t>
            </a:r>
            <a:endParaRPr lang="zh-CN" altLang="en-US" sz="2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	NEW TABLE AS DELTA</a:t>
            </a:r>
            <a:endParaRPr lang="zh-CN" altLang="en-US" sz="2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	FOR EACH STATEMENT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/>
              <a:t>	       </a:t>
            </a:r>
            <a:r>
              <a:rPr lang="en-US" altLang="zh-CN" sz="1800" dirty="0"/>
              <a:t>/*</a:t>
            </a:r>
            <a:r>
              <a:rPr lang="zh-CN" altLang="en-US" sz="1800" dirty="0"/>
              <a:t>语句级触发器</a:t>
            </a:r>
            <a:r>
              <a:rPr lang="en-US" altLang="zh-CN" sz="1800" dirty="0"/>
              <a:t>, </a:t>
            </a:r>
            <a:r>
              <a:rPr lang="zh-CN" altLang="en-US" sz="1800" dirty="0"/>
              <a:t>即执行完</a:t>
            </a:r>
            <a:r>
              <a:rPr lang="en-US" altLang="zh-CN" sz="1800" dirty="0"/>
              <a:t>INSERT</a:t>
            </a:r>
            <a:r>
              <a:rPr lang="zh-CN" altLang="en-US" sz="1800" dirty="0"/>
              <a:t>语句后下面的触发动作体才执行一次</a:t>
            </a:r>
            <a:r>
              <a:rPr lang="en-US" altLang="zh-CN" sz="1800" dirty="0"/>
              <a:t>*/</a:t>
            </a:r>
            <a:endParaRPr lang="zh-CN" altLang="en-US" sz="1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2200" dirty="0"/>
              <a:t>	INSERT INTO </a:t>
            </a:r>
            <a:r>
              <a:rPr lang="en-US" altLang="zh-CN" sz="2200" dirty="0" err="1"/>
              <a:t>StudentInsertLog</a:t>
            </a:r>
            <a:r>
              <a:rPr lang="en-US" altLang="zh-CN" sz="2200" dirty="0"/>
              <a:t> </a:t>
            </a:r>
            <a:r>
              <a:rPr lang="zh-CN" altLang="en-US" sz="2200" dirty="0"/>
              <a:t>(</a:t>
            </a:r>
            <a:r>
              <a:rPr lang="en-US" altLang="zh-CN" sz="2200" dirty="0"/>
              <a:t>Numbers</a:t>
            </a:r>
            <a:r>
              <a:rPr lang="zh-CN" altLang="en-US" sz="2200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		   SELECT COUNT</a:t>
            </a:r>
            <a:r>
              <a:rPr lang="zh-CN" altLang="en-US" sz="2200" dirty="0"/>
              <a:t>(</a:t>
            </a:r>
            <a:r>
              <a:rPr lang="en-US" altLang="zh-CN" sz="2200" dirty="0"/>
              <a:t>*</a:t>
            </a:r>
            <a:r>
              <a:rPr lang="zh-CN" altLang="en-US" sz="2200" dirty="0"/>
              <a:t>)</a:t>
            </a:r>
            <a:r>
              <a:rPr lang="en-US" altLang="zh-CN" sz="2200" dirty="0"/>
              <a:t> FROM DELTA</a:t>
            </a:r>
            <a:endParaRPr lang="zh-CN" altLang="en-US" sz="2200" dirty="0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9C1C-2ED0-4AFC-8817-E22A80DD15D7}" type="slidenum">
              <a:rPr lang="en-US" altLang="zh-CN"/>
              <a:pPr/>
              <a:t>98</a:t>
            </a:fld>
            <a:endParaRPr lang="en-US" altLang="zh-CN"/>
          </a:p>
        </p:txBody>
      </p:sp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定义触发器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73238"/>
            <a:ext cx="8229600" cy="4495800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［例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］定义</a:t>
            </a:r>
            <a:r>
              <a:rPr lang="en-US" altLang="zh-CN" sz="2400" b="1" dirty="0"/>
              <a:t>AFTER</a:t>
            </a:r>
            <a:r>
              <a:rPr lang="zh-CN" altLang="en-US" sz="2400" b="1" dirty="0"/>
              <a:t>行级触发器，当教师表</a:t>
            </a:r>
            <a:r>
              <a:rPr lang="en-US" altLang="zh-CN" sz="2400" b="1" dirty="0"/>
              <a:t>Teacher</a:t>
            </a:r>
            <a:r>
              <a:rPr lang="zh-CN" altLang="en-US" sz="2400" b="1" dirty="0"/>
              <a:t>的工资发生变化后就自动在工资变化表</a:t>
            </a:r>
            <a:r>
              <a:rPr lang="en-US" altLang="zh-CN" sz="2400" b="1" dirty="0" err="1"/>
              <a:t>Sal_log</a:t>
            </a:r>
            <a:r>
              <a:rPr lang="zh-CN" altLang="en-US" sz="2400" b="1" dirty="0"/>
              <a:t>中增加一条相应记录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   </a:t>
            </a:r>
            <a:r>
              <a:rPr lang="zh-CN" altLang="en-US" sz="2200" b="1" dirty="0"/>
              <a:t>首先建立工资变化表</a:t>
            </a:r>
            <a:r>
              <a:rPr lang="en-US" altLang="zh-CN" sz="2200" b="1" dirty="0" err="1"/>
              <a:t>Sal_log</a:t>
            </a:r>
            <a:endParaRPr lang="en-US" altLang="zh-CN" sz="2200" b="1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CREATE TABLE </a:t>
            </a:r>
            <a:r>
              <a:rPr lang="en-US" altLang="zh-CN" sz="2200" b="1" dirty="0" err="1"/>
              <a:t>Sal_log</a:t>
            </a:r>
            <a:endParaRPr lang="en-US" altLang="zh-CN" sz="2200" b="1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(Eno    NUMERIC(4)  references teacher(</a:t>
            </a:r>
            <a:r>
              <a:rPr lang="en-US" altLang="zh-CN" sz="2200" b="1" dirty="0" err="1"/>
              <a:t>eno</a:t>
            </a:r>
            <a:r>
              <a:rPr lang="en-US" altLang="zh-CN" sz="2200" b="1" dirty="0"/>
              <a:t>)</a:t>
            </a:r>
            <a:r>
              <a:rPr lang="zh-CN" altLang="en-US" sz="2200" b="1" dirty="0"/>
              <a:t>，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      </a:t>
            </a:r>
            <a:r>
              <a:rPr lang="en-US" altLang="zh-CN" sz="2200" b="1" dirty="0"/>
              <a:t>Sal     NUMERIC(7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2)</a:t>
            </a:r>
            <a:r>
              <a:rPr lang="zh-CN" altLang="en-US" sz="2200" b="1" dirty="0"/>
              <a:t>，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      </a:t>
            </a:r>
            <a:r>
              <a:rPr lang="en-US" altLang="zh-CN" sz="2200" b="1" dirty="0"/>
              <a:t>Username  char(10)</a:t>
            </a:r>
            <a:r>
              <a:rPr lang="zh-CN" altLang="en-US" sz="2200" b="1" dirty="0"/>
              <a:t>，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      </a:t>
            </a:r>
            <a:r>
              <a:rPr lang="en-US" altLang="zh-CN" sz="2200" b="1" dirty="0"/>
              <a:t>Date   TIMESTAMP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 )</a:t>
            </a:r>
            <a:r>
              <a:rPr lang="zh-CN" altLang="en-US" sz="2200" b="1" dirty="0"/>
              <a:t>；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85A4-75BE-47FD-ADA5-AD914BB1C9A9}" type="slidenum">
              <a:rPr lang="en-US" altLang="zh-CN"/>
              <a:pPr/>
              <a:t>99</a:t>
            </a:fld>
            <a:endParaRPr lang="en-US" altLang="zh-CN"/>
          </a:p>
        </p:txBody>
      </p:sp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定义触发器</a:t>
            </a:r>
            <a:r>
              <a:rPr lang="en-US" altLang="zh-CN" sz="3200"/>
              <a:t>(</a:t>
            </a:r>
            <a:r>
              <a:rPr lang="zh-CN" altLang="en-US" sz="3200"/>
              <a:t>续</a:t>
            </a:r>
            <a:r>
              <a:rPr lang="en-US" altLang="zh-CN" sz="3200"/>
              <a:t>)</a:t>
            </a:r>
          </a:p>
        </p:txBody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773238"/>
            <a:ext cx="8893175" cy="4495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[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4]</a:t>
            </a:r>
            <a:r>
              <a:rPr lang="zh-CN" altLang="en-US" sz="2400" b="1" dirty="0"/>
              <a:t>（续）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2000" b="1" dirty="0"/>
              <a:t>CREATE TRIGGER  </a:t>
            </a:r>
            <a:r>
              <a:rPr lang="en-US" altLang="zh-CN" sz="2000" b="1" dirty="0" err="1"/>
              <a:t>After_Sal</a:t>
            </a:r>
            <a:r>
              <a:rPr lang="en-US" altLang="zh-CN" sz="2000" b="1" dirty="0"/>
              <a:t> _Insert               	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</a:t>
            </a:r>
            <a:r>
              <a:rPr lang="en-US" altLang="zh-CN" sz="2000" b="1" dirty="0">
                <a:solidFill>
                  <a:srgbClr val="72BE2C"/>
                </a:solidFill>
              </a:rPr>
              <a:t>AFTER INSERT</a:t>
            </a:r>
            <a:r>
              <a:rPr lang="en-US" altLang="zh-CN" sz="2000" b="1" dirty="0"/>
              <a:t> ON Teacher      	/*</a:t>
            </a:r>
            <a:r>
              <a:rPr lang="zh-CN" altLang="en-US" sz="2000" b="1" dirty="0"/>
              <a:t>触发事件是</a:t>
            </a:r>
            <a:r>
              <a:rPr lang="en-US" altLang="zh-CN" sz="2000" b="1" dirty="0"/>
              <a:t>INSERT*/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FOR EACH ROW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BEGIN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INSERT INTO </a:t>
            </a:r>
            <a:r>
              <a:rPr lang="en-US" altLang="zh-CN" sz="2000" b="1" dirty="0" err="1"/>
              <a:t>Sal_log</a:t>
            </a:r>
            <a:r>
              <a:rPr lang="en-US" altLang="zh-CN" sz="2000" b="1" dirty="0"/>
              <a:t> VALUES(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</a:t>
            </a:r>
            <a:r>
              <a:rPr lang="en-US" altLang="zh-CN" sz="2000" b="1" dirty="0" err="1"/>
              <a:t>new.Eno</a:t>
            </a:r>
            <a:r>
              <a:rPr lang="zh-CN" altLang="en-US" sz="2000" b="1" dirty="0"/>
              <a:t>，</a:t>
            </a:r>
            <a:r>
              <a:rPr lang="en-US" altLang="zh-CN" sz="2000" b="1" dirty="0" err="1"/>
              <a:t>new.Sal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USER( )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NOW( ) );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END;</a:t>
            </a:r>
          </a:p>
          <a:p>
            <a:endParaRPr lang="en-US" altLang="zh-CN" sz="2000" b="1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8E59-1E40-4F0A-9215-5AEE33245B03}" type="slidenum">
              <a:rPr lang="en-US" altLang="zh-CN"/>
              <a:pPr/>
              <a:t>100</a:t>
            </a:fld>
            <a:endParaRPr lang="en-US" altLang="zh-CN"/>
          </a:p>
        </p:txBody>
      </p:sp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定义触发器</a:t>
            </a:r>
            <a:r>
              <a:rPr lang="en-US" altLang="zh-CN" sz="3200"/>
              <a:t>(</a:t>
            </a:r>
            <a:r>
              <a:rPr lang="zh-CN" altLang="en-US" sz="3200"/>
              <a:t>续</a:t>
            </a:r>
            <a:r>
              <a:rPr lang="en-US" altLang="zh-CN" sz="3200"/>
              <a:t>)</a:t>
            </a:r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435975" cy="4495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[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4]</a:t>
            </a:r>
            <a:r>
              <a:rPr lang="zh-CN" altLang="en-US" sz="2400" b="1" dirty="0"/>
              <a:t>（续）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2000" b="1" dirty="0"/>
              <a:t>CREATE TRIGGER    </a:t>
            </a:r>
            <a:r>
              <a:rPr lang="en-US" altLang="zh-CN" sz="2000" b="1" dirty="0" err="1"/>
              <a:t>After_Sal_Update</a:t>
            </a:r>
            <a:r>
              <a:rPr lang="en-US" altLang="zh-CN" sz="2000" b="1" dirty="0"/>
              <a:t>            	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</a:t>
            </a:r>
            <a:r>
              <a:rPr lang="en-US" altLang="zh-CN" sz="2000" b="1" dirty="0">
                <a:solidFill>
                  <a:srgbClr val="72BE2C"/>
                </a:solidFill>
              </a:rPr>
              <a:t>AFTER UPDATE</a:t>
            </a:r>
            <a:r>
              <a:rPr lang="en-US" altLang="zh-CN" sz="2000" b="1" dirty="0"/>
              <a:t> ON Teacher    	/*</a:t>
            </a:r>
            <a:r>
              <a:rPr lang="zh-CN" altLang="en-US" sz="2000" b="1" dirty="0"/>
              <a:t>触发事件是</a:t>
            </a:r>
            <a:r>
              <a:rPr lang="en-US" altLang="zh-CN" sz="2000" b="1" dirty="0"/>
              <a:t>UPDATE */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FOR EACH ROW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AS BEGIN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IF (</a:t>
            </a:r>
            <a:r>
              <a:rPr lang="en-US" altLang="zh-CN" sz="2000" b="1" dirty="0" err="1"/>
              <a:t>new.Sal</a:t>
            </a:r>
            <a:r>
              <a:rPr lang="en-US" altLang="zh-CN" sz="2000" b="1" dirty="0"/>
              <a:t> &lt;&gt; </a:t>
            </a:r>
            <a:r>
              <a:rPr lang="en-US" altLang="zh-CN" sz="2000" b="1" dirty="0" err="1"/>
              <a:t>old.Sal</a:t>
            </a:r>
            <a:r>
              <a:rPr lang="en-US" altLang="zh-CN" sz="2000" b="1" dirty="0"/>
              <a:t>) THEN INSERT INTO </a:t>
            </a:r>
            <a:r>
              <a:rPr lang="en-US" altLang="zh-CN" sz="2000" b="1" dirty="0" err="1"/>
              <a:t>Sal_log</a:t>
            </a:r>
            <a:r>
              <a:rPr lang="en-US" altLang="zh-CN" sz="2000" b="1" dirty="0"/>
              <a:t> VALUES(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</a:t>
            </a:r>
            <a:r>
              <a:rPr lang="en-US" altLang="zh-CN" sz="1800" b="1" dirty="0" err="1"/>
              <a:t>new.Eno</a:t>
            </a:r>
            <a:r>
              <a:rPr lang="zh-CN" altLang="en-US" sz="1800" b="1" dirty="0"/>
              <a:t>，</a:t>
            </a:r>
            <a:r>
              <a:rPr lang="en-US" altLang="zh-CN" sz="1800" b="1" dirty="0" err="1"/>
              <a:t>new.Sal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USER()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NOW());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END IF;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END;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B14BB-F5BC-44B2-9223-1A14A713228F}" type="slidenum">
              <a:rPr lang="en-US" altLang="zh-CN"/>
              <a:pPr/>
              <a:t>101</a:t>
            </a:fld>
            <a:endParaRPr lang="en-US" altLang="zh-CN"/>
          </a:p>
        </p:txBody>
      </p:sp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5.6.2 </a:t>
            </a:r>
            <a:r>
              <a:rPr lang="zh-CN" altLang="en-US" dirty="0"/>
              <a:t>激活触发器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400" b="1"/>
              <a:t>触发器的执行，是由</a:t>
            </a:r>
            <a:r>
              <a:rPr lang="zh-CN" altLang="en-US" sz="2400" b="1">
                <a:solidFill>
                  <a:srgbClr val="FF00FF"/>
                </a:solidFill>
              </a:rPr>
              <a:t>触发事件激活</a:t>
            </a:r>
            <a:r>
              <a:rPr lang="zh-CN" altLang="en-US" sz="2400" b="1"/>
              <a:t>的，并由数据库服务器自动执行</a:t>
            </a:r>
          </a:p>
          <a:p>
            <a:pPr>
              <a:lnSpc>
                <a:spcPct val="130000"/>
              </a:lnSpc>
            </a:pPr>
            <a:r>
              <a:rPr lang="zh-CN" altLang="en-US" sz="2400" b="1"/>
              <a:t>一个数据表上可能定义了</a:t>
            </a:r>
            <a:r>
              <a:rPr lang="zh-CN" altLang="en-US" sz="2400" b="1">
                <a:solidFill>
                  <a:srgbClr val="FF00FF"/>
                </a:solidFill>
              </a:rPr>
              <a:t>多个触发器</a:t>
            </a:r>
          </a:p>
          <a:p>
            <a:pPr lvl="1">
              <a:lnSpc>
                <a:spcPct val="130000"/>
              </a:lnSpc>
            </a:pPr>
            <a:r>
              <a:rPr lang="zh-CN" altLang="en-US" sz="2000" b="1"/>
              <a:t>同一个表上的多个触发器激活时遵循如下的执行顺序：</a:t>
            </a:r>
          </a:p>
          <a:p>
            <a:pPr lvl="2">
              <a:lnSpc>
                <a:spcPct val="130000"/>
              </a:lnSpc>
            </a:pPr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 执行该表上的</a:t>
            </a:r>
            <a:r>
              <a:rPr lang="en-US" altLang="zh-CN" b="1"/>
              <a:t>BEFORE</a:t>
            </a:r>
            <a:r>
              <a:rPr lang="zh-CN" altLang="en-US" b="1"/>
              <a:t>触发器；</a:t>
            </a:r>
          </a:p>
          <a:p>
            <a:pPr lvl="2">
              <a:lnSpc>
                <a:spcPct val="130000"/>
              </a:lnSpc>
            </a:pPr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 激活触发器的</a:t>
            </a:r>
            <a:r>
              <a:rPr lang="en-US" altLang="zh-CN" b="1"/>
              <a:t>SQL</a:t>
            </a:r>
            <a:r>
              <a:rPr lang="zh-CN" altLang="en-US" b="1"/>
              <a:t>语句；</a:t>
            </a:r>
          </a:p>
          <a:p>
            <a:pPr lvl="2">
              <a:lnSpc>
                <a:spcPct val="130000"/>
              </a:lnSpc>
            </a:pPr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 执行该表上的</a:t>
            </a:r>
            <a:r>
              <a:rPr lang="en-US" altLang="zh-CN" b="1"/>
              <a:t>AFTER</a:t>
            </a:r>
            <a:r>
              <a:rPr lang="zh-CN" altLang="en-US" b="1"/>
              <a:t>触发器。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C94EF-9223-47BC-869D-137912F612D8}" type="slidenum">
              <a:rPr lang="en-US" altLang="zh-CN"/>
              <a:pPr/>
              <a:t>102</a:t>
            </a:fld>
            <a:endParaRPr lang="en-US" altLang="zh-CN"/>
          </a:p>
        </p:txBody>
      </p: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激活触发器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557338"/>
            <a:ext cx="8507412" cy="4695825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［例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］执行修改某个教师工资的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语句，激活上述定义的触发器。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  </a:t>
            </a:r>
            <a:r>
              <a:rPr lang="en-US" altLang="zh-CN" sz="2400" b="1" dirty="0"/>
              <a:t>UPDATE Teacher SET Sal=800 WHERE </a:t>
            </a:r>
            <a:r>
              <a:rPr lang="en-US" altLang="zh-CN" sz="2400" b="1" dirty="0" err="1"/>
              <a:t>Ename</a:t>
            </a:r>
            <a:r>
              <a:rPr lang="en-US" altLang="zh-CN" sz="2400" b="1" dirty="0"/>
              <a:t>='</a:t>
            </a:r>
            <a:r>
              <a:rPr lang="zh-CN" altLang="en-US" sz="2400" b="1" dirty="0"/>
              <a:t>陈平</a:t>
            </a:r>
            <a:r>
              <a:rPr lang="en-US" altLang="zh-CN" sz="2400" b="1" dirty="0"/>
              <a:t>';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72BE2C"/>
                </a:solidFill>
              </a:rPr>
              <a:t>    </a:t>
            </a:r>
            <a:r>
              <a:rPr lang="zh-CN" altLang="en-US" sz="2400" b="1" dirty="0">
                <a:solidFill>
                  <a:srgbClr val="72BE2C"/>
                </a:solidFill>
              </a:rPr>
              <a:t>执行顺序是：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执行触发器</a:t>
            </a:r>
            <a:r>
              <a:rPr lang="en-US" altLang="zh-CN" sz="2000" b="1" dirty="0" err="1"/>
              <a:t>Insert_Or_Update_Sal</a:t>
            </a:r>
            <a:endParaRPr lang="en-US" altLang="zh-CN" sz="2000" b="1" dirty="0"/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执行</a:t>
            </a:r>
            <a:r>
              <a:rPr lang="en-US" altLang="zh-CN" sz="2000" b="1" dirty="0"/>
              <a:t>SQL</a:t>
            </a:r>
            <a:r>
              <a:rPr lang="zh-CN" altLang="en-US" sz="2000" b="1" dirty="0"/>
              <a:t>语句“</a:t>
            </a:r>
            <a:r>
              <a:rPr lang="en-US" altLang="zh-CN" sz="2000" b="1" dirty="0"/>
              <a:t>UPDATE Teacher SET Sal=800 WHERE </a:t>
            </a:r>
            <a:r>
              <a:rPr lang="en-US" altLang="zh-CN" sz="2000" b="1" dirty="0" err="1"/>
              <a:t>Ename</a:t>
            </a:r>
            <a:r>
              <a:rPr lang="en-US" altLang="zh-CN" sz="2000" b="1" dirty="0"/>
              <a:t>='</a:t>
            </a:r>
            <a:r>
              <a:rPr lang="zh-CN" altLang="en-US" sz="2000" b="1" dirty="0"/>
              <a:t>陈平</a:t>
            </a:r>
            <a:r>
              <a:rPr lang="en-US" altLang="zh-CN" sz="2000" b="1" dirty="0"/>
              <a:t>';”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执行触发器</a:t>
            </a:r>
            <a:r>
              <a:rPr lang="en-US" altLang="zh-CN" sz="2000" b="1" dirty="0" err="1"/>
              <a:t>Insert_Sal</a:t>
            </a:r>
            <a:r>
              <a:rPr lang="zh-CN" altLang="en-US" sz="2000" b="1" dirty="0"/>
              <a:t>；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执行触发器</a:t>
            </a:r>
            <a:r>
              <a:rPr lang="en-US" altLang="zh-CN" sz="2000" b="1" dirty="0" err="1"/>
              <a:t>Update_Sal</a:t>
            </a:r>
            <a:r>
              <a:rPr lang="en-US" altLang="zh-CN" b="1" dirty="0"/>
              <a:t> 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B5108-8880-4EF2-9BA8-B34CC6FCCDB4}" type="slidenum">
              <a:rPr lang="en-US" altLang="zh-CN"/>
              <a:pPr/>
              <a:t>103</a:t>
            </a:fld>
            <a:endParaRPr lang="en-US" altLang="zh-CN"/>
          </a:p>
        </p:txBody>
      </p:sp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数据库完整性</a:t>
            </a:r>
          </a:p>
        </p:txBody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73238"/>
            <a:ext cx="7859712" cy="4495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5.1  </a:t>
            </a:r>
            <a:r>
              <a:rPr lang="zh-CN" altLang="en-US" b="1" dirty="0"/>
              <a:t>实体完整性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5.2  </a:t>
            </a:r>
            <a:r>
              <a:rPr lang="zh-CN" altLang="en-US" b="1" dirty="0"/>
              <a:t>参照完整性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5.3  </a:t>
            </a:r>
            <a:r>
              <a:rPr lang="zh-CN" altLang="en-US" b="1" dirty="0"/>
              <a:t>用户定义的完整性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5.4  </a:t>
            </a:r>
            <a:r>
              <a:rPr lang="zh-CN" altLang="en-US" b="1" dirty="0"/>
              <a:t>完整性约束命名字句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5.5  </a:t>
            </a:r>
            <a:r>
              <a:rPr lang="zh-CN" altLang="en-US" b="1" dirty="0"/>
              <a:t>域中的完整性限制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5.6  </a:t>
            </a:r>
            <a:r>
              <a:rPr lang="zh-CN" altLang="en-US" b="1" dirty="0"/>
              <a:t>触发器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5.7  </a:t>
            </a:r>
            <a:r>
              <a:rPr lang="zh-CN" altLang="en-US" b="1" dirty="0">
                <a:solidFill>
                  <a:schemeClr val="tx2"/>
                </a:solidFill>
              </a:rPr>
              <a:t>小结</a:t>
            </a:r>
          </a:p>
          <a:p>
            <a:endParaRPr lang="en-US" altLang="zh-CN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30912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2540E-BFD8-45C7-83F7-C60B9AD88B41}" type="slidenum">
              <a:rPr lang="en-US" altLang="zh-CN"/>
              <a:pPr/>
              <a:t>104</a:t>
            </a:fld>
            <a:endParaRPr lang="en-US" altLang="zh-CN"/>
          </a:p>
        </p:txBody>
      </p:sp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5.7  </a:t>
            </a:r>
            <a:r>
              <a:rPr lang="zh-CN" altLang="en-US" dirty="0"/>
              <a:t>小结</a:t>
            </a:r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数据库的完整性是为了保证数据库中存储的数据是正确的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/>
          </a:p>
          <a:p>
            <a:r>
              <a:rPr lang="en-US" altLang="zh-CN"/>
              <a:t>RDBMS</a:t>
            </a:r>
            <a:r>
              <a:rPr lang="zh-CN" altLang="en-US"/>
              <a:t>完整性实现的机制</a:t>
            </a:r>
          </a:p>
          <a:p>
            <a:pPr lvl="1"/>
            <a:r>
              <a:rPr lang="zh-CN" altLang="en-US"/>
              <a:t>完整性约束定义机制</a:t>
            </a:r>
          </a:p>
          <a:p>
            <a:pPr lvl="1"/>
            <a:r>
              <a:rPr lang="zh-CN" altLang="en-US"/>
              <a:t>完整性检查机制</a:t>
            </a:r>
          </a:p>
          <a:p>
            <a:pPr lvl="1"/>
            <a:r>
              <a:rPr lang="zh-CN" altLang="en-US"/>
              <a:t>违背完整性约束条件时</a:t>
            </a:r>
            <a:r>
              <a:rPr lang="en-US" altLang="zh-CN"/>
              <a:t>RDBMS</a:t>
            </a:r>
            <a:r>
              <a:rPr lang="zh-CN" altLang="en-US"/>
              <a:t>应采取的动作</a:t>
            </a:r>
          </a:p>
        </p:txBody>
      </p:sp>
    </p:spTree>
    <p:extLst>
      <p:ext uri="{BB962C8B-B14F-4D97-AF65-F5344CB8AC3E}">
        <p14:creationId xmlns:p14="http://schemas.microsoft.com/office/powerpoint/2010/main" val="340016923"/>
      </p:ext>
    </p:extLst>
  </p:cSld>
  <p:clrMapOvr>
    <a:masterClrMapping/>
  </p:clrMapOvr>
</p:sld>
</file>

<file path=ppt/theme/theme1.xml><?xml version="1.0" encoding="utf-8"?>
<a:theme xmlns:a="http://schemas.openxmlformats.org/drawingml/2006/main" name="1_商务模板系列34">
  <a:themeElements>
    <a:clrScheme name="1_商务模板系列34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1_商务模板系列34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商务模板系列34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5068</TotalTime>
  <Words>7791</Words>
  <Application>Microsoft Office PowerPoint</Application>
  <PresentationFormat>全屏显示(4:3)</PresentationFormat>
  <Paragraphs>1019</Paragraphs>
  <Slides>104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104</vt:i4>
      </vt:variant>
    </vt:vector>
  </HeadingPairs>
  <TitlesOfParts>
    <vt:vector size="119" baseType="lpstr">
      <vt:lpstr>等线</vt:lpstr>
      <vt:lpstr>仿宋_GB2312</vt:lpstr>
      <vt:lpstr>黑体</vt:lpstr>
      <vt:lpstr>STKaiti</vt:lpstr>
      <vt:lpstr>STZhongsong</vt:lpstr>
      <vt:lpstr>Microsoft YaHei</vt:lpstr>
      <vt:lpstr>新宋体</vt:lpstr>
      <vt:lpstr>新宋体</vt:lpstr>
      <vt:lpstr>Arial</vt:lpstr>
      <vt:lpstr>Courier New</vt:lpstr>
      <vt:lpstr>Tahoma</vt:lpstr>
      <vt:lpstr>Times New Roman</vt:lpstr>
      <vt:lpstr>Wingdings</vt:lpstr>
      <vt:lpstr>1_商务模板系列34</vt:lpstr>
      <vt:lpstr>Image</vt:lpstr>
      <vt:lpstr>第五章  数据库完整性</vt:lpstr>
      <vt:lpstr>数据库完整性</vt:lpstr>
      <vt:lpstr>数据库完整性(续)</vt:lpstr>
      <vt:lpstr>完整性约束条件</vt:lpstr>
      <vt:lpstr>完整性约束条件分类</vt:lpstr>
      <vt:lpstr>完整性约束条件（续）</vt:lpstr>
      <vt:lpstr>完整性约束条件（续）</vt:lpstr>
      <vt:lpstr>完整性约束条件（续）</vt:lpstr>
      <vt:lpstr>完整性约束条件（续）</vt:lpstr>
      <vt:lpstr>完整性约束条件（续）</vt:lpstr>
      <vt:lpstr>完整性约束条件（续）</vt:lpstr>
      <vt:lpstr>完整性检查</vt:lpstr>
      <vt:lpstr>违约处理</vt:lpstr>
      <vt:lpstr>第五章 数据库完整性</vt:lpstr>
      <vt:lpstr>5.1 实体完整性</vt:lpstr>
      <vt:lpstr>5.1.1 实体完整性定义</vt:lpstr>
      <vt:lpstr>实体完整性定义(续)</vt:lpstr>
      <vt:lpstr>实体完整性定义(续)</vt:lpstr>
      <vt:lpstr>实体完整性定义(续)</vt:lpstr>
      <vt:lpstr>实体完整性定义(续)</vt:lpstr>
      <vt:lpstr>实体完整性定义(续)</vt:lpstr>
      <vt:lpstr>5.1 实体完整性</vt:lpstr>
      <vt:lpstr>5.1.2 实体完整性检查和违约处理</vt:lpstr>
      <vt:lpstr>实体完整性检查和违约处理(续)</vt:lpstr>
      <vt:lpstr>实体完整性检查和违约处理(续)</vt:lpstr>
      <vt:lpstr>第五章 数据库完整性</vt:lpstr>
      <vt:lpstr>5.2  参照完整性</vt:lpstr>
      <vt:lpstr>5.2.1 参照完整性定义</vt:lpstr>
      <vt:lpstr>参照完整性定义(续)</vt:lpstr>
      <vt:lpstr>5.2  参照完整性</vt:lpstr>
      <vt:lpstr>参照完整性检查和违约处理</vt:lpstr>
      <vt:lpstr>违约处理</vt:lpstr>
      <vt:lpstr>违约处理(续)</vt:lpstr>
      <vt:lpstr>显式说明参照完整性</vt:lpstr>
      <vt:lpstr>PowerPoint 演示文稿</vt:lpstr>
      <vt:lpstr>第五章 数据库完整性</vt:lpstr>
      <vt:lpstr>5.3  用户定义的完整性</vt:lpstr>
      <vt:lpstr>5.3  用户定义的完整性</vt:lpstr>
      <vt:lpstr>5.3.1 属性上的约束条件的定义</vt:lpstr>
      <vt:lpstr>属性上的约束条件的定义(续)</vt:lpstr>
      <vt:lpstr>属性上的约束条件的定义(续)</vt:lpstr>
      <vt:lpstr>属性上的约束条件的定义(续)</vt:lpstr>
      <vt:lpstr>PowerPoint 演示文稿</vt:lpstr>
      <vt:lpstr>PowerPoint 演示文稿</vt:lpstr>
      <vt:lpstr>检查约束 check</vt:lpstr>
      <vt:lpstr>检查约束 check</vt:lpstr>
      <vt:lpstr>PowerPoint 演示文稿</vt:lpstr>
      <vt:lpstr>5.3  用户定义的完整性</vt:lpstr>
      <vt:lpstr>5.3.2 属性上的约束条件检查和违约处理</vt:lpstr>
      <vt:lpstr>5.3  用户定义的完整性</vt:lpstr>
      <vt:lpstr>5.3.3 元组上的约束条件的定义</vt:lpstr>
      <vt:lpstr>元组上的约束条件的定义(续)</vt:lpstr>
      <vt:lpstr>PowerPoint 演示文稿</vt:lpstr>
      <vt:lpstr>5.3  用户定义的完整性</vt:lpstr>
      <vt:lpstr>5.3.4 元组上的约束条件检查和违约处理</vt:lpstr>
      <vt:lpstr>第五章 数据库完整性</vt:lpstr>
      <vt:lpstr>5.4  完整性约束命名子句</vt:lpstr>
      <vt:lpstr>完整性约束命名子句(续)</vt:lpstr>
      <vt:lpstr>示 例</vt:lpstr>
      <vt:lpstr>完整性约束命名子句(续)</vt:lpstr>
      <vt:lpstr>完整性约束命名子句(续)</vt:lpstr>
      <vt:lpstr>第五章 数据库完整性</vt:lpstr>
      <vt:lpstr>5.5  域中的完整性限制</vt:lpstr>
      <vt:lpstr>域中的完整性限制(续)</vt:lpstr>
      <vt:lpstr>PowerPoint 演示文稿</vt:lpstr>
      <vt:lpstr>PowerPoint 演示文稿</vt:lpstr>
      <vt:lpstr>PowerPoint 演示文稿</vt:lpstr>
      <vt:lpstr>SQL语言实现约束的方法-断言</vt:lpstr>
      <vt:lpstr>第五章 数据库完整性</vt:lpstr>
      <vt:lpstr>触发器Trigger</vt:lpstr>
      <vt:lpstr>触发器 trigger</vt:lpstr>
      <vt:lpstr>触发器 trigger</vt:lpstr>
      <vt:lpstr>触发器 trigger</vt:lpstr>
      <vt:lpstr>创建触发器Create Trigger</vt:lpstr>
      <vt:lpstr>INSERT 触发器</vt:lpstr>
      <vt:lpstr>UPDATE 触发器</vt:lpstr>
      <vt:lpstr>DELETE 触发器</vt:lpstr>
      <vt:lpstr>触发器Trigger示例</vt:lpstr>
      <vt:lpstr>结果截图</vt:lpstr>
      <vt:lpstr>定界符与DELIMITER命令</vt:lpstr>
      <vt:lpstr>触发器管理</vt:lpstr>
      <vt:lpstr>PowerPoint 演示文稿</vt:lpstr>
      <vt:lpstr>创建多个触发器</vt:lpstr>
      <vt:lpstr>创建多重触发器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练习：触发器示例</vt:lpstr>
      <vt:lpstr>多重触发器</vt:lpstr>
      <vt:lpstr>多重触发器</vt:lpstr>
      <vt:lpstr>利用数据字典查看触发器</vt:lpstr>
      <vt:lpstr>查看触发器执行顺序</vt:lpstr>
      <vt:lpstr>定义触发器(续)</vt:lpstr>
      <vt:lpstr>定义触发器（续）</vt:lpstr>
      <vt:lpstr>定义触发器（续）</vt:lpstr>
      <vt:lpstr>定义触发器(续)</vt:lpstr>
      <vt:lpstr>定义触发器(续)</vt:lpstr>
      <vt:lpstr>定义触发器(续)</vt:lpstr>
      <vt:lpstr>5.6.2 激活触发器</vt:lpstr>
      <vt:lpstr>激活触发器(续)</vt:lpstr>
      <vt:lpstr>第五章 数据库完整性</vt:lpstr>
      <vt:lpstr>5.7  小结</vt:lpstr>
    </vt:vector>
  </TitlesOfParts>
  <Company>idke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课程名称：数据库系统概论</dc:title>
  <dc:creator>RUC IDKE</dc:creator>
  <cp:lastModifiedBy>Administrator</cp:lastModifiedBy>
  <cp:revision>273</cp:revision>
  <dcterms:created xsi:type="dcterms:W3CDTF">2000-08-09T08:19:19Z</dcterms:created>
  <dcterms:modified xsi:type="dcterms:W3CDTF">2024-11-18T23:25:24Z</dcterms:modified>
</cp:coreProperties>
</file>