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2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A8B9E-3E7C-B081-761A-198D035A8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D7561F-ED45-AAF4-F8A5-A35117A0E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84CA1B-7546-6CFB-46D7-37701749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CFB4C8-1F9A-FA75-1F25-6CFC57E61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F6BB8-3721-E3A0-6322-CB2FBDD1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07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CAD58-5073-9CF8-A07C-080C2741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269A9-E945-E629-5A9A-7D815BE0D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D31C83-2FA8-8A03-A96B-A69C72A6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A739C-880A-E529-151D-6EECF662B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CF359-4E5F-BCD7-5D26-C7E9407A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9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9C394-FF0C-2961-2681-D8CC3E8C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070A1C-6AA8-88A9-0CB7-E708F39BE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76FCF-4F99-576E-25E5-472915E4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24808-5BAF-0789-508E-0BC09349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4AD920-19BB-3E78-89AB-20928866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74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9DAFE-04FE-E581-6C11-8A5C61B0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02746B-9650-F53A-EA0C-476FE0AEE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A91B28-203C-FB62-FEC0-1A183D1E0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2BDD30-DF6E-0252-72B7-E1B99D22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0C96EE-2264-6744-4130-51EB15D7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7AE415-D733-6851-D03F-DD7EE078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72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9249C-23BB-1C4D-BD03-BCD085D7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7CF2D2-2F02-DB4A-03A5-F4248CDA9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FA3EE0-0E5D-A53E-194E-9A9FF03EC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381F0C-338C-860B-95DE-E6218BF00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619CBA-3361-50A5-6508-2BA28FF32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5EC4D3-11F8-6217-448C-039FE01F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10F7F6-6292-E104-A144-4BA789C7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99B13B-0BF6-86EB-5F7B-5F89FC57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30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7D939-E4E0-FC3E-1EFF-BE217CEE1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3F003F-C4CB-AB9B-126F-8365D8AE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B5EB29-16B4-9A7C-C3A9-E6EB63FC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EA7E1E-1F4B-0878-BF95-733B7803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75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4E465F-B3F2-479F-2870-C63B651C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78E50F-94A0-AE9C-EF2C-0CF3546F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82DD30-C36C-499C-5A84-93E4DE22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59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C3B9A-579B-AB6F-2D8D-06235794D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4C79B-41D8-9206-0634-0645CD204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5908E5-0AC7-43FE-77F7-8029BC894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1241EE-682D-309F-125E-333525A7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8B9B3F-1AEE-5EBD-C251-30F44C00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8DE01F-2D02-EBF8-76BD-6985571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10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E019A-D755-B93E-38DD-7ACB6AC7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B84FF8-4746-036C-13AB-F7A2D3782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FBF2B1-9BF1-AB1E-D933-21923FDBD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247FB3-99FF-42EE-AB68-F1D2D371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F21F2A-4861-1E86-21C1-2E5BE2551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7F540C-C72C-0204-9D78-E0799B40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58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86DA2-00BF-55E3-D446-A8B3BC3C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BC3634-49A5-7B73-BA4F-D120A5B3F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2F0629-7EC5-11BD-0265-E368981D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A3633-5FD1-BA56-7DEC-A2DB03D5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D6C6-20B8-3C8B-254C-173757EE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6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E0ED10-3E90-6D2A-B4AB-881257D1E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EECA68-0054-68F6-D0E2-F0D15524F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B619B0-2DEF-DE8C-BAC9-CD0119767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C06EFC-869A-A5C4-100A-9355AEC4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66574-6F77-B006-7130-41A4DB84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4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6C7FBB-E49E-51B8-1B05-3C82341A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8DA145-5C52-5C3B-EAC9-C2353EBAC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530B7E-8998-7A88-524C-A238EA032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0BE72-3DF3-483D-8FFA-941B54AE1B4E}" type="datetimeFigureOut">
              <a:rPr lang="zh-CN" altLang="en-US" smtClean="0"/>
              <a:t>2022/12/13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F88D6C-3968-BD8C-5ED6-3500084C9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30E4B-01C8-6DE5-1538-637EDFA9C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E139E-BA13-43C2-9813-A9E9E34AD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9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EE32CF5-A6B4-4330-E2BA-8E2F88AA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434793"/>
            <a:ext cx="10515600" cy="514441"/>
          </a:xfrm>
        </p:spPr>
        <p:txBody>
          <a:bodyPr>
            <a:normAutofit/>
          </a:bodyPr>
          <a:lstStyle/>
          <a:p>
            <a:pPr algn="just"/>
            <a:r>
              <a:rPr lang="zh-CN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存储过程（函数）及游标作业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876751F-1304-4715-BE4F-E9987D0F8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创建一个存储函数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count_course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，用来统计某门课的学生人数。</a:t>
            </a: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drop function if exists 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count_course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delimiter //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create function 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count_course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classno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char(8))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returns int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begin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return ( select count(*) from sct.sc where 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cno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classno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);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end 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delimiter ;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count_course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('001');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1375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764CA5-9502-662B-0F72-9F6A15F06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6720"/>
            <a:ext cx="10515600" cy="575024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创建一个存储过程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avg_course</a:t>
            </a:r>
            <a:r>
              <a:rPr lang="zh-CN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，求某门课的平均分，利用上一题的函数求学生人数，利用游标方法来求课程总分。</a:t>
            </a: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drop procedure if exists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avg_course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delimiter //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create procedure avg_course1( in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classno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char(8), out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avgsc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float)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begin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declare flag int default 0;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declare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stuno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char(8); 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declare c float default 0.0;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declare n int default 0;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declare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sumsc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float default 0.0;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declare 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stuscore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cursor for  select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sno,score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from sct.sc where 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cno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classno</a:t>
            </a: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declare continue handler for not found  set flag=1;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8983BB-8923-1513-D4CA-1243DFC6B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091"/>
            <a:ext cx="10515600" cy="6400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set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sumsc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=0.0;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select 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count_course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classno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 into n;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select n;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open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stuscore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REPEAT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FETCH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stuscore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INTO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stuno,c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IF NOT flag THEN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Select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stuno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, c;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set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sumsc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sumsc+c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END IF;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UNTIL flag END REPEAT;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sumsc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set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avgsc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sumsc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/n;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close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stuscore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delimiter 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call sct.avg_course1('001',@avgsc);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select @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avgsc</a:t>
            </a:r>
            <a:r>
              <a:rPr lang="en-US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en-US" sz="2800" dirty="0"/>
          </a:p>
          <a:p>
            <a:pPr marL="0" indent="0" algn="just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97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3A1BE52-17AE-E095-95FF-D19B07899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9268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DA1A24E-F50D-2C33-F967-F8A0D8BF8C8B}"/>
              </a:ext>
            </a:extLst>
          </p:cNvPr>
          <p:cNvSpPr txBox="1"/>
          <p:nvPr/>
        </p:nvSpPr>
        <p:spPr>
          <a:xfrm>
            <a:off x="6322423" y="348343"/>
            <a:ext cx="52338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系（</a:t>
            </a:r>
            <a:r>
              <a:rPr lang="zh-CN" altLang="en-US" u="sng" dirty="0"/>
              <a:t>系编号</a:t>
            </a:r>
            <a:r>
              <a:rPr lang="zh-CN" altLang="en-US" dirty="0"/>
              <a:t>，系名，学校名）</a:t>
            </a:r>
            <a:endParaRPr lang="en-US" altLang="zh-CN" dirty="0"/>
          </a:p>
          <a:p>
            <a:r>
              <a:rPr lang="zh-CN" altLang="en-US" dirty="0"/>
              <a:t>班级（</a:t>
            </a:r>
            <a:r>
              <a:rPr lang="zh-CN" altLang="en-US" u="sng" dirty="0"/>
              <a:t>班级编号</a:t>
            </a:r>
            <a:r>
              <a:rPr lang="zh-CN" altLang="en-US" dirty="0"/>
              <a:t>，班级名，系编号）</a:t>
            </a:r>
            <a:endParaRPr lang="en-US" altLang="zh-CN" dirty="0"/>
          </a:p>
          <a:p>
            <a:r>
              <a:rPr lang="zh-CN" altLang="en-US" dirty="0"/>
              <a:t>教研室（</a:t>
            </a:r>
            <a:r>
              <a:rPr lang="zh-CN" altLang="en-US" u="sng" dirty="0"/>
              <a:t>教研室编号</a:t>
            </a:r>
            <a:r>
              <a:rPr lang="zh-CN" altLang="en-US" dirty="0"/>
              <a:t>，教研室名，系编号）</a:t>
            </a:r>
            <a:endParaRPr lang="en-US" altLang="zh-CN" dirty="0"/>
          </a:p>
          <a:p>
            <a:r>
              <a:rPr lang="zh-CN" altLang="en-US" dirty="0"/>
              <a:t>学生（</a:t>
            </a:r>
            <a:r>
              <a:rPr lang="zh-CN" altLang="en-US" u="sng" dirty="0"/>
              <a:t>学号</a:t>
            </a:r>
            <a:r>
              <a:rPr lang="zh-CN" altLang="en-US" dirty="0"/>
              <a:t>，姓名，学历，班级编号，导师职工号）</a:t>
            </a:r>
            <a:endParaRPr lang="en-US" altLang="zh-CN" dirty="0"/>
          </a:p>
          <a:p>
            <a:r>
              <a:rPr lang="zh-CN" altLang="en-US" dirty="0"/>
              <a:t>课程（</a:t>
            </a:r>
            <a:r>
              <a:rPr lang="zh-CN" altLang="en-US" u="sng" dirty="0"/>
              <a:t>课程编号</a:t>
            </a:r>
            <a:r>
              <a:rPr lang="zh-CN" altLang="en-US" dirty="0"/>
              <a:t>，课程名）</a:t>
            </a:r>
            <a:endParaRPr lang="en-US" altLang="zh-CN" dirty="0"/>
          </a:p>
          <a:p>
            <a:r>
              <a:rPr lang="zh-CN" altLang="en-US" dirty="0"/>
              <a:t>教师（</a:t>
            </a:r>
            <a:r>
              <a:rPr lang="zh-CN" altLang="en-US" u="sng" dirty="0"/>
              <a:t>职工号</a:t>
            </a:r>
            <a:r>
              <a:rPr lang="zh-CN" altLang="en-US" dirty="0"/>
              <a:t>，姓名，职称，教研室编号）</a:t>
            </a:r>
            <a:endParaRPr lang="en-US" altLang="zh-CN" dirty="0"/>
          </a:p>
          <a:p>
            <a:r>
              <a:rPr lang="zh-CN" altLang="en-US" dirty="0"/>
              <a:t>选课（</a:t>
            </a:r>
            <a:r>
              <a:rPr lang="zh-CN" altLang="en-US" u="sng" dirty="0"/>
              <a:t>学号，课程编号</a:t>
            </a:r>
            <a:r>
              <a:rPr lang="zh-CN" altLang="en-US" dirty="0"/>
              <a:t>，成绩）</a:t>
            </a:r>
          </a:p>
        </p:txBody>
      </p:sp>
    </p:spTree>
    <p:extLst>
      <p:ext uri="{BB962C8B-B14F-4D97-AF65-F5344CB8AC3E}">
        <p14:creationId xmlns:p14="http://schemas.microsoft.com/office/powerpoint/2010/main" val="305046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CA89F52-251F-B732-30A3-62F7A0EA9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72"/>
            <a:ext cx="7685188" cy="52230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DE7D38B-6951-F89D-5110-E8A64A3A16B6}"/>
              </a:ext>
            </a:extLst>
          </p:cNvPr>
          <p:cNvSpPr txBox="1"/>
          <p:nvPr/>
        </p:nvSpPr>
        <p:spPr>
          <a:xfrm>
            <a:off x="7750630" y="365760"/>
            <a:ext cx="41278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产品（</a:t>
            </a:r>
            <a:r>
              <a:rPr lang="zh-CN" altLang="en-US" u="sng" dirty="0"/>
              <a:t>产品号</a:t>
            </a:r>
            <a:r>
              <a:rPr lang="zh-CN" altLang="en-US" dirty="0"/>
              <a:t>，产品名，仓库号）</a:t>
            </a:r>
            <a:endParaRPr lang="en-US" altLang="zh-CN" dirty="0"/>
          </a:p>
          <a:p>
            <a:r>
              <a:rPr lang="zh-CN" altLang="en-US" dirty="0"/>
              <a:t>零件（</a:t>
            </a:r>
            <a:r>
              <a:rPr lang="zh-CN" altLang="en-US" u="sng" dirty="0"/>
              <a:t>零件号</a:t>
            </a:r>
            <a:r>
              <a:rPr lang="zh-CN" altLang="en-US" dirty="0"/>
              <a:t>，零件名）</a:t>
            </a:r>
            <a:endParaRPr lang="en-US" altLang="zh-CN" dirty="0"/>
          </a:p>
          <a:p>
            <a:r>
              <a:rPr lang="zh-CN" altLang="en-US" dirty="0"/>
              <a:t>原材料（</a:t>
            </a:r>
            <a:r>
              <a:rPr lang="zh-CN" altLang="en-US" u="sng" dirty="0"/>
              <a:t>原材料号</a:t>
            </a:r>
            <a:r>
              <a:rPr lang="zh-CN" altLang="en-US" dirty="0"/>
              <a:t>，原材料名，类别，仓库号，存放量）</a:t>
            </a:r>
            <a:endParaRPr lang="en-US" altLang="zh-CN" dirty="0"/>
          </a:p>
          <a:p>
            <a:r>
              <a:rPr lang="zh-CN" altLang="en-US" dirty="0"/>
              <a:t>仓库（</a:t>
            </a:r>
            <a:r>
              <a:rPr lang="zh-CN" altLang="en-US" u="sng" dirty="0"/>
              <a:t>仓库号</a:t>
            </a:r>
            <a:r>
              <a:rPr lang="zh-CN" altLang="en-US" dirty="0"/>
              <a:t>，仓库名）</a:t>
            </a:r>
            <a:endParaRPr lang="en-US" altLang="zh-CN" dirty="0"/>
          </a:p>
          <a:p>
            <a:r>
              <a:rPr lang="zh-CN" altLang="en-US" dirty="0"/>
              <a:t>产品组成（</a:t>
            </a:r>
            <a:r>
              <a:rPr lang="zh-CN" altLang="en-US" u="sng" dirty="0"/>
              <a:t>产品号，零件号</a:t>
            </a:r>
            <a:r>
              <a:rPr lang="zh-CN" altLang="en-US" dirty="0"/>
              <a:t>，使用零件数量）</a:t>
            </a:r>
            <a:endParaRPr lang="en-US" altLang="zh-CN" dirty="0"/>
          </a:p>
          <a:p>
            <a:r>
              <a:rPr lang="zh-CN" altLang="en-US" dirty="0"/>
              <a:t>零件制造（</a:t>
            </a:r>
            <a:r>
              <a:rPr lang="zh-CN" altLang="en-US" u="sng" dirty="0"/>
              <a:t>零件号，原材料号</a:t>
            </a:r>
            <a:r>
              <a:rPr lang="zh-CN" altLang="en-US" dirty="0"/>
              <a:t>，使用原材料量）</a:t>
            </a:r>
            <a:endParaRPr lang="en-US" altLang="zh-CN" dirty="0"/>
          </a:p>
          <a:p>
            <a:r>
              <a:rPr lang="zh-CN" altLang="en-US" dirty="0"/>
              <a:t>零件存储（</a:t>
            </a:r>
            <a:r>
              <a:rPr lang="zh-CN" altLang="en-US" u="sng" dirty="0"/>
              <a:t>零件号，仓库号</a:t>
            </a:r>
            <a:r>
              <a:rPr lang="zh-CN" altLang="en-US" dirty="0"/>
              <a:t>，存储量）</a:t>
            </a:r>
          </a:p>
        </p:txBody>
      </p:sp>
    </p:spTree>
    <p:extLst>
      <p:ext uri="{BB962C8B-B14F-4D97-AF65-F5344CB8AC3E}">
        <p14:creationId xmlns:p14="http://schemas.microsoft.com/office/powerpoint/2010/main" val="183951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CD9A1-6191-97EC-C506-FCAF5722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B6595-A8CD-ADAD-F890-CB0D5358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0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463</Words>
  <Application>Microsoft Office PowerPoint</Application>
  <PresentationFormat>宽屏</PresentationFormat>
  <Paragraphs>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Office 主题​​</vt:lpstr>
      <vt:lpstr>存储过程（函数）及游标作业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 xz</dc:creator>
  <cp:lastModifiedBy>zhu xz</cp:lastModifiedBy>
  <cp:revision>3</cp:revision>
  <dcterms:created xsi:type="dcterms:W3CDTF">2022-12-13T05:10:51Z</dcterms:created>
  <dcterms:modified xsi:type="dcterms:W3CDTF">2022-12-13T05:40:44Z</dcterms:modified>
</cp:coreProperties>
</file>