
<file path=[Content_Types].xml><?xml version="1.0" encoding="utf-8"?>
<Types xmlns="http://schemas.openxmlformats.org/package/2006/content-types">
  <Default Extension="bin" ContentType="application/vnd.openxmlformats-officedocument.oleObject"/>
  <Default Extension="jpg" ContentType="image/jp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9" r:id="rId1"/>
  </p:sldMasterIdLst>
  <p:notesMasterIdLst>
    <p:notesMasterId r:id="rId78"/>
  </p:notesMasterIdLst>
  <p:handoutMasterIdLst>
    <p:handoutMasterId r:id="rId79"/>
  </p:handoutMasterIdLst>
  <p:sldIdLst>
    <p:sldId id="809" r:id="rId2"/>
    <p:sldId id="727" r:id="rId3"/>
    <p:sldId id="729" r:id="rId4"/>
    <p:sldId id="730" r:id="rId5"/>
    <p:sldId id="731" r:id="rId6"/>
    <p:sldId id="732" r:id="rId7"/>
    <p:sldId id="734" r:id="rId8"/>
    <p:sldId id="735" r:id="rId9"/>
    <p:sldId id="736" r:id="rId10"/>
    <p:sldId id="737" r:id="rId11"/>
    <p:sldId id="738" r:id="rId12"/>
    <p:sldId id="739" r:id="rId13"/>
    <p:sldId id="740" r:id="rId14"/>
    <p:sldId id="741" r:id="rId15"/>
    <p:sldId id="742" r:id="rId16"/>
    <p:sldId id="743" r:id="rId17"/>
    <p:sldId id="744" r:id="rId18"/>
    <p:sldId id="745" r:id="rId19"/>
    <p:sldId id="746" r:id="rId20"/>
    <p:sldId id="747" r:id="rId21"/>
    <p:sldId id="748" r:id="rId22"/>
    <p:sldId id="749" r:id="rId23"/>
    <p:sldId id="750" r:id="rId24"/>
    <p:sldId id="751" r:id="rId25"/>
    <p:sldId id="752" r:id="rId26"/>
    <p:sldId id="753" r:id="rId27"/>
    <p:sldId id="754" r:id="rId28"/>
    <p:sldId id="755" r:id="rId29"/>
    <p:sldId id="756" r:id="rId30"/>
    <p:sldId id="757" r:id="rId31"/>
    <p:sldId id="758" r:id="rId32"/>
    <p:sldId id="760" r:id="rId33"/>
    <p:sldId id="761" r:id="rId34"/>
    <p:sldId id="762" r:id="rId35"/>
    <p:sldId id="763" r:id="rId36"/>
    <p:sldId id="765" r:id="rId37"/>
    <p:sldId id="766" r:id="rId38"/>
    <p:sldId id="767" r:id="rId39"/>
    <p:sldId id="768" r:id="rId40"/>
    <p:sldId id="769" r:id="rId41"/>
    <p:sldId id="770" r:id="rId42"/>
    <p:sldId id="771" r:id="rId43"/>
    <p:sldId id="772" r:id="rId44"/>
    <p:sldId id="773" r:id="rId45"/>
    <p:sldId id="774" r:id="rId46"/>
    <p:sldId id="775" r:id="rId47"/>
    <p:sldId id="776" r:id="rId48"/>
    <p:sldId id="777" r:id="rId49"/>
    <p:sldId id="778" r:id="rId50"/>
    <p:sldId id="779" r:id="rId51"/>
    <p:sldId id="780" r:id="rId52"/>
    <p:sldId id="782" r:id="rId53"/>
    <p:sldId id="783" r:id="rId54"/>
    <p:sldId id="784" r:id="rId55"/>
    <p:sldId id="785" r:id="rId56"/>
    <p:sldId id="786" r:id="rId57"/>
    <p:sldId id="787" r:id="rId58"/>
    <p:sldId id="788" r:id="rId59"/>
    <p:sldId id="790" r:id="rId60"/>
    <p:sldId id="791" r:id="rId61"/>
    <p:sldId id="792" r:id="rId62"/>
    <p:sldId id="793" r:id="rId63"/>
    <p:sldId id="794" r:id="rId64"/>
    <p:sldId id="795" r:id="rId65"/>
    <p:sldId id="796" r:id="rId66"/>
    <p:sldId id="797" r:id="rId67"/>
    <p:sldId id="798" r:id="rId68"/>
    <p:sldId id="799" r:id="rId69"/>
    <p:sldId id="800" r:id="rId70"/>
    <p:sldId id="801" r:id="rId71"/>
    <p:sldId id="802" r:id="rId72"/>
    <p:sldId id="803" r:id="rId73"/>
    <p:sldId id="804" r:id="rId74"/>
    <p:sldId id="806" r:id="rId75"/>
    <p:sldId id="807" r:id="rId76"/>
    <p:sldId id="808" r:id="rId77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  <a:srgbClr val="FF0000"/>
    <a:srgbClr val="000000"/>
    <a:srgbClr val="FFFFFF"/>
    <a:srgbClr val="E02920"/>
    <a:srgbClr val="400800"/>
    <a:srgbClr val="79710F"/>
    <a:srgbClr val="8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164" autoAdjust="0"/>
    <p:restoredTop sz="92494" autoAdjust="0"/>
  </p:normalViewPr>
  <p:slideViewPr>
    <p:cSldViewPr>
      <p:cViewPr varScale="1">
        <p:scale>
          <a:sx n="151" d="100"/>
          <a:sy n="151" d="100"/>
        </p:scale>
        <p:origin x="1972" y="8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24864"/>
    </p:cViewPr>
  </p:sorterViewPr>
  <p:notesViewPr>
    <p:cSldViewPr>
      <p:cViewPr varScale="1">
        <p:scale>
          <a:sx n="43" d="100"/>
          <a:sy n="43" d="100"/>
        </p:scale>
        <p:origin x="-1476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notesMaster" Target="notesMasters/notesMaster1.xml"/><Relationship Id="rId8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0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20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20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20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2C36FCA9-814A-4155-8BE1-ED982AF6595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183283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48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60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460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60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3C1A3239-D419-4829-A7C8-D4C84D300C6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0256617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693BC99F-3134-433E-99E0-D9FE047A0D83}" type="slidenum">
              <a:rPr lang="en-US" altLang="zh-CN" sz="1200"/>
              <a:pPr/>
              <a:t>1</a:t>
            </a:fld>
            <a:endParaRPr lang="en-US" altLang="zh-CN" sz="1200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0183604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C1A3239-D419-4829-A7C8-D4C84D300C60}" type="slidenum">
              <a:rPr lang="en-US" altLang="zh-CN" smtClean="0"/>
              <a:pPr>
                <a:defRPr/>
              </a:pPr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937829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C1A3239-D419-4829-A7C8-D4C84D300C60}" type="slidenum">
              <a:rPr lang="en-US" altLang="zh-CN" smtClean="0"/>
              <a:pPr>
                <a:defRPr/>
              </a:pPr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221487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C1A3239-D419-4829-A7C8-D4C84D300C60}" type="slidenum">
              <a:rPr lang="en-US" altLang="zh-CN" smtClean="0"/>
              <a:pPr>
                <a:defRPr/>
              </a:pPr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917072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C1A3239-D419-4829-A7C8-D4C84D300C60}" type="slidenum">
              <a:rPr lang="en-US" altLang="zh-CN" smtClean="0"/>
              <a:pPr>
                <a:defRPr/>
              </a:pPr>
              <a:t>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801544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C1A3239-D419-4829-A7C8-D4C84D300C60}" type="slidenum">
              <a:rPr lang="en-US" altLang="zh-CN" smtClean="0"/>
              <a:pPr>
                <a:defRPr/>
              </a:pPr>
              <a:t>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6839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C1A3239-D419-4829-A7C8-D4C84D300C60}" type="slidenum">
              <a:rPr lang="en-US" altLang="zh-CN" smtClean="0"/>
              <a:pPr>
                <a:defRPr/>
              </a:pPr>
              <a:t>25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06520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C1A3239-D419-4829-A7C8-D4C84D300C60}" type="slidenum">
              <a:rPr lang="en-US" altLang="zh-CN" smtClean="0"/>
              <a:pPr>
                <a:defRPr/>
              </a:pPr>
              <a:t>32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016486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C1A3239-D419-4829-A7C8-D4C84D300C60}" type="slidenum">
              <a:rPr lang="en-US" altLang="zh-CN" smtClean="0"/>
              <a:pPr>
                <a:defRPr/>
              </a:pPr>
              <a:t>35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801257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C1A3239-D419-4829-A7C8-D4C84D300C60}" type="slidenum">
              <a:rPr lang="en-US" altLang="zh-CN" smtClean="0"/>
              <a:pPr>
                <a:defRPr/>
              </a:pPr>
              <a:t>36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818662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C1A3239-D419-4829-A7C8-D4C84D300C60}" type="slidenum">
              <a:rPr lang="en-US" altLang="zh-CN" smtClean="0"/>
              <a:pPr>
                <a:defRPr/>
              </a:pPr>
              <a:t>44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877546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C1A3239-D419-4829-A7C8-D4C84D300C60}" type="slidenum">
              <a:rPr lang="en-US" altLang="zh-CN" smtClean="0"/>
              <a:pPr>
                <a:defRPr/>
              </a:pPr>
              <a:t>49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271119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C1A3239-D419-4829-A7C8-D4C84D300C60}" type="slidenum">
              <a:rPr lang="en-US" altLang="zh-CN" smtClean="0"/>
              <a:pPr>
                <a:defRPr/>
              </a:pPr>
              <a:t>50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106925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C1A3239-D419-4829-A7C8-D4C84D300C60}" type="slidenum">
              <a:rPr lang="en-US" altLang="zh-CN" smtClean="0"/>
              <a:pPr>
                <a:defRPr/>
              </a:pPr>
              <a:t>51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1465819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错误，结果是空值，因为记录满足即</a:t>
            </a:r>
            <a:r>
              <a:rPr lang="en-US" altLang="zh-CN" dirty="0"/>
              <a:t>C#=‘001’</a:t>
            </a:r>
            <a:r>
              <a:rPr lang="zh-CN" altLang="en-US" dirty="0"/>
              <a:t>又</a:t>
            </a:r>
            <a:r>
              <a:rPr lang="en-US" altLang="zh-CN" dirty="0"/>
              <a:t>C#=‘002’</a:t>
            </a:r>
            <a:r>
              <a:rPr lang="zh-CN" altLang="en-US" dirty="0"/>
              <a:t>是没有的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C1A3239-D419-4829-A7C8-D4C84D300C60}" type="slidenum">
              <a:rPr lang="en-US" altLang="zh-CN" smtClean="0"/>
              <a:pPr>
                <a:defRPr/>
              </a:pPr>
              <a:t>54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5458129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学习了</a:t>
            </a:r>
            <a:r>
              <a:rPr lang="en-US" altLang="zh-CN" dirty="0"/>
              <a:t>2</a:t>
            </a:r>
            <a:r>
              <a:rPr lang="zh-CN" altLang="en-US" dirty="0"/>
              <a:t>门口课，一门是</a:t>
            </a:r>
            <a:r>
              <a:rPr lang="en-US" altLang="zh-CN" dirty="0"/>
              <a:t>001</a:t>
            </a:r>
            <a:r>
              <a:rPr lang="zh-CN" altLang="en-US" dirty="0"/>
              <a:t>另一个是</a:t>
            </a:r>
            <a:r>
              <a:rPr lang="en-US" altLang="zh-CN" dirty="0"/>
              <a:t>002</a:t>
            </a:r>
          </a:p>
          <a:p>
            <a:r>
              <a:rPr lang="zh-CN" altLang="en-US" dirty="0"/>
              <a:t>错误，结果为空值，自然连接的连接条件是</a:t>
            </a:r>
            <a:r>
              <a:rPr lang="en-US" altLang="zh-CN" dirty="0"/>
              <a:t>3</a:t>
            </a:r>
            <a:r>
              <a:rPr lang="zh-CN" altLang="en-US" dirty="0"/>
              <a:t>个属性相等，结果还是保留了原来的一个学生某门课的成绩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C1A3239-D419-4829-A7C8-D4C84D300C60}" type="slidenum">
              <a:rPr lang="en-US" altLang="zh-CN" smtClean="0"/>
              <a:pPr>
                <a:defRPr/>
              </a:pPr>
              <a:t>55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3628274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答案</a:t>
            </a:r>
            <a:r>
              <a:rPr lang="en-US" altLang="zh-CN" dirty="0"/>
              <a:t>1</a:t>
            </a:r>
            <a:r>
              <a:rPr lang="zh-CN" altLang="en-US" dirty="0"/>
              <a:t>错误，一个同学选了不止一门课程（包括学了</a:t>
            </a:r>
            <a:r>
              <a:rPr lang="en-US" altLang="zh-CN" dirty="0"/>
              <a:t>002</a:t>
            </a:r>
            <a:r>
              <a:rPr lang="zh-CN" altLang="en-US" dirty="0"/>
              <a:t>的），除非他只选修</a:t>
            </a:r>
            <a:r>
              <a:rPr lang="en-US" altLang="zh-CN" dirty="0"/>
              <a:t>002</a:t>
            </a:r>
            <a:r>
              <a:rPr lang="zh-CN" altLang="en-US" dirty="0"/>
              <a:t>一门课</a:t>
            </a:r>
            <a:endParaRPr lang="en-US" altLang="zh-CN" dirty="0"/>
          </a:p>
          <a:p>
            <a:r>
              <a:rPr lang="zh-CN" altLang="en-US" dirty="0"/>
              <a:t>答案</a:t>
            </a:r>
            <a:r>
              <a:rPr lang="en-US" altLang="zh-CN" dirty="0"/>
              <a:t>2 </a:t>
            </a:r>
            <a:r>
              <a:rPr lang="zh-CN" altLang="en-US" dirty="0"/>
              <a:t>语义正确，但是差操作需要满足并相容性，</a:t>
            </a:r>
            <a:r>
              <a:rPr lang="en-US" altLang="zh-CN" dirty="0"/>
              <a:t>S</a:t>
            </a:r>
            <a:r>
              <a:rPr lang="zh-CN" altLang="en-US" dirty="0"/>
              <a:t>与</a:t>
            </a:r>
            <a:r>
              <a:rPr lang="en-US" altLang="zh-CN" dirty="0"/>
              <a:t>S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∞SC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不并相容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C1A3239-D419-4829-A7C8-D4C84D300C60}" type="slidenum">
              <a:rPr lang="en-US" altLang="zh-CN" smtClean="0"/>
              <a:pPr>
                <a:defRPr/>
              </a:pPr>
              <a:t>56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4173774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C1A3239-D419-4829-A7C8-D4C84D300C60}" type="slidenum">
              <a:rPr lang="en-US" altLang="zh-CN" smtClean="0"/>
              <a:pPr>
                <a:defRPr/>
              </a:pPr>
              <a:t>57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5735533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理论上是不一样的，但这个示例较特殊，</a:t>
            </a:r>
            <a:r>
              <a:rPr lang="en-US" altLang="zh-CN" dirty="0"/>
              <a:t>S#,C#</a:t>
            </a:r>
            <a:r>
              <a:rPr lang="zh-CN" altLang="en-US" dirty="0"/>
              <a:t>是</a:t>
            </a:r>
            <a:r>
              <a:rPr lang="en-US" altLang="zh-CN" dirty="0"/>
              <a:t>SC</a:t>
            </a:r>
            <a:r>
              <a:rPr lang="zh-CN" altLang="en-US" dirty="0"/>
              <a:t>的候选码，结果一样</a:t>
            </a:r>
            <a:endParaRPr lang="en-US" altLang="zh-CN" dirty="0"/>
          </a:p>
          <a:p>
            <a:r>
              <a:rPr lang="zh-CN" altLang="en-US" dirty="0"/>
              <a:t>如果</a:t>
            </a:r>
            <a:r>
              <a:rPr lang="en-US" altLang="zh-CN" dirty="0"/>
              <a:t>S#,C#</a:t>
            </a:r>
            <a:r>
              <a:rPr lang="zh-CN" altLang="en-US" dirty="0"/>
              <a:t>不是</a:t>
            </a:r>
            <a:r>
              <a:rPr lang="en-US" altLang="zh-CN" dirty="0"/>
              <a:t>SC</a:t>
            </a:r>
            <a:r>
              <a:rPr lang="zh-CN" altLang="en-US" dirty="0"/>
              <a:t>的候选码，结果还是一样吗？思考。。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C1A3239-D419-4829-A7C8-D4C84D300C60}" type="slidenum">
              <a:rPr lang="en-US" altLang="zh-CN" smtClean="0"/>
              <a:pPr>
                <a:defRPr/>
              </a:pPr>
              <a:t>65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4303010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003</a:t>
            </a:r>
            <a:r>
              <a:rPr lang="zh-CN" altLang="en-US" dirty="0"/>
              <a:t>教师未上课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C1A3239-D419-4829-A7C8-D4C84D300C60}" type="slidenum">
              <a:rPr lang="en-US" altLang="zh-CN" smtClean="0"/>
              <a:pPr>
                <a:defRPr/>
              </a:pPr>
              <a:t>66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516024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1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1.xml"/><Relationship Id="rId1" Type="http://schemas.openxmlformats.org/officeDocument/2006/relationships/vmlDrawing" Target="../drawings/vmlDrawing11.v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1.xml"/><Relationship Id="rId1" Type="http://schemas.openxmlformats.org/officeDocument/2006/relationships/vmlDrawing" Target="../drawings/vmlDrawing12.v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Master" Target="../slideMasters/slideMaster1.xml"/><Relationship Id="rId1" Type="http://schemas.openxmlformats.org/officeDocument/2006/relationships/vmlDrawing" Target="../drawings/vmlDrawing13.v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/>
          <p:cNvSpPr>
            <a:spLocks/>
          </p:cNvSpPr>
          <p:nvPr/>
        </p:nvSpPr>
        <p:spPr bwMode="gray">
          <a:xfrm>
            <a:off x="-9525" y="1447800"/>
            <a:ext cx="9164638" cy="3832225"/>
          </a:xfrm>
          <a:custGeom>
            <a:avLst/>
            <a:gdLst>
              <a:gd name="T0" fmla="*/ 2147483646 w 5773"/>
              <a:gd name="T1" fmla="*/ 2147483646 h 2414"/>
              <a:gd name="T2" fmla="*/ 2147483646 w 5773"/>
              <a:gd name="T3" fmla="*/ 2147483646 h 2414"/>
              <a:gd name="T4" fmla="*/ 2147483646 w 5773"/>
              <a:gd name="T5" fmla="*/ 2147483646 h 2414"/>
              <a:gd name="T6" fmla="*/ 2147483646 w 5773"/>
              <a:gd name="T7" fmla="*/ 2147483646 h 2414"/>
              <a:gd name="T8" fmla="*/ 2147483646 w 5773"/>
              <a:gd name="T9" fmla="*/ 2147483646 h 2414"/>
              <a:gd name="T10" fmla="*/ 2147483646 w 5773"/>
              <a:gd name="T11" fmla="*/ 2147483646 h 2414"/>
              <a:gd name="T12" fmla="*/ 2147483646 w 5773"/>
              <a:gd name="T13" fmla="*/ 2147483646 h 2414"/>
              <a:gd name="T14" fmla="*/ 2147483646 w 5773"/>
              <a:gd name="T15" fmla="*/ 2147483646 h 2414"/>
              <a:gd name="T16" fmla="*/ 2147483646 w 5773"/>
              <a:gd name="T17" fmla="*/ 2147483646 h 241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5773" h="2414">
                <a:moveTo>
                  <a:pt x="12" y="124"/>
                </a:moveTo>
                <a:cubicBezTo>
                  <a:pt x="150" y="76"/>
                  <a:pt x="581" y="0"/>
                  <a:pt x="1381" y="12"/>
                </a:cubicBezTo>
                <a:cubicBezTo>
                  <a:pt x="2181" y="23"/>
                  <a:pt x="3370" y="437"/>
                  <a:pt x="4064" y="581"/>
                </a:cubicBezTo>
                <a:cubicBezTo>
                  <a:pt x="4758" y="725"/>
                  <a:pt x="5635" y="219"/>
                  <a:pt x="5773" y="118"/>
                </a:cubicBezTo>
                <a:lnTo>
                  <a:pt x="5766" y="2151"/>
                </a:lnTo>
                <a:cubicBezTo>
                  <a:pt x="4994" y="2407"/>
                  <a:pt x="4326" y="2311"/>
                  <a:pt x="3966" y="2263"/>
                </a:cubicBezTo>
                <a:cubicBezTo>
                  <a:pt x="3606" y="2215"/>
                  <a:pt x="2715" y="1873"/>
                  <a:pt x="1963" y="1897"/>
                </a:cubicBezTo>
                <a:cubicBezTo>
                  <a:pt x="1305" y="1893"/>
                  <a:pt x="0" y="2402"/>
                  <a:pt x="6" y="2407"/>
                </a:cubicBezTo>
                <a:cubicBezTo>
                  <a:pt x="12" y="2414"/>
                  <a:pt x="12" y="568"/>
                  <a:pt x="12" y="124"/>
                </a:cubicBezTo>
                <a:close/>
              </a:path>
            </a:pathLst>
          </a:custGeom>
          <a:solidFill>
            <a:schemeClr val="accent1">
              <a:alpha val="41176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" name="Freeform 3"/>
          <p:cNvSpPr>
            <a:spLocks/>
          </p:cNvSpPr>
          <p:nvPr/>
        </p:nvSpPr>
        <p:spPr bwMode="gray">
          <a:xfrm>
            <a:off x="-9525" y="1730375"/>
            <a:ext cx="9150350" cy="3265488"/>
          </a:xfrm>
          <a:custGeom>
            <a:avLst/>
            <a:gdLst>
              <a:gd name="T0" fmla="*/ 2147483646 w 5764"/>
              <a:gd name="T1" fmla="*/ 2147483646 h 2057"/>
              <a:gd name="T2" fmla="*/ 2147483646 w 5764"/>
              <a:gd name="T3" fmla="*/ 2147483646 h 2057"/>
              <a:gd name="T4" fmla="*/ 2147483646 w 5764"/>
              <a:gd name="T5" fmla="*/ 2147483646 h 2057"/>
              <a:gd name="T6" fmla="*/ 2147483646 w 5764"/>
              <a:gd name="T7" fmla="*/ 2147483646 h 2057"/>
              <a:gd name="T8" fmla="*/ 2147483646 w 5764"/>
              <a:gd name="T9" fmla="*/ 2147483646 h 2057"/>
              <a:gd name="T10" fmla="*/ 2147483646 w 5764"/>
              <a:gd name="T11" fmla="*/ 2147483646 h 2057"/>
              <a:gd name="T12" fmla="*/ 2147483646 w 5764"/>
              <a:gd name="T13" fmla="*/ 2147483646 h 2057"/>
              <a:gd name="T14" fmla="*/ 2147483646 w 5764"/>
              <a:gd name="T15" fmla="*/ 2147483646 h 2057"/>
              <a:gd name="T16" fmla="*/ 2147483646 w 5764"/>
              <a:gd name="T17" fmla="*/ 2147483646 h 2057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5764" h="2057">
                <a:moveTo>
                  <a:pt x="6" y="272"/>
                </a:moveTo>
                <a:cubicBezTo>
                  <a:pt x="144" y="233"/>
                  <a:pt x="656" y="0"/>
                  <a:pt x="1453" y="10"/>
                </a:cubicBezTo>
                <a:cubicBezTo>
                  <a:pt x="2250" y="20"/>
                  <a:pt x="3475" y="403"/>
                  <a:pt x="4182" y="482"/>
                </a:cubicBezTo>
                <a:cubicBezTo>
                  <a:pt x="4890" y="561"/>
                  <a:pt x="5626" y="237"/>
                  <a:pt x="5764" y="154"/>
                </a:cubicBezTo>
                <a:lnTo>
                  <a:pt x="5764" y="1806"/>
                </a:lnTo>
                <a:cubicBezTo>
                  <a:pt x="4919" y="2052"/>
                  <a:pt x="4485" y="2057"/>
                  <a:pt x="4005" y="1994"/>
                </a:cubicBezTo>
                <a:cubicBezTo>
                  <a:pt x="3526" y="1929"/>
                  <a:pt x="2640" y="1502"/>
                  <a:pt x="1891" y="1522"/>
                </a:cubicBezTo>
                <a:cubicBezTo>
                  <a:pt x="1234" y="1519"/>
                  <a:pt x="0" y="1962"/>
                  <a:pt x="6" y="1967"/>
                </a:cubicBezTo>
                <a:cubicBezTo>
                  <a:pt x="12" y="1972"/>
                  <a:pt x="6" y="641"/>
                  <a:pt x="6" y="27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6" name="Group 4"/>
          <p:cNvGrpSpPr>
            <a:grpSpLocks/>
          </p:cNvGrpSpPr>
          <p:nvPr/>
        </p:nvGrpSpPr>
        <p:grpSpPr bwMode="auto">
          <a:xfrm>
            <a:off x="7086600" y="1947863"/>
            <a:ext cx="533400" cy="533400"/>
            <a:chOff x="4752" y="1200"/>
            <a:chExt cx="288" cy="288"/>
          </a:xfrm>
        </p:grpSpPr>
        <p:sp>
          <p:nvSpPr>
            <p:cNvPr id="7" name="Oval 5"/>
            <p:cNvSpPr>
              <a:spLocks noChangeArrowheads="1"/>
            </p:cNvSpPr>
            <p:nvPr userDrawn="1"/>
          </p:nvSpPr>
          <p:spPr bwMode="gray">
            <a:xfrm>
              <a:off x="4752" y="1200"/>
              <a:ext cx="288" cy="288"/>
            </a:xfrm>
            <a:prstGeom prst="ellipse">
              <a:avLst/>
            </a:prstGeom>
            <a:gradFill rotWithShape="1">
              <a:gsLst>
                <a:gs pos="0">
                  <a:schemeClr val="tx2">
                    <a:gamma/>
                    <a:tint val="25490"/>
                    <a:invGamma/>
                  </a:schemeClr>
                </a:gs>
                <a:gs pos="100000">
                  <a:schemeClr val="tx2">
                    <a:alpha val="3100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8" name="Oval 6"/>
            <p:cNvSpPr>
              <a:spLocks noChangeArrowheads="1"/>
            </p:cNvSpPr>
            <p:nvPr userDrawn="1"/>
          </p:nvSpPr>
          <p:spPr bwMode="gray">
            <a:xfrm>
              <a:off x="4752" y="1200"/>
              <a:ext cx="192" cy="192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/>
            </a:p>
          </p:txBody>
        </p:sp>
      </p:grpSp>
      <p:grpSp>
        <p:nvGrpSpPr>
          <p:cNvPr id="9" name="Group 7"/>
          <p:cNvGrpSpPr>
            <a:grpSpLocks/>
          </p:cNvGrpSpPr>
          <p:nvPr/>
        </p:nvGrpSpPr>
        <p:grpSpPr bwMode="auto">
          <a:xfrm>
            <a:off x="7620000" y="1371600"/>
            <a:ext cx="914400" cy="914400"/>
            <a:chOff x="4992" y="816"/>
            <a:chExt cx="576" cy="576"/>
          </a:xfrm>
        </p:grpSpPr>
        <p:sp>
          <p:nvSpPr>
            <p:cNvPr id="10" name="Oval 8"/>
            <p:cNvSpPr>
              <a:spLocks noChangeArrowheads="1"/>
            </p:cNvSpPr>
            <p:nvPr userDrawn="1"/>
          </p:nvSpPr>
          <p:spPr bwMode="gray">
            <a:xfrm>
              <a:off x="4992" y="816"/>
              <a:ext cx="576" cy="576"/>
            </a:xfrm>
            <a:prstGeom prst="ellipse">
              <a:avLst/>
            </a:prstGeom>
            <a:solidFill>
              <a:schemeClr val="accent1">
                <a:alpha val="5294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1" name="Oval 9"/>
            <p:cNvSpPr>
              <a:spLocks noChangeArrowheads="1"/>
            </p:cNvSpPr>
            <p:nvPr userDrawn="1"/>
          </p:nvSpPr>
          <p:spPr bwMode="gray">
            <a:xfrm>
              <a:off x="4992" y="912"/>
              <a:ext cx="480" cy="384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/>
            </a:p>
          </p:txBody>
        </p:sp>
      </p:grpSp>
      <p:grpSp>
        <p:nvGrpSpPr>
          <p:cNvPr id="12" name="Group 10"/>
          <p:cNvGrpSpPr>
            <a:grpSpLocks/>
          </p:cNvGrpSpPr>
          <p:nvPr/>
        </p:nvGrpSpPr>
        <p:grpSpPr bwMode="auto">
          <a:xfrm>
            <a:off x="304800" y="3429000"/>
            <a:ext cx="1295400" cy="1371600"/>
            <a:chOff x="4992" y="816"/>
            <a:chExt cx="576" cy="576"/>
          </a:xfrm>
        </p:grpSpPr>
        <p:sp>
          <p:nvSpPr>
            <p:cNvPr id="13" name="Oval 11"/>
            <p:cNvSpPr>
              <a:spLocks noChangeArrowheads="1"/>
            </p:cNvSpPr>
            <p:nvPr userDrawn="1"/>
          </p:nvSpPr>
          <p:spPr bwMode="gray">
            <a:xfrm>
              <a:off x="4992" y="816"/>
              <a:ext cx="576" cy="576"/>
            </a:xfrm>
            <a:prstGeom prst="ellipse">
              <a:avLst/>
            </a:prstGeom>
            <a:solidFill>
              <a:schemeClr val="tx2">
                <a:alpha val="5294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4" name="Oval 12"/>
            <p:cNvSpPr>
              <a:spLocks noChangeArrowheads="1"/>
            </p:cNvSpPr>
            <p:nvPr userDrawn="1"/>
          </p:nvSpPr>
          <p:spPr bwMode="gray">
            <a:xfrm>
              <a:off x="4992" y="912"/>
              <a:ext cx="480" cy="384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/>
            </a:p>
          </p:txBody>
        </p:sp>
      </p:grpSp>
      <p:pic>
        <p:nvPicPr>
          <p:cNvPr id="15" name="Picture 17" descr="zjnu校标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260350"/>
            <a:ext cx="863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8351" name="Rectangle 15"/>
          <p:cNvSpPr>
            <a:spLocks noGrp="1" noChangeArrowheads="1"/>
          </p:cNvSpPr>
          <p:nvPr>
            <p:ph type="ctrTitle"/>
          </p:nvPr>
        </p:nvSpPr>
        <p:spPr>
          <a:xfrm>
            <a:off x="1143000" y="2590800"/>
            <a:ext cx="7086600" cy="1012825"/>
          </a:xfrm>
          <a:effectLst>
            <a:outerShdw dist="53882" dir="2700000" algn="ctr" rotWithShape="0">
              <a:schemeClr val="tx1"/>
            </a:outerShdw>
          </a:effectLst>
        </p:spPr>
        <p:txBody>
          <a:bodyPr/>
          <a:lstStyle>
            <a:lvl1pPr>
              <a:defRPr sz="4800"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398352" name="Rectangle 16"/>
          <p:cNvSpPr>
            <a:spLocks noGrp="1" noChangeArrowheads="1"/>
          </p:cNvSpPr>
          <p:nvPr>
            <p:ph type="subTitle" idx="1"/>
          </p:nvPr>
        </p:nvSpPr>
        <p:spPr bwMode="white">
          <a:xfrm>
            <a:off x="1295400" y="3581400"/>
            <a:ext cx="6705600" cy="3810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000"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6" name="Rectangle 13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477000"/>
            <a:ext cx="2133600" cy="244475"/>
          </a:xfrm>
        </p:spPr>
        <p:txBody>
          <a:bodyPr/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94810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2"/>
          <p:cNvGraphicFramePr>
            <a:graphicFrameLocks noChangeAspect="1"/>
          </p:cNvGraphicFramePr>
          <p:nvPr/>
        </p:nvGraphicFramePr>
        <p:xfrm>
          <a:off x="0" y="0"/>
          <a:ext cx="9144000" cy="1200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" name="Image" r:id="rId3" imgW="9561905" imgH="1600000" progId="Photoshop.Image.6">
                  <p:embed/>
                </p:oleObj>
              </mc:Choice>
              <mc:Fallback>
                <p:oleObj name="Image" r:id="rId3" imgW="9561905" imgH="1600000" progId="Photoshop.Image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white">
                      <a:xfrm>
                        <a:off x="0" y="0"/>
                        <a:ext cx="9144000" cy="1200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Freeform 3"/>
          <p:cNvSpPr>
            <a:spLocks/>
          </p:cNvSpPr>
          <p:nvPr/>
        </p:nvSpPr>
        <p:spPr bwMode="gray">
          <a:xfrm>
            <a:off x="-11113" y="280988"/>
            <a:ext cx="9155113" cy="1620837"/>
          </a:xfrm>
          <a:custGeom>
            <a:avLst/>
            <a:gdLst>
              <a:gd name="T0" fmla="*/ 2147483646 w 5767"/>
              <a:gd name="T1" fmla="*/ 2147483646 h 1021"/>
              <a:gd name="T2" fmla="*/ 2147483646 w 5767"/>
              <a:gd name="T3" fmla="*/ 2147483646 h 1021"/>
              <a:gd name="T4" fmla="*/ 2147483646 w 5767"/>
              <a:gd name="T5" fmla="*/ 2147483646 h 1021"/>
              <a:gd name="T6" fmla="*/ 2147483646 w 5767"/>
              <a:gd name="T7" fmla="*/ 0 h 1021"/>
              <a:gd name="T8" fmla="*/ 2147483646 w 5767"/>
              <a:gd name="T9" fmla="*/ 2147483646 h 1021"/>
              <a:gd name="T10" fmla="*/ 2147483646 w 5767"/>
              <a:gd name="T11" fmla="*/ 2147483646 h 1021"/>
              <a:gd name="T12" fmla="*/ 2147483646 w 5767"/>
              <a:gd name="T13" fmla="*/ 2147483646 h 1021"/>
              <a:gd name="T14" fmla="*/ 2147483646 w 5767"/>
              <a:gd name="T15" fmla="*/ 2147483646 h 1021"/>
              <a:gd name="T16" fmla="*/ 2147483646 w 5767"/>
              <a:gd name="T17" fmla="*/ 2147483646 h 1021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5767" h="1021">
                <a:moveTo>
                  <a:pt x="6" y="109"/>
                </a:moveTo>
                <a:cubicBezTo>
                  <a:pt x="144" y="93"/>
                  <a:pt x="626" y="42"/>
                  <a:pt x="1427" y="46"/>
                </a:cubicBezTo>
                <a:cubicBezTo>
                  <a:pt x="2228" y="50"/>
                  <a:pt x="3321" y="224"/>
                  <a:pt x="4032" y="255"/>
                </a:cubicBezTo>
                <a:cubicBezTo>
                  <a:pt x="4742" y="286"/>
                  <a:pt x="5649" y="91"/>
                  <a:pt x="5767" y="0"/>
                </a:cubicBezTo>
                <a:lnTo>
                  <a:pt x="5767" y="776"/>
                </a:lnTo>
                <a:cubicBezTo>
                  <a:pt x="4948" y="879"/>
                  <a:pt x="4543" y="844"/>
                  <a:pt x="4065" y="831"/>
                </a:cubicBezTo>
                <a:cubicBezTo>
                  <a:pt x="3587" y="818"/>
                  <a:pt x="2973" y="694"/>
                  <a:pt x="1984" y="674"/>
                </a:cubicBezTo>
                <a:cubicBezTo>
                  <a:pt x="995" y="654"/>
                  <a:pt x="28" y="969"/>
                  <a:pt x="14" y="995"/>
                </a:cubicBezTo>
                <a:cubicBezTo>
                  <a:pt x="0" y="1021"/>
                  <a:pt x="6" y="255"/>
                  <a:pt x="6" y="109"/>
                </a:cubicBezTo>
                <a:close/>
              </a:path>
            </a:pathLst>
          </a:custGeom>
          <a:solidFill>
            <a:schemeClr val="accent1">
              <a:alpha val="41176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" name="Freeform 4"/>
          <p:cNvSpPr>
            <a:spLocks/>
          </p:cNvSpPr>
          <p:nvPr/>
        </p:nvSpPr>
        <p:spPr bwMode="gray">
          <a:xfrm>
            <a:off x="-20638" y="533400"/>
            <a:ext cx="9161463" cy="1006475"/>
          </a:xfrm>
          <a:custGeom>
            <a:avLst/>
            <a:gdLst>
              <a:gd name="T0" fmla="*/ 2147483646 w 5771"/>
              <a:gd name="T1" fmla="*/ 2147483646 h 634"/>
              <a:gd name="T2" fmla="*/ 2147483646 w 5771"/>
              <a:gd name="T3" fmla="*/ 2147483646 h 634"/>
              <a:gd name="T4" fmla="*/ 2147483646 w 5771"/>
              <a:gd name="T5" fmla="*/ 2147483646 h 634"/>
              <a:gd name="T6" fmla="*/ 2147483646 w 5771"/>
              <a:gd name="T7" fmla="*/ 2147483646 h 634"/>
              <a:gd name="T8" fmla="*/ 2147483646 w 5771"/>
              <a:gd name="T9" fmla="*/ 2147483646 h 634"/>
              <a:gd name="T10" fmla="*/ 2147483646 w 5771"/>
              <a:gd name="T11" fmla="*/ 2147483646 h 634"/>
              <a:gd name="T12" fmla="*/ 2147483646 w 5771"/>
              <a:gd name="T13" fmla="*/ 2147483646 h 634"/>
              <a:gd name="T14" fmla="*/ 2147483646 w 5771"/>
              <a:gd name="T15" fmla="*/ 2147483646 h 634"/>
              <a:gd name="T16" fmla="*/ 2147483646 w 5771"/>
              <a:gd name="T17" fmla="*/ 2147483646 h 63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5771" h="634">
                <a:moveTo>
                  <a:pt x="20" y="109"/>
                </a:moveTo>
                <a:cubicBezTo>
                  <a:pt x="26" y="109"/>
                  <a:pt x="645" y="0"/>
                  <a:pt x="1442" y="3"/>
                </a:cubicBezTo>
                <a:cubicBezTo>
                  <a:pt x="2239" y="6"/>
                  <a:pt x="3443" y="123"/>
                  <a:pt x="4150" y="148"/>
                </a:cubicBezTo>
                <a:cubicBezTo>
                  <a:pt x="4858" y="173"/>
                  <a:pt x="5633" y="63"/>
                  <a:pt x="5771" y="37"/>
                </a:cubicBezTo>
                <a:lnTo>
                  <a:pt x="5771" y="557"/>
                </a:lnTo>
                <a:cubicBezTo>
                  <a:pt x="4926" y="634"/>
                  <a:pt x="4422" y="612"/>
                  <a:pt x="3942" y="592"/>
                </a:cubicBezTo>
                <a:cubicBezTo>
                  <a:pt x="3463" y="572"/>
                  <a:pt x="2588" y="450"/>
                  <a:pt x="1839" y="456"/>
                </a:cubicBezTo>
                <a:cubicBezTo>
                  <a:pt x="1182" y="455"/>
                  <a:pt x="0" y="618"/>
                  <a:pt x="6" y="620"/>
                </a:cubicBezTo>
                <a:cubicBezTo>
                  <a:pt x="12" y="621"/>
                  <a:pt x="14" y="109"/>
                  <a:pt x="20" y="10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7" name="Group 5"/>
          <p:cNvGrpSpPr>
            <a:grpSpLocks/>
          </p:cNvGrpSpPr>
          <p:nvPr/>
        </p:nvGrpSpPr>
        <p:grpSpPr bwMode="auto">
          <a:xfrm>
            <a:off x="7740650" y="347663"/>
            <a:ext cx="387350" cy="366712"/>
            <a:chOff x="4752" y="1200"/>
            <a:chExt cx="288" cy="288"/>
          </a:xfrm>
        </p:grpSpPr>
        <p:sp>
          <p:nvSpPr>
            <p:cNvPr id="8" name="Oval 6"/>
            <p:cNvSpPr>
              <a:spLocks noChangeArrowheads="1"/>
            </p:cNvSpPr>
            <p:nvPr userDrawn="1"/>
          </p:nvSpPr>
          <p:spPr bwMode="gray">
            <a:xfrm>
              <a:off x="4752" y="1200"/>
              <a:ext cx="288" cy="288"/>
            </a:xfrm>
            <a:prstGeom prst="ellipse">
              <a:avLst/>
            </a:prstGeom>
            <a:gradFill rotWithShape="1">
              <a:gsLst>
                <a:gs pos="0">
                  <a:schemeClr val="tx2">
                    <a:gamma/>
                    <a:tint val="25490"/>
                    <a:invGamma/>
                  </a:schemeClr>
                </a:gs>
                <a:gs pos="100000">
                  <a:schemeClr val="tx2">
                    <a:alpha val="3100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9" name="Oval 7"/>
            <p:cNvSpPr>
              <a:spLocks noChangeArrowheads="1"/>
            </p:cNvSpPr>
            <p:nvPr userDrawn="1"/>
          </p:nvSpPr>
          <p:spPr bwMode="gray">
            <a:xfrm>
              <a:off x="4752" y="1200"/>
              <a:ext cx="192" cy="192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/>
            </a:p>
          </p:txBody>
        </p:sp>
      </p:grpSp>
      <p:grpSp>
        <p:nvGrpSpPr>
          <p:cNvPr id="10" name="Group 8"/>
          <p:cNvGrpSpPr>
            <a:grpSpLocks/>
          </p:cNvGrpSpPr>
          <p:nvPr/>
        </p:nvGrpSpPr>
        <p:grpSpPr bwMode="auto">
          <a:xfrm>
            <a:off x="8153400" y="53975"/>
            <a:ext cx="609600" cy="592138"/>
            <a:chOff x="4992" y="816"/>
            <a:chExt cx="576" cy="576"/>
          </a:xfrm>
        </p:grpSpPr>
        <p:sp>
          <p:nvSpPr>
            <p:cNvPr id="11" name="Oval 9"/>
            <p:cNvSpPr>
              <a:spLocks noChangeArrowheads="1"/>
            </p:cNvSpPr>
            <p:nvPr userDrawn="1"/>
          </p:nvSpPr>
          <p:spPr bwMode="gray">
            <a:xfrm>
              <a:off x="4992" y="816"/>
              <a:ext cx="576" cy="576"/>
            </a:xfrm>
            <a:prstGeom prst="ellipse">
              <a:avLst/>
            </a:prstGeom>
            <a:solidFill>
              <a:schemeClr val="accent1">
                <a:alpha val="5294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2" name="Oval 10"/>
            <p:cNvSpPr>
              <a:spLocks noChangeArrowheads="1"/>
            </p:cNvSpPr>
            <p:nvPr userDrawn="1"/>
          </p:nvSpPr>
          <p:spPr bwMode="gray">
            <a:xfrm>
              <a:off x="4992" y="912"/>
              <a:ext cx="480" cy="385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/>
            </a:p>
          </p:txBody>
        </p:sp>
      </p:grpSp>
      <p:grpSp>
        <p:nvGrpSpPr>
          <p:cNvPr id="13" name="Group 11"/>
          <p:cNvGrpSpPr>
            <a:grpSpLocks/>
          </p:cNvGrpSpPr>
          <p:nvPr/>
        </p:nvGrpSpPr>
        <p:grpSpPr bwMode="auto">
          <a:xfrm>
            <a:off x="171450" y="819150"/>
            <a:ext cx="720725" cy="762000"/>
            <a:chOff x="4992" y="816"/>
            <a:chExt cx="576" cy="576"/>
          </a:xfrm>
        </p:grpSpPr>
        <p:sp>
          <p:nvSpPr>
            <p:cNvPr id="14" name="Oval 12"/>
            <p:cNvSpPr>
              <a:spLocks noChangeArrowheads="1"/>
            </p:cNvSpPr>
            <p:nvPr userDrawn="1"/>
          </p:nvSpPr>
          <p:spPr bwMode="gray">
            <a:xfrm>
              <a:off x="4992" y="816"/>
              <a:ext cx="576" cy="576"/>
            </a:xfrm>
            <a:prstGeom prst="ellipse">
              <a:avLst/>
            </a:prstGeom>
            <a:solidFill>
              <a:schemeClr val="tx2">
                <a:alpha val="5294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5" name="Oval 13"/>
            <p:cNvSpPr>
              <a:spLocks noChangeArrowheads="1"/>
            </p:cNvSpPr>
            <p:nvPr userDrawn="1"/>
          </p:nvSpPr>
          <p:spPr bwMode="gray">
            <a:xfrm>
              <a:off x="4992" y="912"/>
              <a:ext cx="480" cy="384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/>
            </a:p>
          </p:txBody>
        </p:sp>
      </p:grpSp>
      <p:pic>
        <p:nvPicPr>
          <p:cNvPr id="16" name="Picture 18" descr="zjnu校标2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1375" y="765175"/>
            <a:ext cx="6477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8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A6568E1-4089-4561-919E-9D2F37D3F2B0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4834246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2"/>
          <p:cNvGraphicFramePr>
            <a:graphicFrameLocks noChangeAspect="1"/>
          </p:cNvGraphicFramePr>
          <p:nvPr/>
        </p:nvGraphicFramePr>
        <p:xfrm>
          <a:off x="0" y="0"/>
          <a:ext cx="9144000" cy="1200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Image" r:id="rId3" imgW="9561905" imgH="1600000" progId="Photoshop.Image.6">
                  <p:embed/>
                </p:oleObj>
              </mc:Choice>
              <mc:Fallback>
                <p:oleObj name="Image" r:id="rId3" imgW="9561905" imgH="1600000" progId="Photoshop.Image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white">
                      <a:xfrm>
                        <a:off x="0" y="0"/>
                        <a:ext cx="9144000" cy="1200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Freeform 3"/>
          <p:cNvSpPr>
            <a:spLocks/>
          </p:cNvSpPr>
          <p:nvPr/>
        </p:nvSpPr>
        <p:spPr bwMode="gray">
          <a:xfrm>
            <a:off x="-11113" y="280988"/>
            <a:ext cx="9155113" cy="1620837"/>
          </a:xfrm>
          <a:custGeom>
            <a:avLst/>
            <a:gdLst>
              <a:gd name="T0" fmla="*/ 2147483646 w 5767"/>
              <a:gd name="T1" fmla="*/ 2147483646 h 1021"/>
              <a:gd name="T2" fmla="*/ 2147483646 w 5767"/>
              <a:gd name="T3" fmla="*/ 2147483646 h 1021"/>
              <a:gd name="T4" fmla="*/ 2147483646 w 5767"/>
              <a:gd name="T5" fmla="*/ 2147483646 h 1021"/>
              <a:gd name="T6" fmla="*/ 2147483646 w 5767"/>
              <a:gd name="T7" fmla="*/ 0 h 1021"/>
              <a:gd name="T8" fmla="*/ 2147483646 w 5767"/>
              <a:gd name="T9" fmla="*/ 2147483646 h 1021"/>
              <a:gd name="T10" fmla="*/ 2147483646 w 5767"/>
              <a:gd name="T11" fmla="*/ 2147483646 h 1021"/>
              <a:gd name="T12" fmla="*/ 2147483646 w 5767"/>
              <a:gd name="T13" fmla="*/ 2147483646 h 1021"/>
              <a:gd name="T14" fmla="*/ 2147483646 w 5767"/>
              <a:gd name="T15" fmla="*/ 2147483646 h 1021"/>
              <a:gd name="T16" fmla="*/ 2147483646 w 5767"/>
              <a:gd name="T17" fmla="*/ 2147483646 h 1021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5767" h="1021">
                <a:moveTo>
                  <a:pt x="6" y="109"/>
                </a:moveTo>
                <a:cubicBezTo>
                  <a:pt x="144" y="93"/>
                  <a:pt x="626" y="42"/>
                  <a:pt x="1427" y="46"/>
                </a:cubicBezTo>
                <a:cubicBezTo>
                  <a:pt x="2228" y="50"/>
                  <a:pt x="3321" y="224"/>
                  <a:pt x="4032" y="255"/>
                </a:cubicBezTo>
                <a:cubicBezTo>
                  <a:pt x="4742" y="286"/>
                  <a:pt x="5649" y="91"/>
                  <a:pt x="5767" y="0"/>
                </a:cubicBezTo>
                <a:lnTo>
                  <a:pt x="5767" y="776"/>
                </a:lnTo>
                <a:cubicBezTo>
                  <a:pt x="4948" y="879"/>
                  <a:pt x="4543" y="844"/>
                  <a:pt x="4065" y="831"/>
                </a:cubicBezTo>
                <a:cubicBezTo>
                  <a:pt x="3587" y="818"/>
                  <a:pt x="2973" y="694"/>
                  <a:pt x="1984" y="674"/>
                </a:cubicBezTo>
                <a:cubicBezTo>
                  <a:pt x="995" y="654"/>
                  <a:pt x="28" y="969"/>
                  <a:pt x="14" y="995"/>
                </a:cubicBezTo>
                <a:cubicBezTo>
                  <a:pt x="0" y="1021"/>
                  <a:pt x="6" y="255"/>
                  <a:pt x="6" y="109"/>
                </a:cubicBezTo>
                <a:close/>
              </a:path>
            </a:pathLst>
          </a:custGeom>
          <a:solidFill>
            <a:schemeClr val="accent1">
              <a:alpha val="41176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" name="Freeform 4"/>
          <p:cNvSpPr>
            <a:spLocks/>
          </p:cNvSpPr>
          <p:nvPr/>
        </p:nvSpPr>
        <p:spPr bwMode="gray">
          <a:xfrm>
            <a:off x="-20638" y="533400"/>
            <a:ext cx="9161463" cy="1006475"/>
          </a:xfrm>
          <a:custGeom>
            <a:avLst/>
            <a:gdLst>
              <a:gd name="T0" fmla="*/ 2147483646 w 5771"/>
              <a:gd name="T1" fmla="*/ 2147483646 h 634"/>
              <a:gd name="T2" fmla="*/ 2147483646 w 5771"/>
              <a:gd name="T3" fmla="*/ 2147483646 h 634"/>
              <a:gd name="T4" fmla="*/ 2147483646 w 5771"/>
              <a:gd name="T5" fmla="*/ 2147483646 h 634"/>
              <a:gd name="T6" fmla="*/ 2147483646 w 5771"/>
              <a:gd name="T7" fmla="*/ 2147483646 h 634"/>
              <a:gd name="T8" fmla="*/ 2147483646 w 5771"/>
              <a:gd name="T9" fmla="*/ 2147483646 h 634"/>
              <a:gd name="T10" fmla="*/ 2147483646 w 5771"/>
              <a:gd name="T11" fmla="*/ 2147483646 h 634"/>
              <a:gd name="T12" fmla="*/ 2147483646 w 5771"/>
              <a:gd name="T13" fmla="*/ 2147483646 h 634"/>
              <a:gd name="T14" fmla="*/ 2147483646 w 5771"/>
              <a:gd name="T15" fmla="*/ 2147483646 h 634"/>
              <a:gd name="T16" fmla="*/ 2147483646 w 5771"/>
              <a:gd name="T17" fmla="*/ 2147483646 h 63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5771" h="634">
                <a:moveTo>
                  <a:pt x="20" y="109"/>
                </a:moveTo>
                <a:cubicBezTo>
                  <a:pt x="26" y="109"/>
                  <a:pt x="645" y="0"/>
                  <a:pt x="1442" y="3"/>
                </a:cubicBezTo>
                <a:cubicBezTo>
                  <a:pt x="2239" y="6"/>
                  <a:pt x="3443" y="123"/>
                  <a:pt x="4150" y="148"/>
                </a:cubicBezTo>
                <a:cubicBezTo>
                  <a:pt x="4858" y="173"/>
                  <a:pt x="5633" y="63"/>
                  <a:pt x="5771" y="37"/>
                </a:cubicBezTo>
                <a:lnTo>
                  <a:pt x="5771" y="557"/>
                </a:lnTo>
                <a:cubicBezTo>
                  <a:pt x="4926" y="634"/>
                  <a:pt x="4422" y="612"/>
                  <a:pt x="3942" y="592"/>
                </a:cubicBezTo>
                <a:cubicBezTo>
                  <a:pt x="3463" y="572"/>
                  <a:pt x="2588" y="450"/>
                  <a:pt x="1839" y="456"/>
                </a:cubicBezTo>
                <a:cubicBezTo>
                  <a:pt x="1182" y="455"/>
                  <a:pt x="0" y="618"/>
                  <a:pt x="6" y="620"/>
                </a:cubicBezTo>
                <a:cubicBezTo>
                  <a:pt x="12" y="621"/>
                  <a:pt x="14" y="109"/>
                  <a:pt x="20" y="10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7" name="Group 5"/>
          <p:cNvGrpSpPr>
            <a:grpSpLocks/>
          </p:cNvGrpSpPr>
          <p:nvPr/>
        </p:nvGrpSpPr>
        <p:grpSpPr bwMode="auto">
          <a:xfrm>
            <a:off x="7740650" y="347663"/>
            <a:ext cx="387350" cy="366712"/>
            <a:chOff x="4752" y="1200"/>
            <a:chExt cx="288" cy="288"/>
          </a:xfrm>
        </p:grpSpPr>
        <p:sp>
          <p:nvSpPr>
            <p:cNvPr id="8" name="Oval 6"/>
            <p:cNvSpPr>
              <a:spLocks noChangeArrowheads="1"/>
            </p:cNvSpPr>
            <p:nvPr userDrawn="1"/>
          </p:nvSpPr>
          <p:spPr bwMode="gray">
            <a:xfrm>
              <a:off x="4752" y="1200"/>
              <a:ext cx="288" cy="288"/>
            </a:xfrm>
            <a:prstGeom prst="ellipse">
              <a:avLst/>
            </a:prstGeom>
            <a:gradFill rotWithShape="1">
              <a:gsLst>
                <a:gs pos="0">
                  <a:schemeClr val="tx2">
                    <a:gamma/>
                    <a:tint val="25490"/>
                    <a:invGamma/>
                  </a:schemeClr>
                </a:gs>
                <a:gs pos="100000">
                  <a:schemeClr val="tx2">
                    <a:alpha val="3100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9" name="Oval 7"/>
            <p:cNvSpPr>
              <a:spLocks noChangeArrowheads="1"/>
            </p:cNvSpPr>
            <p:nvPr userDrawn="1"/>
          </p:nvSpPr>
          <p:spPr bwMode="gray">
            <a:xfrm>
              <a:off x="4752" y="1200"/>
              <a:ext cx="192" cy="192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/>
            </a:p>
          </p:txBody>
        </p:sp>
      </p:grpSp>
      <p:grpSp>
        <p:nvGrpSpPr>
          <p:cNvPr id="10" name="Group 8"/>
          <p:cNvGrpSpPr>
            <a:grpSpLocks/>
          </p:cNvGrpSpPr>
          <p:nvPr/>
        </p:nvGrpSpPr>
        <p:grpSpPr bwMode="auto">
          <a:xfrm>
            <a:off x="8153400" y="53975"/>
            <a:ext cx="609600" cy="592138"/>
            <a:chOff x="4992" y="816"/>
            <a:chExt cx="576" cy="576"/>
          </a:xfrm>
        </p:grpSpPr>
        <p:sp>
          <p:nvSpPr>
            <p:cNvPr id="11" name="Oval 9"/>
            <p:cNvSpPr>
              <a:spLocks noChangeArrowheads="1"/>
            </p:cNvSpPr>
            <p:nvPr userDrawn="1"/>
          </p:nvSpPr>
          <p:spPr bwMode="gray">
            <a:xfrm>
              <a:off x="4992" y="816"/>
              <a:ext cx="576" cy="576"/>
            </a:xfrm>
            <a:prstGeom prst="ellipse">
              <a:avLst/>
            </a:prstGeom>
            <a:solidFill>
              <a:schemeClr val="accent1">
                <a:alpha val="5294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2" name="Oval 10"/>
            <p:cNvSpPr>
              <a:spLocks noChangeArrowheads="1"/>
            </p:cNvSpPr>
            <p:nvPr userDrawn="1"/>
          </p:nvSpPr>
          <p:spPr bwMode="gray">
            <a:xfrm>
              <a:off x="4992" y="912"/>
              <a:ext cx="480" cy="385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/>
            </a:p>
          </p:txBody>
        </p:sp>
      </p:grpSp>
      <p:grpSp>
        <p:nvGrpSpPr>
          <p:cNvPr id="13" name="Group 11"/>
          <p:cNvGrpSpPr>
            <a:grpSpLocks/>
          </p:cNvGrpSpPr>
          <p:nvPr/>
        </p:nvGrpSpPr>
        <p:grpSpPr bwMode="auto">
          <a:xfrm>
            <a:off x="171450" y="819150"/>
            <a:ext cx="720725" cy="762000"/>
            <a:chOff x="4992" y="816"/>
            <a:chExt cx="576" cy="576"/>
          </a:xfrm>
        </p:grpSpPr>
        <p:sp>
          <p:nvSpPr>
            <p:cNvPr id="14" name="Oval 12"/>
            <p:cNvSpPr>
              <a:spLocks noChangeArrowheads="1"/>
            </p:cNvSpPr>
            <p:nvPr userDrawn="1"/>
          </p:nvSpPr>
          <p:spPr bwMode="gray">
            <a:xfrm>
              <a:off x="4992" y="816"/>
              <a:ext cx="576" cy="576"/>
            </a:xfrm>
            <a:prstGeom prst="ellipse">
              <a:avLst/>
            </a:prstGeom>
            <a:solidFill>
              <a:schemeClr val="tx2">
                <a:alpha val="5294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5" name="Oval 13"/>
            <p:cNvSpPr>
              <a:spLocks noChangeArrowheads="1"/>
            </p:cNvSpPr>
            <p:nvPr userDrawn="1"/>
          </p:nvSpPr>
          <p:spPr bwMode="gray">
            <a:xfrm>
              <a:off x="4992" y="912"/>
              <a:ext cx="480" cy="384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/>
            </a:p>
          </p:txBody>
        </p:sp>
      </p:grpSp>
      <p:pic>
        <p:nvPicPr>
          <p:cNvPr id="16" name="Picture 18" descr="zjnu校标2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1375" y="765175"/>
            <a:ext cx="6477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8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FE2E74B5-CA30-4085-BCDB-B4F49D5565D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586343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2"/>
          <p:cNvGraphicFramePr>
            <a:graphicFrameLocks noChangeAspect="1"/>
          </p:cNvGraphicFramePr>
          <p:nvPr/>
        </p:nvGraphicFramePr>
        <p:xfrm>
          <a:off x="0" y="0"/>
          <a:ext cx="9144000" cy="1200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0" name="Image" r:id="rId3" imgW="9561905" imgH="1600000" progId="Photoshop.Image.6">
                  <p:embed/>
                </p:oleObj>
              </mc:Choice>
              <mc:Fallback>
                <p:oleObj name="Image" r:id="rId3" imgW="9561905" imgH="1600000" progId="Photoshop.Image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white">
                      <a:xfrm>
                        <a:off x="0" y="0"/>
                        <a:ext cx="9144000" cy="1200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Freeform 3"/>
          <p:cNvSpPr>
            <a:spLocks/>
          </p:cNvSpPr>
          <p:nvPr/>
        </p:nvSpPr>
        <p:spPr bwMode="gray">
          <a:xfrm>
            <a:off x="-11113" y="280988"/>
            <a:ext cx="9155113" cy="1620837"/>
          </a:xfrm>
          <a:custGeom>
            <a:avLst/>
            <a:gdLst>
              <a:gd name="T0" fmla="*/ 2147483646 w 5767"/>
              <a:gd name="T1" fmla="*/ 2147483646 h 1021"/>
              <a:gd name="T2" fmla="*/ 2147483646 w 5767"/>
              <a:gd name="T3" fmla="*/ 2147483646 h 1021"/>
              <a:gd name="T4" fmla="*/ 2147483646 w 5767"/>
              <a:gd name="T5" fmla="*/ 2147483646 h 1021"/>
              <a:gd name="T6" fmla="*/ 2147483646 w 5767"/>
              <a:gd name="T7" fmla="*/ 0 h 1021"/>
              <a:gd name="T8" fmla="*/ 2147483646 w 5767"/>
              <a:gd name="T9" fmla="*/ 2147483646 h 1021"/>
              <a:gd name="T10" fmla="*/ 2147483646 w 5767"/>
              <a:gd name="T11" fmla="*/ 2147483646 h 1021"/>
              <a:gd name="T12" fmla="*/ 2147483646 w 5767"/>
              <a:gd name="T13" fmla="*/ 2147483646 h 1021"/>
              <a:gd name="T14" fmla="*/ 2147483646 w 5767"/>
              <a:gd name="T15" fmla="*/ 2147483646 h 1021"/>
              <a:gd name="T16" fmla="*/ 2147483646 w 5767"/>
              <a:gd name="T17" fmla="*/ 2147483646 h 1021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5767" h="1021">
                <a:moveTo>
                  <a:pt x="6" y="109"/>
                </a:moveTo>
                <a:cubicBezTo>
                  <a:pt x="144" y="93"/>
                  <a:pt x="626" y="42"/>
                  <a:pt x="1427" y="46"/>
                </a:cubicBezTo>
                <a:cubicBezTo>
                  <a:pt x="2228" y="50"/>
                  <a:pt x="3321" y="224"/>
                  <a:pt x="4032" y="255"/>
                </a:cubicBezTo>
                <a:cubicBezTo>
                  <a:pt x="4742" y="286"/>
                  <a:pt x="5649" y="91"/>
                  <a:pt x="5767" y="0"/>
                </a:cubicBezTo>
                <a:lnTo>
                  <a:pt x="5767" y="776"/>
                </a:lnTo>
                <a:cubicBezTo>
                  <a:pt x="4948" y="879"/>
                  <a:pt x="4543" y="844"/>
                  <a:pt x="4065" y="831"/>
                </a:cubicBezTo>
                <a:cubicBezTo>
                  <a:pt x="3587" y="818"/>
                  <a:pt x="2973" y="694"/>
                  <a:pt x="1984" y="674"/>
                </a:cubicBezTo>
                <a:cubicBezTo>
                  <a:pt x="995" y="654"/>
                  <a:pt x="28" y="969"/>
                  <a:pt x="14" y="995"/>
                </a:cubicBezTo>
                <a:cubicBezTo>
                  <a:pt x="0" y="1021"/>
                  <a:pt x="6" y="255"/>
                  <a:pt x="6" y="109"/>
                </a:cubicBezTo>
                <a:close/>
              </a:path>
            </a:pathLst>
          </a:custGeom>
          <a:solidFill>
            <a:schemeClr val="accent1">
              <a:alpha val="41176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" name="Freeform 4"/>
          <p:cNvSpPr>
            <a:spLocks/>
          </p:cNvSpPr>
          <p:nvPr/>
        </p:nvSpPr>
        <p:spPr bwMode="gray">
          <a:xfrm>
            <a:off x="-20638" y="533400"/>
            <a:ext cx="9161463" cy="1006475"/>
          </a:xfrm>
          <a:custGeom>
            <a:avLst/>
            <a:gdLst>
              <a:gd name="T0" fmla="*/ 2147483646 w 5771"/>
              <a:gd name="T1" fmla="*/ 2147483646 h 634"/>
              <a:gd name="T2" fmla="*/ 2147483646 w 5771"/>
              <a:gd name="T3" fmla="*/ 2147483646 h 634"/>
              <a:gd name="T4" fmla="*/ 2147483646 w 5771"/>
              <a:gd name="T5" fmla="*/ 2147483646 h 634"/>
              <a:gd name="T6" fmla="*/ 2147483646 w 5771"/>
              <a:gd name="T7" fmla="*/ 2147483646 h 634"/>
              <a:gd name="T8" fmla="*/ 2147483646 w 5771"/>
              <a:gd name="T9" fmla="*/ 2147483646 h 634"/>
              <a:gd name="T10" fmla="*/ 2147483646 w 5771"/>
              <a:gd name="T11" fmla="*/ 2147483646 h 634"/>
              <a:gd name="T12" fmla="*/ 2147483646 w 5771"/>
              <a:gd name="T13" fmla="*/ 2147483646 h 634"/>
              <a:gd name="T14" fmla="*/ 2147483646 w 5771"/>
              <a:gd name="T15" fmla="*/ 2147483646 h 634"/>
              <a:gd name="T16" fmla="*/ 2147483646 w 5771"/>
              <a:gd name="T17" fmla="*/ 2147483646 h 63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5771" h="634">
                <a:moveTo>
                  <a:pt x="20" y="109"/>
                </a:moveTo>
                <a:cubicBezTo>
                  <a:pt x="26" y="109"/>
                  <a:pt x="645" y="0"/>
                  <a:pt x="1442" y="3"/>
                </a:cubicBezTo>
                <a:cubicBezTo>
                  <a:pt x="2239" y="6"/>
                  <a:pt x="3443" y="123"/>
                  <a:pt x="4150" y="148"/>
                </a:cubicBezTo>
                <a:cubicBezTo>
                  <a:pt x="4858" y="173"/>
                  <a:pt x="5633" y="63"/>
                  <a:pt x="5771" y="37"/>
                </a:cubicBezTo>
                <a:lnTo>
                  <a:pt x="5771" y="557"/>
                </a:lnTo>
                <a:cubicBezTo>
                  <a:pt x="4926" y="634"/>
                  <a:pt x="4422" y="612"/>
                  <a:pt x="3942" y="592"/>
                </a:cubicBezTo>
                <a:cubicBezTo>
                  <a:pt x="3463" y="572"/>
                  <a:pt x="2588" y="450"/>
                  <a:pt x="1839" y="456"/>
                </a:cubicBezTo>
                <a:cubicBezTo>
                  <a:pt x="1182" y="455"/>
                  <a:pt x="0" y="618"/>
                  <a:pt x="6" y="620"/>
                </a:cubicBezTo>
                <a:cubicBezTo>
                  <a:pt x="12" y="621"/>
                  <a:pt x="14" y="109"/>
                  <a:pt x="20" y="10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8" name="Group 5"/>
          <p:cNvGrpSpPr>
            <a:grpSpLocks/>
          </p:cNvGrpSpPr>
          <p:nvPr/>
        </p:nvGrpSpPr>
        <p:grpSpPr bwMode="auto">
          <a:xfrm>
            <a:off x="7740650" y="347663"/>
            <a:ext cx="387350" cy="366712"/>
            <a:chOff x="4752" y="1200"/>
            <a:chExt cx="288" cy="288"/>
          </a:xfrm>
        </p:grpSpPr>
        <p:sp>
          <p:nvSpPr>
            <p:cNvPr id="9" name="Oval 6"/>
            <p:cNvSpPr>
              <a:spLocks noChangeArrowheads="1"/>
            </p:cNvSpPr>
            <p:nvPr userDrawn="1"/>
          </p:nvSpPr>
          <p:spPr bwMode="gray">
            <a:xfrm>
              <a:off x="4752" y="1200"/>
              <a:ext cx="288" cy="288"/>
            </a:xfrm>
            <a:prstGeom prst="ellipse">
              <a:avLst/>
            </a:prstGeom>
            <a:gradFill rotWithShape="1">
              <a:gsLst>
                <a:gs pos="0">
                  <a:schemeClr val="tx2">
                    <a:gamma/>
                    <a:tint val="25490"/>
                    <a:invGamma/>
                  </a:schemeClr>
                </a:gs>
                <a:gs pos="100000">
                  <a:schemeClr val="tx2">
                    <a:alpha val="3100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0" name="Oval 7"/>
            <p:cNvSpPr>
              <a:spLocks noChangeArrowheads="1"/>
            </p:cNvSpPr>
            <p:nvPr userDrawn="1"/>
          </p:nvSpPr>
          <p:spPr bwMode="gray">
            <a:xfrm>
              <a:off x="4752" y="1200"/>
              <a:ext cx="192" cy="192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/>
            </a:p>
          </p:txBody>
        </p:sp>
      </p:grpSp>
      <p:grpSp>
        <p:nvGrpSpPr>
          <p:cNvPr id="11" name="Group 8"/>
          <p:cNvGrpSpPr>
            <a:grpSpLocks/>
          </p:cNvGrpSpPr>
          <p:nvPr/>
        </p:nvGrpSpPr>
        <p:grpSpPr bwMode="auto">
          <a:xfrm>
            <a:off x="8153400" y="53975"/>
            <a:ext cx="609600" cy="592138"/>
            <a:chOff x="4992" y="816"/>
            <a:chExt cx="576" cy="576"/>
          </a:xfrm>
        </p:grpSpPr>
        <p:sp>
          <p:nvSpPr>
            <p:cNvPr id="12" name="Oval 9"/>
            <p:cNvSpPr>
              <a:spLocks noChangeArrowheads="1"/>
            </p:cNvSpPr>
            <p:nvPr userDrawn="1"/>
          </p:nvSpPr>
          <p:spPr bwMode="gray">
            <a:xfrm>
              <a:off x="4992" y="816"/>
              <a:ext cx="576" cy="576"/>
            </a:xfrm>
            <a:prstGeom prst="ellipse">
              <a:avLst/>
            </a:prstGeom>
            <a:solidFill>
              <a:schemeClr val="accent1">
                <a:alpha val="5294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3" name="Oval 10"/>
            <p:cNvSpPr>
              <a:spLocks noChangeArrowheads="1"/>
            </p:cNvSpPr>
            <p:nvPr userDrawn="1"/>
          </p:nvSpPr>
          <p:spPr bwMode="gray">
            <a:xfrm>
              <a:off x="4992" y="912"/>
              <a:ext cx="480" cy="385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/>
            </a:p>
          </p:txBody>
        </p:sp>
      </p:grpSp>
      <p:grpSp>
        <p:nvGrpSpPr>
          <p:cNvPr id="14" name="Group 11"/>
          <p:cNvGrpSpPr>
            <a:grpSpLocks/>
          </p:cNvGrpSpPr>
          <p:nvPr/>
        </p:nvGrpSpPr>
        <p:grpSpPr bwMode="auto">
          <a:xfrm>
            <a:off x="171450" y="819150"/>
            <a:ext cx="720725" cy="762000"/>
            <a:chOff x="4992" y="816"/>
            <a:chExt cx="576" cy="576"/>
          </a:xfrm>
        </p:grpSpPr>
        <p:sp>
          <p:nvSpPr>
            <p:cNvPr id="15" name="Oval 12"/>
            <p:cNvSpPr>
              <a:spLocks noChangeArrowheads="1"/>
            </p:cNvSpPr>
            <p:nvPr userDrawn="1"/>
          </p:nvSpPr>
          <p:spPr bwMode="gray">
            <a:xfrm>
              <a:off x="4992" y="816"/>
              <a:ext cx="576" cy="576"/>
            </a:xfrm>
            <a:prstGeom prst="ellipse">
              <a:avLst/>
            </a:prstGeom>
            <a:solidFill>
              <a:schemeClr val="tx2">
                <a:alpha val="5294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6" name="Oval 13"/>
            <p:cNvSpPr>
              <a:spLocks noChangeArrowheads="1"/>
            </p:cNvSpPr>
            <p:nvPr userDrawn="1"/>
          </p:nvSpPr>
          <p:spPr bwMode="gray">
            <a:xfrm>
              <a:off x="4992" y="912"/>
              <a:ext cx="480" cy="384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/>
            </a:p>
          </p:txBody>
        </p:sp>
      </p:grpSp>
      <p:pic>
        <p:nvPicPr>
          <p:cNvPr id="17" name="Picture 18" descr="zjnu校标2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1375" y="765175"/>
            <a:ext cx="6477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828800"/>
            <a:ext cx="40386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828800"/>
            <a:ext cx="40386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8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9" name="灯片编号占位符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1993862-FC99-4C64-81D0-B48A0A927E2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230096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2"/>
          <p:cNvGraphicFramePr>
            <a:graphicFrameLocks noChangeAspect="1"/>
          </p:cNvGraphicFramePr>
          <p:nvPr/>
        </p:nvGraphicFramePr>
        <p:xfrm>
          <a:off x="0" y="0"/>
          <a:ext cx="9144000" cy="1200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4" name="Image" r:id="rId3" imgW="9561905" imgH="1600000" progId="Photoshop.Image.6">
                  <p:embed/>
                </p:oleObj>
              </mc:Choice>
              <mc:Fallback>
                <p:oleObj name="Image" r:id="rId3" imgW="9561905" imgH="1600000" progId="Photoshop.Image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white">
                      <a:xfrm>
                        <a:off x="0" y="0"/>
                        <a:ext cx="9144000" cy="1200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Freeform 3"/>
          <p:cNvSpPr>
            <a:spLocks/>
          </p:cNvSpPr>
          <p:nvPr/>
        </p:nvSpPr>
        <p:spPr bwMode="gray">
          <a:xfrm>
            <a:off x="-11113" y="280988"/>
            <a:ext cx="9155113" cy="1620837"/>
          </a:xfrm>
          <a:custGeom>
            <a:avLst/>
            <a:gdLst>
              <a:gd name="T0" fmla="*/ 2147483646 w 5767"/>
              <a:gd name="T1" fmla="*/ 2147483646 h 1021"/>
              <a:gd name="T2" fmla="*/ 2147483646 w 5767"/>
              <a:gd name="T3" fmla="*/ 2147483646 h 1021"/>
              <a:gd name="T4" fmla="*/ 2147483646 w 5767"/>
              <a:gd name="T5" fmla="*/ 2147483646 h 1021"/>
              <a:gd name="T6" fmla="*/ 2147483646 w 5767"/>
              <a:gd name="T7" fmla="*/ 0 h 1021"/>
              <a:gd name="T8" fmla="*/ 2147483646 w 5767"/>
              <a:gd name="T9" fmla="*/ 2147483646 h 1021"/>
              <a:gd name="T10" fmla="*/ 2147483646 w 5767"/>
              <a:gd name="T11" fmla="*/ 2147483646 h 1021"/>
              <a:gd name="T12" fmla="*/ 2147483646 w 5767"/>
              <a:gd name="T13" fmla="*/ 2147483646 h 1021"/>
              <a:gd name="T14" fmla="*/ 2147483646 w 5767"/>
              <a:gd name="T15" fmla="*/ 2147483646 h 1021"/>
              <a:gd name="T16" fmla="*/ 2147483646 w 5767"/>
              <a:gd name="T17" fmla="*/ 2147483646 h 1021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5767" h="1021">
                <a:moveTo>
                  <a:pt x="6" y="109"/>
                </a:moveTo>
                <a:cubicBezTo>
                  <a:pt x="144" y="93"/>
                  <a:pt x="626" y="42"/>
                  <a:pt x="1427" y="46"/>
                </a:cubicBezTo>
                <a:cubicBezTo>
                  <a:pt x="2228" y="50"/>
                  <a:pt x="3321" y="224"/>
                  <a:pt x="4032" y="255"/>
                </a:cubicBezTo>
                <a:cubicBezTo>
                  <a:pt x="4742" y="286"/>
                  <a:pt x="5649" y="91"/>
                  <a:pt x="5767" y="0"/>
                </a:cubicBezTo>
                <a:lnTo>
                  <a:pt x="5767" y="776"/>
                </a:lnTo>
                <a:cubicBezTo>
                  <a:pt x="4948" y="879"/>
                  <a:pt x="4543" y="844"/>
                  <a:pt x="4065" y="831"/>
                </a:cubicBezTo>
                <a:cubicBezTo>
                  <a:pt x="3587" y="818"/>
                  <a:pt x="2973" y="694"/>
                  <a:pt x="1984" y="674"/>
                </a:cubicBezTo>
                <a:cubicBezTo>
                  <a:pt x="995" y="654"/>
                  <a:pt x="28" y="969"/>
                  <a:pt x="14" y="995"/>
                </a:cubicBezTo>
                <a:cubicBezTo>
                  <a:pt x="0" y="1021"/>
                  <a:pt x="6" y="255"/>
                  <a:pt x="6" y="109"/>
                </a:cubicBezTo>
                <a:close/>
              </a:path>
            </a:pathLst>
          </a:custGeom>
          <a:solidFill>
            <a:schemeClr val="accent1">
              <a:alpha val="41176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" name="Freeform 4"/>
          <p:cNvSpPr>
            <a:spLocks/>
          </p:cNvSpPr>
          <p:nvPr/>
        </p:nvSpPr>
        <p:spPr bwMode="gray">
          <a:xfrm>
            <a:off x="-20638" y="533400"/>
            <a:ext cx="9161463" cy="1006475"/>
          </a:xfrm>
          <a:custGeom>
            <a:avLst/>
            <a:gdLst>
              <a:gd name="T0" fmla="*/ 2147483646 w 5771"/>
              <a:gd name="T1" fmla="*/ 2147483646 h 634"/>
              <a:gd name="T2" fmla="*/ 2147483646 w 5771"/>
              <a:gd name="T3" fmla="*/ 2147483646 h 634"/>
              <a:gd name="T4" fmla="*/ 2147483646 w 5771"/>
              <a:gd name="T5" fmla="*/ 2147483646 h 634"/>
              <a:gd name="T6" fmla="*/ 2147483646 w 5771"/>
              <a:gd name="T7" fmla="*/ 2147483646 h 634"/>
              <a:gd name="T8" fmla="*/ 2147483646 w 5771"/>
              <a:gd name="T9" fmla="*/ 2147483646 h 634"/>
              <a:gd name="T10" fmla="*/ 2147483646 w 5771"/>
              <a:gd name="T11" fmla="*/ 2147483646 h 634"/>
              <a:gd name="T12" fmla="*/ 2147483646 w 5771"/>
              <a:gd name="T13" fmla="*/ 2147483646 h 634"/>
              <a:gd name="T14" fmla="*/ 2147483646 w 5771"/>
              <a:gd name="T15" fmla="*/ 2147483646 h 634"/>
              <a:gd name="T16" fmla="*/ 2147483646 w 5771"/>
              <a:gd name="T17" fmla="*/ 2147483646 h 63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5771" h="634">
                <a:moveTo>
                  <a:pt x="20" y="109"/>
                </a:moveTo>
                <a:cubicBezTo>
                  <a:pt x="26" y="109"/>
                  <a:pt x="645" y="0"/>
                  <a:pt x="1442" y="3"/>
                </a:cubicBezTo>
                <a:cubicBezTo>
                  <a:pt x="2239" y="6"/>
                  <a:pt x="3443" y="123"/>
                  <a:pt x="4150" y="148"/>
                </a:cubicBezTo>
                <a:cubicBezTo>
                  <a:pt x="4858" y="173"/>
                  <a:pt x="5633" y="63"/>
                  <a:pt x="5771" y="37"/>
                </a:cubicBezTo>
                <a:lnTo>
                  <a:pt x="5771" y="557"/>
                </a:lnTo>
                <a:cubicBezTo>
                  <a:pt x="4926" y="634"/>
                  <a:pt x="4422" y="612"/>
                  <a:pt x="3942" y="592"/>
                </a:cubicBezTo>
                <a:cubicBezTo>
                  <a:pt x="3463" y="572"/>
                  <a:pt x="2588" y="450"/>
                  <a:pt x="1839" y="456"/>
                </a:cubicBezTo>
                <a:cubicBezTo>
                  <a:pt x="1182" y="455"/>
                  <a:pt x="0" y="618"/>
                  <a:pt x="6" y="620"/>
                </a:cubicBezTo>
                <a:cubicBezTo>
                  <a:pt x="12" y="621"/>
                  <a:pt x="14" y="109"/>
                  <a:pt x="20" y="10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0" name="Group 5"/>
          <p:cNvGrpSpPr>
            <a:grpSpLocks/>
          </p:cNvGrpSpPr>
          <p:nvPr/>
        </p:nvGrpSpPr>
        <p:grpSpPr bwMode="auto">
          <a:xfrm>
            <a:off x="7740650" y="347663"/>
            <a:ext cx="387350" cy="366712"/>
            <a:chOff x="4752" y="1200"/>
            <a:chExt cx="288" cy="288"/>
          </a:xfrm>
        </p:grpSpPr>
        <p:sp>
          <p:nvSpPr>
            <p:cNvPr id="11" name="Oval 6"/>
            <p:cNvSpPr>
              <a:spLocks noChangeArrowheads="1"/>
            </p:cNvSpPr>
            <p:nvPr userDrawn="1"/>
          </p:nvSpPr>
          <p:spPr bwMode="gray">
            <a:xfrm>
              <a:off x="4752" y="1200"/>
              <a:ext cx="288" cy="288"/>
            </a:xfrm>
            <a:prstGeom prst="ellipse">
              <a:avLst/>
            </a:prstGeom>
            <a:gradFill rotWithShape="1">
              <a:gsLst>
                <a:gs pos="0">
                  <a:schemeClr val="tx2">
                    <a:gamma/>
                    <a:tint val="25490"/>
                    <a:invGamma/>
                  </a:schemeClr>
                </a:gs>
                <a:gs pos="100000">
                  <a:schemeClr val="tx2">
                    <a:alpha val="3100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2" name="Oval 7"/>
            <p:cNvSpPr>
              <a:spLocks noChangeArrowheads="1"/>
            </p:cNvSpPr>
            <p:nvPr userDrawn="1"/>
          </p:nvSpPr>
          <p:spPr bwMode="gray">
            <a:xfrm>
              <a:off x="4752" y="1200"/>
              <a:ext cx="192" cy="192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/>
            </a:p>
          </p:txBody>
        </p:sp>
      </p:grpSp>
      <p:grpSp>
        <p:nvGrpSpPr>
          <p:cNvPr id="13" name="Group 8"/>
          <p:cNvGrpSpPr>
            <a:grpSpLocks/>
          </p:cNvGrpSpPr>
          <p:nvPr/>
        </p:nvGrpSpPr>
        <p:grpSpPr bwMode="auto">
          <a:xfrm>
            <a:off x="8153400" y="53975"/>
            <a:ext cx="609600" cy="592138"/>
            <a:chOff x="4992" y="816"/>
            <a:chExt cx="576" cy="576"/>
          </a:xfrm>
        </p:grpSpPr>
        <p:sp>
          <p:nvSpPr>
            <p:cNvPr id="14" name="Oval 9"/>
            <p:cNvSpPr>
              <a:spLocks noChangeArrowheads="1"/>
            </p:cNvSpPr>
            <p:nvPr userDrawn="1"/>
          </p:nvSpPr>
          <p:spPr bwMode="gray">
            <a:xfrm>
              <a:off x="4992" y="816"/>
              <a:ext cx="576" cy="576"/>
            </a:xfrm>
            <a:prstGeom prst="ellipse">
              <a:avLst/>
            </a:prstGeom>
            <a:solidFill>
              <a:schemeClr val="accent1">
                <a:alpha val="5294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5" name="Oval 10"/>
            <p:cNvSpPr>
              <a:spLocks noChangeArrowheads="1"/>
            </p:cNvSpPr>
            <p:nvPr userDrawn="1"/>
          </p:nvSpPr>
          <p:spPr bwMode="gray">
            <a:xfrm>
              <a:off x="4992" y="912"/>
              <a:ext cx="480" cy="385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/>
            </a:p>
          </p:txBody>
        </p:sp>
      </p:grpSp>
      <p:grpSp>
        <p:nvGrpSpPr>
          <p:cNvPr id="16" name="Group 11"/>
          <p:cNvGrpSpPr>
            <a:grpSpLocks/>
          </p:cNvGrpSpPr>
          <p:nvPr/>
        </p:nvGrpSpPr>
        <p:grpSpPr bwMode="auto">
          <a:xfrm>
            <a:off x="171450" y="819150"/>
            <a:ext cx="720725" cy="762000"/>
            <a:chOff x="4992" y="816"/>
            <a:chExt cx="576" cy="576"/>
          </a:xfrm>
        </p:grpSpPr>
        <p:sp>
          <p:nvSpPr>
            <p:cNvPr id="17" name="Oval 12"/>
            <p:cNvSpPr>
              <a:spLocks noChangeArrowheads="1"/>
            </p:cNvSpPr>
            <p:nvPr userDrawn="1"/>
          </p:nvSpPr>
          <p:spPr bwMode="gray">
            <a:xfrm>
              <a:off x="4992" y="816"/>
              <a:ext cx="576" cy="576"/>
            </a:xfrm>
            <a:prstGeom prst="ellipse">
              <a:avLst/>
            </a:prstGeom>
            <a:solidFill>
              <a:schemeClr val="tx2">
                <a:alpha val="5294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8" name="Oval 13"/>
            <p:cNvSpPr>
              <a:spLocks noChangeArrowheads="1"/>
            </p:cNvSpPr>
            <p:nvPr userDrawn="1"/>
          </p:nvSpPr>
          <p:spPr bwMode="gray">
            <a:xfrm>
              <a:off x="4992" y="912"/>
              <a:ext cx="480" cy="384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/>
            </a:p>
          </p:txBody>
        </p:sp>
      </p:grpSp>
      <p:pic>
        <p:nvPicPr>
          <p:cNvPr id="19" name="Picture 18" descr="zjnu校标2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1375" y="765175"/>
            <a:ext cx="6477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0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1" name="灯片编号占位符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8BBAFD60-8075-4459-BC3E-232ACEBEA4D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282425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/>
          <p:cNvGraphicFramePr>
            <a:graphicFrameLocks noChangeAspect="1"/>
          </p:cNvGraphicFramePr>
          <p:nvPr/>
        </p:nvGraphicFramePr>
        <p:xfrm>
          <a:off x="0" y="0"/>
          <a:ext cx="9144000" cy="1200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8" name="Image" r:id="rId3" imgW="9561905" imgH="1600000" progId="Photoshop.Image.6">
                  <p:embed/>
                </p:oleObj>
              </mc:Choice>
              <mc:Fallback>
                <p:oleObj name="Image" r:id="rId3" imgW="9561905" imgH="1600000" progId="Photoshop.Image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white">
                      <a:xfrm>
                        <a:off x="0" y="0"/>
                        <a:ext cx="9144000" cy="1200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Freeform 3"/>
          <p:cNvSpPr>
            <a:spLocks/>
          </p:cNvSpPr>
          <p:nvPr/>
        </p:nvSpPr>
        <p:spPr bwMode="gray">
          <a:xfrm>
            <a:off x="-11113" y="280988"/>
            <a:ext cx="9155113" cy="1620837"/>
          </a:xfrm>
          <a:custGeom>
            <a:avLst/>
            <a:gdLst>
              <a:gd name="T0" fmla="*/ 2147483646 w 5767"/>
              <a:gd name="T1" fmla="*/ 2147483646 h 1021"/>
              <a:gd name="T2" fmla="*/ 2147483646 w 5767"/>
              <a:gd name="T3" fmla="*/ 2147483646 h 1021"/>
              <a:gd name="T4" fmla="*/ 2147483646 w 5767"/>
              <a:gd name="T5" fmla="*/ 2147483646 h 1021"/>
              <a:gd name="T6" fmla="*/ 2147483646 w 5767"/>
              <a:gd name="T7" fmla="*/ 0 h 1021"/>
              <a:gd name="T8" fmla="*/ 2147483646 w 5767"/>
              <a:gd name="T9" fmla="*/ 2147483646 h 1021"/>
              <a:gd name="T10" fmla="*/ 2147483646 w 5767"/>
              <a:gd name="T11" fmla="*/ 2147483646 h 1021"/>
              <a:gd name="T12" fmla="*/ 2147483646 w 5767"/>
              <a:gd name="T13" fmla="*/ 2147483646 h 1021"/>
              <a:gd name="T14" fmla="*/ 2147483646 w 5767"/>
              <a:gd name="T15" fmla="*/ 2147483646 h 1021"/>
              <a:gd name="T16" fmla="*/ 2147483646 w 5767"/>
              <a:gd name="T17" fmla="*/ 2147483646 h 1021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5767" h="1021">
                <a:moveTo>
                  <a:pt x="6" y="109"/>
                </a:moveTo>
                <a:cubicBezTo>
                  <a:pt x="144" y="93"/>
                  <a:pt x="626" y="42"/>
                  <a:pt x="1427" y="46"/>
                </a:cubicBezTo>
                <a:cubicBezTo>
                  <a:pt x="2228" y="50"/>
                  <a:pt x="3321" y="224"/>
                  <a:pt x="4032" y="255"/>
                </a:cubicBezTo>
                <a:cubicBezTo>
                  <a:pt x="4742" y="286"/>
                  <a:pt x="5649" y="91"/>
                  <a:pt x="5767" y="0"/>
                </a:cubicBezTo>
                <a:lnTo>
                  <a:pt x="5767" y="776"/>
                </a:lnTo>
                <a:cubicBezTo>
                  <a:pt x="4948" y="879"/>
                  <a:pt x="4543" y="844"/>
                  <a:pt x="4065" y="831"/>
                </a:cubicBezTo>
                <a:cubicBezTo>
                  <a:pt x="3587" y="818"/>
                  <a:pt x="2973" y="694"/>
                  <a:pt x="1984" y="674"/>
                </a:cubicBezTo>
                <a:cubicBezTo>
                  <a:pt x="995" y="654"/>
                  <a:pt x="28" y="969"/>
                  <a:pt x="14" y="995"/>
                </a:cubicBezTo>
                <a:cubicBezTo>
                  <a:pt x="0" y="1021"/>
                  <a:pt x="6" y="255"/>
                  <a:pt x="6" y="109"/>
                </a:cubicBezTo>
                <a:close/>
              </a:path>
            </a:pathLst>
          </a:custGeom>
          <a:solidFill>
            <a:schemeClr val="accent1">
              <a:alpha val="41176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" name="Freeform 4"/>
          <p:cNvSpPr>
            <a:spLocks/>
          </p:cNvSpPr>
          <p:nvPr/>
        </p:nvSpPr>
        <p:spPr bwMode="gray">
          <a:xfrm>
            <a:off x="-20638" y="533400"/>
            <a:ext cx="9161463" cy="1006475"/>
          </a:xfrm>
          <a:custGeom>
            <a:avLst/>
            <a:gdLst>
              <a:gd name="T0" fmla="*/ 2147483646 w 5771"/>
              <a:gd name="T1" fmla="*/ 2147483646 h 634"/>
              <a:gd name="T2" fmla="*/ 2147483646 w 5771"/>
              <a:gd name="T3" fmla="*/ 2147483646 h 634"/>
              <a:gd name="T4" fmla="*/ 2147483646 w 5771"/>
              <a:gd name="T5" fmla="*/ 2147483646 h 634"/>
              <a:gd name="T6" fmla="*/ 2147483646 w 5771"/>
              <a:gd name="T7" fmla="*/ 2147483646 h 634"/>
              <a:gd name="T8" fmla="*/ 2147483646 w 5771"/>
              <a:gd name="T9" fmla="*/ 2147483646 h 634"/>
              <a:gd name="T10" fmla="*/ 2147483646 w 5771"/>
              <a:gd name="T11" fmla="*/ 2147483646 h 634"/>
              <a:gd name="T12" fmla="*/ 2147483646 w 5771"/>
              <a:gd name="T13" fmla="*/ 2147483646 h 634"/>
              <a:gd name="T14" fmla="*/ 2147483646 w 5771"/>
              <a:gd name="T15" fmla="*/ 2147483646 h 634"/>
              <a:gd name="T16" fmla="*/ 2147483646 w 5771"/>
              <a:gd name="T17" fmla="*/ 2147483646 h 63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5771" h="634">
                <a:moveTo>
                  <a:pt x="20" y="109"/>
                </a:moveTo>
                <a:cubicBezTo>
                  <a:pt x="26" y="109"/>
                  <a:pt x="645" y="0"/>
                  <a:pt x="1442" y="3"/>
                </a:cubicBezTo>
                <a:cubicBezTo>
                  <a:pt x="2239" y="6"/>
                  <a:pt x="3443" y="123"/>
                  <a:pt x="4150" y="148"/>
                </a:cubicBezTo>
                <a:cubicBezTo>
                  <a:pt x="4858" y="173"/>
                  <a:pt x="5633" y="63"/>
                  <a:pt x="5771" y="37"/>
                </a:cubicBezTo>
                <a:lnTo>
                  <a:pt x="5771" y="557"/>
                </a:lnTo>
                <a:cubicBezTo>
                  <a:pt x="4926" y="634"/>
                  <a:pt x="4422" y="612"/>
                  <a:pt x="3942" y="592"/>
                </a:cubicBezTo>
                <a:cubicBezTo>
                  <a:pt x="3463" y="572"/>
                  <a:pt x="2588" y="450"/>
                  <a:pt x="1839" y="456"/>
                </a:cubicBezTo>
                <a:cubicBezTo>
                  <a:pt x="1182" y="455"/>
                  <a:pt x="0" y="618"/>
                  <a:pt x="6" y="620"/>
                </a:cubicBezTo>
                <a:cubicBezTo>
                  <a:pt x="12" y="621"/>
                  <a:pt x="14" y="109"/>
                  <a:pt x="20" y="10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6" name="Group 5"/>
          <p:cNvGrpSpPr>
            <a:grpSpLocks/>
          </p:cNvGrpSpPr>
          <p:nvPr/>
        </p:nvGrpSpPr>
        <p:grpSpPr bwMode="auto">
          <a:xfrm>
            <a:off x="7740650" y="347663"/>
            <a:ext cx="387350" cy="366712"/>
            <a:chOff x="4752" y="1200"/>
            <a:chExt cx="288" cy="288"/>
          </a:xfrm>
        </p:grpSpPr>
        <p:sp>
          <p:nvSpPr>
            <p:cNvPr id="7" name="Oval 6"/>
            <p:cNvSpPr>
              <a:spLocks noChangeArrowheads="1"/>
            </p:cNvSpPr>
            <p:nvPr userDrawn="1"/>
          </p:nvSpPr>
          <p:spPr bwMode="gray">
            <a:xfrm>
              <a:off x="4752" y="1200"/>
              <a:ext cx="288" cy="288"/>
            </a:xfrm>
            <a:prstGeom prst="ellipse">
              <a:avLst/>
            </a:prstGeom>
            <a:gradFill rotWithShape="1">
              <a:gsLst>
                <a:gs pos="0">
                  <a:schemeClr val="tx2">
                    <a:gamma/>
                    <a:tint val="25490"/>
                    <a:invGamma/>
                  </a:schemeClr>
                </a:gs>
                <a:gs pos="100000">
                  <a:schemeClr val="tx2">
                    <a:alpha val="3100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8" name="Oval 7"/>
            <p:cNvSpPr>
              <a:spLocks noChangeArrowheads="1"/>
            </p:cNvSpPr>
            <p:nvPr userDrawn="1"/>
          </p:nvSpPr>
          <p:spPr bwMode="gray">
            <a:xfrm>
              <a:off x="4752" y="1200"/>
              <a:ext cx="192" cy="192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/>
            </a:p>
          </p:txBody>
        </p:sp>
      </p:grpSp>
      <p:grpSp>
        <p:nvGrpSpPr>
          <p:cNvPr id="9" name="Group 8"/>
          <p:cNvGrpSpPr>
            <a:grpSpLocks/>
          </p:cNvGrpSpPr>
          <p:nvPr/>
        </p:nvGrpSpPr>
        <p:grpSpPr bwMode="auto">
          <a:xfrm>
            <a:off x="8153400" y="53975"/>
            <a:ext cx="609600" cy="592138"/>
            <a:chOff x="4992" y="816"/>
            <a:chExt cx="576" cy="576"/>
          </a:xfrm>
        </p:grpSpPr>
        <p:sp>
          <p:nvSpPr>
            <p:cNvPr id="10" name="Oval 9"/>
            <p:cNvSpPr>
              <a:spLocks noChangeArrowheads="1"/>
            </p:cNvSpPr>
            <p:nvPr userDrawn="1"/>
          </p:nvSpPr>
          <p:spPr bwMode="gray">
            <a:xfrm>
              <a:off x="4992" y="816"/>
              <a:ext cx="576" cy="576"/>
            </a:xfrm>
            <a:prstGeom prst="ellipse">
              <a:avLst/>
            </a:prstGeom>
            <a:solidFill>
              <a:schemeClr val="accent1">
                <a:alpha val="5294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1" name="Oval 10"/>
            <p:cNvSpPr>
              <a:spLocks noChangeArrowheads="1"/>
            </p:cNvSpPr>
            <p:nvPr userDrawn="1"/>
          </p:nvSpPr>
          <p:spPr bwMode="gray">
            <a:xfrm>
              <a:off x="4992" y="912"/>
              <a:ext cx="480" cy="385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/>
            </a:p>
          </p:txBody>
        </p:sp>
      </p:grpSp>
      <p:grpSp>
        <p:nvGrpSpPr>
          <p:cNvPr id="12" name="Group 11"/>
          <p:cNvGrpSpPr>
            <a:grpSpLocks/>
          </p:cNvGrpSpPr>
          <p:nvPr/>
        </p:nvGrpSpPr>
        <p:grpSpPr bwMode="auto">
          <a:xfrm>
            <a:off x="171450" y="819150"/>
            <a:ext cx="720725" cy="762000"/>
            <a:chOff x="4992" y="816"/>
            <a:chExt cx="576" cy="576"/>
          </a:xfrm>
        </p:grpSpPr>
        <p:sp>
          <p:nvSpPr>
            <p:cNvPr id="13" name="Oval 12"/>
            <p:cNvSpPr>
              <a:spLocks noChangeArrowheads="1"/>
            </p:cNvSpPr>
            <p:nvPr userDrawn="1"/>
          </p:nvSpPr>
          <p:spPr bwMode="gray">
            <a:xfrm>
              <a:off x="4992" y="816"/>
              <a:ext cx="576" cy="576"/>
            </a:xfrm>
            <a:prstGeom prst="ellipse">
              <a:avLst/>
            </a:prstGeom>
            <a:solidFill>
              <a:schemeClr val="tx2">
                <a:alpha val="5294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4" name="Oval 13"/>
            <p:cNvSpPr>
              <a:spLocks noChangeArrowheads="1"/>
            </p:cNvSpPr>
            <p:nvPr userDrawn="1"/>
          </p:nvSpPr>
          <p:spPr bwMode="gray">
            <a:xfrm>
              <a:off x="4992" y="912"/>
              <a:ext cx="480" cy="384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/>
            </a:p>
          </p:txBody>
        </p:sp>
      </p:grpSp>
      <p:pic>
        <p:nvPicPr>
          <p:cNvPr id="15" name="Picture 18" descr="zjnu校标2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1375" y="765175"/>
            <a:ext cx="6477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6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7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8B463EB-DC54-41A9-913E-7FEDBD834C6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247081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ChangeAspect="1"/>
          </p:cNvGraphicFramePr>
          <p:nvPr/>
        </p:nvGraphicFramePr>
        <p:xfrm>
          <a:off x="0" y="0"/>
          <a:ext cx="9144000" cy="1200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2" name="Image" r:id="rId3" imgW="9561905" imgH="1600000" progId="Photoshop.Image.6">
                  <p:embed/>
                </p:oleObj>
              </mc:Choice>
              <mc:Fallback>
                <p:oleObj name="Image" r:id="rId3" imgW="9561905" imgH="1600000" progId="Photoshop.Image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white">
                      <a:xfrm>
                        <a:off x="0" y="0"/>
                        <a:ext cx="9144000" cy="1200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Freeform 3"/>
          <p:cNvSpPr>
            <a:spLocks/>
          </p:cNvSpPr>
          <p:nvPr/>
        </p:nvSpPr>
        <p:spPr bwMode="gray">
          <a:xfrm>
            <a:off x="-11113" y="280988"/>
            <a:ext cx="9155113" cy="1620837"/>
          </a:xfrm>
          <a:custGeom>
            <a:avLst/>
            <a:gdLst>
              <a:gd name="T0" fmla="*/ 2147483646 w 5767"/>
              <a:gd name="T1" fmla="*/ 2147483646 h 1021"/>
              <a:gd name="T2" fmla="*/ 2147483646 w 5767"/>
              <a:gd name="T3" fmla="*/ 2147483646 h 1021"/>
              <a:gd name="T4" fmla="*/ 2147483646 w 5767"/>
              <a:gd name="T5" fmla="*/ 2147483646 h 1021"/>
              <a:gd name="T6" fmla="*/ 2147483646 w 5767"/>
              <a:gd name="T7" fmla="*/ 0 h 1021"/>
              <a:gd name="T8" fmla="*/ 2147483646 w 5767"/>
              <a:gd name="T9" fmla="*/ 2147483646 h 1021"/>
              <a:gd name="T10" fmla="*/ 2147483646 w 5767"/>
              <a:gd name="T11" fmla="*/ 2147483646 h 1021"/>
              <a:gd name="T12" fmla="*/ 2147483646 w 5767"/>
              <a:gd name="T13" fmla="*/ 2147483646 h 1021"/>
              <a:gd name="T14" fmla="*/ 2147483646 w 5767"/>
              <a:gd name="T15" fmla="*/ 2147483646 h 1021"/>
              <a:gd name="T16" fmla="*/ 2147483646 w 5767"/>
              <a:gd name="T17" fmla="*/ 2147483646 h 1021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5767" h="1021">
                <a:moveTo>
                  <a:pt x="6" y="109"/>
                </a:moveTo>
                <a:cubicBezTo>
                  <a:pt x="144" y="93"/>
                  <a:pt x="626" y="42"/>
                  <a:pt x="1427" y="46"/>
                </a:cubicBezTo>
                <a:cubicBezTo>
                  <a:pt x="2228" y="50"/>
                  <a:pt x="3321" y="224"/>
                  <a:pt x="4032" y="255"/>
                </a:cubicBezTo>
                <a:cubicBezTo>
                  <a:pt x="4742" y="286"/>
                  <a:pt x="5649" y="91"/>
                  <a:pt x="5767" y="0"/>
                </a:cubicBezTo>
                <a:lnTo>
                  <a:pt x="5767" y="776"/>
                </a:lnTo>
                <a:cubicBezTo>
                  <a:pt x="4948" y="879"/>
                  <a:pt x="4543" y="844"/>
                  <a:pt x="4065" y="831"/>
                </a:cubicBezTo>
                <a:cubicBezTo>
                  <a:pt x="3587" y="818"/>
                  <a:pt x="2973" y="694"/>
                  <a:pt x="1984" y="674"/>
                </a:cubicBezTo>
                <a:cubicBezTo>
                  <a:pt x="995" y="654"/>
                  <a:pt x="28" y="969"/>
                  <a:pt x="14" y="995"/>
                </a:cubicBezTo>
                <a:cubicBezTo>
                  <a:pt x="0" y="1021"/>
                  <a:pt x="6" y="255"/>
                  <a:pt x="6" y="109"/>
                </a:cubicBezTo>
                <a:close/>
              </a:path>
            </a:pathLst>
          </a:custGeom>
          <a:solidFill>
            <a:schemeClr val="accent1">
              <a:alpha val="41176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" name="Freeform 4"/>
          <p:cNvSpPr>
            <a:spLocks/>
          </p:cNvSpPr>
          <p:nvPr/>
        </p:nvSpPr>
        <p:spPr bwMode="gray">
          <a:xfrm>
            <a:off x="-20638" y="533400"/>
            <a:ext cx="9161463" cy="1006475"/>
          </a:xfrm>
          <a:custGeom>
            <a:avLst/>
            <a:gdLst>
              <a:gd name="T0" fmla="*/ 2147483646 w 5771"/>
              <a:gd name="T1" fmla="*/ 2147483646 h 634"/>
              <a:gd name="T2" fmla="*/ 2147483646 w 5771"/>
              <a:gd name="T3" fmla="*/ 2147483646 h 634"/>
              <a:gd name="T4" fmla="*/ 2147483646 w 5771"/>
              <a:gd name="T5" fmla="*/ 2147483646 h 634"/>
              <a:gd name="T6" fmla="*/ 2147483646 w 5771"/>
              <a:gd name="T7" fmla="*/ 2147483646 h 634"/>
              <a:gd name="T8" fmla="*/ 2147483646 w 5771"/>
              <a:gd name="T9" fmla="*/ 2147483646 h 634"/>
              <a:gd name="T10" fmla="*/ 2147483646 w 5771"/>
              <a:gd name="T11" fmla="*/ 2147483646 h 634"/>
              <a:gd name="T12" fmla="*/ 2147483646 w 5771"/>
              <a:gd name="T13" fmla="*/ 2147483646 h 634"/>
              <a:gd name="T14" fmla="*/ 2147483646 w 5771"/>
              <a:gd name="T15" fmla="*/ 2147483646 h 634"/>
              <a:gd name="T16" fmla="*/ 2147483646 w 5771"/>
              <a:gd name="T17" fmla="*/ 2147483646 h 63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5771" h="634">
                <a:moveTo>
                  <a:pt x="20" y="109"/>
                </a:moveTo>
                <a:cubicBezTo>
                  <a:pt x="26" y="109"/>
                  <a:pt x="645" y="0"/>
                  <a:pt x="1442" y="3"/>
                </a:cubicBezTo>
                <a:cubicBezTo>
                  <a:pt x="2239" y="6"/>
                  <a:pt x="3443" y="123"/>
                  <a:pt x="4150" y="148"/>
                </a:cubicBezTo>
                <a:cubicBezTo>
                  <a:pt x="4858" y="173"/>
                  <a:pt x="5633" y="63"/>
                  <a:pt x="5771" y="37"/>
                </a:cubicBezTo>
                <a:lnTo>
                  <a:pt x="5771" y="557"/>
                </a:lnTo>
                <a:cubicBezTo>
                  <a:pt x="4926" y="634"/>
                  <a:pt x="4422" y="612"/>
                  <a:pt x="3942" y="592"/>
                </a:cubicBezTo>
                <a:cubicBezTo>
                  <a:pt x="3463" y="572"/>
                  <a:pt x="2588" y="450"/>
                  <a:pt x="1839" y="456"/>
                </a:cubicBezTo>
                <a:cubicBezTo>
                  <a:pt x="1182" y="455"/>
                  <a:pt x="0" y="618"/>
                  <a:pt x="6" y="620"/>
                </a:cubicBezTo>
                <a:cubicBezTo>
                  <a:pt x="12" y="621"/>
                  <a:pt x="14" y="109"/>
                  <a:pt x="20" y="10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5" name="Group 5"/>
          <p:cNvGrpSpPr>
            <a:grpSpLocks/>
          </p:cNvGrpSpPr>
          <p:nvPr/>
        </p:nvGrpSpPr>
        <p:grpSpPr bwMode="auto">
          <a:xfrm>
            <a:off x="7740650" y="347663"/>
            <a:ext cx="387350" cy="366712"/>
            <a:chOff x="4752" y="1200"/>
            <a:chExt cx="288" cy="288"/>
          </a:xfrm>
        </p:grpSpPr>
        <p:sp>
          <p:nvSpPr>
            <p:cNvPr id="6" name="Oval 6"/>
            <p:cNvSpPr>
              <a:spLocks noChangeArrowheads="1"/>
            </p:cNvSpPr>
            <p:nvPr userDrawn="1"/>
          </p:nvSpPr>
          <p:spPr bwMode="gray">
            <a:xfrm>
              <a:off x="4752" y="1200"/>
              <a:ext cx="288" cy="288"/>
            </a:xfrm>
            <a:prstGeom prst="ellipse">
              <a:avLst/>
            </a:prstGeom>
            <a:gradFill rotWithShape="1">
              <a:gsLst>
                <a:gs pos="0">
                  <a:schemeClr val="tx2">
                    <a:gamma/>
                    <a:tint val="25490"/>
                    <a:invGamma/>
                  </a:schemeClr>
                </a:gs>
                <a:gs pos="100000">
                  <a:schemeClr val="tx2">
                    <a:alpha val="3100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7" name="Oval 7"/>
            <p:cNvSpPr>
              <a:spLocks noChangeArrowheads="1"/>
            </p:cNvSpPr>
            <p:nvPr userDrawn="1"/>
          </p:nvSpPr>
          <p:spPr bwMode="gray">
            <a:xfrm>
              <a:off x="4752" y="1200"/>
              <a:ext cx="192" cy="192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/>
            </a:p>
          </p:txBody>
        </p:sp>
      </p:grpSp>
      <p:grpSp>
        <p:nvGrpSpPr>
          <p:cNvPr id="8" name="Group 8"/>
          <p:cNvGrpSpPr>
            <a:grpSpLocks/>
          </p:cNvGrpSpPr>
          <p:nvPr/>
        </p:nvGrpSpPr>
        <p:grpSpPr bwMode="auto">
          <a:xfrm>
            <a:off x="8153400" y="53975"/>
            <a:ext cx="609600" cy="592138"/>
            <a:chOff x="4992" y="816"/>
            <a:chExt cx="576" cy="576"/>
          </a:xfrm>
        </p:grpSpPr>
        <p:sp>
          <p:nvSpPr>
            <p:cNvPr id="9" name="Oval 9"/>
            <p:cNvSpPr>
              <a:spLocks noChangeArrowheads="1"/>
            </p:cNvSpPr>
            <p:nvPr userDrawn="1"/>
          </p:nvSpPr>
          <p:spPr bwMode="gray">
            <a:xfrm>
              <a:off x="4992" y="816"/>
              <a:ext cx="576" cy="576"/>
            </a:xfrm>
            <a:prstGeom prst="ellipse">
              <a:avLst/>
            </a:prstGeom>
            <a:solidFill>
              <a:schemeClr val="accent1">
                <a:alpha val="5294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0" name="Oval 10"/>
            <p:cNvSpPr>
              <a:spLocks noChangeArrowheads="1"/>
            </p:cNvSpPr>
            <p:nvPr userDrawn="1"/>
          </p:nvSpPr>
          <p:spPr bwMode="gray">
            <a:xfrm>
              <a:off x="4992" y="912"/>
              <a:ext cx="480" cy="385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/>
            </a:p>
          </p:txBody>
        </p:sp>
      </p:grpSp>
      <p:grpSp>
        <p:nvGrpSpPr>
          <p:cNvPr id="11" name="Group 11"/>
          <p:cNvGrpSpPr>
            <a:grpSpLocks/>
          </p:cNvGrpSpPr>
          <p:nvPr/>
        </p:nvGrpSpPr>
        <p:grpSpPr bwMode="auto">
          <a:xfrm>
            <a:off x="171450" y="819150"/>
            <a:ext cx="720725" cy="762000"/>
            <a:chOff x="4992" y="816"/>
            <a:chExt cx="576" cy="576"/>
          </a:xfrm>
        </p:grpSpPr>
        <p:sp>
          <p:nvSpPr>
            <p:cNvPr id="12" name="Oval 12"/>
            <p:cNvSpPr>
              <a:spLocks noChangeArrowheads="1"/>
            </p:cNvSpPr>
            <p:nvPr userDrawn="1"/>
          </p:nvSpPr>
          <p:spPr bwMode="gray">
            <a:xfrm>
              <a:off x="4992" y="816"/>
              <a:ext cx="576" cy="576"/>
            </a:xfrm>
            <a:prstGeom prst="ellipse">
              <a:avLst/>
            </a:prstGeom>
            <a:solidFill>
              <a:schemeClr val="tx2">
                <a:alpha val="5294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3" name="Oval 13"/>
            <p:cNvSpPr>
              <a:spLocks noChangeArrowheads="1"/>
            </p:cNvSpPr>
            <p:nvPr userDrawn="1"/>
          </p:nvSpPr>
          <p:spPr bwMode="gray">
            <a:xfrm>
              <a:off x="4992" y="912"/>
              <a:ext cx="480" cy="384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/>
            </a:p>
          </p:txBody>
        </p:sp>
      </p:grpSp>
      <p:pic>
        <p:nvPicPr>
          <p:cNvPr id="14" name="Picture 18" descr="zjnu校标2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1375" y="765175"/>
            <a:ext cx="6477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A7EFF83-AC27-4857-ADDF-0C928C113D9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11295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2"/>
          <p:cNvGraphicFramePr>
            <a:graphicFrameLocks noChangeAspect="1"/>
          </p:cNvGraphicFramePr>
          <p:nvPr/>
        </p:nvGraphicFramePr>
        <p:xfrm>
          <a:off x="0" y="0"/>
          <a:ext cx="9144000" cy="1200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6" name="Image" r:id="rId3" imgW="9561905" imgH="1600000" progId="Photoshop.Image.6">
                  <p:embed/>
                </p:oleObj>
              </mc:Choice>
              <mc:Fallback>
                <p:oleObj name="Image" r:id="rId3" imgW="9561905" imgH="1600000" progId="Photoshop.Image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white">
                      <a:xfrm>
                        <a:off x="0" y="0"/>
                        <a:ext cx="9144000" cy="1200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Freeform 3"/>
          <p:cNvSpPr>
            <a:spLocks/>
          </p:cNvSpPr>
          <p:nvPr/>
        </p:nvSpPr>
        <p:spPr bwMode="gray">
          <a:xfrm>
            <a:off x="-11113" y="280988"/>
            <a:ext cx="9155113" cy="1620837"/>
          </a:xfrm>
          <a:custGeom>
            <a:avLst/>
            <a:gdLst>
              <a:gd name="T0" fmla="*/ 2147483646 w 5767"/>
              <a:gd name="T1" fmla="*/ 2147483646 h 1021"/>
              <a:gd name="T2" fmla="*/ 2147483646 w 5767"/>
              <a:gd name="T3" fmla="*/ 2147483646 h 1021"/>
              <a:gd name="T4" fmla="*/ 2147483646 w 5767"/>
              <a:gd name="T5" fmla="*/ 2147483646 h 1021"/>
              <a:gd name="T6" fmla="*/ 2147483646 w 5767"/>
              <a:gd name="T7" fmla="*/ 0 h 1021"/>
              <a:gd name="T8" fmla="*/ 2147483646 w 5767"/>
              <a:gd name="T9" fmla="*/ 2147483646 h 1021"/>
              <a:gd name="T10" fmla="*/ 2147483646 w 5767"/>
              <a:gd name="T11" fmla="*/ 2147483646 h 1021"/>
              <a:gd name="T12" fmla="*/ 2147483646 w 5767"/>
              <a:gd name="T13" fmla="*/ 2147483646 h 1021"/>
              <a:gd name="T14" fmla="*/ 2147483646 w 5767"/>
              <a:gd name="T15" fmla="*/ 2147483646 h 1021"/>
              <a:gd name="T16" fmla="*/ 2147483646 w 5767"/>
              <a:gd name="T17" fmla="*/ 2147483646 h 1021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5767" h="1021">
                <a:moveTo>
                  <a:pt x="6" y="109"/>
                </a:moveTo>
                <a:cubicBezTo>
                  <a:pt x="144" y="93"/>
                  <a:pt x="626" y="42"/>
                  <a:pt x="1427" y="46"/>
                </a:cubicBezTo>
                <a:cubicBezTo>
                  <a:pt x="2228" y="50"/>
                  <a:pt x="3321" y="224"/>
                  <a:pt x="4032" y="255"/>
                </a:cubicBezTo>
                <a:cubicBezTo>
                  <a:pt x="4742" y="286"/>
                  <a:pt x="5649" y="91"/>
                  <a:pt x="5767" y="0"/>
                </a:cubicBezTo>
                <a:lnTo>
                  <a:pt x="5767" y="776"/>
                </a:lnTo>
                <a:cubicBezTo>
                  <a:pt x="4948" y="879"/>
                  <a:pt x="4543" y="844"/>
                  <a:pt x="4065" y="831"/>
                </a:cubicBezTo>
                <a:cubicBezTo>
                  <a:pt x="3587" y="818"/>
                  <a:pt x="2973" y="694"/>
                  <a:pt x="1984" y="674"/>
                </a:cubicBezTo>
                <a:cubicBezTo>
                  <a:pt x="995" y="654"/>
                  <a:pt x="28" y="969"/>
                  <a:pt x="14" y="995"/>
                </a:cubicBezTo>
                <a:cubicBezTo>
                  <a:pt x="0" y="1021"/>
                  <a:pt x="6" y="255"/>
                  <a:pt x="6" y="109"/>
                </a:cubicBezTo>
                <a:close/>
              </a:path>
            </a:pathLst>
          </a:custGeom>
          <a:solidFill>
            <a:schemeClr val="accent1">
              <a:alpha val="41176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" name="Freeform 4"/>
          <p:cNvSpPr>
            <a:spLocks/>
          </p:cNvSpPr>
          <p:nvPr/>
        </p:nvSpPr>
        <p:spPr bwMode="gray">
          <a:xfrm>
            <a:off x="-20638" y="533400"/>
            <a:ext cx="9161463" cy="1006475"/>
          </a:xfrm>
          <a:custGeom>
            <a:avLst/>
            <a:gdLst>
              <a:gd name="T0" fmla="*/ 2147483646 w 5771"/>
              <a:gd name="T1" fmla="*/ 2147483646 h 634"/>
              <a:gd name="T2" fmla="*/ 2147483646 w 5771"/>
              <a:gd name="T3" fmla="*/ 2147483646 h 634"/>
              <a:gd name="T4" fmla="*/ 2147483646 w 5771"/>
              <a:gd name="T5" fmla="*/ 2147483646 h 634"/>
              <a:gd name="T6" fmla="*/ 2147483646 w 5771"/>
              <a:gd name="T7" fmla="*/ 2147483646 h 634"/>
              <a:gd name="T8" fmla="*/ 2147483646 w 5771"/>
              <a:gd name="T9" fmla="*/ 2147483646 h 634"/>
              <a:gd name="T10" fmla="*/ 2147483646 w 5771"/>
              <a:gd name="T11" fmla="*/ 2147483646 h 634"/>
              <a:gd name="T12" fmla="*/ 2147483646 w 5771"/>
              <a:gd name="T13" fmla="*/ 2147483646 h 634"/>
              <a:gd name="T14" fmla="*/ 2147483646 w 5771"/>
              <a:gd name="T15" fmla="*/ 2147483646 h 634"/>
              <a:gd name="T16" fmla="*/ 2147483646 w 5771"/>
              <a:gd name="T17" fmla="*/ 2147483646 h 63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5771" h="634">
                <a:moveTo>
                  <a:pt x="20" y="109"/>
                </a:moveTo>
                <a:cubicBezTo>
                  <a:pt x="26" y="109"/>
                  <a:pt x="645" y="0"/>
                  <a:pt x="1442" y="3"/>
                </a:cubicBezTo>
                <a:cubicBezTo>
                  <a:pt x="2239" y="6"/>
                  <a:pt x="3443" y="123"/>
                  <a:pt x="4150" y="148"/>
                </a:cubicBezTo>
                <a:cubicBezTo>
                  <a:pt x="4858" y="173"/>
                  <a:pt x="5633" y="63"/>
                  <a:pt x="5771" y="37"/>
                </a:cubicBezTo>
                <a:lnTo>
                  <a:pt x="5771" y="557"/>
                </a:lnTo>
                <a:cubicBezTo>
                  <a:pt x="4926" y="634"/>
                  <a:pt x="4422" y="612"/>
                  <a:pt x="3942" y="592"/>
                </a:cubicBezTo>
                <a:cubicBezTo>
                  <a:pt x="3463" y="572"/>
                  <a:pt x="2588" y="450"/>
                  <a:pt x="1839" y="456"/>
                </a:cubicBezTo>
                <a:cubicBezTo>
                  <a:pt x="1182" y="455"/>
                  <a:pt x="0" y="618"/>
                  <a:pt x="6" y="620"/>
                </a:cubicBezTo>
                <a:cubicBezTo>
                  <a:pt x="12" y="621"/>
                  <a:pt x="14" y="109"/>
                  <a:pt x="20" y="10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8" name="Group 5"/>
          <p:cNvGrpSpPr>
            <a:grpSpLocks/>
          </p:cNvGrpSpPr>
          <p:nvPr/>
        </p:nvGrpSpPr>
        <p:grpSpPr bwMode="auto">
          <a:xfrm>
            <a:off x="7740650" y="347663"/>
            <a:ext cx="387350" cy="366712"/>
            <a:chOff x="4752" y="1200"/>
            <a:chExt cx="288" cy="288"/>
          </a:xfrm>
        </p:grpSpPr>
        <p:sp>
          <p:nvSpPr>
            <p:cNvPr id="9" name="Oval 6"/>
            <p:cNvSpPr>
              <a:spLocks noChangeArrowheads="1"/>
            </p:cNvSpPr>
            <p:nvPr userDrawn="1"/>
          </p:nvSpPr>
          <p:spPr bwMode="gray">
            <a:xfrm>
              <a:off x="4752" y="1200"/>
              <a:ext cx="288" cy="288"/>
            </a:xfrm>
            <a:prstGeom prst="ellipse">
              <a:avLst/>
            </a:prstGeom>
            <a:gradFill rotWithShape="1">
              <a:gsLst>
                <a:gs pos="0">
                  <a:schemeClr val="tx2">
                    <a:gamma/>
                    <a:tint val="25490"/>
                    <a:invGamma/>
                  </a:schemeClr>
                </a:gs>
                <a:gs pos="100000">
                  <a:schemeClr val="tx2">
                    <a:alpha val="3100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0" name="Oval 7"/>
            <p:cNvSpPr>
              <a:spLocks noChangeArrowheads="1"/>
            </p:cNvSpPr>
            <p:nvPr userDrawn="1"/>
          </p:nvSpPr>
          <p:spPr bwMode="gray">
            <a:xfrm>
              <a:off x="4752" y="1200"/>
              <a:ext cx="192" cy="192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/>
            </a:p>
          </p:txBody>
        </p:sp>
      </p:grpSp>
      <p:grpSp>
        <p:nvGrpSpPr>
          <p:cNvPr id="11" name="Group 8"/>
          <p:cNvGrpSpPr>
            <a:grpSpLocks/>
          </p:cNvGrpSpPr>
          <p:nvPr/>
        </p:nvGrpSpPr>
        <p:grpSpPr bwMode="auto">
          <a:xfrm>
            <a:off x="8153400" y="53975"/>
            <a:ext cx="609600" cy="592138"/>
            <a:chOff x="4992" y="816"/>
            <a:chExt cx="576" cy="576"/>
          </a:xfrm>
        </p:grpSpPr>
        <p:sp>
          <p:nvSpPr>
            <p:cNvPr id="12" name="Oval 9"/>
            <p:cNvSpPr>
              <a:spLocks noChangeArrowheads="1"/>
            </p:cNvSpPr>
            <p:nvPr userDrawn="1"/>
          </p:nvSpPr>
          <p:spPr bwMode="gray">
            <a:xfrm>
              <a:off x="4992" y="816"/>
              <a:ext cx="576" cy="576"/>
            </a:xfrm>
            <a:prstGeom prst="ellipse">
              <a:avLst/>
            </a:prstGeom>
            <a:solidFill>
              <a:schemeClr val="accent1">
                <a:alpha val="5294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3" name="Oval 10"/>
            <p:cNvSpPr>
              <a:spLocks noChangeArrowheads="1"/>
            </p:cNvSpPr>
            <p:nvPr userDrawn="1"/>
          </p:nvSpPr>
          <p:spPr bwMode="gray">
            <a:xfrm>
              <a:off x="4992" y="912"/>
              <a:ext cx="480" cy="385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/>
            </a:p>
          </p:txBody>
        </p:sp>
      </p:grpSp>
      <p:grpSp>
        <p:nvGrpSpPr>
          <p:cNvPr id="14" name="Group 11"/>
          <p:cNvGrpSpPr>
            <a:grpSpLocks/>
          </p:cNvGrpSpPr>
          <p:nvPr/>
        </p:nvGrpSpPr>
        <p:grpSpPr bwMode="auto">
          <a:xfrm>
            <a:off x="171450" y="819150"/>
            <a:ext cx="720725" cy="762000"/>
            <a:chOff x="4992" y="816"/>
            <a:chExt cx="576" cy="576"/>
          </a:xfrm>
        </p:grpSpPr>
        <p:sp>
          <p:nvSpPr>
            <p:cNvPr id="15" name="Oval 12"/>
            <p:cNvSpPr>
              <a:spLocks noChangeArrowheads="1"/>
            </p:cNvSpPr>
            <p:nvPr userDrawn="1"/>
          </p:nvSpPr>
          <p:spPr bwMode="gray">
            <a:xfrm>
              <a:off x="4992" y="816"/>
              <a:ext cx="576" cy="576"/>
            </a:xfrm>
            <a:prstGeom prst="ellipse">
              <a:avLst/>
            </a:prstGeom>
            <a:solidFill>
              <a:schemeClr val="tx2">
                <a:alpha val="5294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6" name="Oval 13"/>
            <p:cNvSpPr>
              <a:spLocks noChangeArrowheads="1"/>
            </p:cNvSpPr>
            <p:nvPr userDrawn="1"/>
          </p:nvSpPr>
          <p:spPr bwMode="gray">
            <a:xfrm>
              <a:off x="4992" y="912"/>
              <a:ext cx="480" cy="384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/>
            </a:p>
          </p:txBody>
        </p:sp>
      </p:grpSp>
      <p:pic>
        <p:nvPicPr>
          <p:cNvPr id="17" name="Picture 18" descr="zjnu校标2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1375" y="765175"/>
            <a:ext cx="6477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8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9" name="灯片编号占位符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AA3DFBF-28AE-4A79-AA22-BB28B07183D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952068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2"/>
          <p:cNvGraphicFramePr>
            <a:graphicFrameLocks noChangeAspect="1"/>
          </p:cNvGraphicFramePr>
          <p:nvPr/>
        </p:nvGraphicFramePr>
        <p:xfrm>
          <a:off x="0" y="0"/>
          <a:ext cx="9144000" cy="1200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0" name="Image" r:id="rId3" imgW="9561905" imgH="1600000" progId="Photoshop.Image.6">
                  <p:embed/>
                </p:oleObj>
              </mc:Choice>
              <mc:Fallback>
                <p:oleObj name="Image" r:id="rId3" imgW="9561905" imgH="1600000" progId="Photoshop.Image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white">
                      <a:xfrm>
                        <a:off x="0" y="0"/>
                        <a:ext cx="9144000" cy="1200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Freeform 3"/>
          <p:cNvSpPr>
            <a:spLocks/>
          </p:cNvSpPr>
          <p:nvPr/>
        </p:nvSpPr>
        <p:spPr bwMode="gray">
          <a:xfrm>
            <a:off x="-11113" y="280988"/>
            <a:ext cx="9155113" cy="1620837"/>
          </a:xfrm>
          <a:custGeom>
            <a:avLst/>
            <a:gdLst>
              <a:gd name="T0" fmla="*/ 2147483646 w 5767"/>
              <a:gd name="T1" fmla="*/ 2147483646 h 1021"/>
              <a:gd name="T2" fmla="*/ 2147483646 w 5767"/>
              <a:gd name="T3" fmla="*/ 2147483646 h 1021"/>
              <a:gd name="T4" fmla="*/ 2147483646 w 5767"/>
              <a:gd name="T5" fmla="*/ 2147483646 h 1021"/>
              <a:gd name="T6" fmla="*/ 2147483646 w 5767"/>
              <a:gd name="T7" fmla="*/ 0 h 1021"/>
              <a:gd name="T8" fmla="*/ 2147483646 w 5767"/>
              <a:gd name="T9" fmla="*/ 2147483646 h 1021"/>
              <a:gd name="T10" fmla="*/ 2147483646 w 5767"/>
              <a:gd name="T11" fmla="*/ 2147483646 h 1021"/>
              <a:gd name="T12" fmla="*/ 2147483646 w 5767"/>
              <a:gd name="T13" fmla="*/ 2147483646 h 1021"/>
              <a:gd name="T14" fmla="*/ 2147483646 w 5767"/>
              <a:gd name="T15" fmla="*/ 2147483646 h 1021"/>
              <a:gd name="T16" fmla="*/ 2147483646 w 5767"/>
              <a:gd name="T17" fmla="*/ 2147483646 h 1021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5767" h="1021">
                <a:moveTo>
                  <a:pt x="6" y="109"/>
                </a:moveTo>
                <a:cubicBezTo>
                  <a:pt x="144" y="93"/>
                  <a:pt x="626" y="42"/>
                  <a:pt x="1427" y="46"/>
                </a:cubicBezTo>
                <a:cubicBezTo>
                  <a:pt x="2228" y="50"/>
                  <a:pt x="3321" y="224"/>
                  <a:pt x="4032" y="255"/>
                </a:cubicBezTo>
                <a:cubicBezTo>
                  <a:pt x="4742" y="286"/>
                  <a:pt x="5649" y="91"/>
                  <a:pt x="5767" y="0"/>
                </a:cubicBezTo>
                <a:lnTo>
                  <a:pt x="5767" y="776"/>
                </a:lnTo>
                <a:cubicBezTo>
                  <a:pt x="4948" y="879"/>
                  <a:pt x="4543" y="844"/>
                  <a:pt x="4065" y="831"/>
                </a:cubicBezTo>
                <a:cubicBezTo>
                  <a:pt x="3587" y="818"/>
                  <a:pt x="2973" y="694"/>
                  <a:pt x="1984" y="674"/>
                </a:cubicBezTo>
                <a:cubicBezTo>
                  <a:pt x="995" y="654"/>
                  <a:pt x="28" y="969"/>
                  <a:pt x="14" y="995"/>
                </a:cubicBezTo>
                <a:cubicBezTo>
                  <a:pt x="0" y="1021"/>
                  <a:pt x="6" y="255"/>
                  <a:pt x="6" y="109"/>
                </a:cubicBezTo>
                <a:close/>
              </a:path>
            </a:pathLst>
          </a:custGeom>
          <a:solidFill>
            <a:schemeClr val="accent1">
              <a:alpha val="41176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" name="Freeform 4"/>
          <p:cNvSpPr>
            <a:spLocks/>
          </p:cNvSpPr>
          <p:nvPr/>
        </p:nvSpPr>
        <p:spPr bwMode="gray">
          <a:xfrm>
            <a:off x="-20638" y="533400"/>
            <a:ext cx="9161463" cy="1006475"/>
          </a:xfrm>
          <a:custGeom>
            <a:avLst/>
            <a:gdLst>
              <a:gd name="T0" fmla="*/ 2147483646 w 5771"/>
              <a:gd name="T1" fmla="*/ 2147483646 h 634"/>
              <a:gd name="T2" fmla="*/ 2147483646 w 5771"/>
              <a:gd name="T3" fmla="*/ 2147483646 h 634"/>
              <a:gd name="T4" fmla="*/ 2147483646 w 5771"/>
              <a:gd name="T5" fmla="*/ 2147483646 h 634"/>
              <a:gd name="T6" fmla="*/ 2147483646 w 5771"/>
              <a:gd name="T7" fmla="*/ 2147483646 h 634"/>
              <a:gd name="T8" fmla="*/ 2147483646 w 5771"/>
              <a:gd name="T9" fmla="*/ 2147483646 h 634"/>
              <a:gd name="T10" fmla="*/ 2147483646 w 5771"/>
              <a:gd name="T11" fmla="*/ 2147483646 h 634"/>
              <a:gd name="T12" fmla="*/ 2147483646 w 5771"/>
              <a:gd name="T13" fmla="*/ 2147483646 h 634"/>
              <a:gd name="T14" fmla="*/ 2147483646 w 5771"/>
              <a:gd name="T15" fmla="*/ 2147483646 h 634"/>
              <a:gd name="T16" fmla="*/ 2147483646 w 5771"/>
              <a:gd name="T17" fmla="*/ 2147483646 h 63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5771" h="634">
                <a:moveTo>
                  <a:pt x="20" y="109"/>
                </a:moveTo>
                <a:cubicBezTo>
                  <a:pt x="26" y="109"/>
                  <a:pt x="645" y="0"/>
                  <a:pt x="1442" y="3"/>
                </a:cubicBezTo>
                <a:cubicBezTo>
                  <a:pt x="2239" y="6"/>
                  <a:pt x="3443" y="123"/>
                  <a:pt x="4150" y="148"/>
                </a:cubicBezTo>
                <a:cubicBezTo>
                  <a:pt x="4858" y="173"/>
                  <a:pt x="5633" y="63"/>
                  <a:pt x="5771" y="37"/>
                </a:cubicBezTo>
                <a:lnTo>
                  <a:pt x="5771" y="557"/>
                </a:lnTo>
                <a:cubicBezTo>
                  <a:pt x="4926" y="634"/>
                  <a:pt x="4422" y="612"/>
                  <a:pt x="3942" y="592"/>
                </a:cubicBezTo>
                <a:cubicBezTo>
                  <a:pt x="3463" y="572"/>
                  <a:pt x="2588" y="450"/>
                  <a:pt x="1839" y="456"/>
                </a:cubicBezTo>
                <a:cubicBezTo>
                  <a:pt x="1182" y="455"/>
                  <a:pt x="0" y="618"/>
                  <a:pt x="6" y="620"/>
                </a:cubicBezTo>
                <a:cubicBezTo>
                  <a:pt x="12" y="621"/>
                  <a:pt x="14" y="109"/>
                  <a:pt x="20" y="10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8" name="Group 5"/>
          <p:cNvGrpSpPr>
            <a:grpSpLocks/>
          </p:cNvGrpSpPr>
          <p:nvPr/>
        </p:nvGrpSpPr>
        <p:grpSpPr bwMode="auto">
          <a:xfrm>
            <a:off x="7740650" y="347663"/>
            <a:ext cx="387350" cy="366712"/>
            <a:chOff x="4752" y="1200"/>
            <a:chExt cx="288" cy="288"/>
          </a:xfrm>
        </p:grpSpPr>
        <p:sp>
          <p:nvSpPr>
            <p:cNvPr id="9" name="Oval 6"/>
            <p:cNvSpPr>
              <a:spLocks noChangeArrowheads="1"/>
            </p:cNvSpPr>
            <p:nvPr userDrawn="1"/>
          </p:nvSpPr>
          <p:spPr bwMode="gray">
            <a:xfrm>
              <a:off x="4752" y="1200"/>
              <a:ext cx="288" cy="288"/>
            </a:xfrm>
            <a:prstGeom prst="ellipse">
              <a:avLst/>
            </a:prstGeom>
            <a:gradFill rotWithShape="1">
              <a:gsLst>
                <a:gs pos="0">
                  <a:schemeClr val="tx2">
                    <a:gamma/>
                    <a:tint val="25490"/>
                    <a:invGamma/>
                  </a:schemeClr>
                </a:gs>
                <a:gs pos="100000">
                  <a:schemeClr val="tx2">
                    <a:alpha val="3100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0" name="Oval 7"/>
            <p:cNvSpPr>
              <a:spLocks noChangeArrowheads="1"/>
            </p:cNvSpPr>
            <p:nvPr userDrawn="1"/>
          </p:nvSpPr>
          <p:spPr bwMode="gray">
            <a:xfrm>
              <a:off x="4752" y="1200"/>
              <a:ext cx="192" cy="192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/>
            </a:p>
          </p:txBody>
        </p:sp>
      </p:grpSp>
      <p:grpSp>
        <p:nvGrpSpPr>
          <p:cNvPr id="11" name="Group 8"/>
          <p:cNvGrpSpPr>
            <a:grpSpLocks/>
          </p:cNvGrpSpPr>
          <p:nvPr/>
        </p:nvGrpSpPr>
        <p:grpSpPr bwMode="auto">
          <a:xfrm>
            <a:off x="8153400" y="53975"/>
            <a:ext cx="609600" cy="592138"/>
            <a:chOff x="4992" y="816"/>
            <a:chExt cx="576" cy="576"/>
          </a:xfrm>
        </p:grpSpPr>
        <p:sp>
          <p:nvSpPr>
            <p:cNvPr id="12" name="Oval 9"/>
            <p:cNvSpPr>
              <a:spLocks noChangeArrowheads="1"/>
            </p:cNvSpPr>
            <p:nvPr userDrawn="1"/>
          </p:nvSpPr>
          <p:spPr bwMode="gray">
            <a:xfrm>
              <a:off x="4992" y="816"/>
              <a:ext cx="576" cy="576"/>
            </a:xfrm>
            <a:prstGeom prst="ellipse">
              <a:avLst/>
            </a:prstGeom>
            <a:solidFill>
              <a:schemeClr val="accent1">
                <a:alpha val="5294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3" name="Oval 10"/>
            <p:cNvSpPr>
              <a:spLocks noChangeArrowheads="1"/>
            </p:cNvSpPr>
            <p:nvPr userDrawn="1"/>
          </p:nvSpPr>
          <p:spPr bwMode="gray">
            <a:xfrm>
              <a:off x="4992" y="912"/>
              <a:ext cx="480" cy="385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/>
            </a:p>
          </p:txBody>
        </p:sp>
      </p:grpSp>
      <p:grpSp>
        <p:nvGrpSpPr>
          <p:cNvPr id="14" name="Group 11"/>
          <p:cNvGrpSpPr>
            <a:grpSpLocks/>
          </p:cNvGrpSpPr>
          <p:nvPr/>
        </p:nvGrpSpPr>
        <p:grpSpPr bwMode="auto">
          <a:xfrm>
            <a:off x="171450" y="819150"/>
            <a:ext cx="720725" cy="762000"/>
            <a:chOff x="4992" y="816"/>
            <a:chExt cx="576" cy="576"/>
          </a:xfrm>
        </p:grpSpPr>
        <p:sp>
          <p:nvSpPr>
            <p:cNvPr id="15" name="Oval 12"/>
            <p:cNvSpPr>
              <a:spLocks noChangeArrowheads="1"/>
            </p:cNvSpPr>
            <p:nvPr userDrawn="1"/>
          </p:nvSpPr>
          <p:spPr bwMode="gray">
            <a:xfrm>
              <a:off x="4992" y="816"/>
              <a:ext cx="576" cy="576"/>
            </a:xfrm>
            <a:prstGeom prst="ellipse">
              <a:avLst/>
            </a:prstGeom>
            <a:solidFill>
              <a:schemeClr val="tx2">
                <a:alpha val="5294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6" name="Oval 13"/>
            <p:cNvSpPr>
              <a:spLocks noChangeArrowheads="1"/>
            </p:cNvSpPr>
            <p:nvPr userDrawn="1"/>
          </p:nvSpPr>
          <p:spPr bwMode="gray">
            <a:xfrm>
              <a:off x="4992" y="912"/>
              <a:ext cx="480" cy="384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/>
            </a:p>
          </p:txBody>
        </p:sp>
      </p:grpSp>
      <p:pic>
        <p:nvPicPr>
          <p:cNvPr id="17" name="Picture 18" descr="zjnu校标2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1375" y="765175"/>
            <a:ext cx="6477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8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9" name="灯片编号占位符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86930186-D94F-449F-A19F-36CD2F0585A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230421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2"/>
          <p:cNvGraphicFramePr>
            <a:graphicFrameLocks noChangeAspect="1"/>
          </p:cNvGraphicFramePr>
          <p:nvPr/>
        </p:nvGraphicFramePr>
        <p:xfrm>
          <a:off x="0" y="0"/>
          <a:ext cx="9144000" cy="1200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4" name="Image" r:id="rId3" imgW="9561905" imgH="1600000" progId="Photoshop.Image.6">
                  <p:embed/>
                </p:oleObj>
              </mc:Choice>
              <mc:Fallback>
                <p:oleObj name="Image" r:id="rId3" imgW="9561905" imgH="1600000" progId="Photoshop.Image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white">
                      <a:xfrm>
                        <a:off x="0" y="0"/>
                        <a:ext cx="9144000" cy="1200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Freeform 3"/>
          <p:cNvSpPr>
            <a:spLocks/>
          </p:cNvSpPr>
          <p:nvPr/>
        </p:nvSpPr>
        <p:spPr bwMode="gray">
          <a:xfrm>
            <a:off x="-11113" y="280988"/>
            <a:ext cx="9155113" cy="1620837"/>
          </a:xfrm>
          <a:custGeom>
            <a:avLst/>
            <a:gdLst>
              <a:gd name="T0" fmla="*/ 2147483646 w 5767"/>
              <a:gd name="T1" fmla="*/ 2147483646 h 1021"/>
              <a:gd name="T2" fmla="*/ 2147483646 w 5767"/>
              <a:gd name="T3" fmla="*/ 2147483646 h 1021"/>
              <a:gd name="T4" fmla="*/ 2147483646 w 5767"/>
              <a:gd name="T5" fmla="*/ 2147483646 h 1021"/>
              <a:gd name="T6" fmla="*/ 2147483646 w 5767"/>
              <a:gd name="T7" fmla="*/ 0 h 1021"/>
              <a:gd name="T8" fmla="*/ 2147483646 w 5767"/>
              <a:gd name="T9" fmla="*/ 2147483646 h 1021"/>
              <a:gd name="T10" fmla="*/ 2147483646 w 5767"/>
              <a:gd name="T11" fmla="*/ 2147483646 h 1021"/>
              <a:gd name="T12" fmla="*/ 2147483646 w 5767"/>
              <a:gd name="T13" fmla="*/ 2147483646 h 1021"/>
              <a:gd name="T14" fmla="*/ 2147483646 w 5767"/>
              <a:gd name="T15" fmla="*/ 2147483646 h 1021"/>
              <a:gd name="T16" fmla="*/ 2147483646 w 5767"/>
              <a:gd name="T17" fmla="*/ 2147483646 h 1021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5767" h="1021">
                <a:moveTo>
                  <a:pt x="6" y="109"/>
                </a:moveTo>
                <a:cubicBezTo>
                  <a:pt x="144" y="93"/>
                  <a:pt x="626" y="42"/>
                  <a:pt x="1427" y="46"/>
                </a:cubicBezTo>
                <a:cubicBezTo>
                  <a:pt x="2228" y="50"/>
                  <a:pt x="3321" y="224"/>
                  <a:pt x="4032" y="255"/>
                </a:cubicBezTo>
                <a:cubicBezTo>
                  <a:pt x="4742" y="286"/>
                  <a:pt x="5649" y="91"/>
                  <a:pt x="5767" y="0"/>
                </a:cubicBezTo>
                <a:lnTo>
                  <a:pt x="5767" y="776"/>
                </a:lnTo>
                <a:cubicBezTo>
                  <a:pt x="4948" y="879"/>
                  <a:pt x="4543" y="844"/>
                  <a:pt x="4065" y="831"/>
                </a:cubicBezTo>
                <a:cubicBezTo>
                  <a:pt x="3587" y="818"/>
                  <a:pt x="2973" y="694"/>
                  <a:pt x="1984" y="674"/>
                </a:cubicBezTo>
                <a:cubicBezTo>
                  <a:pt x="995" y="654"/>
                  <a:pt x="28" y="969"/>
                  <a:pt x="14" y="995"/>
                </a:cubicBezTo>
                <a:cubicBezTo>
                  <a:pt x="0" y="1021"/>
                  <a:pt x="6" y="255"/>
                  <a:pt x="6" y="109"/>
                </a:cubicBezTo>
                <a:close/>
              </a:path>
            </a:pathLst>
          </a:custGeom>
          <a:solidFill>
            <a:schemeClr val="accent1">
              <a:alpha val="41176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" name="Freeform 4"/>
          <p:cNvSpPr>
            <a:spLocks/>
          </p:cNvSpPr>
          <p:nvPr/>
        </p:nvSpPr>
        <p:spPr bwMode="gray">
          <a:xfrm>
            <a:off x="-20638" y="533400"/>
            <a:ext cx="9161463" cy="1006475"/>
          </a:xfrm>
          <a:custGeom>
            <a:avLst/>
            <a:gdLst>
              <a:gd name="T0" fmla="*/ 2147483646 w 5771"/>
              <a:gd name="T1" fmla="*/ 2147483646 h 634"/>
              <a:gd name="T2" fmla="*/ 2147483646 w 5771"/>
              <a:gd name="T3" fmla="*/ 2147483646 h 634"/>
              <a:gd name="T4" fmla="*/ 2147483646 w 5771"/>
              <a:gd name="T5" fmla="*/ 2147483646 h 634"/>
              <a:gd name="T6" fmla="*/ 2147483646 w 5771"/>
              <a:gd name="T7" fmla="*/ 2147483646 h 634"/>
              <a:gd name="T8" fmla="*/ 2147483646 w 5771"/>
              <a:gd name="T9" fmla="*/ 2147483646 h 634"/>
              <a:gd name="T10" fmla="*/ 2147483646 w 5771"/>
              <a:gd name="T11" fmla="*/ 2147483646 h 634"/>
              <a:gd name="T12" fmla="*/ 2147483646 w 5771"/>
              <a:gd name="T13" fmla="*/ 2147483646 h 634"/>
              <a:gd name="T14" fmla="*/ 2147483646 w 5771"/>
              <a:gd name="T15" fmla="*/ 2147483646 h 634"/>
              <a:gd name="T16" fmla="*/ 2147483646 w 5771"/>
              <a:gd name="T17" fmla="*/ 2147483646 h 63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5771" h="634">
                <a:moveTo>
                  <a:pt x="20" y="109"/>
                </a:moveTo>
                <a:cubicBezTo>
                  <a:pt x="26" y="109"/>
                  <a:pt x="645" y="0"/>
                  <a:pt x="1442" y="3"/>
                </a:cubicBezTo>
                <a:cubicBezTo>
                  <a:pt x="2239" y="6"/>
                  <a:pt x="3443" y="123"/>
                  <a:pt x="4150" y="148"/>
                </a:cubicBezTo>
                <a:cubicBezTo>
                  <a:pt x="4858" y="173"/>
                  <a:pt x="5633" y="63"/>
                  <a:pt x="5771" y="37"/>
                </a:cubicBezTo>
                <a:lnTo>
                  <a:pt x="5771" y="557"/>
                </a:lnTo>
                <a:cubicBezTo>
                  <a:pt x="4926" y="634"/>
                  <a:pt x="4422" y="612"/>
                  <a:pt x="3942" y="592"/>
                </a:cubicBezTo>
                <a:cubicBezTo>
                  <a:pt x="3463" y="572"/>
                  <a:pt x="2588" y="450"/>
                  <a:pt x="1839" y="456"/>
                </a:cubicBezTo>
                <a:cubicBezTo>
                  <a:pt x="1182" y="455"/>
                  <a:pt x="0" y="618"/>
                  <a:pt x="6" y="620"/>
                </a:cubicBezTo>
                <a:cubicBezTo>
                  <a:pt x="12" y="621"/>
                  <a:pt x="14" y="109"/>
                  <a:pt x="20" y="10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7" name="Group 5"/>
          <p:cNvGrpSpPr>
            <a:grpSpLocks/>
          </p:cNvGrpSpPr>
          <p:nvPr/>
        </p:nvGrpSpPr>
        <p:grpSpPr bwMode="auto">
          <a:xfrm>
            <a:off x="7740650" y="347663"/>
            <a:ext cx="387350" cy="366712"/>
            <a:chOff x="4752" y="1200"/>
            <a:chExt cx="288" cy="288"/>
          </a:xfrm>
        </p:grpSpPr>
        <p:sp>
          <p:nvSpPr>
            <p:cNvPr id="8" name="Oval 6"/>
            <p:cNvSpPr>
              <a:spLocks noChangeArrowheads="1"/>
            </p:cNvSpPr>
            <p:nvPr userDrawn="1"/>
          </p:nvSpPr>
          <p:spPr bwMode="gray">
            <a:xfrm>
              <a:off x="4752" y="1200"/>
              <a:ext cx="288" cy="288"/>
            </a:xfrm>
            <a:prstGeom prst="ellipse">
              <a:avLst/>
            </a:prstGeom>
            <a:gradFill rotWithShape="1">
              <a:gsLst>
                <a:gs pos="0">
                  <a:schemeClr val="tx2">
                    <a:gamma/>
                    <a:tint val="25490"/>
                    <a:invGamma/>
                  </a:schemeClr>
                </a:gs>
                <a:gs pos="100000">
                  <a:schemeClr val="tx2">
                    <a:alpha val="3100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9" name="Oval 7"/>
            <p:cNvSpPr>
              <a:spLocks noChangeArrowheads="1"/>
            </p:cNvSpPr>
            <p:nvPr userDrawn="1"/>
          </p:nvSpPr>
          <p:spPr bwMode="gray">
            <a:xfrm>
              <a:off x="4752" y="1200"/>
              <a:ext cx="192" cy="192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/>
            </a:p>
          </p:txBody>
        </p:sp>
      </p:grpSp>
      <p:grpSp>
        <p:nvGrpSpPr>
          <p:cNvPr id="10" name="Group 8"/>
          <p:cNvGrpSpPr>
            <a:grpSpLocks/>
          </p:cNvGrpSpPr>
          <p:nvPr/>
        </p:nvGrpSpPr>
        <p:grpSpPr bwMode="auto">
          <a:xfrm>
            <a:off x="8153400" y="53975"/>
            <a:ext cx="609600" cy="592138"/>
            <a:chOff x="4992" y="816"/>
            <a:chExt cx="576" cy="576"/>
          </a:xfrm>
        </p:grpSpPr>
        <p:sp>
          <p:nvSpPr>
            <p:cNvPr id="11" name="Oval 9"/>
            <p:cNvSpPr>
              <a:spLocks noChangeArrowheads="1"/>
            </p:cNvSpPr>
            <p:nvPr userDrawn="1"/>
          </p:nvSpPr>
          <p:spPr bwMode="gray">
            <a:xfrm>
              <a:off x="4992" y="816"/>
              <a:ext cx="576" cy="576"/>
            </a:xfrm>
            <a:prstGeom prst="ellipse">
              <a:avLst/>
            </a:prstGeom>
            <a:solidFill>
              <a:schemeClr val="accent1">
                <a:alpha val="5294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2" name="Oval 10"/>
            <p:cNvSpPr>
              <a:spLocks noChangeArrowheads="1"/>
            </p:cNvSpPr>
            <p:nvPr userDrawn="1"/>
          </p:nvSpPr>
          <p:spPr bwMode="gray">
            <a:xfrm>
              <a:off x="4992" y="912"/>
              <a:ext cx="480" cy="385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/>
            </a:p>
          </p:txBody>
        </p:sp>
      </p:grpSp>
      <p:grpSp>
        <p:nvGrpSpPr>
          <p:cNvPr id="13" name="Group 11"/>
          <p:cNvGrpSpPr>
            <a:grpSpLocks/>
          </p:cNvGrpSpPr>
          <p:nvPr/>
        </p:nvGrpSpPr>
        <p:grpSpPr bwMode="auto">
          <a:xfrm>
            <a:off x="171450" y="819150"/>
            <a:ext cx="720725" cy="762000"/>
            <a:chOff x="4992" y="816"/>
            <a:chExt cx="576" cy="576"/>
          </a:xfrm>
        </p:grpSpPr>
        <p:sp>
          <p:nvSpPr>
            <p:cNvPr id="14" name="Oval 12"/>
            <p:cNvSpPr>
              <a:spLocks noChangeArrowheads="1"/>
            </p:cNvSpPr>
            <p:nvPr userDrawn="1"/>
          </p:nvSpPr>
          <p:spPr bwMode="gray">
            <a:xfrm>
              <a:off x="4992" y="816"/>
              <a:ext cx="576" cy="576"/>
            </a:xfrm>
            <a:prstGeom prst="ellipse">
              <a:avLst/>
            </a:prstGeom>
            <a:solidFill>
              <a:schemeClr val="tx2">
                <a:alpha val="5294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5" name="Oval 13"/>
            <p:cNvSpPr>
              <a:spLocks noChangeArrowheads="1"/>
            </p:cNvSpPr>
            <p:nvPr userDrawn="1"/>
          </p:nvSpPr>
          <p:spPr bwMode="gray">
            <a:xfrm>
              <a:off x="4992" y="912"/>
              <a:ext cx="480" cy="384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/>
            </a:p>
          </p:txBody>
        </p:sp>
      </p:grpSp>
      <p:pic>
        <p:nvPicPr>
          <p:cNvPr id="16" name="Picture 18" descr="zjnu校标2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1375" y="765175"/>
            <a:ext cx="6477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8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6051DA0-1A7C-4FCB-9F49-9BD63588B1C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402560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2"/>
          <p:cNvGraphicFramePr>
            <a:graphicFrameLocks noChangeAspect="1"/>
          </p:cNvGraphicFramePr>
          <p:nvPr/>
        </p:nvGraphicFramePr>
        <p:xfrm>
          <a:off x="0" y="0"/>
          <a:ext cx="9144000" cy="1200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8" name="Image" r:id="rId3" imgW="9561905" imgH="1600000" progId="Photoshop.Image.6">
                  <p:embed/>
                </p:oleObj>
              </mc:Choice>
              <mc:Fallback>
                <p:oleObj name="Image" r:id="rId3" imgW="9561905" imgH="1600000" progId="Photoshop.Image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white">
                      <a:xfrm>
                        <a:off x="0" y="0"/>
                        <a:ext cx="9144000" cy="1200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Freeform 3"/>
          <p:cNvSpPr>
            <a:spLocks/>
          </p:cNvSpPr>
          <p:nvPr/>
        </p:nvSpPr>
        <p:spPr bwMode="gray">
          <a:xfrm>
            <a:off x="-11113" y="280988"/>
            <a:ext cx="9155113" cy="1620837"/>
          </a:xfrm>
          <a:custGeom>
            <a:avLst/>
            <a:gdLst>
              <a:gd name="T0" fmla="*/ 2147483646 w 5767"/>
              <a:gd name="T1" fmla="*/ 2147483646 h 1021"/>
              <a:gd name="T2" fmla="*/ 2147483646 w 5767"/>
              <a:gd name="T3" fmla="*/ 2147483646 h 1021"/>
              <a:gd name="T4" fmla="*/ 2147483646 w 5767"/>
              <a:gd name="T5" fmla="*/ 2147483646 h 1021"/>
              <a:gd name="T6" fmla="*/ 2147483646 w 5767"/>
              <a:gd name="T7" fmla="*/ 0 h 1021"/>
              <a:gd name="T8" fmla="*/ 2147483646 w 5767"/>
              <a:gd name="T9" fmla="*/ 2147483646 h 1021"/>
              <a:gd name="T10" fmla="*/ 2147483646 w 5767"/>
              <a:gd name="T11" fmla="*/ 2147483646 h 1021"/>
              <a:gd name="T12" fmla="*/ 2147483646 w 5767"/>
              <a:gd name="T13" fmla="*/ 2147483646 h 1021"/>
              <a:gd name="T14" fmla="*/ 2147483646 w 5767"/>
              <a:gd name="T15" fmla="*/ 2147483646 h 1021"/>
              <a:gd name="T16" fmla="*/ 2147483646 w 5767"/>
              <a:gd name="T17" fmla="*/ 2147483646 h 1021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5767" h="1021">
                <a:moveTo>
                  <a:pt x="6" y="109"/>
                </a:moveTo>
                <a:cubicBezTo>
                  <a:pt x="144" y="93"/>
                  <a:pt x="626" y="42"/>
                  <a:pt x="1427" y="46"/>
                </a:cubicBezTo>
                <a:cubicBezTo>
                  <a:pt x="2228" y="50"/>
                  <a:pt x="3321" y="224"/>
                  <a:pt x="4032" y="255"/>
                </a:cubicBezTo>
                <a:cubicBezTo>
                  <a:pt x="4742" y="286"/>
                  <a:pt x="5649" y="91"/>
                  <a:pt x="5767" y="0"/>
                </a:cubicBezTo>
                <a:lnTo>
                  <a:pt x="5767" y="776"/>
                </a:lnTo>
                <a:cubicBezTo>
                  <a:pt x="4948" y="879"/>
                  <a:pt x="4543" y="844"/>
                  <a:pt x="4065" y="831"/>
                </a:cubicBezTo>
                <a:cubicBezTo>
                  <a:pt x="3587" y="818"/>
                  <a:pt x="2973" y="694"/>
                  <a:pt x="1984" y="674"/>
                </a:cubicBezTo>
                <a:cubicBezTo>
                  <a:pt x="995" y="654"/>
                  <a:pt x="28" y="969"/>
                  <a:pt x="14" y="995"/>
                </a:cubicBezTo>
                <a:cubicBezTo>
                  <a:pt x="0" y="1021"/>
                  <a:pt x="6" y="255"/>
                  <a:pt x="6" y="109"/>
                </a:cubicBezTo>
                <a:close/>
              </a:path>
            </a:pathLst>
          </a:custGeom>
          <a:solidFill>
            <a:schemeClr val="accent1">
              <a:alpha val="41176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" name="Freeform 4"/>
          <p:cNvSpPr>
            <a:spLocks/>
          </p:cNvSpPr>
          <p:nvPr/>
        </p:nvSpPr>
        <p:spPr bwMode="gray">
          <a:xfrm>
            <a:off x="-20638" y="533400"/>
            <a:ext cx="9161463" cy="1006475"/>
          </a:xfrm>
          <a:custGeom>
            <a:avLst/>
            <a:gdLst>
              <a:gd name="T0" fmla="*/ 2147483646 w 5771"/>
              <a:gd name="T1" fmla="*/ 2147483646 h 634"/>
              <a:gd name="T2" fmla="*/ 2147483646 w 5771"/>
              <a:gd name="T3" fmla="*/ 2147483646 h 634"/>
              <a:gd name="T4" fmla="*/ 2147483646 w 5771"/>
              <a:gd name="T5" fmla="*/ 2147483646 h 634"/>
              <a:gd name="T6" fmla="*/ 2147483646 w 5771"/>
              <a:gd name="T7" fmla="*/ 2147483646 h 634"/>
              <a:gd name="T8" fmla="*/ 2147483646 w 5771"/>
              <a:gd name="T9" fmla="*/ 2147483646 h 634"/>
              <a:gd name="T10" fmla="*/ 2147483646 w 5771"/>
              <a:gd name="T11" fmla="*/ 2147483646 h 634"/>
              <a:gd name="T12" fmla="*/ 2147483646 w 5771"/>
              <a:gd name="T13" fmla="*/ 2147483646 h 634"/>
              <a:gd name="T14" fmla="*/ 2147483646 w 5771"/>
              <a:gd name="T15" fmla="*/ 2147483646 h 634"/>
              <a:gd name="T16" fmla="*/ 2147483646 w 5771"/>
              <a:gd name="T17" fmla="*/ 2147483646 h 63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5771" h="634">
                <a:moveTo>
                  <a:pt x="20" y="109"/>
                </a:moveTo>
                <a:cubicBezTo>
                  <a:pt x="26" y="109"/>
                  <a:pt x="645" y="0"/>
                  <a:pt x="1442" y="3"/>
                </a:cubicBezTo>
                <a:cubicBezTo>
                  <a:pt x="2239" y="6"/>
                  <a:pt x="3443" y="123"/>
                  <a:pt x="4150" y="148"/>
                </a:cubicBezTo>
                <a:cubicBezTo>
                  <a:pt x="4858" y="173"/>
                  <a:pt x="5633" y="63"/>
                  <a:pt x="5771" y="37"/>
                </a:cubicBezTo>
                <a:lnTo>
                  <a:pt x="5771" y="557"/>
                </a:lnTo>
                <a:cubicBezTo>
                  <a:pt x="4926" y="634"/>
                  <a:pt x="4422" y="612"/>
                  <a:pt x="3942" y="592"/>
                </a:cubicBezTo>
                <a:cubicBezTo>
                  <a:pt x="3463" y="572"/>
                  <a:pt x="2588" y="450"/>
                  <a:pt x="1839" y="456"/>
                </a:cubicBezTo>
                <a:cubicBezTo>
                  <a:pt x="1182" y="455"/>
                  <a:pt x="0" y="618"/>
                  <a:pt x="6" y="620"/>
                </a:cubicBezTo>
                <a:cubicBezTo>
                  <a:pt x="12" y="621"/>
                  <a:pt x="14" y="109"/>
                  <a:pt x="20" y="10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7" name="Group 5"/>
          <p:cNvGrpSpPr>
            <a:grpSpLocks/>
          </p:cNvGrpSpPr>
          <p:nvPr/>
        </p:nvGrpSpPr>
        <p:grpSpPr bwMode="auto">
          <a:xfrm>
            <a:off x="7740650" y="347663"/>
            <a:ext cx="387350" cy="366712"/>
            <a:chOff x="4752" y="1200"/>
            <a:chExt cx="288" cy="288"/>
          </a:xfrm>
        </p:grpSpPr>
        <p:sp>
          <p:nvSpPr>
            <p:cNvPr id="8" name="Oval 6"/>
            <p:cNvSpPr>
              <a:spLocks noChangeArrowheads="1"/>
            </p:cNvSpPr>
            <p:nvPr userDrawn="1"/>
          </p:nvSpPr>
          <p:spPr bwMode="gray">
            <a:xfrm>
              <a:off x="4752" y="1200"/>
              <a:ext cx="288" cy="288"/>
            </a:xfrm>
            <a:prstGeom prst="ellipse">
              <a:avLst/>
            </a:prstGeom>
            <a:gradFill rotWithShape="1">
              <a:gsLst>
                <a:gs pos="0">
                  <a:schemeClr val="tx2">
                    <a:gamma/>
                    <a:tint val="25490"/>
                    <a:invGamma/>
                  </a:schemeClr>
                </a:gs>
                <a:gs pos="100000">
                  <a:schemeClr val="tx2">
                    <a:alpha val="3100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9" name="Oval 7"/>
            <p:cNvSpPr>
              <a:spLocks noChangeArrowheads="1"/>
            </p:cNvSpPr>
            <p:nvPr userDrawn="1"/>
          </p:nvSpPr>
          <p:spPr bwMode="gray">
            <a:xfrm>
              <a:off x="4752" y="1200"/>
              <a:ext cx="192" cy="192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/>
            </a:p>
          </p:txBody>
        </p:sp>
      </p:grpSp>
      <p:grpSp>
        <p:nvGrpSpPr>
          <p:cNvPr id="10" name="Group 8"/>
          <p:cNvGrpSpPr>
            <a:grpSpLocks/>
          </p:cNvGrpSpPr>
          <p:nvPr/>
        </p:nvGrpSpPr>
        <p:grpSpPr bwMode="auto">
          <a:xfrm>
            <a:off x="8153400" y="53975"/>
            <a:ext cx="609600" cy="592138"/>
            <a:chOff x="4992" y="816"/>
            <a:chExt cx="576" cy="576"/>
          </a:xfrm>
        </p:grpSpPr>
        <p:sp>
          <p:nvSpPr>
            <p:cNvPr id="11" name="Oval 9"/>
            <p:cNvSpPr>
              <a:spLocks noChangeArrowheads="1"/>
            </p:cNvSpPr>
            <p:nvPr userDrawn="1"/>
          </p:nvSpPr>
          <p:spPr bwMode="gray">
            <a:xfrm>
              <a:off x="4992" y="816"/>
              <a:ext cx="576" cy="576"/>
            </a:xfrm>
            <a:prstGeom prst="ellipse">
              <a:avLst/>
            </a:prstGeom>
            <a:solidFill>
              <a:schemeClr val="accent1">
                <a:alpha val="5294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2" name="Oval 10"/>
            <p:cNvSpPr>
              <a:spLocks noChangeArrowheads="1"/>
            </p:cNvSpPr>
            <p:nvPr userDrawn="1"/>
          </p:nvSpPr>
          <p:spPr bwMode="gray">
            <a:xfrm>
              <a:off x="4992" y="912"/>
              <a:ext cx="480" cy="385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/>
            </a:p>
          </p:txBody>
        </p:sp>
      </p:grpSp>
      <p:grpSp>
        <p:nvGrpSpPr>
          <p:cNvPr id="13" name="Group 11"/>
          <p:cNvGrpSpPr>
            <a:grpSpLocks/>
          </p:cNvGrpSpPr>
          <p:nvPr/>
        </p:nvGrpSpPr>
        <p:grpSpPr bwMode="auto">
          <a:xfrm>
            <a:off x="171450" y="819150"/>
            <a:ext cx="720725" cy="762000"/>
            <a:chOff x="4992" y="816"/>
            <a:chExt cx="576" cy="576"/>
          </a:xfrm>
        </p:grpSpPr>
        <p:sp>
          <p:nvSpPr>
            <p:cNvPr id="14" name="Oval 12"/>
            <p:cNvSpPr>
              <a:spLocks noChangeArrowheads="1"/>
            </p:cNvSpPr>
            <p:nvPr userDrawn="1"/>
          </p:nvSpPr>
          <p:spPr bwMode="gray">
            <a:xfrm>
              <a:off x="4992" y="816"/>
              <a:ext cx="576" cy="576"/>
            </a:xfrm>
            <a:prstGeom prst="ellipse">
              <a:avLst/>
            </a:prstGeom>
            <a:solidFill>
              <a:schemeClr val="tx2">
                <a:alpha val="5294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5" name="Oval 13"/>
            <p:cNvSpPr>
              <a:spLocks noChangeArrowheads="1"/>
            </p:cNvSpPr>
            <p:nvPr userDrawn="1"/>
          </p:nvSpPr>
          <p:spPr bwMode="gray">
            <a:xfrm>
              <a:off x="4992" y="912"/>
              <a:ext cx="480" cy="384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/>
            </a:p>
          </p:txBody>
        </p:sp>
      </p:grpSp>
      <p:pic>
        <p:nvPicPr>
          <p:cNvPr id="16" name="Picture 18" descr="zjnu校标2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1375" y="765175"/>
            <a:ext cx="6477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685800"/>
            <a:ext cx="2057400" cy="56388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685800"/>
            <a:ext cx="6019800" cy="56388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8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8BAFC122-C76F-4110-A861-BB6FAF5FD4E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682382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dgm" preserve="1">
  <p:cSld name="标题和图示或组织结构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2"/>
          <p:cNvGraphicFramePr>
            <a:graphicFrameLocks noChangeAspect="1"/>
          </p:cNvGraphicFramePr>
          <p:nvPr/>
        </p:nvGraphicFramePr>
        <p:xfrm>
          <a:off x="0" y="0"/>
          <a:ext cx="9144000" cy="1200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2" name="Image" r:id="rId3" imgW="9561905" imgH="1600000" progId="Photoshop.Image.6">
                  <p:embed/>
                </p:oleObj>
              </mc:Choice>
              <mc:Fallback>
                <p:oleObj name="Image" r:id="rId3" imgW="9561905" imgH="1600000" progId="Photoshop.Image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white">
                      <a:xfrm>
                        <a:off x="0" y="0"/>
                        <a:ext cx="9144000" cy="1200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Freeform 3"/>
          <p:cNvSpPr>
            <a:spLocks/>
          </p:cNvSpPr>
          <p:nvPr/>
        </p:nvSpPr>
        <p:spPr bwMode="gray">
          <a:xfrm>
            <a:off x="-11113" y="280988"/>
            <a:ext cx="9155113" cy="1620837"/>
          </a:xfrm>
          <a:custGeom>
            <a:avLst/>
            <a:gdLst>
              <a:gd name="T0" fmla="*/ 2147483646 w 5767"/>
              <a:gd name="T1" fmla="*/ 2147483646 h 1021"/>
              <a:gd name="T2" fmla="*/ 2147483646 w 5767"/>
              <a:gd name="T3" fmla="*/ 2147483646 h 1021"/>
              <a:gd name="T4" fmla="*/ 2147483646 w 5767"/>
              <a:gd name="T5" fmla="*/ 2147483646 h 1021"/>
              <a:gd name="T6" fmla="*/ 2147483646 w 5767"/>
              <a:gd name="T7" fmla="*/ 0 h 1021"/>
              <a:gd name="T8" fmla="*/ 2147483646 w 5767"/>
              <a:gd name="T9" fmla="*/ 2147483646 h 1021"/>
              <a:gd name="T10" fmla="*/ 2147483646 w 5767"/>
              <a:gd name="T11" fmla="*/ 2147483646 h 1021"/>
              <a:gd name="T12" fmla="*/ 2147483646 w 5767"/>
              <a:gd name="T13" fmla="*/ 2147483646 h 1021"/>
              <a:gd name="T14" fmla="*/ 2147483646 w 5767"/>
              <a:gd name="T15" fmla="*/ 2147483646 h 1021"/>
              <a:gd name="T16" fmla="*/ 2147483646 w 5767"/>
              <a:gd name="T17" fmla="*/ 2147483646 h 1021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5767" h="1021">
                <a:moveTo>
                  <a:pt x="6" y="109"/>
                </a:moveTo>
                <a:cubicBezTo>
                  <a:pt x="144" y="93"/>
                  <a:pt x="626" y="42"/>
                  <a:pt x="1427" y="46"/>
                </a:cubicBezTo>
                <a:cubicBezTo>
                  <a:pt x="2228" y="50"/>
                  <a:pt x="3321" y="224"/>
                  <a:pt x="4032" y="255"/>
                </a:cubicBezTo>
                <a:cubicBezTo>
                  <a:pt x="4742" y="286"/>
                  <a:pt x="5649" y="91"/>
                  <a:pt x="5767" y="0"/>
                </a:cubicBezTo>
                <a:lnTo>
                  <a:pt x="5767" y="776"/>
                </a:lnTo>
                <a:cubicBezTo>
                  <a:pt x="4948" y="879"/>
                  <a:pt x="4543" y="844"/>
                  <a:pt x="4065" y="831"/>
                </a:cubicBezTo>
                <a:cubicBezTo>
                  <a:pt x="3587" y="818"/>
                  <a:pt x="2973" y="694"/>
                  <a:pt x="1984" y="674"/>
                </a:cubicBezTo>
                <a:cubicBezTo>
                  <a:pt x="995" y="654"/>
                  <a:pt x="28" y="969"/>
                  <a:pt x="14" y="995"/>
                </a:cubicBezTo>
                <a:cubicBezTo>
                  <a:pt x="0" y="1021"/>
                  <a:pt x="6" y="255"/>
                  <a:pt x="6" y="109"/>
                </a:cubicBezTo>
                <a:close/>
              </a:path>
            </a:pathLst>
          </a:custGeom>
          <a:solidFill>
            <a:schemeClr val="accent1">
              <a:alpha val="41176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" name="Freeform 4"/>
          <p:cNvSpPr>
            <a:spLocks/>
          </p:cNvSpPr>
          <p:nvPr/>
        </p:nvSpPr>
        <p:spPr bwMode="gray">
          <a:xfrm>
            <a:off x="-20638" y="533400"/>
            <a:ext cx="9161463" cy="1006475"/>
          </a:xfrm>
          <a:custGeom>
            <a:avLst/>
            <a:gdLst>
              <a:gd name="T0" fmla="*/ 2147483646 w 5771"/>
              <a:gd name="T1" fmla="*/ 2147483646 h 634"/>
              <a:gd name="T2" fmla="*/ 2147483646 w 5771"/>
              <a:gd name="T3" fmla="*/ 2147483646 h 634"/>
              <a:gd name="T4" fmla="*/ 2147483646 w 5771"/>
              <a:gd name="T5" fmla="*/ 2147483646 h 634"/>
              <a:gd name="T6" fmla="*/ 2147483646 w 5771"/>
              <a:gd name="T7" fmla="*/ 2147483646 h 634"/>
              <a:gd name="T8" fmla="*/ 2147483646 w 5771"/>
              <a:gd name="T9" fmla="*/ 2147483646 h 634"/>
              <a:gd name="T10" fmla="*/ 2147483646 w 5771"/>
              <a:gd name="T11" fmla="*/ 2147483646 h 634"/>
              <a:gd name="T12" fmla="*/ 2147483646 w 5771"/>
              <a:gd name="T13" fmla="*/ 2147483646 h 634"/>
              <a:gd name="T14" fmla="*/ 2147483646 w 5771"/>
              <a:gd name="T15" fmla="*/ 2147483646 h 634"/>
              <a:gd name="T16" fmla="*/ 2147483646 w 5771"/>
              <a:gd name="T17" fmla="*/ 2147483646 h 63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5771" h="634">
                <a:moveTo>
                  <a:pt x="20" y="109"/>
                </a:moveTo>
                <a:cubicBezTo>
                  <a:pt x="26" y="109"/>
                  <a:pt x="645" y="0"/>
                  <a:pt x="1442" y="3"/>
                </a:cubicBezTo>
                <a:cubicBezTo>
                  <a:pt x="2239" y="6"/>
                  <a:pt x="3443" y="123"/>
                  <a:pt x="4150" y="148"/>
                </a:cubicBezTo>
                <a:cubicBezTo>
                  <a:pt x="4858" y="173"/>
                  <a:pt x="5633" y="63"/>
                  <a:pt x="5771" y="37"/>
                </a:cubicBezTo>
                <a:lnTo>
                  <a:pt x="5771" y="557"/>
                </a:lnTo>
                <a:cubicBezTo>
                  <a:pt x="4926" y="634"/>
                  <a:pt x="4422" y="612"/>
                  <a:pt x="3942" y="592"/>
                </a:cubicBezTo>
                <a:cubicBezTo>
                  <a:pt x="3463" y="572"/>
                  <a:pt x="2588" y="450"/>
                  <a:pt x="1839" y="456"/>
                </a:cubicBezTo>
                <a:cubicBezTo>
                  <a:pt x="1182" y="455"/>
                  <a:pt x="0" y="618"/>
                  <a:pt x="6" y="620"/>
                </a:cubicBezTo>
                <a:cubicBezTo>
                  <a:pt x="12" y="621"/>
                  <a:pt x="14" y="109"/>
                  <a:pt x="20" y="10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7" name="Group 5"/>
          <p:cNvGrpSpPr>
            <a:grpSpLocks/>
          </p:cNvGrpSpPr>
          <p:nvPr/>
        </p:nvGrpSpPr>
        <p:grpSpPr bwMode="auto">
          <a:xfrm>
            <a:off x="7740650" y="347663"/>
            <a:ext cx="387350" cy="366712"/>
            <a:chOff x="4752" y="1200"/>
            <a:chExt cx="288" cy="288"/>
          </a:xfrm>
        </p:grpSpPr>
        <p:sp>
          <p:nvSpPr>
            <p:cNvPr id="8" name="Oval 6"/>
            <p:cNvSpPr>
              <a:spLocks noChangeArrowheads="1"/>
            </p:cNvSpPr>
            <p:nvPr userDrawn="1"/>
          </p:nvSpPr>
          <p:spPr bwMode="gray">
            <a:xfrm>
              <a:off x="4752" y="1200"/>
              <a:ext cx="288" cy="288"/>
            </a:xfrm>
            <a:prstGeom prst="ellipse">
              <a:avLst/>
            </a:prstGeom>
            <a:gradFill rotWithShape="1">
              <a:gsLst>
                <a:gs pos="0">
                  <a:schemeClr val="tx2">
                    <a:gamma/>
                    <a:tint val="25490"/>
                    <a:invGamma/>
                  </a:schemeClr>
                </a:gs>
                <a:gs pos="100000">
                  <a:schemeClr val="tx2">
                    <a:alpha val="3100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9" name="Oval 7"/>
            <p:cNvSpPr>
              <a:spLocks noChangeArrowheads="1"/>
            </p:cNvSpPr>
            <p:nvPr userDrawn="1"/>
          </p:nvSpPr>
          <p:spPr bwMode="gray">
            <a:xfrm>
              <a:off x="4752" y="1200"/>
              <a:ext cx="192" cy="192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/>
            </a:p>
          </p:txBody>
        </p:sp>
      </p:grpSp>
      <p:grpSp>
        <p:nvGrpSpPr>
          <p:cNvPr id="10" name="Group 8"/>
          <p:cNvGrpSpPr>
            <a:grpSpLocks/>
          </p:cNvGrpSpPr>
          <p:nvPr/>
        </p:nvGrpSpPr>
        <p:grpSpPr bwMode="auto">
          <a:xfrm>
            <a:off x="8153400" y="53975"/>
            <a:ext cx="609600" cy="592138"/>
            <a:chOff x="4992" y="816"/>
            <a:chExt cx="576" cy="576"/>
          </a:xfrm>
        </p:grpSpPr>
        <p:sp>
          <p:nvSpPr>
            <p:cNvPr id="11" name="Oval 9"/>
            <p:cNvSpPr>
              <a:spLocks noChangeArrowheads="1"/>
            </p:cNvSpPr>
            <p:nvPr userDrawn="1"/>
          </p:nvSpPr>
          <p:spPr bwMode="gray">
            <a:xfrm>
              <a:off x="4992" y="816"/>
              <a:ext cx="576" cy="576"/>
            </a:xfrm>
            <a:prstGeom prst="ellipse">
              <a:avLst/>
            </a:prstGeom>
            <a:solidFill>
              <a:schemeClr val="accent1">
                <a:alpha val="5294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2" name="Oval 10"/>
            <p:cNvSpPr>
              <a:spLocks noChangeArrowheads="1"/>
            </p:cNvSpPr>
            <p:nvPr userDrawn="1"/>
          </p:nvSpPr>
          <p:spPr bwMode="gray">
            <a:xfrm>
              <a:off x="4992" y="912"/>
              <a:ext cx="480" cy="385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/>
            </a:p>
          </p:txBody>
        </p:sp>
      </p:grpSp>
      <p:grpSp>
        <p:nvGrpSpPr>
          <p:cNvPr id="13" name="Group 11"/>
          <p:cNvGrpSpPr>
            <a:grpSpLocks/>
          </p:cNvGrpSpPr>
          <p:nvPr/>
        </p:nvGrpSpPr>
        <p:grpSpPr bwMode="auto">
          <a:xfrm>
            <a:off x="171450" y="819150"/>
            <a:ext cx="720725" cy="762000"/>
            <a:chOff x="4992" y="816"/>
            <a:chExt cx="576" cy="576"/>
          </a:xfrm>
        </p:grpSpPr>
        <p:sp>
          <p:nvSpPr>
            <p:cNvPr id="14" name="Oval 12"/>
            <p:cNvSpPr>
              <a:spLocks noChangeArrowheads="1"/>
            </p:cNvSpPr>
            <p:nvPr userDrawn="1"/>
          </p:nvSpPr>
          <p:spPr bwMode="gray">
            <a:xfrm>
              <a:off x="4992" y="816"/>
              <a:ext cx="576" cy="576"/>
            </a:xfrm>
            <a:prstGeom prst="ellipse">
              <a:avLst/>
            </a:prstGeom>
            <a:solidFill>
              <a:schemeClr val="tx2">
                <a:alpha val="5294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5" name="Oval 13"/>
            <p:cNvSpPr>
              <a:spLocks noChangeArrowheads="1"/>
            </p:cNvSpPr>
            <p:nvPr userDrawn="1"/>
          </p:nvSpPr>
          <p:spPr bwMode="gray">
            <a:xfrm>
              <a:off x="4992" y="912"/>
              <a:ext cx="480" cy="384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/>
            </a:p>
          </p:txBody>
        </p:sp>
      </p:grpSp>
      <p:pic>
        <p:nvPicPr>
          <p:cNvPr id="16" name="Picture 18" descr="zjnu校标2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1375" y="765175"/>
            <a:ext cx="6477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85800"/>
            <a:ext cx="7391400" cy="563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SmartArt 占位符 2"/>
          <p:cNvSpPr>
            <a:spLocks noGrp="1"/>
          </p:cNvSpPr>
          <p:nvPr>
            <p:ph type="dgm" idx="1"/>
          </p:nvPr>
        </p:nvSpPr>
        <p:spPr>
          <a:xfrm>
            <a:off x="457200" y="1828800"/>
            <a:ext cx="8229600" cy="4495800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1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8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1A3ACBE-5739-47DC-A69E-0766ACEBC6D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053467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2"/>
          <p:cNvGraphicFramePr>
            <a:graphicFrameLocks noChangeAspect="1"/>
          </p:cNvGraphicFramePr>
          <p:nvPr/>
        </p:nvGraphicFramePr>
        <p:xfrm>
          <a:off x="0" y="0"/>
          <a:ext cx="9144000" cy="1200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6" name="Image" r:id="rId3" imgW="9561905" imgH="1600000" progId="Photoshop.Image.6">
                  <p:embed/>
                </p:oleObj>
              </mc:Choice>
              <mc:Fallback>
                <p:oleObj name="Image" r:id="rId3" imgW="9561905" imgH="1600000" progId="Photoshop.Image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white">
                      <a:xfrm>
                        <a:off x="0" y="0"/>
                        <a:ext cx="9144000" cy="1200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Freeform 3"/>
          <p:cNvSpPr>
            <a:spLocks/>
          </p:cNvSpPr>
          <p:nvPr/>
        </p:nvSpPr>
        <p:spPr bwMode="gray">
          <a:xfrm>
            <a:off x="-11113" y="280988"/>
            <a:ext cx="9155113" cy="1620837"/>
          </a:xfrm>
          <a:custGeom>
            <a:avLst/>
            <a:gdLst>
              <a:gd name="T0" fmla="*/ 2147483646 w 5767"/>
              <a:gd name="T1" fmla="*/ 2147483646 h 1021"/>
              <a:gd name="T2" fmla="*/ 2147483646 w 5767"/>
              <a:gd name="T3" fmla="*/ 2147483646 h 1021"/>
              <a:gd name="T4" fmla="*/ 2147483646 w 5767"/>
              <a:gd name="T5" fmla="*/ 2147483646 h 1021"/>
              <a:gd name="T6" fmla="*/ 2147483646 w 5767"/>
              <a:gd name="T7" fmla="*/ 0 h 1021"/>
              <a:gd name="T8" fmla="*/ 2147483646 w 5767"/>
              <a:gd name="T9" fmla="*/ 2147483646 h 1021"/>
              <a:gd name="T10" fmla="*/ 2147483646 w 5767"/>
              <a:gd name="T11" fmla="*/ 2147483646 h 1021"/>
              <a:gd name="T12" fmla="*/ 2147483646 w 5767"/>
              <a:gd name="T13" fmla="*/ 2147483646 h 1021"/>
              <a:gd name="T14" fmla="*/ 2147483646 w 5767"/>
              <a:gd name="T15" fmla="*/ 2147483646 h 1021"/>
              <a:gd name="T16" fmla="*/ 2147483646 w 5767"/>
              <a:gd name="T17" fmla="*/ 2147483646 h 1021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5767" h="1021">
                <a:moveTo>
                  <a:pt x="6" y="109"/>
                </a:moveTo>
                <a:cubicBezTo>
                  <a:pt x="144" y="93"/>
                  <a:pt x="626" y="42"/>
                  <a:pt x="1427" y="46"/>
                </a:cubicBezTo>
                <a:cubicBezTo>
                  <a:pt x="2228" y="50"/>
                  <a:pt x="3321" y="224"/>
                  <a:pt x="4032" y="255"/>
                </a:cubicBezTo>
                <a:cubicBezTo>
                  <a:pt x="4742" y="286"/>
                  <a:pt x="5649" y="91"/>
                  <a:pt x="5767" y="0"/>
                </a:cubicBezTo>
                <a:lnTo>
                  <a:pt x="5767" y="776"/>
                </a:lnTo>
                <a:cubicBezTo>
                  <a:pt x="4948" y="879"/>
                  <a:pt x="4543" y="844"/>
                  <a:pt x="4065" y="831"/>
                </a:cubicBezTo>
                <a:cubicBezTo>
                  <a:pt x="3587" y="818"/>
                  <a:pt x="2973" y="694"/>
                  <a:pt x="1984" y="674"/>
                </a:cubicBezTo>
                <a:cubicBezTo>
                  <a:pt x="995" y="654"/>
                  <a:pt x="28" y="969"/>
                  <a:pt x="14" y="995"/>
                </a:cubicBezTo>
                <a:cubicBezTo>
                  <a:pt x="0" y="1021"/>
                  <a:pt x="6" y="255"/>
                  <a:pt x="6" y="109"/>
                </a:cubicBezTo>
                <a:close/>
              </a:path>
            </a:pathLst>
          </a:custGeom>
          <a:solidFill>
            <a:schemeClr val="accent1">
              <a:alpha val="41176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" name="Freeform 4"/>
          <p:cNvSpPr>
            <a:spLocks/>
          </p:cNvSpPr>
          <p:nvPr/>
        </p:nvSpPr>
        <p:spPr bwMode="gray">
          <a:xfrm>
            <a:off x="-20638" y="533400"/>
            <a:ext cx="9161463" cy="1006475"/>
          </a:xfrm>
          <a:custGeom>
            <a:avLst/>
            <a:gdLst>
              <a:gd name="T0" fmla="*/ 2147483646 w 5771"/>
              <a:gd name="T1" fmla="*/ 2147483646 h 634"/>
              <a:gd name="T2" fmla="*/ 2147483646 w 5771"/>
              <a:gd name="T3" fmla="*/ 2147483646 h 634"/>
              <a:gd name="T4" fmla="*/ 2147483646 w 5771"/>
              <a:gd name="T5" fmla="*/ 2147483646 h 634"/>
              <a:gd name="T6" fmla="*/ 2147483646 w 5771"/>
              <a:gd name="T7" fmla="*/ 2147483646 h 634"/>
              <a:gd name="T8" fmla="*/ 2147483646 w 5771"/>
              <a:gd name="T9" fmla="*/ 2147483646 h 634"/>
              <a:gd name="T10" fmla="*/ 2147483646 w 5771"/>
              <a:gd name="T11" fmla="*/ 2147483646 h 634"/>
              <a:gd name="T12" fmla="*/ 2147483646 w 5771"/>
              <a:gd name="T13" fmla="*/ 2147483646 h 634"/>
              <a:gd name="T14" fmla="*/ 2147483646 w 5771"/>
              <a:gd name="T15" fmla="*/ 2147483646 h 634"/>
              <a:gd name="T16" fmla="*/ 2147483646 w 5771"/>
              <a:gd name="T17" fmla="*/ 2147483646 h 63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5771" h="634">
                <a:moveTo>
                  <a:pt x="20" y="109"/>
                </a:moveTo>
                <a:cubicBezTo>
                  <a:pt x="26" y="109"/>
                  <a:pt x="645" y="0"/>
                  <a:pt x="1442" y="3"/>
                </a:cubicBezTo>
                <a:cubicBezTo>
                  <a:pt x="2239" y="6"/>
                  <a:pt x="3443" y="123"/>
                  <a:pt x="4150" y="148"/>
                </a:cubicBezTo>
                <a:cubicBezTo>
                  <a:pt x="4858" y="173"/>
                  <a:pt x="5633" y="63"/>
                  <a:pt x="5771" y="37"/>
                </a:cubicBezTo>
                <a:lnTo>
                  <a:pt x="5771" y="557"/>
                </a:lnTo>
                <a:cubicBezTo>
                  <a:pt x="4926" y="634"/>
                  <a:pt x="4422" y="612"/>
                  <a:pt x="3942" y="592"/>
                </a:cubicBezTo>
                <a:cubicBezTo>
                  <a:pt x="3463" y="572"/>
                  <a:pt x="2588" y="450"/>
                  <a:pt x="1839" y="456"/>
                </a:cubicBezTo>
                <a:cubicBezTo>
                  <a:pt x="1182" y="455"/>
                  <a:pt x="0" y="618"/>
                  <a:pt x="6" y="620"/>
                </a:cubicBezTo>
                <a:cubicBezTo>
                  <a:pt x="12" y="621"/>
                  <a:pt x="14" y="109"/>
                  <a:pt x="20" y="10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8" name="Group 5"/>
          <p:cNvGrpSpPr>
            <a:grpSpLocks/>
          </p:cNvGrpSpPr>
          <p:nvPr/>
        </p:nvGrpSpPr>
        <p:grpSpPr bwMode="auto">
          <a:xfrm>
            <a:off x="7740650" y="347663"/>
            <a:ext cx="387350" cy="366712"/>
            <a:chOff x="4752" y="1200"/>
            <a:chExt cx="288" cy="288"/>
          </a:xfrm>
        </p:grpSpPr>
        <p:sp>
          <p:nvSpPr>
            <p:cNvPr id="9" name="Oval 6"/>
            <p:cNvSpPr>
              <a:spLocks noChangeArrowheads="1"/>
            </p:cNvSpPr>
            <p:nvPr userDrawn="1"/>
          </p:nvSpPr>
          <p:spPr bwMode="gray">
            <a:xfrm>
              <a:off x="4752" y="1200"/>
              <a:ext cx="288" cy="288"/>
            </a:xfrm>
            <a:prstGeom prst="ellipse">
              <a:avLst/>
            </a:prstGeom>
            <a:gradFill rotWithShape="1">
              <a:gsLst>
                <a:gs pos="0">
                  <a:schemeClr val="tx2">
                    <a:gamma/>
                    <a:tint val="25490"/>
                    <a:invGamma/>
                  </a:schemeClr>
                </a:gs>
                <a:gs pos="100000">
                  <a:schemeClr val="tx2">
                    <a:alpha val="3100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0" name="Oval 7"/>
            <p:cNvSpPr>
              <a:spLocks noChangeArrowheads="1"/>
            </p:cNvSpPr>
            <p:nvPr userDrawn="1"/>
          </p:nvSpPr>
          <p:spPr bwMode="gray">
            <a:xfrm>
              <a:off x="4752" y="1200"/>
              <a:ext cx="192" cy="192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/>
            </a:p>
          </p:txBody>
        </p:sp>
      </p:grpSp>
      <p:grpSp>
        <p:nvGrpSpPr>
          <p:cNvPr id="11" name="Group 8"/>
          <p:cNvGrpSpPr>
            <a:grpSpLocks/>
          </p:cNvGrpSpPr>
          <p:nvPr/>
        </p:nvGrpSpPr>
        <p:grpSpPr bwMode="auto">
          <a:xfrm>
            <a:off x="8153400" y="53975"/>
            <a:ext cx="609600" cy="592138"/>
            <a:chOff x="4992" y="816"/>
            <a:chExt cx="576" cy="576"/>
          </a:xfrm>
        </p:grpSpPr>
        <p:sp>
          <p:nvSpPr>
            <p:cNvPr id="12" name="Oval 9"/>
            <p:cNvSpPr>
              <a:spLocks noChangeArrowheads="1"/>
            </p:cNvSpPr>
            <p:nvPr userDrawn="1"/>
          </p:nvSpPr>
          <p:spPr bwMode="gray">
            <a:xfrm>
              <a:off x="4992" y="816"/>
              <a:ext cx="576" cy="576"/>
            </a:xfrm>
            <a:prstGeom prst="ellipse">
              <a:avLst/>
            </a:prstGeom>
            <a:solidFill>
              <a:schemeClr val="accent1">
                <a:alpha val="5294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3" name="Oval 10"/>
            <p:cNvSpPr>
              <a:spLocks noChangeArrowheads="1"/>
            </p:cNvSpPr>
            <p:nvPr userDrawn="1"/>
          </p:nvSpPr>
          <p:spPr bwMode="gray">
            <a:xfrm>
              <a:off x="4992" y="912"/>
              <a:ext cx="480" cy="385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/>
            </a:p>
          </p:txBody>
        </p:sp>
      </p:grpSp>
      <p:grpSp>
        <p:nvGrpSpPr>
          <p:cNvPr id="14" name="Group 11"/>
          <p:cNvGrpSpPr>
            <a:grpSpLocks/>
          </p:cNvGrpSpPr>
          <p:nvPr/>
        </p:nvGrpSpPr>
        <p:grpSpPr bwMode="auto">
          <a:xfrm>
            <a:off x="171450" y="819150"/>
            <a:ext cx="720725" cy="762000"/>
            <a:chOff x="4992" y="816"/>
            <a:chExt cx="576" cy="576"/>
          </a:xfrm>
        </p:grpSpPr>
        <p:sp>
          <p:nvSpPr>
            <p:cNvPr id="15" name="Oval 12"/>
            <p:cNvSpPr>
              <a:spLocks noChangeArrowheads="1"/>
            </p:cNvSpPr>
            <p:nvPr userDrawn="1"/>
          </p:nvSpPr>
          <p:spPr bwMode="gray">
            <a:xfrm>
              <a:off x="4992" y="816"/>
              <a:ext cx="576" cy="576"/>
            </a:xfrm>
            <a:prstGeom prst="ellipse">
              <a:avLst/>
            </a:prstGeom>
            <a:solidFill>
              <a:schemeClr val="tx2">
                <a:alpha val="5294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6" name="Oval 13"/>
            <p:cNvSpPr>
              <a:spLocks noChangeArrowheads="1"/>
            </p:cNvSpPr>
            <p:nvPr userDrawn="1"/>
          </p:nvSpPr>
          <p:spPr bwMode="gray">
            <a:xfrm>
              <a:off x="4992" y="912"/>
              <a:ext cx="480" cy="384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/>
            </a:p>
          </p:txBody>
        </p:sp>
      </p:grpSp>
      <p:pic>
        <p:nvPicPr>
          <p:cNvPr id="17" name="Picture 18" descr="zjnu校标2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1375" y="765175"/>
            <a:ext cx="6477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85800"/>
            <a:ext cx="7391400" cy="563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828800"/>
            <a:ext cx="4038600" cy="4495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828800"/>
            <a:ext cx="4038600" cy="4495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8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9" name="灯片编号占位符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68A14D5-9B84-41AE-94AE-109B9AB7031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591799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k object 16"/>
          <p:cNvSpPr/>
          <p:nvPr/>
        </p:nvSpPr>
        <p:spPr>
          <a:xfrm>
            <a:off x="661988" y="315913"/>
            <a:ext cx="7820025" cy="621982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3" name="bk object 17"/>
          <p:cNvSpPr/>
          <p:nvPr/>
        </p:nvSpPr>
        <p:spPr>
          <a:xfrm>
            <a:off x="661988" y="315913"/>
            <a:ext cx="7820025" cy="779462"/>
          </a:xfrm>
          <a:custGeom>
            <a:avLst/>
            <a:gdLst/>
            <a:ahLst/>
            <a:cxnLst/>
            <a:rect l="l" t="t" r="r" b="b"/>
            <a:pathLst>
              <a:path w="9144000" h="859155">
                <a:moveTo>
                  <a:pt x="0" y="0"/>
                </a:moveTo>
                <a:lnTo>
                  <a:pt x="0" y="858774"/>
                </a:lnTo>
                <a:lnTo>
                  <a:pt x="9144000" y="858774"/>
                </a:lnTo>
                <a:lnTo>
                  <a:pt x="9144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873624"/>
          </a:solid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4" name="bk object 18"/>
          <p:cNvSpPr/>
          <p:nvPr/>
        </p:nvSpPr>
        <p:spPr>
          <a:xfrm>
            <a:off x="7556500" y="368300"/>
            <a:ext cx="925513" cy="44608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5" name="Holder 2"/>
          <p:cNvSpPr>
            <a:spLocks noGrp="1"/>
          </p:cNvSpPr>
          <p:nvPr>
            <p:ph type="ftr" sz="quarter" idx="10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" name="Holder 3"/>
          <p:cNvSpPr>
            <a:spLocks noGrp="1"/>
          </p:cNvSpPr>
          <p:nvPr>
            <p:ph type="dt" sz="half" idx="11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Holder 4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D02E7998-F56A-45D4-984E-4E67E3C944B8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669485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k object 16"/>
          <p:cNvSpPr/>
          <p:nvPr/>
        </p:nvSpPr>
        <p:spPr>
          <a:xfrm>
            <a:off x="661988" y="315913"/>
            <a:ext cx="7820025" cy="621982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6" name="bk object 17"/>
          <p:cNvSpPr/>
          <p:nvPr/>
        </p:nvSpPr>
        <p:spPr>
          <a:xfrm>
            <a:off x="661988" y="315913"/>
            <a:ext cx="7820025" cy="779462"/>
          </a:xfrm>
          <a:custGeom>
            <a:avLst/>
            <a:gdLst/>
            <a:ahLst/>
            <a:cxnLst/>
            <a:rect l="l" t="t" r="r" b="b"/>
            <a:pathLst>
              <a:path w="9144000" h="859155">
                <a:moveTo>
                  <a:pt x="0" y="0"/>
                </a:moveTo>
                <a:lnTo>
                  <a:pt x="0" y="858774"/>
                </a:lnTo>
                <a:lnTo>
                  <a:pt x="9144000" y="858774"/>
                </a:lnTo>
                <a:lnTo>
                  <a:pt x="9144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873624"/>
          </a:solid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7" name="bk object 18"/>
          <p:cNvSpPr/>
          <p:nvPr/>
        </p:nvSpPr>
        <p:spPr>
          <a:xfrm>
            <a:off x="7556500" y="368300"/>
            <a:ext cx="925513" cy="44608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78" b="1" i="0">
                <a:solidFill>
                  <a:schemeClr val="tx1"/>
                </a:solidFill>
                <a:latin typeface="SimHei"/>
                <a:cs typeface="SimHe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3088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3088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8" name="Holder 5"/>
          <p:cNvSpPr>
            <a:spLocks noGrp="1"/>
          </p:cNvSpPr>
          <p:nvPr>
            <p:ph type="ftr" sz="quarter" idx="10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" name="Holder 6"/>
          <p:cNvSpPr>
            <a:spLocks noGrp="1"/>
          </p:cNvSpPr>
          <p:nvPr>
            <p:ph type="dt" sz="half" idx="11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Holder 7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7EBE49F-C728-47E4-9F1D-73C604CC57B8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22491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oleObject" Target="../embeddings/oleObject1.bin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vmlDrawing" Target="../drawings/vmlDrawing1.v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0" y="0"/>
          <a:ext cx="9144000" cy="1200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Image" r:id="rId18" imgW="9561905" imgH="1600000" progId="Photoshop.Image.6">
                  <p:embed/>
                </p:oleObj>
              </mc:Choice>
              <mc:Fallback>
                <p:oleObj name="Image" r:id="rId18" imgW="9561905" imgH="1600000" progId="Photoshop.Image.6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white">
                      <a:xfrm>
                        <a:off x="0" y="0"/>
                        <a:ext cx="9144000" cy="1200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7" name="Freeform 3"/>
          <p:cNvSpPr>
            <a:spLocks/>
          </p:cNvSpPr>
          <p:nvPr/>
        </p:nvSpPr>
        <p:spPr bwMode="gray">
          <a:xfrm>
            <a:off x="-11113" y="280988"/>
            <a:ext cx="9155113" cy="1620837"/>
          </a:xfrm>
          <a:custGeom>
            <a:avLst/>
            <a:gdLst>
              <a:gd name="T0" fmla="*/ 2147483646 w 5767"/>
              <a:gd name="T1" fmla="*/ 2147483646 h 1021"/>
              <a:gd name="T2" fmla="*/ 2147483646 w 5767"/>
              <a:gd name="T3" fmla="*/ 2147483646 h 1021"/>
              <a:gd name="T4" fmla="*/ 2147483646 w 5767"/>
              <a:gd name="T5" fmla="*/ 2147483646 h 1021"/>
              <a:gd name="T6" fmla="*/ 2147483646 w 5767"/>
              <a:gd name="T7" fmla="*/ 0 h 1021"/>
              <a:gd name="T8" fmla="*/ 2147483646 w 5767"/>
              <a:gd name="T9" fmla="*/ 2147483646 h 1021"/>
              <a:gd name="T10" fmla="*/ 2147483646 w 5767"/>
              <a:gd name="T11" fmla="*/ 2147483646 h 1021"/>
              <a:gd name="T12" fmla="*/ 2147483646 w 5767"/>
              <a:gd name="T13" fmla="*/ 2147483646 h 1021"/>
              <a:gd name="T14" fmla="*/ 2147483646 w 5767"/>
              <a:gd name="T15" fmla="*/ 2147483646 h 1021"/>
              <a:gd name="T16" fmla="*/ 2147483646 w 5767"/>
              <a:gd name="T17" fmla="*/ 2147483646 h 1021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5767" h="1021">
                <a:moveTo>
                  <a:pt x="6" y="109"/>
                </a:moveTo>
                <a:cubicBezTo>
                  <a:pt x="144" y="93"/>
                  <a:pt x="626" y="42"/>
                  <a:pt x="1427" y="46"/>
                </a:cubicBezTo>
                <a:cubicBezTo>
                  <a:pt x="2228" y="50"/>
                  <a:pt x="3321" y="224"/>
                  <a:pt x="4032" y="255"/>
                </a:cubicBezTo>
                <a:cubicBezTo>
                  <a:pt x="4742" y="286"/>
                  <a:pt x="5649" y="91"/>
                  <a:pt x="5767" y="0"/>
                </a:cubicBezTo>
                <a:lnTo>
                  <a:pt x="5767" y="776"/>
                </a:lnTo>
                <a:cubicBezTo>
                  <a:pt x="4948" y="879"/>
                  <a:pt x="4543" y="844"/>
                  <a:pt x="4065" y="831"/>
                </a:cubicBezTo>
                <a:cubicBezTo>
                  <a:pt x="3587" y="818"/>
                  <a:pt x="2973" y="694"/>
                  <a:pt x="1984" y="674"/>
                </a:cubicBezTo>
                <a:cubicBezTo>
                  <a:pt x="995" y="654"/>
                  <a:pt x="28" y="969"/>
                  <a:pt x="14" y="995"/>
                </a:cubicBezTo>
                <a:cubicBezTo>
                  <a:pt x="0" y="1021"/>
                  <a:pt x="6" y="255"/>
                  <a:pt x="6" y="109"/>
                </a:cubicBezTo>
                <a:close/>
              </a:path>
            </a:pathLst>
          </a:custGeom>
          <a:solidFill>
            <a:schemeClr val="accent1">
              <a:alpha val="41176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8" name="Freeform 4"/>
          <p:cNvSpPr>
            <a:spLocks/>
          </p:cNvSpPr>
          <p:nvPr/>
        </p:nvSpPr>
        <p:spPr bwMode="gray">
          <a:xfrm>
            <a:off x="-20638" y="533400"/>
            <a:ext cx="9161463" cy="1006475"/>
          </a:xfrm>
          <a:custGeom>
            <a:avLst/>
            <a:gdLst>
              <a:gd name="T0" fmla="*/ 2147483646 w 5771"/>
              <a:gd name="T1" fmla="*/ 2147483646 h 634"/>
              <a:gd name="T2" fmla="*/ 2147483646 w 5771"/>
              <a:gd name="T3" fmla="*/ 2147483646 h 634"/>
              <a:gd name="T4" fmla="*/ 2147483646 w 5771"/>
              <a:gd name="T5" fmla="*/ 2147483646 h 634"/>
              <a:gd name="T6" fmla="*/ 2147483646 w 5771"/>
              <a:gd name="T7" fmla="*/ 2147483646 h 634"/>
              <a:gd name="T8" fmla="*/ 2147483646 w 5771"/>
              <a:gd name="T9" fmla="*/ 2147483646 h 634"/>
              <a:gd name="T10" fmla="*/ 2147483646 w 5771"/>
              <a:gd name="T11" fmla="*/ 2147483646 h 634"/>
              <a:gd name="T12" fmla="*/ 2147483646 w 5771"/>
              <a:gd name="T13" fmla="*/ 2147483646 h 634"/>
              <a:gd name="T14" fmla="*/ 2147483646 w 5771"/>
              <a:gd name="T15" fmla="*/ 2147483646 h 634"/>
              <a:gd name="T16" fmla="*/ 2147483646 w 5771"/>
              <a:gd name="T17" fmla="*/ 2147483646 h 63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5771" h="634">
                <a:moveTo>
                  <a:pt x="20" y="109"/>
                </a:moveTo>
                <a:cubicBezTo>
                  <a:pt x="26" y="109"/>
                  <a:pt x="645" y="0"/>
                  <a:pt x="1442" y="3"/>
                </a:cubicBezTo>
                <a:cubicBezTo>
                  <a:pt x="2239" y="6"/>
                  <a:pt x="3443" y="123"/>
                  <a:pt x="4150" y="148"/>
                </a:cubicBezTo>
                <a:cubicBezTo>
                  <a:pt x="4858" y="173"/>
                  <a:pt x="5633" y="63"/>
                  <a:pt x="5771" y="37"/>
                </a:cubicBezTo>
                <a:lnTo>
                  <a:pt x="5771" y="557"/>
                </a:lnTo>
                <a:cubicBezTo>
                  <a:pt x="4926" y="634"/>
                  <a:pt x="4422" y="612"/>
                  <a:pt x="3942" y="592"/>
                </a:cubicBezTo>
                <a:cubicBezTo>
                  <a:pt x="3463" y="572"/>
                  <a:pt x="2588" y="450"/>
                  <a:pt x="1839" y="456"/>
                </a:cubicBezTo>
                <a:cubicBezTo>
                  <a:pt x="1182" y="455"/>
                  <a:pt x="0" y="618"/>
                  <a:pt x="6" y="620"/>
                </a:cubicBezTo>
                <a:cubicBezTo>
                  <a:pt x="12" y="621"/>
                  <a:pt x="14" y="109"/>
                  <a:pt x="20" y="10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029" name="Group 5"/>
          <p:cNvGrpSpPr>
            <a:grpSpLocks/>
          </p:cNvGrpSpPr>
          <p:nvPr/>
        </p:nvGrpSpPr>
        <p:grpSpPr bwMode="auto">
          <a:xfrm>
            <a:off x="7740650" y="347663"/>
            <a:ext cx="387350" cy="366712"/>
            <a:chOff x="4752" y="1200"/>
            <a:chExt cx="288" cy="288"/>
          </a:xfrm>
        </p:grpSpPr>
        <p:sp>
          <p:nvSpPr>
            <p:cNvPr id="397318" name="Oval 6"/>
            <p:cNvSpPr>
              <a:spLocks noChangeArrowheads="1"/>
            </p:cNvSpPr>
            <p:nvPr userDrawn="1"/>
          </p:nvSpPr>
          <p:spPr bwMode="gray">
            <a:xfrm>
              <a:off x="4752" y="1200"/>
              <a:ext cx="288" cy="288"/>
            </a:xfrm>
            <a:prstGeom prst="ellipse">
              <a:avLst/>
            </a:prstGeom>
            <a:gradFill rotWithShape="1">
              <a:gsLst>
                <a:gs pos="0">
                  <a:schemeClr val="tx2">
                    <a:gamma/>
                    <a:tint val="25490"/>
                    <a:invGamma/>
                  </a:schemeClr>
                </a:gs>
                <a:gs pos="100000">
                  <a:schemeClr val="tx2">
                    <a:alpha val="3100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397319" name="Oval 7"/>
            <p:cNvSpPr>
              <a:spLocks noChangeArrowheads="1"/>
            </p:cNvSpPr>
            <p:nvPr userDrawn="1"/>
          </p:nvSpPr>
          <p:spPr bwMode="gray">
            <a:xfrm>
              <a:off x="4752" y="1200"/>
              <a:ext cx="192" cy="192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/>
            </a:p>
          </p:txBody>
        </p:sp>
      </p:grpSp>
      <p:grpSp>
        <p:nvGrpSpPr>
          <p:cNvPr id="1030" name="Group 8"/>
          <p:cNvGrpSpPr>
            <a:grpSpLocks/>
          </p:cNvGrpSpPr>
          <p:nvPr/>
        </p:nvGrpSpPr>
        <p:grpSpPr bwMode="auto">
          <a:xfrm>
            <a:off x="8153400" y="53975"/>
            <a:ext cx="609600" cy="592138"/>
            <a:chOff x="4992" y="816"/>
            <a:chExt cx="576" cy="576"/>
          </a:xfrm>
        </p:grpSpPr>
        <p:sp>
          <p:nvSpPr>
            <p:cNvPr id="1040" name="Oval 9"/>
            <p:cNvSpPr>
              <a:spLocks noChangeArrowheads="1"/>
            </p:cNvSpPr>
            <p:nvPr userDrawn="1"/>
          </p:nvSpPr>
          <p:spPr bwMode="gray">
            <a:xfrm>
              <a:off x="4992" y="816"/>
              <a:ext cx="576" cy="576"/>
            </a:xfrm>
            <a:prstGeom prst="ellipse">
              <a:avLst/>
            </a:prstGeom>
            <a:solidFill>
              <a:schemeClr val="accent1">
                <a:alpha val="5294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397322" name="Oval 10"/>
            <p:cNvSpPr>
              <a:spLocks noChangeArrowheads="1"/>
            </p:cNvSpPr>
            <p:nvPr userDrawn="1"/>
          </p:nvSpPr>
          <p:spPr bwMode="gray">
            <a:xfrm>
              <a:off x="4992" y="912"/>
              <a:ext cx="480" cy="385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/>
            </a:p>
          </p:txBody>
        </p:sp>
      </p:grpSp>
      <p:grpSp>
        <p:nvGrpSpPr>
          <p:cNvPr id="1031" name="Group 11"/>
          <p:cNvGrpSpPr>
            <a:grpSpLocks/>
          </p:cNvGrpSpPr>
          <p:nvPr/>
        </p:nvGrpSpPr>
        <p:grpSpPr bwMode="auto">
          <a:xfrm>
            <a:off x="171450" y="819150"/>
            <a:ext cx="720725" cy="762000"/>
            <a:chOff x="4992" y="816"/>
            <a:chExt cx="576" cy="576"/>
          </a:xfrm>
        </p:grpSpPr>
        <p:sp>
          <p:nvSpPr>
            <p:cNvPr id="1038" name="Oval 12"/>
            <p:cNvSpPr>
              <a:spLocks noChangeArrowheads="1"/>
            </p:cNvSpPr>
            <p:nvPr userDrawn="1"/>
          </p:nvSpPr>
          <p:spPr bwMode="gray">
            <a:xfrm>
              <a:off x="4992" y="816"/>
              <a:ext cx="576" cy="576"/>
            </a:xfrm>
            <a:prstGeom prst="ellipse">
              <a:avLst/>
            </a:prstGeom>
            <a:solidFill>
              <a:schemeClr val="tx2">
                <a:alpha val="5294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397325" name="Oval 13"/>
            <p:cNvSpPr>
              <a:spLocks noChangeArrowheads="1"/>
            </p:cNvSpPr>
            <p:nvPr userDrawn="1"/>
          </p:nvSpPr>
          <p:spPr bwMode="gray">
            <a:xfrm>
              <a:off x="4992" y="912"/>
              <a:ext cx="480" cy="384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/>
            </a:p>
          </p:txBody>
        </p:sp>
      </p:grpSp>
      <p:sp>
        <p:nvSpPr>
          <p:cNvPr id="1032" name="Rectangle 1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828800"/>
            <a:ext cx="8229600" cy="449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97327" name="Rectangle 1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00113" y="6308725"/>
            <a:ext cx="213360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400" b="0"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97328" name="Rectangle 1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219700" y="6381750"/>
            <a:ext cx="360045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rgbClr val="F03628"/>
                </a:solidFill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5" name="Rectangle 17"/>
          <p:cNvSpPr>
            <a:spLocks noGrp="1" noChangeArrowheads="1"/>
          </p:cNvSpPr>
          <p:nvPr>
            <p:ph type="title"/>
          </p:nvPr>
        </p:nvSpPr>
        <p:spPr bwMode="white">
          <a:xfrm>
            <a:off x="914400" y="685800"/>
            <a:ext cx="7391400" cy="563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45791" dir="2021404" algn="ctr" rotWithShape="0">
                    <a:schemeClr val="tx1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pic>
        <p:nvPicPr>
          <p:cNvPr id="1036" name="Picture 18" descr="zjnu校标2"/>
          <p:cNvPicPr>
            <a:picLocks noChangeAspect="1" noChangeArrowheads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1375" y="765175"/>
            <a:ext cx="6477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7331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50825" y="6237288"/>
            <a:ext cx="5857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FBCD0860-A984-4D6B-A071-4E9C0939A6C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71" r:id="rId2"/>
    <p:sldLayoutId id="2147483772" r:id="rId3"/>
    <p:sldLayoutId id="2147483773" r:id="rId4"/>
    <p:sldLayoutId id="2147483774" r:id="rId5"/>
    <p:sldLayoutId id="2147483775" r:id="rId6"/>
    <p:sldLayoutId id="2147483776" r:id="rId7"/>
    <p:sldLayoutId id="2147483777" r:id="rId8"/>
    <p:sldLayoutId id="2147483778" r:id="rId9"/>
    <p:sldLayoutId id="2147483779" r:id="rId10"/>
    <p:sldLayoutId id="2147483780" r:id="rId11"/>
    <p:sldLayoutId id="2147483781" r:id="rId12"/>
    <p:sldLayoutId id="2147483782" r:id="rId13"/>
    <p:sldLayoutId id="2147483786" r:id="rId14"/>
    <p:sldLayoutId id="2147483787" r:id="rId15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2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1.jp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jp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6.png"/><Relationship Id="rId4" Type="http://schemas.openxmlformats.org/officeDocument/2006/relationships/image" Target="../media/image55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8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1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jp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3.png"/><Relationship Id="rId5" Type="http://schemas.openxmlformats.org/officeDocument/2006/relationships/image" Target="../media/image63.png"/><Relationship Id="rId4" Type="http://schemas.openxmlformats.org/officeDocument/2006/relationships/image" Target="../media/image78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4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3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3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8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8.png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3" Type="http://schemas.openxmlformats.org/officeDocument/2006/relationships/image" Target="../media/image90.png"/><Relationship Id="rId7" Type="http://schemas.openxmlformats.org/officeDocument/2006/relationships/image" Target="../media/image94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3.png"/><Relationship Id="rId5" Type="http://schemas.openxmlformats.org/officeDocument/2006/relationships/image" Target="../media/image92.png"/><Relationship Id="rId10" Type="http://schemas.openxmlformats.org/officeDocument/2006/relationships/image" Target="../media/image96.png"/><Relationship Id="rId4" Type="http://schemas.openxmlformats.org/officeDocument/2006/relationships/image" Target="../media/image91.png"/><Relationship Id="rId9" Type="http://schemas.openxmlformats.org/officeDocument/2006/relationships/image" Target="../media/image86.png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3" Type="http://schemas.openxmlformats.org/officeDocument/2006/relationships/image" Target="../media/image94.png"/><Relationship Id="rId7" Type="http://schemas.openxmlformats.org/officeDocument/2006/relationships/image" Target="../media/image99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8.png"/><Relationship Id="rId5" Type="http://schemas.openxmlformats.org/officeDocument/2006/relationships/image" Target="../media/image97.png"/><Relationship Id="rId4" Type="http://schemas.openxmlformats.org/officeDocument/2006/relationships/image" Target="../media/image95.png"/><Relationship Id="rId9" Type="http://schemas.openxmlformats.org/officeDocument/2006/relationships/image" Target="../media/image101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4.pn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8.png"/><Relationship Id="rId5" Type="http://schemas.openxmlformats.org/officeDocument/2006/relationships/image" Target="../media/image107.png"/><Relationship Id="rId4" Type="http://schemas.openxmlformats.org/officeDocument/2006/relationships/image" Target="../media/image106.png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3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7" Type="http://schemas.openxmlformats.org/officeDocument/2006/relationships/image" Target="../media/image108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8.png"/><Relationship Id="rId5" Type="http://schemas.openxmlformats.org/officeDocument/2006/relationships/image" Target="../media/image117.png"/><Relationship Id="rId4" Type="http://schemas.openxmlformats.org/officeDocument/2006/relationships/image" Target="../media/image116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7" Type="http://schemas.openxmlformats.org/officeDocument/2006/relationships/image" Target="../media/image108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1.png"/><Relationship Id="rId5" Type="http://schemas.openxmlformats.org/officeDocument/2006/relationships/image" Target="../media/image120.png"/><Relationship Id="rId4" Type="http://schemas.openxmlformats.org/officeDocument/2006/relationships/image" Target="../media/image119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7" Type="http://schemas.openxmlformats.org/officeDocument/2006/relationships/image" Target="../media/image108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4.png"/><Relationship Id="rId5" Type="http://schemas.openxmlformats.org/officeDocument/2006/relationships/image" Target="../media/image123.png"/><Relationship Id="rId4" Type="http://schemas.openxmlformats.org/officeDocument/2006/relationships/image" Target="../media/image122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5.png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8"/>
          <p:cNvSpPr>
            <a:spLocks noGrp="1" noChangeArrowheads="1"/>
          </p:cNvSpPr>
          <p:nvPr>
            <p:ph type="ctrTitle"/>
          </p:nvPr>
        </p:nvSpPr>
        <p:spPr>
          <a:xfrm>
            <a:off x="1403350" y="2852738"/>
            <a:ext cx="6840538" cy="1012825"/>
          </a:xfrm>
        </p:spPr>
        <p:txBody>
          <a:bodyPr/>
          <a:lstStyle/>
          <a:p>
            <a:pPr eaLnBrk="1" hangingPunct="1"/>
            <a:r>
              <a:rPr kumimoji="1" lang="zh-CN" altLang="en-US" sz="6000">
                <a:latin typeface="Arial Black" panose="020B0A04020102020204" pitchFamily="34" charset="0"/>
                <a:ea typeface="隶书" panose="02010509060101010101" pitchFamily="49" charset="-122"/>
              </a:rPr>
              <a:t>第二章  关系模型 之 关系代数</a:t>
            </a:r>
            <a:endParaRPr kumimoji="1" lang="zh-CN" altLang="en-US" sz="4400">
              <a:latin typeface="华文琥珀" panose="02010800040101010101" pitchFamily="2" charset="-122"/>
              <a:ea typeface="华文琥珀" panose="02010800040101010101" pitchFamily="2" charset="-122"/>
            </a:endParaRPr>
          </a:p>
        </p:txBody>
      </p:sp>
    </p:spTree>
  </p:cSld>
  <p:clrMapOvr>
    <a:masterClrMapping/>
  </p:clrMapOvr>
  <p:transition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object 5"/>
          <p:cNvSpPr>
            <a:spLocks noGrp="1"/>
          </p:cNvSpPr>
          <p:nvPr>
            <p:ph type="title"/>
          </p:nvPr>
        </p:nvSpPr>
        <p:spPr>
          <a:xfrm>
            <a:off x="2051050" y="717550"/>
            <a:ext cx="4321175" cy="565150"/>
          </a:xfrm>
        </p:spPr>
        <p:txBody>
          <a:bodyPr lIns="0" tIns="10860" rIns="0" bIns="0">
            <a:spAutoFit/>
          </a:bodyPr>
          <a:lstStyle/>
          <a:p>
            <a:pPr>
              <a:spcBef>
                <a:spcPts val="88"/>
              </a:spcBef>
            </a:pPr>
            <a:r>
              <a:rPr lang="zh-CN" altLang="zh-CN">
                <a:solidFill>
                  <a:srgbClr val="FFFF6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本讲学习什么?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76300" y="1257300"/>
            <a:ext cx="7500938" cy="2409825"/>
          </a:xfrm>
          <a:prstGeom prst="rect">
            <a:avLst/>
          </a:prstGeom>
        </p:spPr>
        <p:txBody>
          <a:bodyPr lIns="0" tIns="128689" rIns="0" bIns="0">
            <a:spAutoFit/>
          </a:bodyPr>
          <a:lstStyle>
            <a:lvl1pPr marL="952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1013"/>
              </a:spcBef>
            </a:pPr>
            <a:r>
              <a:rPr lang="zh-CN" altLang="zh-CN" sz="2800" b="1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基本内容</a:t>
            </a:r>
            <a:endParaRPr lang="zh-CN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spcBef>
                <a:spcPts val="788"/>
              </a:spcBef>
              <a:buFontTx/>
              <a:buAutoNum type="arabicPeriod"/>
            </a:pPr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关系代数之基本操作</a:t>
            </a:r>
            <a:endParaRPr lang="zh-CN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spcBef>
                <a:spcPts val="738"/>
              </a:spcBef>
              <a:buFontTx/>
              <a:buAutoNum type="arabicPeriod"/>
            </a:pPr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关系代数之扩展操作</a:t>
            </a:r>
            <a:endParaRPr lang="zh-CN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spcBef>
                <a:spcPts val="725"/>
              </a:spcBef>
              <a:buFontTx/>
              <a:buAutoNum type="arabicPeriod"/>
            </a:pPr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关系代数之组合与应用训练</a:t>
            </a:r>
            <a:endParaRPr lang="zh-CN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spcBef>
                <a:spcPts val="738"/>
              </a:spcBef>
              <a:buFontTx/>
              <a:buAutoNum type="arabicPeriod"/>
            </a:pPr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关系代数之复杂扩展操作</a:t>
            </a:r>
            <a:endParaRPr lang="zh-CN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76300" y="3832225"/>
            <a:ext cx="7656513" cy="2341563"/>
          </a:xfrm>
          <a:prstGeom prst="rect">
            <a:avLst/>
          </a:prstGeom>
          <a:ln w="38100">
            <a:solidFill>
              <a:srgbClr val="666633"/>
            </a:solidFill>
          </a:ln>
        </p:spPr>
        <p:txBody>
          <a:bodyPr lIns="0" tIns="121630" rIns="0" bIns="0">
            <a:spAutoFit/>
          </a:bodyPr>
          <a:lstStyle>
            <a:lvl1pPr marL="93663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963"/>
              </a:spcBef>
            </a:pPr>
            <a:r>
              <a:rPr lang="zh-CN" altLang="zh-CN" sz="2200" b="1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重点与难点</a:t>
            </a:r>
            <a:endParaRPr lang="zh-CN" altLang="zh-CN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spcBef>
                <a:spcPts val="638"/>
              </a:spcBef>
              <a:buSzPct val="95000"/>
              <a:buFont typeface="Wingdings" panose="05000000000000000000" pitchFamily="2" charset="2"/>
              <a:buChar char=""/>
            </a:pPr>
            <a:r>
              <a:rPr lang="zh-CN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关系代数基本操作：并、差、</a:t>
            </a:r>
            <a:r>
              <a:rPr lang="zh-CN" altLang="zh-CN" sz="2000" b="1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积、选择、投影</a:t>
            </a:r>
            <a:r>
              <a:rPr lang="zh-CN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spcBef>
                <a:spcPts val="625"/>
              </a:spcBef>
              <a:buSzPct val="95000"/>
              <a:buFont typeface="Wingdings" panose="05000000000000000000" pitchFamily="2" charset="2"/>
              <a:buChar char=""/>
            </a:pPr>
            <a:r>
              <a:rPr lang="zh-CN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关系代数扩展操作：交、</a:t>
            </a:r>
            <a:r>
              <a:rPr lang="zh-CN" altLang="zh-CN" sz="2000" b="1" dirty="0">
                <a:solidFill>
                  <a:srgbClr val="CC0000"/>
                </a:solidFill>
                <a:latin typeface="Symbol" panose="05050102010706020507" pitchFamily="18" charset="2"/>
              </a:rPr>
              <a:t></a:t>
            </a:r>
            <a:r>
              <a:rPr lang="zh-CN" altLang="zh-CN" sz="2000" b="1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-连接、自然连接</a:t>
            </a:r>
            <a:r>
              <a:rPr lang="zh-CN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spcBef>
                <a:spcPts val="625"/>
              </a:spcBef>
              <a:buSzPct val="95000"/>
              <a:buFont typeface="Wingdings" panose="05000000000000000000" pitchFamily="2" charset="2"/>
              <a:buChar char=""/>
            </a:pPr>
            <a:r>
              <a:rPr lang="zh-CN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关系代数复杂扩展操作：</a:t>
            </a:r>
            <a:r>
              <a:rPr lang="zh-CN" altLang="zh-CN" sz="2000" b="1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除、外连接</a:t>
            </a:r>
            <a:endParaRPr lang="zh-CN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26000"/>
              </a:lnSpc>
              <a:spcBef>
                <a:spcPts val="88"/>
              </a:spcBef>
              <a:buSzPct val="95000"/>
              <a:buFont typeface="Wingdings" panose="05000000000000000000" pitchFamily="2" charset="2"/>
              <a:buChar char=""/>
            </a:pPr>
            <a:r>
              <a:rPr lang="zh-CN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书写关系代数的基本思维训练</a:t>
            </a:r>
            <a:r>
              <a:rPr lang="zh-CN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：“一个集合，施加一个操作得到一个集合，依 次施加关系代数操作，进而得到所需结果”“以集合为中心”</a:t>
            </a:r>
            <a:endParaRPr lang="zh-CN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A6568E1-4089-4561-919E-9D2F37D3F2B0}" type="slidenum">
              <a:rPr lang="en-US" altLang="zh-CN" smtClean="0"/>
              <a:pPr>
                <a:defRPr/>
              </a:pPr>
              <a:t>2</a:t>
            </a:fld>
            <a:endParaRPr lang="en-US" altLang="zh-C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684213" y="2205038"/>
            <a:ext cx="8078787" cy="2500878"/>
          </a:xfrm>
          <a:prstGeom prst="rect">
            <a:avLst/>
          </a:prstGeom>
        </p:spPr>
        <p:txBody>
          <a:bodyPr wrap="square" lIns="0" tIns="10860" rIns="0" bIns="0">
            <a:spAutoFit/>
          </a:bodyPr>
          <a:lstStyle>
            <a:lvl1pPr marL="9525">
              <a:tabLst>
                <a:tab pos="182563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tabLst>
                <a:tab pos="182563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tabLst>
                <a:tab pos="182563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tabLst>
                <a:tab pos="182563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tabLst>
                <a:tab pos="182563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82563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82563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82563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82563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ts val="88"/>
              </a:spcBef>
              <a:buSzPct val="95000"/>
              <a:buFont typeface="Wingdings" panose="05000000000000000000" pitchFamily="2" charset="2"/>
              <a:buChar char=""/>
            </a:pPr>
            <a:r>
              <a:rPr lang="zh-CN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基于集合，提供了一系列的关系代数操作：</a:t>
            </a:r>
            <a:r>
              <a:rPr lang="zh-CN" altLang="zh-CN" sz="2200" b="1" dirty="0">
                <a:solidFill>
                  <a:srgbClr val="FF006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并、差、笛卡尔积(广义积)、 选择</a:t>
            </a:r>
            <a:r>
              <a:rPr lang="zh-CN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zh-CN" sz="2200" b="1" dirty="0">
                <a:solidFill>
                  <a:srgbClr val="FF006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投影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</a:t>
            </a:r>
            <a:r>
              <a:rPr lang="zh-CN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基本操作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以及</a:t>
            </a:r>
            <a:r>
              <a:rPr lang="zh-CN" altLang="zh-CN" sz="2200" b="1" dirty="0">
                <a:solidFill>
                  <a:srgbClr val="FF006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交、 连接</a:t>
            </a:r>
            <a:r>
              <a:rPr lang="zh-CN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zh-CN" sz="2200" b="1" dirty="0">
                <a:solidFill>
                  <a:srgbClr val="FF006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关系除</a:t>
            </a:r>
            <a:r>
              <a:rPr lang="zh-CN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等扩展操作，是一种集合思维的操作语言。</a:t>
            </a:r>
            <a:endParaRPr lang="zh-CN" altLang="zh-CN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spcBef>
                <a:spcPts val="625"/>
              </a:spcBef>
              <a:buSzPct val="95000"/>
              <a:buFont typeface="Wingdings" panose="05000000000000000000" pitchFamily="2" charset="2"/>
              <a:buChar char=""/>
            </a:pPr>
            <a:r>
              <a:rPr lang="zh-CN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关系代数操作以一个或多个关系为输入，结果是一个新的关系。</a:t>
            </a:r>
            <a:endParaRPr lang="zh-CN" altLang="zh-CN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spcBef>
                <a:spcPts val="613"/>
              </a:spcBef>
              <a:buSzPct val="95000"/>
              <a:buFont typeface="Wingdings" panose="05000000000000000000" pitchFamily="2" charset="2"/>
              <a:buChar char=""/>
            </a:pPr>
            <a:r>
              <a:rPr lang="zh-CN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用对关系的运算来表达查询，需要指明所用操作, 具有一定的过程性。</a:t>
            </a:r>
            <a:endParaRPr lang="zh-CN" altLang="zh-CN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4400" y="5745163"/>
            <a:ext cx="7848600" cy="319087"/>
          </a:xfrm>
          <a:prstGeom prst="rect">
            <a:avLst/>
          </a:prstGeom>
        </p:spPr>
        <p:txBody>
          <a:bodyPr lIns="0" tIns="10317" rIns="0" bIns="0">
            <a:spAutoFit/>
          </a:bodyPr>
          <a:lstStyle>
            <a:lvl1pPr marL="182563" indent="-171450">
              <a:tabLst>
                <a:tab pos="182563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tabLst>
                <a:tab pos="182563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tabLst>
                <a:tab pos="182563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tabLst>
                <a:tab pos="182563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tabLst>
                <a:tab pos="182563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82563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82563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82563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82563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75"/>
              </a:spcBef>
              <a:buSzPct val="95000"/>
              <a:buFont typeface="Wingdings" panose="05000000000000000000" pitchFamily="2" charset="2"/>
              <a:buChar char=""/>
            </a:pPr>
            <a:r>
              <a:rPr lang="zh-CN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是一种抽象的语言，是学习其他数据库语言，如SQL等的基础</a:t>
            </a:r>
            <a:endParaRPr lang="zh-CN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939925" y="4897438"/>
            <a:ext cx="5056188" cy="72072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9" name="矩形 8"/>
          <p:cNvSpPr/>
          <p:nvPr/>
        </p:nvSpPr>
        <p:spPr>
          <a:xfrm>
            <a:off x="323850" y="1614488"/>
            <a:ext cx="3851275" cy="522287"/>
          </a:xfrm>
          <a:prstGeom prst="rect">
            <a:avLst/>
          </a:prstGeom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(1)</a:t>
            </a:r>
            <a:r>
              <a:rPr lang="zh-CN" altLang="en-US" sz="280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关系代数运算的特点</a:t>
            </a:r>
            <a:endParaRPr lang="zh-CN" altLang="en-US" sz="2800">
              <a:solidFill>
                <a:srgbClr val="FF0000"/>
              </a:solidFill>
            </a:endParaRPr>
          </a:p>
        </p:txBody>
      </p:sp>
      <p:sp>
        <p:nvSpPr>
          <p:cNvPr id="10" name="标题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1.</a:t>
            </a:r>
            <a:r>
              <a:rPr lang="zh-CN" altLang="en-US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关系代数概述</a:t>
            </a:r>
            <a:endParaRPr lang="zh-CN" altLang="en-US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A6568E1-4089-4561-919E-9D2F37D3F2B0}" type="slidenum">
              <a:rPr lang="en-US" altLang="zh-CN" smtClean="0"/>
              <a:pPr>
                <a:defRPr/>
              </a:pPr>
              <a:t>3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6" grpId="0"/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904875" y="1387475"/>
            <a:ext cx="6980238" cy="903288"/>
          </a:xfrm>
          <a:prstGeom prst="rect">
            <a:avLst/>
          </a:prstGeom>
        </p:spPr>
        <p:txBody>
          <a:bodyPr lIns="0" tIns="10317" rIns="0" bIns="0">
            <a:spAutoFit/>
          </a:bodyPr>
          <a:lstStyle>
            <a:lvl1pPr marL="952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75"/>
              </a:spcBef>
            </a:pPr>
            <a:r>
              <a:rPr lang="zh-CN" alt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关系代数操作：集合操作和纯关系操作</a:t>
            </a:r>
            <a:endParaRPr lang="zh-CN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spcBef>
                <a:spcPts val="13"/>
              </a:spcBef>
            </a:pPr>
            <a:endParaRPr lang="zh-CN" altLang="zh-CN" sz="1000">
              <a:cs typeface="Times New Roman" panose="02020603050405020304" pitchFamily="18" charset="0"/>
            </a:endParaRPr>
          </a:p>
          <a:p>
            <a:pPr eaLnBrk="1" hangingPunct="1"/>
            <a:r>
              <a:rPr lang="zh-CN" altLang="zh-CN" b="1">
                <a:solidFill>
                  <a:srgbClr val="FF006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(1)集合操作</a:t>
            </a:r>
            <a:endParaRPr lang="zh-CN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65275" y="4077072"/>
            <a:ext cx="3209925" cy="379412"/>
          </a:xfrm>
          <a:prstGeom prst="rect">
            <a:avLst/>
          </a:prstGeom>
        </p:spPr>
        <p:txBody>
          <a:bodyPr lIns="0" tIns="10317" rIns="0" bIns="0">
            <a:spAutoFit/>
          </a:bodyPr>
          <a:lstStyle>
            <a:lvl1pPr marL="952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75"/>
              </a:spcBef>
            </a:pPr>
            <a:r>
              <a:rPr lang="zh-CN" altLang="zh-CN" b="1" dirty="0">
                <a:solidFill>
                  <a:srgbClr val="FF006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(2)纯关系操作</a:t>
            </a:r>
            <a:endParaRPr lang="zh-CN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593850" y="2320925"/>
            <a:ext cx="5643563" cy="136842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8" name="object 8"/>
          <p:cNvSpPr/>
          <p:nvPr/>
        </p:nvSpPr>
        <p:spPr>
          <a:xfrm>
            <a:off x="1643063" y="4610100"/>
            <a:ext cx="5726112" cy="136842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0" name="标题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sz="3200">
                <a:solidFill>
                  <a:srgbClr val="FFFFFF"/>
                </a:solidFill>
                <a:cs typeface="Arial" panose="020B0604020202020204" pitchFamily="34" charset="0"/>
              </a:rPr>
              <a:t>(2)</a:t>
            </a:r>
            <a:r>
              <a:rPr lang="zh-CN" altLang="en-US" sz="320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关系代数运算的基本操作</a:t>
            </a:r>
            <a:endParaRPr lang="zh-CN" altLang="en-US" sz="320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A6568E1-4089-4561-919E-9D2F37D3F2B0}" type="slidenum">
              <a:rPr lang="en-US" altLang="zh-CN" smtClean="0"/>
              <a:pPr>
                <a:defRPr/>
              </a:pPr>
              <a:t>4</a:t>
            </a:fld>
            <a:endParaRPr lang="en-US" altLang="zh-C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1838324" y="2329655"/>
            <a:ext cx="6131515" cy="3293361"/>
          </a:xfrm>
          <a:custGeom>
            <a:avLst/>
            <a:gdLst/>
            <a:ahLst/>
            <a:cxnLst/>
            <a:rect l="l" t="t" r="r" b="b"/>
            <a:pathLst>
              <a:path w="6571615" h="3548379">
                <a:moveTo>
                  <a:pt x="0" y="0"/>
                </a:moveTo>
                <a:lnTo>
                  <a:pt x="0" y="3547872"/>
                </a:lnTo>
                <a:lnTo>
                  <a:pt x="6571488" y="3547872"/>
                </a:lnTo>
                <a:lnTo>
                  <a:pt x="6571488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6" name="object 6"/>
          <p:cNvSpPr txBox="1"/>
          <p:nvPr/>
        </p:nvSpPr>
        <p:spPr>
          <a:xfrm>
            <a:off x="2335213" y="3479800"/>
            <a:ext cx="592137" cy="238125"/>
          </a:xfrm>
          <a:prstGeom prst="rect">
            <a:avLst/>
          </a:prstGeom>
        </p:spPr>
        <p:txBody>
          <a:bodyPr lIns="0" tIns="14661" rIns="0" bIns="0">
            <a:spAutoFit/>
          </a:bodyPr>
          <a:lstStyle/>
          <a:p>
            <a:pPr eaLnBrk="1" hangingPunct="1">
              <a:spcBef>
                <a:spcPts val="115"/>
              </a:spcBef>
              <a:defRPr/>
            </a:pPr>
            <a:r>
              <a:rPr sz="1454" b="1" spc="-312" dirty="0">
                <a:latin typeface="SimSun"/>
                <a:cs typeface="SimSun"/>
              </a:rPr>
              <a:t>基</a:t>
            </a:r>
            <a:r>
              <a:rPr sz="1454" b="1" spc="-325" dirty="0">
                <a:latin typeface="SimSun"/>
                <a:cs typeface="SimSun"/>
              </a:rPr>
              <a:t>本</a:t>
            </a:r>
            <a:r>
              <a:rPr sz="1454" b="1" spc="-321" dirty="0">
                <a:latin typeface="SimSun"/>
                <a:cs typeface="SimSun"/>
              </a:rPr>
              <a:t>动作</a:t>
            </a:r>
            <a:endParaRPr sz="1454">
              <a:latin typeface="SimSun"/>
              <a:cs typeface="SimSu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02889" y="3545829"/>
            <a:ext cx="1028111" cy="454671"/>
          </a:xfrm>
          <a:prstGeom prst="rect">
            <a:avLst/>
          </a:prstGeom>
        </p:spPr>
        <p:txBody>
          <a:bodyPr wrap="square" lIns="0" tIns="9774" rIns="0" bIns="0">
            <a:spAutoFit/>
          </a:bodyPr>
          <a:lstStyle>
            <a:lvl1pPr indent="7938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9000"/>
              </a:lnSpc>
              <a:spcBef>
                <a:spcPts val="75"/>
              </a:spcBef>
            </a:pPr>
            <a:r>
              <a:rPr lang="zh-CN" altLang="zh-CN" sz="1300" b="1" dirty="0">
                <a:latin typeface="宋体" panose="02010600030101010101" pitchFamily="2" charset="-122"/>
              </a:rPr>
              <a:t>对基本动作的抽象与控制</a:t>
            </a:r>
            <a:endParaRPr lang="zh-CN" altLang="zh-CN" sz="1300" dirty="0">
              <a:latin typeface="宋体" panose="02010600030101010101" pitchFamily="2" charset="-122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35213" y="4227513"/>
            <a:ext cx="592137" cy="800100"/>
          </a:xfrm>
          <a:prstGeom prst="rect">
            <a:avLst/>
          </a:prstGeom>
        </p:spPr>
        <p:txBody>
          <a:bodyPr lIns="0" tIns="51041" rIns="0" bIns="0">
            <a:spAutoFit/>
          </a:bodyPr>
          <a:lstStyle/>
          <a:p>
            <a:pPr eaLnBrk="1" hangingPunct="1">
              <a:spcBef>
                <a:spcPts val="402"/>
              </a:spcBef>
              <a:defRPr/>
            </a:pPr>
            <a:r>
              <a:rPr sz="1454" b="1" spc="-158" dirty="0">
                <a:latin typeface="Arial"/>
                <a:cs typeface="Arial"/>
              </a:rPr>
              <a:t>“</a:t>
            </a:r>
            <a:r>
              <a:rPr sz="1454" b="1" spc="-312" dirty="0">
                <a:latin typeface="SimSun"/>
                <a:cs typeface="SimSun"/>
              </a:rPr>
              <a:t>与</a:t>
            </a:r>
            <a:r>
              <a:rPr sz="1454" b="1" spc="-167" dirty="0">
                <a:latin typeface="Arial"/>
                <a:cs typeface="Arial"/>
              </a:rPr>
              <a:t>”</a:t>
            </a:r>
            <a:r>
              <a:rPr sz="1454" b="1" spc="-321" dirty="0">
                <a:latin typeface="SimSun"/>
                <a:cs typeface="SimSun"/>
              </a:rPr>
              <a:t>动作</a:t>
            </a:r>
            <a:endParaRPr sz="1454">
              <a:latin typeface="SimSun"/>
              <a:cs typeface="SimSun"/>
            </a:endParaRPr>
          </a:p>
          <a:p>
            <a:pPr eaLnBrk="1" hangingPunct="1">
              <a:spcBef>
                <a:spcPts val="321"/>
              </a:spcBef>
              <a:defRPr/>
            </a:pPr>
            <a:r>
              <a:rPr sz="1454" b="1" spc="-158" dirty="0">
                <a:latin typeface="Arial"/>
                <a:cs typeface="Arial"/>
              </a:rPr>
              <a:t>“</a:t>
            </a:r>
            <a:r>
              <a:rPr sz="1454" b="1" spc="-312" dirty="0">
                <a:latin typeface="SimSun"/>
                <a:cs typeface="SimSun"/>
              </a:rPr>
              <a:t>或</a:t>
            </a:r>
            <a:r>
              <a:rPr sz="1454" b="1" spc="-167" dirty="0">
                <a:latin typeface="Arial"/>
                <a:cs typeface="Arial"/>
              </a:rPr>
              <a:t>”</a:t>
            </a:r>
            <a:r>
              <a:rPr sz="1454" b="1" spc="-321" dirty="0">
                <a:latin typeface="SimSun"/>
                <a:cs typeface="SimSun"/>
              </a:rPr>
              <a:t>动作</a:t>
            </a:r>
            <a:endParaRPr sz="1454">
              <a:latin typeface="SimSun"/>
              <a:cs typeface="SimSun"/>
            </a:endParaRPr>
          </a:p>
          <a:p>
            <a:pPr eaLnBrk="1" hangingPunct="1">
              <a:spcBef>
                <a:spcPts val="316"/>
              </a:spcBef>
              <a:defRPr/>
            </a:pPr>
            <a:r>
              <a:rPr sz="1454" b="1" spc="-158" dirty="0">
                <a:latin typeface="Arial"/>
                <a:cs typeface="Arial"/>
              </a:rPr>
              <a:t>“</a:t>
            </a:r>
            <a:r>
              <a:rPr sz="1454" b="1" spc="-312" dirty="0">
                <a:latin typeface="SimSun"/>
                <a:cs typeface="SimSun"/>
              </a:rPr>
              <a:t>非</a:t>
            </a:r>
            <a:r>
              <a:rPr sz="1454" b="1" spc="-167" dirty="0">
                <a:latin typeface="Arial"/>
                <a:cs typeface="Arial"/>
              </a:rPr>
              <a:t>”</a:t>
            </a:r>
            <a:r>
              <a:rPr sz="1454" b="1" spc="-321" dirty="0">
                <a:latin typeface="SimSun"/>
                <a:cs typeface="SimSun"/>
              </a:rPr>
              <a:t>动作</a:t>
            </a:r>
            <a:endParaRPr sz="1454">
              <a:latin typeface="SimSun"/>
              <a:cs typeface="SimSu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192463" y="4227513"/>
            <a:ext cx="458787" cy="773675"/>
          </a:xfrm>
          <a:prstGeom prst="rect">
            <a:avLst/>
          </a:prstGeom>
        </p:spPr>
        <p:txBody>
          <a:bodyPr wrap="square" lIns="0" tIns="10860" rIns="0" bIns="0">
            <a:spAutoFit/>
          </a:bodyPr>
          <a:lstStyle>
            <a:lvl1pPr indent="1588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18000"/>
              </a:lnSpc>
              <a:spcBef>
                <a:spcPts val="88"/>
              </a:spcBef>
            </a:pPr>
            <a:r>
              <a:rPr lang="zh-CN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AND  OR  NOT</a:t>
            </a:r>
            <a:endParaRPr lang="zh-CN" altLang="zh-C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802313" y="3427413"/>
            <a:ext cx="61912" cy="669925"/>
          </a:xfrm>
          <a:custGeom>
            <a:avLst/>
            <a:gdLst/>
            <a:ahLst/>
            <a:cxnLst/>
            <a:rect l="l" t="t" r="r" b="b"/>
            <a:pathLst>
              <a:path w="71754" h="783589">
                <a:moveTo>
                  <a:pt x="71615" y="690371"/>
                </a:moveTo>
                <a:lnTo>
                  <a:pt x="0" y="690371"/>
                </a:lnTo>
                <a:lnTo>
                  <a:pt x="23609" y="751655"/>
                </a:lnTo>
                <a:lnTo>
                  <a:pt x="23609" y="705612"/>
                </a:lnTo>
                <a:lnTo>
                  <a:pt x="47993" y="705612"/>
                </a:lnTo>
                <a:lnTo>
                  <a:pt x="47993" y="751710"/>
                </a:lnTo>
                <a:lnTo>
                  <a:pt x="71615" y="690371"/>
                </a:lnTo>
                <a:close/>
              </a:path>
              <a:path w="71754" h="783589">
                <a:moveTo>
                  <a:pt x="47993" y="690371"/>
                </a:moveTo>
                <a:lnTo>
                  <a:pt x="47993" y="0"/>
                </a:lnTo>
                <a:lnTo>
                  <a:pt x="23609" y="0"/>
                </a:lnTo>
                <a:lnTo>
                  <a:pt x="23609" y="690371"/>
                </a:lnTo>
                <a:lnTo>
                  <a:pt x="47993" y="690371"/>
                </a:lnTo>
                <a:close/>
              </a:path>
              <a:path w="71754" h="783589">
                <a:moveTo>
                  <a:pt x="47993" y="751710"/>
                </a:moveTo>
                <a:lnTo>
                  <a:pt x="47993" y="705612"/>
                </a:lnTo>
                <a:lnTo>
                  <a:pt x="23609" y="705612"/>
                </a:lnTo>
                <a:lnTo>
                  <a:pt x="23609" y="751655"/>
                </a:lnTo>
                <a:lnTo>
                  <a:pt x="35814" y="783335"/>
                </a:lnTo>
                <a:lnTo>
                  <a:pt x="47993" y="751710"/>
                </a:lnTo>
                <a:close/>
              </a:path>
            </a:pathLst>
          </a:custGeom>
          <a:solidFill>
            <a:srgbClr val="000000"/>
          </a:solid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1" name="object 11"/>
          <p:cNvSpPr txBox="1"/>
          <p:nvPr/>
        </p:nvSpPr>
        <p:spPr>
          <a:xfrm>
            <a:off x="5073650" y="4097338"/>
            <a:ext cx="1444625" cy="699576"/>
          </a:xfrm>
          <a:prstGeom prst="rect">
            <a:avLst/>
          </a:prstGeom>
          <a:solidFill>
            <a:srgbClr val="FFFFFF"/>
          </a:solidFill>
          <a:ln w="23926">
            <a:solidFill>
              <a:srgbClr val="000000"/>
            </a:solidFill>
          </a:ln>
        </p:spPr>
        <p:txBody>
          <a:bodyPr wrap="square" lIns="0" tIns="46697" rIns="0" bIns="0">
            <a:spAutoFit/>
          </a:bodyPr>
          <a:lstStyle>
            <a:lvl1pPr marL="74613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5000"/>
              </a:lnSpc>
              <a:spcBef>
                <a:spcPts val="363"/>
              </a:spcBef>
            </a:pPr>
            <a:r>
              <a:rPr lang="zh-CN" altLang="zh-CN" sz="1400" b="1" dirty="0">
                <a:latin typeface="宋体" panose="02010600030101010101" pitchFamily="2" charset="-122"/>
              </a:rPr>
              <a:t>解释这种组合</a:t>
            </a:r>
            <a:r>
              <a:rPr lang="zh-CN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zh-CN" altLang="zh-CN" sz="1400" b="1" dirty="0">
                <a:latin typeface="宋体" panose="02010600030101010101" pitchFamily="2" charset="-122"/>
              </a:rPr>
              <a:t>并 按次序调用基本 动作予以执行</a:t>
            </a:r>
            <a:endParaRPr lang="zh-CN" altLang="zh-CN" sz="1400" dirty="0">
              <a:latin typeface="宋体" panose="02010600030101010101" pitchFamily="2" charset="-122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173288" y="4108450"/>
            <a:ext cx="2168525" cy="0"/>
          </a:xfrm>
          <a:custGeom>
            <a:avLst/>
            <a:gdLst/>
            <a:ahLst/>
            <a:cxnLst/>
            <a:rect l="l" t="t" r="r" b="b"/>
            <a:pathLst>
              <a:path w="2536190">
                <a:moveTo>
                  <a:pt x="0" y="0"/>
                </a:moveTo>
                <a:lnTo>
                  <a:pt x="2535936" y="0"/>
                </a:lnTo>
              </a:path>
            </a:pathLst>
          </a:custGeom>
          <a:ln w="23926">
            <a:solidFill>
              <a:srgbClr val="000000"/>
            </a:solidFill>
          </a:ln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3" name="object 13"/>
          <p:cNvSpPr/>
          <p:nvPr/>
        </p:nvSpPr>
        <p:spPr>
          <a:xfrm>
            <a:off x="3113088" y="3563938"/>
            <a:ext cx="0" cy="1431925"/>
          </a:xfrm>
          <a:custGeom>
            <a:avLst/>
            <a:gdLst/>
            <a:ahLst/>
            <a:cxnLst/>
            <a:rect l="l" t="t" r="r" b="b"/>
            <a:pathLst>
              <a:path h="1673860">
                <a:moveTo>
                  <a:pt x="0" y="0"/>
                </a:moveTo>
                <a:lnTo>
                  <a:pt x="0" y="1673352"/>
                </a:lnTo>
              </a:path>
            </a:pathLst>
          </a:custGeom>
          <a:ln w="23926">
            <a:solidFill>
              <a:srgbClr val="000000"/>
            </a:solidFill>
          </a:ln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4" name="object 14"/>
          <p:cNvSpPr/>
          <p:nvPr/>
        </p:nvSpPr>
        <p:spPr>
          <a:xfrm>
            <a:off x="3890194" y="4421188"/>
            <a:ext cx="1185862" cy="80962"/>
          </a:xfrm>
          <a:custGeom>
            <a:avLst/>
            <a:gdLst/>
            <a:ahLst/>
            <a:cxnLst/>
            <a:rect l="l" t="t" r="r" b="b"/>
            <a:pathLst>
              <a:path w="1386204" h="93979">
                <a:moveTo>
                  <a:pt x="71628" y="31241"/>
                </a:moveTo>
                <a:lnTo>
                  <a:pt x="71628" y="0"/>
                </a:lnTo>
                <a:lnTo>
                  <a:pt x="0" y="46481"/>
                </a:lnTo>
                <a:lnTo>
                  <a:pt x="59436" y="85684"/>
                </a:lnTo>
                <a:lnTo>
                  <a:pt x="59436" y="31241"/>
                </a:lnTo>
                <a:lnTo>
                  <a:pt x="71628" y="31241"/>
                </a:lnTo>
                <a:close/>
              </a:path>
              <a:path w="1386204" h="93979">
                <a:moveTo>
                  <a:pt x="1386078" y="62483"/>
                </a:moveTo>
                <a:lnTo>
                  <a:pt x="1386078" y="31241"/>
                </a:lnTo>
                <a:lnTo>
                  <a:pt x="59436" y="31241"/>
                </a:lnTo>
                <a:lnTo>
                  <a:pt x="59436" y="62483"/>
                </a:lnTo>
                <a:lnTo>
                  <a:pt x="1386078" y="62483"/>
                </a:lnTo>
                <a:close/>
              </a:path>
              <a:path w="1386204" h="93979">
                <a:moveTo>
                  <a:pt x="71628" y="93725"/>
                </a:moveTo>
                <a:lnTo>
                  <a:pt x="71628" y="62483"/>
                </a:lnTo>
                <a:lnTo>
                  <a:pt x="59436" y="62483"/>
                </a:lnTo>
                <a:lnTo>
                  <a:pt x="59436" y="85684"/>
                </a:lnTo>
                <a:lnTo>
                  <a:pt x="71628" y="93725"/>
                </a:lnTo>
                <a:close/>
              </a:path>
            </a:pathLst>
          </a:custGeom>
          <a:solidFill>
            <a:srgbClr val="000000"/>
          </a:solid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5" name="object 15"/>
          <p:cNvSpPr/>
          <p:nvPr/>
        </p:nvSpPr>
        <p:spPr>
          <a:xfrm>
            <a:off x="1916113" y="2422525"/>
            <a:ext cx="5608215" cy="2950691"/>
          </a:xfrm>
          <a:custGeom>
            <a:avLst/>
            <a:gdLst/>
            <a:ahLst/>
            <a:cxnLst/>
            <a:rect l="l" t="t" r="r" b="b"/>
            <a:pathLst>
              <a:path w="6390640" h="3338829">
                <a:moveTo>
                  <a:pt x="0" y="0"/>
                </a:moveTo>
                <a:lnTo>
                  <a:pt x="0" y="3338322"/>
                </a:lnTo>
                <a:lnTo>
                  <a:pt x="6390132" y="3338321"/>
                </a:lnTo>
                <a:lnTo>
                  <a:pt x="6390132" y="0"/>
                </a:lnTo>
                <a:lnTo>
                  <a:pt x="0" y="0"/>
                </a:lnTo>
                <a:close/>
              </a:path>
            </a:pathLst>
          </a:custGeom>
          <a:ln w="23926">
            <a:solidFill>
              <a:srgbClr val="000000"/>
            </a:solidFill>
          </a:ln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6" name="object 16"/>
          <p:cNvSpPr txBox="1"/>
          <p:nvPr/>
        </p:nvSpPr>
        <p:spPr>
          <a:xfrm>
            <a:off x="6581775" y="3943350"/>
            <a:ext cx="446088" cy="2042840"/>
          </a:xfrm>
          <a:prstGeom prst="rect">
            <a:avLst/>
          </a:prstGeom>
        </p:spPr>
        <p:txBody>
          <a:bodyPr wrap="square" lIns="0" tIns="11403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ts val="88"/>
              </a:spcBef>
            </a:pPr>
            <a:r>
              <a:rPr lang="zh-CN" altLang="zh-CN" sz="2200" b="1" dirty="0">
                <a:latin typeface="宋体" panose="02010600030101010101" pitchFamily="2" charset="-122"/>
              </a:rPr>
              <a:t>程序 执行 机构</a:t>
            </a:r>
            <a:endParaRPr lang="zh-CN" altLang="zh-CN" sz="2200" dirty="0">
              <a:latin typeface="宋体" panose="02010600030101010101" pitchFamily="2" charset="-122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787775" y="4718050"/>
            <a:ext cx="447675" cy="354013"/>
          </a:xfrm>
          <a:prstGeom prst="rect">
            <a:avLst/>
          </a:prstGeom>
        </p:spPr>
        <p:txBody>
          <a:bodyPr lIns="0" tIns="11946" rIns="0" bIns="0">
            <a:spAutoFit/>
          </a:bodyPr>
          <a:lstStyle/>
          <a:p>
            <a:pPr eaLnBrk="1" hangingPunct="1">
              <a:spcBef>
                <a:spcPts val="94"/>
              </a:spcBef>
              <a:defRPr/>
            </a:pPr>
            <a:r>
              <a:rPr sz="2223" b="1" spc="-517" dirty="0">
                <a:latin typeface="SimSun"/>
                <a:cs typeface="SimSun"/>
              </a:rPr>
              <a:t>指令</a:t>
            </a:r>
            <a:endParaRPr sz="2223">
              <a:latin typeface="SimSun"/>
              <a:cs typeface="SimSu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907704" y="3212976"/>
            <a:ext cx="205249" cy="1390774"/>
          </a:xfrm>
          <a:prstGeom prst="rect">
            <a:avLst/>
          </a:prstGeom>
        </p:spPr>
        <p:txBody>
          <a:bodyPr vert="eaVert" wrap="square" lIns="0" tIns="0" rIns="0" bIns="0">
            <a:spAutoFit/>
          </a:bodyPr>
          <a:lstStyle/>
          <a:p>
            <a:pPr marL="10860" eaLnBrk="1" hangingPunct="1">
              <a:lnSpc>
                <a:spcPct val="60000"/>
              </a:lnSpc>
              <a:defRPr/>
            </a:pPr>
            <a:r>
              <a:rPr sz="2223" b="1" dirty="0">
                <a:latin typeface="SimSun"/>
                <a:cs typeface="SimSun"/>
              </a:rPr>
              <a:t>基</a:t>
            </a:r>
            <a:r>
              <a:rPr sz="2223" b="1" spc="-650" dirty="0">
                <a:latin typeface="SimSun"/>
                <a:cs typeface="SimSun"/>
              </a:rPr>
              <a:t> </a:t>
            </a:r>
            <a:r>
              <a:rPr sz="2223" b="1" dirty="0">
                <a:latin typeface="SimSun"/>
                <a:cs typeface="SimSun"/>
              </a:rPr>
              <a:t>本</a:t>
            </a:r>
            <a:r>
              <a:rPr sz="2223" b="1" spc="-650" dirty="0">
                <a:latin typeface="SimSun"/>
                <a:cs typeface="SimSun"/>
              </a:rPr>
              <a:t> </a:t>
            </a:r>
            <a:r>
              <a:rPr sz="2223" b="1" dirty="0">
                <a:latin typeface="SimSun"/>
                <a:cs typeface="SimSun"/>
              </a:rPr>
              <a:t>动</a:t>
            </a:r>
            <a:r>
              <a:rPr sz="2223" b="1" spc="-663" dirty="0">
                <a:latin typeface="SimSun"/>
                <a:cs typeface="SimSun"/>
              </a:rPr>
              <a:t> </a:t>
            </a:r>
            <a:r>
              <a:rPr sz="2223" b="1" dirty="0">
                <a:latin typeface="SimSun"/>
                <a:cs typeface="SimSun"/>
              </a:rPr>
              <a:t>作</a:t>
            </a:r>
            <a:endParaRPr sz="2223" dirty="0">
              <a:latin typeface="SimSun"/>
              <a:cs typeface="SimSu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479799" y="2422525"/>
            <a:ext cx="4764609" cy="925310"/>
          </a:xfrm>
          <a:prstGeom prst="rect">
            <a:avLst/>
          </a:prstGeom>
        </p:spPr>
        <p:txBody>
          <a:bodyPr wrap="square" lIns="0" tIns="14661" rIns="0" bIns="0">
            <a:spAutoFit/>
          </a:bodyPr>
          <a:lstStyle/>
          <a:p>
            <a:pPr marL="580455" eaLnBrk="1" hangingPunct="1">
              <a:lnSpc>
                <a:spcPts val="1526"/>
              </a:lnSpc>
              <a:spcBef>
                <a:spcPts val="115"/>
              </a:spcBef>
              <a:defRPr/>
            </a:pPr>
            <a:r>
              <a:rPr lang="en-US" sz="1454" b="1" spc="-321" dirty="0">
                <a:latin typeface="SimSun"/>
                <a:cs typeface="SimSun"/>
              </a:rPr>
              <a:t> </a:t>
            </a:r>
            <a:r>
              <a:rPr sz="1454" b="1" spc="-321" dirty="0" err="1">
                <a:latin typeface="SimSun"/>
                <a:cs typeface="SimSun"/>
              </a:rPr>
              <a:t>复杂动作</a:t>
            </a:r>
            <a:r>
              <a:rPr lang="en-US" sz="1454" b="1" spc="-321" dirty="0">
                <a:latin typeface="SimSun"/>
                <a:cs typeface="SimSun"/>
              </a:rPr>
              <a:t>  </a:t>
            </a:r>
            <a:r>
              <a:rPr sz="1454" b="1" spc="-184" dirty="0">
                <a:latin typeface="Arial"/>
                <a:cs typeface="Arial"/>
              </a:rPr>
              <a:t>=</a:t>
            </a:r>
            <a:r>
              <a:rPr sz="1454" b="1" spc="-94" dirty="0">
                <a:latin typeface="Arial"/>
                <a:cs typeface="Arial"/>
              </a:rPr>
              <a:t> </a:t>
            </a:r>
            <a:r>
              <a:rPr sz="1454" b="1" spc="-321" dirty="0">
                <a:latin typeface="SimSun"/>
                <a:cs typeface="SimSun"/>
              </a:rPr>
              <a:t>基本动作的各种方式的组合</a:t>
            </a:r>
            <a:endParaRPr sz="1454" dirty="0">
              <a:latin typeface="SimSun"/>
              <a:cs typeface="SimSun"/>
            </a:endParaRPr>
          </a:p>
          <a:p>
            <a:pPr eaLnBrk="1" hangingPunct="1">
              <a:lnSpc>
                <a:spcPts val="2403"/>
              </a:lnSpc>
              <a:defRPr/>
            </a:pPr>
            <a:r>
              <a:rPr sz="3335" b="1" spc="-776" baseline="2136" dirty="0">
                <a:latin typeface="SimSun"/>
                <a:cs typeface="SimSun"/>
              </a:rPr>
              <a:t>程 序</a:t>
            </a:r>
            <a:r>
              <a:rPr lang="en-US" sz="3335" b="1" spc="-776" baseline="2136" dirty="0">
                <a:latin typeface="SimSun"/>
                <a:cs typeface="SimSun"/>
              </a:rPr>
              <a:t> </a:t>
            </a:r>
            <a:r>
              <a:rPr sz="3335" b="1" spc="-776" baseline="2136" dirty="0">
                <a:latin typeface="SimSun"/>
                <a:cs typeface="SimSun"/>
              </a:rPr>
              <a:t> </a:t>
            </a:r>
            <a:r>
              <a:rPr sz="1454" b="1" spc="-141" dirty="0">
                <a:latin typeface="Arial"/>
                <a:cs typeface="Arial"/>
              </a:rPr>
              <a:t>(</a:t>
            </a:r>
            <a:r>
              <a:rPr lang="en-US" sz="1454" b="1" spc="-141" dirty="0">
                <a:latin typeface="Arial"/>
                <a:cs typeface="Arial"/>
              </a:rPr>
              <a:t> </a:t>
            </a:r>
            <a:r>
              <a:rPr sz="1454" b="1" spc="-141" dirty="0">
                <a:latin typeface="Arial"/>
                <a:cs typeface="Arial"/>
              </a:rPr>
              <a:t>A</a:t>
            </a:r>
            <a:r>
              <a:rPr sz="1539" b="1" spc="-211" baseline="-20833" dirty="0">
                <a:latin typeface="Arial"/>
                <a:cs typeface="Arial"/>
              </a:rPr>
              <a:t>i </a:t>
            </a:r>
            <a:r>
              <a:rPr lang="en-US" sz="1539" b="1" spc="-211" baseline="-20833" dirty="0">
                <a:latin typeface="Arial"/>
                <a:cs typeface="Arial"/>
              </a:rPr>
              <a:t>  </a:t>
            </a:r>
            <a:r>
              <a:rPr sz="1454" b="1" spc="-231" dirty="0">
                <a:latin typeface="Arial"/>
                <a:cs typeface="Arial"/>
              </a:rPr>
              <a:t>XOR </a:t>
            </a:r>
            <a:r>
              <a:rPr lang="en-US" sz="1454" b="1" spc="-231" dirty="0">
                <a:latin typeface="Arial"/>
                <a:cs typeface="Arial"/>
              </a:rPr>
              <a:t> </a:t>
            </a:r>
            <a:r>
              <a:rPr sz="1454" b="1" spc="-133" dirty="0">
                <a:latin typeface="Arial"/>
                <a:cs typeface="Arial"/>
              </a:rPr>
              <a:t>B</a:t>
            </a:r>
            <a:r>
              <a:rPr sz="1539" b="1" spc="-198" baseline="-20833" dirty="0">
                <a:latin typeface="Arial"/>
                <a:cs typeface="Arial"/>
              </a:rPr>
              <a:t>i</a:t>
            </a:r>
            <a:r>
              <a:rPr lang="en-US" sz="1539" b="1" spc="-198" baseline="-20833" dirty="0">
                <a:latin typeface="Arial"/>
                <a:cs typeface="Arial"/>
              </a:rPr>
              <a:t>  </a:t>
            </a:r>
            <a:r>
              <a:rPr sz="1454" b="1" spc="-133" dirty="0">
                <a:latin typeface="Arial"/>
                <a:cs typeface="Arial"/>
              </a:rPr>
              <a:t>) </a:t>
            </a:r>
            <a:r>
              <a:rPr sz="1454" b="1" spc="-231" dirty="0">
                <a:latin typeface="Arial"/>
                <a:cs typeface="Arial"/>
              </a:rPr>
              <a:t>XOR</a:t>
            </a:r>
            <a:r>
              <a:rPr sz="1454" b="1" spc="-201" dirty="0">
                <a:latin typeface="Arial"/>
                <a:cs typeface="Arial"/>
              </a:rPr>
              <a:t> </a:t>
            </a:r>
            <a:r>
              <a:rPr lang="en-US" sz="1454" b="1" spc="-201" dirty="0">
                <a:latin typeface="Arial"/>
                <a:cs typeface="Arial"/>
              </a:rPr>
              <a:t>  </a:t>
            </a:r>
            <a:r>
              <a:rPr sz="1454" b="1" spc="-145" dirty="0">
                <a:latin typeface="Arial"/>
                <a:cs typeface="Arial"/>
              </a:rPr>
              <a:t>C</a:t>
            </a:r>
            <a:r>
              <a:rPr sz="1539" b="1" spc="-217" baseline="-20833" dirty="0">
                <a:latin typeface="Arial"/>
                <a:cs typeface="Arial"/>
              </a:rPr>
              <a:t>i</a:t>
            </a:r>
            <a:endParaRPr sz="1539" baseline="-20833" dirty="0">
              <a:latin typeface="Arial"/>
              <a:cs typeface="Arial"/>
            </a:endParaRPr>
          </a:p>
          <a:p>
            <a:pPr marL="584799" eaLnBrk="1" hangingPunct="1">
              <a:lnSpc>
                <a:spcPts val="1573"/>
              </a:lnSpc>
              <a:defRPr/>
            </a:pPr>
            <a:r>
              <a:rPr lang="en-US" sz="1454" b="1" spc="-133" dirty="0">
                <a:latin typeface="Arial"/>
                <a:cs typeface="Arial"/>
              </a:rPr>
              <a:t> </a:t>
            </a:r>
            <a:r>
              <a:rPr sz="1454" b="1" spc="-133" dirty="0">
                <a:latin typeface="Arial"/>
                <a:cs typeface="Arial"/>
              </a:rPr>
              <a:t>((</a:t>
            </a:r>
            <a:r>
              <a:rPr lang="en-US" sz="1454" b="1" spc="-133" dirty="0">
                <a:latin typeface="Arial"/>
                <a:cs typeface="Arial"/>
              </a:rPr>
              <a:t> </a:t>
            </a:r>
            <a:r>
              <a:rPr sz="1454" b="1" spc="-133" dirty="0">
                <a:latin typeface="Arial"/>
                <a:cs typeface="Arial"/>
              </a:rPr>
              <a:t>A</a:t>
            </a:r>
            <a:r>
              <a:rPr sz="1539" b="1" spc="-198" baseline="-20833" dirty="0">
                <a:latin typeface="Arial"/>
                <a:cs typeface="Arial"/>
              </a:rPr>
              <a:t>i </a:t>
            </a:r>
            <a:r>
              <a:rPr lang="en-US" sz="1539" b="1" spc="-198" baseline="-20833" dirty="0">
                <a:latin typeface="Arial"/>
                <a:cs typeface="Arial"/>
              </a:rPr>
              <a:t>   </a:t>
            </a:r>
            <a:r>
              <a:rPr sz="1454" b="1" spc="-227" dirty="0">
                <a:latin typeface="Arial"/>
                <a:cs typeface="Arial"/>
              </a:rPr>
              <a:t>XOR</a:t>
            </a:r>
            <a:r>
              <a:rPr lang="en-US" sz="1454" b="1" spc="-227" dirty="0">
                <a:latin typeface="Arial"/>
                <a:cs typeface="Arial"/>
              </a:rPr>
              <a:t>   </a:t>
            </a:r>
            <a:r>
              <a:rPr sz="1454" b="1" spc="-227" dirty="0">
                <a:latin typeface="Arial"/>
                <a:cs typeface="Arial"/>
              </a:rPr>
              <a:t> </a:t>
            </a:r>
            <a:r>
              <a:rPr sz="1454" b="1" spc="-133" dirty="0">
                <a:latin typeface="Arial"/>
                <a:cs typeface="Arial"/>
              </a:rPr>
              <a:t>B</a:t>
            </a:r>
            <a:r>
              <a:rPr sz="1539" b="1" spc="-198" baseline="-20833" dirty="0">
                <a:latin typeface="Arial"/>
                <a:cs typeface="Arial"/>
              </a:rPr>
              <a:t>i</a:t>
            </a:r>
            <a:r>
              <a:rPr sz="1454" b="1" spc="-133" dirty="0">
                <a:latin typeface="Arial"/>
                <a:cs typeface="Arial"/>
              </a:rPr>
              <a:t>) </a:t>
            </a:r>
            <a:r>
              <a:rPr lang="en-US" sz="1454" b="1" spc="-133" dirty="0">
                <a:latin typeface="Arial"/>
                <a:cs typeface="Arial"/>
              </a:rPr>
              <a:t>  </a:t>
            </a:r>
            <a:r>
              <a:rPr sz="1454" b="1" spc="-231" dirty="0">
                <a:latin typeface="Arial"/>
                <a:cs typeface="Arial"/>
              </a:rPr>
              <a:t>AND </a:t>
            </a:r>
            <a:r>
              <a:rPr lang="en-US" sz="1454" b="1" spc="-231" dirty="0">
                <a:latin typeface="Arial"/>
                <a:cs typeface="Arial"/>
              </a:rPr>
              <a:t>   </a:t>
            </a:r>
            <a:r>
              <a:rPr sz="1454" b="1" spc="-133" dirty="0">
                <a:latin typeface="Arial"/>
                <a:cs typeface="Arial"/>
              </a:rPr>
              <a:t>C</a:t>
            </a:r>
            <a:r>
              <a:rPr sz="1539" b="1" spc="-198" baseline="-20833" dirty="0">
                <a:latin typeface="Arial"/>
                <a:cs typeface="Arial"/>
              </a:rPr>
              <a:t>i</a:t>
            </a:r>
            <a:r>
              <a:rPr lang="en-US" sz="1539" b="1" spc="-198" baseline="-20833" dirty="0">
                <a:latin typeface="Arial"/>
                <a:cs typeface="Arial"/>
              </a:rPr>
              <a:t> </a:t>
            </a:r>
            <a:r>
              <a:rPr sz="1454" b="1" spc="-133" dirty="0">
                <a:latin typeface="Arial"/>
                <a:cs typeface="Arial"/>
              </a:rPr>
              <a:t>)</a:t>
            </a:r>
            <a:r>
              <a:rPr lang="en-US" sz="1454" b="1" spc="-133" dirty="0">
                <a:latin typeface="Arial"/>
                <a:cs typeface="Arial"/>
              </a:rPr>
              <a:t>  </a:t>
            </a:r>
            <a:r>
              <a:rPr sz="1454" b="1" spc="-133" dirty="0">
                <a:latin typeface="Arial"/>
                <a:cs typeface="Arial"/>
              </a:rPr>
              <a:t> </a:t>
            </a:r>
            <a:r>
              <a:rPr sz="1454" b="1" spc="-239" dirty="0">
                <a:latin typeface="Arial"/>
                <a:cs typeface="Arial"/>
              </a:rPr>
              <a:t>OR </a:t>
            </a:r>
            <a:r>
              <a:rPr lang="en-US" sz="1454" b="1" spc="-239" dirty="0">
                <a:latin typeface="Arial"/>
                <a:cs typeface="Arial"/>
              </a:rPr>
              <a:t>  </a:t>
            </a:r>
            <a:r>
              <a:rPr sz="1454" b="1" spc="-141" dirty="0">
                <a:latin typeface="Arial"/>
                <a:cs typeface="Arial"/>
              </a:rPr>
              <a:t>(</a:t>
            </a:r>
            <a:r>
              <a:rPr lang="en-US" sz="1454" b="1" spc="-141" dirty="0">
                <a:latin typeface="Arial"/>
                <a:cs typeface="Arial"/>
              </a:rPr>
              <a:t> </a:t>
            </a:r>
            <a:r>
              <a:rPr sz="1454" b="1" spc="-141" dirty="0">
                <a:latin typeface="Arial"/>
                <a:cs typeface="Arial"/>
              </a:rPr>
              <a:t>A</a:t>
            </a:r>
            <a:r>
              <a:rPr sz="1539" b="1" spc="-211" baseline="-20833" dirty="0">
                <a:latin typeface="Arial"/>
                <a:cs typeface="Arial"/>
              </a:rPr>
              <a:t>i </a:t>
            </a:r>
            <a:r>
              <a:rPr lang="en-US" sz="1539" b="1" spc="-211" baseline="-20833" dirty="0">
                <a:latin typeface="Arial"/>
                <a:cs typeface="Arial"/>
              </a:rPr>
              <a:t>  </a:t>
            </a:r>
            <a:r>
              <a:rPr sz="1454" b="1" spc="-231" dirty="0">
                <a:latin typeface="Arial"/>
                <a:cs typeface="Arial"/>
              </a:rPr>
              <a:t>AND</a:t>
            </a:r>
            <a:r>
              <a:rPr sz="1454" b="1" spc="-248" dirty="0">
                <a:latin typeface="Arial"/>
                <a:cs typeface="Arial"/>
              </a:rPr>
              <a:t> </a:t>
            </a:r>
            <a:r>
              <a:rPr lang="en-US" sz="1454" b="1" spc="-248" dirty="0">
                <a:latin typeface="Arial"/>
                <a:cs typeface="Arial"/>
              </a:rPr>
              <a:t>   </a:t>
            </a:r>
            <a:r>
              <a:rPr sz="1454" b="1" spc="-133" dirty="0">
                <a:latin typeface="Arial"/>
                <a:cs typeface="Arial"/>
              </a:rPr>
              <a:t>B</a:t>
            </a:r>
            <a:r>
              <a:rPr sz="1539" b="1" spc="-198" baseline="-20833" dirty="0">
                <a:latin typeface="Arial"/>
                <a:cs typeface="Arial"/>
              </a:rPr>
              <a:t>i</a:t>
            </a:r>
            <a:r>
              <a:rPr lang="en-US" sz="1539" b="1" spc="-198" baseline="-20833" dirty="0">
                <a:latin typeface="Arial"/>
                <a:cs typeface="Arial"/>
              </a:rPr>
              <a:t>  </a:t>
            </a:r>
            <a:r>
              <a:rPr sz="1454" b="1" spc="-133" dirty="0">
                <a:latin typeface="Arial"/>
                <a:cs typeface="Arial"/>
              </a:rPr>
              <a:t>)</a:t>
            </a:r>
            <a:endParaRPr sz="1454" dirty="0">
              <a:latin typeface="Arial"/>
              <a:cs typeface="Arial"/>
            </a:endParaRPr>
          </a:p>
          <a:p>
            <a:pPr marL="580455" eaLnBrk="1" hangingPunct="1">
              <a:lnSpc>
                <a:spcPts val="1620"/>
              </a:lnSpc>
              <a:defRPr/>
            </a:pPr>
            <a:r>
              <a:rPr lang="en-US" sz="1454" b="1" spc="-154" dirty="0">
                <a:latin typeface="Arial"/>
                <a:cs typeface="Arial"/>
              </a:rPr>
              <a:t>   </a:t>
            </a:r>
            <a:r>
              <a:rPr sz="1454" b="1" spc="-154" dirty="0">
                <a:latin typeface="Arial"/>
                <a:cs typeface="Arial"/>
              </a:rPr>
              <a:t>……</a:t>
            </a:r>
            <a:r>
              <a:rPr sz="1454" b="1" spc="-86" dirty="0">
                <a:latin typeface="Arial"/>
                <a:cs typeface="Arial"/>
              </a:rPr>
              <a:t> </a:t>
            </a:r>
            <a:endParaRPr sz="1454" dirty="0">
              <a:latin typeface="Arial"/>
              <a:cs typeface="Arial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xfrm>
            <a:off x="1112152" y="675434"/>
            <a:ext cx="5700712" cy="493941"/>
          </a:xfrm>
        </p:spPr>
        <p:txBody>
          <a:bodyPr wrap="square" lIns="0" tIns="62444" rIns="0" bIns="0">
            <a:spAutoFit/>
          </a:bodyPr>
          <a:lstStyle/>
          <a:p>
            <a:pPr algn="l">
              <a:spcBef>
                <a:spcPts val="400"/>
              </a:spcBef>
            </a:pPr>
            <a:r>
              <a:rPr lang="zh-CN" altLang="zh-CN" sz="2800" dirty="0">
                <a:solidFill>
                  <a:srgbClr val="FFFFFF"/>
                </a:solidFill>
                <a:cs typeface="Arial" panose="020B0604020202020204" pitchFamily="34" charset="0"/>
              </a:rPr>
              <a:t>(3)</a:t>
            </a:r>
            <a:r>
              <a:rPr lang="zh-CN" altLang="zh-CN" sz="2800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为什么要提出关系代数</a:t>
            </a:r>
            <a:endParaRPr lang="zh-CN" altLang="zh-CN" sz="28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1" name="灯片编号占位符 20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A6568E1-4089-4561-919E-9D2F37D3F2B0}" type="slidenum">
              <a:rPr lang="en-US" altLang="zh-CN" smtClean="0"/>
              <a:pPr>
                <a:defRPr/>
              </a:pPr>
              <a:t>5</a:t>
            </a:fld>
            <a:endParaRPr lang="en-US" altLang="zh-C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1589088" y="3852863"/>
            <a:ext cx="717550" cy="222250"/>
          </a:xfrm>
          <a:prstGeom prst="rect">
            <a:avLst/>
          </a:prstGeom>
        </p:spPr>
        <p:txBody>
          <a:bodyPr lIns="0" tIns="10860" rIns="0" bIns="0">
            <a:spAutoFit/>
          </a:bodyPr>
          <a:lstStyle/>
          <a:p>
            <a:pPr marL="10860" eaLnBrk="1" hangingPunct="1">
              <a:spcBef>
                <a:spcPts val="86"/>
              </a:spcBef>
              <a:defRPr/>
            </a:pPr>
            <a:r>
              <a:rPr sz="1368" b="1" spc="-9" dirty="0">
                <a:solidFill>
                  <a:srgbClr val="FF0000"/>
                </a:solidFill>
                <a:latin typeface="SimSun"/>
                <a:cs typeface="SimSun"/>
              </a:rPr>
              <a:t>基本动作</a:t>
            </a:r>
            <a:endParaRPr sz="1368">
              <a:latin typeface="SimSun"/>
              <a:cs typeface="SimSu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14613" y="3821113"/>
            <a:ext cx="1076325" cy="495300"/>
          </a:xfrm>
          <a:prstGeom prst="rect">
            <a:avLst/>
          </a:prstGeom>
        </p:spPr>
        <p:txBody>
          <a:bodyPr lIns="0" tIns="10860" rIns="0" bIns="0">
            <a:spAutoFit/>
          </a:bodyPr>
          <a:lstStyle>
            <a:lvl1pPr marL="9525" indent="11113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ts val="88"/>
              </a:spcBef>
            </a:pPr>
            <a:r>
              <a:rPr lang="zh-CN" altLang="zh-CN" sz="1300" b="1">
                <a:solidFill>
                  <a:srgbClr val="FF0000"/>
                </a:solidFill>
                <a:latin typeface="宋体" panose="02010600030101010101" pitchFamily="2" charset="-122"/>
              </a:rPr>
              <a:t>对基本动作的 抽象与控制</a:t>
            </a:r>
            <a:endParaRPr lang="zh-CN" altLang="zh-CN" sz="1300">
              <a:latin typeface="宋体" panose="02010600030101010101" pitchFamily="2" charset="-122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89088" y="4546600"/>
            <a:ext cx="1387475" cy="1222375"/>
          </a:xfrm>
          <a:prstGeom prst="rect">
            <a:avLst/>
          </a:prstGeom>
        </p:spPr>
        <p:txBody>
          <a:bodyPr lIns="0" tIns="41810" rIns="0" bIns="0">
            <a:spAutoFit/>
          </a:bodyPr>
          <a:lstStyle/>
          <a:p>
            <a:pPr marL="10860" eaLnBrk="1" hangingPunct="1">
              <a:spcBef>
                <a:spcPts val="329"/>
              </a:spcBef>
              <a:tabLst>
                <a:tab pos="1242901" algn="l"/>
              </a:tabLst>
              <a:defRPr/>
            </a:pPr>
            <a:r>
              <a:rPr sz="1368" b="1" spc="-4" dirty="0">
                <a:solidFill>
                  <a:srgbClr val="FF0000"/>
                </a:solidFill>
                <a:latin typeface="Arial"/>
                <a:cs typeface="Arial"/>
              </a:rPr>
              <a:t>“</a:t>
            </a:r>
            <a:r>
              <a:rPr sz="1368" b="1" spc="-4" dirty="0">
                <a:solidFill>
                  <a:srgbClr val="FF0000"/>
                </a:solidFill>
                <a:latin typeface="SimSun"/>
                <a:cs typeface="SimSun"/>
              </a:rPr>
              <a:t>并</a:t>
            </a:r>
            <a:r>
              <a:rPr sz="1368" b="1" spc="-4" dirty="0">
                <a:solidFill>
                  <a:srgbClr val="FF0000"/>
                </a:solidFill>
                <a:latin typeface="Arial"/>
                <a:cs typeface="Arial"/>
              </a:rPr>
              <a:t>”</a:t>
            </a:r>
            <a:r>
              <a:rPr sz="1368" b="1" spc="-4" dirty="0">
                <a:solidFill>
                  <a:srgbClr val="FF0000"/>
                </a:solidFill>
                <a:latin typeface="SimSun"/>
                <a:cs typeface="SimSun"/>
              </a:rPr>
              <a:t>动作</a:t>
            </a:r>
            <a:r>
              <a:rPr sz="1368" b="1" dirty="0">
                <a:solidFill>
                  <a:srgbClr val="FF0000"/>
                </a:solidFill>
                <a:latin typeface="SimSun"/>
                <a:cs typeface="SimSun"/>
              </a:rPr>
              <a:t>	</a:t>
            </a:r>
            <a:r>
              <a:rPr sz="1368" b="1" dirty="0">
                <a:solidFill>
                  <a:srgbClr val="FF0000"/>
                </a:solidFill>
                <a:latin typeface="Symbol"/>
                <a:cs typeface="Symbol"/>
              </a:rPr>
              <a:t></a:t>
            </a:r>
            <a:endParaRPr sz="1368">
              <a:latin typeface="Symbol"/>
              <a:cs typeface="Symbol"/>
            </a:endParaRPr>
          </a:p>
          <a:p>
            <a:pPr marL="10860" eaLnBrk="1" hangingPunct="1">
              <a:spcBef>
                <a:spcPts val="248"/>
              </a:spcBef>
              <a:tabLst>
                <a:tab pos="1242901" algn="l"/>
              </a:tabLst>
              <a:defRPr/>
            </a:pPr>
            <a:r>
              <a:rPr sz="1368" b="1" spc="-4" dirty="0">
                <a:solidFill>
                  <a:srgbClr val="FF0000"/>
                </a:solidFill>
                <a:latin typeface="Arial"/>
                <a:cs typeface="Arial"/>
              </a:rPr>
              <a:t>“</a:t>
            </a:r>
            <a:r>
              <a:rPr sz="1368" b="1" spc="-4" dirty="0">
                <a:solidFill>
                  <a:srgbClr val="FF0000"/>
                </a:solidFill>
                <a:latin typeface="SimSun"/>
                <a:cs typeface="SimSun"/>
              </a:rPr>
              <a:t>差</a:t>
            </a:r>
            <a:r>
              <a:rPr sz="1368" b="1" spc="-4" dirty="0">
                <a:solidFill>
                  <a:srgbClr val="FF0000"/>
                </a:solidFill>
                <a:latin typeface="Arial"/>
                <a:cs typeface="Arial"/>
              </a:rPr>
              <a:t>”</a:t>
            </a:r>
            <a:r>
              <a:rPr sz="1368" b="1" spc="-4" dirty="0">
                <a:solidFill>
                  <a:srgbClr val="FF0000"/>
                </a:solidFill>
                <a:latin typeface="SimSun"/>
                <a:cs typeface="SimSun"/>
              </a:rPr>
              <a:t>动作	</a:t>
            </a:r>
            <a:r>
              <a:rPr sz="1368" b="1" dirty="0">
                <a:solidFill>
                  <a:srgbClr val="FF0000"/>
                </a:solidFill>
                <a:latin typeface="Symbol"/>
                <a:cs typeface="Symbol"/>
              </a:rPr>
              <a:t></a:t>
            </a:r>
            <a:endParaRPr sz="1368">
              <a:latin typeface="Symbol"/>
              <a:cs typeface="Symbol"/>
            </a:endParaRPr>
          </a:p>
          <a:p>
            <a:pPr marL="10860" eaLnBrk="1" hangingPunct="1">
              <a:spcBef>
                <a:spcPts val="252"/>
              </a:spcBef>
              <a:tabLst>
                <a:tab pos="1242901" algn="l"/>
              </a:tabLst>
              <a:defRPr/>
            </a:pPr>
            <a:r>
              <a:rPr sz="1368" b="1" spc="-4" dirty="0">
                <a:solidFill>
                  <a:srgbClr val="FF0000"/>
                </a:solidFill>
                <a:latin typeface="Arial"/>
                <a:cs typeface="Arial"/>
              </a:rPr>
              <a:t>“</a:t>
            </a:r>
            <a:r>
              <a:rPr sz="1368" b="1" spc="-4" dirty="0">
                <a:solidFill>
                  <a:srgbClr val="FF0000"/>
                </a:solidFill>
                <a:latin typeface="SimSun"/>
                <a:cs typeface="SimSun"/>
              </a:rPr>
              <a:t>积</a:t>
            </a:r>
            <a:r>
              <a:rPr sz="1368" b="1" spc="-4" dirty="0">
                <a:solidFill>
                  <a:srgbClr val="FF0000"/>
                </a:solidFill>
                <a:latin typeface="Arial"/>
                <a:cs typeface="Arial"/>
              </a:rPr>
              <a:t>”</a:t>
            </a:r>
            <a:r>
              <a:rPr sz="1368" b="1" spc="-4" dirty="0">
                <a:solidFill>
                  <a:srgbClr val="FF0000"/>
                </a:solidFill>
                <a:latin typeface="SimSun"/>
                <a:cs typeface="SimSun"/>
              </a:rPr>
              <a:t>动作	</a:t>
            </a:r>
            <a:r>
              <a:rPr sz="1368" b="1" dirty="0">
                <a:solidFill>
                  <a:srgbClr val="FF0000"/>
                </a:solidFill>
                <a:latin typeface="Symbol"/>
                <a:cs typeface="Symbol"/>
              </a:rPr>
              <a:t></a:t>
            </a:r>
            <a:endParaRPr sz="1368">
              <a:latin typeface="Symbol"/>
              <a:cs typeface="Symbol"/>
            </a:endParaRPr>
          </a:p>
          <a:p>
            <a:pPr marL="10860" eaLnBrk="1" hangingPunct="1">
              <a:spcBef>
                <a:spcPts val="248"/>
              </a:spcBef>
              <a:tabLst>
                <a:tab pos="1220638" algn="l"/>
              </a:tabLst>
              <a:defRPr/>
            </a:pPr>
            <a:r>
              <a:rPr sz="1368" b="1" spc="-4" dirty="0">
                <a:solidFill>
                  <a:srgbClr val="FF0000"/>
                </a:solidFill>
                <a:latin typeface="Arial"/>
                <a:cs typeface="Arial"/>
              </a:rPr>
              <a:t>“</a:t>
            </a:r>
            <a:r>
              <a:rPr sz="1368" b="1" spc="-4" dirty="0">
                <a:solidFill>
                  <a:srgbClr val="FF0000"/>
                </a:solidFill>
                <a:latin typeface="SimSun"/>
                <a:cs typeface="SimSun"/>
              </a:rPr>
              <a:t>选择</a:t>
            </a:r>
            <a:r>
              <a:rPr sz="1368" b="1" spc="-4" dirty="0">
                <a:solidFill>
                  <a:srgbClr val="FF0000"/>
                </a:solidFill>
                <a:latin typeface="Arial"/>
                <a:cs typeface="Arial"/>
              </a:rPr>
              <a:t>”</a:t>
            </a:r>
            <a:r>
              <a:rPr sz="1368" b="1" spc="-4" dirty="0">
                <a:solidFill>
                  <a:srgbClr val="FF0000"/>
                </a:solidFill>
                <a:latin typeface="SimSun"/>
                <a:cs typeface="SimSun"/>
              </a:rPr>
              <a:t>动作	</a:t>
            </a:r>
            <a:r>
              <a:rPr sz="1368" b="1" dirty="0">
                <a:solidFill>
                  <a:srgbClr val="FF0000"/>
                </a:solidFill>
                <a:latin typeface="Symbol"/>
                <a:cs typeface="Symbol"/>
              </a:rPr>
              <a:t></a:t>
            </a:r>
            <a:endParaRPr sz="1368">
              <a:latin typeface="Symbol"/>
              <a:cs typeface="Symbol"/>
            </a:endParaRPr>
          </a:p>
          <a:p>
            <a:pPr marL="10860" eaLnBrk="1" hangingPunct="1">
              <a:spcBef>
                <a:spcPts val="252"/>
              </a:spcBef>
              <a:tabLst>
                <a:tab pos="1220638" algn="l"/>
              </a:tabLst>
              <a:defRPr/>
            </a:pPr>
            <a:r>
              <a:rPr sz="1368" b="1" spc="-4" dirty="0">
                <a:solidFill>
                  <a:srgbClr val="FF0000"/>
                </a:solidFill>
                <a:latin typeface="Arial"/>
                <a:cs typeface="Arial"/>
              </a:rPr>
              <a:t>“</a:t>
            </a:r>
            <a:r>
              <a:rPr sz="1368" b="1" spc="-4" dirty="0">
                <a:solidFill>
                  <a:srgbClr val="FF0000"/>
                </a:solidFill>
                <a:latin typeface="SimSun"/>
                <a:cs typeface="SimSun"/>
              </a:rPr>
              <a:t>投影</a:t>
            </a:r>
            <a:r>
              <a:rPr sz="1368" b="1" spc="-4" dirty="0">
                <a:solidFill>
                  <a:srgbClr val="FF0000"/>
                </a:solidFill>
                <a:latin typeface="Arial"/>
                <a:cs typeface="Arial"/>
              </a:rPr>
              <a:t>”</a:t>
            </a:r>
            <a:r>
              <a:rPr sz="1368" b="1" spc="-4" dirty="0">
                <a:solidFill>
                  <a:srgbClr val="FF0000"/>
                </a:solidFill>
                <a:latin typeface="SimSun"/>
                <a:cs typeface="SimSun"/>
              </a:rPr>
              <a:t>动作	</a:t>
            </a:r>
            <a:r>
              <a:rPr sz="1368" b="1" dirty="0">
                <a:solidFill>
                  <a:srgbClr val="FF0000"/>
                </a:solidFill>
                <a:latin typeface="Symbol"/>
                <a:cs typeface="Symbol"/>
              </a:rPr>
              <a:t></a:t>
            </a:r>
            <a:endParaRPr sz="1368">
              <a:latin typeface="Symbol"/>
              <a:cs typeface="Symbo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308725" y="3673475"/>
            <a:ext cx="73025" cy="1101725"/>
          </a:xfrm>
          <a:custGeom>
            <a:avLst/>
            <a:gdLst/>
            <a:ahLst/>
            <a:cxnLst/>
            <a:rect l="l" t="t" r="r" b="b"/>
            <a:pathLst>
              <a:path w="85725" h="1289685">
                <a:moveTo>
                  <a:pt x="85331" y="1203197"/>
                </a:moveTo>
                <a:lnTo>
                  <a:pt x="0" y="1203197"/>
                </a:lnTo>
                <a:lnTo>
                  <a:pt x="28194" y="1260089"/>
                </a:lnTo>
                <a:lnTo>
                  <a:pt x="28194" y="1217676"/>
                </a:lnTo>
                <a:lnTo>
                  <a:pt x="57150" y="1217676"/>
                </a:lnTo>
                <a:lnTo>
                  <a:pt x="57150" y="1260080"/>
                </a:lnTo>
                <a:lnTo>
                  <a:pt x="85331" y="1203197"/>
                </a:lnTo>
                <a:close/>
              </a:path>
              <a:path w="85725" h="1289685">
                <a:moveTo>
                  <a:pt x="57150" y="1203197"/>
                </a:moveTo>
                <a:lnTo>
                  <a:pt x="57150" y="0"/>
                </a:lnTo>
                <a:lnTo>
                  <a:pt x="28194" y="0"/>
                </a:lnTo>
                <a:lnTo>
                  <a:pt x="28194" y="1203197"/>
                </a:lnTo>
                <a:lnTo>
                  <a:pt x="57150" y="1203197"/>
                </a:lnTo>
                <a:close/>
              </a:path>
              <a:path w="85725" h="1289685">
                <a:moveTo>
                  <a:pt x="57150" y="1260080"/>
                </a:moveTo>
                <a:lnTo>
                  <a:pt x="57150" y="1217676"/>
                </a:lnTo>
                <a:lnTo>
                  <a:pt x="28194" y="1217676"/>
                </a:lnTo>
                <a:lnTo>
                  <a:pt x="28194" y="1260089"/>
                </a:lnTo>
                <a:lnTo>
                  <a:pt x="42672" y="1289303"/>
                </a:lnTo>
                <a:lnTo>
                  <a:pt x="57150" y="1260080"/>
                </a:lnTo>
                <a:close/>
              </a:path>
            </a:pathLst>
          </a:custGeom>
          <a:solidFill>
            <a:srgbClr val="FF0000"/>
          </a:solid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9" name="object 9"/>
          <p:cNvSpPr/>
          <p:nvPr/>
        </p:nvSpPr>
        <p:spPr>
          <a:xfrm>
            <a:off x="5543550" y="4765675"/>
            <a:ext cx="1619250" cy="730250"/>
          </a:xfrm>
          <a:custGeom>
            <a:avLst/>
            <a:gdLst/>
            <a:ahLst/>
            <a:cxnLst/>
            <a:rect l="l" t="t" r="r" b="b"/>
            <a:pathLst>
              <a:path w="1892300" h="854710">
                <a:moveTo>
                  <a:pt x="0" y="0"/>
                </a:moveTo>
                <a:lnTo>
                  <a:pt x="0" y="854201"/>
                </a:lnTo>
                <a:lnTo>
                  <a:pt x="1892045" y="854201"/>
                </a:lnTo>
                <a:lnTo>
                  <a:pt x="1892045" y="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FF0000"/>
            </a:solidFill>
          </a:ln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0" name="object 10"/>
          <p:cNvSpPr txBox="1"/>
          <p:nvPr/>
        </p:nvSpPr>
        <p:spPr>
          <a:xfrm>
            <a:off x="5624513" y="4802188"/>
            <a:ext cx="1411287" cy="650875"/>
          </a:xfrm>
          <a:prstGeom prst="rect">
            <a:avLst/>
          </a:prstGeom>
        </p:spPr>
        <p:txBody>
          <a:bodyPr lIns="0" tIns="5973" rIns="0" bIns="0">
            <a:spAutoFit/>
          </a:bodyPr>
          <a:lstStyle>
            <a:lvl1pPr marL="952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2000"/>
              </a:lnSpc>
              <a:spcBef>
                <a:spcPts val="50"/>
              </a:spcBef>
            </a:pPr>
            <a:r>
              <a:rPr lang="zh-CN" altLang="zh-CN" sz="1300" b="1">
                <a:solidFill>
                  <a:srgbClr val="FF0000"/>
                </a:solidFill>
                <a:latin typeface="宋体" panose="02010600030101010101" pitchFamily="2" charset="-122"/>
              </a:rPr>
              <a:t>解释这种组合</a:t>
            </a:r>
            <a:r>
              <a:rPr lang="zh-CN" altLang="zh-CN" sz="13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zh-CN" altLang="zh-CN" sz="1300" b="1">
                <a:solidFill>
                  <a:srgbClr val="FF0000"/>
                </a:solidFill>
                <a:latin typeface="宋体" panose="02010600030101010101" pitchFamily="2" charset="-122"/>
              </a:rPr>
              <a:t>并 按次序调用基本动 作予以执行</a:t>
            </a:r>
            <a:endParaRPr lang="zh-CN" altLang="zh-CN" sz="1300">
              <a:latin typeface="宋体" panose="02010600030101010101" pitchFamily="2" charset="-122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411288" y="4438650"/>
            <a:ext cx="2398712" cy="0"/>
          </a:xfrm>
          <a:custGeom>
            <a:avLst/>
            <a:gdLst/>
            <a:ahLst/>
            <a:cxnLst/>
            <a:rect l="l" t="t" r="r" b="b"/>
            <a:pathLst>
              <a:path w="2803525">
                <a:moveTo>
                  <a:pt x="0" y="0"/>
                </a:moveTo>
                <a:lnTo>
                  <a:pt x="2803398" y="0"/>
                </a:lnTo>
              </a:path>
            </a:pathLst>
          </a:custGeom>
          <a:ln w="28575">
            <a:solidFill>
              <a:srgbClr val="3333CC"/>
            </a:solidFill>
          </a:ln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2" name="object 12"/>
          <p:cNvSpPr/>
          <p:nvPr/>
        </p:nvSpPr>
        <p:spPr>
          <a:xfrm>
            <a:off x="2527300" y="3938588"/>
            <a:ext cx="12700" cy="1836737"/>
          </a:xfrm>
          <a:custGeom>
            <a:avLst/>
            <a:gdLst/>
            <a:ahLst/>
            <a:cxnLst/>
            <a:rect l="l" t="t" r="r" b="b"/>
            <a:pathLst>
              <a:path w="14605" h="2146934">
                <a:moveTo>
                  <a:pt x="0" y="0"/>
                </a:moveTo>
                <a:lnTo>
                  <a:pt x="14478" y="2146554"/>
                </a:lnTo>
              </a:path>
            </a:pathLst>
          </a:custGeom>
          <a:ln w="28575">
            <a:solidFill>
              <a:srgbClr val="3333CC"/>
            </a:solidFill>
          </a:ln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3" name="object 13"/>
          <p:cNvSpPr/>
          <p:nvPr/>
        </p:nvSpPr>
        <p:spPr>
          <a:xfrm>
            <a:off x="4122738" y="5062538"/>
            <a:ext cx="1416050" cy="74612"/>
          </a:xfrm>
          <a:custGeom>
            <a:avLst/>
            <a:gdLst/>
            <a:ahLst/>
            <a:cxnLst/>
            <a:rect l="l" t="t" r="r" b="b"/>
            <a:pathLst>
              <a:path w="1656079" h="86360">
                <a:moveTo>
                  <a:pt x="86106" y="28956"/>
                </a:moveTo>
                <a:lnTo>
                  <a:pt x="86106" y="0"/>
                </a:lnTo>
                <a:lnTo>
                  <a:pt x="0" y="43434"/>
                </a:lnTo>
                <a:lnTo>
                  <a:pt x="71627" y="78931"/>
                </a:lnTo>
                <a:lnTo>
                  <a:pt x="71627" y="28956"/>
                </a:lnTo>
                <a:lnTo>
                  <a:pt x="86106" y="28956"/>
                </a:lnTo>
                <a:close/>
              </a:path>
              <a:path w="1656079" h="86360">
                <a:moveTo>
                  <a:pt x="1655826" y="57150"/>
                </a:moveTo>
                <a:lnTo>
                  <a:pt x="1655826" y="28955"/>
                </a:lnTo>
                <a:lnTo>
                  <a:pt x="71627" y="28956"/>
                </a:lnTo>
                <a:lnTo>
                  <a:pt x="71627" y="57150"/>
                </a:lnTo>
                <a:lnTo>
                  <a:pt x="1655826" y="57150"/>
                </a:lnTo>
                <a:close/>
              </a:path>
              <a:path w="1656079" h="86360">
                <a:moveTo>
                  <a:pt x="86106" y="86106"/>
                </a:moveTo>
                <a:lnTo>
                  <a:pt x="86106" y="57150"/>
                </a:lnTo>
                <a:lnTo>
                  <a:pt x="71627" y="57150"/>
                </a:lnTo>
                <a:lnTo>
                  <a:pt x="71627" y="78931"/>
                </a:lnTo>
                <a:lnTo>
                  <a:pt x="86106" y="86106"/>
                </a:lnTo>
                <a:close/>
              </a:path>
            </a:pathLst>
          </a:custGeom>
          <a:solidFill>
            <a:srgbClr val="FF0000"/>
          </a:solid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4" name="object 14"/>
          <p:cNvSpPr/>
          <p:nvPr/>
        </p:nvSpPr>
        <p:spPr>
          <a:xfrm>
            <a:off x="1071563" y="1457325"/>
            <a:ext cx="7820917" cy="4627563"/>
          </a:xfrm>
          <a:custGeom>
            <a:avLst/>
            <a:gdLst/>
            <a:ahLst/>
            <a:cxnLst/>
            <a:rect l="l" t="t" r="r" b="b"/>
            <a:pathLst>
              <a:path w="8312150" h="5412105">
                <a:moveTo>
                  <a:pt x="0" y="0"/>
                </a:moveTo>
                <a:lnTo>
                  <a:pt x="0" y="5411724"/>
                </a:lnTo>
                <a:lnTo>
                  <a:pt x="8311896" y="5411724"/>
                </a:lnTo>
                <a:lnTo>
                  <a:pt x="8311896" y="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FF0000"/>
            </a:solidFill>
          </a:ln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5" name="object 15"/>
          <p:cNvSpPr txBox="1"/>
          <p:nvPr/>
        </p:nvSpPr>
        <p:spPr>
          <a:xfrm>
            <a:off x="7335838" y="4648200"/>
            <a:ext cx="542925" cy="958850"/>
          </a:xfrm>
          <a:prstGeom prst="rect">
            <a:avLst/>
          </a:prstGeom>
        </p:spPr>
        <p:txBody>
          <a:bodyPr lIns="0" tIns="10860" rIns="0" bIns="0">
            <a:spAutoFit/>
          </a:bodyPr>
          <a:lstStyle>
            <a:lvl1pPr marL="952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ts val="88"/>
              </a:spcBef>
            </a:pPr>
            <a:r>
              <a:rPr lang="zh-CN" altLang="zh-CN" sz="2000" b="1">
                <a:latin typeface="宋体" panose="02010600030101010101" pitchFamily="2" charset="-122"/>
              </a:rPr>
              <a:t>程序 执行 机构</a:t>
            </a:r>
            <a:endParaRPr lang="zh-CN" altLang="zh-CN" sz="2000">
              <a:latin typeface="宋体" panose="02010600030101010101" pitchFamily="2" charset="-122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268663" y="2335213"/>
            <a:ext cx="542925" cy="327025"/>
          </a:xfrm>
          <a:prstGeom prst="rect">
            <a:avLst/>
          </a:prstGeom>
        </p:spPr>
        <p:txBody>
          <a:bodyPr lIns="0" tIns="10860" rIns="0" bIns="0">
            <a:spAutoFit/>
          </a:bodyPr>
          <a:lstStyle/>
          <a:p>
            <a:pPr marL="10860" eaLnBrk="1" hangingPunct="1">
              <a:spcBef>
                <a:spcPts val="86"/>
              </a:spcBef>
              <a:defRPr/>
            </a:pPr>
            <a:r>
              <a:rPr sz="2052" b="1" spc="-9" dirty="0">
                <a:latin typeface="SimSun"/>
                <a:cs typeface="SimSun"/>
              </a:rPr>
              <a:t>程序</a:t>
            </a:r>
            <a:endParaRPr sz="2052">
              <a:latin typeface="SimSun"/>
              <a:cs typeface="SimSu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268663" y="4911725"/>
            <a:ext cx="542925" cy="327025"/>
          </a:xfrm>
          <a:prstGeom prst="rect">
            <a:avLst/>
          </a:prstGeom>
        </p:spPr>
        <p:txBody>
          <a:bodyPr lIns="0" tIns="10860" rIns="0" bIns="0">
            <a:spAutoFit/>
          </a:bodyPr>
          <a:lstStyle/>
          <a:p>
            <a:pPr marL="10860" eaLnBrk="1" hangingPunct="1">
              <a:spcBef>
                <a:spcPts val="86"/>
              </a:spcBef>
              <a:defRPr/>
            </a:pPr>
            <a:r>
              <a:rPr sz="2052" b="1" spc="-9" dirty="0">
                <a:latin typeface="SimSun"/>
                <a:cs typeface="SimSun"/>
              </a:rPr>
              <a:t>指令</a:t>
            </a:r>
            <a:endParaRPr sz="2052">
              <a:latin typeface="SimSun"/>
              <a:cs typeface="SimSu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217613" y="3886200"/>
            <a:ext cx="188912" cy="1047750"/>
          </a:xfrm>
          <a:prstGeom prst="rect">
            <a:avLst/>
          </a:prstGeom>
        </p:spPr>
        <p:txBody>
          <a:bodyPr vert="eaVert" lIns="0" tIns="0" rIns="0" bIns="0">
            <a:spAutoFit/>
          </a:bodyPr>
          <a:lstStyle/>
          <a:p>
            <a:pPr marL="10860" eaLnBrk="1" hangingPunct="1">
              <a:lnSpc>
                <a:spcPct val="60000"/>
              </a:lnSpc>
              <a:defRPr/>
            </a:pPr>
            <a:r>
              <a:rPr sz="2052" b="1" spc="-43" dirty="0">
                <a:latin typeface="SimSun"/>
                <a:cs typeface="SimSun"/>
              </a:rPr>
              <a:t>基本动</a:t>
            </a:r>
            <a:r>
              <a:rPr sz="2052" b="1" dirty="0">
                <a:latin typeface="SimSun"/>
                <a:cs typeface="SimSun"/>
              </a:rPr>
              <a:t>作</a:t>
            </a:r>
            <a:endParaRPr sz="2052">
              <a:latin typeface="SimSun"/>
              <a:cs typeface="SimSu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808413" y="1744663"/>
            <a:ext cx="4157662" cy="431800"/>
          </a:xfrm>
          <a:prstGeom prst="rect">
            <a:avLst/>
          </a:prstGeom>
        </p:spPr>
        <p:txBody>
          <a:bodyPr lIns="0" tIns="10860" rIns="0" bIns="0">
            <a:spAutoFit/>
          </a:bodyPr>
          <a:lstStyle/>
          <a:p>
            <a:pPr marL="10860" eaLnBrk="1" hangingPunct="1">
              <a:spcBef>
                <a:spcPts val="86"/>
              </a:spcBef>
              <a:tabLst>
                <a:tab pos="716745" algn="l"/>
                <a:tab pos="1432404" algn="l"/>
              </a:tabLst>
              <a:defRPr/>
            </a:pPr>
            <a:r>
              <a:rPr sz="1368" b="1" dirty="0">
                <a:solidFill>
                  <a:srgbClr val="3333CC"/>
                </a:solidFill>
                <a:latin typeface="Arial"/>
                <a:cs typeface="Arial"/>
              </a:rPr>
              <a:t>Select	</a:t>
            </a:r>
            <a:r>
              <a:rPr sz="1368" b="1" spc="-4" dirty="0">
                <a:solidFill>
                  <a:srgbClr val="FF0065"/>
                </a:solidFill>
                <a:latin typeface="Arial"/>
                <a:cs typeface="Arial"/>
              </a:rPr>
              <a:t>Sname	</a:t>
            </a:r>
            <a:r>
              <a:rPr sz="1368" b="1" dirty="0">
                <a:solidFill>
                  <a:srgbClr val="3333CC"/>
                </a:solidFill>
                <a:latin typeface="Arial"/>
                <a:cs typeface="Arial"/>
              </a:rPr>
              <a:t>From </a:t>
            </a:r>
            <a:r>
              <a:rPr sz="1368" b="1" spc="-4" dirty="0">
                <a:solidFill>
                  <a:srgbClr val="FF0065"/>
                </a:solidFill>
                <a:latin typeface="Arial"/>
                <a:cs typeface="Arial"/>
              </a:rPr>
              <a:t>Student, </a:t>
            </a:r>
            <a:r>
              <a:rPr sz="1368" b="1" dirty="0">
                <a:solidFill>
                  <a:srgbClr val="FF0065"/>
                </a:solidFill>
                <a:latin typeface="Arial"/>
                <a:cs typeface="Arial"/>
              </a:rPr>
              <a:t>SC</a:t>
            </a:r>
            <a:endParaRPr sz="1368" dirty="0">
              <a:latin typeface="Arial"/>
              <a:cs typeface="Arial"/>
            </a:endParaRPr>
          </a:p>
          <a:p>
            <a:pPr marL="10860" eaLnBrk="1" hangingPunct="1">
              <a:tabLst>
                <a:tab pos="687423" algn="l"/>
              </a:tabLst>
              <a:defRPr/>
            </a:pPr>
            <a:r>
              <a:rPr sz="1368" b="1" spc="-4" dirty="0">
                <a:solidFill>
                  <a:srgbClr val="3333CC"/>
                </a:solidFill>
                <a:latin typeface="Arial"/>
                <a:cs typeface="Arial"/>
              </a:rPr>
              <a:t>Where	</a:t>
            </a:r>
            <a:r>
              <a:rPr sz="1368" b="1" u="sng" dirty="0">
                <a:solidFill>
                  <a:srgbClr val="FF0065"/>
                </a:solidFill>
                <a:uFill>
                  <a:solidFill>
                    <a:srgbClr val="FF0065"/>
                  </a:solidFill>
                </a:uFill>
                <a:latin typeface="Arial"/>
                <a:cs typeface="Arial"/>
              </a:rPr>
              <a:t>Student.S# = SC.S#</a:t>
            </a:r>
            <a:r>
              <a:rPr sz="1368" b="1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1368" b="1" spc="-4" dirty="0">
                <a:solidFill>
                  <a:srgbClr val="FF0065"/>
                </a:solidFill>
                <a:latin typeface="Arial"/>
                <a:cs typeface="Arial"/>
              </a:rPr>
              <a:t>and SC.C# </a:t>
            </a:r>
            <a:r>
              <a:rPr sz="1368" b="1" dirty="0">
                <a:solidFill>
                  <a:srgbClr val="FF0065"/>
                </a:solidFill>
                <a:latin typeface="Arial"/>
                <a:cs typeface="Arial"/>
              </a:rPr>
              <a:t>=</a:t>
            </a:r>
            <a:r>
              <a:rPr sz="1368" b="1" spc="-64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1368" b="1" spc="-4" dirty="0">
                <a:solidFill>
                  <a:srgbClr val="FF0065"/>
                </a:solidFill>
                <a:latin typeface="SimSun"/>
                <a:cs typeface="SimSun"/>
              </a:rPr>
              <a:t>‘</a:t>
            </a:r>
            <a:r>
              <a:rPr sz="1368" b="1" spc="-4" dirty="0">
                <a:solidFill>
                  <a:srgbClr val="FF0065"/>
                </a:solidFill>
                <a:latin typeface="Arial"/>
                <a:cs typeface="Arial"/>
              </a:rPr>
              <a:t>001</a:t>
            </a:r>
            <a:r>
              <a:rPr sz="1368" b="1" spc="-4" dirty="0">
                <a:solidFill>
                  <a:srgbClr val="FF0065"/>
                </a:solidFill>
                <a:latin typeface="SimSun"/>
                <a:cs typeface="SimSun"/>
              </a:rPr>
              <a:t>’</a:t>
            </a:r>
            <a:endParaRPr sz="1368" dirty="0">
              <a:latin typeface="SimSun"/>
              <a:cs typeface="SimSu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808413" y="2162175"/>
            <a:ext cx="1982787" cy="222250"/>
          </a:xfrm>
          <a:prstGeom prst="rect">
            <a:avLst/>
          </a:prstGeom>
        </p:spPr>
        <p:txBody>
          <a:bodyPr lIns="0" tIns="10860" rIns="0" bIns="0">
            <a:spAutoFit/>
          </a:bodyPr>
          <a:lstStyle/>
          <a:p>
            <a:pPr marL="10860" eaLnBrk="1" hangingPunct="1">
              <a:spcBef>
                <a:spcPts val="86"/>
              </a:spcBef>
              <a:defRPr/>
            </a:pPr>
            <a:r>
              <a:rPr sz="1368" b="1" dirty="0">
                <a:solidFill>
                  <a:srgbClr val="3333CC"/>
                </a:solidFill>
                <a:latin typeface="Arial"/>
                <a:cs typeface="Arial"/>
              </a:rPr>
              <a:t>Order By </a:t>
            </a:r>
            <a:r>
              <a:rPr sz="1368" b="1" spc="-4" dirty="0">
                <a:solidFill>
                  <a:srgbClr val="FF0065"/>
                </a:solidFill>
                <a:latin typeface="Arial"/>
                <a:cs typeface="Arial"/>
              </a:rPr>
              <a:t>Score</a:t>
            </a:r>
            <a:r>
              <a:rPr sz="1368" b="1" spc="329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1368" b="1" spc="-4" dirty="0">
                <a:solidFill>
                  <a:srgbClr val="3333CC"/>
                </a:solidFill>
                <a:latin typeface="Arial"/>
                <a:cs typeface="Arial"/>
              </a:rPr>
              <a:t>DESC</a:t>
            </a:r>
            <a:r>
              <a:rPr sz="1368" b="1" spc="-4" dirty="0">
                <a:latin typeface="Arial"/>
                <a:cs typeface="Arial"/>
              </a:rPr>
              <a:t>;</a:t>
            </a:r>
            <a:endParaRPr sz="1368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3841750" y="2514600"/>
            <a:ext cx="4137025" cy="0"/>
          </a:xfrm>
          <a:custGeom>
            <a:avLst/>
            <a:gdLst/>
            <a:ahLst/>
            <a:cxnLst/>
            <a:rect l="l" t="t" r="r" b="b"/>
            <a:pathLst>
              <a:path w="4837430">
                <a:moveTo>
                  <a:pt x="0" y="0"/>
                </a:moveTo>
                <a:lnTo>
                  <a:pt x="4837176" y="0"/>
                </a:lnTo>
              </a:path>
            </a:pathLst>
          </a:custGeom>
          <a:ln w="38100">
            <a:solidFill>
              <a:srgbClr val="3333CC"/>
            </a:solidFill>
          </a:ln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22" name="object 22"/>
          <p:cNvSpPr txBox="1"/>
          <p:nvPr/>
        </p:nvSpPr>
        <p:spPr>
          <a:xfrm>
            <a:off x="3221038" y="5468938"/>
            <a:ext cx="1246187" cy="679450"/>
          </a:xfrm>
          <a:prstGeom prst="rect">
            <a:avLst/>
          </a:prstGeom>
          <a:solidFill>
            <a:srgbClr val="000000"/>
          </a:solidFill>
        </p:spPr>
        <p:txBody>
          <a:bodyPr lIns="0" tIns="47240" rIns="0" bIns="0">
            <a:spAutoFit/>
          </a:bodyPr>
          <a:lstStyle>
            <a:lvl1pPr marL="77788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375"/>
              </a:spcBef>
            </a:pPr>
            <a:r>
              <a:rPr lang="zh-CN" altLang="zh-CN" sz="2000" b="1">
                <a:solidFill>
                  <a:srgbClr val="FFFFFF"/>
                </a:solidFill>
                <a:latin typeface="宋体" panose="02010600030101010101" pitchFamily="2" charset="-122"/>
              </a:rPr>
              <a:t>关系模型 基本运算</a:t>
            </a:r>
            <a:endParaRPr lang="zh-CN" altLang="zh-CN" sz="2000">
              <a:latin typeface="宋体" panose="02010600030101010101" pitchFamily="2" charset="-122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513263" y="3375025"/>
            <a:ext cx="3625850" cy="361950"/>
          </a:xfrm>
          <a:prstGeom prst="rect">
            <a:avLst/>
          </a:prstGeom>
          <a:solidFill>
            <a:srgbClr val="000000"/>
          </a:solidFill>
        </p:spPr>
        <p:txBody>
          <a:bodyPr lIns="0" tIns="46697" rIns="0" bIns="0">
            <a:spAutoFit/>
          </a:bodyPr>
          <a:lstStyle/>
          <a:p>
            <a:pPr marL="78733" eaLnBrk="1" hangingPunct="1">
              <a:spcBef>
                <a:spcPts val="368"/>
              </a:spcBef>
              <a:defRPr/>
            </a:pPr>
            <a:r>
              <a:rPr sz="2052" b="1" spc="-9" dirty="0">
                <a:solidFill>
                  <a:srgbClr val="FFFFFF"/>
                </a:solidFill>
                <a:latin typeface="SimSun"/>
                <a:cs typeface="SimSun"/>
              </a:rPr>
              <a:t>关系模型基本运算的各种组合</a:t>
            </a:r>
            <a:endParaRPr sz="2052">
              <a:latin typeface="SimSun"/>
              <a:cs typeface="SimSu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926263" y="1546225"/>
            <a:ext cx="1216025" cy="346075"/>
          </a:xfrm>
          <a:prstGeom prst="rect">
            <a:avLst/>
          </a:prstGeom>
          <a:solidFill>
            <a:srgbClr val="000000"/>
          </a:solidFill>
        </p:spPr>
        <p:txBody>
          <a:bodyPr lIns="0" tIns="30408" rIns="0" bIns="0">
            <a:spAutoFit/>
          </a:bodyPr>
          <a:lstStyle/>
          <a:p>
            <a:pPr marL="77647" eaLnBrk="1" hangingPunct="1">
              <a:spcBef>
                <a:spcPts val="239"/>
              </a:spcBef>
              <a:defRPr/>
            </a:pPr>
            <a:r>
              <a:rPr sz="2052" b="1" spc="-4" dirty="0">
                <a:solidFill>
                  <a:srgbClr val="FFFFFF"/>
                </a:solidFill>
                <a:latin typeface="Arial"/>
                <a:cs typeface="Arial"/>
              </a:rPr>
              <a:t>SQL</a:t>
            </a:r>
            <a:r>
              <a:rPr sz="2052" b="1" spc="-9" dirty="0">
                <a:solidFill>
                  <a:srgbClr val="FFFFFF"/>
                </a:solidFill>
                <a:latin typeface="SimSun"/>
                <a:cs typeface="SimSun"/>
              </a:rPr>
              <a:t>语言</a:t>
            </a:r>
            <a:endParaRPr sz="2052">
              <a:latin typeface="SimSun"/>
              <a:cs typeface="SimSu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5908675" y="5445125"/>
            <a:ext cx="1292225" cy="703263"/>
          </a:xfrm>
          <a:custGeom>
            <a:avLst/>
            <a:gdLst/>
            <a:ahLst/>
            <a:cxnLst/>
            <a:rect l="l" t="t" r="r" b="b"/>
            <a:pathLst>
              <a:path w="1511300" h="822325">
                <a:moveTo>
                  <a:pt x="0" y="0"/>
                </a:moveTo>
                <a:lnTo>
                  <a:pt x="0" y="822198"/>
                </a:lnTo>
                <a:lnTo>
                  <a:pt x="1511046" y="822198"/>
                </a:lnTo>
                <a:lnTo>
                  <a:pt x="1511046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26" name="object 26"/>
          <p:cNvSpPr txBox="1"/>
          <p:nvPr/>
        </p:nvSpPr>
        <p:spPr>
          <a:xfrm>
            <a:off x="6022975" y="5481638"/>
            <a:ext cx="1065213" cy="642937"/>
          </a:xfrm>
          <a:prstGeom prst="rect">
            <a:avLst/>
          </a:prstGeom>
        </p:spPr>
        <p:txBody>
          <a:bodyPr lIns="0" tIns="10860" rIns="0" bIns="0">
            <a:spAutoFit/>
          </a:bodyPr>
          <a:lstStyle>
            <a:lvl1pPr marL="139700" indent="-1301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88"/>
              </a:spcBef>
            </a:pPr>
            <a:r>
              <a:rPr lang="zh-CN" altLang="zh-CN" sz="2000" b="1">
                <a:solidFill>
                  <a:srgbClr val="FFFFFF"/>
                </a:solidFill>
                <a:latin typeface="宋体" panose="02010600030101010101" pitchFamily="2" charset="-122"/>
              </a:rPr>
              <a:t>数据库管 理系统</a:t>
            </a:r>
            <a:endParaRPr lang="zh-CN" altLang="zh-CN" sz="2000">
              <a:latin typeface="宋体" panose="02010600030101010101" pitchFamily="2" charset="-122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635896" y="2541588"/>
            <a:ext cx="5857428" cy="784399"/>
          </a:xfrm>
          <a:prstGeom prst="rect">
            <a:avLst/>
          </a:prstGeom>
        </p:spPr>
        <p:txBody>
          <a:bodyPr wrap="square" lIns="0" tIns="114571" rIns="0" bIns="0">
            <a:spAutoFit/>
          </a:bodyPr>
          <a:lstStyle/>
          <a:p>
            <a:pPr marL="10860" eaLnBrk="1" hangingPunct="1">
              <a:spcBef>
                <a:spcPts val="902"/>
              </a:spcBef>
              <a:defRPr/>
            </a:pPr>
            <a:r>
              <a:rPr sz="3078" b="1" spc="-6" baseline="13888" dirty="0">
                <a:solidFill>
                  <a:srgbClr val="FF0000"/>
                </a:solidFill>
                <a:latin typeface="Symbol"/>
                <a:cs typeface="Symbol"/>
              </a:rPr>
              <a:t></a:t>
            </a:r>
            <a:r>
              <a:rPr sz="1368" b="1" spc="-4" dirty="0">
                <a:solidFill>
                  <a:srgbClr val="FF0000"/>
                </a:solidFill>
                <a:latin typeface="Arial"/>
                <a:cs typeface="Arial"/>
              </a:rPr>
              <a:t>Sname</a:t>
            </a:r>
            <a:r>
              <a:rPr sz="3078" b="1" spc="-6" baseline="13888" dirty="0">
                <a:solidFill>
                  <a:srgbClr val="FF0000"/>
                </a:solidFill>
                <a:latin typeface="Arial"/>
                <a:cs typeface="Arial"/>
              </a:rPr>
              <a:t>(</a:t>
            </a:r>
            <a:r>
              <a:rPr sz="3078" b="1" spc="-6" baseline="13888" dirty="0">
                <a:solidFill>
                  <a:srgbClr val="FF0000"/>
                </a:solidFill>
                <a:latin typeface="Symbol"/>
                <a:cs typeface="Symbol"/>
              </a:rPr>
              <a:t></a:t>
            </a:r>
            <a:r>
              <a:rPr sz="1368" b="1" spc="-4" dirty="0">
                <a:solidFill>
                  <a:srgbClr val="FF0000"/>
                </a:solidFill>
                <a:latin typeface="Arial"/>
                <a:cs typeface="Arial"/>
              </a:rPr>
              <a:t>student.s#=</a:t>
            </a:r>
            <a:r>
              <a:rPr sz="1368" b="1" spc="-4" dirty="0" err="1">
                <a:solidFill>
                  <a:srgbClr val="FF0000"/>
                </a:solidFill>
                <a:latin typeface="Arial"/>
                <a:cs typeface="Arial"/>
              </a:rPr>
              <a:t>sc.s</a:t>
            </a:r>
            <a:r>
              <a:rPr sz="1368" b="1" spc="-4" dirty="0">
                <a:solidFill>
                  <a:srgbClr val="FF0000"/>
                </a:solidFill>
                <a:latin typeface="Arial"/>
                <a:cs typeface="Arial"/>
              </a:rPr>
              <a:t>#</a:t>
            </a:r>
            <a:r>
              <a:rPr lang="en-US" sz="1368" b="1" spc="-4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sz="1050" b="1" spc="-4" dirty="0">
                <a:solidFill>
                  <a:srgbClr val="FF0000"/>
                </a:solidFill>
                <a:latin typeface="宋体" panose="02010600030101010101" pitchFamily="2" charset="-122"/>
                <a:cs typeface="Arial"/>
              </a:rPr>
              <a:t>∧SC.C# = ‘001’ </a:t>
            </a:r>
            <a:r>
              <a:rPr b="1" spc="-6" baseline="13888" dirty="0">
                <a:solidFill>
                  <a:srgbClr val="FF0000"/>
                </a:solidFill>
                <a:latin typeface="Arial"/>
                <a:cs typeface="Arial"/>
              </a:rPr>
              <a:t>(Student </a:t>
            </a:r>
            <a:r>
              <a:rPr b="1" spc="-6" baseline="13888" dirty="0">
                <a:solidFill>
                  <a:srgbClr val="FF0000"/>
                </a:solidFill>
                <a:latin typeface="Symbol"/>
                <a:cs typeface="Symbol"/>
              </a:rPr>
              <a:t></a:t>
            </a:r>
            <a:r>
              <a:rPr b="1" spc="13" baseline="13888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b="1" spc="-6" baseline="13888" dirty="0">
                <a:solidFill>
                  <a:srgbClr val="FF0000"/>
                </a:solidFill>
                <a:latin typeface="Arial"/>
                <a:cs typeface="Arial"/>
              </a:rPr>
              <a:t>SC))</a:t>
            </a:r>
            <a:endParaRPr baseline="13888" dirty="0">
              <a:latin typeface="Arial"/>
              <a:cs typeface="Arial"/>
            </a:endParaRPr>
          </a:p>
          <a:p>
            <a:pPr marL="178643" eaLnBrk="1" hangingPunct="1">
              <a:spcBef>
                <a:spcPts val="684"/>
              </a:spcBef>
              <a:defRPr/>
            </a:pPr>
            <a:r>
              <a:rPr sz="1710" b="1" spc="-9" dirty="0">
                <a:solidFill>
                  <a:srgbClr val="FF0000"/>
                </a:solidFill>
                <a:latin typeface="SimSun"/>
                <a:cs typeface="SimSun"/>
              </a:rPr>
              <a:t>复杂动作</a:t>
            </a:r>
            <a:r>
              <a:rPr sz="1710" b="1" spc="-398" dirty="0">
                <a:solidFill>
                  <a:srgbClr val="FF0000"/>
                </a:solidFill>
                <a:latin typeface="SimSun"/>
                <a:cs typeface="SimSun"/>
              </a:rPr>
              <a:t> </a:t>
            </a:r>
            <a:r>
              <a:rPr sz="1710" b="1" spc="-4" dirty="0">
                <a:solidFill>
                  <a:srgbClr val="FF0000"/>
                </a:solidFill>
                <a:latin typeface="Arial"/>
                <a:cs typeface="Arial"/>
              </a:rPr>
              <a:t>=</a:t>
            </a:r>
            <a:r>
              <a:rPr sz="1710" b="1" spc="-21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710" b="1" spc="-9" dirty="0">
                <a:solidFill>
                  <a:srgbClr val="FF0000"/>
                </a:solidFill>
                <a:latin typeface="SimSun"/>
                <a:cs typeface="SimSun"/>
              </a:rPr>
              <a:t>基本动作的各种方式的组合</a:t>
            </a:r>
            <a:endParaRPr sz="1710" dirty="0">
              <a:latin typeface="SimSun"/>
              <a:cs typeface="SimSun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090613" y="1490663"/>
            <a:ext cx="2066925" cy="1235075"/>
          </a:xfrm>
          <a:custGeom>
            <a:avLst/>
            <a:gdLst/>
            <a:ahLst/>
            <a:cxnLst/>
            <a:rect l="l" t="t" r="r" b="b"/>
            <a:pathLst>
              <a:path w="2417445" h="1443989">
                <a:moveTo>
                  <a:pt x="0" y="0"/>
                </a:moveTo>
                <a:lnTo>
                  <a:pt x="0" y="1443990"/>
                </a:lnTo>
                <a:lnTo>
                  <a:pt x="2417064" y="1443990"/>
                </a:lnTo>
                <a:lnTo>
                  <a:pt x="2417064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29" name="object 29"/>
          <p:cNvSpPr txBox="1"/>
          <p:nvPr/>
        </p:nvSpPr>
        <p:spPr>
          <a:xfrm>
            <a:off x="1262063" y="1957388"/>
            <a:ext cx="236537" cy="103187"/>
          </a:xfrm>
          <a:prstGeom prst="rect">
            <a:avLst/>
          </a:prstGeom>
        </p:spPr>
        <p:txBody>
          <a:bodyPr lIns="0" tIns="11403" rIns="0" bIns="0">
            <a:spAutoFit/>
          </a:bodyPr>
          <a:lstStyle/>
          <a:p>
            <a:pPr marL="10860" eaLnBrk="1" hangingPunct="1">
              <a:spcBef>
                <a:spcPts val="90"/>
              </a:spcBef>
              <a:defRPr/>
            </a:pPr>
            <a:r>
              <a:rPr sz="599" b="1" spc="-184" dirty="0">
                <a:latin typeface="SimSun"/>
                <a:cs typeface="SimSun"/>
              </a:rPr>
              <a:t>基本动作</a:t>
            </a:r>
            <a:endParaRPr sz="599">
              <a:latin typeface="SimSun"/>
              <a:cs typeface="SimSun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2547938" y="1943100"/>
            <a:ext cx="22225" cy="273050"/>
          </a:xfrm>
          <a:custGeom>
            <a:avLst/>
            <a:gdLst/>
            <a:ahLst/>
            <a:cxnLst/>
            <a:rect l="l" t="t" r="r" b="b"/>
            <a:pathLst>
              <a:path w="26669" h="319405">
                <a:moveTo>
                  <a:pt x="26669" y="281178"/>
                </a:moveTo>
                <a:lnTo>
                  <a:pt x="0" y="281178"/>
                </a:lnTo>
                <a:lnTo>
                  <a:pt x="9143" y="306578"/>
                </a:lnTo>
                <a:lnTo>
                  <a:pt x="9143" y="287274"/>
                </a:lnTo>
                <a:lnTo>
                  <a:pt x="17525" y="287274"/>
                </a:lnTo>
                <a:lnTo>
                  <a:pt x="17525" y="308072"/>
                </a:lnTo>
                <a:lnTo>
                  <a:pt x="26669" y="281178"/>
                </a:lnTo>
                <a:close/>
              </a:path>
              <a:path w="26669" h="319405">
                <a:moveTo>
                  <a:pt x="17525" y="281178"/>
                </a:moveTo>
                <a:lnTo>
                  <a:pt x="17525" y="0"/>
                </a:lnTo>
                <a:lnTo>
                  <a:pt x="9143" y="0"/>
                </a:lnTo>
                <a:lnTo>
                  <a:pt x="9143" y="281178"/>
                </a:lnTo>
                <a:lnTo>
                  <a:pt x="17525" y="281178"/>
                </a:lnTo>
                <a:close/>
              </a:path>
              <a:path w="26669" h="319405">
                <a:moveTo>
                  <a:pt x="17525" y="308072"/>
                </a:moveTo>
                <a:lnTo>
                  <a:pt x="17525" y="287274"/>
                </a:lnTo>
                <a:lnTo>
                  <a:pt x="9143" y="287274"/>
                </a:lnTo>
                <a:lnTo>
                  <a:pt x="9143" y="306578"/>
                </a:lnTo>
                <a:lnTo>
                  <a:pt x="13715" y="319278"/>
                </a:lnTo>
                <a:lnTo>
                  <a:pt x="17525" y="308072"/>
                </a:lnTo>
                <a:close/>
              </a:path>
            </a:pathLst>
          </a:custGeom>
          <a:solidFill>
            <a:srgbClr val="000000"/>
          </a:solid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31" name="object 31"/>
          <p:cNvSpPr txBox="1"/>
          <p:nvPr/>
        </p:nvSpPr>
        <p:spPr>
          <a:xfrm>
            <a:off x="2312988" y="2216150"/>
            <a:ext cx="498475" cy="306388"/>
          </a:xfrm>
          <a:prstGeom prst="rect">
            <a:avLst/>
          </a:prstGeom>
          <a:solidFill>
            <a:srgbClr val="FFFFFF"/>
          </a:solidFill>
          <a:ln w="8801">
            <a:solidFill>
              <a:srgbClr val="000000"/>
            </a:solidFill>
          </a:ln>
        </p:spPr>
        <p:txBody>
          <a:bodyPr lIns="0" tIns="18462" rIns="0" bIns="0">
            <a:spAutoFit/>
          </a:bodyPr>
          <a:lstStyle>
            <a:lvl1pPr marL="26988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4000"/>
              </a:lnSpc>
              <a:spcBef>
                <a:spcPts val="150"/>
              </a:spcBef>
            </a:pPr>
            <a:r>
              <a:rPr lang="zh-CN" altLang="zh-CN" sz="500" b="1">
                <a:latin typeface="宋体" panose="02010600030101010101" pitchFamily="2" charset="-122"/>
              </a:rPr>
              <a:t>解释这种组合</a:t>
            </a:r>
            <a:r>
              <a:rPr lang="zh-CN" altLang="zh-CN" sz="500" b="1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zh-CN" altLang="zh-CN" sz="500" b="1">
                <a:latin typeface="宋体" panose="02010600030101010101" pitchFamily="2" charset="-122"/>
              </a:rPr>
              <a:t>并 按次序调用基本 动作予以执行</a:t>
            </a:r>
            <a:endParaRPr lang="zh-CN" altLang="zh-CN" sz="500">
              <a:latin typeface="宋体" panose="02010600030101010101" pitchFamily="2" charset="-122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1212850" y="2219325"/>
            <a:ext cx="798513" cy="0"/>
          </a:xfrm>
          <a:custGeom>
            <a:avLst/>
            <a:gdLst/>
            <a:ahLst/>
            <a:cxnLst/>
            <a:rect l="l" t="t" r="r" b="b"/>
            <a:pathLst>
              <a:path w="932814">
                <a:moveTo>
                  <a:pt x="0" y="0"/>
                </a:moveTo>
                <a:lnTo>
                  <a:pt x="932688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33" name="object 33"/>
          <p:cNvSpPr/>
          <p:nvPr/>
        </p:nvSpPr>
        <p:spPr>
          <a:xfrm>
            <a:off x="1558925" y="1998663"/>
            <a:ext cx="0" cy="582612"/>
          </a:xfrm>
          <a:custGeom>
            <a:avLst/>
            <a:gdLst/>
            <a:ahLst/>
            <a:cxnLst/>
            <a:rect l="l" t="t" r="r" b="b"/>
            <a:pathLst>
              <a:path h="681355">
                <a:moveTo>
                  <a:pt x="0" y="0"/>
                </a:moveTo>
                <a:lnTo>
                  <a:pt x="0" y="681228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34" name="object 34"/>
          <p:cNvSpPr/>
          <p:nvPr/>
        </p:nvSpPr>
        <p:spPr>
          <a:xfrm>
            <a:off x="1874838" y="2347913"/>
            <a:ext cx="436562" cy="31750"/>
          </a:xfrm>
          <a:custGeom>
            <a:avLst/>
            <a:gdLst/>
            <a:ahLst/>
            <a:cxnLst/>
            <a:rect l="l" t="t" r="r" b="b"/>
            <a:pathLst>
              <a:path w="509905" h="38100">
                <a:moveTo>
                  <a:pt x="25908" y="12953"/>
                </a:moveTo>
                <a:lnTo>
                  <a:pt x="25908" y="0"/>
                </a:lnTo>
                <a:lnTo>
                  <a:pt x="0" y="19050"/>
                </a:lnTo>
                <a:lnTo>
                  <a:pt x="22098" y="35298"/>
                </a:lnTo>
                <a:lnTo>
                  <a:pt x="22098" y="12953"/>
                </a:lnTo>
                <a:lnTo>
                  <a:pt x="25908" y="12953"/>
                </a:lnTo>
                <a:close/>
              </a:path>
              <a:path w="509905" h="38100">
                <a:moveTo>
                  <a:pt x="509778" y="25146"/>
                </a:moveTo>
                <a:lnTo>
                  <a:pt x="509778" y="12953"/>
                </a:lnTo>
                <a:lnTo>
                  <a:pt x="22098" y="12953"/>
                </a:lnTo>
                <a:lnTo>
                  <a:pt x="22098" y="25146"/>
                </a:lnTo>
                <a:lnTo>
                  <a:pt x="509778" y="25146"/>
                </a:lnTo>
                <a:close/>
              </a:path>
              <a:path w="509905" h="38100">
                <a:moveTo>
                  <a:pt x="25908" y="38100"/>
                </a:moveTo>
                <a:lnTo>
                  <a:pt x="25908" y="25146"/>
                </a:lnTo>
                <a:lnTo>
                  <a:pt x="22098" y="25146"/>
                </a:lnTo>
                <a:lnTo>
                  <a:pt x="22098" y="35298"/>
                </a:lnTo>
                <a:lnTo>
                  <a:pt x="25908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35" name="object 35"/>
          <p:cNvSpPr/>
          <p:nvPr/>
        </p:nvSpPr>
        <p:spPr>
          <a:xfrm>
            <a:off x="1119188" y="1533525"/>
            <a:ext cx="2008187" cy="1163638"/>
          </a:xfrm>
          <a:custGeom>
            <a:avLst/>
            <a:gdLst/>
            <a:ahLst/>
            <a:cxnLst/>
            <a:rect l="l" t="t" r="r" b="b"/>
            <a:pathLst>
              <a:path w="2349500" h="1359535">
                <a:moveTo>
                  <a:pt x="0" y="0"/>
                </a:moveTo>
                <a:lnTo>
                  <a:pt x="0" y="1359408"/>
                </a:lnTo>
                <a:lnTo>
                  <a:pt x="2349245" y="1359407"/>
                </a:lnTo>
                <a:lnTo>
                  <a:pt x="2349245" y="0"/>
                </a:lnTo>
                <a:lnTo>
                  <a:pt x="0" y="0"/>
                </a:lnTo>
                <a:close/>
              </a:path>
            </a:pathLst>
          </a:custGeom>
          <a:ln w="8801">
            <a:solidFill>
              <a:srgbClr val="000000"/>
            </a:solidFill>
          </a:ln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36" name="object 36"/>
          <p:cNvSpPr txBox="1"/>
          <p:nvPr/>
        </p:nvSpPr>
        <p:spPr>
          <a:xfrm>
            <a:off x="2824163" y="2146300"/>
            <a:ext cx="180975" cy="847725"/>
          </a:xfrm>
          <a:prstGeom prst="rect">
            <a:avLst/>
          </a:prstGeom>
        </p:spPr>
        <p:txBody>
          <a:bodyPr lIns="0" tIns="10317" rIns="0" bIns="0">
            <a:spAutoFit/>
          </a:bodyPr>
          <a:lstStyle>
            <a:lvl1pPr marL="952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01000"/>
              </a:lnSpc>
              <a:spcBef>
                <a:spcPts val="75"/>
              </a:spcBef>
            </a:pPr>
            <a:r>
              <a:rPr lang="zh-CN" altLang="zh-CN" sz="800" b="1">
                <a:latin typeface="宋体" panose="02010600030101010101" pitchFamily="2" charset="-122"/>
              </a:rPr>
              <a:t>程序 执行 机构</a:t>
            </a:r>
            <a:endParaRPr lang="zh-CN" altLang="zh-CN" sz="800">
              <a:latin typeface="宋体" panose="02010600030101010101" pitchFamily="2" charset="-122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262063" y="2262188"/>
            <a:ext cx="717550" cy="349250"/>
          </a:xfrm>
          <a:prstGeom prst="rect">
            <a:avLst/>
          </a:prstGeom>
        </p:spPr>
        <p:txBody>
          <a:bodyPr lIns="0" tIns="26064" rIns="0" bIns="0">
            <a:spAutoFit/>
          </a:bodyPr>
          <a:lstStyle/>
          <a:p>
            <a:pPr marL="10860" eaLnBrk="1" hangingPunct="1">
              <a:spcBef>
                <a:spcPts val="205"/>
              </a:spcBef>
              <a:tabLst>
                <a:tab pos="374662" algn="l"/>
              </a:tabLst>
              <a:defRPr/>
            </a:pPr>
            <a:r>
              <a:rPr sz="599" b="1" spc="-90" dirty="0">
                <a:latin typeface="Arial"/>
                <a:cs typeface="Arial"/>
              </a:rPr>
              <a:t>“</a:t>
            </a:r>
            <a:r>
              <a:rPr sz="599" b="1" spc="-184" dirty="0">
                <a:latin typeface="SimSun"/>
                <a:cs typeface="SimSun"/>
              </a:rPr>
              <a:t>与</a:t>
            </a:r>
            <a:r>
              <a:rPr sz="599" b="1" spc="-90" dirty="0">
                <a:latin typeface="Arial"/>
                <a:cs typeface="Arial"/>
              </a:rPr>
              <a:t>”</a:t>
            </a:r>
            <a:r>
              <a:rPr sz="599" b="1" spc="-184" dirty="0">
                <a:latin typeface="SimSun"/>
                <a:cs typeface="SimSun"/>
              </a:rPr>
              <a:t>动作	</a:t>
            </a:r>
            <a:r>
              <a:rPr sz="599" b="1" spc="-137" dirty="0">
                <a:latin typeface="Arial"/>
                <a:cs typeface="Arial"/>
              </a:rPr>
              <a:t>AND</a:t>
            </a:r>
            <a:endParaRPr sz="599">
              <a:latin typeface="Arial"/>
              <a:cs typeface="Arial"/>
            </a:endParaRPr>
          </a:p>
          <a:p>
            <a:pPr marL="10860" eaLnBrk="1" hangingPunct="1">
              <a:lnSpc>
                <a:spcPts val="667"/>
              </a:lnSpc>
              <a:spcBef>
                <a:spcPts val="124"/>
              </a:spcBef>
              <a:tabLst>
                <a:tab pos="389866" algn="l"/>
              </a:tabLst>
              <a:defRPr/>
            </a:pPr>
            <a:r>
              <a:rPr sz="599" b="1" spc="-90" dirty="0">
                <a:latin typeface="Arial"/>
                <a:cs typeface="Arial"/>
              </a:rPr>
              <a:t>“</a:t>
            </a:r>
            <a:r>
              <a:rPr sz="599" b="1" spc="-184" dirty="0">
                <a:latin typeface="SimSun"/>
                <a:cs typeface="SimSun"/>
              </a:rPr>
              <a:t>或</a:t>
            </a:r>
            <a:r>
              <a:rPr sz="599" b="1" spc="-90" dirty="0">
                <a:latin typeface="Arial"/>
                <a:cs typeface="Arial"/>
              </a:rPr>
              <a:t>”</a:t>
            </a:r>
            <a:r>
              <a:rPr sz="599" b="1" spc="-184" dirty="0">
                <a:latin typeface="SimSun"/>
                <a:cs typeface="SimSun"/>
              </a:rPr>
              <a:t>动作	</a:t>
            </a:r>
            <a:r>
              <a:rPr sz="599" b="1" spc="-141" dirty="0">
                <a:latin typeface="Arial"/>
                <a:cs typeface="Arial"/>
              </a:rPr>
              <a:t>OR</a:t>
            </a:r>
            <a:endParaRPr sz="599">
              <a:latin typeface="Arial"/>
              <a:cs typeface="Arial"/>
            </a:endParaRPr>
          </a:p>
          <a:p>
            <a:pPr marL="10860" eaLnBrk="1" hangingPunct="1">
              <a:lnSpc>
                <a:spcPts val="1026"/>
              </a:lnSpc>
              <a:tabLst>
                <a:tab pos="374119" algn="l"/>
              </a:tabLst>
              <a:defRPr/>
            </a:pPr>
            <a:r>
              <a:rPr sz="898" b="1" spc="-134" baseline="7936" dirty="0">
                <a:latin typeface="Arial"/>
                <a:cs typeface="Arial"/>
              </a:rPr>
              <a:t>“</a:t>
            </a:r>
            <a:r>
              <a:rPr sz="898" b="1" spc="-275" baseline="7936" dirty="0">
                <a:latin typeface="SimSun"/>
                <a:cs typeface="SimSun"/>
              </a:rPr>
              <a:t>非</a:t>
            </a:r>
            <a:r>
              <a:rPr sz="898" b="1" spc="-134" baseline="7936" dirty="0">
                <a:latin typeface="Arial"/>
                <a:cs typeface="Arial"/>
              </a:rPr>
              <a:t>”</a:t>
            </a:r>
            <a:r>
              <a:rPr sz="898" b="1" spc="-275" baseline="7936" dirty="0">
                <a:latin typeface="SimSun"/>
                <a:cs typeface="SimSun"/>
              </a:rPr>
              <a:t>动作	</a:t>
            </a:r>
            <a:r>
              <a:rPr sz="898" b="1" spc="-192" baseline="7936" dirty="0">
                <a:latin typeface="Arial"/>
                <a:cs typeface="Arial"/>
              </a:rPr>
              <a:t>NOT</a:t>
            </a:r>
            <a:r>
              <a:rPr sz="898" b="1" spc="-147" baseline="7936" dirty="0">
                <a:latin typeface="Arial"/>
                <a:cs typeface="Arial"/>
              </a:rPr>
              <a:t> </a:t>
            </a:r>
            <a:r>
              <a:rPr sz="898" b="1" spc="-278" dirty="0">
                <a:latin typeface="SimSun"/>
                <a:cs typeface="SimSun"/>
              </a:rPr>
              <a:t>指 令</a:t>
            </a:r>
            <a:endParaRPr sz="898">
              <a:latin typeface="SimSun"/>
              <a:cs typeface="SimSu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069975" y="1978025"/>
            <a:ext cx="179388" cy="441325"/>
          </a:xfrm>
          <a:prstGeom prst="rect">
            <a:avLst/>
          </a:prstGeom>
        </p:spPr>
        <p:txBody>
          <a:bodyPr vert="eaVert" lIns="0" tIns="0" rIns="0" bIns="0">
            <a:spAutoFit/>
          </a:bodyPr>
          <a:lstStyle/>
          <a:p>
            <a:pPr marL="10860" eaLnBrk="1" hangingPunct="1">
              <a:lnSpc>
                <a:spcPct val="65000"/>
              </a:lnSpc>
              <a:defRPr/>
            </a:pPr>
            <a:r>
              <a:rPr sz="898" b="1" dirty="0">
                <a:latin typeface="SimSun"/>
                <a:cs typeface="SimSun"/>
              </a:rPr>
              <a:t>基</a:t>
            </a:r>
            <a:r>
              <a:rPr sz="898" b="1" spc="-192" dirty="0">
                <a:latin typeface="SimSun"/>
                <a:cs typeface="SimSun"/>
              </a:rPr>
              <a:t> </a:t>
            </a:r>
            <a:r>
              <a:rPr sz="898" b="1" dirty="0">
                <a:latin typeface="SimSun"/>
                <a:cs typeface="SimSun"/>
              </a:rPr>
              <a:t>本</a:t>
            </a:r>
            <a:r>
              <a:rPr sz="898" b="1" spc="-196" dirty="0">
                <a:latin typeface="SimSun"/>
                <a:cs typeface="SimSun"/>
              </a:rPr>
              <a:t> </a:t>
            </a:r>
            <a:r>
              <a:rPr sz="898" b="1" dirty="0">
                <a:latin typeface="SimSun"/>
                <a:cs typeface="SimSun"/>
              </a:rPr>
              <a:t>动</a:t>
            </a:r>
            <a:r>
              <a:rPr sz="898" b="1" spc="-196" dirty="0">
                <a:latin typeface="SimSun"/>
                <a:cs typeface="SimSun"/>
              </a:rPr>
              <a:t> </a:t>
            </a:r>
            <a:r>
              <a:rPr sz="898" b="1" dirty="0">
                <a:latin typeface="SimSun"/>
                <a:cs typeface="SimSun"/>
              </a:rPr>
              <a:t>作</a:t>
            </a:r>
            <a:endParaRPr sz="898">
              <a:latin typeface="SimSun"/>
              <a:cs typeface="SimSu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577975" y="1782763"/>
            <a:ext cx="476250" cy="387350"/>
          </a:xfrm>
          <a:prstGeom prst="rect">
            <a:avLst/>
          </a:prstGeom>
        </p:spPr>
        <p:txBody>
          <a:bodyPr lIns="0" tIns="52669" rIns="0" bIns="0">
            <a:spAutoFit/>
          </a:bodyPr>
          <a:lstStyle>
            <a:lvl1pPr marL="328613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13"/>
              </a:spcBef>
            </a:pPr>
            <a:r>
              <a:rPr lang="zh-CN" altLang="zh-CN" sz="500" b="1">
                <a:latin typeface="Arial" panose="020B0604020202020204" pitchFamily="34" charset="0"/>
                <a:cs typeface="Arial" panose="020B0604020202020204" pitchFamily="34" charset="0"/>
              </a:rPr>
              <a:t>…… </a:t>
            </a:r>
            <a:endParaRPr lang="zh-CN" altLang="zh-CN" sz="5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lnSpc>
                <a:spcPct val="117000"/>
              </a:lnSpc>
              <a:spcBef>
                <a:spcPts val="213"/>
              </a:spcBef>
            </a:pPr>
            <a:r>
              <a:rPr lang="zh-CN" altLang="zh-CN" sz="500" b="1">
                <a:latin typeface="宋体" panose="02010600030101010101" pitchFamily="2" charset="-122"/>
              </a:rPr>
              <a:t>对基本动作的 抽象与控制</a:t>
            </a:r>
            <a:endParaRPr lang="zh-CN" altLang="zh-CN" sz="500">
              <a:latin typeface="宋体" panose="02010600030101010101" pitchFamily="2" charset="-122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682750" y="1546225"/>
            <a:ext cx="1152525" cy="215900"/>
          </a:xfrm>
          <a:prstGeom prst="rect">
            <a:avLst/>
          </a:prstGeom>
        </p:spPr>
        <p:txBody>
          <a:bodyPr lIns="0" tIns="11403" rIns="0" bIns="0">
            <a:spAutoFit/>
          </a:bodyPr>
          <a:lstStyle/>
          <a:p>
            <a:pPr marL="224254" eaLnBrk="1" hangingPunct="1">
              <a:lnSpc>
                <a:spcPts val="633"/>
              </a:lnSpc>
              <a:spcBef>
                <a:spcPts val="90"/>
              </a:spcBef>
              <a:defRPr/>
            </a:pPr>
            <a:r>
              <a:rPr sz="599" b="1" spc="-184" dirty="0">
                <a:latin typeface="SimSun"/>
                <a:cs typeface="SimSun"/>
              </a:rPr>
              <a:t>复杂动作</a:t>
            </a:r>
            <a:r>
              <a:rPr sz="599" b="1" spc="-201" dirty="0">
                <a:latin typeface="SimSun"/>
                <a:cs typeface="SimSun"/>
              </a:rPr>
              <a:t> </a:t>
            </a:r>
            <a:r>
              <a:rPr sz="599" b="1" spc="-107" dirty="0">
                <a:latin typeface="Arial"/>
                <a:cs typeface="Arial"/>
              </a:rPr>
              <a:t>=</a:t>
            </a:r>
            <a:r>
              <a:rPr sz="599" b="1" spc="-64" dirty="0">
                <a:latin typeface="Arial"/>
                <a:cs typeface="Arial"/>
              </a:rPr>
              <a:t> </a:t>
            </a:r>
            <a:r>
              <a:rPr sz="599" b="1" spc="-184" dirty="0">
                <a:latin typeface="SimSun"/>
                <a:cs typeface="SimSun"/>
              </a:rPr>
              <a:t>基本</a:t>
            </a:r>
            <a:r>
              <a:rPr sz="599" b="1" spc="-180" dirty="0">
                <a:latin typeface="SimSun"/>
                <a:cs typeface="SimSun"/>
              </a:rPr>
              <a:t>动</a:t>
            </a:r>
            <a:r>
              <a:rPr sz="599" b="1" spc="-188" dirty="0">
                <a:latin typeface="SimSun"/>
                <a:cs typeface="SimSun"/>
              </a:rPr>
              <a:t>作</a:t>
            </a:r>
            <a:r>
              <a:rPr sz="599" b="1" spc="-184" dirty="0">
                <a:latin typeface="SimSun"/>
                <a:cs typeface="SimSun"/>
              </a:rPr>
              <a:t>的</a:t>
            </a:r>
            <a:r>
              <a:rPr sz="599" b="1" spc="-180" dirty="0">
                <a:latin typeface="SimSun"/>
                <a:cs typeface="SimSun"/>
              </a:rPr>
              <a:t>各</a:t>
            </a:r>
            <a:r>
              <a:rPr sz="599" b="1" spc="-184" dirty="0">
                <a:latin typeface="SimSun"/>
                <a:cs typeface="SimSun"/>
              </a:rPr>
              <a:t>种方</a:t>
            </a:r>
            <a:r>
              <a:rPr sz="599" b="1" spc="-188" dirty="0">
                <a:latin typeface="SimSun"/>
                <a:cs typeface="SimSun"/>
              </a:rPr>
              <a:t>式</a:t>
            </a:r>
            <a:r>
              <a:rPr sz="599" b="1" spc="-180" dirty="0">
                <a:latin typeface="SimSun"/>
                <a:cs typeface="SimSun"/>
              </a:rPr>
              <a:t>的</a:t>
            </a:r>
            <a:r>
              <a:rPr sz="599" b="1" spc="-184" dirty="0">
                <a:latin typeface="SimSun"/>
                <a:cs typeface="SimSun"/>
              </a:rPr>
              <a:t>组合</a:t>
            </a:r>
            <a:endParaRPr sz="599">
              <a:latin typeface="SimSun"/>
              <a:cs typeface="SimSun"/>
            </a:endParaRPr>
          </a:p>
          <a:p>
            <a:pPr marL="10860" eaLnBrk="1" hangingPunct="1">
              <a:lnSpc>
                <a:spcPts val="992"/>
              </a:lnSpc>
              <a:defRPr/>
            </a:pPr>
            <a:r>
              <a:rPr sz="1347" b="1" spc="-416" baseline="2645" dirty="0">
                <a:latin typeface="SimSun"/>
                <a:cs typeface="SimSun"/>
              </a:rPr>
              <a:t>程 </a:t>
            </a:r>
            <a:r>
              <a:rPr sz="1347" b="1" spc="-410" baseline="2645" dirty="0">
                <a:latin typeface="SimSun"/>
                <a:cs typeface="SimSun"/>
              </a:rPr>
              <a:t>序 </a:t>
            </a:r>
            <a:r>
              <a:rPr sz="599" b="1" spc="-77" dirty="0">
                <a:latin typeface="Arial"/>
                <a:cs typeface="Arial"/>
              </a:rPr>
              <a:t>(A</a:t>
            </a:r>
            <a:r>
              <a:rPr sz="577" b="1" spc="-115" baseline="-18518" dirty="0">
                <a:latin typeface="Arial"/>
                <a:cs typeface="Arial"/>
              </a:rPr>
              <a:t>i </a:t>
            </a:r>
            <a:r>
              <a:rPr sz="599" b="1" spc="-133" dirty="0">
                <a:latin typeface="Arial"/>
                <a:cs typeface="Arial"/>
              </a:rPr>
              <a:t>XOR </a:t>
            </a:r>
            <a:r>
              <a:rPr sz="599" b="1" spc="-77" dirty="0">
                <a:latin typeface="Arial"/>
                <a:cs typeface="Arial"/>
              </a:rPr>
              <a:t>B</a:t>
            </a:r>
            <a:r>
              <a:rPr sz="577" b="1" spc="-115" baseline="-18518" dirty="0">
                <a:latin typeface="Arial"/>
                <a:cs typeface="Arial"/>
              </a:rPr>
              <a:t>i</a:t>
            </a:r>
            <a:r>
              <a:rPr sz="599" b="1" spc="-77" dirty="0">
                <a:latin typeface="Arial"/>
                <a:cs typeface="Arial"/>
              </a:rPr>
              <a:t>) </a:t>
            </a:r>
            <a:r>
              <a:rPr sz="599" b="1" spc="-133" dirty="0">
                <a:latin typeface="Arial"/>
                <a:cs typeface="Arial"/>
              </a:rPr>
              <a:t>XOR</a:t>
            </a:r>
            <a:r>
              <a:rPr sz="599" b="1" spc="-107" dirty="0">
                <a:latin typeface="Arial"/>
                <a:cs typeface="Arial"/>
              </a:rPr>
              <a:t> </a:t>
            </a:r>
            <a:r>
              <a:rPr sz="599" b="1" spc="-81" dirty="0">
                <a:latin typeface="Arial"/>
                <a:cs typeface="Arial"/>
              </a:rPr>
              <a:t>C</a:t>
            </a:r>
            <a:r>
              <a:rPr sz="577" b="1" spc="-121" baseline="-18518" dirty="0">
                <a:latin typeface="Arial"/>
                <a:cs typeface="Arial"/>
              </a:rPr>
              <a:t>i</a:t>
            </a:r>
            <a:endParaRPr sz="577" baseline="-18518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971675" y="1789113"/>
            <a:ext cx="822325" cy="74612"/>
          </a:xfrm>
          <a:prstGeom prst="rect">
            <a:avLst/>
          </a:prstGeom>
        </p:spPr>
        <p:txBody>
          <a:bodyPr lIns="0" tIns="15204" rIns="0" bIns="0">
            <a:spAutoFit/>
          </a:bodyPr>
          <a:lstStyle/>
          <a:p>
            <a:pPr marL="10860" eaLnBrk="1" hangingPunct="1">
              <a:spcBef>
                <a:spcPts val="120"/>
              </a:spcBef>
              <a:tabLst>
                <a:tab pos="200363" algn="l"/>
                <a:tab pos="412128" algn="l"/>
                <a:tab pos="605975" algn="l"/>
                <a:tab pos="800908" algn="l"/>
              </a:tabLst>
              <a:defRPr/>
            </a:pPr>
            <a:r>
              <a:rPr sz="385" b="1" spc="-30" dirty="0">
                <a:latin typeface="Arial"/>
                <a:cs typeface="Arial"/>
              </a:rPr>
              <a:t>i	i	i	i	i</a:t>
            </a:r>
            <a:endParaRPr sz="385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898650" y="1746250"/>
            <a:ext cx="914400" cy="104775"/>
          </a:xfrm>
          <a:prstGeom prst="rect">
            <a:avLst/>
          </a:prstGeom>
        </p:spPr>
        <p:txBody>
          <a:bodyPr lIns="0" tIns="11403" rIns="0" bIns="0">
            <a:spAutoFit/>
          </a:bodyPr>
          <a:lstStyle/>
          <a:p>
            <a:pPr marL="10860" eaLnBrk="1" hangingPunct="1">
              <a:spcBef>
                <a:spcPts val="90"/>
              </a:spcBef>
              <a:defRPr/>
            </a:pPr>
            <a:r>
              <a:rPr sz="599" b="1" spc="-86" dirty="0">
                <a:latin typeface="Arial"/>
                <a:cs typeface="Arial"/>
              </a:rPr>
              <a:t>((A </a:t>
            </a:r>
            <a:r>
              <a:rPr sz="599" b="1" spc="-133" dirty="0">
                <a:latin typeface="Arial"/>
                <a:cs typeface="Arial"/>
              </a:rPr>
              <a:t>XOR B </a:t>
            </a:r>
            <a:r>
              <a:rPr sz="599" b="1" spc="-60" dirty="0">
                <a:latin typeface="Arial"/>
                <a:cs typeface="Arial"/>
              </a:rPr>
              <a:t>) </a:t>
            </a:r>
            <a:r>
              <a:rPr sz="599" b="1" spc="-137" dirty="0">
                <a:latin typeface="Arial"/>
                <a:cs typeface="Arial"/>
              </a:rPr>
              <a:t>AND </a:t>
            </a:r>
            <a:r>
              <a:rPr sz="599" b="1" spc="-133" dirty="0">
                <a:latin typeface="Arial"/>
                <a:cs typeface="Arial"/>
              </a:rPr>
              <a:t>C </a:t>
            </a:r>
            <a:r>
              <a:rPr sz="599" b="1" spc="-60" dirty="0">
                <a:latin typeface="Arial"/>
                <a:cs typeface="Arial"/>
              </a:rPr>
              <a:t>) </a:t>
            </a:r>
            <a:r>
              <a:rPr sz="599" b="1" spc="-137" dirty="0">
                <a:latin typeface="Arial"/>
                <a:cs typeface="Arial"/>
              </a:rPr>
              <a:t>OR </a:t>
            </a:r>
            <a:r>
              <a:rPr sz="599" b="1" spc="-97" dirty="0">
                <a:latin typeface="Arial"/>
                <a:cs typeface="Arial"/>
              </a:rPr>
              <a:t>(A </a:t>
            </a:r>
            <a:r>
              <a:rPr sz="599" b="1" spc="-133" dirty="0">
                <a:latin typeface="Arial"/>
                <a:cs typeface="Arial"/>
              </a:rPr>
              <a:t>AND B</a:t>
            </a:r>
            <a:r>
              <a:rPr sz="599" b="1" spc="-128" dirty="0">
                <a:latin typeface="Arial"/>
                <a:cs typeface="Arial"/>
              </a:rPr>
              <a:t> </a:t>
            </a:r>
            <a:r>
              <a:rPr sz="599" b="1" spc="-60" dirty="0">
                <a:latin typeface="Arial"/>
                <a:cs typeface="Arial"/>
              </a:rPr>
              <a:t>)</a:t>
            </a:r>
            <a:endParaRPr sz="599">
              <a:latin typeface="Arial"/>
              <a:cs typeface="Arial"/>
            </a:endParaRPr>
          </a:p>
        </p:txBody>
      </p:sp>
      <p:sp>
        <p:nvSpPr>
          <p:cNvPr id="43" name="object 43"/>
          <p:cNvSpPr txBox="1">
            <a:spLocks noGrp="1"/>
          </p:cNvSpPr>
          <p:nvPr>
            <p:ph type="title"/>
          </p:nvPr>
        </p:nvSpPr>
        <p:spPr>
          <a:xfrm>
            <a:off x="875258" y="694303"/>
            <a:ext cx="4555033" cy="493941"/>
          </a:xfrm>
        </p:spPr>
        <p:txBody>
          <a:bodyPr wrap="square" lIns="0" tIns="62444" rIns="0" bIns="0">
            <a:spAutoFit/>
          </a:bodyPr>
          <a:lstStyle/>
          <a:p>
            <a:pPr>
              <a:spcBef>
                <a:spcPts val="400"/>
              </a:spcBef>
            </a:pPr>
            <a:r>
              <a:rPr lang="zh-CN" altLang="zh-CN" sz="2800" dirty="0">
                <a:solidFill>
                  <a:srgbClr val="FFFFFF"/>
                </a:solidFill>
                <a:cs typeface="Arial" panose="020B0604020202020204" pitchFamily="34" charset="0"/>
              </a:rPr>
              <a:t>(3)</a:t>
            </a:r>
            <a:r>
              <a:rPr lang="zh-CN" altLang="zh-CN" sz="2800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为什么要提出关系代数</a:t>
            </a:r>
            <a:endParaRPr lang="zh-CN" altLang="zh-CN" sz="28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44" name="灯片编号占位符 4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A6568E1-4089-4561-919E-9D2F37D3F2B0}" type="slidenum">
              <a:rPr lang="en-US" altLang="zh-CN" smtClean="0"/>
              <a:pPr>
                <a:defRPr/>
              </a:pPr>
              <a:t>6</a:t>
            </a:fld>
            <a:endParaRPr lang="en-US" altLang="zh-C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611560" y="2132856"/>
            <a:ext cx="8280920" cy="4264052"/>
          </a:xfrm>
          <a:prstGeom prst="rect">
            <a:avLst/>
          </a:prstGeom>
        </p:spPr>
        <p:txBody>
          <a:bodyPr wrap="square" lIns="0" tIns="79820" rIns="0" bIns="0">
            <a:spAutoFit/>
          </a:bodyPr>
          <a:lstStyle>
            <a:lvl1pPr marL="952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625"/>
              </a:spcBef>
            </a:pPr>
            <a:r>
              <a:rPr lang="zh-CN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某些关系代数操作，如并、差、交等，需满足“并相容性”</a:t>
            </a:r>
            <a:endParaRPr lang="zh-CN" altLang="zh-CN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spcBef>
                <a:spcPts val="875"/>
              </a:spcBef>
            </a:pPr>
            <a:r>
              <a:rPr lang="zh-CN" altLang="zh-CN" sz="27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并相容性</a:t>
            </a:r>
            <a:endParaRPr lang="zh-CN" altLang="zh-CN" sz="27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37000"/>
              </a:lnSpc>
              <a:spcBef>
                <a:spcPts val="13"/>
              </a:spcBef>
            </a:pPr>
            <a:r>
              <a:rPr lang="zh-CN" altLang="zh-CN" sz="1700" dirty="0">
                <a:latin typeface="Wingdings" panose="05000000000000000000" pitchFamily="2" charset="2"/>
              </a:rPr>
              <a:t></a:t>
            </a:r>
            <a:r>
              <a:rPr lang="zh-CN" altLang="zh-CN" sz="1700" dirty="0">
                <a:cs typeface="Times New Roman" panose="02020603050405020304" pitchFamily="18" charset="0"/>
              </a:rPr>
              <a:t> </a:t>
            </a:r>
            <a:r>
              <a:rPr lang="zh-CN" altLang="zh-CN" sz="23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参与运算的两个关系及其相关属性之间有一定的对应性、可比性或意义关联性</a:t>
            </a:r>
            <a:endParaRPr lang="zh-CN" altLang="zh-CN" sz="23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eaLnBrk="1" hangingPunct="1">
              <a:spcBef>
                <a:spcPts val="488"/>
              </a:spcBef>
            </a:pPr>
            <a:r>
              <a:rPr lang="zh-CN" altLang="zh-CN" sz="2300" dirty="0">
                <a:latin typeface="Wingdings" panose="05000000000000000000" pitchFamily="2" charset="2"/>
              </a:rPr>
              <a:t></a:t>
            </a:r>
            <a:r>
              <a:rPr lang="zh-CN" altLang="zh-CN" sz="2300" b="1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定义：</a:t>
            </a:r>
            <a:r>
              <a:rPr lang="zh-CN" altLang="zh-CN" sz="23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关系</a:t>
            </a:r>
            <a:r>
              <a:rPr lang="zh-CN" altLang="zh-CN" sz="2300" b="1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zh-CN" altLang="zh-CN" sz="23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与关系</a:t>
            </a:r>
            <a:r>
              <a:rPr lang="zh-CN" altLang="zh-CN" sz="2300" b="1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zh-CN" altLang="zh-CN" sz="23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存在相容性，当且仅当：</a:t>
            </a:r>
            <a:endParaRPr lang="zh-CN" altLang="zh-CN" sz="23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eaLnBrk="1" hangingPunct="1">
              <a:spcBef>
                <a:spcPts val="625"/>
              </a:spcBef>
              <a:buFont typeface="Arial" panose="020B0604020202020204" pitchFamily="34" charset="0"/>
              <a:buAutoNum type="arabicParenBoth"/>
            </a:pPr>
            <a:r>
              <a:rPr lang="zh-CN" altLang="zh-CN" sz="23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关系</a:t>
            </a:r>
            <a:r>
              <a:rPr lang="zh-CN" altLang="zh-CN" sz="2300" b="1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zh-CN" altLang="zh-CN" sz="23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和关系</a:t>
            </a:r>
            <a:r>
              <a:rPr lang="zh-CN" altLang="zh-CN" sz="2300" b="1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zh-CN" altLang="zh-CN" sz="23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的属性数目必须相同；</a:t>
            </a:r>
            <a:endParaRPr lang="zh-CN" altLang="zh-CN" sz="23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eaLnBrk="1" hangingPunct="1">
              <a:lnSpc>
                <a:spcPts val="2675"/>
              </a:lnSpc>
              <a:spcBef>
                <a:spcPts val="188"/>
              </a:spcBef>
              <a:buFont typeface="Arial" panose="020B0604020202020204" pitchFamily="34" charset="0"/>
              <a:buAutoNum type="arabicParenBoth"/>
            </a:pPr>
            <a:r>
              <a:rPr lang="zh-CN" altLang="zh-CN" sz="23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对于任意</a:t>
            </a:r>
            <a:r>
              <a:rPr lang="zh-CN" altLang="zh-CN" sz="2300" b="1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zh-CN" altLang="zh-CN" sz="23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，关系</a:t>
            </a:r>
            <a:r>
              <a:rPr lang="zh-CN" altLang="zh-CN" sz="2300" b="1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zh-CN" altLang="zh-CN" sz="23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的第</a:t>
            </a:r>
            <a:r>
              <a:rPr lang="zh-CN" altLang="zh-CN" sz="2300" b="1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zh-CN" altLang="zh-CN" sz="23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个属性的域必须和关系</a:t>
            </a:r>
            <a:r>
              <a:rPr lang="zh-CN" altLang="zh-CN" sz="2300" b="1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zh-CN" altLang="zh-CN" sz="23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的第</a:t>
            </a:r>
            <a:r>
              <a:rPr lang="zh-CN" altLang="zh-CN" sz="2300" b="1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zh-CN" altLang="zh-CN" sz="23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个属性的域相同 </a:t>
            </a:r>
            <a:endParaRPr lang="en-US" altLang="zh-CN" sz="2300" b="1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eaLnBrk="1" hangingPunct="1">
              <a:lnSpc>
                <a:spcPts val="2675"/>
              </a:lnSpc>
              <a:spcBef>
                <a:spcPts val="188"/>
              </a:spcBef>
            </a:pPr>
            <a:r>
              <a:rPr lang="en-US" altLang="zh-CN" sz="2300" b="1" dirty="0">
                <a:solidFill>
                  <a:srgbClr val="3333CC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</a:t>
            </a:r>
            <a:r>
              <a:rPr lang="zh-CN" altLang="zh-CN" sz="2300" b="1" dirty="0">
                <a:solidFill>
                  <a:srgbClr val="3333CC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假设：</a:t>
            </a:r>
            <a:r>
              <a:rPr lang="zh-CN" altLang="zh-CN" sz="2300" b="1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zh-CN" altLang="zh-CN" sz="2300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(A1, A2, … , An) </a:t>
            </a:r>
            <a:r>
              <a:rPr lang="zh-CN" altLang="zh-CN" sz="2300" b="1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	S</a:t>
            </a:r>
            <a:r>
              <a:rPr lang="zh-CN" altLang="zh-CN" sz="2300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(B1, B2, … ,Bm)</a:t>
            </a:r>
            <a:endParaRPr lang="zh-CN" altLang="zh-CN" sz="2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ts val="425"/>
              </a:spcBef>
            </a:pPr>
            <a:r>
              <a:rPr lang="zh-CN" altLang="zh-CN" sz="2300" b="1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zh-CN" altLang="zh-CN" sz="2300" b="1" dirty="0">
                <a:solidFill>
                  <a:srgbClr val="3333CC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和</a:t>
            </a:r>
            <a:r>
              <a:rPr lang="zh-CN" altLang="zh-CN" sz="2300" b="1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zh-CN" altLang="zh-CN" sz="2300" b="1" dirty="0">
                <a:solidFill>
                  <a:srgbClr val="3333CC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满足并相容性：</a:t>
            </a:r>
            <a:r>
              <a:rPr lang="zh-CN" altLang="zh-CN" sz="2300" b="1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 = m </a:t>
            </a:r>
            <a:r>
              <a:rPr lang="zh-CN" altLang="zh-CN" sz="2300" b="1" dirty="0">
                <a:solidFill>
                  <a:srgbClr val="3333CC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并且 </a:t>
            </a:r>
            <a:r>
              <a:rPr lang="zh-CN" altLang="zh-CN" sz="2300" b="1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Domain(Ai) = Domain(Bi)</a:t>
            </a:r>
            <a:endParaRPr lang="zh-CN" altLang="zh-CN" sz="2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516311" y="677307"/>
            <a:ext cx="5646266" cy="472083"/>
          </a:xfrm>
        </p:spPr>
        <p:txBody>
          <a:bodyPr wrap="square" lIns="0" tIns="10317" rIns="0" bIns="0">
            <a:spAutoFit/>
          </a:bodyPr>
          <a:lstStyle/>
          <a:p>
            <a:pPr marL="9525">
              <a:spcBef>
                <a:spcPts val="75"/>
              </a:spcBef>
            </a:pPr>
            <a:r>
              <a:rPr lang="zh-CN" altLang="zh-CN" sz="3000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关系代数之基本操作</a:t>
            </a:r>
            <a:endParaRPr lang="zh-CN" altLang="zh-CN" sz="30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7544" y="1539550"/>
            <a:ext cx="4248472" cy="379750"/>
          </a:xfrm>
          <a:prstGeom prst="rect">
            <a:avLst/>
          </a:prstGeom>
        </p:spPr>
        <p:txBody>
          <a:bodyPr wrap="square" lIns="0" tIns="10317" rIns="0" bIns="0">
            <a:spAutoFit/>
          </a:bodyPr>
          <a:lstStyle>
            <a:lvl1pPr marL="952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75"/>
              </a:spcBef>
            </a:pPr>
            <a:r>
              <a:rPr lang="zh-CN" altLang="zh-CN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(0)</a:t>
            </a:r>
            <a:r>
              <a:rPr lang="zh-CN" altLang="zh-CN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关系代数运算的约束</a:t>
            </a:r>
            <a:endParaRPr lang="zh-CN" altLang="zh-CN" dirty="0">
              <a:solidFill>
                <a:srgbClr val="FF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A6568E1-4089-4561-919E-9D2F37D3F2B0}" type="slidenum">
              <a:rPr lang="en-US" altLang="zh-CN" smtClean="0"/>
              <a:pPr>
                <a:defRPr/>
              </a:pPr>
              <a:t>7</a:t>
            </a:fld>
            <a:endParaRPr lang="en-US" altLang="zh-C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611560" y="1484784"/>
            <a:ext cx="8208912" cy="4168998"/>
          </a:xfrm>
          <a:prstGeom prst="rect">
            <a:avLst/>
          </a:prstGeom>
        </p:spPr>
        <p:txBody>
          <a:bodyPr wrap="square" lIns="0" tIns="160183" rIns="0" bIns="0">
            <a:spAutoFit/>
          </a:bodyPr>
          <a:lstStyle>
            <a:lvl1pPr marL="952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1263"/>
              </a:spcBef>
            </a:pPr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并相容性的示例</a:t>
            </a:r>
            <a:endParaRPr lang="zh-CN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30000"/>
              </a:lnSpc>
              <a:spcBef>
                <a:spcPts val="550"/>
              </a:spcBef>
            </a:pPr>
            <a:r>
              <a:rPr lang="zh-CN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STUDENT(SID </a:t>
            </a:r>
            <a:r>
              <a:rPr lang="zh-CN" altLang="zh-CN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char(10)</a:t>
            </a:r>
            <a:r>
              <a:rPr lang="zh-CN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, Sname </a:t>
            </a:r>
            <a:r>
              <a:rPr lang="zh-CN" altLang="zh-CN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char(8)</a:t>
            </a:r>
            <a:r>
              <a:rPr lang="zh-CN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, Age </a:t>
            </a:r>
            <a:r>
              <a:rPr lang="zh-CN" altLang="zh-CN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char(3)</a:t>
            </a:r>
            <a:r>
              <a:rPr lang="zh-CN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)  PROFESSOR(PID </a:t>
            </a:r>
            <a:r>
              <a:rPr lang="zh-CN" altLang="zh-CN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char(10)</a:t>
            </a:r>
            <a:r>
              <a:rPr lang="zh-CN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, Pname </a:t>
            </a:r>
            <a:r>
              <a:rPr lang="zh-CN" altLang="zh-CN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char(8)</a:t>
            </a:r>
            <a:r>
              <a:rPr lang="zh-CN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, Age </a:t>
            </a:r>
            <a:r>
              <a:rPr lang="zh-CN" altLang="zh-CN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char(3)</a:t>
            </a:r>
            <a:r>
              <a:rPr lang="zh-CN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zh-CN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ts val="625"/>
              </a:spcBef>
            </a:pPr>
            <a:r>
              <a:rPr lang="zh-CN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关系</a:t>
            </a:r>
            <a:r>
              <a:rPr lang="zh-CN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STUDENT</a:t>
            </a:r>
            <a:r>
              <a:rPr lang="zh-CN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与关系</a:t>
            </a:r>
            <a:r>
              <a:rPr lang="zh-CN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PROFESSOR</a:t>
            </a:r>
            <a:r>
              <a:rPr lang="zh-CN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是相容的，因为：</a:t>
            </a:r>
            <a:endParaRPr lang="zh-CN" altLang="zh-CN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eaLnBrk="1" hangingPunct="1">
              <a:spcBef>
                <a:spcPts val="613"/>
              </a:spcBef>
              <a:buFont typeface="Arial" panose="020B0604020202020204" pitchFamily="34" charset="0"/>
              <a:buAutoNum type="arabicParenBoth"/>
            </a:pPr>
            <a:r>
              <a:rPr lang="zh-CN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关系</a:t>
            </a:r>
            <a:r>
              <a:rPr lang="zh-CN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zh-CN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和关系</a:t>
            </a:r>
            <a:r>
              <a:rPr lang="zh-CN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zh-CN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的属性数目都是</a:t>
            </a:r>
            <a:r>
              <a:rPr lang="zh-CN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zh-CN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ts val="625"/>
              </a:spcBef>
              <a:buFont typeface="Arial" panose="020B0604020202020204" pitchFamily="34" charset="0"/>
              <a:buAutoNum type="arabicParenBoth"/>
            </a:pPr>
            <a:r>
              <a:rPr lang="zh-CN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关系</a:t>
            </a:r>
            <a:r>
              <a:rPr lang="zh-CN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zh-CN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的属性</a:t>
            </a:r>
            <a:r>
              <a:rPr lang="zh-CN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SID</a:t>
            </a:r>
            <a:r>
              <a:rPr lang="zh-CN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与关系</a:t>
            </a:r>
            <a:r>
              <a:rPr lang="zh-CN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zh-CN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的属性</a:t>
            </a:r>
            <a:r>
              <a:rPr lang="zh-CN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PID</a:t>
            </a:r>
            <a:r>
              <a:rPr lang="zh-CN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的域都是</a:t>
            </a:r>
            <a:r>
              <a:rPr lang="zh-CN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char(10)</a:t>
            </a:r>
            <a:endParaRPr lang="zh-CN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ts val="625"/>
              </a:spcBef>
              <a:buFont typeface="Arial" panose="020B0604020202020204" pitchFamily="34" charset="0"/>
              <a:buAutoNum type="arabicParenBoth"/>
            </a:pPr>
            <a:r>
              <a:rPr lang="zh-CN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关系</a:t>
            </a:r>
            <a:r>
              <a:rPr lang="zh-CN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zh-CN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的属性</a:t>
            </a:r>
            <a:r>
              <a:rPr lang="zh-CN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Sname</a:t>
            </a:r>
            <a:r>
              <a:rPr lang="zh-CN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与关系</a:t>
            </a:r>
            <a:r>
              <a:rPr lang="zh-CN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zh-CN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的属性</a:t>
            </a:r>
            <a:r>
              <a:rPr lang="zh-CN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Sname</a:t>
            </a:r>
            <a:r>
              <a:rPr lang="zh-CN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的域都是</a:t>
            </a:r>
            <a:r>
              <a:rPr lang="zh-CN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char(8)</a:t>
            </a:r>
            <a:endParaRPr lang="zh-CN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ts val="625"/>
              </a:spcBef>
              <a:buFont typeface="Arial" panose="020B0604020202020204" pitchFamily="34" charset="0"/>
              <a:buAutoNum type="arabicParenBoth"/>
            </a:pPr>
            <a:r>
              <a:rPr lang="zh-CN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关系</a:t>
            </a:r>
            <a:r>
              <a:rPr lang="zh-CN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zh-CN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的属性</a:t>
            </a:r>
            <a:r>
              <a:rPr lang="zh-CN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Age</a:t>
            </a:r>
            <a:r>
              <a:rPr lang="zh-CN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与关系</a:t>
            </a:r>
            <a:r>
              <a:rPr lang="zh-CN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zh-CN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的属性</a:t>
            </a:r>
            <a:r>
              <a:rPr lang="zh-CN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Age</a:t>
            </a:r>
            <a:r>
              <a:rPr lang="zh-CN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的域都是</a:t>
            </a:r>
            <a:r>
              <a:rPr lang="zh-CN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char(3)</a:t>
            </a:r>
            <a:endParaRPr lang="zh-CN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38213" y="701761"/>
            <a:ext cx="4339009" cy="493941"/>
          </a:xfrm>
        </p:spPr>
        <p:txBody>
          <a:bodyPr wrap="square" lIns="0" tIns="62444" rIns="0" bIns="0">
            <a:spAutoFit/>
          </a:bodyPr>
          <a:lstStyle/>
          <a:p>
            <a:pPr>
              <a:spcBef>
                <a:spcPts val="400"/>
              </a:spcBef>
            </a:pPr>
            <a:r>
              <a:rPr lang="zh-CN" altLang="zh-CN" sz="2800" dirty="0">
                <a:solidFill>
                  <a:srgbClr val="FFFFFF"/>
                </a:solidFill>
                <a:cs typeface="Arial" panose="020B0604020202020204" pitchFamily="34" charset="0"/>
              </a:rPr>
              <a:t>(0)</a:t>
            </a:r>
            <a:r>
              <a:rPr lang="zh-CN" altLang="zh-CN" sz="2800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关系代数运算的约束</a:t>
            </a:r>
            <a:endParaRPr lang="zh-CN" altLang="zh-CN" sz="28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A6568E1-4089-4561-919E-9D2F37D3F2B0}" type="slidenum">
              <a:rPr lang="en-US" altLang="zh-CN" smtClean="0"/>
              <a:pPr>
                <a:defRPr/>
              </a:pPr>
              <a:t>8</a:t>
            </a:fld>
            <a:endParaRPr lang="en-US" altLang="zh-C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 bwMode="auto">
          <a:xfrm>
            <a:off x="0" y="4946338"/>
            <a:ext cx="9144000" cy="1911662"/>
          </a:xfrm>
          <a:prstGeom prst="rect">
            <a:avLst/>
          </a:prstGeom>
          <a:gradFill rotWithShape="0">
            <a:gsLst>
              <a:gs pos="0">
                <a:srgbClr val="FFFFFF">
                  <a:alpha val="83000"/>
                </a:srgbClr>
              </a:gs>
              <a:gs pos="100000">
                <a:srgbClr val="FFFFFF">
                  <a:gamma/>
                  <a:shade val="73333"/>
                  <a:invGamma/>
                </a:srgbClr>
              </a:gs>
            </a:gsLst>
            <a:lin ang="5400000" scaled="1"/>
          </a:gra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342900" marR="0" indent="-3429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357688" y="5157192"/>
            <a:ext cx="1498600" cy="1162050"/>
          </a:xfrm>
          <a:custGeom>
            <a:avLst/>
            <a:gdLst/>
            <a:ahLst/>
            <a:cxnLst/>
            <a:rect l="l" t="t" r="r" b="b"/>
            <a:pathLst>
              <a:path w="1752600" h="1358265">
                <a:moveTo>
                  <a:pt x="0" y="0"/>
                </a:moveTo>
                <a:lnTo>
                  <a:pt x="0" y="1357884"/>
                </a:lnTo>
                <a:lnTo>
                  <a:pt x="1752599" y="1357884"/>
                </a:lnTo>
                <a:lnTo>
                  <a:pt x="1752599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5" name="object 5"/>
          <p:cNvSpPr/>
          <p:nvPr/>
        </p:nvSpPr>
        <p:spPr>
          <a:xfrm>
            <a:off x="3398838" y="5252442"/>
            <a:ext cx="1498600" cy="97631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7" name="object 7"/>
          <p:cNvSpPr/>
          <p:nvPr/>
        </p:nvSpPr>
        <p:spPr>
          <a:xfrm>
            <a:off x="4357688" y="5157192"/>
            <a:ext cx="1498600" cy="1158875"/>
          </a:xfrm>
          <a:custGeom>
            <a:avLst/>
            <a:gdLst/>
            <a:ahLst/>
            <a:cxnLst/>
            <a:rect l="l" t="t" r="r" b="b"/>
            <a:pathLst>
              <a:path w="1752600" h="1356359">
                <a:moveTo>
                  <a:pt x="0" y="0"/>
                </a:moveTo>
                <a:lnTo>
                  <a:pt x="0" y="1356360"/>
                </a:lnTo>
                <a:lnTo>
                  <a:pt x="1752599" y="1356360"/>
                </a:lnTo>
                <a:lnTo>
                  <a:pt x="1752599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3" name="object 3"/>
          <p:cNvSpPr/>
          <p:nvPr/>
        </p:nvSpPr>
        <p:spPr>
          <a:xfrm>
            <a:off x="4357688" y="5157192"/>
            <a:ext cx="1498600" cy="1160463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8" name="object 8"/>
          <p:cNvSpPr txBox="1"/>
          <p:nvPr/>
        </p:nvSpPr>
        <p:spPr>
          <a:xfrm>
            <a:off x="539552" y="1412776"/>
            <a:ext cx="8424936" cy="3533562"/>
          </a:xfrm>
          <a:prstGeom prst="rect">
            <a:avLst/>
          </a:prstGeom>
        </p:spPr>
        <p:txBody>
          <a:bodyPr wrap="square" lIns="0" tIns="10317" rIns="0" bIns="0">
            <a:spAutoFit/>
          </a:bodyPr>
          <a:lstStyle>
            <a:lvl1pPr marL="20638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75"/>
              </a:spcBef>
            </a:pPr>
            <a:r>
              <a:rPr lang="zh-CN" altLang="zh-CN" sz="27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并(Union)</a:t>
            </a:r>
            <a:endParaRPr lang="zh-CN" altLang="zh-CN" sz="27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eaLnBrk="1" hangingPunct="1">
              <a:lnSpc>
                <a:spcPct val="133000"/>
              </a:lnSpc>
              <a:spcBef>
                <a:spcPts val="850"/>
              </a:spcBef>
              <a:buClr>
                <a:srgbClr val="000000"/>
              </a:buClr>
              <a:buFont typeface="Wingdings" panose="05000000000000000000" pitchFamily="2" charset="2"/>
              <a:buChar char=""/>
            </a:pPr>
            <a:r>
              <a:rPr lang="zh-CN" altLang="zh-CN" sz="2200" b="1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定义</a:t>
            </a:r>
            <a:r>
              <a:rPr lang="zh-CN" altLang="zh-CN" sz="22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：假设关系</a:t>
            </a:r>
            <a:r>
              <a:rPr lang="zh-CN" altLang="zh-CN" sz="2200" b="1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zh-CN" altLang="zh-CN" sz="22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和关系</a:t>
            </a:r>
            <a:r>
              <a:rPr lang="zh-CN" altLang="zh-CN" sz="2200" b="1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zh-CN" altLang="zh-CN" sz="22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是并相容的，则关系</a:t>
            </a:r>
            <a:r>
              <a:rPr lang="zh-CN" altLang="zh-CN" sz="2200" b="1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zh-CN" altLang="zh-CN" sz="22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与关系</a:t>
            </a:r>
            <a:r>
              <a:rPr lang="zh-CN" altLang="zh-CN" sz="2200" b="1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zh-CN" altLang="zh-CN" sz="22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的并运算结果也 是一个关系，记作：</a:t>
            </a:r>
            <a:r>
              <a:rPr lang="zh-CN" altLang="zh-CN" sz="2200" b="1" dirty="0">
                <a:latin typeface="Arial" panose="020B0604020202020204" pitchFamily="34" charset="0"/>
                <a:cs typeface="Arial" panose="020B0604020202020204" pitchFamily="34" charset="0"/>
              </a:rPr>
              <a:t>R </a:t>
            </a:r>
            <a:r>
              <a:rPr lang="zh-CN" altLang="zh-CN" sz="22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∪</a:t>
            </a:r>
            <a:r>
              <a:rPr lang="zh-CN" altLang="zh-CN" sz="2200" b="1" dirty="0">
                <a:latin typeface="Arial" panose="020B0604020202020204" pitchFamily="34" charset="0"/>
                <a:cs typeface="Arial" panose="020B0604020202020204" pitchFamily="34" charset="0"/>
              </a:rPr>
              <a:t>S, </a:t>
            </a:r>
            <a:r>
              <a:rPr lang="zh-CN" altLang="zh-CN" sz="22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它由</a:t>
            </a:r>
            <a:r>
              <a:rPr lang="zh-CN" altLang="zh-CN" sz="2200" b="1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或者出现在</a:t>
            </a:r>
            <a:r>
              <a:rPr lang="zh-CN" altLang="zh-CN" sz="22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关系</a:t>
            </a:r>
            <a:r>
              <a:rPr lang="zh-CN" altLang="zh-CN" sz="2200" b="1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zh-CN" altLang="zh-CN" sz="22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中，</a:t>
            </a:r>
            <a:r>
              <a:rPr lang="zh-CN" altLang="zh-CN" sz="2200" b="1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或者出现在</a:t>
            </a:r>
            <a:r>
              <a:rPr lang="zh-CN" altLang="zh-CN" sz="2200" b="1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zh-CN" altLang="zh-CN" sz="22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中的元 组构成。</a:t>
            </a:r>
            <a:endParaRPr lang="zh-CN" altLang="zh-CN" sz="22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algn="just" eaLnBrk="1" hangingPunct="1">
              <a:spcBef>
                <a:spcPts val="700"/>
              </a:spcBef>
              <a:buSzPct val="95000"/>
              <a:buFont typeface="Wingdings" panose="05000000000000000000" pitchFamily="2" charset="2"/>
              <a:buChar char=""/>
            </a:pPr>
            <a:r>
              <a:rPr lang="zh-CN" altLang="zh-CN" sz="2200" b="1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数学描述</a:t>
            </a:r>
            <a:r>
              <a:rPr lang="zh-CN" altLang="zh-CN" sz="22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： </a:t>
            </a:r>
            <a:r>
              <a:rPr lang="zh-CN" altLang="zh-CN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zh-CN" altLang="zh-CN" b="1" dirty="0">
                <a:solidFill>
                  <a:srgbClr val="FF0065"/>
                </a:solidFill>
                <a:latin typeface="Symbol" panose="05050102010706020507" pitchFamily="18" charset="2"/>
              </a:rPr>
              <a:t></a:t>
            </a:r>
            <a:r>
              <a:rPr lang="zh-CN" altLang="zh-CN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 ={ t | t</a:t>
            </a:r>
            <a:r>
              <a:rPr lang="zh-CN" altLang="zh-CN" b="1" dirty="0">
                <a:solidFill>
                  <a:srgbClr val="FF0065"/>
                </a:solidFill>
                <a:latin typeface="Symbol" panose="05050102010706020507" pitchFamily="18" charset="2"/>
              </a:rPr>
              <a:t></a:t>
            </a:r>
            <a:r>
              <a:rPr lang="zh-CN" altLang="zh-CN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 </a:t>
            </a:r>
            <a:r>
              <a:rPr lang="zh-CN" altLang="zh-CN" b="1" dirty="0">
                <a:solidFill>
                  <a:srgbClr val="FF0065"/>
                </a:solidFill>
                <a:latin typeface="Symbol" panose="05050102010706020507" pitchFamily="18" charset="2"/>
              </a:rPr>
              <a:t></a:t>
            </a:r>
            <a:r>
              <a:rPr lang="zh-CN" altLang="zh-CN" b="1" dirty="0">
                <a:solidFill>
                  <a:srgbClr val="FF0065"/>
                </a:solidFill>
                <a:cs typeface="Times New Roman" panose="02020603050405020304" pitchFamily="18" charset="0"/>
              </a:rPr>
              <a:t> </a:t>
            </a:r>
            <a:r>
              <a:rPr lang="zh-CN" altLang="zh-CN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zh-CN" altLang="zh-CN" b="1" dirty="0">
                <a:solidFill>
                  <a:srgbClr val="FF0065"/>
                </a:solidFill>
                <a:latin typeface="Symbol" panose="05050102010706020507" pitchFamily="18" charset="2"/>
              </a:rPr>
              <a:t></a:t>
            </a:r>
            <a:r>
              <a:rPr lang="zh-CN" altLang="zh-CN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 } </a:t>
            </a:r>
            <a:r>
              <a:rPr lang="zh-CN" altLang="zh-CN" sz="22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，其中</a:t>
            </a:r>
            <a:r>
              <a:rPr lang="zh-CN" altLang="zh-CN" sz="2200" b="1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zh-CN" altLang="zh-CN" sz="22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是元组</a:t>
            </a:r>
            <a:endParaRPr lang="zh-CN" altLang="zh-CN" sz="22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algn="just" eaLnBrk="1" hangingPunct="1">
              <a:spcBef>
                <a:spcPts val="788"/>
              </a:spcBef>
              <a:buSzPct val="95000"/>
              <a:buFont typeface="Wingdings" panose="05000000000000000000" pitchFamily="2" charset="2"/>
              <a:buChar char=""/>
            </a:pPr>
            <a:r>
              <a:rPr lang="zh-CN" altLang="zh-CN" sz="22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并运算是将两个关系的元组合并成一个关系，在合并时去掉重复的元组。</a:t>
            </a:r>
            <a:endParaRPr lang="zh-CN" altLang="zh-CN" sz="22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algn="just" eaLnBrk="1" hangingPunct="1">
              <a:spcBef>
                <a:spcPts val="488"/>
              </a:spcBef>
              <a:buFont typeface="Wingdings" panose="05000000000000000000" pitchFamily="2" charset="2"/>
              <a:buChar char=""/>
            </a:pPr>
            <a:r>
              <a:rPr lang="zh-CN" altLang="zh-CN" sz="2200" b="1" dirty="0">
                <a:latin typeface="Arial" panose="020B0604020202020204" pitchFamily="34" charset="0"/>
                <a:cs typeface="Arial" panose="020B0604020202020204" pitchFamily="34" charset="0"/>
              </a:rPr>
              <a:t>R </a:t>
            </a:r>
            <a:r>
              <a:rPr lang="zh-CN" altLang="zh-CN" sz="22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∪</a:t>
            </a:r>
            <a:r>
              <a:rPr lang="zh-CN" altLang="zh-CN" sz="2200" b="1" dirty="0">
                <a:latin typeface="Arial" panose="020B0604020202020204" pitchFamily="34" charset="0"/>
                <a:cs typeface="Arial" panose="020B0604020202020204" pitchFamily="34" charset="0"/>
              </a:rPr>
              <a:t>S </a:t>
            </a:r>
            <a:r>
              <a:rPr lang="zh-CN" altLang="zh-CN" sz="22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与 </a:t>
            </a:r>
            <a:r>
              <a:rPr lang="zh-CN" altLang="zh-CN" sz="2200" b="1" dirty="0">
                <a:latin typeface="Arial" panose="020B0604020202020204" pitchFamily="34" charset="0"/>
                <a:cs typeface="Arial" panose="020B0604020202020204" pitchFamily="34" charset="0"/>
              </a:rPr>
              <a:t>S </a:t>
            </a:r>
            <a:r>
              <a:rPr lang="zh-CN" altLang="zh-CN" sz="22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∪</a:t>
            </a:r>
            <a:r>
              <a:rPr lang="zh-CN" altLang="zh-CN" sz="2200" b="1" dirty="0">
                <a:latin typeface="Arial" panose="020B0604020202020204" pitchFamily="34" charset="0"/>
                <a:cs typeface="Arial" panose="020B0604020202020204" pitchFamily="34" charset="0"/>
              </a:rPr>
              <a:t>R </a:t>
            </a:r>
            <a:r>
              <a:rPr lang="zh-CN" altLang="zh-CN" sz="22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运算的结果是同一个关系</a:t>
            </a:r>
            <a:endParaRPr lang="zh-CN" altLang="zh-CN" sz="22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05118" y="643684"/>
            <a:ext cx="3402905" cy="493941"/>
          </a:xfrm>
          <a:prstGeom prst="rect">
            <a:avLst/>
          </a:prstGeom>
        </p:spPr>
        <p:txBody>
          <a:bodyPr wrap="square" lIns="0" tIns="62444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</a:pPr>
            <a:r>
              <a:rPr lang="zh-CN" altLang="zh-CN" sz="28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(1) “</a:t>
            </a:r>
            <a:r>
              <a:rPr lang="zh-CN" altLang="zh-CN" sz="2800" b="1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并</a:t>
            </a:r>
            <a:r>
              <a:rPr lang="zh-CN" altLang="zh-CN" sz="28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r>
              <a:rPr lang="zh-CN" altLang="zh-CN" sz="2800" b="1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操作</a:t>
            </a:r>
            <a:endParaRPr lang="zh-CN" altLang="zh-CN" sz="28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250825" y="6303864"/>
            <a:ext cx="585788" cy="457200"/>
          </a:xfrm>
        </p:spPr>
        <p:txBody>
          <a:bodyPr/>
          <a:lstStyle/>
          <a:p>
            <a:pPr>
              <a:defRPr/>
            </a:pPr>
            <a:fld id="{D02E7998-F56A-45D4-984E-4E67E3C944B8}" type="slidenum">
              <a:rPr lang="en-US" altLang="zh-CN" smtClean="0"/>
              <a:pPr>
                <a:defRPr/>
              </a:pPr>
              <a:t>9</a:t>
            </a:fld>
            <a:endParaRPr lang="en-US" altLang="zh-CN"/>
          </a:p>
        </p:txBody>
      </p:sp>
      <p:sp>
        <p:nvSpPr>
          <p:cNvPr id="11" name="矩形 10"/>
          <p:cNvSpPr/>
          <p:nvPr/>
        </p:nvSpPr>
        <p:spPr>
          <a:xfrm>
            <a:off x="5203846" y="5401850"/>
            <a:ext cx="3898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/>
            <a:r>
              <a:rPr lang="zh-CN" altLang="zh-CN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</a:p>
        </p:txBody>
      </p:sp>
      <p:sp>
        <p:nvSpPr>
          <p:cNvPr id="13" name="矩形 12"/>
          <p:cNvSpPr/>
          <p:nvPr/>
        </p:nvSpPr>
        <p:spPr>
          <a:xfrm>
            <a:off x="4076628" y="6308706"/>
            <a:ext cx="8162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hangingPunct="1"/>
            <a:r>
              <a:rPr lang="zh-CN" altLang="zh-CN" b="1" dirty="0">
                <a:cs typeface="Times New Roman" panose="02020603050405020304" pitchFamily="18" charset="0"/>
              </a:rPr>
              <a:t>R</a:t>
            </a:r>
            <a:r>
              <a:rPr lang="zh-CN" altLang="zh-CN" b="1" dirty="0">
                <a:latin typeface="Symbol" panose="05050102010706020507" pitchFamily="18" charset="2"/>
              </a:rPr>
              <a:t></a:t>
            </a:r>
            <a:r>
              <a:rPr lang="zh-CN" altLang="zh-CN" b="1" dirty="0">
                <a:cs typeface="Times New Roman" panose="02020603050405020304" pitchFamily="18" charset="0"/>
              </a:rPr>
              <a:t>S</a:t>
            </a:r>
            <a:endParaRPr lang="zh-CN" altLang="zh-CN" dirty="0">
              <a:cs typeface="Times New Roman" panose="02020603050405020304" pitchFamily="18" charset="0"/>
            </a:endParaRPr>
          </a:p>
        </p:txBody>
      </p:sp>
      <p:sp>
        <p:nvSpPr>
          <p:cNvPr id="2" name="椭圆 1"/>
          <p:cNvSpPr/>
          <p:nvPr/>
        </p:nvSpPr>
        <p:spPr bwMode="auto">
          <a:xfrm>
            <a:off x="3329445" y="5265577"/>
            <a:ext cx="1481138" cy="921044"/>
          </a:xfrm>
          <a:prstGeom prst="ellips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342900" marR="0" indent="-3429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3740654" y="5440503"/>
            <a:ext cx="4074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endParaRPr lang="zh-CN" altLang="en-US" dirty="0"/>
          </a:p>
        </p:txBody>
      </p:sp>
      <p:cxnSp>
        <p:nvCxnSpPr>
          <p:cNvPr id="16" name="直接连接符 15"/>
          <p:cNvCxnSpPr/>
          <p:nvPr/>
        </p:nvCxnSpPr>
        <p:spPr bwMode="auto">
          <a:xfrm>
            <a:off x="4357688" y="5157192"/>
            <a:ext cx="0" cy="1029429"/>
          </a:xfrm>
          <a:prstGeom prst="line">
            <a:avLst/>
          </a:prstGeom>
          <a:gradFill rotWithShape="0">
            <a:gsLst>
              <a:gs pos="0">
                <a:srgbClr val="FFFFFF"/>
              </a:gs>
              <a:gs pos="100000">
                <a:srgbClr val="FFFFFF">
                  <a:gamma/>
                  <a:shade val="73333"/>
                  <a:invGamma/>
                </a:srgbClr>
              </a:gs>
            </a:gsLst>
            <a:lin ang="5400000" scaled="1"/>
          </a:gra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543719" y="1628800"/>
            <a:ext cx="8134796" cy="1012202"/>
          </a:xfrm>
          <a:prstGeom prst="rect">
            <a:avLst/>
          </a:prstGeom>
        </p:spPr>
        <p:txBody>
          <a:bodyPr wrap="square" lIns="0" tIns="143893" rIns="0" bIns="0">
            <a:spAutoFit/>
          </a:bodyPr>
          <a:lstStyle>
            <a:lvl1pPr marL="242888" indent="-231775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1138"/>
              </a:spcBef>
              <a:buFont typeface="Wingdings" panose="05000000000000000000" pitchFamily="2" charset="2"/>
              <a:buChar char=""/>
            </a:pPr>
            <a:r>
              <a:rPr lang="zh-CN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并操作的示例一</a:t>
            </a:r>
            <a:r>
              <a:rPr lang="zh-CN" altLang="zh-CN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zh-CN" altLang="zh-CN" b="1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抽象的</a:t>
            </a:r>
            <a:r>
              <a:rPr lang="zh-CN" altLang="zh-CN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zh-CN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113" indent="0" eaLnBrk="1" hangingPunct="1">
              <a:spcBef>
                <a:spcPts val="1038"/>
              </a:spcBef>
            </a:pPr>
            <a:r>
              <a:rPr lang="en-US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zh-CN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假设</a:t>
            </a:r>
            <a:r>
              <a:rPr lang="zh-CN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zh-CN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与</a:t>
            </a:r>
            <a:r>
              <a:rPr lang="zh-CN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zh-CN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是并相容的两个关系，则</a:t>
            </a:r>
            <a:r>
              <a:rPr lang="zh-CN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R </a:t>
            </a:r>
            <a:r>
              <a:rPr lang="zh-CN" altLang="zh-CN" b="1" dirty="0">
                <a:latin typeface="Symbol" panose="05050102010706020507" pitchFamily="18" charset="2"/>
              </a:rPr>
              <a:t></a:t>
            </a:r>
            <a:r>
              <a:rPr lang="zh-CN" altLang="zh-CN" b="1" dirty="0">
                <a:cs typeface="Times New Roman" panose="02020603050405020304" pitchFamily="18" charset="0"/>
              </a:rPr>
              <a:t> </a:t>
            </a:r>
            <a:r>
              <a:rPr lang="zh-CN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zh-CN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是几个元组呢</a:t>
            </a:r>
            <a:r>
              <a:rPr lang="zh-CN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zh-CN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165225" y="3495675"/>
            <a:ext cx="1384300" cy="13366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7" name="object 7"/>
          <p:cNvSpPr/>
          <p:nvPr/>
        </p:nvSpPr>
        <p:spPr>
          <a:xfrm>
            <a:off x="3022600" y="3486150"/>
            <a:ext cx="1384300" cy="159702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8" name="object 8"/>
          <p:cNvSpPr/>
          <p:nvPr/>
        </p:nvSpPr>
        <p:spPr>
          <a:xfrm>
            <a:off x="5754688" y="3459163"/>
            <a:ext cx="1392237" cy="186531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0" name="object 10"/>
          <p:cNvSpPr txBox="1"/>
          <p:nvPr/>
        </p:nvSpPr>
        <p:spPr>
          <a:xfrm>
            <a:off x="1115616" y="746145"/>
            <a:ext cx="4350122" cy="441305"/>
          </a:xfrm>
          <a:prstGeom prst="rect">
            <a:avLst/>
          </a:prstGeom>
        </p:spPr>
        <p:txBody>
          <a:bodyPr wrap="square" lIns="0" tIns="10317" rIns="0" bIns="0">
            <a:spAutoFit/>
          </a:bodyPr>
          <a:lstStyle>
            <a:lvl1pPr marL="952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75"/>
              </a:spcBef>
            </a:pPr>
            <a:r>
              <a:rPr lang="zh-CN" altLang="zh-CN" sz="28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(1) “</a:t>
            </a:r>
            <a:r>
              <a:rPr lang="zh-CN" altLang="zh-CN" sz="2800" b="1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并</a:t>
            </a:r>
            <a:r>
              <a:rPr lang="zh-CN" altLang="zh-CN" sz="28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r>
              <a:rPr lang="zh-CN" altLang="zh-CN" sz="2800" b="1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操作</a:t>
            </a:r>
            <a:endParaRPr lang="zh-CN" altLang="zh-CN" sz="28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A6568E1-4089-4561-919E-9D2F37D3F2B0}" type="slidenum">
              <a:rPr lang="en-US" altLang="zh-CN" smtClean="0"/>
              <a:pPr>
                <a:defRPr/>
              </a:pPr>
              <a:t>10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543719" y="1520459"/>
            <a:ext cx="8081201" cy="1006719"/>
          </a:xfrm>
          <a:prstGeom prst="rect">
            <a:avLst/>
          </a:prstGeom>
        </p:spPr>
        <p:txBody>
          <a:bodyPr wrap="square" lIns="0" tIns="138463" rIns="0" bIns="0">
            <a:spAutoFit/>
          </a:bodyPr>
          <a:lstStyle>
            <a:lvl1pPr marL="242888" indent="-231775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1088"/>
              </a:spcBef>
              <a:buFont typeface="Wingdings" panose="05000000000000000000" pitchFamily="2" charset="2"/>
              <a:buChar char=""/>
            </a:pPr>
            <a:r>
              <a:rPr lang="zh-CN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并操作的示例二</a:t>
            </a:r>
            <a:r>
              <a:rPr lang="zh-CN" altLang="zh-CN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zh-CN" altLang="zh-CN" b="1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语义的</a:t>
            </a:r>
            <a:r>
              <a:rPr lang="zh-CN" altLang="zh-CN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zh-CN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113" indent="0" eaLnBrk="1" hangingPunct="1">
              <a:spcBef>
                <a:spcPts val="1000"/>
              </a:spcBef>
            </a:pPr>
            <a:r>
              <a:rPr lang="en-US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zh-CN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查询或者参加体育队或者参加文艺队所有学生的信息</a:t>
            </a:r>
            <a:endParaRPr lang="zh-CN" altLang="zh-CN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82663" y="2871788"/>
            <a:ext cx="2060575" cy="273050"/>
          </a:xfrm>
          <a:prstGeom prst="rect">
            <a:avLst/>
          </a:prstGeom>
        </p:spPr>
        <p:txBody>
          <a:bodyPr lIns="0" tIns="10317" rIns="0" bIns="0">
            <a:spAutoFit/>
          </a:bodyPr>
          <a:lstStyle>
            <a:lvl1pPr marL="952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75"/>
              </a:spcBef>
            </a:pPr>
            <a:r>
              <a:rPr lang="zh-CN" altLang="zh-CN" sz="1700" b="1">
                <a:solidFill>
                  <a:srgbClr val="FF0065"/>
                </a:solidFill>
                <a:cs typeface="Times New Roman" panose="02020603050405020304" pitchFamily="18" charset="0"/>
              </a:rPr>
              <a:t>R(</a:t>
            </a:r>
            <a:r>
              <a:rPr lang="zh-CN" altLang="zh-CN" sz="1700" b="1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参加体育队的学生</a:t>
            </a:r>
            <a:r>
              <a:rPr lang="zh-CN" altLang="zh-CN" sz="1700" b="1">
                <a:solidFill>
                  <a:srgbClr val="FF0065"/>
                </a:solidFill>
                <a:cs typeface="Times New Roman" panose="02020603050405020304" pitchFamily="18" charset="0"/>
              </a:rPr>
              <a:t>)</a:t>
            </a:r>
            <a:endParaRPr lang="zh-CN" altLang="zh-CN" sz="1700">
              <a:cs typeface="Times New Roman" panose="02020603050405020304" pitchFamily="18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82663" y="4521200"/>
            <a:ext cx="2025650" cy="274638"/>
          </a:xfrm>
          <a:prstGeom prst="rect">
            <a:avLst/>
          </a:prstGeom>
        </p:spPr>
        <p:txBody>
          <a:bodyPr lIns="0" tIns="10317" rIns="0" bIns="0">
            <a:spAutoFit/>
          </a:bodyPr>
          <a:lstStyle>
            <a:lvl1pPr marL="952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75"/>
              </a:spcBef>
            </a:pPr>
            <a:r>
              <a:rPr lang="zh-CN" altLang="zh-CN" sz="1700" b="1">
                <a:solidFill>
                  <a:srgbClr val="FF0065"/>
                </a:solidFill>
                <a:cs typeface="Times New Roman" panose="02020603050405020304" pitchFamily="18" charset="0"/>
              </a:rPr>
              <a:t>S(</a:t>
            </a:r>
            <a:r>
              <a:rPr lang="zh-CN" altLang="zh-CN" sz="1700" b="1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参加文艺队的学生</a:t>
            </a:r>
            <a:r>
              <a:rPr lang="zh-CN" altLang="zh-CN" sz="1700" b="1">
                <a:solidFill>
                  <a:srgbClr val="FF0065"/>
                </a:solidFill>
                <a:cs typeface="Times New Roman" panose="02020603050405020304" pitchFamily="18" charset="0"/>
              </a:rPr>
              <a:t>)</a:t>
            </a:r>
            <a:endParaRPr lang="zh-CN" altLang="zh-CN" sz="1700">
              <a:cs typeface="Times New Roman" panose="02020603050405020304" pitchFamily="18" charset="0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20750" y="3182938"/>
            <a:ext cx="3306763" cy="12461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9" name="object 9"/>
          <p:cNvSpPr/>
          <p:nvPr/>
        </p:nvSpPr>
        <p:spPr>
          <a:xfrm>
            <a:off x="963613" y="4811713"/>
            <a:ext cx="3306762" cy="124618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0" name="object 10"/>
          <p:cNvSpPr txBox="1"/>
          <p:nvPr/>
        </p:nvSpPr>
        <p:spPr>
          <a:xfrm>
            <a:off x="4435475" y="3609975"/>
            <a:ext cx="3919538" cy="273050"/>
          </a:xfrm>
          <a:prstGeom prst="rect">
            <a:avLst/>
          </a:prstGeom>
        </p:spPr>
        <p:txBody>
          <a:bodyPr lIns="0" tIns="10317" rIns="0" bIns="0">
            <a:spAutoFit/>
          </a:bodyPr>
          <a:lstStyle>
            <a:lvl1pPr marL="952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75"/>
              </a:spcBef>
            </a:pPr>
            <a:r>
              <a:rPr lang="zh-CN" altLang="zh-CN" sz="1700" b="1">
                <a:solidFill>
                  <a:srgbClr val="FF0065"/>
                </a:solidFill>
                <a:cs typeface="Times New Roman" panose="02020603050405020304" pitchFamily="18" charset="0"/>
              </a:rPr>
              <a:t>R</a:t>
            </a:r>
            <a:r>
              <a:rPr lang="zh-CN" altLang="zh-CN" sz="1700" b="1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∪</a:t>
            </a:r>
            <a:r>
              <a:rPr lang="zh-CN" altLang="zh-CN" sz="1700" b="1">
                <a:solidFill>
                  <a:srgbClr val="FF0065"/>
                </a:solidFill>
                <a:cs typeface="Times New Roman" panose="02020603050405020304" pitchFamily="18" charset="0"/>
              </a:rPr>
              <a:t>S(</a:t>
            </a:r>
            <a:r>
              <a:rPr lang="zh-CN" altLang="zh-CN" sz="1700" b="1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或者参加体育队或者文艺队的学生</a:t>
            </a:r>
            <a:r>
              <a:rPr lang="zh-CN" altLang="zh-CN" sz="1700" b="1">
                <a:solidFill>
                  <a:srgbClr val="FF0065"/>
                </a:solidFill>
                <a:cs typeface="Times New Roman" panose="02020603050405020304" pitchFamily="18" charset="0"/>
              </a:rPr>
              <a:t>)</a:t>
            </a:r>
            <a:endParaRPr lang="zh-CN" altLang="zh-CN" sz="1700">
              <a:cs typeface="Times New Roman" panose="02020603050405020304" pitchFamily="18" charset="0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732338" y="3917950"/>
            <a:ext cx="3306762" cy="177482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4" name="灯片编号占位符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A6568E1-4089-4561-919E-9D2F37D3F2B0}" type="slidenum">
              <a:rPr lang="en-US" altLang="zh-CN" smtClean="0"/>
              <a:pPr>
                <a:defRPr/>
              </a:pPr>
              <a:t>11</a:t>
            </a:fld>
            <a:endParaRPr lang="en-US" altLang="zh-CN" dirty="0"/>
          </a:p>
        </p:txBody>
      </p:sp>
      <p:sp>
        <p:nvSpPr>
          <p:cNvPr id="15" name="标题 14"/>
          <p:cNvSpPr>
            <a:spLocks noGrp="1"/>
          </p:cNvSpPr>
          <p:nvPr>
            <p:ph type="title"/>
          </p:nvPr>
        </p:nvSpPr>
        <p:spPr>
          <a:xfrm>
            <a:off x="1043608" y="685800"/>
            <a:ext cx="7262192" cy="563563"/>
          </a:xfrm>
        </p:spPr>
        <p:txBody>
          <a:bodyPr/>
          <a:lstStyle/>
          <a:p>
            <a:pPr algn="l"/>
            <a:r>
              <a:rPr lang="en-US" altLang="zh-CN" sz="28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zh-CN" altLang="zh-CN" sz="28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1) “</a:t>
            </a:r>
            <a:r>
              <a:rPr lang="zh-CN" altLang="zh-CN" sz="2800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并</a:t>
            </a:r>
            <a:r>
              <a:rPr lang="zh-CN" altLang="zh-CN" sz="28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r>
              <a:rPr lang="zh-CN" altLang="zh-CN" sz="2800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操作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539552" y="1628800"/>
            <a:ext cx="8208912" cy="3647405"/>
          </a:xfrm>
          <a:prstGeom prst="rect">
            <a:avLst/>
          </a:prstGeom>
        </p:spPr>
        <p:txBody>
          <a:bodyPr wrap="square" lIns="0" tIns="89594" rIns="0" bIns="0">
            <a:spAutoFit/>
          </a:bodyPr>
          <a:lstStyle>
            <a:lvl1pPr marL="242888" indent="-242888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ts val="700"/>
              </a:spcBef>
              <a:buFont typeface="Wingdings" panose="05000000000000000000" pitchFamily="2" charset="2"/>
              <a:buChar char=""/>
            </a:pPr>
            <a:r>
              <a:rPr lang="zh-CN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并操作的示例三</a:t>
            </a:r>
            <a:r>
              <a:rPr lang="zh-CN" altLang="zh-CN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zh-CN" altLang="zh-CN" b="1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语义的</a:t>
            </a:r>
            <a:r>
              <a:rPr lang="zh-CN" altLang="zh-CN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zh-CN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eaLnBrk="1" hangingPunct="1">
              <a:lnSpc>
                <a:spcPct val="110000"/>
              </a:lnSpc>
              <a:spcBef>
                <a:spcPts val="188"/>
              </a:spcBef>
              <a:buClr>
                <a:srgbClr val="000000"/>
              </a:buClr>
              <a:buFont typeface="+mj-ea"/>
              <a:buAutoNum type="circleNumDbPlain"/>
            </a:pPr>
            <a:r>
              <a:rPr lang="zh-CN" altLang="zh-CN" sz="2200" b="1" dirty="0">
                <a:solidFill>
                  <a:srgbClr val="6565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若</a:t>
            </a:r>
            <a:r>
              <a:rPr lang="zh-CN" altLang="zh-CN" sz="2200" b="1" dirty="0">
                <a:solidFill>
                  <a:srgbClr val="6565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zh-CN" altLang="zh-CN" sz="2200" b="1" dirty="0">
                <a:solidFill>
                  <a:srgbClr val="6565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为计算机学院的学生，</a:t>
            </a:r>
            <a:r>
              <a:rPr lang="zh-CN" altLang="zh-CN" sz="2200" b="1" dirty="0">
                <a:solidFill>
                  <a:srgbClr val="6565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zh-CN" altLang="zh-CN" sz="2200" b="1" dirty="0">
                <a:solidFill>
                  <a:srgbClr val="6565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为材料学院的学生 则：</a:t>
            </a:r>
            <a:r>
              <a:rPr lang="zh-CN" altLang="zh-CN" sz="2200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 </a:t>
            </a:r>
            <a:r>
              <a:rPr lang="zh-CN" altLang="zh-CN" sz="2200" b="1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∪</a:t>
            </a:r>
            <a:r>
              <a:rPr lang="zh-CN" altLang="zh-CN" sz="2200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zh-CN" altLang="zh-CN" sz="2200" b="1" dirty="0">
                <a:solidFill>
                  <a:srgbClr val="6565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为两院所有的学生</a:t>
            </a:r>
            <a:endParaRPr lang="zh-CN" altLang="zh-CN" sz="22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marL="457200" indent="-457200" eaLnBrk="1" hangingPunct="1">
              <a:lnSpc>
                <a:spcPct val="110000"/>
              </a:lnSpc>
              <a:spcBef>
                <a:spcPts val="425"/>
              </a:spcBef>
              <a:buFont typeface="+mj-ea"/>
              <a:buAutoNum type="circleNumDbPlain"/>
            </a:pPr>
            <a:r>
              <a:rPr lang="zh-CN" altLang="zh-CN" sz="2200" b="1" dirty="0">
                <a:solidFill>
                  <a:srgbClr val="6565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若</a:t>
            </a:r>
            <a:r>
              <a:rPr lang="zh-CN" altLang="zh-CN" sz="2200" b="1" dirty="0">
                <a:solidFill>
                  <a:srgbClr val="6565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zh-CN" altLang="zh-CN" sz="2200" b="1" dirty="0">
                <a:solidFill>
                  <a:srgbClr val="6565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为学过数据库课程的学生，</a:t>
            </a:r>
            <a:r>
              <a:rPr lang="zh-CN" altLang="zh-CN" sz="2200" b="1" dirty="0">
                <a:solidFill>
                  <a:srgbClr val="6565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zh-CN" altLang="zh-CN" sz="2200" b="1" dirty="0">
                <a:solidFill>
                  <a:srgbClr val="6565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为学过自控理论课程的学生</a:t>
            </a:r>
            <a:r>
              <a:rPr lang="en-US" altLang="zh-CN" sz="2200" b="1" dirty="0">
                <a:solidFill>
                  <a:srgbClr val="6565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, </a:t>
            </a:r>
            <a:r>
              <a:rPr lang="zh-CN" altLang="zh-CN" sz="2200" b="1" dirty="0">
                <a:solidFill>
                  <a:srgbClr val="6565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则：</a:t>
            </a:r>
            <a:r>
              <a:rPr lang="zh-CN" altLang="zh-CN" sz="2200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zh-CN" altLang="zh-CN" sz="2200" b="1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∪</a:t>
            </a:r>
            <a:r>
              <a:rPr lang="zh-CN" altLang="zh-CN" sz="2200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zh-CN" altLang="zh-CN" sz="2200" b="1" dirty="0">
                <a:solidFill>
                  <a:srgbClr val="6565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为学过两门课之一的所有学生</a:t>
            </a:r>
            <a:endParaRPr lang="zh-CN" altLang="zh-CN" sz="22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eaLnBrk="1" hangingPunct="1">
              <a:lnSpc>
                <a:spcPct val="110000"/>
              </a:lnSpc>
              <a:spcBef>
                <a:spcPts val="625"/>
              </a:spcBef>
              <a:buFont typeface="Wingdings" panose="05000000000000000000" pitchFamily="2" charset="2"/>
              <a:buChar char=""/>
            </a:pPr>
            <a:r>
              <a:rPr lang="zh-CN" altLang="zh-CN" sz="26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汉语中的</a:t>
            </a:r>
            <a:r>
              <a:rPr lang="zh-CN" altLang="zh-CN" sz="2600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zh-CN" altLang="zh-CN" sz="2600" b="1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或者</a:t>
            </a:r>
            <a:r>
              <a:rPr lang="zh-CN" altLang="zh-CN" sz="2600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r>
              <a:rPr lang="zh-CN" altLang="zh-CN" sz="2600" b="1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或者</a:t>
            </a:r>
            <a:r>
              <a:rPr lang="zh-CN" altLang="zh-CN" sz="2600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…”</a:t>
            </a:r>
            <a:r>
              <a:rPr lang="zh-CN" altLang="zh-CN" sz="26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通常意义是</a:t>
            </a:r>
            <a:r>
              <a:rPr lang="zh-CN" altLang="zh-CN" sz="2600" b="1" dirty="0">
                <a:solidFill>
                  <a:srgbClr val="C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并</a:t>
            </a:r>
            <a:r>
              <a:rPr lang="zh-CN" altLang="zh-CN" sz="26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运算的要求。</a:t>
            </a:r>
            <a:endParaRPr lang="zh-CN" altLang="zh-CN" sz="26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eaLnBrk="1" hangingPunct="1">
              <a:lnSpc>
                <a:spcPct val="110000"/>
              </a:lnSpc>
              <a:spcBef>
                <a:spcPts val="613"/>
              </a:spcBef>
              <a:buClr>
                <a:srgbClr val="000000"/>
              </a:buClr>
              <a:buFont typeface="Wingdings" panose="05000000000000000000" pitchFamily="2" charset="2"/>
              <a:buChar char=""/>
            </a:pPr>
            <a:r>
              <a:rPr lang="zh-CN" altLang="zh-CN" b="1" u="sng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首先要准确理解汉语的查询要求，然后再找到正确的操作</a:t>
            </a:r>
            <a:endParaRPr lang="zh-CN" altLang="zh-CN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eaLnBrk="1" hangingPunct="1">
              <a:lnSpc>
                <a:spcPct val="110000"/>
              </a:lnSpc>
              <a:spcBef>
                <a:spcPts val="625"/>
              </a:spcBef>
              <a:buFont typeface="Wingdings" panose="05000000000000000000" pitchFamily="2" charset="2"/>
              <a:buChar char=""/>
            </a:pPr>
            <a:r>
              <a:rPr lang="zh-CN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同学可举出更多的示例</a:t>
            </a:r>
            <a:r>
              <a:rPr lang="zh-CN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zh-CN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A6568E1-4089-4561-919E-9D2F37D3F2B0}" type="slidenum">
              <a:rPr lang="en-US" altLang="zh-CN" smtClean="0"/>
              <a:pPr>
                <a:defRPr/>
              </a:pPr>
              <a:t>12</a:t>
            </a:fld>
            <a:endParaRPr lang="en-US" altLang="zh-CN" dirty="0"/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1187624" y="685800"/>
            <a:ext cx="7118176" cy="563563"/>
          </a:xfrm>
        </p:spPr>
        <p:txBody>
          <a:bodyPr/>
          <a:lstStyle/>
          <a:p>
            <a:pPr algn="l"/>
            <a:r>
              <a:rPr lang="en-US" altLang="zh-CN" sz="28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zh-CN" altLang="zh-CN" sz="28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1) “</a:t>
            </a:r>
            <a:r>
              <a:rPr lang="zh-CN" altLang="zh-CN" sz="2800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并</a:t>
            </a:r>
            <a:r>
              <a:rPr lang="zh-CN" altLang="zh-CN" sz="28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r>
              <a:rPr lang="zh-CN" altLang="zh-CN" sz="2800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操作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/>
          <p:cNvSpPr/>
          <p:nvPr/>
        </p:nvSpPr>
        <p:spPr bwMode="auto">
          <a:xfrm>
            <a:off x="0" y="4734286"/>
            <a:ext cx="9144000" cy="211336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FFFFFF">
                  <a:gamma/>
                  <a:shade val="73333"/>
                  <a:invGamma/>
                </a:srgbClr>
              </a:gs>
            </a:gsLst>
            <a:lin ang="5400000" scaled="1"/>
          </a:gra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342900" marR="0" indent="-3429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12428" y="1497243"/>
            <a:ext cx="8496944" cy="2830805"/>
          </a:xfrm>
          <a:prstGeom prst="rect">
            <a:avLst/>
          </a:prstGeom>
        </p:spPr>
        <p:txBody>
          <a:bodyPr wrap="square" lIns="0" tIns="10317" rIns="0" bIns="0">
            <a:spAutoFit/>
          </a:bodyPr>
          <a:lstStyle>
            <a:lvl1pPr marL="952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75"/>
              </a:spcBef>
            </a:pPr>
            <a:r>
              <a:rPr lang="zh-CN" altLang="zh-CN" sz="27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差(Difference)</a:t>
            </a:r>
            <a:endParaRPr lang="zh-CN" altLang="zh-CN" sz="27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eaLnBrk="1" hangingPunct="1">
              <a:lnSpc>
                <a:spcPct val="133000"/>
              </a:lnSpc>
              <a:spcBef>
                <a:spcPts val="1438"/>
              </a:spcBef>
              <a:buClr>
                <a:srgbClr val="000000"/>
              </a:buClr>
              <a:buFont typeface="Wingdings" panose="05000000000000000000" pitchFamily="2" charset="2"/>
              <a:buChar char=""/>
            </a:pPr>
            <a:r>
              <a:rPr lang="zh-CN" altLang="zh-CN" sz="2200" b="1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定义</a:t>
            </a:r>
            <a:r>
              <a:rPr lang="zh-CN" altLang="zh-CN" sz="22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：假设关系</a:t>
            </a:r>
            <a:r>
              <a:rPr lang="zh-CN" altLang="zh-CN" sz="2200" b="1" dirty="0">
                <a:latin typeface="Arial" panose="020B0604020202020204" pitchFamily="34" charset="0"/>
                <a:cs typeface="Arial" panose="020B0604020202020204" pitchFamily="34" charset="0"/>
              </a:rPr>
              <a:t>R </a:t>
            </a:r>
            <a:r>
              <a:rPr lang="zh-CN" altLang="zh-CN" sz="22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和关系</a:t>
            </a:r>
            <a:r>
              <a:rPr lang="zh-CN" altLang="zh-CN" sz="2200" b="1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zh-CN" altLang="zh-CN" sz="22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是并相容的，则关系</a:t>
            </a:r>
            <a:r>
              <a:rPr lang="zh-CN" altLang="zh-CN" sz="2200" b="1" dirty="0">
                <a:latin typeface="Arial" panose="020B0604020202020204" pitchFamily="34" charset="0"/>
                <a:cs typeface="Arial" panose="020B0604020202020204" pitchFamily="34" charset="0"/>
              </a:rPr>
              <a:t>R </a:t>
            </a:r>
            <a:r>
              <a:rPr lang="zh-CN" altLang="zh-CN" sz="22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与关系</a:t>
            </a:r>
            <a:r>
              <a:rPr lang="zh-CN" altLang="zh-CN" sz="2200" b="1" dirty="0">
                <a:latin typeface="Arial" panose="020B0604020202020204" pitchFamily="34" charset="0"/>
                <a:cs typeface="Arial" panose="020B0604020202020204" pitchFamily="34" charset="0"/>
              </a:rPr>
              <a:t>S </a:t>
            </a:r>
            <a:r>
              <a:rPr lang="zh-CN" altLang="zh-CN" sz="22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的差运算结果 也是一个关系，记作：</a:t>
            </a:r>
            <a:r>
              <a:rPr lang="zh-CN" altLang="zh-CN" sz="2200" b="1" dirty="0">
                <a:latin typeface="Arial" panose="020B0604020202020204" pitchFamily="34" charset="0"/>
                <a:cs typeface="Arial" panose="020B0604020202020204" pitchFamily="34" charset="0"/>
              </a:rPr>
              <a:t>R </a:t>
            </a:r>
            <a:r>
              <a:rPr lang="zh-CN" altLang="zh-CN" sz="2200" b="1" dirty="0">
                <a:latin typeface="Symbol" panose="05050102010706020507" pitchFamily="18" charset="2"/>
              </a:rPr>
              <a:t></a:t>
            </a:r>
            <a:r>
              <a:rPr lang="zh-CN" altLang="zh-CN" sz="2200" b="1" dirty="0">
                <a:cs typeface="Times New Roman" panose="02020603050405020304" pitchFamily="18" charset="0"/>
              </a:rPr>
              <a:t> </a:t>
            </a:r>
            <a:r>
              <a:rPr lang="zh-CN" altLang="zh-CN" sz="2200" b="1" dirty="0">
                <a:latin typeface="Arial" panose="020B0604020202020204" pitchFamily="34" charset="0"/>
                <a:cs typeface="Arial" panose="020B0604020202020204" pitchFamily="34" charset="0"/>
              </a:rPr>
              <a:t>S, </a:t>
            </a:r>
            <a:r>
              <a:rPr lang="zh-CN" altLang="zh-CN" sz="22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它由</a:t>
            </a:r>
            <a:r>
              <a:rPr lang="zh-CN" altLang="zh-CN" sz="2200" b="1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出现在</a:t>
            </a:r>
            <a:r>
              <a:rPr lang="zh-CN" altLang="zh-CN" sz="22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关系</a:t>
            </a:r>
            <a:r>
              <a:rPr lang="zh-CN" altLang="zh-CN" sz="2200" b="1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zh-CN" altLang="zh-CN" sz="22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中</a:t>
            </a:r>
            <a:r>
              <a:rPr lang="zh-CN" altLang="zh-CN" sz="2200" b="1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但不出现在</a:t>
            </a:r>
            <a:r>
              <a:rPr lang="zh-CN" altLang="zh-CN" sz="22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关系</a:t>
            </a:r>
            <a:r>
              <a:rPr lang="zh-CN" altLang="zh-CN" sz="2200" b="1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zh-CN" altLang="zh-CN" sz="22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中的元 组构成。</a:t>
            </a:r>
            <a:endParaRPr lang="zh-CN" altLang="zh-CN" sz="22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algn="just" eaLnBrk="1" hangingPunct="1">
              <a:spcBef>
                <a:spcPts val="700"/>
              </a:spcBef>
              <a:buFont typeface="Wingdings" panose="05000000000000000000" pitchFamily="2" charset="2"/>
              <a:buChar char=""/>
            </a:pPr>
            <a:r>
              <a:rPr lang="zh-CN" altLang="zh-CN" sz="2200" b="1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数学描述</a:t>
            </a:r>
            <a:r>
              <a:rPr lang="zh-CN" altLang="zh-CN" sz="22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： </a:t>
            </a:r>
            <a:r>
              <a:rPr lang="zh-CN" altLang="zh-CN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 </a:t>
            </a:r>
            <a:r>
              <a:rPr lang="zh-CN" altLang="zh-CN" b="1" dirty="0">
                <a:solidFill>
                  <a:srgbClr val="FF0065"/>
                </a:solidFill>
                <a:latin typeface="Symbol" panose="05050102010706020507" pitchFamily="18" charset="2"/>
              </a:rPr>
              <a:t></a:t>
            </a:r>
            <a:r>
              <a:rPr lang="zh-CN" altLang="zh-CN" b="1" dirty="0">
                <a:solidFill>
                  <a:srgbClr val="FF0065"/>
                </a:solidFill>
                <a:cs typeface="Times New Roman" panose="02020603050405020304" pitchFamily="18" charset="0"/>
              </a:rPr>
              <a:t> </a:t>
            </a:r>
            <a:r>
              <a:rPr lang="zh-CN" altLang="zh-CN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 ={ t | t</a:t>
            </a:r>
            <a:r>
              <a:rPr lang="zh-CN" altLang="zh-CN" b="1" dirty="0">
                <a:solidFill>
                  <a:srgbClr val="FF0065"/>
                </a:solidFill>
                <a:latin typeface="Symbol" panose="05050102010706020507" pitchFamily="18" charset="2"/>
              </a:rPr>
              <a:t></a:t>
            </a:r>
            <a:r>
              <a:rPr lang="zh-CN" altLang="zh-CN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 </a:t>
            </a:r>
            <a:r>
              <a:rPr lang="zh-CN" altLang="zh-CN" b="1" dirty="0">
                <a:solidFill>
                  <a:srgbClr val="FF0065"/>
                </a:solidFill>
                <a:latin typeface="Symbol" panose="05050102010706020507" pitchFamily="18" charset="2"/>
              </a:rPr>
              <a:t></a:t>
            </a:r>
            <a:r>
              <a:rPr lang="zh-CN" altLang="zh-CN" b="1" dirty="0">
                <a:solidFill>
                  <a:srgbClr val="FF0065"/>
                </a:solidFill>
                <a:cs typeface="Times New Roman" panose="02020603050405020304" pitchFamily="18" charset="0"/>
              </a:rPr>
              <a:t> </a:t>
            </a:r>
            <a:r>
              <a:rPr lang="zh-CN" altLang="zh-CN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zh-CN" altLang="zh-CN" b="1" dirty="0">
                <a:solidFill>
                  <a:srgbClr val="FF0065"/>
                </a:solidFill>
                <a:latin typeface="Symbol" panose="05050102010706020507" pitchFamily="18" charset="2"/>
              </a:rPr>
              <a:t></a:t>
            </a:r>
            <a:r>
              <a:rPr lang="zh-CN" altLang="zh-CN" b="1" dirty="0">
                <a:solidFill>
                  <a:srgbClr val="FF0065"/>
                </a:solidFill>
                <a:cs typeface="Times New Roman" panose="02020603050405020304" pitchFamily="18" charset="0"/>
              </a:rPr>
              <a:t> </a:t>
            </a:r>
            <a:r>
              <a:rPr lang="zh-CN" altLang="zh-CN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 } </a:t>
            </a:r>
            <a:r>
              <a:rPr lang="zh-CN" altLang="zh-CN" sz="17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，</a:t>
            </a:r>
            <a:r>
              <a:rPr lang="zh-CN" altLang="zh-CN" sz="22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其中</a:t>
            </a:r>
            <a:r>
              <a:rPr lang="zh-CN" altLang="zh-CN" sz="2200" b="1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zh-CN" altLang="zh-CN" sz="22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是元组</a:t>
            </a:r>
            <a:endParaRPr lang="zh-CN" altLang="zh-CN" sz="22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algn="just" eaLnBrk="1" hangingPunct="1">
              <a:spcBef>
                <a:spcPts val="575"/>
              </a:spcBef>
              <a:buClr>
                <a:srgbClr val="000000"/>
              </a:buClr>
              <a:buFont typeface="Wingdings" panose="05000000000000000000" pitchFamily="2" charset="2"/>
              <a:buChar char=""/>
            </a:pPr>
            <a:r>
              <a:rPr lang="zh-CN" altLang="zh-CN" sz="2200" b="1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 </a:t>
            </a:r>
            <a:r>
              <a:rPr lang="zh-CN" altLang="zh-CN" sz="2200" b="1" dirty="0">
                <a:solidFill>
                  <a:srgbClr val="3333CC"/>
                </a:solidFill>
                <a:latin typeface="Symbol" panose="05050102010706020507" pitchFamily="18" charset="2"/>
              </a:rPr>
              <a:t></a:t>
            </a:r>
            <a:r>
              <a:rPr lang="zh-CN" altLang="zh-CN" sz="2200" b="1" dirty="0">
                <a:solidFill>
                  <a:srgbClr val="3333CC"/>
                </a:solidFill>
                <a:cs typeface="Times New Roman" panose="02020603050405020304" pitchFamily="18" charset="0"/>
              </a:rPr>
              <a:t> </a:t>
            </a:r>
            <a:r>
              <a:rPr lang="zh-CN" altLang="zh-CN" sz="2200" b="1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 </a:t>
            </a:r>
            <a:r>
              <a:rPr lang="zh-CN" altLang="zh-CN" sz="2200" b="1" dirty="0">
                <a:solidFill>
                  <a:srgbClr val="3333CC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与 </a:t>
            </a:r>
            <a:r>
              <a:rPr lang="zh-CN" altLang="zh-CN" sz="2200" b="1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 </a:t>
            </a:r>
            <a:r>
              <a:rPr lang="zh-CN" altLang="zh-CN" sz="2200" b="1" dirty="0">
                <a:solidFill>
                  <a:srgbClr val="3333CC"/>
                </a:solidFill>
                <a:latin typeface="Symbol" panose="05050102010706020507" pitchFamily="18" charset="2"/>
              </a:rPr>
              <a:t></a:t>
            </a:r>
            <a:r>
              <a:rPr lang="zh-CN" altLang="zh-CN" sz="2200" b="1" dirty="0">
                <a:solidFill>
                  <a:srgbClr val="3333CC"/>
                </a:solidFill>
                <a:cs typeface="Times New Roman" panose="02020603050405020304" pitchFamily="18" charset="0"/>
              </a:rPr>
              <a:t> </a:t>
            </a:r>
            <a:r>
              <a:rPr lang="zh-CN" altLang="zh-CN" sz="2200" b="1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 </a:t>
            </a:r>
            <a:r>
              <a:rPr lang="zh-CN" altLang="zh-CN" sz="2200" b="1" dirty="0">
                <a:solidFill>
                  <a:srgbClr val="3333CC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是不同的</a:t>
            </a:r>
            <a:endParaRPr lang="zh-CN" altLang="zh-CN" sz="22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339752" y="5010299"/>
            <a:ext cx="1498600" cy="977900"/>
          </a:xfrm>
          <a:custGeom>
            <a:avLst/>
            <a:gdLst/>
            <a:ahLst/>
            <a:cxnLst/>
            <a:rect l="l" t="t" r="r" b="b"/>
            <a:pathLst>
              <a:path w="1752600" h="1143000">
                <a:moveTo>
                  <a:pt x="1752600" y="571499"/>
                </a:moveTo>
                <a:lnTo>
                  <a:pt x="1745219" y="497029"/>
                </a:lnTo>
                <a:lnTo>
                  <a:pt x="1723694" y="425445"/>
                </a:lnTo>
                <a:lnTo>
                  <a:pt x="1688948" y="357351"/>
                </a:lnTo>
                <a:lnTo>
                  <a:pt x="1666907" y="324801"/>
                </a:lnTo>
                <a:lnTo>
                  <a:pt x="1641908" y="293351"/>
                </a:lnTo>
                <a:lnTo>
                  <a:pt x="1614066" y="263075"/>
                </a:lnTo>
                <a:lnTo>
                  <a:pt x="1583496" y="234049"/>
                </a:lnTo>
                <a:lnTo>
                  <a:pt x="1550316" y="206349"/>
                </a:lnTo>
                <a:lnTo>
                  <a:pt x="1514639" y="180050"/>
                </a:lnTo>
                <a:lnTo>
                  <a:pt x="1476582" y="155227"/>
                </a:lnTo>
                <a:lnTo>
                  <a:pt x="1436260" y="131956"/>
                </a:lnTo>
                <a:lnTo>
                  <a:pt x="1393789" y="110313"/>
                </a:lnTo>
                <a:lnTo>
                  <a:pt x="1349284" y="90372"/>
                </a:lnTo>
                <a:lnTo>
                  <a:pt x="1302861" y="72210"/>
                </a:lnTo>
                <a:lnTo>
                  <a:pt x="1254636" y="55903"/>
                </a:lnTo>
                <a:lnTo>
                  <a:pt x="1204724" y="41524"/>
                </a:lnTo>
                <a:lnTo>
                  <a:pt x="1153241" y="29151"/>
                </a:lnTo>
                <a:lnTo>
                  <a:pt x="1100302" y="18858"/>
                </a:lnTo>
                <a:lnTo>
                  <a:pt x="1046022" y="10720"/>
                </a:lnTo>
                <a:lnTo>
                  <a:pt x="990519" y="4815"/>
                </a:lnTo>
                <a:lnTo>
                  <a:pt x="933906" y="1216"/>
                </a:lnTo>
                <a:lnTo>
                  <a:pt x="876300" y="0"/>
                </a:lnTo>
                <a:lnTo>
                  <a:pt x="818693" y="1216"/>
                </a:lnTo>
                <a:lnTo>
                  <a:pt x="762080" y="4815"/>
                </a:lnTo>
                <a:lnTo>
                  <a:pt x="706577" y="10720"/>
                </a:lnTo>
                <a:lnTo>
                  <a:pt x="652297" y="18858"/>
                </a:lnTo>
                <a:lnTo>
                  <a:pt x="599358" y="29151"/>
                </a:lnTo>
                <a:lnTo>
                  <a:pt x="547875" y="41524"/>
                </a:lnTo>
                <a:lnTo>
                  <a:pt x="497963" y="55903"/>
                </a:lnTo>
                <a:lnTo>
                  <a:pt x="449738" y="72210"/>
                </a:lnTo>
                <a:lnTo>
                  <a:pt x="403315" y="90372"/>
                </a:lnTo>
                <a:lnTo>
                  <a:pt x="358810" y="110313"/>
                </a:lnTo>
                <a:lnTo>
                  <a:pt x="316339" y="131956"/>
                </a:lnTo>
                <a:lnTo>
                  <a:pt x="276017" y="155227"/>
                </a:lnTo>
                <a:lnTo>
                  <a:pt x="237960" y="180050"/>
                </a:lnTo>
                <a:lnTo>
                  <a:pt x="202283" y="206349"/>
                </a:lnTo>
                <a:lnTo>
                  <a:pt x="169103" y="234049"/>
                </a:lnTo>
                <a:lnTo>
                  <a:pt x="138533" y="263075"/>
                </a:lnTo>
                <a:lnTo>
                  <a:pt x="110691" y="293351"/>
                </a:lnTo>
                <a:lnTo>
                  <a:pt x="85692" y="324801"/>
                </a:lnTo>
                <a:lnTo>
                  <a:pt x="63651" y="357351"/>
                </a:lnTo>
                <a:lnTo>
                  <a:pt x="44683" y="390924"/>
                </a:lnTo>
                <a:lnTo>
                  <a:pt x="16432" y="460838"/>
                </a:lnTo>
                <a:lnTo>
                  <a:pt x="1864" y="533941"/>
                </a:lnTo>
                <a:lnTo>
                  <a:pt x="0" y="571500"/>
                </a:lnTo>
                <a:lnTo>
                  <a:pt x="1864" y="609058"/>
                </a:lnTo>
                <a:lnTo>
                  <a:pt x="16432" y="682161"/>
                </a:lnTo>
                <a:lnTo>
                  <a:pt x="44683" y="752075"/>
                </a:lnTo>
                <a:lnTo>
                  <a:pt x="63651" y="785648"/>
                </a:lnTo>
                <a:lnTo>
                  <a:pt x="85692" y="818198"/>
                </a:lnTo>
                <a:lnTo>
                  <a:pt x="110691" y="849648"/>
                </a:lnTo>
                <a:lnTo>
                  <a:pt x="138533" y="879924"/>
                </a:lnTo>
                <a:lnTo>
                  <a:pt x="169103" y="908950"/>
                </a:lnTo>
                <a:lnTo>
                  <a:pt x="202283" y="936650"/>
                </a:lnTo>
                <a:lnTo>
                  <a:pt x="237960" y="962949"/>
                </a:lnTo>
                <a:lnTo>
                  <a:pt x="276017" y="987772"/>
                </a:lnTo>
                <a:lnTo>
                  <a:pt x="316339" y="1011043"/>
                </a:lnTo>
                <a:lnTo>
                  <a:pt x="358810" y="1032686"/>
                </a:lnTo>
                <a:lnTo>
                  <a:pt x="403315" y="1052627"/>
                </a:lnTo>
                <a:lnTo>
                  <a:pt x="449738" y="1070789"/>
                </a:lnTo>
                <a:lnTo>
                  <a:pt x="497963" y="1087096"/>
                </a:lnTo>
                <a:lnTo>
                  <a:pt x="547875" y="1101475"/>
                </a:lnTo>
                <a:lnTo>
                  <a:pt x="599358" y="1113848"/>
                </a:lnTo>
                <a:lnTo>
                  <a:pt x="652297" y="1124141"/>
                </a:lnTo>
                <a:lnTo>
                  <a:pt x="706577" y="1132279"/>
                </a:lnTo>
                <a:lnTo>
                  <a:pt x="762080" y="1138184"/>
                </a:lnTo>
                <a:lnTo>
                  <a:pt x="818693" y="1141783"/>
                </a:lnTo>
                <a:lnTo>
                  <a:pt x="876300" y="1143000"/>
                </a:lnTo>
                <a:lnTo>
                  <a:pt x="933906" y="1141783"/>
                </a:lnTo>
                <a:lnTo>
                  <a:pt x="990519" y="1138184"/>
                </a:lnTo>
                <a:lnTo>
                  <a:pt x="1046022" y="1132279"/>
                </a:lnTo>
                <a:lnTo>
                  <a:pt x="1100302" y="1124141"/>
                </a:lnTo>
                <a:lnTo>
                  <a:pt x="1153241" y="1113848"/>
                </a:lnTo>
                <a:lnTo>
                  <a:pt x="1204724" y="1101475"/>
                </a:lnTo>
                <a:lnTo>
                  <a:pt x="1254636" y="1087096"/>
                </a:lnTo>
                <a:lnTo>
                  <a:pt x="1302861" y="1070789"/>
                </a:lnTo>
                <a:lnTo>
                  <a:pt x="1349284" y="1052627"/>
                </a:lnTo>
                <a:lnTo>
                  <a:pt x="1393789" y="1032686"/>
                </a:lnTo>
                <a:lnTo>
                  <a:pt x="1436260" y="1011043"/>
                </a:lnTo>
                <a:lnTo>
                  <a:pt x="1476582" y="987772"/>
                </a:lnTo>
                <a:lnTo>
                  <a:pt x="1514639" y="962949"/>
                </a:lnTo>
                <a:lnTo>
                  <a:pt x="1550316" y="936650"/>
                </a:lnTo>
                <a:lnTo>
                  <a:pt x="1583496" y="908950"/>
                </a:lnTo>
                <a:lnTo>
                  <a:pt x="1614066" y="879924"/>
                </a:lnTo>
                <a:lnTo>
                  <a:pt x="1641908" y="849648"/>
                </a:lnTo>
                <a:lnTo>
                  <a:pt x="1666907" y="818198"/>
                </a:lnTo>
                <a:lnTo>
                  <a:pt x="1688948" y="785648"/>
                </a:lnTo>
                <a:lnTo>
                  <a:pt x="1707916" y="752075"/>
                </a:lnTo>
                <a:lnTo>
                  <a:pt x="1736167" y="682161"/>
                </a:lnTo>
                <a:lnTo>
                  <a:pt x="1750735" y="609058"/>
                </a:lnTo>
                <a:lnTo>
                  <a:pt x="1752600" y="571499"/>
                </a:lnTo>
                <a:close/>
              </a:path>
            </a:pathLst>
          </a:custGeom>
          <a:solidFill>
            <a:srgbClr val="FFFFFF"/>
          </a:solid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2" name="object 12"/>
          <p:cNvSpPr/>
          <p:nvPr/>
        </p:nvSpPr>
        <p:spPr>
          <a:xfrm>
            <a:off x="2339752" y="5010299"/>
            <a:ext cx="1498600" cy="977900"/>
          </a:xfrm>
          <a:custGeom>
            <a:avLst/>
            <a:gdLst/>
            <a:ahLst/>
            <a:cxnLst/>
            <a:rect l="l" t="t" r="r" b="b"/>
            <a:pathLst>
              <a:path w="1752600" h="1143000">
                <a:moveTo>
                  <a:pt x="876300" y="0"/>
                </a:moveTo>
                <a:lnTo>
                  <a:pt x="818693" y="1216"/>
                </a:lnTo>
                <a:lnTo>
                  <a:pt x="762080" y="4815"/>
                </a:lnTo>
                <a:lnTo>
                  <a:pt x="706577" y="10720"/>
                </a:lnTo>
                <a:lnTo>
                  <a:pt x="652297" y="18858"/>
                </a:lnTo>
                <a:lnTo>
                  <a:pt x="599358" y="29151"/>
                </a:lnTo>
                <a:lnTo>
                  <a:pt x="547875" y="41524"/>
                </a:lnTo>
                <a:lnTo>
                  <a:pt x="497963" y="55903"/>
                </a:lnTo>
                <a:lnTo>
                  <a:pt x="449738" y="72210"/>
                </a:lnTo>
                <a:lnTo>
                  <a:pt x="403315" y="90372"/>
                </a:lnTo>
                <a:lnTo>
                  <a:pt x="358810" y="110313"/>
                </a:lnTo>
                <a:lnTo>
                  <a:pt x="316339" y="131956"/>
                </a:lnTo>
                <a:lnTo>
                  <a:pt x="276017" y="155227"/>
                </a:lnTo>
                <a:lnTo>
                  <a:pt x="237960" y="180050"/>
                </a:lnTo>
                <a:lnTo>
                  <a:pt x="202283" y="206349"/>
                </a:lnTo>
                <a:lnTo>
                  <a:pt x="169103" y="234049"/>
                </a:lnTo>
                <a:lnTo>
                  <a:pt x="138533" y="263075"/>
                </a:lnTo>
                <a:lnTo>
                  <a:pt x="110691" y="293351"/>
                </a:lnTo>
                <a:lnTo>
                  <a:pt x="85692" y="324801"/>
                </a:lnTo>
                <a:lnTo>
                  <a:pt x="63651" y="357351"/>
                </a:lnTo>
                <a:lnTo>
                  <a:pt x="44683" y="390924"/>
                </a:lnTo>
                <a:lnTo>
                  <a:pt x="16432" y="460838"/>
                </a:lnTo>
                <a:lnTo>
                  <a:pt x="1864" y="533941"/>
                </a:lnTo>
                <a:lnTo>
                  <a:pt x="0" y="571500"/>
                </a:lnTo>
                <a:lnTo>
                  <a:pt x="1864" y="609058"/>
                </a:lnTo>
                <a:lnTo>
                  <a:pt x="16432" y="682161"/>
                </a:lnTo>
                <a:lnTo>
                  <a:pt x="44683" y="752075"/>
                </a:lnTo>
                <a:lnTo>
                  <a:pt x="63651" y="785648"/>
                </a:lnTo>
                <a:lnTo>
                  <a:pt x="85692" y="818198"/>
                </a:lnTo>
                <a:lnTo>
                  <a:pt x="110691" y="849648"/>
                </a:lnTo>
                <a:lnTo>
                  <a:pt x="138533" y="879924"/>
                </a:lnTo>
                <a:lnTo>
                  <a:pt x="169103" y="908950"/>
                </a:lnTo>
                <a:lnTo>
                  <a:pt x="202283" y="936650"/>
                </a:lnTo>
                <a:lnTo>
                  <a:pt x="237960" y="962949"/>
                </a:lnTo>
                <a:lnTo>
                  <a:pt x="276017" y="987772"/>
                </a:lnTo>
                <a:lnTo>
                  <a:pt x="316339" y="1011043"/>
                </a:lnTo>
                <a:lnTo>
                  <a:pt x="358810" y="1032686"/>
                </a:lnTo>
                <a:lnTo>
                  <a:pt x="403315" y="1052627"/>
                </a:lnTo>
                <a:lnTo>
                  <a:pt x="449738" y="1070789"/>
                </a:lnTo>
                <a:lnTo>
                  <a:pt x="497963" y="1087096"/>
                </a:lnTo>
                <a:lnTo>
                  <a:pt x="547875" y="1101475"/>
                </a:lnTo>
                <a:lnTo>
                  <a:pt x="599358" y="1113848"/>
                </a:lnTo>
                <a:lnTo>
                  <a:pt x="652297" y="1124141"/>
                </a:lnTo>
                <a:lnTo>
                  <a:pt x="706577" y="1132279"/>
                </a:lnTo>
                <a:lnTo>
                  <a:pt x="762080" y="1138184"/>
                </a:lnTo>
                <a:lnTo>
                  <a:pt x="818693" y="1141783"/>
                </a:lnTo>
                <a:lnTo>
                  <a:pt x="876300" y="1143000"/>
                </a:lnTo>
                <a:lnTo>
                  <a:pt x="933906" y="1141783"/>
                </a:lnTo>
                <a:lnTo>
                  <a:pt x="990519" y="1138184"/>
                </a:lnTo>
                <a:lnTo>
                  <a:pt x="1046022" y="1132279"/>
                </a:lnTo>
                <a:lnTo>
                  <a:pt x="1100302" y="1124141"/>
                </a:lnTo>
                <a:lnTo>
                  <a:pt x="1153241" y="1113848"/>
                </a:lnTo>
                <a:lnTo>
                  <a:pt x="1204724" y="1101475"/>
                </a:lnTo>
                <a:lnTo>
                  <a:pt x="1254636" y="1087096"/>
                </a:lnTo>
                <a:lnTo>
                  <a:pt x="1302861" y="1070789"/>
                </a:lnTo>
                <a:lnTo>
                  <a:pt x="1349284" y="1052627"/>
                </a:lnTo>
                <a:lnTo>
                  <a:pt x="1393789" y="1032686"/>
                </a:lnTo>
                <a:lnTo>
                  <a:pt x="1436260" y="1011043"/>
                </a:lnTo>
                <a:lnTo>
                  <a:pt x="1476582" y="987772"/>
                </a:lnTo>
                <a:lnTo>
                  <a:pt x="1514639" y="962949"/>
                </a:lnTo>
                <a:lnTo>
                  <a:pt x="1550316" y="936650"/>
                </a:lnTo>
                <a:lnTo>
                  <a:pt x="1583496" y="908950"/>
                </a:lnTo>
                <a:lnTo>
                  <a:pt x="1614066" y="879924"/>
                </a:lnTo>
                <a:lnTo>
                  <a:pt x="1641908" y="849648"/>
                </a:lnTo>
                <a:lnTo>
                  <a:pt x="1666907" y="818198"/>
                </a:lnTo>
                <a:lnTo>
                  <a:pt x="1688948" y="785648"/>
                </a:lnTo>
                <a:lnTo>
                  <a:pt x="1707916" y="752075"/>
                </a:lnTo>
                <a:lnTo>
                  <a:pt x="1736167" y="682161"/>
                </a:lnTo>
                <a:lnTo>
                  <a:pt x="1750735" y="609058"/>
                </a:lnTo>
                <a:lnTo>
                  <a:pt x="1752600" y="571499"/>
                </a:lnTo>
                <a:lnTo>
                  <a:pt x="1750735" y="533941"/>
                </a:lnTo>
                <a:lnTo>
                  <a:pt x="1736167" y="460838"/>
                </a:lnTo>
                <a:lnTo>
                  <a:pt x="1707916" y="390924"/>
                </a:lnTo>
                <a:lnTo>
                  <a:pt x="1688948" y="357351"/>
                </a:lnTo>
                <a:lnTo>
                  <a:pt x="1666907" y="324801"/>
                </a:lnTo>
                <a:lnTo>
                  <a:pt x="1641908" y="293351"/>
                </a:lnTo>
                <a:lnTo>
                  <a:pt x="1614066" y="263075"/>
                </a:lnTo>
                <a:lnTo>
                  <a:pt x="1583496" y="234049"/>
                </a:lnTo>
                <a:lnTo>
                  <a:pt x="1550316" y="206349"/>
                </a:lnTo>
                <a:lnTo>
                  <a:pt x="1514639" y="180050"/>
                </a:lnTo>
                <a:lnTo>
                  <a:pt x="1476582" y="155227"/>
                </a:lnTo>
                <a:lnTo>
                  <a:pt x="1436260" y="131956"/>
                </a:lnTo>
                <a:lnTo>
                  <a:pt x="1393789" y="110313"/>
                </a:lnTo>
                <a:lnTo>
                  <a:pt x="1349284" y="90372"/>
                </a:lnTo>
                <a:lnTo>
                  <a:pt x="1302861" y="72210"/>
                </a:lnTo>
                <a:lnTo>
                  <a:pt x="1254636" y="55903"/>
                </a:lnTo>
                <a:lnTo>
                  <a:pt x="1204724" y="41524"/>
                </a:lnTo>
                <a:lnTo>
                  <a:pt x="1153241" y="29151"/>
                </a:lnTo>
                <a:lnTo>
                  <a:pt x="1100302" y="18858"/>
                </a:lnTo>
                <a:lnTo>
                  <a:pt x="1046022" y="10720"/>
                </a:lnTo>
                <a:lnTo>
                  <a:pt x="990519" y="4815"/>
                </a:lnTo>
                <a:lnTo>
                  <a:pt x="933906" y="1216"/>
                </a:lnTo>
                <a:lnTo>
                  <a:pt x="87630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3" name="object 13"/>
          <p:cNvSpPr/>
          <p:nvPr/>
        </p:nvSpPr>
        <p:spPr>
          <a:xfrm>
            <a:off x="2598514" y="5024586"/>
            <a:ext cx="1238250" cy="957263"/>
          </a:xfrm>
          <a:custGeom>
            <a:avLst/>
            <a:gdLst/>
            <a:ahLst/>
            <a:cxnLst/>
            <a:rect l="l" t="t" r="r" b="b"/>
            <a:pathLst>
              <a:path w="1447800" h="1119504">
                <a:moveTo>
                  <a:pt x="1447800" y="559308"/>
                </a:moveTo>
                <a:lnTo>
                  <a:pt x="1445815" y="517601"/>
                </a:lnTo>
                <a:lnTo>
                  <a:pt x="1439956" y="476722"/>
                </a:lnTo>
                <a:lnTo>
                  <a:pt x="1430361" y="436777"/>
                </a:lnTo>
                <a:lnTo>
                  <a:pt x="1417171" y="397877"/>
                </a:lnTo>
                <a:lnTo>
                  <a:pt x="1400523" y="360129"/>
                </a:lnTo>
                <a:lnTo>
                  <a:pt x="1380559" y="323642"/>
                </a:lnTo>
                <a:lnTo>
                  <a:pt x="1357418" y="288524"/>
                </a:lnTo>
                <a:lnTo>
                  <a:pt x="1331238" y="254885"/>
                </a:lnTo>
                <a:lnTo>
                  <a:pt x="1302160" y="222833"/>
                </a:lnTo>
                <a:lnTo>
                  <a:pt x="1270324" y="192477"/>
                </a:lnTo>
                <a:lnTo>
                  <a:pt x="1235868" y="163925"/>
                </a:lnTo>
                <a:lnTo>
                  <a:pt x="1198933" y="137285"/>
                </a:lnTo>
                <a:lnTo>
                  <a:pt x="1159658" y="112668"/>
                </a:lnTo>
                <a:lnTo>
                  <a:pt x="1118182" y="90180"/>
                </a:lnTo>
                <a:lnTo>
                  <a:pt x="1074645" y="69931"/>
                </a:lnTo>
                <a:lnTo>
                  <a:pt x="1029186" y="52030"/>
                </a:lnTo>
                <a:lnTo>
                  <a:pt x="981946" y="36584"/>
                </a:lnTo>
                <a:lnTo>
                  <a:pt x="933063" y="23703"/>
                </a:lnTo>
                <a:lnTo>
                  <a:pt x="882678" y="13496"/>
                </a:lnTo>
                <a:lnTo>
                  <a:pt x="830929" y="6070"/>
                </a:lnTo>
                <a:lnTo>
                  <a:pt x="777956" y="1535"/>
                </a:lnTo>
                <a:lnTo>
                  <a:pt x="723900" y="0"/>
                </a:lnTo>
                <a:lnTo>
                  <a:pt x="669843" y="1535"/>
                </a:lnTo>
                <a:lnTo>
                  <a:pt x="616870" y="6070"/>
                </a:lnTo>
                <a:lnTo>
                  <a:pt x="565121" y="13496"/>
                </a:lnTo>
                <a:lnTo>
                  <a:pt x="514736" y="23703"/>
                </a:lnTo>
                <a:lnTo>
                  <a:pt x="465853" y="36584"/>
                </a:lnTo>
                <a:lnTo>
                  <a:pt x="418613" y="52030"/>
                </a:lnTo>
                <a:lnTo>
                  <a:pt x="373154" y="69931"/>
                </a:lnTo>
                <a:lnTo>
                  <a:pt x="329617" y="90180"/>
                </a:lnTo>
                <a:lnTo>
                  <a:pt x="288141" y="112668"/>
                </a:lnTo>
                <a:lnTo>
                  <a:pt x="248866" y="137285"/>
                </a:lnTo>
                <a:lnTo>
                  <a:pt x="211931" y="163925"/>
                </a:lnTo>
                <a:lnTo>
                  <a:pt x="177475" y="192477"/>
                </a:lnTo>
                <a:lnTo>
                  <a:pt x="145639" y="222833"/>
                </a:lnTo>
                <a:lnTo>
                  <a:pt x="116561" y="254885"/>
                </a:lnTo>
                <a:lnTo>
                  <a:pt x="90381" y="288524"/>
                </a:lnTo>
                <a:lnTo>
                  <a:pt x="67240" y="323642"/>
                </a:lnTo>
                <a:lnTo>
                  <a:pt x="47276" y="360129"/>
                </a:lnTo>
                <a:lnTo>
                  <a:pt x="30628" y="397877"/>
                </a:lnTo>
                <a:lnTo>
                  <a:pt x="17438" y="436777"/>
                </a:lnTo>
                <a:lnTo>
                  <a:pt x="7843" y="476722"/>
                </a:lnTo>
                <a:lnTo>
                  <a:pt x="1984" y="517601"/>
                </a:lnTo>
                <a:lnTo>
                  <a:pt x="0" y="559308"/>
                </a:lnTo>
                <a:lnTo>
                  <a:pt x="1984" y="601113"/>
                </a:lnTo>
                <a:lnTo>
                  <a:pt x="7843" y="642083"/>
                </a:lnTo>
                <a:lnTo>
                  <a:pt x="17438" y="682109"/>
                </a:lnTo>
                <a:lnTo>
                  <a:pt x="30628" y="721083"/>
                </a:lnTo>
                <a:lnTo>
                  <a:pt x="47276" y="758897"/>
                </a:lnTo>
                <a:lnTo>
                  <a:pt x="67240" y="795442"/>
                </a:lnTo>
                <a:lnTo>
                  <a:pt x="90381" y="830611"/>
                </a:lnTo>
                <a:lnTo>
                  <a:pt x="116561" y="864295"/>
                </a:lnTo>
                <a:lnTo>
                  <a:pt x="145639" y="896386"/>
                </a:lnTo>
                <a:lnTo>
                  <a:pt x="177475" y="926776"/>
                </a:lnTo>
                <a:lnTo>
                  <a:pt x="211931" y="955357"/>
                </a:lnTo>
                <a:lnTo>
                  <a:pt x="248866" y="982020"/>
                </a:lnTo>
                <a:lnTo>
                  <a:pt x="288141" y="1006657"/>
                </a:lnTo>
                <a:lnTo>
                  <a:pt x="329617" y="1029160"/>
                </a:lnTo>
                <a:lnTo>
                  <a:pt x="373154" y="1049421"/>
                </a:lnTo>
                <a:lnTo>
                  <a:pt x="418613" y="1067332"/>
                </a:lnTo>
                <a:lnTo>
                  <a:pt x="465853" y="1082784"/>
                </a:lnTo>
                <a:lnTo>
                  <a:pt x="514736" y="1095669"/>
                </a:lnTo>
                <a:lnTo>
                  <a:pt x="565121" y="1105879"/>
                </a:lnTo>
                <a:lnTo>
                  <a:pt x="616870" y="1113306"/>
                </a:lnTo>
                <a:lnTo>
                  <a:pt x="669843" y="1117842"/>
                </a:lnTo>
                <a:lnTo>
                  <a:pt x="723900" y="1119378"/>
                </a:lnTo>
                <a:lnTo>
                  <a:pt x="777956" y="1117842"/>
                </a:lnTo>
                <a:lnTo>
                  <a:pt x="830929" y="1113306"/>
                </a:lnTo>
                <a:lnTo>
                  <a:pt x="882678" y="1105879"/>
                </a:lnTo>
                <a:lnTo>
                  <a:pt x="933063" y="1095669"/>
                </a:lnTo>
                <a:lnTo>
                  <a:pt x="981946" y="1082784"/>
                </a:lnTo>
                <a:lnTo>
                  <a:pt x="1029186" y="1067332"/>
                </a:lnTo>
                <a:lnTo>
                  <a:pt x="1074645" y="1049421"/>
                </a:lnTo>
                <a:lnTo>
                  <a:pt x="1118182" y="1029160"/>
                </a:lnTo>
                <a:lnTo>
                  <a:pt x="1159658" y="1006657"/>
                </a:lnTo>
                <a:lnTo>
                  <a:pt x="1198933" y="982020"/>
                </a:lnTo>
                <a:lnTo>
                  <a:pt x="1235868" y="955357"/>
                </a:lnTo>
                <a:lnTo>
                  <a:pt x="1270324" y="926776"/>
                </a:lnTo>
                <a:lnTo>
                  <a:pt x="1302160" y="896386"/>
                </a:lnTo>
                <a:lnTo>
                  <a:pt x="1331238" y="864295"/>
                </a:lnTo>
                <a:lnTo>
                  <a:pt x="1357418" y="830611"/>
                </a:lnTo>
                <a:lnTo>
                  <a:pt x="1380559" y="795442"/>
                </a:lnTo>
                <a:lnTo>
                  <a:pt x="1400523" y="758897"/>
                </a:lnTo>
                <a:lnTo>
                  <a:pt x="1417171" y="721083"/>
                </a:lnTo>
                <a:lnTo>
                  <a:pt x="1430361" y="682109"/>
                </a:lnTo>
                <a:lnTo>
                  <a:pt x="1439956" y="642083"/>
                </a:lnTo>
                <a:lnTo>
                  <a:pt x="1445815" y="601113"/>
                </a:lnTo>
                <a:lnTo>
                  <a:pt x="1447800" y="559308"/>
                </a:lnTo>
                <a:close/>
              </a:path>
            </a:pathLst>
          </a:custGeom>
          <a:solidFill>
            <a:srgbClr val="FFFFFF"/>
          </a:solid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4" name="object 14"/>
          <p:cNvSpPr/>
          <p:nvPr/>
        </p:nvSpPr>
        <p:spPr>
          <a:xfrm>
            <a:off x="2598514" y="5024586"/>
            <a:ext cx="1238250" cy="957263"/>
          </a:xfrm>
          <a:custGeom>
            <a:avLst/>
            <a:gdLst/>
            <a:ahLst/>
            <a:cxnLst/>
            <a:rect l="l" t="t" r="r" b="b"/>
            <a:pathLst>
              <a:path w="1447800" h="1119504">
                <a:moveTo>
                  <a:pt x="723900" y="0"/>
                </a:moveTo>
                <a:lnTo>
                  <a:pt x="669843" y="1535"/>
                </a:lnTo>
                <a:lnTo>
                  <a:pt x="616870" y="6070"/>
                </a:lnTo>
                <a:lnTo>
                  <a:pt x="565121" y="13496"/>
                </a:lnTo>
                <a:lnTo>
                  <a:pt x="514736" y="23703"/>
                </a:lnTo>
                <a:lnTo>
                  <a:pt x="465853" y="36584"/>
                </a:lnTo>
                <a:lnTo>
                  <a:pt x="418613" y="52030"/>
                </a:lnTo>
                <a:lnTo>
                  <a:pt x="373154" y="69931"/>
                </a:lnTo>
                <a:lnTo>
                  <a:pt x="329617" y="90180"/>
                </a:lnTo>
                <a:lnTo>
                  <a:pt x="288141" y="112668"/>
                </a:lnTo>
                <a:lnTo>
                  <a:pt x="248866" y="137285"/>
                </a:lnTo>
                <a:lnTo>
                  <a:pt x="211931" y="163925"/>
                </a:lnTo>
                <a:lnTo>
                  <a:pt x="177475" y="192477"/>
                </a:lnTo>
                <a:lnTo>
                  <a:pt x="145639" y="222833"/>
                </a:lnTo>
                <a:lnTo>
                  <a:pt x="116561" y="254885"/>
                </a:lnTo>
                <a:lnTo>
                  <a:pt x="90381" y="288524"/>
                </a:lnTo>
                <a:lnTo>
                  <a:pt x="67240" y="323642"/>
                </a:lnTo>
                <a:lnTo>
                  <a:pt x="47276" y="360129"/>
                </a:lnTo>
                <a:lnTo>
                  <a:pt x="30628" y="397877"/>
                </a:lnTo>
                <a:lnTo>
                  <a:pt x="17438" y="436777"/>
                </a:lnTo>
                <a:lnTo>
                  <a:pt x="7843" y="476722"/>
                </a:lnTo>
                <a:lnTo>
                  <a:pt x="1984" y="517601"/>
                </a:lnTo>
                <a:lnTo>
                  <a:pt x="0" y="559308"/>
                </a:lnTo>
                <a:lnTo>
                  <a:pt x="1984" y="601113"/>
                </a:lnTo>
                <a:lnTo>
                  <a:pt x="7843" y="642083"/>
                </a:lnTo>
                <a:lnTo>
                  <a:pt x="17438" y="682109"/>
                </a:lnTo>
                <a:lnTo>
                  <a:pt x="30628" y="721083"/>
                </a:lnTo>
                <a:lnTo>
                  <a:pt x="47276" y="758897"/>
                </a:lnTo>
                <a:lnTo>
                  <a:pt x="67240" y="795442"/>
                </a:lnTo>
                <a:lnTo>
                  <a:pt x="90381" y="830611"/>
                </a:lnTo>
                <a:lnTo>
                  <a:pt x="116561" y="864295"/>
                </a:lnTo>
                <a:lnTo>
                  <a:pt x="145639" y="896386"/>
                </a:lnTo>
                <a:lnTo>
                  <a:pt x="177475" y="926776"/>
                </a:lnTo>
                <a:lnTo>
                  <a:pt x="211931" y="955357"/>
                </a:lnTo>
                <a:lnTo>
                  <a:pt x="248866" y="982020"/>
                </a:lnTo>
                <a:lnTo>
                  <a:pt x="288141" y="1006657"/>
                </a:lnTo>
                <a:lnTo>
                  <a:pt x="329617" y="1029160"/>
                </a:lnTo>
                <a:lnTo>
                  <a:pt x="373154" y="1049421"/>
                </a:lnTo>
                <a:lnTo>
                  <a:pt x="418613" y="1067332"/>
                </a:lnTo>
                <a:lnTo>
                  <a:pt x="465853" y="1082784"/>
                </a:lnTo>
                <a:lnTo>
                  <a:pt x="514736" y="1095669"/>
                </a:lnTo>
                <a:lnTo>
                  <a:pt x="565121" y="1105879"/>
                </a:lnTo>
                <a:lnTo>
                  <a:pt x="616870" y="1113306"/>
                </a:lnTo>
                <a:lnTo>
                  <a:pt x="669843" y="1117842"/>
                </a:lnTo>
                <a:lnTo>
                  <a:pt x="723900" y="1119378"/>
                </a:lnTo>
                <a:lnTo>
                  <a:pt x="777956" y="1117842"/>
                </a:lnTo>
                <a:lnTo>
                  <a:pt x="830929" y="1113306"/>
                </a:lnTo>
                <a:lnTo>
                  <a:pt x="882678" y="1105879"/>
                </a:lnTo>
                <a:lnTo>
                  <a:pt x="933063" y="1095669"/>
                </a:lnTo>
                <a:lnTo>
                  <a:pt x="981946" y="1082784"/>
                </a:lnTo>
                <a:lnTo>
                  <a:pt x="1029186" y="1067332"/>
                </a:lnTo>
                <a:lnTo>
                  <a:pt x="1074645" y="1049421"/>
                </a:lnTo>
                <a:lnTo>
                  <a:pt x="1118182" y="1029160"/>
                </a:lnTo>
                <a:lnTo>
                  <a:pt x="1159658" y="1006657"/>
                </a:lnTo>
                <a:lnTo>
                  <a:pt x="1198933" y="982020"/>
                </a:lnTo>
                <a:lnTo>
                  <a:pt x="1235868" y="955357"/>
                </a:lnTo>
                <a:lnTo>
                  <a:pt x="1270324" y="926776"/>
                </a:lnTo>
                <a:lnTo>
                  <a:pt x="1302160" y="896386"/>
                </a:lnTo>
                <a:lnTo>
                  <a:pt x="1331238" y="864295"/>
                </a:lnTo>
                <a:lnTo>
                  <a:pt x="1357418" y="830611"/>
                </a:lnTo>
                <a:lnTo>
                  <a:pt x="1380559" y="795442"/>
                </a:lnTo>
                <a:lnTo>
                  <a:pt x="1400523" y="758897"/>
                </a:lnTo>
                <a:lnTo>
                  <a:pt x="1417171" y="721083"/>
                </a:lnTo>
                <a:lnTo>
                  <a:pt x="1430361" y="682109"/>
                </a:lnTo>
                <a:lnTo>
                  <a:pt x="1439956" y="642083"/>
                </a:lnTo>
                <a:lnTo>
                  <a:pt x="1445815" y="601113"/>
                </a:lnTo>
                <a:lnTo>
                  <a:pt x="1447800" y="559308"/>
                </a:lnTo>
                <a:lnTo>
                  <a:pt x="1445815" y="517601"/>
                </a:lnTo>
                <a:lnTo>
                  <a:pt x="1439956" y="476722"/>
                </a:lnTo>
                <a:lnTo>
                  <a:pt x="1430361" y="436777"/>
                </a:lnTo>
                <a:lnTo>
                  <a:pt x="1417171" y="397877"/>
                </a:lnTo>
                <a:lnTo>
                  <a:pt x="1400523" y="360129"/>
                </a:lnTo>
                <a:lnTo>
                  <a:pt x="1380559" y="323642"/>
                </a:lnTo>
                <a:lnTo>
                  <a:pt x="1357418" y="288524"/>
                </a:lnTo>
                <a:lnTo>
                  <a:pt x="1331238" y="254885"/>
                </a:lnTo>
                <a:lnTo>
                  <a:pt x="1302160" y="222833"/>
                </a:lnTo>
                <a:lnTo>
                  <a:pt x="1270324" y="192477"/>
                </a:lnTo>
                <a:lnTo>
                  <a:pt x="1235868" y="163925"/>
                </a:lnTo>
                <a:lnTo>
                  <a:pt x="1198933" y="137285"/>
                </a:lnTo>
                <a:lnTo>
                  <a:pt x="1159658" y="112668"/>
                </a:lnTo>
                <a:lnTo>
                  <a:pt x="1118182" y="90180"/>
                </a:lnTo>
                <a:lnTo>
                  <a:pt x="1074645" y="69931"/>
                </a:lnTo>
                <a:lnTo>
                  <a:pt x="1029186" y="52030"/>
                </a:lnTo>
                <a:lnTo>
                  <a:pt x="981946" y="36584"/>
                </a:lnTo>
                <a:lnTo>
                  <a:pt x="933063" y="23703"/>
                </a:lnTo>
                <a:lnTo>
                  <a:pt x="882678" y="13496"/>
                </a:lnTo>
                <a:lnTo>
                  <a:pt x="830929" y="6070"/>
                </a:lnTo>
                <a:lnTo>
                  <a:pt x="777956" y="1535"/>
                </a:lnTo>
                <a:lnTo>
                  <a:pt x="72390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5" name="object 15"/>
          <p:cNvSpPr/>
          <p:nvPr/>
        </p:nvSpPr>
        <p:spPr>
          <a:xfrm>
            <a:off x="2504852" y="5029349"/>
            <a:ext cx="782637" cy="938212"/>
          </a:xfrm>
          <a:custGeom>
            <a:avLst/>
            <a:gdLst/>
            <a:ahLst/>
            <a:cxnLst/>
            <a:rect l="l" t="t" r="r" b="b"/>
            <a:pathLst>
              <a:path w="914400" h="1097279">
                <a:moveTo>
                  <a:pt x="914400" y="1097280"/>
                </a:moveTo>
                <a:lnTo>
                  <a:pt x="898398" y="6096"/>
                </a:lnTo>
                <a:lnTo>
                  <a:pt x="755904" y="0"/>
                </a:lnTo>
                <a:lnTo>
                  <a:pt x="403098" y="34290"/>
                </a:lnTo>
                <a:lnTo>
                  <a:pt x="0" y="368046"/>
                </a:lnTo>
                <a:lnTo>
                  <a:pt x="30480" y="771144"/>
                </a:lnTo>
                <a:lnTo>
                  <a:pt x="304800" y="1021080"/>
                </a:lnTo>
                <a:lnTo>
                  <a:pt x="538734" y="1097280"/>
                </a:lnTo>
                <a:lnTo>
                  <a:pt x="914400" y="1097280"/>
                </a:lnTo>
                <a:close/>
              </a:path>
            </a:pathLst>
          </a:custGeom>
          <a:solidFill>
            <a:srgbClr val="FFFFFF"/>
          </a:solid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6" name="object 16"/>
          <p:cNvSpPr/>
          <p:nvPr/>
        </p:nvSpPr>
        <p:spPr>
          <a:xfrm>
            <a:off x="2504852" y="5029349"/>
            <a:ext cx="782637" cy="938212"/>
          </a:xfrm>
          <a:custGeom>
            <a:avLst/>
            <a:gdLst/>
            <a:ahLst/>
            <a:cxnLst/>
            <a:rect l="l" t="t" r="r" b="b"/>
            <a:pathLst>
              <a:path w="914400" h="1097279">
                <a:moveTo>
                  <a:pt x="898398" y="6096"/>
                </a:moveTo>
                <a:lnTo>
                  <a:pt x="755904" y="0"/>
                </a:lnTo>
                <a:lnTo>
                  <a:pt x="403098" y="34290"/>
                </a:lnTo>
                <a:lnTo>
                  <a:pt x="0" y="368046"/>
                </a:lnTo>
                <a:lnTo>
                  <a:pt x="30480" y="771144"/>
                </a:lnTo>
                <a:lnTo>
                  <a:pt x="304800" y="1021080"/>
                </a:lnTo>
                <a:lnTo>
                  <a:pt x="538734" y="1097280"/>
                </a:lnTo>
                <a:lnTo>
                  <a:pt x="914400" y="1097280"/>
                </a:lnTo>
                <a:lnTo>
                  <a:pt x="898398" y="6096"/>
                </a:lnTo>
                <a:close/>
              </a:path>
            </a:pathLst>
          </a:custGeom>
          <a:ln w="9525">
            <a:solidFill>
              <a:srgbClr val="FFFFFF"/>
            </a:solidFill>
          </a:ln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7" name="object 17"/>
          <p:cNvSpPr/>
          <p:nvPr/>
        </p:nvSpPr>
        <p:spPr>
          <a:xfrm>
            <a:off x="3282727" y="4915049"/>
            <a:ext cx="1498600" cy="1162050"/>
          </a:xfrm>
          <a:custGeom>
            <a:avLst/>
            <a:gdLst/>
            <a:ahLst/>
            <a:cxnLst/>
            <a:rect l="l" t="t" r="r" b="b"/>
            <a:pathLst>
              <a:path w="1752600" h="1358264">
                <a:moveTo>
                  <a:pt x="0" y="0"/>
                </a:moveTo>
                <a:lnTo>
                  <a:pt x="0" y="1357884"/>
                </a:lnTo>
                <a:lnTo>
                  <a:pt x="1752600" y="1357884"/>
                </a:lnTo>
                <a:lnTo>
                  <a:pt x="1752600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8" name="object 18"/>
          <p:cNvSpPr txBox="1"/>
          <p:nvPr/>
        </p:nvSpPr>
        <p:spPr>
          <a:xfrm>
            <a:off x="2466752" y="5305574"/>
            <a:ext cx="209550" cy="327025"/>
          </a:xfrm>
          <a:prstGeom prst="rect">
            <a:avLst/>
          </a:prstGeom>
        </p:spPr>
        <p:txBody>
          <a:bodyPr lIns="0" tIns="10860" rIns="0" bIns="0">
            <a:spAutoFit/>
          </a:bodyPr>
          <a:lstStyle/>
          <a:p>
            <a:pPr marL="10860" eaLnBrk="1" hangingPunct="1">
              <a:spcBef>
                <a:spcPts val="86"/>
              </a:spcBef>
              <a:defRPr/>
            </a:pPr>
            <a:r>
              <a:rPr sz="2052" spc="-4" dirty="0">
                <a:latin typeface="Arial"/>
                <a:cs typeface="Arial"/>
              </a:rPr>
              <a:t>R</a:t>
            </a:r>
            <a:endParaRPr sz="2052" dirty="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214910" y="6093296"/>
            <a:ext cx="1718072" cy="431430"/>
          </a:xfrm>
          <a:prstGeom prst="rect">
            <a:avLst/>
          </a:prstGeom>
        </p:spPr>
        <p:txBody>
          <a:bodyPr wrap="square" lIns="0" tIns="10317" rIns="0" bIns="0">
            <a:spAutoFit/>
          </a:bodyPr>
          <a:lstStyle/>
          <a:p>
            <a:pPr marL="10860" eaLnBrk="1" hangingPunct="1">
              <a:spcBef>
                <a:spcPts val="81"/>
              </a:spcBef>
              <a:tabLst>
                <a:tab pos="4766896" algn="l"/>
              </a:tabLst>
              <a:defRPr/>
            </a:pPr>
            <a:r>
              <a:rPr lang="en-US" altLang="zh-CN" sz="2736" b="1" spc="-4" dirty="0">
                <a:latin typeface="Times New Roman"/>
                <a:cs typeface="Times New Roman"/>
              </a:rPr>
              <a:t>R</a:t>
            </a:r>
            <a:r>
              <a:rPr sz="2736" b="1" spc="-4" dirty="0">
                <a:latin typeface="Times New Roman"/>
                <a:cs typeface="Times New Roman"/>
              </a:rPr>
              <a:t> </a:t>
            </a:r>
            <a:r>
              <a:rPr sz="2394" b="1" spc="-4" dirty="0">
                <a:latin typeface="Symbol"/>
                <a:cs typeface="Symbol"/>
              </a:rPr>
              <a:t></a:t>
            </a:r>
            <a:r>
              <a:rPr sz="2394" b="1" spc="13" dirty="0">
                <a:latin typeface="Times New Roman"/>
                <a:cs typeface="Times New Roman"/>
              </a:rPr>
              <a:t> </a:t>
            </a:r>
            <a:r>
              <a:rPr lang="en-US" sz="2736" b="1" spc="13" dirty="0">
                <a:latin typeface="Times New Roman"/>
                <a:cs typeface="Times New Roman"/>
              </a:rPr>
              <a:t>S</a:t>
            </a:r>
            <a:endParaRPr lang="en-US" sz="2736" b="1" spc="-4" dirty="0">
              <a:latin typeface="Times New Roman"/>
              <a:cs typeface="Times New Roman"/>
            </a:endParaRPr>
          </a:p>
        </p:txBody>
      </p:sp>
      <p:sp>
        <p:nvSpPr>
          <p:cNvPr id="22" name="灯片编号占位符 2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02E7998-F56A-45D4-984E-4E67E3C944B8}" type="slidenum">
              <a:rPr lang="en-US" altLang="zh-CN" smtClean="0"/>
              <a:pPr>
                <a:defRPr/>
              </a:pPr>
              <a:t>13</a:t>
            </a:fld>
            <a:endParaRPr lang="en-US" altLang="zh-CN"/>
          </a:p>
        </p:txBody>
      </p:sp>
      <p:sp>
        <p:nvSpPr>
          <p:cNvPr id="23" name="标题 22"/>
          <p:cNvSpPr>
            <a:spLocks noGrp="1"/>
          </p:cNvSpPr>
          <p:nvPr>
            <p:ph type="title" idx="4294967295"/>
          </p:nvPr>
        </p:nvSpPr>
        <p:spPr>
          <a:xfrm>
            <a:off x="1382948" y="730561"/>
            <a:ext cx="4907632" cy="563563"/>
          </a:xfrm>
        </p:spPr>
        <p:txBody>
          <a:bodyPr/>
          <a:lstStyle/>
          <a:p>
            <a:pPr algn="l"/>
            <a:r>
              <a:rPr lang="zh-CN" altLang="zh-CN" sz="3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(2) “</a:t>
            </a:r>
            <a:r>
              <a:rPr lang="zh-CN" altLang="zh-CN" sz="3200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差</a:t>
            </a:r>
            <a:r>
              <a:rPr lang="zh-CN" altLang="zh-CN" sz="3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r>
              <a:rPr lang="zh-CN" altLang="zh-CN" sz="3200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操作</a:t>
            </a:r>
            <a:endParaRPr lang="zh-CN" altLang="en-US" sz="3200" dirty="0"/>
          </a:p>
        </p:txBody>
      </p:sp>
      <p:sp>
        <p:nvSpPr>
          <p:cNvPr id="27" name="文本框 26"/>
          <p:cNvSpPr txBox="1"/>
          <p:nvPr/>
        </p:nvSpPr>
        <p:spPr>
          <a:xfrm>
            <a:off x="4101082" y="5142061"/>
            <a:ext cx="4413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</a:t>
            </a:r>
            <a:endParaRPr lang="zh-CN" altLang="en-US" dirty="0"/>
          </a:p>
        </p:txBody>
      </p:sp>
      <p:sp>
        <p:nvSpPr>
          <p:cNvPr id="6" name="流程图: 延期 5"/>
          <p:cNvSpPr/>
          <p:nvPr/>
        </p:nvSpPr>
        <p:spPr bwMode="auto">
          <a:xfrm flipH="1">
            <a:off x="2267744" y="5024586"/>
            <a:ext cx="1028580" cy="960438"/>
          </a:xfrm>
          <a:prstGeom prst="flowChartDelay">
            <a:avLst/>
          </a:prstGeom>
          <a:solidFill>
            <a:schemeClr val="accent1"/>
          </a:solidFill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342900" marR="0" indent="-3429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B11702B-2165-07CC-80DA-9DB3F477314B}"/>
              </a:ext>
            </a:extLst>
          </p:cNvPr>
          <p:cNvSpPr txBox="1"/>
          <p:nvPr/>
        </p:nvSpPr>
        <p:spPr>
          <a:xfrm>
            <a:off x="2505196" y="5148409"/>
            <a:ext cx="4413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R</a:t>
            </a:r>
            <a:endParaRPr lang="zh-CN" alt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683568" y="1556792"/>
            <a:ext cx="7785868" cy="1009461"/>
          </a:xfrm>
          <a:prstGeom prst="rect">
            <a:avLst/>
          </a:prstGeom>
        </p:spPr>
        <p:txBody>
          <a:bodyPr wrap="square" lIns="0" tIns="141178" rIns="0" bIns="0">
            <a:spAutoFit/>
          </a:bodyPr>
          <a:lstStyle>
            <a:lvl1pPr marL="242888" indent="-231775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1113"/>
              </a:spcBef>
              <a:buFont typeface="Wingdings" panose="05000000000000000000" pitchFamily="2" charset="2"/>
              <a:buChar char=""/>
            </a:pPr>
            <a:r>
              <a:rPr lang="zh-CN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差操作的示例一</a:t>
            </a:r>
            <a:r>
              <a:rPr lang="zh-CN" altLang="zh-CN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zh-CN" altLang="zh-CN" b="1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抽象的</a:t>
            </a:r>
            <a:r>
              <a:rPr lang="zh-CN" altLang="zh-CN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zh-CN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113" indent="0" eaLnBrk="1" hangingPunct="1">
              <a:spcBef>
                <a:spcPts val="1025"/>
              </a:spcBef>
            </a:pPr>
            <a:r>
              <a:rPr lang="en-US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  </a:t>
            </a:r>
            <a:r>
              <a:rPr lang="zh-CN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假设</a:t>
            </a:r>
            <a:r>
              <a:rPr lang="zh-CN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zh-CN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与</a:t>
            </a:r>
            <a:r>
              <a:rPr lang="zh-CN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zh-CN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是并相容的两个关系，则</a:t>
            </a:r>
            <a:r>
              <a:rPr lang="zh-CN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R-S</a:t>
            </a:r>
            <a:r>
              <a:rPr lang="zh-CN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是</a:t>
            </a:r>
            <a:r>
              <a:rPr lang="zh-CN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? S-R</a:t>
            </a:r>
            <a:r>
              <a:rPr lang="zh-CN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是</a:t>
            </a:r>
            <a:r>
              <a:rPr lang="zh-CN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zh-CN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15988" y="3659188"/>
            <a:ext cx="1384300" cy="13366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7" name="object 7"/>
          <p:cNvSpPr/>
          <p:nvPr/>
        </p:nvSpPr>
        <p:spPr>
          <a:xfrm>
            <a:off x="2728913" y="3659188"/>
            <a:ext cx="1384300" cy="159702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8" name="object 8"/>
          <p:cNvSpPr/>
          <p:nvPr/>
        </p:nvSpPr>
        <p:spPr>
          <a:xfrm>
            <a:off x="4976813" y="3703638"/>
            <a:ext cx="1384300" cy="81438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9" name="object 9"/>
          <p:cNvSpPr/>
          <p:nvPr/>
        </p:nvSpPr>
        <p:spPr>
          <a:xfrm>
            <a:off x="6735763" y="3714750"/>
            <a:ext cx="1384300" cy="107473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A6568E1-4089-4561-919E-9D2F37D3F2B0}" type="slidenum">
              <a:rPr lang="en-US" altLang="zh-CN" smtClean="0"/>
              <a:pPr>
                <a:defRPr/>
              </a:pPr>
              <a:t>14</a:t>
            </a:fld>
            <a:endParaRPr lang="en-US" altLang="zh-CN" dirty="0"/>
          </a:p>
        </p:txBody>
      </p:sp>
      <p:sp>
        <p:nvSpPr>
          <p:cNvPr id="14" name="标题 22"/>
          <p:cNvSpPr>
            <a:spLocks noGrp="1"/>
          </p:cNvSpPr>
          <p:nvPr>
            <p:ph type="title"/>
          </p:nvPr>
        </p:nvSpPr>
        <p:spPr>
          <a:xfrm>
            <a:off x="1115616" y="685800"/>
            <a:ext cx="7190184" cy="563563"/>
          </a:xfrm>
        </p:spPr>
        <p:txBody>
          <a:bodyPr/>
          <a:lstStyle/>
          <a:p>
            <a:pPr algn="l"/>
            <a:r>
              <a:rPr lang="zh-CN" altLang="zh-CN" sz="3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(2) “</a:t>
            </a:r>
            <a:r>
              <a:rPr lang="zh-CN" altLang="zh-CN" sz="3200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差</a:t>
            </a:r>
            <a:r>
              <a:rPr lang="zh-CN" altLang="zh-CN" sz="3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r>
              <a:rPr lang="zh-CN" altLang="zh-CN" sz="3200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操作</a:t>
            </a:r>
            <a:endParaRPr lang="zh-CN" alt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982663" y="4543425"/>
            <a:ext cx="2024062" cy="274638"/>
          </a:xfrm>
          <a:prstGeom prst="rect">
            <a:avLst/>
          </a:prstGeom>
        </p:spPr>
        <p:txBody>
          <a:bodyPr lIns="0" tIns="10317" rIns="0" bIns="0">
            <a:spAutoFit/>
          </a:bodyPr>
          <a:lstStyle>
            <a:lvl1pPr marL="952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75"/>
              </a:spcBef>
            </a:pPr>
            <a:r>
              <a:rPr lang="zh-CN" altLang="zh-CN" sz="1700" b="1">
                <a:solidFill>
                  <a:srgbClr val="FF0065"/>
                </a:solidFill>
                <a:cs typeface="Times New Roman" panose="02020603050405020304" pitchFamily="18" charset="0"/>
              </a:rPr>
              <a:t>S(</a:t>
            </a:r>
            <a:r>
              <a:rPr lang="zh-CN" altLang="zh-CN" sz="1700" b="1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参加文艺队的学生</a:t>
            </a:r>
            <a:r>
              <a:rPr lang="zh-CN" altLang="zh-CN" sz="1700" b="1">
                <a:solidFill>
                  <a:srgbClr val="FF0065"/>
                </a:solidFill>
                <a:cs typeface="Times New Roman" panose="02020603050405020304" pitchFamily="18" charset="0"/>
              </a:rPr>
              <a:t>)</a:t>
            </a:r>
            <a:endParaRPr lang="zh-CN" altLang="zh-CN" sz="1700">
              <a:cs typeface="Times New Roman" panose="02020603050405020304" pitchFamily="18" charset="0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20750" y="3259138"/>
            <a:ext cx="3306763" cy="124618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7" name="object 7"/>
          <p:cNvSpPr/>
          <p:nvPr/>
        </p:nvSpPr>
        <p:spPr>
          <a:xfrm>
            <a:off x="963613" y="4833938"/>
            <a:ext cx="3306762" cy="124618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8" name="object 8"/>
          <p:cNvSpPr txBox="1"/>
          <p:nvPr/>
        </p:nvSpPr>
        <p:spPr>
          <a:xfrm>
            <a:off x="913511" y="1342164"/>
            <a:ext cx="7507288" cy="2248761"/>
          </a:xfrm>
          <a:prstGeom prst="rect">
            <a:avLst/>
          </a:prstGeom>
        </p:spPr>
        <p:txBody>
          <a:bodyPr lIns="0" tIns="85793" rIns="0" bIns="0">
            <a:spAutoFit/>
          </a:bodyPr>
          <a:lstStyle>
            <a:lvl1pPr marL="242888" indent="-231775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675"/>
              </a:spcBef>
              <a:buFont typeface="Wingdings" panose="05000000000000000000" pitchFamily="2" charset="2"/>
              <a:buChar char=""/>
            </a:pPr>
            <a:r>
              <a:rPr lang="zh-CN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差操作的示例二</a:t>
            </a:r>
            <a:r>
              <a:rPr lang="zh-CN" altLang="zh-CN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zh-CN" altLang="zh-CN" b="1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语义的</a:t>
            </a:r>
            <a:r>
              <a:rPr lang="zh-CN" altLang="zh-CN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zh-CN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8313" indent="-457200" eaLnBrk="1" hangingPunct="1">
              <a:spcBef>
                <a:spcPts val="588"/>
              </a:spcBef>
              <a:buFont typeface="+mj-ea"/>
              <a:buAutoNum type="circleNumDbPlain"/>
            </a:pPr>
            <a:r>
              <a:rPr lang="zh-CN" altLang="zh-CN" sz="22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查询只参加体育队而未参加文艺队的学生信息</a:t>
            </a:r>
            <a:endParaRPr lang="zh-CN" altLang="zh-CN" sz="22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marL="468313" indent="-457200" eaLnBrk="1" hangingPunct="1">
              <a:spcBef>
                <a:spcPts val="625"/>
              </a:spcBef>
              <a:buFont typeface="+mj-ea"/>
              <a:buAutoNum type="circleNumDbPlain"/>
            </a:pPr>
            <a:r>
              <a:rPr lang="zh-CN" altLang="zh-CN" sz="22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查询只参加文艺队而未参加体育队的学生信息</a:t>
            </a:r>
            <a:endParaRPr lang="zh-CN" altLang="zh-CN" sz="22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eaLnBrk="1" hangingPunct="1"/>
            <a:endParaRPr lang="en-US" altLang="zh-CN" sz="1700" b="1" dirty="0">
              <a:solidFill>
                <a:srgbClr val="FF0065"/>
              </a:solidFill>
              <a:cs typeface="Times New Roman" panose="02020603050405020304" pitchFamily="18" charset="0"/>
            </a:endParaRPr>
          </a:p>
          <a:p>
            <a:pPr eaLnBrk="1" hangingPunct="1"/>
            <a:r>
              <a:rPr lang="zh-CN" altLang="zh-CN" sz="1700" b="1" dirty="0">
                <a:solidFill>
                  <a:srgbClr val="FF0065"/>
                </a:solidFill>
                <a:cs typeface="Times New Roman" panose="02020603050405020304" pitchFamily="18" charset="0"/>
              </a:rPr>
              <a:t>R(</a:t>
            </a:r>
            <a:r>
              <a:rPr lang="zh-CN" altLang="zh-CN" sz="1700" b="1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参加体育队的学生</a:t>
            </a:r>
            <a:r>
              <a:rPr lang="zh-CN" altLang="zh-CN" sz="1700" b="1" dirty="0">
                <a:solidFill>
                  <a:srgbClr val="FF0065"/>
                </a:solidFill>
                <a:cs typeface="Times New Roman" panose="02020603050405020304" pitchFamily="18" charset="0"/>
              </a:rPr>
              <a:t>)</a:t>
            </a:r>
            <a:endParaRPr lang="zh-CN" altLang="zh-CN" sz="1700" dirty="0">
              <a:cs typeface="Times New Roman" panose="02020603050405020304" pitchFamily="18" charset="0"/>
            </a:endParaRPr>
          </a:p>
          <a:p>
            <a:pPr eaLnBrk="1" hangingPunct="1">
              <a:spcBef>
                <a:spcPts val="938"/>
              </a:spcBef>
            </a:pPr>
            <a:r>
              <a:rPr lang="en-US" altLang="zh-CN" sz="1700" b="1" dirty="0">
                <a:solidFill>
                  <a:srgbClr val="FF0065"/>
                </a:solidFill>
                <a:cs typeface="Times New Roman" panose="02020603050405020304" pitchFamily="18" charset="0"/>
              </a:rPr>
              <a:t>                                                                </a:t>
            </a:r>
            <a:r>
              <a:rPr lang="zh-CN" altLang="zh-CN" sz="1700" b="1" dirty="0">
                <a:solidFill>
                  <a:srgbClr val="FF0065"/>
                </a:solidFill>
                <a:cs typeface="Times New Roman" panose="02020603050405020304" pitchFamily="18" charset="0"/>
              </a:rPr>
              <a:t>R</a:t>
            </a:r>
            <a:r>
              <a:rPr lang="zh-CN" altLang="zh-CN" sz="1700" b="1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－</a:t>
            </a:r>
            <a:r>
              <a:rPr lang="zh-CN" altLang="zh-CN" sz="1700" b="1" dirty="0">
                <a:solidFill>
                  <a:srgbClr val="FF0065"/>
                </a:solidFill>
                <a:cs typeface="Times New Roman" panose="02020603050405020304" pitchFamily="18" charset="0"/>
              </a:rPr>
              <a:t>S(</a:t>
            </a:r>
            <a:r>
              <a:rPr lang="zh-CN" altLang="zh-CN" sz="1700" b="1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参加体育队而未参加文艺队的学生</a:t>
            </a:r>
            <a:r>
              <a:rPr lang="zh-CN" altLang="zh-CN" sz="1700" b="1" dirty="0">
                <a:solidFill>
                  <a:srgbClr val="FF0065"/>
                </a:solidFill>
                <a:cs typeface="Times New Roman" panose="02020603050405020304" pitchFamily="18" charset="0"/>
              </a:rPr>
              <a:t>)</a:t>
            </a:r>
            <a:endParaRPr lang="zh-CN" altLang="zh-CN" sz="1700" dirty="0">
              <a:cs typeface="Times New Roman" panose="02020603050405020304" pitchFamily="18" charset="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540250" y="4868863"/>
            <a:ext cx="3919538" cy="274637"/>
          </a:xfrm>
          <a:prstGeom prst="rect">
            <a:avLst/>
          </a:prstGeom>
        </p:spPr>
        <p:txBody>
          <a:bodyPr lIns="0" tIns="10317" rIns="0" bIns="0">
            <a:spAutoFit/>
          </a:bodyPr>
          <a:lstStyle>
            <a:lvl1pPr marL="952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75"/>
              </a:spcBef>
            </a:pPr>
            <a:r>
              <a:rPr lang="zh-CN" altLang="zh-CN" sz="1700" b="1">
                <a:solidFill>
                  <a:srgbClr val="FF0065"/>
                </a:solidFill>
                <a:cs typeface="Times New Roman" panose="02020603050405020304" pitchFamily="18" charset="0"/>
              </a:rPr>
              <a:t>S</a:t>
            </a:r>
            <a:r>
              <a:rPr lang="zh-CN" altLang="zh-CN" sz="1700" b="1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－</a:t>
            </a:r>
            <a:r>
              <a:rPr lang="zh-CN" altLang="zh-CN" sz="1700" b="1">
                <a:solidFill>
                  <a:srgbClr val="FF0065"/>
                </a:solidFill>
                <a:cs typeface="Times New Roman" panose="02020603050405020304" pitchFamily="18" charset="0"/>
              </a:rPr>
              <a:t>R(</a:t>
            </a:r>
            <a:r>
              <a:rPr lang="zh-CN" altLang="zh-CN" sz="1700" b="1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参加文艺队而未参加体育队的学生</a:t>
            </a:r>
            <a:r>
              <a:rPr lang="zh-CN" altLang="zh-CN" sz="1700" b="1">
                <a:solidFill>
                  <a:srgbClr val="FF0065"/>
                </a:solidFill>
                <a:cs typeface="Times New Roman" panose="02020603050405020304" pitchFamily="18" charset="0"/>
              </a:rPr>
              <a:t>)</a:t>
            </a:r>
            <a:endParaRPr lang="zh-CN" altLang="zh-CN" sz="1700">
              <a:cs typeface="Times New Roman" panose="02020603050405020304" pitchFamily="18" charset="0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514850" y="3629025"/>
            <a:ext cx="3306763" cy="7239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1" name="object 11"/>
          <p:cNvSpPr/>
          <p:nvPr/>
        </p:nvSpPr>
        <p:spPr>
          <a:xfrm>
            <a:off x="4525963" y="5173663"/>
            <a:ext cx="3306762" cy="71755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4" name="灯片编号占位符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A6568E1-4089-4561-919E-9D2F37D3F2B0}" type="slidenum">
              <a:rPr lang="en-US" altLang="zh-CN" smtClean="0"/>
              <a:pPr>
                <a:defRPr/>
              </a:pPr>
              <a:t>15</a:t>
            </a:fld>
            <a:endParaRPr lang="en-US" altLang="zh-CN" dirty="0"/>
          </a:p>
        </p:txBody>
      </p:sp>
      <p:sp>
        <p:nvSpPr>
          <p:cNvPr id="16" name="标题 2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zh-CN" sz="3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(2) “</a:t>
            </a:r>
            <a:r>
              <a:rPr lang="zh-CN" altLang="zh-CN" sz="3200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差</a:t>
            </a:r>
            <a:r>
              <a:rPr lang="zh-CN" altLang="zh-CN" sz="3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r>
              <a:rPr lang="zh-CN" altLang="zh-CN" sz="3200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操作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428718" y="1628800"/>
            <a:ext cx="8715282" cy="4627608"/>
          </a:xfrm>
          <a:prstGeom prst="rect">
            <a:avLst/>
          </a:prstGeom>
        </p:spPr>
        <p:txBody>
          <a:bodyPr wrap="square" lIns="0" tIns="89594" rIns="0" bIns="0">
            <a:spAutoFit/>
          </a:bodyPr>
          <a:lstStyle>
            <a:lvl1pPr marL="242888" indent="-231775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700"/>
              </a:spcBef>
              <a:buFont typeface="Wingdings" panose="05000000000000000000" pitchFamily="2" charset="2"/>
              <a:buChar char=""/>
            </a:pPr>
            <a:r>
              <a:rPr lang="zh-CN" altLang="zh-CN" sz="26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差操作的示例三</a:t>
            </a:r>
            <a:r>
              <a:rPr lang="zh-CN" altLang="zh-CN" sz="2600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zh-CN" altLang="zh-CN" sz="2600" b="1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语义的</a:t>
            </a:r>
            <a:r>
              <a:rPr lang="zh-CN" altLang="zh-CN" sz="2600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zh-CN" altLang="zh-CN" sz="2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8313" indent="-457200" eaLnBrk="1" hangingPunct="1">
              <a:spcBef>
                <a:spcPts val="625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zh-CN" altLang="zh-CN" b="1" dirty="0">
                <a:solidFill>
                  <a:srgbClr val="6565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若</a:t>
            </a:r>
            <a:r>
              <a:rPr lang="zh-CN" altLang="zh-CN" b="1" dirty="0">
                <a:solidFill>
                  <a:srgbClr val="6565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zh-CN" altLang="zh-CN" b="1" dirty="0">
                <a:solidFill>
                  <a:srgbClr val="6565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为计算机学院的学生，</a:t>
            </a:r>
            <a:r>
              <a:rPr lang="zh-CN" altLang="zh-CN" b="1" dirty="0">
                <a:solidFill>
                  <a:srgbClr val="6565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zh-CN" altLang="zh-CN" b="1" dirty="0">
                <a:solidFill>
                  <a:srgbClr val="6565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为四年级的学生，则：</a:t>
            </a:r>
            <a:endParaRPr lang="zh-CN" altLang="zh-CN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eaLnBrk="1" hangingPunct="1">
              <a:lnSpc>
                <a:spcPts val="2400"/>
              </a:lnSpc>
              <a:spcBef>
                <a:spcPts val="150"/>
              </a:spcBef>
            </a:pPr>
            <a:r>
              <a:rPr lang="en-US" altLang="zh-CN" sz="2200" b="1" dirty="0">
                <a:solidFill>
                  <a:srgbClr val="FF006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zh-CN" sz="2200" b="1" dirty="0">
                <a:solidFill>
                  <a:srgbClr val="FF006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 </a:t>
            </a:r>
            <a:r>
              <a:rPr lang="zh-CN" altLang="zh-CN" sz="2200" b="1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－ </a:t>
            </a:r>
            <a:r>
              <a:rPr lang="zh-CN" altLang="zh-CN" sz="2200" b="1" dirty="0">
                <a:solidFill>
                  <a:srgbClr val="FF006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zh-CN" altLang="zh-CN" sz="2200" b="1" dirty="0">
                <a:solidFill>
                  <a:srgbClr val="6565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 </a:t>
            </a:r>
            <a:r>
              <a:rPr lang="zh-CN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计算机学院非四年级的学生</a:t>
            </a:r>
            <a:b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zh-CN" sz="2200" b="1" dirty="0">
                <a:solidFill>
                  <a:srgbClr val="FF006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 </a:t>
            </a:r>
            <a:r>
              <a:rPr lang="zh-CN" altLang="zh-CN" sz="2200" b="1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－ </a:t>
            </a:r>
            <a:r>
              <a:rPr lang="zh-CN" altLang="zh-CN" sz="2200" b="1" dirty="0">
                <a:solidFill>
                  <a:srgbClr val="FF006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zh-CN" altLang="zh-CN" sz="2200" b="1" dirty="0">
                <a:solidFill>
                  <a:srgbClr val="6565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 </a:t>
            </a:r>
            <a:r>
              <a:rPr lang="zh-CN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四年级非计算机学院的学生</a:t>
            </a:r>
            <a:endParaRPr lang="zh-CN" altLang="zh-CN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68313" indent="-457200" eaLnBrk="1" hangingPunct="1">
              <a:spcBef>
                <a:spcPts val="475"/>
              </a:spcBef>
              <a:buFont typeface="Arial" panose="020B0604020202020204" pitchFamily="34" charset="0"/>
              <a:buChar char="•"/>
            </a:pPr>
            <a:r>
              <a:rPr lang="zh-CN" altLang="zh-CN" b="1" dirty="0">
                <a:solidFill>
                  <a:srgbClr val="6565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若</a:t>
            </a:r>
            <a:r>
              <a:rPr lang="zh-CN" altLang="zh-CN" b="1" dirty="0">
                <a:solidFill>
                  <a:srgbClr val="6565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zh-CN" altLang="zh-CN" b="1" dirty="0">
                <a:solidFill>
                  <a:srgbClr val="6565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为学过数据库课程的学生，</a:t>
            </a:r>
            <a:r>
              <a:rPr lang="zh-CN" altLang="zh-CN" b="1" dirty="0">
                <a:solidFill>
                  <a:srgbClr val="6565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zh-CN" altLang="zh-CN" b="1" dirty="0">
                <a:solidFill>
                  <a:srgbClr val="6565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为学过自控理论课程的学生， 则</a:t>
            </a:r>
            <a:r>
              <a:rPr lang="zh-CN" altLang="zh-CN" b="1" dirty="0">
                <a:solidFill>
                  <a:srgbClr val="6565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zh-CN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ts val="538"/>
              </a:spcBef>
            </a:pPr>
            <a:r>
              <a:rPr lang="en-US" altLang="zh-CN" sz="2200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</a:t>
            </a:r>
            <a:r>
              <a:rPr lang="zh-CN" altLang="zh-CN" sz="2200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 </a:t>
            </a:r>
            <a:r>
              <a:rPr lang="zh-CN" altLang="zh-CN" sz="2200" b="1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－ </a:t>
            </a:r>
            <a:r>
              <a:rPr lang="zh-CN" altLang="zh-CN" sz="2200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zh-CN" altLang="zh-CN" sz="2200" b="1" dirty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 </a:t>
            </a:r>
            <a:r>
              <a:rPr lang="zh-CN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学过数据库课程但没学过自控理论课程的所有学生</a:t>
            </a:r>
            <a:endParaRPr lang="zh-CN" altLang="zh-CN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spcBef>
                <a:spcPts val="650"/>
              </a:spcBef>
              <a:buFont typeface="Wingdings" panose="05000000000000000000" pitchFamily="2" charset="2"/>
              <a:buChar char=""/>
            </a:pPr>
            <a:r>
              <a:rPr lang="zh-CN" altLang="zh-CN" sz="3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汉语中的</a:t>
            </a:r>
            <a:r>
              <a:rPr lang="zh-CN" altLang="zh-CN" sz="3000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zh-CN" altLang="zh-CN" sz="3000" b="1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是</a:t>
            </a:r>
            <a:r>
              <a:rPr lang="zh-CN" altLang="zh-CN" sz="3000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r>
              <a:rPr lang="zh-CN" altLang="zh-CN" sz="3000" b="1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但不含</a:t>
            </a:r>
            <a:r>
              <a:rPr lang="zh-CN" altLang="zh-CN" sz="3000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…”</a:t>
            </a:r>
            <a:r>
              <a:rPr lang="zh-CN" altLang="zh-CN" sz="3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通常意义是差运算的要求。</a:t>
            </a:r>
            <a:endParaRPr lang="zh-CN" altLang="zh-CN" sz="30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eaLnBrk="1" hangingPunct="1">
              <a:spcBef>
                <a:spcPts val="625"/>
              </a:spcBef>
              <a:buClr>
                <a:srgbClr val="000000"/>
              </a:buClr>
              <a:buFont typeface="Wingdings" panose="05000000000000000000" pitchFamily="2" charset="2"/>
              <a:buChar char=""/>
            </a:pPr>
            <a:r>
              <a:rPr lang="zh-CN" altLang="zh-CN" sz="2200" b="1" u="sng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首先要准确理解汉语的查询要求，然后再找到正确的操作</a:t>
            </a:r>
            <a:endParaRPr lang="zh-CN" altLang="zh-CN" sz="22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eaLnBrk="1" hangingPunct="1">
              <a:spcBef>
                <a:spcPts val="625"/>
              </a:spcBef>
              <a:buFont typeface="Wingdings" panose="05000000000000000000" pitchFamily="2" charset="2"/>
              <a:buChar char=""/>
            </a:pPr>
            <a:r>
              <a:rPr lang="zh-CN" altLang="zh-CN" sz="22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同学可举出更多的示例</a:t>
            </a:r>
            <a:r>
              <a:rPr lang="zh-CN" altLang="zh-CN" sz="2200" b="1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zh-CN" altLang="zh-CN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A6568E1-4089-4561-919E-9D2F37D3F2B0}" type="slidenum">
              <a:rPr lang="en-US" altLang="zh-CN" smtClean="0"/>
              <a:pPr>
                <a:defRPr/>
              </a:pPr>
              <a:t>16</a:t>
            </a:fld>
            <a:endParaRPr lang="en-US" altLang="zh-CN" dirty="0"/>
          </a:p>
        </p:txBody>
      </p:sp>
      <p:sp>
        <p:nvSpPr>
          <p:cNvPr id="10" name="标题 2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zh-CN" sz="3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(2) “</a:t>
            </a:r>
            <a:r>
              <a:rPr lang="zh-CN" altLang="zh-CN" sz="3200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差</a:t>
            </a:r>
            <a:r>
              <a:rPr lang="zh-CN" altLang="zh-CN" sz="3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r>
              <a:rPr lang="zh-CN" altLang="zh-CN" sz="3200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操作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40785" y="1700808"/>
            <a:ext cx="8279687" cy="3892506"/>
          </a:xfrm>
          <a:prstGeom prst="rect">
            <a:avLst/>
          </a:prstGeom>
        </p:spPr>
        <p:txBody>
          <a:bodyPr wrap="square" lIns="0" tIns="10317" rIns="0" bIns="0">
            <a:spAutoFit/>
          </a:bodyPr>
          <a:lstStyle>
            <a:lvl1pPr marL="952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75"/>
              </a:spcBef>
            </a:pPr>
            <a:r>
              <a:rPr lang="zh-CN" altLang="zh-CN" sz="27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广义笛卡尔积</a:t>
            </a:r>
            <a:r>
              <a:rPr lang="zh-CN" altLang="zh-CN" sz="17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(Cartesian Product)</a:t>
            </a:r>
            <a:endParaRPr lang="zh-CN" altLang="zh-CN" sz="17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spcBef>
                <a:spcPts val="2113"/>
              </a:spcBef>
              <a:buClr>
                <a:srgbClr val="000000"/>
              </a:buClr>
              <a:buFont typeface="Wingdings" panose="05000000000000000000" pitchFamily="2" charset="2"/>
              <a:buChar char=""/>
            </a:pPr>
            <a:r>
              <a:rPr lang="zh-CN" altLang="zh-CN" b="1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定义</a:t>
            </a:r>
            <a:r>
              <a:rPr lang="zh-CN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：关系</a:t>
            </a:r>
            <a:r>
              <a:rPr lang="zh-CN" altLang="zh-CN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 (&lt;</a:t>
            </a:r>
            <a:r>
              <a:rPr lang="zh-CN" altLang="zh-CN" b="1" dirty="0">
                <a:solidFill>
                  <a:srgbClr val="FF0065"/>
                </a:solidFill>
                <a:cs typeface="Times New Roman" panose="02020603050405020304" pitchFamily="18" charset="0"/>
              </a:rPr>
              <a:t>a</a:t>
            </a:r>
            <a:r>
              <a:rPr lang="zh-CN" altLang="zh-CN" b="1" baseline="-21000" dirty="0">
                <a:solidFill>
                  <a:srgbClr val="FF0065"/>
                </a:solidFill>
                <a:cs typeface="Times New Roman" panose="02020603050405020304" pitchFamily="18" charset="0"/>
              </a:rPr>
              <a:t>1 </a:t>
            </a:r>
            <a:r>
              <a:rPr lang="zh-CN" altLang="zh-CN" b="1" dirty="0">
                <a:solidFill>
                  <a:srgbClr val="FF0065"/>
                </a:solidFill>
                <a:cs typeface="Times New Roman" panose="02020603050405020304" pitchFamily="18" charset="0"/>
              </a:rPr>
              <a:t>, a</a:t>
            </a:r>
            <a:r>
              <a:rPr lang="zh-CN" altLang="zh-CN" b="1" baseline="-21000" dirty="0">
                <a:solidFill>
                  <a:srgbClr val="FF0065"/>
                </a:solidFill>
                <a:cs typeface="Times New Roman" panose="02020603050405020304" pitchFamily="18" charset="0"/>
              </a:rPr>
              <a:t>2</a:t>
            </a:r>
            <a:r>
              <a:rPr lang="zh-CN" altLang="zh-CN" b="1" dirty="0">
                <a:solidFill>
                  <a:srgbClr val="FF0065"/>
                </a:solidFill>
                <a:cs typeface="Times New Roman" panose="02020603050405020304" pitchFamily="18" charset="0"/>
              </a:rPr>
              <a:t>, …, a</a:t>
            </a:r>
            <a:r>
              <a:rPr lang="zh-CN" altLang="zh-CN" b="1" baseline="-21000" dirty="0">
                <a:solidFill>
                  <a:srgbClr val="FF0065"/>
                </a:solidFill>
                <a:cs typeface="Times New Roman" panose="02020603050405020304" pitchFamily="18" charset="0"/>
              </a:rPr>
              <a:t>n </a:t>
            </a:r>
            <a:r>
              <a:rPr lang="zh-CN" altLang="zh-CN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&gt;) </a:t>
            </a:r>
            <a:r>
              <a:rPr lang="zh-CN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与关系</a:t>
            </a:r>
            <a:r>
              <a:rPr lang="zh-CN" altLang="zh-CN" b="1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S(&lt;</a:t>
            </a:r>
            <a:r>
              <a:rPr lang="zh-CN" altLang="zh-CN" b="1" dirty="0">
                <a:solidFill>
                  <a:srgbClr val="3333CC"/>
                </a:solidFill>
                <a:cs typeface="Times New Roman" panose="02020603050405020304" pitchFamily="18" charset="0"/>
              </a:rPr>
              <a:t>b</a:t>
            </a:r>
            <a:r>
              <a:rPr lang="zh-CN" altLang="zh-CN" b="1" baseline="-21000" dirty="0">
                <a:solidFill>
                  <a:srgbClr val="3333CC"/>
                </a:solidFill>
                <a:cs typeface="Times New Roman" panose="02020603050405020304" pitchFamily="18" charset="0"/>
              </a:rPr>
              <a:t>1</a:t>
            </a:r>
            <a:r>
              <a:rPr lang="zh-CN" altLang="zh-CN" b="1" dirty="0">
                <a:solidFill>
                  <a:srgbClr val="3333CC"/>
                </a:solidFill>
                <a:cs typeface="Times New Roman" panose="02020603050405020304" pitchFamily="18" charset="0"/>
              </a:rPr>
              <a:t>, b</a:t>
            </a:r>
            <a:r>
              <a:rPr lang="zh-CN" altLang="zh-CN" b="1" baseline="-21000" dirty="0">
                <a:solidFill>
                  <a:srgbClr val="3333CC"/>
                </a:solidFill>
                <a:cs typeface="Times New Roman" panose="02020603050405020304" pitchFamily="18" charset="0"/>
              </a:rPr>
              <a:t>2</a:t>
            </a:r>
            <a:r>
              <a:rPr lang="zh-CN" altLang="zh-CN" b="1" dirty="0">
                <a:solidFill>
                  <a:srgbClr val="3333CC"/>
                </a:solidFill>
                <a:cs typeface="Times New Roman" panose="02020603050405020304" pitchFamily="18" charset="0"/>
              </a:rPr>
              <a:t>, …, b</a:t>
            </a:r>
            <a:r>
              <a:rPr lang="zh-CN" altLang="zh-CN" b="1" baseline="-21000" dirty="0">
                <a:solidFill>
                  <a:srgbClr val="3333CC"/>
                </a:solidFill>
                <a:cs typeface="Times New Roman" panose="02020603050405020304" pitchFamily="18" charset="0"/>
              </a:rPr>
              <a:t>m </a:t>
            </a:r>
            <a:r>
              <a:rPr lang="zh-CN" altLang="zh-CN" b="1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&gt;) </a:t>
            </a:r>
            <a:r>
              <a:rPr lang="zh-CN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的广义笛卡尔积</a:t>
            </a:r>
            <a:endParaRPr lang="zh-CN" altLang="zh-CN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eaLnBrk="1" hangingPunct="1">
              <a:lnSpc>
                <a:spcPct val="130000"/>
              </a:lnSpc>
              <a:spcBef>
                <a:spcPts val="13"/>
              </a:spcBef>
            </a:pPr>
            <a:r>
              <a:rPr lang="zh-CN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zh-CN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简称广义积</a:t>
            </a:r>
            <a:r>
              <a:rPr lang="zh-CN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zh-CN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或 积 或笛卡尔积</a:t>
            </a:r>
            <a:r>
              <a:rPr lang="zh-CN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zh-CN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运算结果也是一个关系，记作： </a:t>
            </a:r>
            <a:r>
              <a:rPr lang="zh-CN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R x S, </a:t>
            </a:r>
            <a:r>
              <a:rPr lang="zh-CN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它由 关系</a:t>
            </a:r>
            <a:r>
              <a:rPr lang="zh-CN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zh-CN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中的元组与关系</a:t>
            </a:r>
            <a:r>
              <a:rPr lang="zh-CN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zh-CN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的元组进行所有可能的拼接</a:t>
            </a:r>
            <a:r>
              <a:rPr lang="zh-CN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zh-CN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或串接</a:t>
            </a:r>
            <a:r>
              <a:rPr lang="zh-CN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zh-CN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构成。</a:t>
            </a:r>
            <a:endParaRPr lang="zh-CN" altLang="zh-CN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eaLnBrk="1" hangingPunct="1">
              <a:spcBef>
                <a:spcPts val="788"/>
              </a:spcBef>
              <a:buSzPct val="95000"/>
              <a:buFont typeface="Wingdings" panose="05000000000000000000" pitchFamily="2" charset="2"/>
              <a:buChar char=""/>
            </a:pPr>
            <a:r>
              <a:rPr lang="zh-CN" altLang="zh-CN" b="1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数学描述</a:t>
            </a:r>
            <a:r>
              <a:rPr lang="zh-CN" altLang="zh-CN" sz="26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： </a:t>
            </a:r>
            <a:r>
              <a:rPr lang="zh-CN" altLang="zh-CN" sz="2600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 </a:t>
            </a:r>
            <a:r>
              <a:rPr lang="zh-CN" altLang="zh-CN" sz="2600" b="1" dirty="0">
                <a:latin typeface="Arial" panose="020B0604020202020204" pitchFamily="34" charset="0"/>
                <a:cs typeface="Arial" panose="020B0604020202020204" pitchFamily="34" charset="0"/>
              </a:rPr>
              <a:t>x </a:t>
            </a:r>
            <a:r>
              <a:rPr lang="zh-CN" altLang="zh-CN" sz="2600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 ={ &lt;</a:t>
            </a:r>
            <a:r>
              <a:rPr lang="zh-CN" altLang="zh-CN" sz="2600" b="1" dirty="0">
                <a:solidFill>
                  <a:srgbClr val="FF0065"/>
                </a:solidFill>
                <a:cs typeface="Times New Roman" panose="02020603050405020304" pitchFamily="18" charset="0"/>
              </a:rPr>
              <a:t>a</a:t>
            </a:r>
            <a:r>
              <a:rPr lang="zh-CN" altLang="zh-CN" sz="2600" b="1" baseline="-20000" dirty="0">
                <a:solidFill>
                  <a:srgbClr val="FF0065"/>
                </a:solidFill>
                <a:cs typeface="Times New Roman" panose="02020603050405020304" pitchFamily="18" charset="0"/>
              </a:rPr>
              <a:t>1 </a:t>
            </a:r>
            <a:r>
              <a:rPr lang="zh-CN" altLang="zh-CN" sz="2600" b="1" dirty="0">
                <a:solidFill>
                  <a:srgbClr val="FF0065"/>
                </a:solidFill>
                <a:cs typeface="Times New Roman" panose="02020603050405020304" pitchFamily="18" charset="0"/>
              </a:rPr>
              <a:t>, a</a:t>
            </a:r>
            <a:r>
              <a:rPr lang="zh-CN" altLang="zh-CN" sz="2600" b="1" baseline="-20000" dirty="0">
                <a:solidFill>
                  <a:srgbClr val="FF0065"/>
                </a:solidFill>
                <a:cs typeface="Times New Roman" panose="02020603050405020304" pitchFamily="18" charset="0"/>
              </a:rPr>
              <a:t>2</a:t>
            </a:r>
            <a:r>
              <a:rPr lang="zh-CN" altLang="zh-CN" sz="2600" b="1" dirty="0">
                <a:solidFill>
                  <a:srgbClr val="FF0065"/>
                </a:solidFill>
                <a:cs typeface="Times New Roman" panose="02020603050405020304" pitchFamily="18" charset="0"/>
              </a:rPr>
              <a:t>, …, a</a:t>
            </a:r>
            <a:r>
              <a:rPr lang="zh-CN" altLang="zh-CN" sz="2600" b="1" baseline="-20000" dirty="0">
                <a:solidFill>
                  <a:srgbClr val="FF0065"/>
                </a:solidFill>
                <a:cs typeface="Times New Roman" panose="02020603050405020304" pitchFamily="18" charset="0"/>
              </a:rPr>
              <a:t>n</a:t>
            </a:r>
            <a:r>
              <a:rPr lang="zh-CN" altLang="zh-CN" sz="2600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zh-CN" altLang="zh-CN" sz="2600" b="1" dirty="0">
                <a:solidFill>
                  <a:srgbClr val="3333CC"/>
                </a:solidFill>
                <a:cs typeface="Times New Roman" panose="02020603050405020304" pitchFamily="18" charset="0"/>
              </a:rPr>
              <a:t>b</a:t>
            </a:r>
            <a:r>
              <a:rPr lang="zh-CN" altLang="zh-CN" sz="2600" b="1" baseline="-20000" dirty="0">
                <a:solidFill>
                  <a:srgbClr val="3333CC"/>
                </a:solidFill>
                <a:cs typeface="Times New Roman" panose="02020603050405020304" pitchFamily="18" charset="0"/>
              </a:rPr>
              <a:t>1</a:t>
            </a:r>
            <a:r>
              <a:rPr lang="zh-CN" altLang="zh-CN" sz="2600" b="1" dirty="0">
                <a:solidFill>
                  <a:srgbClr val="3333CC"/>
                </a:solidFill>
                <a:cs typeface="Times New Roman" panose="02020603050405020304" pitchFamily="18" charset="0"/>
              </a:rPr>
              <a:t>, b</a:t>
            </a:r>
            <a:r>
              <a:rPr lang="zh-CN" altLang="zh-CN" sz="2600" b="1" baseline="-20000" dirty="0">
                <a:solidFill>
                  <a:srgbClr val="3333CC"/>
                </a:solidFill>
                <a:cs typeface="Times New Roman" panose="02020603050405020304" pitchFamily="18" charset="0"/>
              </a:rPr>
              <a:t>2</a:t>
            </a:r>
            <a:r>
              <a:rPr lang="zh-CN" altLang="zh-CN" sz="2600" b="1" dirty="0">
                <a:solidFill>
                  <a:srgbClr val="3333CC"/>
                </a:solidFill>
                <a:cs typeface="Times New Roman" panose="02020603050405020304" pitchFamily="18" charset="0"/>
              </a:rPr>
              <a:t>, …, b</a:t>
            </a:r>
            <a:r>
              <a:rPr lang="zh-CN" altLang="zh-CN" sz="2600" b="1" baseline="-20000" dirty="0">
                <a:solidFill>
                  <a:srgbClr val="3333CC"/>
                </a:solidFill>
                <a:cs typeface="Times New Roman" panose="02020603050405020304" pitchFamily="18" charset="0"/>
              </a:rPr>
              <a:t>m</a:t>
            </a:r>
            <a:r>
              <a:rPr lang="zh-CN" altLang="zh-CN" sz="2600" b="1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 </a:t>
            </a:r>
            <a:r>
              <a:rPr lang="zh-CN" altLang="zh-CN" sz="2600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  <a:endParaRPr lang="zh-CN" altLang="zh-CN" sz="2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ts val="913"/>
              </a:spcBef>
            </a:pPr>
            <a:r>
              <a:rPr lang="zh-CN" altLang="zh-CN" sz="2600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lang="zh-CN" altLang="zh-CN" sz="2600" b="1" dirty="0">
                <a:solidFill>
                  <a:srgbClr val="FF0065"/>
                </a:solidFill>
                <a:cs typeface="Times New Roman" panose="02020603050405020304" pitchFamily="18" charset="0"/>
              </a:rPr>
              <a:t>a</a:t>
            </a:r>
            <a:r>
              <a:rPr lang="zh-CN" altLang="zh-CN" sz="2600" b="1" baseline="-20000" dirty="0">
                <a:solidFill>
                  <a:srgbClr val="FF0065"/>
                </a:solidFill>
                <a:cs typeface="Times New Roman" panose="02020603050405020304" pitchFamily="18" charset="0"/>
              </a:rPr>
              <a:t>1 </a:t>
            </a:r>
            <a:r>
              <a:rPr lang="zh-CN" altLang="zh-CN" sz="2600" b="1" dirty="0">
                <a:solidFill>
                  <a:srgbClr val="FF0065"/>
                </a:solidFill>
                <a:cs typeface="Times New Roman" panose="02020603050405020304" pitchFamily="18" charset="0"/>
              </a:rPr>
              <a:t>, a</a:t>
            </a:r>
            <a:r>
              <a:rPr lang="zh-CN" altLang="zh-CN" sz="2600" b="1" baseline="-20000" dirty="0">
                <a:solidFill>
                  <a:srgbClr val="FF0065"/>
                </a:solidFill>
                <a:cs typeface="Times New Roman" panose="02020603050405020304" pitchFamily="18" charset="0"/>
              </a:rPr>
              <a:t>2</a:t>
            </a:r>
            <a:r>
              <a:rPr lang="zh-CN" altLang="zh-CN" sz="2600" b="1" dirty="0">
                <a:solidFill>
                  <a:srgbClr val="FF0065"/>
                </a:solidFill>
                <a:cs typeface="Times New Roman" panose="02020603050405020304" pitchFamily="18" charset="0"/>
              </a:rPr>
              <a:t>, …, a</a:t>
            </a:r>
            <a:r>
              <a:rPr lang="zh-CN" altLang="zh-CN" sz="2600" b="1" baseline="-20000" dirty="0">
                <a:solidFill>
                  <a:srgbClr val="FF0065"/>
                </a:solidFill>
                <a:cs typeface="Times New Roman" panose="02020603050405020304" pitchFamily="18" charset="0"/>
              </a:rPr>
              <a:t>n </a:t>
            </a:r>
            <a:r>
              <a:rPr lang="zh-CN" altLang="zh-CN" sz="2600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 </a:t>
            </a:r>
            <a:r>
              <a:rPr lang="zh-CN" altLang="zh-CN" sz="2600" b="1" dirty="0">
                <a:solidFill>
                  <a:srgbClr val="FF0065"/>
                </a:solidFill>
                <a:latin typeface="Symbol" panose="05050102010706020507" pitchFamily="18" charset="2"/>
              </a:rPr>
              <a:t></a:t>
            </a:r>
            <a:r>
              <a:rPr lang="zh-CN" altLang="zh-CN" sz="2600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 </a:t>
            </a:r>
            <a:r>
              <a:rPr lang="zh-CN" altLang="zh-CN" sz="2600" b="1" dirty="0">
                <a:solidFill>
                  <a:srgbClr val="FF0065"/>
                </a:solidFill>
                <a:latin typeface="Symbol" panose="05050102010706020507" pitchFamily="18" charset="2"/>
              </a:rPr>
              <a:t></a:t>
            </a:r>
            <a:r>
              <a:rPr lang="zh-CN" altLang="zh-CN" sz="2600" b="1" dirty="0">
                <a:solidFill>
                  <a:srgbClr val="FF0065"/>
                </a:solidFill>
                <a:cs typeface="Times New Roman" panose="02020603050405020304" pitchFamily="18" charset="0"/>
              </a:rPr>
              <a:t> </a:t>
            </a:r>
            <a:r>
              <a:rPr lang="zh-CN" altLang="zh-CN" sz="2600" b="1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lang="zh-CN" altLang="zh-CN" sz="2600" b="1" dirty="0">
                <a:solidFill>
                  <a:srgbClr val="3333CC"/>
                </a:solidFill>
                <a:cs typeface="Times New Roman" panose="02020603050405020304" pitchFamily="18" charset="0"/>
              </a:rPr>
              <a:t>b</a:t>
            </a:r>
            <a:r>
              <a:rPr lang="zh-CN" altLang="zh-CN" sz="2600" b="1" baseline="-20000" dirty="0">
                <a:solidFill>
                  <a:srgbClr val="3333CC"/>
                </a:solidFill>
                <a:cs typeface="Times New Roman" panose="02020603050405020304" pitchFamily="18" charset="0"/>
              </a:rPr>
              <a:t>1</a:t>
            </a:r>
            <a:r>
              <a:rPr lang="zh-CN" altLang="zh-CN" sz="2600" b="1" dirty="0">
                <a:solidFill>
                  <a:srgbClr val="3333CC"/>
                </a:solidFill>
                <a:cs typeface="Times New Roman" panose="02020603050405020304" pitchFamily="18" charset="0"/>
              </a:rPr>
              <a:t>, b</a:t>
            </a:r>
            <a:r>
              <a:rPr lang="zh-CN" altLang="zh-CN" sz="2600" b="1" baseline="-20000" dirty="0">
                <a:solidFill>
                  <a:srgbClr val="3333CC"/>
                </a:solidFill>
                <a:cs typeface="Times New Roman" panose="02020603050405020304" pitchFamily="18" charset="0"/>
              </a:rPr>
              <a:t>2</a:t>
            </a:r>
            <a:r>
              <a:rPr lang="zh-CN" altLang="zh-CN" sz="2600" b="1" dirty="0">
                <a:solidFill>
                  <a:srgbClr val="3333CC"/>
                </a:solidFill>
                <a:cs typeface="Times New Roman" panose="02020603050405020304" pitchFamily="18" charset="0"/>
              </a:rPr>
              <a:t>, …, b</a:t>
            </a:r>
            <a:r>
              <a:rPr lang="zh-CN" altLang="zh-CN" sz="2600" b="1" baseline="-20000" dirty="0">
                <a:solidFill>
                  <a:srgbClr val="3333CC"/>
                </a:solidFill>
                <a:cs typeface="Times New Roman" panose="02020603050405020304" pitchFamily="18" charset="0"/>
              </a:rPr>
              <a:t>m</a:t>
            </a:r>
            <a:r>
              <a:rPr lang="zh-CN" altLang="zh-CN" sz="2600" b="1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 </a:t>
            </a:r>
            <a:r>
              <a:rPr lang="zh-CN" altLang="zh-CN" sz="2600" b="1" dirty="0">
                <a:solidFill>
                  <a:srgbClr val="FF0065"/>
                </a:solidFill>
                <a:latin typeface="Symbol" panose="05050102010706020507" pitchFamily="18" charset="2"/>
              </a:rPr>
              <a:t></a:t>
            </a:r>
            <a:r>
              <a:rPr lang="zh-CN" altLang="zh-CN" sz="2600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 }</a:t>
            </a:r>
            <a:endParaRPr lang="zh-CN" altLang="zh-CN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3232" y="620688"/>
            <a:ext cx="5995193" cy="555496"/>
          </a:xfrm>
          <a:prstGeom prst="rect">
            <a:avLst/>
          </a:prstGeom>
        </p:spPr>
        <p:txBody>
          <a:bodyPr wrap="square" lIns="0" tIns="62444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</a:pPr>
            <a:r>
              <a:rPr lang="zh-CN" altLang="zh-CN" sz="32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(3) “</a:t>
            </a:r>
            <a:r>
              <a:rPr lang="zh-CN" altLang="zh-CN" sz="3200" b="1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笛卡尔积</a:t>
            </a:r>
            <a:r>
              <a:rPr lang="zh-CN" altLang="zh-CN" sz="32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r>
              <a:rPr lang="zh-CN" altLang="zh-CN" sz="3200" b="1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操作</a:t>
            </a:r>
            <a:endParaRPr lang="zh-CN" altLang="zh-CN" sz="32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02E7998-F56A-45D4-984E-4E67E3C944B8}" type="slidenum">
              <a:rPr lang="en-US" altLang="zh-CN" smtClean="0"/>
              <a:pPr>
                <a:defRPr/>
              </a:pPr>
              <a:t>17</a:t>
            </a:fld>
            <a:endParaRPr lang="en-US" altLang="zh-CN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107504" y="1556792"/>
            <a:ext cx="5075238" cy="1779066"/>
          </a:xfrm>
          <a:prstGeom prst="rect">
            <a:avLst/>
          </a:prstGeom>
        </p:spPr>
        <p:txBody>
          <a:bodyPr wrap="square" lIns="0" tIns="88508" rIns="0" bIns="0">
            <a:spAutoFit/>
          </a:bodyPr>
          <a:lstStyle>
            <a:lvl1pPr marL="9525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700"/>
              </a:spcBef>
              <a:buFont typeface="Wingdings" panose="05000000000000000000" pitchFamily="2" charset="2"/>
              <a:buChar char=""/>
            </a:pPr>
            <a:r>
              <a:rPr lang="zh-CN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广义积操作的示例一</a:t>
            </a:r>
            <a:r>
              <a:rPr lang="zh-CN" altLang="zh-CN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zh-CN" altLang="zh-CN" b="1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抽象的</a:t>
            </a:r>
            <a:r>
              <a:rPr lang="zh-CN" altLang="zh-CN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zh-CN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eaLnBrk="1" hangingPunct="1">
              <a:lnSpc>
                <a:spcPct val="130000"/>
              </a:lnSpc>
            </a:pPr>
            <a:r>
              <a:rPr lang="en-US" altLang="zh-CN" sz="22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zh-CN" altLang="zh-CN" sz="22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关系</a:t>
            </a:r>
            <a:r>
              <a:rPr lang="zh-CN" altLang="zh-CN" sz="2200" b="1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zh-CN" altLang="zh-CN" sz="22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的元组数目是</a:t>
            </a:r>
            <a:r>
              <a:rPr lang="zh-CN" altLang="zh-CN" sz="2200" b="1" dirty="0">
                <a:cs typeface="Times New Roman" panose="02020603050405020304" pitchFamily="18" charset="0"/>
              </a:rPr>
              <a:t>3</a:t>
            </a:r>
            <a:r>
              <a:rPr lang="zh-CN" altLang="zh-CN" sz="22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，度数是</a:t>
            </a:r>
            <a:r>
              <a:rPr lang="zh-CN" altLang="zh-CN" sz="2200" b="1" dirty="0">
                <a:cs typeface="Times New Roman" panose="02020603050405020304" pitchFamily="18" charset="0"/>
              </a:rPr>
              <a:t>3; </a:t>
            </a:r>
            <a:r>
              <a:rPr lang="zh-CN" altLang="zh-CN" sz="22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关系</a:t>
            </a:r>
            <a:r>
              <a:rPr lang="zh-CN" altLang="zh-CN" sz="2200" b="1" dirty="0">
                <a:latin typeface="Arial" panose="020B0604020202020204" pitchFamily="34" charset="0"/>
                <a:cs typeface="Arial" panose="020B0604020202020204" pitchFamily="34" charset="0"/>
              </a:rPr>
              <a:t>S  </a:t>
            </a:r>
            <a:r>
              <a:rPr lang="zh-CN" altLang="zh-CN" sz="22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的元组数目是</a:t>
            </a:r>
            <a:r>
              <a:rPr lang="zh-CN" altLang="zh-CN" sz="2200" b="1" dirty="0">
                <a:cs typeface="Times New Roman" panose="02020603050405020304" pitchFamily="18" charset="0"/>
              </a:rPr>
              <a:t>4, </a:t>
            </a:r>
            <a:r>
              <a:rPr lang="zh-CN" altLang="zh-CN" sz="22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度数是</a:t>
            </a:r>
            <a:r>
              <a:rPr lang="zh-CN" altLang="zh-CN" sz="2200" b="1" dirty="0">
                <a:cs typeface="Times New Roman" panose="02020603050405020304" pitchFamily="18" charset="0"/>
              </a:rPr>
              <a:t>3; </a:t>
            </a:r>
            <a:r>
              <a:rPr lang="zh-CN" altLang="zh-CN" sz="22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则</a:t>
            </a:r>
            <a:r>
              <a:rPr lang="zh-CN" altLang="zh-CN" sz="2200" b="1" dirty="0">
                <a:latin typeface="Arial" panose="020B0604020202020204" pitchFamily="34" charset="0"/>
                <a:cs typeface="Arial" panose="020B0604020202020204" pitchFamily="34" charset="0"/>
              </a:rPr>
              <a:t>R x S</a:t>
            </a:r>
            <a:r>
              <a:rPr lang="zh-CN" altLang="zh-CN" sz="22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的元组 数目是</a:t>
            </a:r>
            <a:r>
              <a:rPr lang="zh-CN" altLang="zh-CN" sz="2200" b="1" dirty="0">
                <a:solidFill>
                  <a:srgbClr val="FF0000"/>
                </a:solidFill>
                <a:cs typeface="Times New Roman" panose="02020603050405020304" pitchFamily="18" charset="0"/>
              </a:rPr>
              <a:t>12</a:t>
            </a:r>
            <a:r>
              <a:rPr lang="zh-CN" altLang="zh-CN" sz="2200" b="1" dirty="0">
                <a:cs typeface="Times New Roman" panose="02020603050405020304" pitchFamily="18" charset="0"/>
              </a:rPr>
              <a:t>, </a:t>
            </a:r>
            <a:r>
              <a:rPr lang="zh-CN" altLang="zh-CN" sz="22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度数是</a:t>
            </a:r>
            <a:r>
              <a:rPr lang="zh-CN" altLang="zh-CN" sz="2200" b="1" dirty="0">
                <a:solidFill>
                  <a:srgbClr val="FF0000"/>
                </a:solidFill>
                <a:cs typeface="Times New Roman" panose="02020603050405020304" pitchFamily="18" charset="0"/>
              </a:rPr>
              <a:t>6</a:t>
            </a:r>
            <a:r>
              <a:rPr lang="zh-CN" altLang="zh-CN" sz="2200" b="1" dirty="0">
                <a:solidFill>
                  <a:srgbClr val="C0C0C0"/>
                </a:solidFill>
                <a:cs typeface="Times New Roman" panose="02020603050405020304" pitchFamily="18" charset="0"/>
              </a:rPr>
              <a:t> </a:t>
            </a:r>
            <a:endParaRPr lang="zh-CN" altLang="zh-CN" sz="2200" dirty="0">
              <a:cs typeface="Times New Roman" panose="02020603050405020304" pitchFamily="18" charset="0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69963" y="4148138"/>
            <a:ext cx="1384300" cy="13350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7" name="object 7"/>
          <p:cNvSpPr/>
          <p:nvPr/>
        </p:nvSpPr>
        <p:spPr>
          <a:xfrm>
            <a:off x="2870200" y="4114800"/>
            <a:ext cx="1384300" cy="159702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8" name="object 8"/>
          <p:cNvSpPr/>
          <p:nvPr/>
        </p:nvSpPr>
        <p:spPr>
          <a:xfrm>
            <a:off x="5326063" y="2327275"/>
            <a:ext cx="2770187" cy="369728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A6568E1-4089-4561-919E-9D2F37D3F2B0}" type="slidenum">
              <a:rPr lang="en-US" altLang="zh-CN" smtClean="0"/>
              <a:pPr>
                <a:defRPr/>
              </a:pPr>
              <a:t>18</a:t>
            </a:fld>
            <a:endParaRPr lang="en-US" altLang="zh-CN" dirty="0"/>
          </a:p>
        </p:txBody>
      </p:sp>
      <p:sp>
        <p:nvSpPr>
          <p:cNvPr id="12" name="标题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(3) “</a:t>
            </a:r>
            <a:r>
              <a:rPr lang="zh-CN" altLang="zh-CN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笛卡尔积</a:t>
            </a:r>
            <a:r>
              <a:rPr lang="zh-CN" altLang="zh-CN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r>
              <a:rPr lang="zh-CN" altLang="zh-CN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操作</a:t>
            </a:r>
            <a:endParaRPr lang="zh-CN" alt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82600" y="2060848"/>
            <a:ext cx="6523199" cy="41764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6" name="object 6"/>
          <p:cNvSpPr txBox="1"/>
          <p:nvPr/>
        </p:nvSpPr>
        <p:spPr>
          <a:xfrm>
            <a:off x="107504" y="1556792"/>
            <a:ext cx="3350195" cy="379750"/>
          </a:xfrm>
          <a:prstGeom prst="rect">
            <a:avLst/>
          </a:prstGeom>
        </p:spPr>
        <p:txBody>
          <a:bodyPr wrap="square" lIns="0" tIns="10317" rIns="0" bIns="0">
            <a:spAutoFit/>
          </a:bodyPr>
          <a:lstStyle>
            <a:lvl1pPr marL="242888" indent="-231775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75"/>
              </a:spcBef>
              <a:buFont typeface="Wingdings" panose="05000000000000000000" pitchFamily="2" charset="2"/>
              <a:buChar char=""/>
            </a:pPr>
            <a:r>
              <a:rPr lang="zh-CN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再看一个示例 </a:t>
            </a:r>
            <a:r>
              <a:rPr lang="zh-CN" altLang="zh-CN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zh-CN" altLang="zh-CN" b="1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抽象的</a:t>
            </a:r>
            <a:r>
              <a:rPr lang="zh-CN" altLang="zh-CN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zh-CN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A6568E1-4089-4561-919E-9D2F37D3F2B0}" type="slidenum">
              <a:rPr lang="en-US" altLang="zh-CN" smtClean="0"/>
              <a:pPr>
                <a:defRPr/>
              </a:pPr>
              <a:t>19</a:t>
            </a:fld>
            <a:endParaRPr lang="en-US" altLang="zh-CN" dirty="0"/>
          </a:p>
        </p:txBody>
      </p:sp>
      <p:sp>
        <p:nvSpPr>
          <p:cNvPr id="10" name="标题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(3) “</a:t>
            </a:r>
            <a:r>
              <a:rPr lang="zh-CN" altLang="zh-CN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笛卡尔积</a:t>
            </a:r>
            <a:r>
              <a:rPr lang="zh-CN" altLang="zh-CN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r>
              <a:rPr lang="zh-CN" altLang="zh-CN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操作</a:t>
            </a:r>
            <a:endParaRPr lang="zh-CN" alt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3817938" y="4132263"/>
            <a:ext cx="4516437" cy="15906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6" name="object 6"/>
          <p:cNvSpPr/>
          <p:nvPr/>
        </p:nvSpPr>
        <p:spPr>
          <a:xfrm>
            <a:off x="3870325" y="3914775"/>
            <a:ext cx="1454150" cy="20002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7" name="object 7"/>
          <p:cNvSpPr txBox="1"/>
          <p:nvPr/>
        </p:nvSpPr>
        <p:spPr>
          <a:xfrm>
            <a:off x="579500" y="1440054"/>
            <a:ext cx="8384988" cy="1957647"/>
          </a:xfrm>
          <a:prstGeom prst="rect">
            <a:avLst/>
          </a:prstGeom>
        </p:spPr>
        <p:txBody>
          <a:bodyPr wrap="square" lIns="0" tIns="89594" rIns="0" bIns="0">
            <a:spAutoFit/>
          </a:bodyPr>
          <a:lstStyle>
            <a:lvl1pPr marL="9525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700"/>
              </a:spcBef>
              <a:buFont typeface="Wingdings" panose="05000000000000000000" pitchFamily="2" charset="2"/>
              <a:buChar char=""/>
            </a:pPr>
            <a:r>
              <a:rPr lang="zh-CN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广义积操作的示例二</a:t>
            </a:r>
            <a:r>
              <a:rPr lang="zh-CN" altLang="zh-CN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zh-CN" altLang="zh-CN" b="1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语义的</a:t>
            </a:r>
            <a:r>
              <a:rPr lang="zh-CN" altLang="zh-CN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zh-CN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lnSpc>
                <a:spcPts val="2800"/>
              </a:lnSpc>
              <a:spcBef>
                <a:spcPts val="88"/>
              </a:spcBef>
            </a:pPr>
            <a:r>
              <a:rPr lang="en-US" altLang="zh-CN" b="1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zh-CN" altLang="zh-CN" b="1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当一个检索涉及到多个表时</a:t>
            </a:r>
            <a:r>
              <a:rPr lang="zh-CN" altLang="zh-CN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zh-CN" altLang="zh-CN" b="1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如学生表和课程表</a:t>
            </a:r>
            <a:r>
              <a:rPr lang="zh-CN" altLang="zh-CN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zh-CN" altLang="zh-CN" b="1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，便需要将这些表串接或 拼接起来，然后才能检索，这时，就要使用广义笛卡尔积运算</a:t>
            </a:r>
            <a:endParaRPr lang="zh-CN" altLang="zh-CN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eaLnBrk="1" hangingPunct="1">
              <a:spcBef>
                <a:spcPts val="275"/>
              </a:spcBef>
              <a:buFont typeface="Wingdings" panose="05000000000000000000" pitchFamily="2" charset="2"/>
              <a:buChar char=""/>
            </a:pPr>
            <a:r>
              <a:rPr lang="zh-CN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是后面学习各种连接运算的基础</a:t>
            </a:r>
            <a:endParaRPr lang="zh-CN" altLang="zh-CN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814388" y="3963988"/>
            <a:ext cx="2646362" cy="9017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9" name="object 9"/>
          <p:cNvSpPr/>
          <p:nvPr/>
        </p:nvSpPr>
        <p:spPr>
          <a:xfrm>
            <a:off x="3440113" y="4370388"/>
            <a:ext cx="376237" cy="65087"/>
          </a:xfrm>
          <a:custGeom>
            <a:avLst/>
            <a:gdLst/>
            <a:ahLst/>
            <a:cxnLst/>
            <a:rect l="l" t="t" r="r" b="b"/>
            <a:pathLst>
              <a:path w="440689" h="76200">
                <a:moveTo>
                  <a:pt x="381000" y="38099"/>
                </a:moveTo>
                <a:lnTo>
                  <a:pt x="380238" y="35051"/>
                </a:lnTo>
                <a:lnTo>
                  <a:pt x="376428" y="33527"/>
                </a:lnTo>
                <a:lnTo>
                  <a:pt x="5334" y="33527"/>
                </a:lnTo>
                <a:lnTo>
                  <a:pt x="1524" y="35051"/>
                </a:lnTo>
                <a:lnTo>
                  <a:pt x="0" y="38099"/>
                </a:lnTo>
                <a:lnTo>
                  <a:pt x="1524" y="41147"/>
                </a:lnTo>
                <a:lnTo>
                  <a:pt x="5334" y="42671"/>
                </a:lnTo>
                <a:lnTo>
                  <a:pt x="376428" y="42671"/>
                </a:lnTo>
                <a:lnTo>
                  <a:pt x="380238" y="41147"/>
                </a:lnTo>
                <a:lnTo>
                  <a:pt x="381000" y="38099"/>
                </a:lnTo>
                <a:close/>
              </a:path>
              <a:path w="440689" h="76200">
                <a:moveTo>
                  <a:pt x="440436" y="38099"/>
                </a:moveTo>
                <a:lnTo>
                  <a:pt x="364236" y="0"/>
                </a:lnTo>
                <a:lnTo>
                  <a:pt x="364236" y="33527"/>
                </a:lnTo>
                <a:lnTo>
                  <a:pt x="376428" y="33527"/>
                </a:lnTo>
                <a:lnTo>
                  <a:pt x="380238" y="35051"/>
                </a:lnTo>
                <a:lnTo>
                  <a:pt x="381000" y="38099"/>
                </a:lnTo>
                <a:lnTo>
                  <a:pt x="381000" y="67817"/>
                </a:lnTo>
                <a:lnTo>
                  <a:pt x="440436" y="38099"/>
                </a:lnTo>
                <a:close/>
              </a:path>
              <a:path w="440689" h="76200">
                <a:moveTo>
                  <a:pt x="381000" y="67817"/>
                </a:moveTo>
                <a:lnTo>
                  <a:pt x="381000" y="38099"/>
                </a:lnTo>
                <a:lnTo>
                  <a:pt x="380238" y="41147"/>
                </a:lnTo>
                <a:lnTo>
                  <a:pt x="376428" y="42671"/>
                </a:lnTo>
                <a:lnTo>
                  <a:pt x="364236" y="42671"/>
                </a:lnTo>
                <a:lnTo>
                  <a:pt x="364236" y="76199"/>
                </a:lnTo>
                <a:lnTo>
                  <a:pt x="381000" y="67817"/>
                </a:lnTo>
                <a:close/>
              </a:path>
            </a:pathLst>
          </a:custGeom>
          <a:solidFill>
            <a:srgbClr val="FF0066"/>
          </a:solid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0" name="object 10"/>
          <p:cNvSpPr/>
          <p:nvPr/>
        </p:nvSpPr>
        <p:spPr>
          <a:xfrm>
            <a:off x="3492500" y="5472113"/>
            <a:ext cx="100013" cy="546100"/>
          </a:xfrm>
          <a:custGeom>
            <a:avLst/>
            <a:gdLst/>
            <a:ahLst/>
            <a:cxnLst/>
            <a:rect l="l" t="t" r="r" b="b"/>
            <a:pathLst>
              <a:path w="116204" h="639445">
                <a:moveTo>
                  <a:pt x="0" y="0"/>
                </a:moveTo>
                <a:lnTo>
                  <a:pt x="40957" y="15525"/>
                </a:lnTo>
                <a:lnTo>
                  <a:pt x="57912" y="53340"/>
                </a:lnTo>
                <a:lnTo>
                  <a:pt x="57912" y="265938"/>
                </a:lnTo>
                <a:lnTo>
                  <a:pt x="62460" y="286809"/>
                </a:lnTo>
                <a:lnTo>
                  <a:pt x="74866" y="303752"/>
                </a:lnTo>
                <a:lnTo>
                  <a:pt x="93273" y="315122"/>
                </a:lnTo>
                <a:lnTo>
                  <a:pt x="115824" y="319278"/>
                </a:lnTo>
                <a:lnTo>
                  <a:pt x="93273" y="323540"/>
                </a:lnTo>
                <a:lnTo>
                  <a:pt x="74866" y="335089"/>
                </a:lnTo>
                <a:lnTo>
                  <a:pt x="62460" y="352067"/>
                </a:lnTo>
                <a:lnTo>
                  <a:pt x="57912" y="372618"/>
                </a:lnTo>
                <a:lnTo>
                  <a:pt x="57912" y="585978"/>
                </a:lnTo>
                <a:lnTo>
                  <a:pt x="53363" y="606849"/>
                </a:lnTo>
                <a:lnTo>
                  <a:pt x="40957" y="623792"/>
                </a:lnTo>
                <a:lnTo>
                  <a:pt x="22550" y="635162"/>
                </a:lnTo>
                <a:lnTo>
                  <a:pt x="0" y="639318"/>
                </a:lnTo>
              </a:path>
            </a:pathLst>
          </a:custGeom>
          <a:ln w="28575">
            <a:solidFill>
              <a:srgbClr val="3333CC"/>
            </a:solidFill>
          </a:ln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1" name="object 11"/>
          <p:cNvSpPr/>
          <p:nvPr/>
        </p:nvSpPr>
        <p:spPr>
          <a:xfrm>
            <a:off x="3605213" y="4540250"/>
            <a:ext cx="2470150" cy="1217613"/>
          </a:xfrm>
          <a:custGeom>
            <a:avLst/>
            <a:gdLst/>
            <a:ahLst/>
            <a:cxnLst/>
            <a:rect l="l" t="t" r="r" b="b"/>
            <a:pathLst>
              <a:path w="2889250" h="1423034">
                <a:moveTo>
                  <a:pt x="0" y="1422654"/>
                </a:moveTo>
                <a:lnTo>
                  <a:pt x="2720340" y="1422654"/>
                </a:lnTo>
                <a:lnTo>
                  <a:pt x="2720340" y="0"/>
                </a:lnTo>
                <a:lnTo>
                  <a:pt x="2888742" y="0"/>
                </a:lnTo>
              </a:path>
            </a:pathLst>
          </a:custGeom>
          <a:ln w="28575">
            <a:solidFill>
              <a:srgbClr val="3333CC"/>
            </a:solidFill>
          </a:ln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2" name="object 12"/>
          <p:cNvSpPr/>
          <p:nvPr/>
        </p:nvSpPr>
        <p:spPr>
          <a:xfrm>
            <a:off x="5964238" y="4319588"/>
            <a:ext cx="182562" cy="431800"/>
          </a:xfrm>
          <a:custGeom>
            <a:avLst/>
            <a:gdLst/>
            <a:ahLst/>
            <a:cxnLst/>
            <a:rect l="l" t="t" r="r" b="b"/>
            <a:pathLst>
              <a:path w="213359" h="504825">
                <a:moveTo>
                  <a:pt x="213359" y="0"/>
                </a:moveTo>
                <a:lnTo>
                  <a:pt x="171938" y="3333"/>
                </a:lnTo>
                <a:lnTo>
                  <a:pt x="138017" y="12382"/>
                </a:lnTo>
                <a:lnTo>
                  <a:pt x="115097" y="25717"/>
                </a:lnTo>
                <a:lnTo>
                  <a:pt x="106679" y="41910"/>
                </a:lnTo>
                <a:lnTo>
                  <a:pt x="106679" y="210311"/>
                </a:lnTo>
                <a:lnTo>
                  <a:pt x="98369" y="226504"/>
                </a:lnTo>
                <a:lnTo>
                  <a:pt x="75628" y="239839"/>
                </a:lnTo>
                <a:lnTo>
                  <a:pt x="41743" y="248888"/>
                </a:lnTo>
                <a:lnTo>
                  <a:pt x="0" y="252222"/>
                </a:lnTo>
                <a:lnTo>
                  <a:pt x="41743" y="255555"/>
                </a:lnTo>
                <a:lnTo>
                  <a:pt x="75628" y="264604"/>
                </a:lnTo>
                <a:lnTo>
                  <a:pt x="98369" y="277939"/>
                </a:lnTo>
                <a:lnTo>
                  <a:pt x="106679" y="294132"/>
                </a:lnTo>
                <a:lnTo>
                  <a:pt x="106679" y="462534"/>
                </a:lnTo>
                <a:lnTo>
                  <a:pt x="115097" y="479047"/>
                </a:lnTo>
                <a:lnTo>
                  <a:pt x="138017" y="492347"/>
                </a:lnTo>
                <a:lnTo>
                  <a:pt x="171938" y="501217"/>
                </a:lnTo>
                <a:lnTo>
                  <a:pt x="213359" y="504444"/>
                </a:lnTo>
              </a:path>
            </a:pathLst>
          </a:custGeom>
          <a:ln w="28575">
            <a:solidFill>
              <a:srgbClr val="3333CC"/>
            </a:solidFill>
          </a:ln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3" name="object 13"/>
          <p:cNvSpPr/>
          <p:nvPr/>
        </p:nvSpPr>
        <p:spPr>
          <a:xfrm>
            <a:off x="5948363" y="4779963"/>
            <a:ext cx="182562" cy="431800"/>
          </a:xfrm>
          <a:custGeom>
            <a:avLst/>
            <a:gdLst/>
            <a:ahLst/>
            <a:cxnLst/>
            <a:rect l="l" t="t" r="r" b="b"/>
            <a:pathLst>
              <a:path w="213359" h="505460">
                <a:moveTo>
                  <a:pt x="213359" y="0"/>
                </a:moveTo>
                <a:lnTo>
                  <a:pt x="171938" y="3333"/>
                </a:lnTo>
                <a:lnTo>
                  <a:pt x="138017" y="12382"/>
                </a:lnTo>
                <a:lnTo>
                  <a:pt x="115097" y="25717"/>
                </a:lnTo>
                <a:lnTo>
                  <a:pt x="106679" y="41910"/>
                </a:lnTo>
                <a:lnTo>
                  <a:pt x="106679" y="210311"/>
                </a:lnTo>
                <a:lnTo>
                  <a:pt x="98369" y="226825"/>
                </a:lnTo>
                <a:lnTo>
                  <a:pt x="75628" y="240125"/>
                </a:lnTo>
                <a:lnTo>
                  <a:pt x="41743" y="248995"/>
                </a:lnTo>
                <a:lnTo>
                  <a:pt x="0" y="252222"/>
                </a:lnTo>
                <a:lnTo>
                  <a:pt x="41743" y="255567"/>
                </a:lnTo>
                <a:lnTo>
                  <a:pt x="75628" y="264699"/>
                </a:lnTo>
                <a:lnTo>
                  <a:pt x="98369" y="278260"/>
                </a:lnTo>
                <a:lnTo>
                  <a:pt x="106679" y="294894"/>
                </a:lnTo>
                <a:lnTo>
                  <a:pt x="106679" y="462534"/>
                </a:lnTo>
                <a:lnTo>
                  <a:pt x="115097" y="479167"/>
                </a:lnTo>
                <a:lnTo>
                  <a:pt x="138017" y="492728"/>
                </a:lnTo>
                <a:lnTo>
                  <a:pt x="171938" y="501860"/>
                </a:lnTo>
                <a:lnTo>
                  <a:pt x="213359" y="505206"/>
                </a:lnTo>
              </a:path>
            </a:pathLst>
          </a:custGeom>
          <a:ln w="28575">
            <a:solidFill>
              <a:srgbClr val="3333CC"/>
            </a:solidFill>
          </a:ln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4" name="object 14"/>
          <p:cNvSpPr/>
          <p:nvPr/>
        </p:nvSpPr>
        <p:spPr>
          <a:xfrm>
            <a:off x="5919788" y="5251450"/>
            <a:ext cx="182562" cy="433388"/>
          </a:xfrm>
          <a:custGeom>
            <a:avLst/>
            <a:gdLst/>
            <a:ahLst/>
            <a:cxnLst/>
            <a:rect l="l" t="t" r="r" b="b"/>
            <a:pathLst>
              <a:path w="212725" h="505460">
                <a:moveTo>
                  <a:pt x="212598" y="0"/>
                </a:moveTo>
                <a:lnTo>
                  <a:pt x="171176" y="3333"/>
                </a:lnTo>
                <a:lnTo>
                  <a:pt x="137255" y="12382"/>
                </a:lnTo>
                <a:lnTo>
                  <a:pt x="114335" y="25717"/>
                </a:lnTo>
                <a:lnTo>
                  <a:pt x="105918" y="41910"/>
                </a:lnTo>
                <a:lnTo>
                  <a:pt x="105918" y="210311"/>
                </a:lnTo>
                <a:lnTo>
                  <a:pt x="97619" y="226825"/>
                </a:lnTo>
                <a:lnTo>
                  <a:pt x="74961" y="240125"/>
                </a:lnTo>
                <a:lnTo>
                  <a:pt x="41302" y="248995"/>
                </a:lnTo>
                <a:lnTo>
                  <a:pt x="0" y="252222"/>
                </a:lnTo>
                <a:lnTo>
                  <a:pt x="41302" y="255567"/>
                </a:lnTo>
                <a:lnTo>
                  <a:pt x="74961" y="264699"/>
                </a:lnTo>
                <a:lnTo>
                  <a:pt x="97619" y="278260"/>
                </a:lnTo>
                <a:lnTo>
                  <a:pt x="105918" y="294894"/>
                </a:lnTo>
                <a:lnTo>
                  <a:pt x="105918" y="462534"/>
                </a:lnTo>
                <a:lnTo>
                  <a:pt x="114335" y="479167"/>
                </a:lnTo>
                <a:lnTo>
                  <a:pt x="137255" y="492728"/>
                </a:lnTo>
                <a:lnTo>
                  <a:pt x="171176" y="501860"/>
                </a:lnTo>
                <a:lnTo>
                  <a:pt x="212598" y="505206"/>
                </a:lnTo>
              </a:path>
            </a:pathLst>
          </a:custGeom>
          <a:ln w="28575">
            <a:solidFill>
              <a:srgbClr val="3333CC"/>
            </a:solidFill>
          </a:ln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5" name="object 15"/>
          <p:cNvSpPr/>
          <p:nvPr/>
        </p:nvSpPr>
        <p:spPr>
          <a:xfrm>
            <a:off x="3452813" y="4586288"/>
            <a:ext cx="376237" cy="322262"/>
          </a:xfrm>
          <a:custGeom>
            <a:avLst/>
            <a:gdLst/>
            <a:ahLst/>
            <a:cxnLst/>
            <a:rect l="l" t="t" r="r" b="b"/>
            <a:pathLst>
              <a:path w="440054" h="376554">
                <a:moveTo>
                  <a:pt x="294132" y="333756"/>
                </a:moveTo>
                <a:lnTo>
                  <a:pt x="294132" y="4571"/>
                </a:lnTo>
                <a:lnTo>
                  <a:pt x="292608" y="1523"/>
                </a:lnTo>
                <a:lnTo>
                  <a:pt x="288798" y="0"/>
                </a:lnTo>
                <a:lnTo>
                  <a:pt x="4572" y="0"/>
                </a:lnTo>
                <a:lnTo>
                  <a:pt x="1524" y="1524"/>
                </a:lnTo>
                <a:lnTo>
                  <a:pt x="0" y="4572"/>
                </a:lnTo>
                <a:lnTo>
                  <a:pt x="1524" y="8382"/>
                </a:lnTo>
                <a:lnTo>
                  <a:pt x="4572" y="9906"/>
                </a:lnTo>
                <a:lnTo>
                  <a:pt x="284226" y="9905"/>
                </a:lnTo>
                <a:lnTo>
                  <a:pt x="284226" y="4571"/>
                </a:lnTo>
                <a:lnTo>
                  <a:pt x="288798" y="9905"/>
                </a:lnTo>
                <a:lnTo>
                  <a:pt x="288798" y="333756"/>
                </a:lnTo>
                <a:lnTo>
                  <a:pt x="294132" y="333756"/>
                </a:lnTo>
                <a:close/>
              </a:path>
              <a:path w="440054" h="376554">
                <a:moveTo>
                  <a:pt x="288798" y="9905"/>
                </a:moveTo>
                <a:lnTo>
                  <a:pt x="284226" y="4571"/>
                </a:lnTo>
                <a:lnTo>
                  <a:pt x="284226" y="9905"/>
                </a:lnTo>
                <a:lnTo>
                  <a:pt x="288798" y="9905"/>
                </a:lnTo>
                <a:close/>
              </a:path>
              <a:path w="440054" h="376554">
                <a:moveTo>
                  <a:pt x="294132" y="342900"/>
                </a:moveTo>
                <a:lnTo>
                  <a:pt x="294132" y="338328"/>
                </a:lnTo>
                <a:lnTo>
                  <a:pt x="288798" y="333756"/>
                </a:lnTo>
                <a:lnTo>
                  <a:pt x="288798" y="9905"/>
                </a:lnTo>
                <a:lnTo>
                  <a:pt x="284226" y="9905"/>
                </a:lnTo>
                <a:lnTo>
                  <a:pt x="284226" y="338328"/>
                </a:lnTo>
                <a:lnTo>
                  <a:pt x="285750" y="341376"/>
                </a:lnTo>
                <a:lnTo>
                  <a:pt x="288798" y="342900"/>
                </a:lnTo>
                <a:lnTo>
                  <a:pt x="294132" y="342900"/>
                </a:lnTo>
                <a:close/>
              </a:path>
              <a:path w="440054" h="376554">
                <a:moveTo>
                  <a:pt x="381000" y="338327"/>
                </a:moveTo>
                <a:lnTo>
                  <a:pt x="379476" y="335279"/>
                </a:lnTo>
                <a:lnTo>
                  <a:pt x="376428" y="333755"/>
                </a:lnTo>
                <a:lnTo>
                  <a:pt x="288798" y="333756"/>
                </a:lnTo>
                <a:lnTo>
                  <a:pt x="294132" y="338328"/>
                </a:lnTo>
                <a:lnTo>
                  <a:pt x="294132" y="342900"/>
                </a:lnTo>
                <a:lnTo>
                  <a:pt x="376428" y="342899"/>
                </a:lnTo>
                <a:lnTo>
                  <a:pt x="379476" y="341375"/>
                </a:lnTo>
                <a:lnTo>
                  <a:pt x="381000" y="338327"/>
                </a:lnTo>
                <a:close/>
              </a:path>
              <a:path w="440054" h="376554">
                <a:moveTo>
                  <a:pt x="439674" y="338327"/>
                </a:moveTo>
                <a:lnTo>
                  <a:pt x="363474" y="300228"/>
                </a:lnTo>
                <a:lnTo>
                  <a:pt x="363474" y="333756"/>
                </a:lnTo>
                <a:lnTo>
                  <a:pt x="376428" y="333755"/>
                </a:lnTo>
                <a:lnTo>
                  <a:pt x="379476" y="335279"/>
                </a:lnTo>
                <a:lnTo>
                  <a:pt x="381000" y="338327"/>
                </a:lnTo>
                <a:lnTo>
                  <a:pt x="381000" y="367664"/>
                </a:lnTo>
                <a:lnTo>
                  <a:pt x="439674" y="338327"/>
                </a:lnTo>
                <a:close/>
              </a:path>
              <a:path w="440054" h="376554">
                <a:moveTo>
                  <a:pt x="381000" y="367664"/>
                </a:moveTo>
                <a:lnTo>
                  <a:pt x="381000" y="338327"/>
                </a:lnTo>
                <a:lnTo>
                  <a:pt x="379476" y="341375"/>
                </a:lnTo>
                <a:lnTo>
                  <a:pt x="376428" y="342899"/>
                </a:lnTo>
                <a:lnTo>
                  <a:pt x="363474" y="342900"/>
                </a:lnTo>
                <a:lnTo>
                  <a:pt x="363474" y="376428"/>
                </a:lnTo>
                <a:lnTo>
                  <a:pt x="381000" y="367664"/>
                </a:lnTo>
                <a:close/>
              </a:path>
            </a:pathLst>
          </a:custGeom>
          <a:solidFill>
            <a:srgbClr val="FF0066"/>
          </a:solid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6" name="object 16"/>
          <p:cNvSpPr/>
          <p:nvPr/>
        </p:nvSpPr>
        <p:spPr>
          <a:xfrm>
            <a:off x="3440113" y="4773613"/>
            <a:ext cx="376237" cy="595312"/>
          </a:xfrm>
          <a:custGeom>
            <a:avLst/>
            <a:gdLst/>
            <a:ahLst/>
            <a:cxnLst/>
            <a:rect l="l" t="t" r="r" b="b"/>
            <a:pathLst>
              <a:path w="440689" h="696595">
                <a:moveTo>
                  <a:pt x="182880" y="653796"/>
                </a:moveTo>
                <a:lnTo>
                  <a:pt x="182880" y="4571"/>
                </a:lnTo>
                <a:lnTo>
                  <a:pt x="181356" y="761"/>
                </a:lnTo>
                <a:lnTo>
                  <a:pt x="178308" y="0"/>
                </a:lnTo>
                <a:lnTo>
                  <a:pt x="5334" y="0"/>
                </a:lnTo>
                <a:lnTo>
                  <a:pt x="1524" y="762"/>
                </a:lnTo>
                <a:lnTo>
                  <a:pt x="0" y="4572"/>
                </a:lnTo>
                <a:lnTo>
                  <a:pt x="1524" y="7620"/>
                </a:lnTo>
                <a:lnTo>
                  <a:pt x="5334" y="9144"/>
                </a:lnTo>
                <a:lnTo>
                  <a:pt x="173736" y="9143"/>
                </a:lnTo>
                <a:lnTo>
                  <a:pt x="173736" y="4571"/>
                </a:lnTo>
                <a:lnTo>
                  <a:pt x="178308" y="9143"/>
                </a:lnTo>
                <a:lnTo>
                  <a:pt x="178308" y="653796"/>
                </a:lnTo>
                <a:lnTo>
                  <a:pt x="182880" y="653796"/>
                </a:lnTo>
                <a:close/>
              </a:path>
              <a:path w="440689" h="696595">
                <a:moveTo>
                  <a:pt x="178308" y="9143"/>
                </a:moveTo>
                <a:lnTo>
                  <a:pt x="173736" y="4571"/>
                </a:lnTo>
                <a:lnTo>
                  <a:pt x="173736" y="9143"/>
                </a:lnTo>
                <a:lnTo>
                  <a:pt x="178308" y="9143"/>
                </a:lnTo>
                <a:close/>
              </a:path>
              <a:path w="440689" h="696595">
                <a:moveTo>
                  <a:pt x="182880" y="662940"/>
                </a:moveTo>
                <a:lnTo>
                  <a:pt x="182880" y="658368"/>
                </a:lnTo>
                <a:lnTo>
                  <a:pt x="178308" y="653796"/>
                </a:lnTo>
                <a:lnTo>
                  <a:pt x="178308" y="9143"/>
                </a:lnTo>
                <a:lnTo>
                  <a:pt x="173736" y="9143"/>
                </a:lnTo>
                <a:lnTo>
                  <a:pt x="173736" y="658368"/>
                </a:lnTo>
                <a:lnTo>
                  <a:pt x="174498" y="662178"/>
                </a:lnTo>
                <a:lnTo>
                  <a:pt x="178308" y="662940"/>
                </a:lnTo>
                <a:lnTo>
                  <a:pt x="182880" y="662940"/>
                </a:lnTo>
                <a:close/>
              </a:path>
              <a:path w="440689" h="696595">
                <a:moveTo>
                  <a:pt x="381000" y="658368"/>
                </a:moveTo>
                <a:lnTo>
                  <a:pt x="380238" y="655320"/>
                </a:lnTo>
                <a:lnTo>
                  <a:pt x="376428" y="653796"/>
                </a:lnTo>
                <a:lnTo>
                  <a:pt x="178308" y="653796"/>
                </a:lnTo>
                <a:lnTo>
                  <a:pt x="182880" y="658368"/>
                </a:lnTo>
                <a:lnTo>
                  <a:pt x="182880" y="662940"/>
                </a:lnTo>
                <a:lnTo>
                  <a:pt x="376428" y="662940"/>
                </a:lnTo>
                <a:lnTo>
                  <a:pt x="380238" y="662178"/>
                </a:lnTo>
                <a:lnTo>
                  <a:pt x="381000" y="658368"/>
                </a:lnTo>
                <a:close/>
              </a:path>
              <a:path w="440689" h="696595">
                <a:moveTo>
                  <a:pt x="440436" y="658368"/>
                </a:moveTo>
                <a:lnTo>
                  <a:pt x="364236" y="620268"/>
                </a:lnTo>
                <a:lnTo>
                  <a:pt x="364236" y="653796"/>
                </a:lnTo>
                <a:lnTo>
                  <a:pt x="376428" y="653796"/>
                </a:lnTo>
                <a:lnTo>
                  <a:pt x="380238" y="655320"/>
                </a:lnTo>
                <a:lnTo>
                  <a:pt x="381000" y="658368"/>
                </a:lnTo>
                <a:lnTo>
                  <a:pt x="381000" y="688086"/>
                </a:lnTo>
                <a:lnTo>
                  <a:pt x="440436" y="658368"/>
                </a:lnTo>
                <a:close/>
              </a:path>
              <a:path w="440689" h="696595">
                <a:moveTo>
                  <a:pt x="381000" y="688086"/>
                </a:moveTo>
                <a:lnTo>
                  <a:pt x="381000" y="658368"/>
                </a:lnTo>
                <a:lnTo>
                  <a:pt x="380238" y="662178"/>
                </a:lnTo>
                <a:lnTo>
                  <a:pt x="376428" y="662940"/>
                </a:lnTo>
                <a:lnTo>
                  <a:pt x="364236" y="662940"/>
                </a:lnTo>
                <a:lnTo>
                  <a:pt x="364236" y="696468"/>
                </a:lnTo>
                <a:lnTo>
                  <a:pt x="381000" y="688086"/>
                </a:lnTo>
                <a:close/>
              </a:path>
            </a:pathLst>
          </a:custGeom>
          <a:solidFill>
            <a:srgbClr val="FF0066"/>
          </a:solid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7" name="object 17"/>
          <p:cNvSpPr/>
          <p:nvPr/>
        </p:nvSpPr>
        <p:spPr>
          <a:xfrm>
            <a:off x="806450" y="5116513"/>
            <a:ext cx="2660650" cy="9017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20" name="灯片编号占位符 1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A6568E1-4089-4561-919E-9D2F37D3F2B0}" type="slidenum">
              <a:rPr lang="en-US" altLang="zh-CN" smtClean="0"/>
              <a:pPr>
                <a:defRPr/>
              </a:pPr>
              <a:t>20</a:t>
            </a:fld>
            <a:endParaRPr lang="en-US" altLang="zh-CN" dirty="0"/>
          </a:p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(3) “</a:t>
            </a:r>
            <a:r>
              <a:rPr lang="zh-CN" altLang="zh-CN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笛卡尔积</a:t>
            </a:r>
            <a:r>
              <a:rPr lang="zh-CN" altLang="zh-CN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r>
              <a:rPr lang="zh-CN" altLang="zh-CN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操作</a:t>
            </a:r>
            <a:endParaRPr lang="zh-CN" alt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539552" y="1549183"/>
            <a:ext cx="8462142" cy="4544113"/>
          </a:xfrm>
          <a:prstGeom prst="rect">
            <a:avLst/>
          </a:prstGeom>
        </p:spPr>
        <p:txBody>
          <a:bodyPr wrap="square" lIns="0" tIns="2715" rIns="0" bIns="0">
            <a:spAutoFit/>
          </a:bodyPr>
          <a:lstStyle>
            <a:lvl1pPr marL="9525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3000"/>
              </a:lnSpc>
              <a:spcBef>
                <a:spcPts val="25"/>
              </a:spcBef>
              <a:buClr>
                <a:srgbClr val="000000"/>
              </a:buClr>
              <a:buFont typeface="Wingdings" panose="05000000000000000000" pitchFamily="2" charset="2"/>
              <a:buChar char=""/>
            </a:pPr>
            <a:r>
              <a:rPr lang="zh-CN" altLang="zh-CN" sz="2200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 x S = S x R </a:t>
            </a:r>
            <a:r>
              <a:rPr lang="zh-CN" altLang="zh-CN" sz="22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： </a:t>
            </a:r>
            <a:r>
              <a:rPr lang="zh-CN" altLang="zh-CN" sz="2200" b="1" dirty="0">
                <a:latin typeface="Arial" panose="020B0604020202020204" pitchFamily="34" charset="0"/>
                <a:cs typeface="Arial" panose="020B0604020202020204" pitchFamily="34" charset="0"/>
              </a:rPr>
              <a:t>R x S</a:t>
            </a:r>
            <a:r>
              <a:rPr lang="zh-CN" altLang="zh-CN" sz="22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为</a:t>
            </a:r>
            <a:r>
              <a:rPr lang="zh-CN" altLang="zh-CN" sz="2200" b="1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zh-CN" altLang="zh-CN" sz="22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中的每一个元组都和</a:t>
            </a:r>
            <a:r>
              <a:rPr lang="zh-CN" altLang="zh-CN" sz="2200" b="1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zh-CN" altLang="zh-CN" sz="22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中的所有元组进行串接。 </a:t>
            </a:r>
            <a:r>
              <a:rPr lang="zh-CN" altLang="zh-CN" sz="2200" b="1" dirty="0">
                <a:latin typeface="Arial" panose="020B0604020202020204" pitchFamily="34" charset="0"/>
                <a:cs typeface="Arial" panose="020B0604020202020204" pitchFamily="34" charset="0"/>
              </a:rPr>
              <a:t>S x R</a:t>
            </a:r>
            <a:r>
              <a:rPr lang="zh-CN" altLang="zh-CN" sz="22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为</a:t>
            </a:r>
            <a:r>
              <a:rPr lang="zh-CN" altLang="zh-CN" sz="2200" b="1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zh-CN" altLang="zh-CN" sz="22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中的每一个元组都和</a:t>
            </a:r>
            <a:r>
              <a:rPr lang="zh-CN" altLang="zh-CN" sz="2200" b="1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zh-CN" altLang="zh-CN" sz="22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中的所有元组进行串接。结果是相同 的。</a:t>
            </a:r>
            <a:endParaRPr lang="zh-CN" altLang="zh-CN" sz="22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eaLnBrk="1" hangingPunct="1">
              <a:spcBef>
                <a:spcPts val="488"/>
              </a:spcBef>
              <a:buFont typeface="Wingdings" panose="05000000000000000000" pitchFamily="2" charset="2"/>
              <a:buChar char=""/>
            </a:pPr>
            <a:r>
              <a:rPr lang="zh-CN" altLang="zh-CN" sz="22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两个关系</a:t>
            </a:r>
            <a:r>
              <a:rPr lang="zh-CN" altLang="zh-CN" sz="2200" b="1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zh-CN" altLang="zh-CN" sz="22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和</a:t>
            </a:r>
            <a:r>
              <a:rPr lang="zh-CN" altLang="zh-CN" sz="2200" b="1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zh-CN" altLang="zh-CN" sz="22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，它们的属性个数分别为</a:t>
            </a:r>
            <a:r>
              <a:rPr lang="zh-CN" altLang="zh-CN" sz="2200" b="1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zh-CN" altLang="zh-CN" sz="22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和</a:t>
            </a:r>
            <a:r>
              <a:rPr lang="zh-CN" altLang="zh-CN" sz="2200" b="1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zh-CN" altLang="zh-CN" sz="2200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(R</a:t>
            </a:r>
            <a:r>
              <a:rPr lang="zh-CN" altLang="zh-CN" sz="2200" b="1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是</a:t>
            </a:r>
            <a:r>
              <a:rPr lang="zh-CN" altLang="zh-CN" sz="2200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zh-CN" altLang="zh-CN" sz="2200" b="1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度关系，</a:t>
            </a:r>
            <a:r>
              <a:rPr lang="zh-CN" altLang="zh-CN" sz="2200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zh-CN" altLang="zh-CN" sz="2200" b="1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是</a:t>
            </a:r>
            <a:r>
              <a:rPr lang="zh-CN" altLang="zh-CN" sz="2200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zh-CN" altLang="zh-CN" sz="2200" b="1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度关系</a:t>
            </a:r>
            <a:r>
              <a:rPr lang="zh-CN" altLang="zh-CN" sz="2200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zh-CN" altLang="zh-CN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eaLnBrk="1" hangingPunct="1">
              <a:spcBef>
                <a:spcPts val="625"/>
              </a:spcBef>
            </a:pPr>
            <a:r>
              <a:rPr lang="zh-CN" altLang="zh-CN" sz="2200" dirty="0">
                <a:latin typeface="Wingdings" panose="05000000000000000000" pitchFamily="2" charset="2"/>
              </a:rPr>
              <a:t></a:t>
            </a:r>
            <a:r>
              <a:rPr lang="zh-CN" altLang="zh-CN" sz="22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则笛卡尔积 </a:t>
            </a:r>
            <a:r>
              <a:rPr lang="zh-CN" altLang="zh-CN" sz="2200" b="1" dirty="0">
                <a:latin typeface="Arial" panose="020B0604020202020204" pitchFamily="34" charset="0"/>
                <a:cs typeface="Arial" panose="020B0604020202020204" pitchFamily="34" charset="0"/>
              </a:rPr>
              <a:t>R x S</a:t>
            </a:r>
            <a:r>
              <a:rPr lang="zh-CN" altLang="zh-CN" sz="22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的属性个数 </a:t>
            </a:r>
            <a:r>
              <a:rPr lang="zh-CN" altLang="zh-CN" sz="2200" b="1" dirty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lang="zh-CN" altLang="zh-CN" sz="2200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 + m</a:t>
            </a:r>
            <a:r>
              <a:rPr lang="zh-CN" altLang="zh-CN" sz="22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。即元组的前</a:t>
            </a:r>
            <a:r>
              <a:rPr lang="zh-CN" altLang="zh-CN" sz="2200" b="1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zh-CN" altLang="zh-CN" sz="22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个分量是</a:t>
            </a:r>
            <a:r>
              <a:rPr lang="zh-CN" altLang="zh-CN" sz="2200" b="1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zh-CN" altLang="zh-CN" sz="22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中元组的分量，后</a:t>
            </a:r>
            <a:r>
              <a:rPr lang="zh-CN" altLang="zh-CN" sz="2200" b="1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zh-CN" altLang="zh-CN" sz="22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个分量是</a:t>
            </a:r>
            <a:r>
              <a:rPr lang="zh-CN" altLang="zh-CN" sz="2200" b="1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zh-CN" altLang="zh-CN" sz="22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中元 组的分量</a:t>
            </a:r>
            <a:r>
              <a:rPr lang="zh-CN" altLang="zh-CN" sz="2200" b="1" dirty="0">
                <a:solidFill>
                  <a:srgbClr val="7F7F7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(R x S</a:t>
            </a:r>
            <a:r>
              <a:rPr lang="zh-CN" altLang="zh-CN" sz="2200" b="1" dirty="0">
                <a:solidFill>
                  <a:srgbClr val="7F7F7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是</a:t>
            </a:r>
            <a:r>
              <a:rPr lang="zh-CN" altLang="zh-CN" sz="2200" b="1" dirty="0">
                <a:solidFill>
                  <a:srgbClr val="7F7F7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n+m</a:t>
            </a:r>
            <a:r>
              <a:rPr lang="zh-CN" altLang="zh-CN" sz="2200" b="1" dirty="0">
                <a:solidFill>
                  <a:srgbClr val="7F7F7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度关系</a:t>
            </a:r>
            <a:r>
              <a:rPr lang="zh-CN" altLang="zh-CN" sz="2200" b="1" dirty="0">
                <a:solidFill>
                  <a:srgbClr val="7F7F7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  <a:endParaRPr lang="zh-CN" altLang="zh-CN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endParaRPr lang="zh-CN" altLang="zh-CN" sz="800" dirty="0">
              <a:cs typeface="Times New Roman" panose="02020603050405020304" pitchFamily="18" charset="0"/>
            </a:endParaRPr>
          </a:p>
          <a:p>
            <a:pPr eaLnBrk="1" hangingPunct="1">
              <a:spcBef>
                <a:spcPts val="1138"/>
              </a:spcBef>
              <a:buFont typeface="Wingdings" panose="05000000000000000000" pitchFamily="2" charset="2"/>
              <a:buChar char=""/>
            </a:pPr>
            <a:r>
              <a:rPr lang="zh-CN" altLang="zh-CN" sz="22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两个关系</a:t>
            </a:r>
            <a:r>
              <a:rPr lang="zh-CN" altLang="zh-CN" sz="2200" b="1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zh-CN" altLang="zh-CN" sz="22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和</a:t>
            </a:r>
            <a:r>
              <a:rPr lang="zh-CN" altLang="zh-CN" sz="2200" b="1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zh-CN" altLang="zh-CN" sz="22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，它们的元组个数分别为</a:t>
            </a:r>
            <a:r>
              <a:rPr lang="zh-CN" altLang="zh-CN" sz="2200" b="1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zh-CN" altLang="zh-CN" sz="22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和</a:t>
            </a:r>
            <a:r>
              <a:rPr lang="zh-CN" altLang="zh-CN" sz="2200" b="1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zh-CN" altLang="zh-CN" sz="2200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zh-CN" altLang="zh-CN" sz="2200" b="1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关系</a:t>
            </a:r>
            <a:r>
              <a:rPr lang="zh-CN" altLang="zh-CN" sz="2200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zh-CN" altLang="zh-CN" sz="2200" b="1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的基数</a:t>
            </a:r>
            <a:r>
              <a:rPr lang="zh-CN" altLang="zh-CN" sz="2200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x, S</a:t>
            </a:r>
            <a:r>
              <a:rPr lang="zh-CN" altLang="zh-CN" sz="2200" b="1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的基数</a:t>
            </a:r>
            <a:r>
              <a:rPr lang="zh-CN" altLang="zh-CN" sz="2200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y)</a:t>
            </a:r>
            <a:r>
              <a:rPr lang="zh-CN" altLang="zh-CN" sz="2200" b="1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endParaRPr lang="zh-CN" altLang="zh-CN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eaLnBrk="1" hangingPunct="1">
              <a:spcBef>
                <a:spcPts val="625"/>
              </a:spcBef>
            </a:pPr>
            <a:r>
              <a:rPr lang="zh-CN" altLang="zh-CN" sz="2200" dirty="0">
                <a:latin typeface="Wingdings" panose="05000000000000000000" pitchFamily="2" charset="2"/>
              </a:rPr>
              <a:t></a:t>
            </a:r>
            <a:r>
              <a:rPr lang="zh-CN" altLang="zh-CN" sz="22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则笛卡尔积</a:t>
            </a:r>
            <a:r>
              <a:rPr lang="zh-CN" altLang="zh-CN" sz="2200" b="1" dirty="0">
                <a:latin typeface="Arial" panose="020B0604020202020204" pitchFamily="34" charset="0"/>
                <a:cs typeface="Arial" panose="020B0604020202020204" pitchFamily="34" charset="0"/>
              </a:rPr>
              <a:t>R x S</a:t>
            </a:r>
            <a:r>
              <a:rPr lang="zh-CN" altLang="zh-CN" sz="22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的元组个数 </a:t>
            </a:r>
            <a:r>
              <a:rPr lang="zh-CN" altLang="zh-CN" sz="2200" b="1" dirty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lang="zh-CN" altLang="zh-CN" sz="2200" dirty="0">
                <a:solidFill>
                  <a:srgbClr val="7F7F7F"/>
                </a:solidFill>
                <a:cs typeface="Times New Roman" panose="02020603050405020304" pitchFamily="18" charset="0"/>
              </a:rPr>
              <a:t> </a:t>
            </a:r>
            <a:r>
              <a:rPr lang="zh-CN" altLang="zh-CN" sz="2200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 </a:t>
            </a:r>
            <a:r>
              <a:rPr lang="zh-CN" altLang="zh-CN" sz="2200" b="1" dirty="0">
                <a:solidFill>
                  <a:srgbClr val="FF0065"/>
                </a:solidFill>
                <a:latin typeface="Symbol" panose="05050102010706020507" pitchFamily="18" charset="2"/>
              </a:rPr>
              <a:t></a:t>
            </a:r>
            <a:r>
              <a:rPr lang="zh-CN" altLang="zh-CN" sz="2200" b="1" dirty="0">
                <a:solidFill>
                  <a:srgbClr val="FF0065"/>
                </a:solidFill>
                <a:cs typeface="Times New Roman" panose="02020603050405020304" pitchFamily="18" charset="0"/>
              </a:rPr>
              <a:t> </a:t>
            </a:r>
            <a:r>
              <a:rPr lang="zh-CN" altLang="zh-CN" sz="2200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zh-CN" altLang="zh-CN" sz="22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。</a:t>
            </a:r>
            <a:r>
              <a:rPr lang="zh-CN" altLang="zh-CN" sz="2200" b="1" dirty="0">
                <a:solidFill>
                  <a:srgbClr val="7F7F7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(R x S</a:t>
            </a:r>
            <a:r>
              <a:rPr lang="zh-CN" altLang="zh-CN" sz="2200" b="1" dirty="0">
                <a:solidFill>
                  <a:srgbClr val="7F7F7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的基数是</a:t>
            </a:r>
            <a:r>
              <a:rPr lang="zh-CN" altLang="zh-CN" sz="2200" b="1" dirty="0">
                <a:solidFill>
                  <a:srgbClr val="7F7F7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 </a:t>
            </a:r>
            <a:r>
              <a:rPr lang="zh-CN" altLang="zh-CN" sz="2200" b="1" dirty="0">
                <a:solidFill>
                  <a:srgbClr val="7F7F7F"/>
                </a:solidFill>
                <a:latin typeface="Symbol" panose="05050102010706020507" pitchFamily="18" charset="2"/>
              </a:rPr>
              <a:t></a:t>
            </a:r>
            <a:r>
              <a:rPr lang="zh-CN" altLang="zh-CN" sz="2200" b="1" dirty="0">
                <a:solidFill>
                  <a:srgbClr val="7F7F7F"/>
                </a:solidFill>
                <a:cs typeface="Times New Roman" panose="02020603050405020304" pitchFamily="18" charset="0"/>
              </a:rPr>
              <a:t> </a:t>
            </a:r>
            <a:r>
              <a:rPr lang="zh-CN" altLang="zh-CN" sz="2200" b="1" dirty="0">
                <a:solidFill>
                  <a:srgbClr val="7F7F7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y).</a:t>
            </a:r>
            <a:endParaRPr lang="zh-CN" altLang="zh-CN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A6568E1-4089-4561-919E-9D2F37D3F2B0}" type="slidenum">
              <a:rPr lang="en-US" altLang="zh-CN" smtClean="0"/>
              <a:pPr>
                <a:defRPr/>
              </a:pPr>
              <a:t>21</a:t>
            </a:fld>
            <a:endParaRPr lang="en-US" altLang="zh-CN" dirty="0"/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(3) “</a:t>
            </a:r>
            <a:r>
              <a:rPr lang="zh-CN" altLang="zh-CN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笛卡尔积</a:t>
            </a:r>
            <a:r>
              <a:rPr lang="zh-CN" altLang="zh-CN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r>
              <a:rPr lang="zh-CN" altLang="zh-CN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操作</a:t>
            </a:r>
            <a:endParaRPr lang="zh-CN" alt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53008" y="1594073"/>
            <a:ext cx="8711480" cy="4875852"/>
          </a:xfrm>
          <a:prstGeom prst="rect">
            <a:avLst/>
          </a:prstGeom>
        </p:spPr>
        <p:txBody>
          <a:bodyPr wrap="square" lIns="0" tIns="10317" rIns="0" bIns="0">
            <a:spAutoFit/>
          </a:bodyPr>
          <a:lstStyle>
            <a:lvl1pPr marL="952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75"/>
              </a:spcBef>
            </a:pPr>
            <a:r>
              <a:rPr lang="zh-CN" altLang="zh-CN" sz="27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选择(Select)</a:t>
            </a:r>
            <a:endParaRPr lang="zh-CN" altLang="zh-CN" sz="27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eaLnBrk="1" hangingPunct="1">
              <a:lnSpc>
                <a:spcPct val="130000"/>
              </a:lnSpc>
              <a:spcBef>
                <a:spcPts val="650"/>
              </a:spcBef>
              <a:buClr>
                <a:srgbClr val="000000"/>
              </a:buClr>
              <a:buFont typeface="Wingdings" panose="05000000000000000000" pitchFamily="2" charset="2"/>
              <a:buChar char=""/>
            </a:pPr>
            <a:r>
              <a:rPr lang="zh-CN" altLang="zh-CN" sz="2200" b="1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定义</a:t>
            </a:r>
            <a:r>
              <a:rPr lang="zh-CN" altLang="zh-CN" sz="22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：给定一个关系</a:t>
            </a:r>
            <a:r>
              <a:rPr lang="zh-CN" altLang="zh-CN" sz="2200" b="1" dirty="0">
                <a:latin typeface="Arial" panose="020B0604020202020204" pitchFamily="34" charset="0"/>
                <a:cs typeface="Arial" panose="020B0604020202020204" pitchFamily="34" charset="0"/>
              </a:rPr>
              <a:t>R, </a:t>
            </a:r>
            <a:r>
              <a:rPr lang="zh-CN" altLang="zh-CN" sz="22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同时给定一个选择的条件</a:t>
            </a:r>
            <a:r>
              <a:rPr lang="zh-CN" altLang="zh-CN" sz="2200" b="1" dirty="0">
                <a:latin typeface="Arial" panose="020B0604020202020204" pitchFamily="34" charset="0"/>
                <a:cs typeface="Arial" panose="020B0604020202020204" pitchFamily="34" charset="0"/>
              </a:rPr>
              <a:t>condition(</a:t>
            </a:r>
            <a:r>
              <a:rPr lang="zh-CN" altLang="zh-CN" sz="22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简记</a:t>
            </a:r>
            <a:r>
              <a:rPr lang="zh-CN" altLang="zh-CN" sz="2200" b="1" dirty="0">
                <a:latin typeface="Arial" panose="020B0604020202020204" pitchFamily="34" charset="0"/>
                <a:cs typeface="Arial" panose="020B0604020202020204" pitchFamily="34" charset="0"/>
              </a:rPr>
              <a:t>con), </a:t>
            </a:r>
            <a:r>
              <a:rPr lang="zh-CN" altLang="zh-CN" sz="22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选择运算结果也是一个关系，记作</a:t>
            </a:r>
            <a:r>
              <a:rPr lang="zh-CN" altLang="zh-CN" sz="2200" b="1" dirty="0">
                <a:solidFill>
                  <a:srgbClr val="FF0065"/>
                </a:solidFill>
                <a:latin typeface="Symbol" panose="05050102010706020507" pitchFamily="18" charset="2"/>
              </a:rPr>
              <a:t></a:t>
            </a:r>
            <a:r>
              <a:rPr lang="zh-CN" altLang="zh-CN" sz="2200" b="1" baseline="-17000" dirty="0">
                <a:solidFill>
                  <a:srgbClr val="FF0065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con</a:t>
            </a:r>
            <a:r>
              <a:rPr lang="zh-CN" altLang="zh-CN" sz="2200" b="1" dirty="0">
                <a:solidFill>
                  <a:srgbClr val="FF0065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(R) </a:t>
            </a:r>
            <a:r>
              <a:rPr lang="zh-CN" altLang="zh-CN" sz="2200" b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zh-CN" altLang="zh-CN" sz="22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它从关系</a:t>
            </a:r>
            <a:r>
              <a:rPr lang="zh-CN" altLang="zh-CN" sz="2200" b="1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zh-CN" altLang="zh-CN" sz="22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中选择出满足给定条件 </a:t>
            </a:r>
            <a:r>
              <a:rPr lang="zh-CN" altLang="zh-CN" sz="2200" b="1" dirty="0">
                <a:latin typeface="Arial" panose="020B0604020202020204" pitchFamily="34" charset="0"/>
                <a:cs typeface="Arial" panose="020B0604020202020204" pitchFamily="34" charset="0"/>
              </a:rPr>
              <a:t>condition</a:t>
            </a:r>
            <a:r>
              <a:rPr lang="zh-CN" altLang="zh-CN" sz="22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的元组构成。</a:t>
            </a:r>
            <a:endParaRPr lang="zh-CN" altLang="zh-CN" sz="22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eaLnBrk="1" hangingPunct="1">
              <a:spcBef>
                <a:spcPts val="788"/>
              </a:spcBef>
              <a:buFont typeface="Wingdings" panose="05000000000000000000" pitchFamily="2" charset="2"/>
              <a:buChar char=""/>
            </a:pPr>
            <a:r>
              <a:rPr lang="zh-CN" altLang="zh-CN" sz="2000" b="1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数学描述</a:t>
            </a: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：</a:t>
            </a:r>
            <a:r>
              <a:rPr lang="zh-CN" altLang="zh-CN" sz="2000" b="1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zh-CN" altLang="zh-CN" sz="2300" b="1" dirty="0">
                <a:solidFill>
                  <a:srgbClr val="FF0065"/>
                </a:solidFill>
                <a:latin typeface="Symbol" panose="05050102010706020507" pitchFamily="18" charset="2"/>
              </a:rPr>
              <a:t></a:t>
            </a:r>
            <a:r>
              <a:rPr lang="zh-CN" altLang="zh-CN" sz="2600" b="1" baseline="-16000" dirty="0">
                <a:solidFill>
                  <a:srgbClr val="FF0065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con</a:t>
            </a:r>
            <a:r>
              <a:rPr lang="zh-CN" altLang="zh-CN" sz="2300" b="1" dirty="0">
                <a:solidFill>
                  <a:srgbClr val="FF0065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(R)={t | t </a:t>
            </a:r>
            <a:r>
              <a:rPr lang="zh-CN" altLang="zh-CN" sz="2300" b="1" dirty="0">
                <a:solidFill>
                  <a:srgbClr val="FF0065"/>
                </a:solidFill>
                <a:latin typeface="Symbol" panose="05050102010706020507" pitchFamily="18" charset="2"/>
              </a:rPr>
              <a:t></a:t>
            </a:r>
            <a:r>
              <a:rPr lang="zh-CN" altLang="zh-CN" sz="2300" b="1" dirty="0">
                <a:solidFill>
                  <a:srgbClr val="FF0065"/>
                </a:solidFill>
                <a:cs typeface="Times New Roman" panose="02020603050405020304" pitchFamily="18" charset="0"/>
              </a:rPr>
              <a:t> </a:t>
            </a:r>
            <a:r>
              <a:rPr lang="zh-CN" altLang="zh-CN" sz="2300" b="1" dirty="0">
                <a:solidFill>
                  <a:srgbClr val="FF0065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R </a:t>
            </a:r>
            <a:r>
              <a:rPr lang="zh-CN" altLang="zh-CN" sz="2300" b="1" dirty="0">
                <a:solidFill>
                  <a:srgbClr val="FF0065"/>
                </a:solidFill>
                <a:latin typeface="Symbol" panose="05050102010706020507" pitchFamily="18" charset="2"/>
              </a:rPr>
              <a:t></a:t>
            </a:r>
            <a:r>
              <a:rPr lang="zh-CN" altLang="zh-CN" sz="2300" b="1" dirty="0">
                <a:solidFill>
                  <a:srgbClr val="FF0065"/>
                </a:solidFill>
                <a:cs typeface="Times New Roman" panose="02020603050405020304" pitchFamily="18" charset="0"/>
              </a:rPr>
              <a:t> </a:t>
            </a:r>
            <a:r>
              <a:rPr lang="zh-CN" altLang="zh-CN" sz="2300" b="1" dirty="0">
                <a:solidFill>
                  <a:srgbClr val="FF0065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con(t) = </a:t>
            </a:r>
            <a:r>
              <a:rPr lang="zh-CN" altLang="zh-CN" sz="2300" b="1" dirty="0">
                <a:solidFill>
                  <a:srgbClr val="FF0065"/>
                </a:solidFill>
                <a:cs typeface="Times New Roman" panose="02020603050405020304" pitchFamily="18" charset="0"/>
              </a:rPr>
              <a:t>‘</a:t>
            </a:r>
            <a:r>
              <a:rPr lang="zh-CN" altLang="zh-CN" sz="2300" b="1" dirty="0">
                <a:solidFill>
                  <a:srgbClr val="FF0065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真</a:t>
            </a:r>
            <a:r>
              <a:rPr lang="zh-CN" altLang="zh-CN" sz="2300" b="1" dirty="0">
                <a:solidFill>
                  <a:srgbClr val="FF0065"/>
                </a:solidFill>
                <a:cs typeface="Times New Roman" panose="02020603050405020304" pitchFamily="18" charset="0"/>
              </a:rPr>
              <a:t>’</a:t>
            </a:r>
            <a:r>
              <a:rPr lang="zh-CN" altLang="zh-CN" sz="2300" b="1" dirty="0">
                <a:solidFill>
                  <a:srgbClr val="FF0065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} </a:t>
            </a:r>
            <a:r>
              <a:rPr lang="zh-CN" altLang="zh-CN" sz="17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，</a:t>
            </a:r>
            <a:endParaRPr lang="zh-CN" altLang="zh-CN" sz="17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eaLnBrk="1" hangingPunct="1">
              <a:lnSpc>
                <a:spcPct val="130000"/>
              </a:lnSpc>
              <a:spcBef>
                <a:spcPts val="75"/>
              </a:spcBef>
            </a:pPr>
            <a:r>
              <a:rPr lang="zh-CN" altLang="zh-CN" sz="1700" dirty="0">
                <a:latin typeface="Wingdings" panose="05000000000000000000" pitchFamily="2" charset="2"/>
              </a:rPr>
              <a:t></a:t>
            </a:r>
            <a:r>
              <a:rPr lang="zh-CN" altLang="zh-CN" sz="1700" dirty="0">
                <a:cs typeface="Times New Roman" panose="02020603050405020304" pitchFamily="18" charset="0"/>
              </a:rPr>
              <a:t> </a:t>
            </a:r>
            <a:r>
              <a:rPr lang="zh-CN" altLang="zh-CN" sz="2200" b="1" dirty="0">
                <a:solidFill>
                  <a:srgbClr val="3333CC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设</a:t>
            </a:r>
            <a:r>
              <a:rPr lang="zh-CN" altLang="zh-CN" sz="2200" b="1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R(A</a:t>
            </a:r>
            <a:r>
              <a:rPr lang="zh-CN" altLang="zh-CN" sz="2200" b="1" baseline="-17000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zh-CN" altLang="zh-CN" sz="2200" b="1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,A</a:t>
            </a:r>
            <a:r>
              <a:rPr lang="zh-CN" altLang="zh-CN" sz="2200" b="1" baseline="-17000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zh-CN" altLang="zh-CN" sz="2200" b="1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… ,A</a:t>
            </a:r>
            <a:r>
              <a:rPr lang="zh-CN" altLang="zh-CN" sz="2200" b="1" baseline="-17000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zh-CN" altLang="zh-CN" sz="2200" b="1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), t</a:t>
            </a:r>
            <a:r>
              <a:rPr lang="zh-CN" altLang="zh-CN" sz="2200" b="1" dirty="0">
                <a:solidFill>
                  <a:srgbClr val="3333CC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是</a:t>
            </a:r>
            <a:r>
              <a:rPr lang="zh-CN" altLang="zh-CN" sz="2200" b="1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zh-CN" altLang="zh-CN" sz="2200" b="1" dirty="0">
                <a:solidFill>
                  <a:srgbClr val="3333CC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的元组</a:t>
            </a:r>
            <a:r>
              <a:rPr lang="zh-CN" altLang="zh-CN" sz="2200" b="1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t </a:t>
            </a:r>
            <a:r>
              <a:rPr lang="zh-CN" altLang="zh-CN" sz="2200" b="1" dirty="0">
                <a:solidFill>
                  <a:srgbClr val="3333CC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的分量记 </a:t>
            </a:r>
            <a:br>
              <a:rPr lang="en-US" altLang="zh-CN" sz="2200" b="1" dirty="0">
                <a:solidFill>
                  <a:srgbClr val="3333CC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</a:br>
            <a:r>
              <a:rPr lang="en-US" altLang="zh-CN" sz="2200" b="1" dirty="0">
                <a:solidFill>
                  <a:srgbClr val="3333CC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</a:t>
            </a:r>
            <a:r>
              <a:rPr lang="zh-CN" altLang="zh-CN" sz="2200" b="1" dirty="0">
                <a:solidFill>
                  <a:srgbClr val="3333CC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为</a:t>
            </a:r>
            <a:r>
              <a:rPr lang="zh-CN" altLang="zh-CN" sz="2200" b="1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t[A</a:t>
            </a:r>
            <a:r>
              <a:rPr lang="zh-CN" altLang="zh-CN" sz="2200" b="1" baseline="-17000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zh-CN" altLang="zh-CN" sz="2200" b="1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], </a:t>
            </a:r>
            <a:r>
              <a:rPr lang="zh-CN" altLang="zh-CN" sz="2200" b="1" dirty="0">
                <a:solidFill>
                  <a:srgbClr val="3333CC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或简写为</a:t>
            </a:r>
            <a:r>
              <a:rPr lang="zh-CN" altLang="zh-CN" sz="2200" b="1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zh-CN" altLang="zh-CN" sz="2200" b="1" baseline="-17000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endParaRPr lang="zh-CN" altLang="zh-CN" sz="2200" baseline="-17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ts val="625"/>
              </a:spcBef>
            </a:pPr>
            <a:r>
              <a:rPr lang="zh-CN" altLang="zh-CN" sz="2200" dirty="0">
                <a:solidFill>
                  <a:srgbClr val="3333CC"/>
                </a:solidFill>
                <a:latin typeface="Wingdings" panose="05000000000000000000" pitchFamily="2" charset="2"/>
              </a:rPr>
              <a:t></a:t>
            </a:r>
            <a:r>
              <a:rPr lang="zh-CN" altLang="zh-CN" sz="2200" dirty="0">
                <a:solidFill>
                  <a:srgbClr val="3333CC"/>
                </a:solidFill>
                <a:cs typeface="Times New Roman" panose="02020603050405020304" pitchFamily="18" charset="0"/>
              </a:rPr>
              <a:t> </a:t>
            </a:r>
            <a:r>
              <a:rPr lang="zh-CN" altLang="zh-CN" sz="2200" b="1" dirty="0">
                <a:solidFill>
                  <a:srgbClr val="3333CC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条件</a:t>
            </a:r>
            <a:r>
              <a:rPr lang="zh-CN" altLang="zh-CN" sz="2200" b="1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</a:t>
            </a:r>
            <a:r>
              <a:rPr lang="zh-CN" altLang="zh-CN" sz="2200" b="1" dirty="0">
                <a:solidFill>
                  <a:srgbClr val="3333CC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由逻辑运算符连接比较表达式组成</a:t>
            </a:r>
            <a:endParaRPr lang="zh-CN" altLang="zh-CN" sz="22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marL="800100" lvl="1" indent="-342900" eaLnBrk="1" hangingPunct="1">
              <a:spcBef>
                <a:spcPts val="638"/>
              </a:spcBef>
              <a:buFont typeface="Arial" panose="020B0604020202020204" pitchFamily="34" charset="0"/>
              <a:buChar char="•"/>
            </a:pPr>
            <a:r>
              <a:rPr lang="zh-CN" altLang="zh-CN" sz="2200" b="1" dirty="0">
                <a:solidFill>
                  <a:srgbClr val="3333CC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逻辑运算符：</a:t>
            </a:r>
            <a:r>
              <a:rPr lang="zh-CN" altLang="zh-CN" sz="2200" b="1" dirty="0">
                <a:solidFill>
                  <a:srgbClr val="3333CC"/>
                </a:solidFill>
                <a:latin typeface="Symbol" panose="05050102010706020507" pitchFamily="18" charset="2"/>
              </a:rPr>
              <a:t></a:t>
            </a:r>
            <a:r>
              <a:rPr lang="zh-CN" altLang="zh-CN" sz="2200" b="1" dirty="0">
                <a:solidFill>
                  <a:srgbClr val="3333CC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，</a:t>
            </a:r>
            <a:r>
              <a:rPr lang="zh-CN" altLang="zh-CN" sz="2200" b="1" dirty="0">
                <a:solidFill>
                  <a:srgbClr val="3333CC"/>
                </a:solidFill>
                <a:latin typeface="Symbol" panose="05050102010706020507" pitchFamily="18" charset="2"/>
              </a:rPr>
              <a:t></a:t>
            </a:r>
            <a:r>
              <a:rPr lang="zh-CN" altLang="zh-CN" sz="2200" b="1" dirty="0">
                <a:solidFill>
                  <a:srgbClr val="3333CC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，</a:t>
            </a:r>
            <a:r>
              <a:rPr lang="zh-CN" altLang="zh-CN" sz="2200" b="1" dirty="0">
                <a:solidFill>
                  <a:srgbClr val="3333CC"/>
                </a:solidFill>
                <a:latin typeface="Symbol" panose="05050102010706020507" pitchFamily="18" charset="2"/>
              </a:rPr>
              <a:t></a:t>
            </a:r>
            <a:r>
              <a:rPr lang="zh-CN" altLang="zh-CN" sz="2200" b="1" dirty="0">
                <a:solidFill>
                  <a:srgbClr val="3333CC"/>
                </a:solidFill>
                <a:cs typeface="Times New Roman" panose="02020603050405020304" pitchFamily="18" charset="0"/>
              </a:rPr>
              <a:t> </a:t>
            </a:r>
            <a:r>
              <a:rPr lang="zh-CN" altLang="zh-CN" sz="2200" b="1" dirty="0">
                <a:solidFill>
                  <a:srgbClr val="3333CC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或写为 </a:t>
            </a:r>
            <a:r>
              <a:rPr lang="zh-CN" altLang="zh-CN" sz="2200" b="1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, or, not</a:t>
            </a:r>
            <a:endParaRPr lang="zh-CN" altLang="zh-CN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 eaLnBrk="1" hangingPunct="1">
              <a:lnSpc>
                <a:spcPct val="125000"/>
              </a:lnSpc>
              <a:spcBef>
                <a:spcPts val="113"/>
              </a:spcBef>
              <a:buFont typeface="Arial" panose="020B0604020202020204" pitchFamily="34" charset="0"/>
              <a:buChar char="•"/>
            </a:pPr>
            <a:r>
              <a:rPr lang="zh-CN" altLang="zh-CN" sz="2200" b="1" dirty="0">
                <a:solidFill>
                  <a:srgbClr val="3333CC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比较表达式：</a:t>
            </a:r>
            <a:r>
              <a:rPr lang="zh-CN" altLang="zh-CN" sz="2200" b="1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 </a:t>
            </a:r>
            <a:r>
              <a:rPr lang="zh-CN" altLang="zh-CN" sz="2200" b="1" dirty="0">
                <a:solidFill>
                  <a:srgbClr val="3333CC"/>
                </a:solidFill>
                <a:latin typeface="Symbol" panose="05050102010706020507" pitchFamily="18" charset="2"/>
              </a:rPr>
              <a:t></a:t>
            </a:r>
            <a:r>
              <a:rPr lang="zh-CN" altLang="zh-CN" sz="2200" b="1" dirty="0">
                <a:solidFill>
                  <a:srgbClr val="3333CC"/>
                </a:solidFill>
                <a:cs typeface="Times New Roman" panose="02020603050405020304" pitchFamily="18" charset="0"/>
              </a:rPr>
              <a:t> </a:t>
            </a:r>
            <a:r>
              <a:rPr lang="zh-CN" altLang="zh-CN" sz="2200" b="1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Y,	</a:t>
            </a:r>
            <a:r>
              <a:rPr lang="zh-CN" altLang="zh-CN" sz="2200" b="1" dirty="0">
                <a:solidFill>
                  <a:srgbClr val="3333CC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其中</a:t>
            </a:r>
            <a:r>
              <a:rPr lang="zh-CN" altLang="zh-CN" sz="2200" b="1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X, Y </a:t>
            </a:r>
            <a:r>
              <a:rPr lang="zh-CN" altLang="zh-CN" sz="2200" b="1" dirty="0">
                <a:solidFill>
                  <a:srgbClr val="3333CC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是</a:t>
            </a:r>
            <a:r>
              <a:rPr lang="zh-CN" altLang="zh-CN" sz="2200" b="1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zh-CN" altLang="zh-CN" sz="2200" b="1" dirty="0">
                <a:solidFill>
                  <a:srgbClr val="3333CC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的分量、常量或 </a:t>
            </a:r>
            <a:br>
              <a:rPr lang="en-US" altLang="zh-CN" sz="2200" b="1" dirty="0">
                <a:solidFill>
                  <a:srgbClr val="3333CC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</a:br>
            <a:r>
              <a:rPr lang="zh-CN" altLang="zh-CN" sz="2200" b="1" dirty="0">
                <a:solidFill>
                  <a:srgbClr val="3333CC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简单函数</a:t>
            </a:r>
            <a:r>
              <a:rPr lang="zh-CN" altLang="zh-CN" sz="2200" b="1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zh-CN" altLang="zh-CN" sz="2200" b="1" dirty="0">
                <a:solidFill>
                  <a:srgbClr val="3333CC"/>
                </a:solidFill>
                <a:latin typeface="Symbol" panose="05050102010706020507" pitchFamily="18" charset="2"/>
              </a:rPr>
              <a:t></a:t>
            </a:r>
            <a:r>
              <a:rPr lang="zh-CN" altLang="zh-CN" sz="2200" b="1" dirty="0">
                <a:solidFill>
                  <a:srgbClr val="3333CC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是比较运算符</a:t>
            </a:r>
            <a:r>
              <a:rPr lang="zh-CN" altLang="zh-CN" sz="2200" b="1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zh-CN" altLang="zh-CN" sz="2200" b="1" dirty="0">
                <a:solidFill>
                  <a:srgbClr val="3333CC"/>
                </a:solidFill>
                <a:latin typeface="Symbol" panose="05050102010706020507" pitchFamily="18" charset="2"/>
              </a:rPr>
              <a:t></a:t>
            </a:r>
            <a:r>
              <a:rPr lang="zh-CN" altLang="zh-CN" sz="2200" b="1" dirty="0">
                <a:solidFill>
                  <a:srgbClr val="3333CC"/>
                </a:solidFill>
                <a:cs typeface="Times New Roman" panose="02020603050405020304" pitchFamily="18" charset="0"/>
              </a:rPr>
              <a:t> </a:t>
            </a:r>
            <a:r>
              <a:rPr lang="zh-CN" altLang="zh-CN" sz="2200" b="1" dirty="0">
                <a:solidFill>
                  <a:srgbClr val="3333CC"/>
                </a:solidFill>
                <a:latin typeface="Symbol" panose="05050102010706020507" pitchFamily="18" charset="2"/>
              </a:rPr>
              <a:t></a:t>
            </a:r>
            <a:r>
              <a:rPr lang="zh-CN" altLang="zh-CN" sz="2200" b="1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{ </a:t>
            </a:r>
            <a:r>
              <a:rPr lang="zh-CN" altLang="zh-CN" sz="2200" b="1" dirty="0">
                <a:solidFill>
                  <a:srgbClr val="3333CC"/>
                </a:solidFill>
                <a:latin typeface="Symbol" panose="05050102010706020507" pitchFamily="18" charset="2"/>
              </a:rPr>
              <a:t></a:t>
            </a:r>
            <a:r>
              <a:rPr lang="zh-CN" altLang="zh-CN" sz="2200" b="1" dirty="0">
                <a:solidFill>
                  <a:srgbClr val="3333CC"/>
                </a:solidFill>
                <a:cs typeface="Times New Roman" panose="02020603050405020304" pitchFamily="18" charset="0"/>
              </a:rPr>
              <a:t> </a:t>
            </a:r>
            <a:r>
              <a:rPr lang="zh-CN" altLang="zh-CN" sz="2200" b="1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zh-CN" altLang="zh-CN" sz="2200" b="1" dirty="0">
                <a:solidFill>
                  <a:srgbClr val="3333CC"/>
                </a:solidFill>
                <a:latin typeface="Symbol" panose="05050102010706020507" pitchFamily="18" charset="2"/>
              </a:rPr>
              <a:t></a:t>
            </a:r>
            <a:r>
              <a:rPr lang="zh-CN" altLang="zh-CN" sz="2200" b="1" dirty="0">
                <a:solidFill>
                  <a:srgbClr val="3333CC"/>
                </a:solidFill>
                <a:cs typeface="Times New Roman" panose="02020603050405020304" pitchFamily="18" charset="0"/>
              </a:rPr>
              <a:t> </a:t>
            </a:r>
            <a:r>
              <a:rPr lang="zh-CN" altLang="zh-CN" sz="2200" b="1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zh-CN" altLang="zh-CN" sz="2200" b="1" dirty="0">
                <a:solidFill>
                  <a:srgbClr val="3333CC"/>
                </a:solidFill>
                <a:latin typeface="Symbol" panose="05050102010706020507" pitchFamily="18" charset="2"/>
              </a:rPr>
              <a:t></a:t>
            </a:r>
            <a:r>
              <a:rPr lang="zh-CN" altLang="zh-CN" sz="2200" b="1" dirty="0">
                <a:solidFill>
                  <a:srgbClr val="3333CC"/>
                </a:solidFill>
                <a:cs typeface="Times New Roman" panose="02020603050405020304" pitchFamily="18" charset="0"/>
              </a:rPr>
              <a:t> </a:t>
            </a:r>
            <a:r>
              <a:rPr lang="zh-CN" altLang="zh-CN" sz="2200" b="1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zh-CN" altLang="zh-CN" sz="2200" b="1" dirty="0">
                <a:solidFill>
                  <a:srgbClr val="3333CC"/>
                </a:solidFill>
                <a:latin typeface="Symbol" panose="05050102010706020507" pitchFamily="18" charset="2"/>
              </a:rPr>
              <a:t></a:t>
            </a:r>
            <a:r>
              <a:rPr lang="zh-CN" altLang="zh-CN" sz="2200" b="1" dirty="0">
                <a:solidFill>
                  <a:srgbClr val="3333CC"/>
                </a:solidFill>
                <a:cs typeface="Times New Roman" panose="02020603050405020304" pitchFamily="18" charset="0"/>
              </a:rPr>
              <a:t> </a:t>
            </a:r>
            <a:r>
              <a:rPr lang="zh-CN" altLang="zh-CN" sz="2200" b="1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zh-CN" altLang="zh-CN" sz="2200" b="1" dirty="0">
                <a:solidFill>
                  <a:srgbClr val="3333CC"/>
                </a:solidFill>
                <a:latin typeface="Symbol" panose="05050102010706020507" pitchFamily="18" charset="2"/>
              </a:rPr>
              <a:t></a:t>
            </a:r>
            <a:r>
              <a:rPr lang="zh-CN" altLang="zh-CN" sz="2200" b="1" dirty="0">
                <a:solidFill>
                  <a:srgbClr val="3333CC"/>
                </a:solidFill>
                <a:cs typeface="Times New Roman" panose="02020603050405020304" pitchFamily="18" charset="0"/>
              </a:rPr>
              <a:t> </a:t>
            </a:r>
            <a:r>
              <a:rPr lang="zh-CN" altLang="zh-CN" sz="2200" b="1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zh-CN" altLang="zh-CN" sz="2200" b="1" dirty="0">
                <a:solidFill>
                  <a:srgbClr val="3333CC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≠</a:t>
            </a:r>
            <a:r>
              <a:rPr lang="zh-CN" altLang="zh-CN" sz="2200" b="1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  <a:endParaRPr lang="zh-CN" altLang="zh-CN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506692" y="3645024"/>
            <a:ext cx="1384300" cy="21256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5" name="object 5"/>
          <p:cNvSpPr txBox="1"/>
          <p:nvPr/>
        </p:nvSpPr>
        <p:spPr>
          <a:xfrm>
            <a:off x="1115616" y="635923"/>
            <a:ext cx="3117453" cy="555496"/>
          </a:xfrm>
          <a:prstGeom prst="rect">
            <a:avLst/>
          </a:prstGeom>
        </p:spPr>
        <p:txBody>
          <a:bodyPr wrap="square" lIns="0" tIns="62444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</a:pPr>
            <a:r>
              <a:rPr lang="zh-CN" altLang="zh-CN" sz="32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(4) “</a:t>
            </a:r>
            <a:r>
              <a:rPr lang="zh-CN" altLang="zh-CN" sz="3200" b="1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选择</a:t>
            </a:r>
            <a:r>
              <a:rPr lang="zh-CN" altLang="zh-CN" sz="32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r>
              <a:rPr lang="zh-CN" altLang="zh-CN" sz="3200" b="1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操作</a:t>
            </a:r>
            <a:endParaRPr lang="zh-CN" altLang="zh-CN" sz="32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02E7998-F56A-45D4-984E-4E67E3C944B8}" type="slidenum">
              <a:rPr lang="en-US" altLang="zh-CN" smtClean="0"/>
              <a:pPr>
                <a:defRPr/>
              </a:pPr>
              <a:t>22</a:t>
            </a:fld>
            <a:endParaRPr lang="en-US" altLang="zh-CN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1679575" y="3160713"/>
            <a:ext cx="1376363" cy="13350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6" name="object 6"/>
          <p:cNvSpPr/>
          <p:nvPr/>
        </p:nvSpPr>
        <p:spPr>
          <a:xfrm>
            <a:off x="3886200" y="3168650"/>
            <a:ext cx="1693912" cy="13271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7" name="object 7"/>
          <p:cNvSpPr/>
          <p:nvPr/>
        </p:nvSpPr>
        <p:spPr>
          <a:xfrm>
            <a:off x="3914775" y="4775991"/>
            <a:ext cx="1665337" cy="132489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8" name="object 8"/>
          <p:cNvSpPr/>
          <p:nvPr/>
        </p:nvSpPr>
        <p:spPr>
          <a:xfrm>
            <a:off x="5954713" y="3154363"/>
            <a:ext cx="1857647" cy="164278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1" name="object 11"/>
          <p:cNvSpPr txBox="1"/>
          <p:nvPr/>
        </p:nvSpPr>
        <p:spPr>
          <a:xfrm>
            <a:off x="543719" y="1274702"/>
            <a:ext cx="8166546" cy="1794791"/>
          </a:xfrm>
          <a:prstGeom prst="rect">
            <a:avLst/>
          </a:prstGeom>
        </p:spPr>
        <p:txBody>
          <a:bodyPr wrap="square" lIns="0" tIns="85793" rIns="0" bIns="0">
            <a:spAutoFit/>
          </a:bodyPr>
          <a:lstStyle>
            <a:lvl1pPr marL="182563" indent="-171450">
              <a:tabLst>
                <a:tab pos="182563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tabLst>
                <a:tab pos="182563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tabLst>
                <a:tab pos="182563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tabLst>
                <a:tab pos="182563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tabLst>
                <a:tab pos="182563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82563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82563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82563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82563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675"/>
              </a:spcBef>
              <a:buSzPct val="95000"/>
              <a:buFont typeface="Wingdings" panose="05000000000000000000" pitchFamily="2" charset="2"/>
              <a:buChar char=""/>
            </a:pPr>
            <a:r>
              <a:rPr lang="zh-CN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选择操作的示例一</a:t>
            </a:r>
            <a:r>
              <a:rPr lang="zh-CN" altLang="zh-CN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zh-CN" altLang="zh-CN" b="1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抽象的</a:t>
            </a:r>
            <a:r>
              <a:rPr lang="zh-CN" altLang="zh-CN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zh-CN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lvl="1" indent="-457200" eaLnBrk="1" hangingPunct="1">
              <a:spcBef>
                <a:spcPts val="588"/>
              </a:spcBef>
              <a:buSzPct val="95000"/>
              <a:buFont typeface="+mj-ea"/>
              <a:buAutoNum type="circleNumDbPlain"/>
            </a:pPr>
            <a:r>
              <a:rPr lang="zh-CN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选择</a:t>
            </a:r>
            <a:r>
              <a:rPr lang="zh-CN" altLang="zh-CN" b="1" dirty="0">
                <a:cs typeface="Times New Roman" panose="02020603050405020304" pitchFamily="18" charset="0"/>
              </a:rPr>
              <a:t>A3</a:t>
            </a:r>
            <a:r>
              <a:rPr lang="zh-CN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值大于</a:t>
            </a:r>
            <a:r>
              <a:rPr lang="zh-CN" altLang="zh-CN" b="1" dirty="0">
                <a:cs typeface="Times New Roman" panose="02020603050405020304" pitchFamily="18" charset="0"/>
              </a:rPr>
              <a:t>0</a:t>
            </a:r>
            <a:r>
              <a:rPr lang="zh-CN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的元组</a:t>
            </a:r>
            <a:r>
              <a:rPr lang="zh-CN" altLang="zh-CN" b="1" dirty="0">
                <a:cs typeface="Times New Roman" panose="02020603050405020304" pitchFamily="18" charset="0"/>
              </a:rPr>
              <a:t>?</a:t>
            </a:r>
            <a:endParaRPr lang="zh-CN" altLang="zh-CN" dirty="0">
              <a:cs typeface="Times New Roman" panose="02020603050405020304" pitchFamily="18" charset="0"/>
            </a:endParaRPr>
          </a:p>
          <a:p>
            <a:pPr marL="914400" lvl="1" indent="-457200" eaLnBrk="1" hangingPunct="1">
              <a:spcBef>
                <a:spcPts val="613"/>
              </a:spcBef>
              <a:buSzPct val="95000"/>
              <a:buFont typeface="+mj-ea"/>
              <a:buAutoNum type="circleNumDbPlain"/>
            </a:pPr>
            <a:r>
              <a:rPr lang="zh-CN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选择</a:t>
            </a:r>
            <a:r>
              <a:rPr lang="zh-CN" altLang="zh-CN" b="1" dirty="0">
                <a:cs typeface="Times New Roman" panose="02020603050405020304" pitchFamily="18" charset="0"/>
              </a:rPr>
              <a:t>A2</a:t>
            </a:r>
            <a:r>
              <a:rPr lang="zh-CN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值为</a:t>
            </a:r>
            <a:r>
              <a:rPr lang="zh-CN" altLang="zh-CN" b="1" dirty="0">
                <a:cs typeface="Times New Roman" panose="02020603050405020304" pitchFamily="18" charset="0"/>
              </a:rPr>
              <a:t>a</a:t>
            </a:r>
            <a:r>
              <a:rPr lang="zh-CN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或者</a:t>
            </a:r>
            <a:r>
              <a:rPr lang="zh-CN" altLang="zh-CN" b="1" dirty="0">
                <a:cs typeface="Times New Roman" panose="02020603050405020304" pitchFamily="18" charset="0"/>
              </a:rPr>
              <a:t>b</a:t>
            </a:r>
            <a:r>
              <a:rPr lang="zh-CN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的元组</a:t>
            </a:r>
            <a:r>
              <a:rPr lang="zh-CN" altLang="zh-CN" b="1" dirty="0">
                <a:cs typeface="Times New Roman" panose="02020603050405020304" pitchFamily="18" charset="0"/>
              </a:rPr>
              <a:t>?</a:t>
            </a:r>
            <a:endParaRPr lang="zh-CN" altLang="zh-CN" dirty="0">
              <a:cs typeface="Times New Roman" panose="02020603050405020304" pitchFamily="18" charset="0"/>
            </a:endParaRPr>
          </a:p>
          <a:p>
            <a:pPr marL="914400" lvl="1" indent="-457200" eaLnBrk="1" hangingPunct="1">
              <a:spcBef>
                <a:spcPts val="625"/>
              </a:spcBef>
              <a:buSzPct val="95000"/>
              <a:buFont typeface="+mj-ea"/>
              <a:buAutoNum type="circleNumDbPlain"/>
            </a:pPr>
            <a:r>
              <a:rPr lang="zh-CN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选择</a:t>
            </a:r>
            <a:r>
              <a:rPr lang="zh-CN" altLang="zh-CN" b="1" dirty="0">
                <a:cs typeface="Times New Roman" panose="02020603050405020304" pitchFamily="18" charset="0"/>
              </a:rPr>
              <a:t>A3</a:t>
            </a:r>
            <a:r>
              <a:rPr lang="zh-CN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大于</a:t>
            </a:r>
            <a:r>
              <a:rPr lang="zh-CN" altLang="zh-CN" b="1" dirty="0">
                <a:cs typeface="Times New Roman" panose="02020603050405020304" pitchFamily="18" charset="0"/>
              </a:rPr>
              <a:t>0</a:t>
            </a:r>
            <a:r>
              <a:rPr lang="zh-CN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且</a:t>
            </a:r>
            <a:r>
              <a:rPr lang="zh-CN" altLang="zh-CN" b="1" dirty="0">
                <a:cs typeface="Times New Roman" panose="02020603050405020304" pitchFamily="18" charset="0"/>
              </a:rPr>
              <a:t>A1</a:t>
            </a:r>
            <a:r>
              <a:rPr lang="zh-CN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等于</a:t>
            </a:r>
            <a:r>
              <a:rPr lang="zh-CN" altLang="zh-CN" b="1" dirty="0">
                <a:cs typeface="Times New Roman" panose="02020603050405020304" pitchFamily="18" charset="0"/>
              </a:rPr>
              <a:t>A2</a:t>
            </a:r>
            <a:r>
              <a:rPr lang="zh-CN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的元组</a:t>
            </a:r>
            <a:endParaRPr lang="zh-CN" altLang="zh-CN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A6568E1-4089-4561-919E-9D2F37D3F2B0}" type="slidenum">
              <a:rPr lang="en-US" altLang="zh-CN" smtClean="0"/>
              <a:pPr>
                <a:defRPr/>
              </a:pPr>
              <a:t>23</a:t>
            </a:fld>
            <a:endParaRPr lang="en-US" altLang="zh-CN" dirty="0"/>
          </a:p>
        </p:txBody>
      </p:sp>
      <p:sp>
        <p:nvSpPr>
          <p:cNvPr id="14" name="object 5"/>
          <p:cNvSpPr txBox="1"/>
          <p:nvPr/>
        </p:nvSpPr>
        <p:spPr>
          <a:xfrm>
            <a:off x="1115616" y="635923"/>
            <a:ext cx="3117453" cy="555496"/>
          </a:xfrm>
          <a:prstGeom prst="rect">
            <a:avLst/>
          </a:prstGeom>
        </p:spPr>
        <p:txBody>
          <a:bodyPr wrap="square" lIns="0" tIns="62444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</a:pPr>
            <a:r>
              <a:rPr lang="zh-CN" altLang="zh-CN" sz="32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(4) “</a:t>
            </a:r>
            <a:r>
              <a:rPr lang="zh-CN" altLang="zh-CN" sz="3200" b="1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选择</a:t>
            </a:r>
            <a:r>
              <a:rPr lang="zh-CN" altLang="zh-CN" sz="32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r>
              <a:rPr lang="zh-CN" altLang="zh-CN" sz="3200" b="1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操作</a:t>
            </a:r>
            <a:endParaRPr lang="zh-CN" altLang="zh-CN" sz="32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724807" y="2419608"/>
            <a:ext cx="3028910" cy="783605"/>
          </a:xfrm>
          <a:prstGeom prst="rect">
            <a:avLst/>
          </a:prstGeom>
        </p:spPr>
        <p:txBody>
          <a:bodyPr wrap="square" lIns="0" tIns="52127" rIns="0" bIns="0">
            <a:spAutoFit/>
          </a:bodyPr>
          <a:lstStyle>
            <a:lvl1pPr marL="49213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13"/>
              </a:spcBef>
            </a:pP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查询所有男同学的信息</a:t>
            </a:r>
            <a:endParaRPr lang="zh-CN" altLang="zh-CN" sz="20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eaLnBrk="1" hangingPunct="1">
              <a:spcBef>
                <a:spcPts val="463"/>
              </a:spcBef>
            </a:pPr>
            <a:r>
              <a:rPr lang="zh-CN" altLang="zh-CN" sz="3500" b="1" baseline="12000" dirty="0">
                <a:solidFill>
                  <a:srgbClr val="FF0065"/>
                </a:solidFill>
                <a:latin typeface="Symbol" panose="05050102010706020507" pitchFamily="18" charset="2"/>
              </a:rPr>
              <a:t></a:t>
            </a:r>
            <a:r>
              <a:rPr lang="zh-CN" altLang="zh-CN" sz="3500" b="1" baseline="12000" dirty="0">
                <a:solidFill>
                  <a:srgbClr val="FF0065"/>
                </a:solidFill>
                <a:cs typeface="Times New Roman" panose="02020603050405020304" pitchFamily="18" charset="0"/>
              </a:rPr>
              <a:t> </a:t>
            </a:r>
            <a:r>
              <a:rPr lang="zh-CN" altLang="zh-CN" sz="1100" b="1" dirty="0">
                <a:latin typeface="Arial" panose="020B0604020202020204" pitchFamily="34" charset="0"/>
                <a:cs typeface="Arial" panose="020B0604020202020204" pitchFamily="34" charset="0"/>
              </a:rPr>
              <a:t>Ssex =“</a:t>
            </a:r>
            <a:r>
              <a:rPr lang="zh-CN" altLang="zh-CN" sz="11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男</a:t>
            </a:r>
            <a:r>
              <a:rPr lang="zh-CN" altLang="zh-CN" sz="1100" b="1" dirty="0">
                <a:latin typeface="Arial" panose="020B0604020202020204" pitchFamily="34" charset="0"/>
                <a:cs typeface="Arial" panose="020B0604020202020204" pitchFamily="34" charset="0"/>
              </a:rPr>
              <a:t>” </a:t>
            </a:r>
            <a:r>
              <a:rPr lang="zh-CN" altLang="zh-CN" sz="2500" b="1" baseline="17000" dirty="0">
                <a:latin typeface="Arial" panose="020B0604020202020204" pitchFamily="34" charset="0"/>
                <a:cs typeface="Arial" panose="020B0604020202020204" pitchFamily="34" charset="0"/>
              </a:rPr>
              <a:t>(R)</a:t>
            </a:r>
            <a:endParaRPr lang="zh-CN" altLang="zh-CN" sz="2500" baseline="17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44773" y="4038297"/>
            <a:ext cx="3679577" cy="765298"/>
          </a:xfrm>
          <a:prstGeom prst="rect">
            <a:avLst/>
          </a:prstGeom>
        </p:spPr>
        <p:txBody>
          <a:bodyPr wrap="square" lIns="0" tIns="46697" rIns="0" bIns="0">
            <a:spAutoFit/>
          </a:bodyPr>
          <a:lstStyle>
            <a:lvl1pPr marL="952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363"/>
              </a:spcBef>
            </a:pP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查询所有年龄小于</a:t>
            </a:r>
            <a:r>
              <a:rPr lang="zh-CN" altLang="zh-CN" sz="2000" b="1" dirty="0">
                <a:cs typeface="Times New Roman" panose="02020603050405020304" pitchFamily="18" charset="0"/>
              </a:rPr>
              <a:t>20</a:t>
            </a: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同学的信息</a:t>
            </a:r>
            <a:endParaRPr lang="zh-CN" altLang="zh-CN" sz="20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eaLnBrk="1" hangingPunct="1">
              <a:spcBef>
                <a:spcPts val="400"/>
              </a:spcBef>
            </a:pPr>
            <a:r>
              <a:rPr lang="zh-CN" altLang="zh-CN" sz="3500" b="1" baseline="12000" dirty="0">
                <a:solidFill>
                  <a:srgbClr val="FF0065"/>
                </a:solidFill>
                <a:latin typeface="Symbol" panose="05050102010706020507" pitchFamily="18" charset="2"/>
              </a:rPr>
              <a:t></a:t>
            </a:r>
            <a:r>
              <a:rPr lang="zh-CN" altLang="zh-CN" sz="3500" b="1" baseline="12000" dirty="0">
                <a:solidFill>
                  <a:srgbClr val="FF0065"/>
                </a:solidFill>
                <a:cs typeface="Times New Roman" panose="02020603050405020304" pitchFamily="18" charset="0"/>
              </a:rPr>
              <a:t> </a:t>
            </a:r>
            <a:r>
              <a:rPr lang="zh-CN" altLang="zh-CN" sz="1100" b="1" dirty="0">
                <a:latin typeface="Arial" panose="020B0604020202020204" pitchFamily="34" charset="0"/>
                <a:cs typeface="Arial" panose="020B0604020202020204" pitchFamily="34" charset="0"/>
              </a:rPr>
              <a:t>Sage&lt;20 </a:t>
            </a:r>
            <a:r>
              <a:rPr lang="zh-CN" altLang="zh-CN" sz="2500" b="1" baseline="17000" dirty="0">
                <a:latin typeface="Arial" panose="020B0604020202020204" pitchFamily="34" charset="0"/>
                <a:cs typeface="Arial" panose="020B0604020202020204" pitchFamily="34" charset="0"/>
              </a:rPr>
              <a:t>(R)</a:t>
            </a:r>
            <a:endParaRPr lang="zh-CN" altLang="zh-CN" sz="2500" baseline="17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754563" y="3281363"/>
            <a:ext cx="3306762" cy="89693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6" name="object 6"/>
          <p:cNvSpPr/>
          <p:nvPr/>
        </p:nvSpPr>
        <p:spPr>
          <a:xfrm>
            <a:off x="1017588" y="2168525"/>
            <a:ext cx="3306762" cy="1244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7" name="object 7"/>
          <p:cNvSpPr/>
          <p:nvPr/>
        </p:nvSpPr>
        <p:spPr>
          <a:xfrm>
            <a:off x="1006475" y="4805363"/>
            <a:ext cx="3308350" cy="7175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8" name="object 8"/>
          <p:cNvSpPr txBox="1"/>
          <p:nvPr/>
        </p:nvSpPr>
        <p:spPr>
          <a:xfrm>
            <a:off x="4675095" y="4420946"/>
            <a:ext cx="3713236" cy="690091"/>
          </a:xfrm>
          <a:prstGeom prst="rect">
            <a:avLst/>
          </a:prstGeom>
        </p:spPr>
        <p:txBody>
          <a:bodyPr wrap="square" lIns="0" tIns="10317" rIns="0" bIns="0">
            <a:spAutoFit/>
          </a:bodyPr>
          <a:lstStyle>
            <a:lvl1pPr marL="39688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75"/>
              </a:spcBef>
            </a:pP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查询所有</a:t>
            </a:r>
            <a:r>
              <a:rPr lang="zh-CN" altLang="zh-CN" sz="2000" b="1" dirty="0">
                <a:cs typeface="Times New Roman" panose="02020603050405020304" pitchFamily="18" charset="0"/>
              </a:rPr>
              <a:t>3</a:t>
            </a: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系或</a:t>
            </a:r>
            <a:r>
              <a:rPr lang="zh-CN" altLang="zh-CN" sz="2000" b="1" dirty="0">
                <a:cs typeface="Times New Roman" panose="02020603050405020304" pitchFamily="18" charset="0"/>
              </a:rPr>
              <a:t>5</a:t>
            </a: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系的同学信息</a:t>
            </a:r>
            <a:endParaRPr lang="zh-CN" altLang="zh-CN" sz="20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eaLnBrk="1" hangingPunct="1">
              <a:spcBef>
                <a:spcPts val="63"/>
              </a:spcBef>
            </a:pPr>
            <a:r>
              <a:rPr lang="zh-CN" altLang="zh-CN" sz="3500" b="1" baseline="12000" dirty="0">
                <a:solidFill>
                  <a:srgbClr val="FF0065"/>
                </a:solidFill>
                <a:latin typeface="Symbol" panose="05050102010706020507" pitchFamily="18" charset="2"/>
              </a:rPr>
              <a:t></a:t>
            </a:r>
            <a:r>
              <a:rPr lang="zh-CN" altLang="zh-CN" sz="3500" b="1" baseline="12000" dirty="0">
                <a:solidFill>
                  <a:srgbClr val="FF0065"/>
                </a:solidFill>
                <a:cs typeface="Times New Roman" panose="02020603050405020304" pitchFamily="18" charset="0"/>
              </a:rPr>
              <a:t> </a:t>
            </a:r>
            <a:r>
              <a:rPr lang="zh-CN" altLang="zh-CN" sz="1100" b="1" dirty="0">
                <a:latin typeface="Arial" panose="020B0604020202020204" pitchFamily="34" charset="0"/>
                <a:cs typeface="Arial" panose="020B0604020202020204" pitchFamily="34" charset="0"/>
              </a:rPr>
              <a:t>D#=“03” </a:t>
            </a:r>
            <a:r>
              <a:rPr lang="zh-CN" altLang="zh-CN" baseline="-6000" dirty="0">
                <a:latin typeface="宋体" panose="02010600030101010101" pitchFamily="2" charset="-122"/>
              </a:rPr>
              <a:t>ν </a:t>
            </a:r>
            <a:r>
              <a:rPr lang="zh-CN" altLang="zh-CN" sz="1100" b="1" dirty="0">
                <a:latin typeface="Arial" panose="020B0604020202020204" pitchFamily="34" charset="0"/>
                <a:cs typeface="Arial" panose="020B0604020202020204" pitchFamily="34" charset="0"/>
              </a:rPr>
              <a:t>D#=“05” </a:t>
            </a:r>
            <a:r>
              <a:rPr lang="zh-CN" altLang="zh-CN" sz="2500" b="1" baseline="17000" dirty="0">
                <a:latin typeface="Arial" panose="020B0604020202020204" pitchFamily="34" charset="0"/>
                <a:cs typeface="Arial" panose="020B0604020202020204" pitchFamily="34" charset="0"/>
              </a:rPr>
              <a:t>(R)</a:t>
            </a:r>
            <a:endParaRPr lang="zh-CN" altLang="zh-CN" sz="2500" baseline="17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743450" y="5194300"/>
            <a:ext cx="3306763" cy="89535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7EBE49F-C728-47E4-9F1D-73C604CC57B8}" type="slidenum">
              <a:rPr lang="en-US" altLang="zh-CN" smtClean="0"/>
              <a:pPr>
                <a:defRPr/>
              </a:pPr>
              <a:t>24</a:t>
            </a:fld>
            <a:endParaRPr lang="en-US" altLang="zh-CN"/>
          </a:p>
        </p:txBody>
      </p:sp>
      <p:sp>
        <p:nvSpPr>
          <p:cNvPr id="11" name="object 11"/>
          <p:cNvSpPr txBox="1"/>
          <p:nvPr/>
        </p:nvSpPr>
        <p:spPr>
          <a:xfrm>
            <a:off x="395536" y="1495446"/>
            <a:ext cx="4806752" cy="379750"/>
          </a:xfrm>
          <a:prstGeom prst="rect">
            <a:avLst/>
          </a:prstGeom>
        </p:spPr>
        <p:txBody>
          <a:bodyPr wrap="square" lIns="0" tIns="10317" rIns="0" bIns="0">
            <a:spAutoFit/>
          </a:bodyPr>
          <a:lstStyle>
            <a:lvl1pPr marL="952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1925"/>
              </a:spcBef>
              <a:buFont typeface="Wingdings" panose="05000000000000000000" pitchFamily="2" charset="2"/>
              <a:buChar char=""/>
            </a:pPr>
            <a:r>
              <a:rPr lang="zh-CN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选择操作的示例二</a:t>
            </a:r>
            <a:r>
              <a:rPr lang="zh-CN" altLang="zh-CN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zh-CN" altLang="zh-CN" b="1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语义的</a:t>
            </a:r>
            <a:r>
              <a:rPr lang="zh-CN" altLang="zh-CN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13" name="object 5"/>
          <p:cNvSpPr txBox="1"/>
          <p:nvPr/>
        </p:nvSpPr>
        <p:spPr>
          <a:xfrm>
            <a:off x="1115616" y="635923"/>
            <a:ext cx="3117453" cy="555496"/>
          </a:xfrm>
          <a:prstGeom prst="rect">
            <a:avLst/>
          </a:prstGeom>
        </p:spPr>
        <p:txBody>
          <a:bodyPr wrap="square" lIns="0" tIns="62444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</a:pPr>
            <a:r>
              <a:rPr lang="zh-CN" altLang="zh-CN" sz="32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(4) “</a:t>
            </a:r>
            <a:r>
              <a:rPr lang="zh-CN" altLang="zh-CN" sz="3200" b="1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选择</a:t>
            </a:r>
            <a:r>
              <a:rPr lang="zh-CN" altLang="zh-CN" sz="32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r>
              <a:rPr lang="zh-CN" altLang="zh-CN" sz="3200" b="1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操作</a:t>
            </a:r>
            <a:endParaRPr lang="zh-CN" altLang="zh-CN" sz="32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86480" y="1837195"/>
            <a:ext cx="13853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spcBef>
                <a:spcPts val="1925"/>
              </a:spcBef>
              <a:buFont typeface="Wingdings" panose="05000000000000000000" pitchFamily="2" charset="2"/>
              <a:buChar char=""/>
            </a:pPr>
            <a:r>
              <a:rPr lang="zh-CN" altLang="zh-CN" sz="1800" b="1" dirty="0">
                <a:solidFill>
                  <a:srgbClr val="FF0065"/>
                </a:solidFill>
                <a:cs typeface="Times New Roman" panose="02020603050405020304" pitchFamily="18" charset="0"/>
              </a:rPr>
              <a:t>R(</a:t>
            </a:r>
            <a:r>
              <a:rPr lang="zh-CN" altLang="zh-CN" sz="1800" b="1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学生表</a:t>
            </a:r>
            <a:r>
              <a:rPr lang="zh-CN" altLang="zh-CN" sz="1800" b="1" dirty="0">
                <a:solidFill>
                  <a:srgbClr val="FF0065"/>
                </a:solidFill>
                <a:cs typeface="Times New Roman" panose="02020603050405020304" pitchFamily="18" charset="0"/>
              </a:rPr>
              <a:t>)</a:t>
            </a:r>
            <a:endParaRPr lang="zh-CN" altLang="zh-CN" sz="1800" dirty="0"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520326" y="1712813"/>
            <a:ext cx="4411714" cy="379750"/>
          </a:xfrm>
          <a:prstGeom prst="rect">
            <a:avLst/>
          </a:prstGeom>
        </p:spPr>
        <p:txBody>
          <a:bodyPr wrap="square" lIns="0" tIns="10317" rIns="0" bIns="0">
            <a:spAutoFit/>
          </a:bodyPr>
          <a:lstStyle>
            <a:lvl1pPr marL="242888" indent="-231775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75"/>
              </a:spcBef>
              <a:buFont typeface="Wingdings" panose="05000000000000000000" pitchFamily="2" charset="2"/>
              <a:buChar char=""/>
            </a:pPr>
            <a:r>
              <a:rPr lang="zh-CN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选择操作的示例三</a:t>
            </a:r>
            <a:r>
              <a:rPr lang="zh-CN" altLang="zh-CN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zh-CN" altLang="zh-CN" b="1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语义的</a:t>
            </a:r>
            <a:r>
              <a:rPr lang="zh-CN" altLang="zh-CN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zh-CN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69950" y="3563938"/>
            <a:ext cx="976313" cy="273050"/>
          </a:xfrm>
          <a:prstGeom prst="rect">
            <a:avLst/>
          </a:prstGeom>
        </p:spPr>
        <p:txBody>
          <a:bodyPr lIns="0" tIns="10317" rIns="0" bIns="0">
            <a:spAutoFit/>
          </a:bodyPr>
          <a:lstStyle>
            <a:lvl1pPr marL="952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75"/>
              </a:spcBef>
            </a:pPr>
            <a:r>
              <a:rPr lang="zh-CN" altLang="zh-CN" sz="1700" b="1">
                <a:solidFill>
                  <a:srgbClr val="FF0065"/>
                </a:solidFill>
                <a:cs typeface="Times New Roman" panose="02020603050405020304" pitchFamily="18" charset="0"/>
              </a:rPr>
              <a:t>R(</a:t>
            </a:r>
            <a:r>
              <a:rPr lang="zh-CN" altLang="zh-CN" sz="1700" b="1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学生表</a:t>
            </a:r>
            <a:r>
              <a:rPr lang="zh-CN" altLang="zh-CN" sz="1700" b="1">
                <a:solidFill>
                  <a:srgbClr val="FF0065"/>
                </a:solidFill>
                <a:cs typeface="Times New Roman" panose="02020603050405020304" pitchFamily="18" charset="0"/>
              </a:rPr>
              <a:t>)</a:t>
            </a:r>
            <a:endParaRPr lang="zh-CN" altLang="zh-CN" sz="1700">
              <a:cs typeface="Times New Roman" panose="02020603050405020304" pitchFamily="18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572000" y="4056063"/>
            <a:ext cx="4464496" cy="997105"/>
          </a:xfrm>
          <a:prstGeom prst="rect">
            <a:avLst/>
          </a:prstGeom>
        </p:spPr>
        <p:txBody>
          <a:bodyPr wrap="square" lIns="0" tIns="22262" rIns="0" bIns="0">
            <a:spAutoFit/>
          </a:bodyPr>
          <a:lstStyle>
            <a:lvl1pPr marL="952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175"/>
              </a:spcBef>
            </a:pP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查询不在</a:t>
            </a:r>
            <a:r>
              <a:rPr lang="zh-CN" altLang="zh-CN" sz="2000" b="1" dirty="0">
                <a:cs typeface="Times New Roman" panose="02020603050405020304" pitchFamily="18" charset="0"/>
              </a:rPr>
              <a:t>(</a:t>
            </a: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年龄大于</a:t>
            </a:r>
            <a:r>
              <a:rPr lang="zh-CN" altLang="zh-CN" sz="2000" b="1" dirty="0">
                <a:cs typeface="Times New Roman" panose="02020603050405020304" pitchFamily="18" charset="0"/>
              </a:rPr>
              <a:t>20</a:t>
            </a: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的</a:t>
            </a:r>
            <a:r>
              <a:rPr lang="zh-CN" altLang="zh-CN" sz="2000" b="1" dirty="0">
                <a:cs typeface="Times New Roman" panose="02020603050405020304" pitchFamily="18" charset="0"/>
              </a:rPr>
              <a:t>3</a:t>
            </a: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系同学</a:t>
            </a:r>
            <a:r>
              <a:rPr lang="zh-CN" altLang="zh-CN" sz="2000" b="1" dirty="0">
                <a:cs typeface="Times New Roman" panose="02020603050405020304" pitchFamily="18" charset="0"/>
              </a:rPr>
              <a:t>)</a:t>
            </a: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要求 之内的所有其它同学的信息</a:t>
            </a:r>
            <a:endParaRPr lang="zh-CN" altLang="zh-CN" sz="20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eaLnBrk="1" hangingPunct="1"/>
            <a:r>
              <a:rPr lang="zh-CN" altLang="zh-CN" sz="3500" b="1" baseline="12000" dirty="0">
                <a:solidFill>
                  <a:srgbClr val="FF0065"/>
                </a:solidFill>
                <a:latin typeface="Symbol" panose="05050102010706020507" pitchFamily="18" charset="2"/>
              </a:rPr>
              <a:t></a:t>
            </a:r>
            <a:r>
              <a:rPr lang="zh-CN" altLang="zh-CN" sz="3500" b="1" baseline="12000" dirty="0">
                <a:solidFill>
                  <a:srgbClr val="FF0065"/>
                </a:solidFill>
                <a:cs typeface="Times New Roman" panose="02020603050405020304" pitchFamily="18" charset="0"/>
              </a:rPr>
              <a:t> </a:t>
            </a:r>
            <a:r>
              <a:rPr lang="zh-CN" altLang="zh-CN" sz="1800" b="1" dirty="0">
                <a:latin typeface="Arial" panose="020B0604020202020204" pitchFamily="34" charset="0"/>
                <a:cs typeface="Arial" panose="020B0604020202020204" pitchFamily="34" charset="0"/>
              </a:rPr>
              <a:t>¬(Sage&gt;20 </a:t>
            </a:r>
            <a:r>
              <a:rPr lang="zh-CN" altLang="zh-CN" sz="3200" b="1" baseline="-3000" dirty="0">
                <a:latin typeface="Symbol" panose="05050102010706020507" pitchFamily="18" charset="2"/>
              </a:rPr>
              <a:t></a:t>
            </a:r>
            <a:r>
              <a:rPr lang="en-US" altLang="zh-CN" b="1" baseline="-3000" dirty="0">
                <a:latin typeface="Symbol" panose="05050102010706020507" pitchFamily="18" charset="2"/>
              </a:rPr>
              <a:t> </a:t>
            </a:r>
            <a:r>
              <a:rPr lang="zh-CN" altLang="zh-CN" b="1" baseline="4000" dirty="0">
                <a:latin typeface="Arial" panose="020B0604020202020204" pitchFamily="34" charset="0"/>
                <a:cs typeface="Arial" panose="020B0604020202020204" pitchFamily="34" charset="0"/>
              </a:rPr>
              <a:t>D#=“03” ) </a:t>
            </a:r>
            <a:r>
              <a:rPr lang="zh-CN" altLang="zh-CN" sz="3200" b="1" baseline="17000" dirty="0">
                <a:latin typeface="Arial" panose="020B0604020202020204" pitchFamily="34" charset="0"/>
                <a:cs typeface="Arial" panose="020B0604020202020204" pitchFamily="34" charset="0"/>
              </a:rPr>
              <a:t>(R)</a:t>
            </a:r>
            <a:endParaRPr lang="zh-CN" altLang="zh-CN" sz="3200" baseline="17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855663" y="3867150"/>
            <a:ext cx="3306762" cy="124618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9" name="object 9"/>
          <p:cNvSpPr txBox="1"/>
          <p:nvPr/>
        </p:nvSpPr>
        <p:spPr>
          <a:xfrm>
            <a:off x="4572000" y="2652713"/>
            <a:ext cx="4572000" cy="744250"/>
          </a:xfrm>
          <a:prstGeom prst="rect">
            <a:avLst/>
          </a:prstGeom>
        </p:spPr>
        <p:txBody>
          <a:bodyPr wrap="square" lIns="0" tIns="38552" rIns="0" bIns="0">
            <a:spAutoFit/>
          </a:bodyPr>
          <a:lstStyle>
            <a:lvl1pPr marL="190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300"/>
              </a:spcBef>
            </a:pP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查询所有年龄大于</a:t>
            </a:r>
            <a:r>
              <a:rPr lang="zh-CN" altLang="zh-CN" sz="2000" b="1" dirty="0">
                <a:cs typeface="Times New Roman" panose="02020603050405020304" pitchFamily="18" charset="0"/>
              </a:rPr>
              <a:t>20</a:t>
            </a: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的</a:t>
            </a:r>
            <a:r>
              <a:rPr lang="zh-CN" altLang="zh-CN" sz="2000" b="1" dirty="0">
                <a:cs typeface="Times New Roman" panose="02020603050405020304" pitchFamily="18" charset="0"/>
              </a:rPr>
              <a:t>3</a:t>
            </a: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系同学的信息</a:t>
            </a:r>
            <a:endParaRPr lang="zh-CN" altLang="zh-CN" sz="20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eaLnBrk="1" hangingPunct="1">
              <a:spcBef>
                <a:spcPts val="313"/>
              </a:spcBef>
            </a:pPr>
            <a:r>
              <a:rPr lang="zh-CN" altLang="zh-CN" sz="3500" b="1" baseline="10000" dirty="0">
                <a:solidFill>
                  <a:srgbClr val="FF0065"/>
                </a:solidFill>
                <a:latin typeface="Symbol" panose="05050102010706020507" pitchFamily="18" charset="2"/>
              </a:rPr>
              <a:t></a:t>
            </a:r>
            <a:r>
              <a:rPr lang="zh-CN" altLang="zh-CN" sz="3500" b="1" baseline="10000" dirty="0">
                <a:solidFill>
                  <a:srgbClr val="FF0065"/>
                </a:solidFill>
                <a:cs typeface="Times New Roman" panose="02020603050405020304" pitchFamily="18" charset="0"/>
              </a:rPr>
              <a:t> </a:t>
            </a:r>
            <a:r>
              <a:rPr lang="zh-CN" altLang="zh-CN" sz="2000" b="1" baseline="-4000" dirty="0">
                <a:latin typeface="Arial" panose="020B0604020202020204" pitchFamily="34" charset="0"/>
                <a:cs typeface="Arial" panose="020B0604020202020204" pitchFamily="34" charset="0"/>
              </a:rPr>
              <a:t>Sage&gt;20 </a:t>
            </a:r>
            <a:r>
              <a:rPr lang="zh-CN" altLang="zh-CN" sz="2800" b="1" baseline="-6000" dirty="0">
                <a:latin typeface="Symbol" panose="05050102010706020507" pitchFamily="18" charset="2"/>
              </a:rPr>
              <a:t></a:t>
            </a:r>
            <a:r>
              <a:rPr lang="en-US" altLang="zh-CN" sz="1400" b="1" baseline="-6000" dirty="0">
                <a:latin typeface="Symbol" panose="05050102010706020507" pitchFamily="18" charset="2"/>
              </a:rPr>
              <a:t> </a:t>
            </a:r>
            <a:r>
              <a:rPr lang="zh-CN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D#=“03”</a:t>
            </a:r>
            <a:r>
              <a:rPr lang="zh-CN" altLang="zh-CN" sz="11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zh-CN" altLang="zh-CN" sz="2800" b="1" baseline="14000" dirty="0">
                <a:latin typeface="Arial" panose="020B0604020202020204" pitchFamily="34" charset="0"/>
                <a:cs typeface="Arial" panose="020B0604020202020204" pitchFamily="34" charset="0"/>
              </a:rPr>
              <a:t>(R)</a:t>
            </a:r>
            <a:endParaRPr lang="zh-CN" altLang="zh-CN" sz="2800" baseline="1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678363" y="3402013"/>
            <a:ext cx="3306762" cy="3746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1" name="object 11"/>
          <p:cNvSpPr/>
          <p:nvPr/>
        </p:nvSpPr>
        <p:spPr>
          <a:xfrm>
            <a:off x="4732338" y="5234583"/>
            <a:ext cx="3306762" cy="107473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4" name="灯片编号占位符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A6568E1-4089-4561-919E-9D2F37D3F2B0}" type="slidenum">
              <a:rPr lang="en-US" altLang="zh-CN" smtClean="0"/>
              <a:pPr>
                <a:defRPr/>
              </a:pPr>
              <a:t>25</a:t>
            </a:fld>
            <a:endParaRPr lang="en-US" altLang="zh-CN" dirty="0"/>
          </a:p>
        </p:txBody>
      </p:sp>
      <p:sp>
        <p:nvSpPr>
          <p:cNvPr id="16" name="object 5"/>
          <p:cNvSpPr txBox="1"/>
          <p:nvPr/>
        </p:nvSpPr>
        <p:spPr>
          <a:xfrm>
            <a:off x="1115616" y="635923"/>
            <a:ext cx="3117453" cy="555496"/>
          </a:xfrm>
          <a:prstGeom prst="rect">
            <a:avLst/>
          </a:prstGeom>
        </p:spPr>
        <p:txBody>
          <a:bodyPr wrap="square" lIns="0" tIns="62444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</a:pPr>
            <a:r>
              <a:rPr lang="zh-CN" altLang="zh-CN" sz="32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(4) “</a:t>
            </a:r>
            <a:r>
              <a:rPr lang="zh-CN" altLang="zh-CN" sz="3200" b="1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选择</a:t>
            </a:r>
            <a:r>
              <a:rPr lang="zh-CN" altLang="zh-CN" sz="32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r>
              <a:rPr lang="zh-CN" altLang="zh-CN" sz="3200" b="1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操作</a:t>
            </a:r>
            <a:endParaRPr lang="zh-CN" altLang="zh-CN" sz="32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395537" y="1484784"/>
            <a:ext cx="8640960" cy="4176203"/>
          </a:xfrm>
          <a:prstGeom prst="rect">
            <a:avLst/>
          </a:prstGeom>
        </p:spPr>
        <p:txBody>
          <a:bodyPr wrap="square" lIns="0" tIns="89594" rIns="0" bIns="0">
            <a:spAutoFit/>
          </a:bodyPr>
          <a:lstStyle>
            <a:lvl1pPr marL="9525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700"/>
              </a:spcBef>
              <a:buFont typeface="Wingdings" panose="05000000000000000000" pitchFamily="2" charset="2"/>
              <a:buChar char=""/>
            </a:pPr>
            <a:r>
              <a:rPr lang="zh-CN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选择操作的示例四</a:t>
            </a:r>
            <a:r>
              <a:rPr lang="zh-CN" altLang="zh-CN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zh-CN" altLang="zh-CN" b="1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语义的</a:t>
            </a:r>
            <a:r>
              <a:rPr lang="zh-CN" altLang="zh-CN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zh-CN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ts val="625"/>
              </a:spcBef>
              <a:buClr>
                <a:srgbClr val="000000"/>
              </a:buClr>
              <a:buFont typeface="Wingdings" panose="05000000000000000000" pitchFamily="2" charset="2"/>
              <a:buChar char=""/>
            </a:pPr>
            <a:r>
              <a:rPr lang="zh-CN" altLang="zh-CN" b="1" dirty="0">
                <a:solidFill>
                  <a:srgbClr val="6565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选择操作从给定的关系中选出满足条件的行</a:t>
            </a:r>
            <a:endParaRPr lang="zh-CN" altLang="zh-CN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eaLnBrk="1" hangingPunct="1">
              <a:lnSpc>
                <a:spcPts val="2700"/>
              </a:lnSpc>
              <a:spcBef>
                <a:spcPts val="175"/>
              </a:spcBef>
              <a:buFont typeface="Wingdings" panose="05000000000000000000" pitchFamily="2" charset="2"/>
              <a:buChar char=""/>
            </a:pPr>
            <a:r>
              <a:rPr lang="zh-CN" altLang="zh-CN" b="1" dirty="0">
                <a:solidFill>
                  <a:srgbClr val="6565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条件的书写很重要，尤其是当不同运算符在一起时，要注意运算符的优先 次序，优先次序自高至低为</a:t>
            </a:r>
            <a:br>
              <a:rPr lang="en-US" altLang="zh-CN" b="1" dirty="0">
                <a:solidFill>
                  <a:srgbClr val="6565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</a:br>
            <a:r>
              <a:rPr lang="en-US" altLang="zh-CN" b="1" dirty="0">
                <a:solidFill>
                  <a:srgbClr val="6565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       </a:t>
            </a:r>
            <a:r>
              <a:rPr lang="zh-CN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{ </a:t>
            </a:r>
            <a:r>
              <a:rPr lang="zh-CN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括弧；</a:t>
            </a:r>
            <a:r>
              <a:rPr lang="zh-CN" altLang="zh-CN" b="1" dirty="0">
                <a:latin typeface="Symbol" panose="05050102010706020507" pitchFamily="18" charset="2"/>
              </a:rPr>
              <a:t></a:t>
            </a:r>
            <a:r>
              <a:rPr lang="zh-CN" altLang="zh-CN" b="1" dirty="0">
                <a:cs typeface="Times New Roman" panose="02020603050405020304" pitchFamily="18" charset="0"/>
              </a:rPr>
              <a:t> </a:t>
            </a:r>
            <a:r>
              <a:rPr lang="zh-CN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；</a:t>
            </a:r>
            <a:r>
              <a:rPr lang="zh-CN" altLang="zh-CN" b="1" dirty="0">
                <a:latin typeface="Symbol" panose="05050102010706020507" pitchFamily="18" charset="2"/>
              </a:rPr>
              <a:t></a:t>
            </a:r>
            <a:r>
              <a:rPr lang="zh-CN" altLang="zh-CN" b="1" dirty="0">
                <a:cs typeface="Times New Roman" panose="02020603050405020304" pitchFamily="18" charset="0"/>
              </a:rPr>
              <a:t> </a:t>
            </a:r>
            <a:r>
              <a:rPr lang="zh-CN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；</a:t>
            </a:r>
            <a:r>
              <a:rPr lang="zh-CN" altLang="zh-CN" b="1" dirty="0">
                <a:latin typeface="Symbol" panose="05050102010706020507" pitchFamily="18" charset="2"/>
              </a:rPr>
              <a:t></a:t>
            </a:r>
            <a:r>
              <a:rPr lang="zh-CN" altLang="zh-CN" b="1" dirty="0">
                <a:cs typeface="Times New Roman" panose="02020603050405020304" pitchFamily="18" charset="0"/>
              </a:rPr>
              <a:t> </a:t>
            </a:r>
            <a:r>
              <a:rPr lang="zh-CN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；</a:t>
            </a:r>
            <a:r>
              <a:rPr lang="zh-CN" altLang="zh-CN" b="1" dirty="0">
                <a:latin typeface="Symbol" panose="05050102010706020507" pitchFamily="18" charset="2"/>
              </a:rPr>
              <a:t></a:t>
            </a:r>
            <a:r>
              <a:rPr lang="zh-CN" altLang="zh-CN" dirty="0">
                <a:cs typeface="Times New Roman" panose="02020603050405020304" pitchFamily="18" charset="0"/>
              </a:rPr>
              <a:t>	</a:t>
            </a:r>
            <a:r>
              <a:rPr lang="zh-CN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  <a:endParaRPr lang="zh-CN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ts val="400"/>
              </a:spcBef>
              <a:buFont typeface="Wingdings" panose="05000000000000000000" pitchFamily="2" charset="2"/>
              <a:buChar char=""/>
            </a:pPr>
            <a:r>
              <a:rPr lang="zh-CN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例如</a:t>
            </a:r>
            <a:r>
              <a:rPr lang="zh-CN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zh-CN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ts val="638"/>
              </a:spcBef>
            </a:pPr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lang="zh-CN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Sage&lt;20 </a:t>
            </a:r>
            <a:r>
              <a:rPr lang="zh-CN" altLang="zh-CN" b="1" dirty="0">
                <a:latin typeface="Symbol" panose="05050102010706020507" pitchFamily="18" charset="2"/>
              </a:rPr>
              <a:t></a:t>
            </a:r>
            <a:r>
              <a:rPr lang="zh-CN" altLang="zh-CN" b="1" dirty="0">
                <a:cs typeface="Times New Roman" panose="02020603050405020304" pitchFamily="18" charset="0"/>
              </a:rPr>
              <a:t> </a:t>
            </a:r>
            <a:r>
              <a:rPr lang="zh-CN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Sage&gt;18 </a:t>
            </a:r>
            <a:r>
              <a:rPr lang="zh-CN" altLang="zh-CN" b="1" dirty="0">
                <a:latin typeface="Symbol" panose="05050102010706020507" pitchFamily="18" charset="2"/>
              </a:rPr>
              <a:t></a:t>
            </a:r>
            <a:r>
              <a:rPr lang="zh-CN" altLang="zh-CN" b="1" dirty="0">
                <a:cs typeface="Times New Roman" panose="02020603050405020304" pitchFamily="18" charset="0"/>
              </a:rPr>
              <a:t> </a:t>
            </a:r>
            <a:r>
              <a:rPr lang="zh-CN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D# = “03”</a:t>
            </a:r>
            <a:endParaRPr lang="zh-CN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ts val="725"/>
              </a:spcBef>
            </a:pPr>
            <a:r>
              <a:rPr lang="zh-CN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与</a:t>
            </a:r>
            <a:endParaRPr lang="zh-CN" altLang="zh-CN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eaLnBrk="1" hangingPunct="1">
              <a:spcBef>
                <a:spcPts val="513"/>
              </a:spcBef>
            </a:pPr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zh-CN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(Sage&lt;20 </a:t>
            </a:r>
            <a:r>
              <a:rPr lang="zh-CN" altLang="zh-CN" b="1" dirty="0">
                <a:latin typeface="Symbol" panose="05050102010706020507" pitchFamily="18" charset="2"/>
              </a:rPr>
              <a:t></a:t>
            </a:r>
            <a:r>
              <a:rPr lang="zh-CN" altLang="zh-CN" b="1" dirty="0">
                <a:cs typeface="Times New Roman" panose="02020603050405020304" pitchFamily="18" charset="0"/>
              </a:rPr>
              <a:t> </a:t>
            </a:r>
            <a:r>
              <a:rPr lang="zh-CN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Sage&gt;18) </a:t>
            </a:r>
            <a:r>
              <a:rPr lang="zh-CN" altLang="zh-CN" b="1" dirty="0">
                <a:latin typeface="Symbol" panose="05050102010706020507" pitchFamily="18" charset="2"/>
              </a:rPr>
              <a:t></a:t>
            </a:r>
            <a:r>
              <a:rPr lang="zh-CN" altLang="zh-CN" b="1" dirty="0">
                <a:cs typeface="Times New Roman" panose="02020603050405020304" pitchFamily="18" charset="0"/>
              </a:rPr>
              <a:t> </a:t>
            </a:r>
            <a:r>
              <a:rPr lang="zh-CN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D# = “03”</a:t>
            </a:r>
            <a:endParaRPr lang="zh-CN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ts val="600"/>
              </a:spcBef>
              <a:buFont typeface="Wingdings" panose="05000000000000000000" pitchFamily="2" charset="2"/>
              <a:buChar char=""/>
            </a:pPr>
            <a:r>
              <a:rPr lang="zh-CN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同学可举出更多的示例</a:t>
            </a:r>
            <a:r>
              <a:rPr lang="zh-CN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zh-CN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A6568E1-4089-4561-919E-9D2F37D3F2B0}" type="slidenum">
              <a:rPr lang="en-US" altLang="zh-CN" smtClean="0"/>
              <a:pPr>
                <a:defRPr/>
              </a:pPr>
              <a:t>26</a:t>
            </a:fld>
            <a:endParaRPr lang="en-US" altLang="zh-CN" dirty="0"/>
          </a:p>
        </p:txBody>
      </p:sp>
      <p:sp>
        <p:nvSpPr>
          <p:cNvPr id="10" name="object 5"/>
          <p:cNvSpPr txBox="1"/>
          <p:nvPr/>
        </p:nvSpPr>
        <p:spPr>
          <a:xfrm>
            <a:off x="1115616" y="635923"/>
            <a:ext cx="3117453" cy="555496"/>
          </a:xfrm>
          <a:prstGeom prst="rect">
            <a:avLst/>
          </a:prstGeom>
        </p:spPr>
        <p:txBody>
          <a:bodyPr wrap="square" lIns="0" tIns="62444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</a:pPr>
            <a:r>
              <a:rPr lang="zh-CN" altLang="zh-CN" sz="32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(4) “</a:t>
            </a:r>
            <a:r>
              <a:rPr lang="zh-CN" altLang="zh-CN" sz="3200" b="1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选择</a:t>
            </a:r>
            <a:r>
              <a:rPr lang="zh-CN" altLang="zh-CN" sz="32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r>
              <a:rPr lang="zh-CN" altLang="zh-CN" sz="3200" b="1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操作</a:t>
            </a:r>
            <a:endParaRPr lang="zh-CN" altLang="zh-CN" sz="32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6561138" y="3275013"/>
            <a:ext cx="1384300" cy="21240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4" name="object 4"/>
          <p:cNvSpPr txBox="1"/>
          <p:nvPr/>
        </p:nvSpPr>
        <p:spPr>
          <a:xfrm>
            <a:off x="543718" y="1484784"/>
            <a:ext cx="8348761" cy="4875852"/>
          </a:xfrm>
          <a:prstGeom prst="rect">
            <a:avLst/>
          </a:prstGeom>
        </p:spPr>
        <p:txBody>
          <a:bodyPr wrap="square" lIns="0" tIns="10317" rIns="0" bIns="0">
            <a:spAutoFit/>
          </a:bodyPr>
          <a:lstStyle>
            <a:lvl1pPr marL="952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75"/>
              </a:spcBef>
            </a:pPr>
            <a:r>
              <a:rPr lang="zh-CN" altLang="zh-CN" sz="27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投影(Project)</a:t>
            </a:r>
            <a:endParaRPr lang="zh-CN" altLang="zh-CN" sz="27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29000"/>
              </a:lnSpc>
              <a:spcBef>
                <a:spcPts val="763"/>
              </a:spcBef>
              <a:buClr>
                <a:srgbClr val="000000"/>
              </a:buClr>
              <a:buFont typeface="Wingdings" panose="05000000000000000000" pitchFamily="2" charset="2"/>
              <a:buChar char=""/>
            </a:pPr>
            <a:r>
              <a:rPr lang="zh-CN" altLang="zh-CN" sz="2000" b="1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定义</a:t>
            </a: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：给定一个关系</a:t>
            </a:r>
            <a:r>
              <a:rPr lang="zh-CN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R, </a:t>
            </a: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投影运算结果也是一个关系，记作</a:t>
            </a:r>
            <a:r>
              <a:rPr lang="zh-CN" altLang="zh-CN" sz="2000" b="1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zh-CN" altLang="zh-CN" sz="2000" b="1" dirty="0">
                <a:solidFill>
                  <a:srgbClr val="FF0065"/>
                </a:solidFill>
                <a:latin typeface="Symbol" panose="05050102010706020507" pitchFamily="18" charset="2"/>
              </a:rPr>
              <a:t></a:t>
            </a:r>
            <a:r>
              <a:rPr lang="zh-CN" altLang="zh-CN" sz="2000" b="1" baseline="-130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zh-CN" altLang="zh-CN" sz="2000" b="1" dirty="0">
                <a:solidFill>
                  <a:srgbClr val="FF0065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(R) </a:t>
            </a:r>
            <a:r>
              <a:rPr lang="zh-CN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它从 关系</a:t>
            </a:r>
            <a:r>
              <a:rPr lang="zh-CN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中选出属性包含在</a:t>
            </a:r>
            <a:r>
              <a:rPr lang="zh-CN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中的列构成。</a:t>
            </a:r>
            <a:endParaRPr lang="zh-CN" altLang="zh-CN" sz="20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eaLnBrk="1" hangingPunct="1">
              <a:spcBef>
                <a:spcPts val="738"/>
              </a:spcBef>
              <a:buFont typeface="Wingdings" panose="05000000000000000000" pitchFamily="2" charset="2"/>
              <a:buChar char=""/>
            </a:pPr>
            <a:r>
              <a:rPr lang="zh-CN" altLang="zh-CN" sz="2000" b="1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数学描述</a:t>
            </a: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：</a:t>
            </a:r>
            <a:r>
              <a:rPr lang="zh-CN" altLang="zh-CN" sz="2000" b="1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zh-CN" altLang="zh-CN" sz="2000" b="1" dirty="0">
                <a:solidFill>
                  <a:srgbClr val="FF0065"/>
                </a:solidFill>
                <a:latin typeface="Symbol" panose="05050102010706020507" pitchFamily="18" charset="2"/>
              </a:rPr>
              <a:t></a:t>
            </a:r>
            <a:r>
              <a:rPr lang="zh-CN" altLang="zh-CN" sz="2000" b="1" baseline="-100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zh-CN" altLang="zh-CN" sz="2000" b="1" baseline="-35000" dirty="0">
                <a:solidFill>
                  <a:srgbClr val="6565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i1</a:t>
            </a:r>
            <a:r>
              <a:rPr lang="zh-CN" altLang="zh-CN" sz="2000" b="1" baseline="-10000" dirty="0">
                <a:latin typeface="Arial" panose="020B0604020202020204" pitchFamily="34" charset="0"/>
                <a:cs typeface="Arial" panose="020B0604020202020204" pitchFamily="34" charset="0"/>
              </a:rPr>
              <a:t>, A</a:t>
            </a:r>
            <a:r>
              <a:rPr lang="zh-CN" altLang="zh-CN" sz="2000" b="1" baseline="-35000" dirty="0">
                <a:solidFill>
                  <a:srgbClr val="6565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i2</a:t>
            </a:r>
            <a:r>
              <a:rPr lang="zh-CN" altLang="zh-CN" sz="2000" b="1" baseline="-10000" dirty="0">
                <a:latin typeface="Arial" panose="020B0604020202020204" pitchFamily="34" charset="0"/>
                <a:cs typeface="Arial" panose="020B0604020202020204" pitchFamily="34" charset="0"/>
              </a:rPr>
              <a:t>, … ,A</a:t>
            </a:r>
            <a:r>
              <a:rPr lang="zh-CN" altLang="zh-CN" sz="2000" b="1" baseline="-35000" dirty="0">
                <a:solidFill>
                  <a:srgbClr val="6565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ik</a:t>
            </a:r>
            <a:r>
              <a:rPr lang="zh-CN" altLang="zh-CN" sz="2000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(R) = {</a:t>
            </a:r>
            <a:r>
              <a:rPr lang="zh-CN" altLang="zh-CN" sz="2000" b="1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&lt;</a:t>
            </a:r>
            <a:r>
              <a:rPr lang="zh-CN" altLang="zh-CN" sz="2000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t[</a:t>
            </a:r>
            <a:r>
              <a:rPr lang="zh-CN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zh-CN" altLang="zh-CN" sz="2000" b="1" baseline="-17000" dirty="0">
                <a:solidFill>
                  <a:srgbClr val="6565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i1</a:t>
            </a:r>
            <a:r>
              <a:rPr lang="zh-CN" altLang="zh-CN" sz="2000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  <a:r>
              <a:rPr lang="zh-CN" altLang="zh-CN" sz="2000" dirty="0">
                <a:latin typeface="Tahoma" panose="020B0604030504040204" pitchFamily="34" charset="0"/>
                <a:cs typeface="Tahoma" panose="020B0604030504040204" pitchFamily="34" charset="0"/>
              </a:rPr>
              <a:t>,</a:t>
            </a:r>
            <a:r>
              <a:rPr lang="zh-CN" altLang="zh-CN" sz="2000" dirty="0">
                <a:solidFill>
                  <a:srgbClr val="FF0065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zh-CN" altLang="zh-CN" sz="2000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t[</a:t>
            </a:r>
            <a:r>
              <a:rPr lang="zh-CN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zh-CN" altLang="zh-CN" sz="2000" b="1" baseline="-17000" dirty="0">
                <a:solidFill>
                  <a:srgbClr val="6565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i2</a:t>
            </a:r>
            <a:r>
              <a:rPr lang="zh-CN" altLang="zh-CN" sz="2000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  <a:r>
              <a:rPr lang="zh-CN" altLang="zh-CN" sz="2000" dirty="0">
                <a:latin typeface="Tahoma" panose="020B0604030504040204" pitchFamily="34" charset="0"/>
                <a:cs typeface="Tahoma" panose="020B0604030504040204" pitchFamily="34" charset="0"/>
              </a:rPr>
              <a:t>,</a:t>
            </a:r>
            <a:r>
              <a:rPr lang="zh-CN" altLang="zh-CN" sz="2000" dirty="0">
                <a:cs typeface="Times New Roman" panose="02020603050405020304" pitchFamily="18" charset="0"/>
              </a:rPr>
              <a:t>…</a:t>
            </a:r>
            <a:r>
              <a:rPr lang="zh-CN" altLang="zh-CN" sz="2000" dirty="0">
                <a:latin typeface="Tahoma" panose="020B0604030504040204" pitchFamily="34" charset="0"/>
                <a:cs typeface="Tahoma" panose="020B0604030504040204" pitchFamily="34" charset="0"/>
              </a:rPr>
              <a:t>,</a:t>
            </a:r>
            <a:r>
              <a:rPr lang="zh-CN" altLang="zh-CN" sz="2000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t[</a:t>
            </a:r>
            <a:r>
              <a:rPr lang="zh-CN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zh-CN" altLang="zh-CN" sz="2000" b="1" baseline="-17000" dirty="0">
                <a:solidFill>
                  <a:srgbClr val="6565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ik</a:t>
            </a:r>
            <a:r>
              <a:rPr lang="zh-CN" altLang="zh-CN" sz="2000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  <a:r>
              <a:rPr lang="zh-CN" altLang="zh-CN" sz="2000" b="1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r>
              <a:rPr lang="zh-CN" altLang="zh-CN" sz="2000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|t</a:t>
            </a:r>
            <a:r>
              <a:rPr lang="zh-CN" altLang="zh-CN" sz="2000" b="1" dirty="0">
                <a:solidFill>
                  <a:srgbClr val="FF0065"/>
                </a:solidFill>
                <a:latin typeface="Symbol" panose="05050102010706020507" pitchFamily="18" charset="2"/>
              </a:rPr>
              <a:t></a:t>
            </a:r>
            <a:r>
              <a:rPr lang="zh-CN" altLang="zh-CN" sz="2000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 }</a:t>
            </a:r>
            <a:endParaRPr lang="zh-CN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ts val="1350"/>
              </a:spcBef>
            </a:pPr>
            <a:r>
              <a:rPr lang="zh-CN" altLang="zh-CN" sz="2000" dirty="0">
                <a:latin typeface="Wingdings" panose="05000000000000000000" pitchFamily="2" charset="2"/>
              </a:rPr>
              <a:t></a:t>
            </a:r>
            <a:r>
              <a:rPr lang="zh-CN" altLang="zh-CN" sz="2000" dirty="0">
                <a:cs typeface="Times New Roman" panose="02020603050405020304" pitchFamily="18" charset="0"/>
              </a:rPr>
              <a:t> </a:t>
            </a:r>
            <a:r>
              <a:rPr lang="zh-CN" altLang="zh-CN" sz="2000" b="1" dirty="0">
                <a:solidFill>
                  <a:srgbClr val="3333CC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设</a:t>
            </a:r>
            <a:r>
              <a:rPr lang="zh-CN" altLang="zh-CN" sz="2000" b="1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R(A</a:t>
            </a:r>
            <a:r>
              <a:rPr lang="zh-CN" altLang="zh-CN" sz="2000" b="1" baseline="-17000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zh-CN" altLang="zh-CN" sz="2000" b="1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,A</a:t>
            </a:r>
            <a:r>
              <a:rPr lang="zh-CN" altLang="zh-CN" sz="2000" b="1" baseline="-17000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zh-CN" altLang="zh-CN" sz="2000" b="1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… ,A</a:t>
            </a:r>
            <a:r>
              <a:rPr lang="zh-CN" altLang="zh-CN" sz="2000" b="1" baseline="-17000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zh-CN" altLang="zh-CN" sz="2000" b="1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zh-CN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ts val="525"/>
              </a:spcBef>
            </a:pPr>
            <a:r>
              <a:rPr lang="zh-CN" altLang="zh-CN" sz="2000" dirty="0">
                <a:solidFill>
                  <a:srgbClr val="3333CC"/>
                </a:solidFill>
                <a:latin typeface="Wingdings" panose="05000000000000000000" pitchFamily="2" charset="2"/>
              </a:rPr>
              <a:t></a:t>
            </a:r>
            <a:r>
              <a:rPr lang="zh-CN" altLang="zh-CN" sz="2000" dirty="0">
                <a:solidFill>
                  <a:srgbClr val="3333CC"/>
                </a:solidFill>
                <a:cs typeface="Times New Roman" panose="02020603050405020304" pitchFamily="18" charset="0"/>
              </a:rPr>
              <a:t> </a:t>
            </a:r>
            <a:r>
              <a:rPr lang="zh-CN" altLang="zh-CN" sz="2000" b="1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{ </a:t>
            </a:r>
            <a:r>
              <a:rPr lang="zh-CN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zh-CN" altLang="zh-CN" sz="2000" b="1" baseline="-17000" dirty="0">
                <a:solidFill>
                  <a:srgbClr val="6565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i1</a:t>
            </a:r>
            <a:r>
              <a:rPr lang="zh-CN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, A</a:t>
            </a:r>
            <a:r>
              <a:rPr lang="zh-CN" altLang="zh-CN" sz="2000" b="1" baseline="-17000" dirty="0">
                <a:solidFill>
                  <a:srgbClr val="6565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i2</a:t>
            </a:r>
            <a:r>
              <a:rPr lang="zh-CN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, … ,A</a:t>
            </a:r>
            <a:r>
              <a:rPr lang="zh-CN" altLang="zh-CN" sz="2000" b="1" baseline="-17000" dirty="0">
                <a:solidFill>
                  <a:srgbClr val="6565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ik </a:t>
            </a:r>
            <a:r>
              <a:rPr lang="zh-CN" altLang="zh-CN" sz="2000" b="1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} </a:t>
            </a:r>
            <a:r>
              <a:rPr lang="zh-CN" altLang="zh-CN" sz="2000" dirty="0">
                <a:latin typeface="Symbol" panose="05050102010706020507" pitchFamily="18" charset="2"/>
              </a:rPr>
              <a:t></a:t>
            </a:r>
            <a:r>
              <a:rPr lang="zh-CN" altLang="zh-CN" sz="2000" dirty="0">
                <a:cs typeface="Times New Roman" panose="02020603050405020304" pitchFamily="18" charset="0"/>
              </a:rPr>
              <a:t> </a:t>
            </a:r>
            <a:r>
              <a:rPr lang="zh-CN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{ </a:t>
            </a:r>
            <a:r>
              <a:rPr lang="zh-CN" altLang="zh-CN" sz="2000" b="1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zh-CN" altLang="zh-CN" sz="2000" b="1" baseline="-17000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zh-CN" altLang="zh-CN" sz="2000" b="1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,A</a:t>
            </a:r>
            <a:r>
              <a:rPr lang="zh-CN" altLang="zh-CN" sz="2000" b="1" baseline="-17000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zh-CN" altLang="zh-CN" sz="2000" b="1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… ,A</a:t>
            </a:r>
            <a:r>
              <a:rPr lang="zh-CN" altLang="zh-CN" sz="2000" b="1" baseline="-17000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 </a:t>
            </a:r>
            <a:r>
              <a:rPr lang="zh-CN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  <a:p>
            <a:pPr eaLnBrk="1" hangingPunct="1">
              <a:spcBef>
                <a:spcPts val="713"/>
              </a:spcBef>
            </a:pPr>
            <a:r>
              <a:rPr lang="zh-CN" altLang="zh-CN" sz="2000" dirty="0">
                <a:solidFill>
                  <a:srgbClr val="FF3300"/>
                </a:solidFill>
                <a:latin typeface="Wingdings" panose="05000000000000000000" pitchFamily="2" charset="2"/>
              </a:rPr>
              <a:t></a:t>
            </a:r>
            <a:r>
              <a:rPr lang="zh-CN" altLang="zh-CN" sz="2000" dirty="0">
                <a:solidFill>
                  <a:srgbClr val="FF3300"/>
                </a:solidFill>
                <a:cs typeface="Times New Roman" panose="02020603050405020304" pitchFamily="18" charset="0"/>
              </a:rPr>
              <a:t> </a:t>
            </a:r>
            <a:r>
              <a:rPr lang="zh-CN" altLang="zh-CN" sz="2000" b="1" dirty="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t[A</a:t>
            </a:r>
            <a:r>
              <a:rPr lang="zh-CN" altLang="zh-CN" sz="2000" b="1" baseline="-17000" dirty="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zh-CN" altLang="zh-CN" sz="2000" b="1" dirty="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表示元组</a:t>
            </a:r>
            <a:r>
              <a:rPr lang="zh-CN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中相应于属性</a:t>
            </a:r>
            <a:r>
              <a:rPr lang="zh-CN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zh-CN" altLang="zh-CN" sz="2000" b="1" baseline="-170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的分量</a:t>
            </a:r>
            <a:endParaRPr lang="zh-CN" altLang="zh-CN" sz="20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eaLnBrk="1" hangingPunct="1">
              <a:spcBef>
                <a:spcPts val="625"/>
              </a:spcBef>
            </a:pPr>
            <a:r>
              <a:rPr lang="zh-CN" altLang="zh-CN" sz="2000" dirty="0">
                <a:latin typeface="Wingdings" panose="05000000000000000000" pitchFamily="2" charset="2"/>
              </a:rPr>
              <a:t></a:t>
            </a:r>
            <a:r>
              <a:rPr lang="zh-CN" altLang="zh-CN" sz="2000" dirty="0">
                <a:cs typeface="Times New Roman" panose="02020603050405020304" pitchFamily="18" charset="0"/>
              </a:rPr>
              <a:t> </a:t>
            </a: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投影运算可以对原关系的列在投影后重新排列</a:t>
            </a:r>
            <a:endParaRPr lang="zh-CN" altLang="zh-CN" sz="20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eaLnBrk="1" hangingPunct="1"/>
            <a:endParaRPr lang="zh-CN" altLang="zh-CN" sz="1800" dirty="0">
              <a:cs typeface="Times New Roman" panose="02020603050405020304" pitchFamily="18" charset="0"/>
            </a:endParaRPr>
          </a:p>
          <a:p>
            <a:pPr eaLnBrk="1" hangingPunct="1"/>
            <a:endParaRPr lang="zh-CN" altLang="zh-CN" sz="1800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Char char=""/>
            </a:pPr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投影操作从给定关系中选出</a:t>
            </a:r>
            <a:r>
              <a:rPr lang="zh-CN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某些列</a:t>
            </a:r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组成新的关系, 而 选择操作是从给定关系中选出</a:t>
            </a:r>
            <a:r>
              <a:rPr lang="zh-CN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某些行</a:t>
            </a:r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组成新的关系</a:t>
            </a:r>
            <a:endParaRPr lang="zh-CN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71600" y="608192"/>
            <a:ext cx="4771057" cy="632440"/>
          </a:xfrm>
          <a:prstGeom prst="rect">
            <a:avLst/>
          </a:prstGeom>
        </p:spPr>
        <p:txBody>
          <a:bodyPr wrap="square" lIns="0" tIns="62444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</a:pPr>
            <a:r>
              <a:rPr lang="zh-CN" altLang="zh-CN" sz="37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(5) “</a:t>
            </a:r>
            <a:r>
              <a:rPr lang="zh-CN" altLang="zh-CN" sz="3700" b="1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投影</a:t>
            </a:r>
            <a:r>
              <a:rPr lang="zh-CN" altLang="zh-CN" sz="37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r>
              <a:rPr lang="zh-CN" altLang="zh-CN" sz="3700" b="1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操作</a:t>
            </a:r>
            <a:endParaRPr lang="zh-CN" altLang="zh-CN" sz="37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02E7998-F56A-45D4-984E-4E67E3C944B8}" type="slidenum">
              <a:rPr lang="en-US" altLang="zh-CN" smtClean="0"/>
              <a:pPr>
                <a:defRPr/>
              </a:pPr>
              <a:t>27</a:t>
            </a:fld>
            <a:endParaRPr lang="en-US" altLang="zh-CN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586657" y="1412776"/>
            <a:ext cx="6765056" cy="1320338"/>
          </a:xfrm>
          <a:prstGeom prst="rect">
            <a:avLst/>
          </a:prstGeom>
        </p:spPr>
        <p:txBody>
          <a:bodyPr wrap="square" lIns="0" tIns="70589" rIns="0" bIns="0">
            <a:spAutoFit/>
          </a:bodyPr>
          <a:lstStyle>
            <a:lvl1pPr marL="182563" indent="-171450">
              <a:tabLst>
                <a:tab pos="182563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tabLst>
                <a:tab pos="182563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tabLst>
                <a:tab pos="182563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tabLst>
                <a:tab pos="182563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tabLst>
                <a:tab pos="182563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82563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82563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82563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82563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550"/>
              </a:spcBef>
              <a:buSzPct val="95000"/>
              <a:buFont typeface="Wingdings" panose="05000000000000000000" pitchFamily="2" charset="2"/>
              <a:buChar char=""/>
            </a:pPr>
            <a:r>
              <a:rPr lang="zh-CN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投影操作的示例一</a:t>
            </a:r>
            <a:r>
              <a:rPr lang="zh-CN" altLang="zh-CN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zh-CN" altLang="zh-CN" b="1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抽象的</a:t>
            </a:r>
            <a:r>
              <a:rPr lang="zh-CN" altLang="zh-CN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zh-CN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lvl="1" indent="-457200" eaLnBrk="1" hangingPunct="1">
              <a:spcBef>
                <a:spcPts val="475"/>
              </a:spcBef>
              <a:buSzPct val="95000"/>
              <a:buFont typeface="+mj-ea"/>
              <a:buAutoNum type="circleNumDbPlain"/>
            </a:pPr>
            <a:r>
              <a:rPr lang="zh-CN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投影出</a:t>
            </a:r>
            <a:r>
              <a:rPr lang="zh-CN" altLang="zh-CN" b="1" dirty="0">
                <a:cs typeface="Times New Roman" panose="02020603050405020304" pitchFamily="18" charset="0"/>
              </a:rPr>
              <a:t>A3</a:t>
            </a:r>
            <a:r>
              <a:rPr lang="zh-CN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列的元组</a:t>
            </a:r>
            <a:r>
              <a:rPr lang="zh-CN" altLang="zh-CN" b="1" dirty="0">
                <a:cs typeface="Times New Roman" panose="02020603050405020304" pitchFamily="18" charset="0"/>
              </a:rPr>
              <a:t>?</a:t>
            </a:r>
            <a:endParaRPr lang="zh-CN" altLang="zh-CN" dirty="0">
              <a:cs typeface="Times New Roman" panose="02020603050405020304" pitchFamily="18" charset="0"/>
            </a:endParaRPr>
          </a:p>
          <a:p>
            <a:pPr marL="914400" lvl="1" indent="-457200" eaLnBrk="1" hangingPunct="1">
              <a:spcBef>
                <a:spcPts val="625"/>
              </a:spcBef>
              <a:buSzPct val="95000"/>
              <a:buFont typeface="+mj-ea"/>
              <a:buAutoNum type="circleNumDbPlain"/>
            </a:pPr>
            <a:r>
              <a:rPr lang="zh-CN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投影出</a:t>
            </a:r>
            <a:r>
              <a:rPr lang="zh-CN" altLang="zh-CN" b="1" dirty="0">
                <a:cs typeface="Times New Roman" panose="02020603050405020304" pitchFamily="18" charset="0"/>
              </a:rPr>
              <a:t>A3,A1</a:t>
            </a:r>
            <a:r>
              <a:rPr lang="zh-CN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两列的元组</a:t>
            </a:r>
            <a:r>
              <a:rPr lang="zh-CN" altLang="zh-CN" b="1" dirty="0">
                <a:cs typeface="Times New Roman" panose="02020603050405020304" pitchFamily="18" charset="0"/>
              </a:rPr>
              <a:t>?</a:t>
            </a:r>
            <a:endParaRPr lang="zh-CN" altLang="zh-CN" dirty="0">
              <a:cs typeface="Times New Roman" panose="02020603050405020304" pitchFamily="18" charset="0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141538" y="2836863"/>
            <a:ext cx="1384300" cy="13366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7" name="object 7"/>
          <p:cNvSpPr/>
          <p:nvPr/>
        </p:nvSpPr>
        <p:spPr>
          <a:xfrm>
            <a:off x="6415088" y="2776538"/>
            <a:ext cx="936625" cy="136842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8" name="object 8"/>
          <p:cNvSpPr/>
          <p:nvPr/>
        </p:nvSpPr>
        <p:spPr>
          <a:xfrm>
            <a:off x="4748213" y="2798763"/>
            <a:ext cx="709612" cy="136842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1" name="object 11"/>
          <p:cNvSpPr txBox="1"/>
          <p:nvPr/>
        </p:nvSpPr>
        <p:spPr>
          <a:xfrm>
            <a:off x="683568" y="4340141"/>
            <a:ext cx="5387414" cy="379750"/>
          </a:xfrm>
          <a:prstGeom prst="rect">
            <a:avLst/>
          </a:prstGeom>
        </p:spPr>
        <p:txBody>
          <a:bodyPr wrap="square" lIns="0" tIns="10317" rIns="0" bIns="0">
            <a:spAutoFit/>
          </a:bodyPr>
          <a:lstStyle>
            <a:lvl1pPr marL="242888" indent="-231775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75"/>
              </a:spcBef>
              <a:buFont typeface="Wingdings" panose="05000000000000000000" pitchFamily="2" charset="2"/>
              <a:buChar char=""/>
            </a:pPr>
            <a:r>
              <a:rPr lang="zh-CN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如果投影后有重复元组，则应去掉</a:t>
            </a:r>
            <a:endParaRPr lang="zh-CN" altLang="zh-CN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146300" y="4848225"/>
            <a:ext cx="1384300" cy="133667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3" name="object 13"/>
          <p:cNvSpPr/>
          <p:nvPr/>
        </p:nvSpPr>
        <p:spPr>
          <a:xfrm>
            <a:off x="4721225" y="4835525"/>
            <a:ext cx="969963" cy="110013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4" name="灯片编号占位符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A6568E1-4089-4561-919E-9D2F37D3F2B0}" type="slidenum">
              <a:rPr lang="en-US" altLang="zh-CN" smtClean="0"/>
              <a:pPr>
                <a:defRPr/>
              </a:pPr>
              <a:t>28</a:t>
            </a:fld>
            <a:endParaRPr lang="en-US" altLang="zh-CN" dirty="0"/>
          </a:p>
        </p:txBody>
      </p:sp>
      <p:sp>
        <p:nvSpPr>
          <p:cNvPr id="15" name="标题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zh-CN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(5) “</a:t>
            </a:r>
            <a:r>
              <a:rPr lang="zh-CN" altLang="zh-CN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投影</a:t>
            </a:r>
            <a:r>
              <a:rPr lang="zh-CN" altLang="zh-CN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r>
              <a:rPr lang="zh-CN" altLang="zh-CN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操作</a:t>
            </a:r>
            <a:endParaRPr lang="zh-CN" alt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395536" y="1560346"/>
            <a:ext cx="4104456" cy="379750"/>
          </a:xfrm>
          <a:prstGeom prst="rect">
            <a:avLst/>
          </a:prstGeom>
        </p:spPr>
        <p:txBody>
          <a:bodyPr wrap="square" lIns="0" tIns="10317" rIns="0" bIns="0">
            <a:spAutoFit/>
          </a:bodyPr>
          <a:lstStyle>
            <a:lvl1pPr marL="242888" indent="-231775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75"/>
              </a:spcBef>
              <a:buFont typeface="Wingdings" panose="05000000000000000000" pitchFamily="2" charset="2"/>
              <a:buChar char=""/>
            </a:pPr>
            <a:r>
              <a:rPr lang="zh-CN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投影操作的示例二</a:t>
            </a:r>
            <a:r>
              <a:rPr lang="zh-CN" altLang="zh-CN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zh-CN" altLang="zh-CN" b="1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语义的</a:t>
            </a:r>
            <a:r>
              <a:rPr lang="zh-CN" altLang="zh-CN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zh-CN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68375" y="3454400"/>
            <a:ext cx="974725" cy="274638"/>
          </a:xfrm>
          <a:prstGeom prst="rect">
            <a:avLst/>
          </a:prstGeom>
        </p:spPr>
        <p:txBody>
          <a:bodyPr lIns="0" tIns="10317" rIns="0" bIns="0">
            <a:spAutoFit/>
          </a:bodyPr>
          <a:lstStyle>
            <a:lvl1pPr marL="952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75"/>
              </a:spcBef>
            </a:pPr>
            <a:r>
              <a:rPr lang="zh-CN" altLang="zh-CN" sz="1700" b="1">
                <a:solidFill>
                  <a:srgbClr val="FF0065"/>
                </a:solidFill>
                <a:cs typeface="Times New Roman" panose="02020603050405020304" pitchFamily="18" charset="0"/>
              </a:rPr>
              <a:t>R(</a:t>
            </a:r>
            <a:r>
              <a:rPr lang="zh-CN" altLang="zh-CN" sz="1700" b="1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学生表</a:t>
            </a:r>
            <a:r>
              <a:rPr lang="zh-CN" altLang="zh-CN" sz="1700" b="1">
                <a:solidFill>
                  <a:srgbClr val="FF0065"/>
                </a:solidFill>
                <a:cs typeface="Times New Roman" panose="02020603050405020304" pitchFamily="18" charset="0"/>
              </a:rPr>
              <a:t>)</a:t>
            </a:r>
            <a:endParaRPr lang="zh-CN" altLang="zh-CN" sz="1700">
              <a:cs typeface="Times New Roman" panose="02020603050405020304" pitchFamily="18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018088" y="1911350"/>
            <a:ext cx="3874392" cy="804136"/>
          </a:xfrm>
          <a:prstGeom prst="rect">
            <a:avLst/>
          </a:prstGeom>
        </p:spPr>
        <p:txBody>
          <a:bodyPr wrap="square" lIns="0" tIns="123259" rIns="0" bIns="0">
            <a:spAutoFit/>
          </a:bodyPr>
          <a:lstStyle>
            <a:lvl1pPr marL="952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975"/>
              </a:spcBef>
            </a:pP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查询所有学生的姓名和年龄</a:t>
            </a:r>
            <a:endParaRPr lang="zh-CN" altLang="zh-CN" sz="20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eaLnBrk="1" hangingPunct="1">
              <a:spcBef>
                <a:spcPts val="888"/>
              </a:spcBef>
            </a:pPr>
            <a:r>
              <a:rPr lang="zh-CN" altLang="zh-CN" sz="2500" b="1" baseline="17000" dirty="0">
                <a:solidFill>
                  <a:srgbClr val="FF0065"/>
                </a:solidFill>
                <a:latin typeface="Symbol" panose="05050102010706020507" pitchFamily="18" charset="2"/>
              </a:rPr>
              <a:t></a:t>
            </a:r>
            <a:r>
              <a:rPr lang="zh-CN" altLang="zh-CN" sz="1100" b="1" dirty="0">
                <a:latin typeface="Arial" panose="020B0604020202020204" pitchFamily="34" charset="0"/>
                <a:cs typeface="Arial" panose="020B0604020202020204" pitchFamily="34" charset="0"/>
              </a:rPr>
              <a:t>Sname, Sage </a:t>
            </a:r>
            <a:r>
              <a:rPr lang="zh-CN" altLang="zh-CN" sz="2500" b="1" baseline="17000" dirty="0">
                <a:latin typeface="Arial" panose="020B0604020202020204" pitchFamily="34" charset="0"/>
                <a:cs typeface="Arial" panose="020B0604020202020204" pitchFamily="34" charset="0"/>
              </a:rPr>
              <a:t>(R)</a:t>
            </a:r>
            <a:endParaRPr lang="zh-CN" altLang="zh-CN" sz="2500" baseline="17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018088" y="4009466"/>
            <a:ext cx="4278882" cy="764641"/>
          </a:xfrm>
          <a:prstGeom prst="rect">
            <a:avLst/>
          </a:prstGeom>
        </p:spPr>
        <p:txBody>
          <a:bodyPr wrap="square" lIns="0" tIns="91766" rIns="0" bIns="0">
            <a:spAutoFit/>
          </a:bodyPr>
          <a:lstStyle>
            <a:lvl1pPr marL="952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725"/>
              </a:spcBef>
            </a:pP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查询所有学生的姓名及其所在的系</a:t>
            </a:r>
            <a:endParaRPr lang="zh-CN" altLang="zh-CN" sz="20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eaLnBrk="1" hangingPunct="1">
              <a:spcBef>
                <a:spcPts val="638"/>
              </a:spcBef>
            </a:pPr>
            <a:r>
              <a:rPr lang="zh-CN" altLang="zh-CN" sz="2000" b="1" baseline="17000" dirty="0">
                <a:solidFill>
                  <a:srgbClr val="FF0065"/>
                </a:solidFill>
                <a:latin typeface="Symbol" panose="05050102010706020507" pitchFamily="18" charset="2"/>
              </a:rPr>
              <a:t></a:t>
            </a:r>
            <a:r>
              <a:rPr lang="zh-CN" altLang="zh-CN" sz="2000" b="1" baseline="17000" dirty="0">
                <a:solidFill>
                  <a:srgbClr val="FF0065"/>
                </a:solidFill>
                <a:cs typeface="Times New Roman" panose="02020603050405020304" pitchFamily="18" charset="0"/>
              </a:rPr>
              <a:t> </a:t>
            </a:r>
            <a:r>
              <a:rPr lang="zh-CN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Sname, D</a:t>
            </a:r>
            <a:r>
              <a:rPr lang="zh-CN" altLang="zh-CN" sz="14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＃ </a:t>
            </a:r>
            <a:r>
              <a:rPr lang="zh-CN" altLang="zh-CN" sz="2800" b="1" baseline="17000" dirty="0">
                <a:latin typeface="Arial" panose="020B0604020202020204" pitchFamily="34" charset="0"/>
                <a:cs typeface="Arial" panose="020B0604020202020204" pitchFamily="34" charset="0"/>
              </a:rPr>
              <a:t>(R)</a:t>
            </a:r>
            <a:endParaRPr lang="zh-CN" altLang="zh-CN" sz="2800" baseline="17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31863" y="3768725"/>
            <a:ext cx="3306762" cy="12461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0" name="object 10"/>
          <p:cNvSpPr/>
          <p:nvPr/>
        </p:nvSpPr>
        <p:spPr>
          <a:xfrm>
            <a:off x="5037138" y="2674938"/>
            <a:ext cx="1155700" cy="124618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1" name="object 11"/>
          <p:cNvSpPr/>
          <p:nvPr/>
        </p:nvSpPr>
        <p:spPr>
          <a:xfrm>
            <a:off x="5027613" y="4845050"/>
            <a:ext cx="1066800" cy="1244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4" name="灯片编号占位符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A6568E1-4089-4561-919E-9D2F37D3F2B0}" type="slidenum">
              <a:rPr lang="en-US" altLang="zh-CN" smtClean="0"/>
              <a:pPr>
                <a:defRPr/>
              </a:pPr>
              <a:t>29</a:t>
            </a:fld>
            <a:endParaRPr lang="en-US" altLang="zh-CN" dirty="0"/>
          </a:p>
        </p:txBody>
      </p:sp>
      <p:sp>
        <p:nvSpPr>
          <p:cNvPr id="15" name="标题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zh-CN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(5) “</a:t>
            </a:r>
            <a:r>
              <a:rPr lang="zh-CN" altLang="zh-CN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投影</a:t>
            </a:r>
            <a:r>
              <a:rPr lang="zh-CN" altLang="zh-CN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r>
              <a:rPr lang="zh-CN" altLang="zh-CN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操作</a:t>
            </a:r>
            <a:endParaRPr lang="zh-CN" alt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 txBox="1"/>
          <p:nvPr/>
        </p:nvSpPr>
        <p:spPr>
          <a:xfrm>
            <a:off x="456022" y="1492099"/>
            <a:ext cx="7682681" cy="379750"/>
          </a:xfrm>
          <a:prstGeom prst="rect">
            <a:avLst/>
          </a:prstGeom>
        </p:spPr>
        <p:txBody>
          <a:bodyPr wrap="square" lIns="0" tIns="10317" rIns="0" bIns="0">
            <a:spAutoFit/>
          </a:bodyPr>
          <a:lstStyle>
            <a:lvl1pPr marL="242888" indent="-231775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75"/>
              </a:spcBef>
              <a:buFont typeface="Wingdings" panose="05000000000000000000" pitchFamily="2" charset="2"/>
              <a:buChar char=""/>
            </a:pPr>
            <a:r>
              <a:rPr lang="zh-CN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投影与选择操作一起使用的示例</a:t>
            </a:r>
            <a:r>
              <a:rPr lang="zh-CN" altLang="zh-CN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zh-CN" altLang="zh-CN" b="1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语义的</a:t>
            </a:r>
            <a:r>
              <a:rPr lang="zh-CN" altLang="zh-CN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zh-CN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16000" y="2636838"/>
            <a:ext cx="976313" cy="273050"/>
          </a:xfrm>
          <a:prstGeom prst="rect">
            <a:avLst/>
          </a:prstGeom>
        </p:spPr>
        <p:txBody>
          <a:bodyPr lIns="0" tIns="10317" rIns="0" bIns="0">
            <a:spAutoFit/>
          </a:bodyPr>
          <a:lstStyle>
            <a:lvl1pPr marL="952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75"/>
              </a:spcBef>
            </a:pPr>
            <a:r>
              <a:rPr lang="zh-CN" altLang="zh-CN" sz="1700" b="1">
                <a:solidFill>
                  <a:srgbClr val="FF0065"/>
                </a:solidFill>
                <a:cs typeface="Times New Roman" panose="02020603050405020304" pitchFamily="18" charset="0"/>
              </a:rPr>
              <a:t>R(</a:t>
            </a:r>
            <a:r>
              <a:rPr lang="zh-CN" altLang="zh-CN" sz="1700" b="1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学生表</a:t>
            </a:r>
            <a:r>
              <a:rPr lang="zh-CN" altLang="zh-CN" sz="1700" b="1">
                <a:solidFill>
                  <a:srgbClr val="FF0065"/>
                </a:solidFill>
                <a:cs typeface="Times New Roman" panose="02020603050405020304" pitchFamily="18" charset="0"/>
              </a:rPr>
              <a:t>)</a:t>
            </a:r>
            <a:endParaRPr lang="zh-CN" altLang="zh-CN" sz="1700">
              <a:cs typeface="Times New Roman" panose="02020603050405020304" pitchFamily="18" charset="0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90600" y="2994025"/>
            <a:ext cx="3306763" cy="12461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8D1E1776-1577-405E-212B-0C9D89B769A2}"/>
              </a:ext>
            </a:extLst>
          </p:cNvPr>
          <p:cNvGrpSpPr/>
          <p:nvPr/>
        </p:nvGrpSpPr>
        <p:grpSpPr>
          <a:xfrm>
            <a:off x="5165725" y="2690813"/>
            <a:ext cx="2974975" cy="984250"/>
            <a:chOff x="5165725" y="2690813"/>
            <a:chExt cx="2974975" cy="984250"/>
          </a:xfrm>
        </p:grpSpPr>
        <p:sp>
          <p:nvSpPr>
            <p:cNvPr id="5" name="object 5"/>
            <p:cNvSpPr txBox="1"/>
            <p:nvPr/>
          </p:nvSpPr>
          <p:spPr>
            <a:xfrm>
              <a:off x="5165725" y="2778125"/>
              <a:ext cx="187325" cy="274638"/>
            </a:xfrm>
            <a:prstGeom prst="rect">
              <a:avLst/>
            </a:prstGeom>
          </p:spPr>
          <p:txBody>
            <a:bodyPr wrap="square" lIns="0" tIns="10317" rIns="0" bIns="0">
              <a:spAutoFit/>
            </a:bodyPr>
            <a:lstStyle/>
            <a:p>
              <a:pPr marL="10860" eaLnBrk="1" hangingPunct="1">
                <a:spcBef>
                  <a:spcPts val="81"/>
                </a:spcBef>
                <a:defRPr/>
              </a:pPr>
              <a:r>
                <a:rPr sz="1710" b="1" spc="-4" dirty="0">
                  <a:solidFill>
                    <a:srgbClr val="FF0065"/>
                  </a:solidFill>
                  <a:latin typeface="Symbol"/>
                  <a:cs typeface="Symbol"/>
                </a:rPr>
                <a:t></a:t>
              </a:r>
              <a:endParaRPr sz="1710">
                <a:latin typeface="Symbol"/>
                <a:cs typeface="Symbol"/>
              </a:endParaRPr>
            </a:p>
          </p:txBody>
        </p:sp>
        <p:sp>
          <p:nvSpPr>
            <p:cNvPr id="6" name="object 6"/>
            <p:cNvSpPr txBox="1"/>
            <p:nvPr/>
          </p:nvSpPr>
          <p:spPr>
            <a:xfrm>
              <a:off x="5370513" y="2908300"/>
              <a:ext cx="736600" cy="182563"/>
            </a:xfrm>
            <a:prstGeom prst="rect">
              <a:avLst/>
            </a:prstGeom>
          </p:spPr>
          <p:txBody>
            <a:bodyPr wrap="square" lIns="0" tIns="10860" rIns="0" bIns="0">
              <a:spAutoFit/>
            </a:bodyPr>
            <a:lstStyle/>
            <a:p>
              <a:pPr marL="10860" eaLnBrk="1" hangingPunct="1">
                <a:spcBef>
                  <a:spcPts val="86"/>
                </a:spcBef>
                <a:defRPr/>
              </a:pPr>
              <a:r>
                <a:rPr sz="1112" b="1" dirty="0">
                  <a:latin typeface="Arial"/>
                  <a:cs typeface="Arial"/>
                </a:rPr>
                <a:t>S#,</a:t>
              </a:r>
              <a:r>
                <a:rPr sz="1112" b="1" spc="-56" dirty="0">
                  <a:latin typeface="Arial"/>
                  <a:cs typeface="Arial"/>
                </a:rPr>
                <a:t> </a:t>
              </a:r>
              <a:r>
                <a:rPr sz="1112" b="1" spc="-4" dirty="0">
                  <a:latin typeface="Arial"/>
                  <a:cs typeface="Arial"/>
                </a:rPr>
                <a:t>Sname</a:t>
              </a:r>
              <a:endParaRPr sz="1112">
                <a:latin typeface="Arial"/>
                <a:cs typeface="Arial"/>
              </a:endParaRPr>
            </a:p>
          </p:txBody>
        </p:sp>
        <p:sp>
          <p:nvSpPr>
            <p:cNvPr id="7" name="object 7"/>
            <p:cNvSpPr txBox="1"/>
            <p:nvPr/>
          </p:nvSpPr>
          <p:spPr>
            <a:xfrm>
              <a:off x="6086475" y="2690813"/>
              <a:ext cx="276225" cy="379412"/>
            </a:xfrm>
            <a:prstGeom prst="rect">
              <a:avLst/>
            </a:prstGeom>
          </p:spPr>
          <p:txBody>
            <a:bodyPr wrap="square" lIns="0" tIns="10860" rIns="0" bIns="0">
              <a:spAutoFit/>
            </a:bodyPr>
            <a:lstStyle/>
            <a:p>
              <a:pPr marL="10860" eaLnBrk="1" hangingPunct="1">
                <a:spcBef>
                  <a:spcPts val="86"/>
                </a:spcBef>
                <a:defRPr/>
              </a:pPr>
              <a:r>
                <a:rPr sz="1710" b="1" spc="-13" dirty="0">
                  <a:latin typeface="Arial"/>
                  <a:cs typeface="Arial"/>
                </a:rPr>
                <a:t>(</a:t>
              </a:r>
              <a:r>
                <a:rPr sz="2394" b="1" spc="-4" dirty="0">
                  <a:solidFill>
                    <a:srgbClr val="FF0065"/>
                  </a:solidFill>
                  <a:latin typeface="Symbol"/>
                  <a:cs typeface="Symbol"/>
                </a:rPr>
                <a:t></a:t>
              </a:r>
              <a:endParaRPr sz="2394">
                <a:latin typeface="Symbol"/>
                <a:cs typeface="Symbol"/>
              </a:endParaRPr>
            </a:p>
          </p:txBody>
        </p:sp>
        <p:sp>
          <p:nvSpPr>
            <p:cNvPr id="8" name="object 8"/>
            <p:cNvSpPr txBox="1"/>
            <p:nvPr/>
          </p:nvSpPr>
          <p:spPr>
            <a:xfrm>
              <a:off x="6400800" y="2854325"/>
              <a:ext cx="1287463" cy="260350"/>
            </a:xfrm>
            <a:prstGeom prst="rect">
              <a:avLst/>
            </a:prstGeom>
          </p:spPr>
          <p:txBody>
            <a:bodyPr wrap="square" lIns="0" tIns="10860" rIns="0" bIns="0">
              <a:spAutoFit/>
            </a:bodyPr>
            <a:lstStyle/>
            <a:p>
              <a:pPr marL="10860" eaLnBrk="1" hangingPunct="1">
                <a:spcBef>
                  <a:spcPts val="86"/>
                </a:spcBef>
                <a:defRPr/>
              </a:pPr>
              <a:r>
                <a:rPr sz="1112" b="1" dirty="0">
                  <a:latin typeface="Arial"/>
                  <a:cs typeface="Arial"/>
                </a:rPr>
                <a:t>D#=“03</a:t>
              </a:r>
              <a:r>
                <a:rPr sz="1112" b="1" spc="-4" dirty="0">
                  <a:latin typeface="Arial"/>
                  <a:cs typeface="Arial"/>
                </a:rPr>
                <a:t>”</a:t>
              </a:r>
              <a:r>
                <a:rPr sz="2437" b="1" spc="-6" baseline="-2923" dirty="0">
                  <a:latin typeface="Symbol"/>
                  <a:cs typeface="Symbol"/>
                </a:rPr>
                <a:t></a:t>
              </a:r>
              <a:r>
                <a:rPr sz="1112" b="1" dirty="0">
                  <a:latin typeface="Arial"/>
                  <a:cs typeface="Arial"/>
                </a:rPr>
                <a:t>Sage&gt;19</a:t>
              </a:r>
              <a:endParaRPr sz="1112">
                <a:latin typeface="Arial"/>
                <a:cs typeface="Arial"/>
              </a:endParaRPr>
            </a:p>
          </p:txBody>
        </p:sp>
        <p:sp>
          <p:nvSpPr>
            <p:cNvPr id="9" name="object 9"/>
            <p:cNvSpPr txBox="1"/>
            <p:nvPr/>
          </p:nvSpPr>
          <p:spPr>
            <a:xfrm>
              <a:off x="7743825" y="2778125"/>
              <a:ext cx="396875" cy="274638"/>
            </a:xfrm>
            <a:prstGeom prst="rect">
              <a:avLst/>
            </a:prstGeom>
          </p:spPr>
          <p:txBody>
            <a:bodyPr wrap="square" lIns="0" tIns="10317" rIns="0" bIns="0">
              <a:spAutoFit/>
            </a:bodyPr>
            <a:lstStyle/>
            <a:p>
              <a:pPr marL="10860" eaLnBrk="1" hangingPunct="1">
                <a:spcBef>
                  <a:spcPts val="81"/>
                </a:spcBef>
                <a:defRPr/>
              </a:pPr>
              <a:r>
                <a:rPr sz="1710" b="1" spc="-4" dirty="0">
                  <a:latin typeface="Arial"/>
                  <a:cs typeface="Arial"/>
                </a:rPr>
                <a:t>(R))</a:t>
              </a:r>
              <a:endParaRPr sz="1710">
                <a:latin typeface="Arial"/>
                <a:cs typeface="Arial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5259388" y="3135313"/>
              <a:ext cx="1254125" cy="53975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 eaLnBrk="1" hangingPunct="1">
                <a:defRPr/>
              </a:pPr>
              <a:endParaRPr sz="2052"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4917915" y="3978398"/>
            <a:ext cx="3768600" cy="663452"/>
          </a:xfrm>
          <a:prstGeom prst="rect">
            <a:avLst/>
          </a:prstGeom>
        </p:spPr>
        <p:txBody>
          <a:bodyPr wrap="square" lIns="0" tIns="10860" rIns="0" bIns="0">
            <a:spAutoFit/>
          </a:bodyPr>
          <a:lstStyle>
            <a:lvl1pPr marL="952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6000"/>
              </a:lnSpc>
              <a:spcBef>
                <a:spcPts val="88"/>
              </a:spcBef>
            </a:pP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查询所有在</a:t>
            </a:r>
            <a:r>
              <a:rPr lang="zh-CN" altLang="zh-CN" sz="2000" b="1" dirty="0">
                <a:cs typeface="Times New Roman" panose="02020603050405020304" pitchFamily="18" charset="0"/>
              </a:rPr>
              <a:t>4</a:t>
            </a: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系就读的且男同学 的学号和姓名</a:t>
            </a:r>
            <a:endParaRPr lang="zh-CN" altLang="zh-CN" sz="20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95537" y="4687888"/>
            <a:ext cx="3960440" cy="1451360"/>
          </a:xfrm>
          <a:prstGeom prst="rect">
            <a:avLst/>
          </a:prstGeom>
        </p:spPr>
        <p:txBody>
          <a:bodyPr wrap="square" lIns="0" tIns="10860" rIns="0" bIns="0">
            <a:spAutoFit/>
          </a:bodyPr>
          <a:lstStyle>
            <a:lvl1pPr marL="952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ts val="88"/>
              </a:spcBef>
            </a:pPr>
            <a:r>
              <a:rPr lang="zh-CN" altLang="zh-CN" b="1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用户可以根据需要通过投影、选择操作 查询他所关心的数据信息。</a:t>
            </a:r>
            <a:endParaRPr lang="zh-CN" altLang="zh-CN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B85A9AA1-7165-A04C-D05B-092F5A0FC536}"/>
              </a:ext>
            </a:extLst>
          </p:cNvPr>
          <p:cNvGrpSpPr/>
          <p:nvPr/>
        </p:nvGrpSpPr>
        <p:grpSpPr>
          <a:xfrm>
            <a:off x="5140324" y="4624388"/>
            <a:ext cx="3608139" cy="919162"/>
            <a:chOff x="5140324" y="4624388"/>
            <a:chExt cx="3608139" cy="919162"/>
          </a:xfrm>
        </p:grpSpPr>
        <p:sp>
          <p:nvSpPr>
            <p:cNvPr id="14" name="object 14"/>
            <p:cNvSpPr txBox="1"/>
            <p:nvPr/>
          </p:nvSpPr>
          <p:spPr>
            <a:xfrm>
              <a:off x="5140324" y="4624388"/>
              <a:ext cx="3608139" cy="379412"/>
            </a:xfrm>
            <a:prstGeom prst="rect">
              <a:avLst/>
            </a:prstGeom>
          </p:spPr>
          <p:txBody>
            <a:bodyPr wrap="square" lIns="0" tIns="10860" rIns="0" bIns="0">
              <a:spAutoFit/>
            </a:bodyPr>
            <a:lstStyle>
              <a:lvl1pPr marL="9525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ts val="88"/>
                </a:spcBef>
              </a:pPr>
              <a:r>
                <a:rPr lang="zh-CN" altLang="zh-CN" sz="2500" b="1" baseline="17000" dirty="0">
                  <a:solidFill>
                    <a:srgbClr val="FF0065"/>
                  </a:solidFill>
                  <a:latin typeface="Symbol" panose="05050102010706020507" pitchFamily="18" charset="2"/>
                </a:rPr>
                <a:t></a:t>
              </a:r>
              <a:r>
                <a:rPr lang="zh-CN" altLang="zh-CN" sz="2500" baseline="17000" dirty="0">
                  <a:solidFill>
                    <a:srgbClr val="FF0065"/>
                  </a:solidFill>
                  <a:cs typeface="Times New Roman" panose="02020603050405020304" pitchFamily="18" charset="0"/>
                </a:rPr>
                <a:t> </a:t>
              </a:r>
              <a:r>
                <a:rPr lang="zh-CN" altLang="zh-CN" sz="1600" b="1" baseline="4000" dirty="0">
                  <a:latin typeface="Arial" panose="020B0604020202020204" pitchFamily="34" charset="0"/>
                  <a:cs typeface="Arial" panose="020B0604020202020204" pitchFamily="34" charset="0"/>
                </a:rPr>
                <a:t>S#, Sname</a:t>
              </a:r>
              <a:r>
                <a:rPr lang="zh-CN" altLang="zh-CN" sz="2500" b="1" baseline="17000" dirty="0"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lang="zh-CN" altLang="zh-CN" sz="3500" b="1" baseline="12000" dirty="0">
                  <a:solidFill>
                    <a:srgbClr val="FF0065"/>
                  </a:solidFill>
                  <a:latin typeface="Symbol" panose="05050102010706020507" pitchFamily="18" charset="2"/>
                </a:rPr>
                <a:t></a:t>
              </a:r>
              <a:r>
                <a:rPr lang="zh-CN" altLang="zh-CN" sz="3500" baseline="12000" dirty="0">
                  <a:solidFill>
                    <a:srgbClr val="FF0065"/>
                  </a:solidFill>
                  <a:cs typeface="Times New Roman" panose="02020603050405020304" pitchFamily="18" charset="0"/>
                </a:rPr>
                <a:t> </a:t>
              </a:r>
              <a:r>
                <a:rPr lang="zh-CN" altLang="zh-CN" sz="1100" b="1" dirty="0">
                  <a:latin typeface="Arial" panose="020B0604020202020204" pitchFamily="34" charset="0"/>
                  <a:cs typeface="Arial" panose="020B0604020202020204" pitchFamily="34" charset="0"/>
                </a:rPr>
                <a:t>D#=“04”</a:t>
              </a:r>
              <a:r>
                <a:rPr lang="zh-CN" altLang="zh-CN" b="1" baseline="-3000" dirty="0">
                  <a:latin typeface="Symbol" panose="05050102010706020507" pitchFamily="18" charset="2"/>
                </a:rPr>
                <a:t></a:t>
              </a:r>
              <a:r>
                <a:rPr lang="zh-CN" altLang="zh-CN" sz="1100" b="1" dirty="0">
                  <a:latin typeface="Arial" panose="020B0604020202020204" pitchFamily="34" charset="0"/>
                  <a:cs typeface="Arial" panose="020B0604020202020204" pitchFamily="34" charset="0"/>
                </a:rPr>
                <a:t>Ssex=‘</a:t>
              </a:r>
              <a:r>
                <a:rPr lang="zh-CN" altLang="zh-CN" sz="1100" b="1" dirty="0">
                  <a:latin typeface="新宋体" panose="02010609030101010101" pitchFamily="49" charset="-122"/>
                  <a:ea typeface="新宋体" panose="02010609030101010101" pitchFamily="49" charset="-122"/>
                </a:rPr>
                <a:t>男</a:t>
              </a:r>
              <a:r>
                <a:rPr lang="zh-CN" altLang="zh-CN" sz="1100" b="1" dirty="0">
                  <a:latin typeface="Arial" panose="020B0604020202020204" pitchFamily="34" charset="0"/>
                  <a:cs typeface="Arial" panose="020B0604020202020204" pitchFamily="34" charset="0"/>
                </a:rPr>
                <a:t>’  </a:t>
              </a:r>
              <a:r>
                <a:rPr lang="zh-CN" altLang="zh-CN" sz="2500" b="1" baseline="17000" dirty="0">
                  <a:latin typeface="Arial" panose="020B0604020202020204" pitchFamily="34" charset="0"/>
                  <a:cs typeface="Arial" panose="020B0604020202020204" pitchFamily="34" charset="0"/>
                </a:rPr>
                <a:t>(R))</a:t>
              </a:r>
              <a:endParaRPr lang="zh-CN" altLang="zh-CN" sz="2500" baseline="17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object 19"/>
            <p:cNvSpPr/>
            <p:nvPr/>
          </p:nvSpPr>
          <p:spPr>
            <a:xfrm>
              <a:off x="5259388" y="5003800"/>
              <a:ext cx="1254125" cy="53975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 eaLnBrk="1" hangingPunct="1">
                <a:defRPr/>
              </a:pPr>
              <a:endParaRPr sz="2052"/>
            </a:p>
          </p:txBody>
        </p:sp>
        <p:sp>
          <p:nvSpPr>
            <p:cNvPr id="20" name="object 20"/>
            <p:cNvSpPr/>
            <p:nvPr/>
          </p:nvSpPr>
          <p:spPr>
            <a:xfrm>
              <a:off x="5984875" y="5210175"/>
              <a:ext cx="449263" cy="30956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 eaLnBrk="1" hangingPunct="1">
                <a:defRPr/>
              </a:pPr>
              <a:endParaRPr sz="2052"/>
            </a:p>
          </p:txBody>
        </p:sp>
        <p:sp>
          <p:nvSpPr>
            <p:cNvPr id="21" name="object 21"/>
            <p:cNvSpPr/>
            <p:nvPr/>
          </p:nvSpPr>
          <p:spPr>
            <a:xfrm>
              <a:off x="5300663" y="5207000"/>
              <a:ext cx="595312" cy="300038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 eaLnBrk="1" hangingPunct="1">
                <a:defRPr/>
              </a:pPr>
              <a:endParaRPr sz="2052"/>
            </a:p>
          </p:txBody>
        </p:sp>
      </p:grpSp>
      <p:sp>
        <p:nvSpPr>
          <p:cNvPr id="22" name="灯片编号占位符 2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A6568E1-4089-4561-919E-9D2F37D3F2B0}" type="slidenum">
              <a:rPr lang="en-US" altLang="zh-CN" smtClean="0"/>
              <a:pPr>
                <a:defRPr/>
              </a:pPr>
              <a:t>30</a:t>
            </a:fld>
            <a:endParaRPr lang="en-US" altLang="zh-CN" dirty="0"/>
          </a:p>
        </p:txBody>
      </p:sp>
      <p:sp>
        <p:nvSpPr>
          <p:cNvPr id="23" name="标题 2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zh-CN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(5) “</a:t>
            </a:r>
            <a:r>
              <a:rPr lang="zh-CN" altLang="zh-CN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投影</a:t>
            </a:r>
            <a:r>
              <a:rPr lang="zh-CN" altLang="zh-CN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r>
              <a:rPr lang="zh-CN" altLang="zh-CN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操作</a:t>
            </a:r>
            <a:endParaRPr lang="zh-CN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4788024" y="1995558"/>
            <a:ext cx="378348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spcBef>
                <a:spcPts val="1650"/>
              </a:spcBef>
            </a:pP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查询所有在</a:t>
            </a:r>
            <a:r>
              <a:rPr lang="zh-CN" altLang="zh-CN" sz="2000" b="1" dirty="0">
                <a:cs typeface="Times New Roman" panose="02020603050405020304" pitchFamily="18" charset="0"/>
              </a:rPr>
              <a:t>3</a:t>
            </a: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系就读的且年龄大于</a:t>
            </a:r>
            <a:r>
              <a:rPr lang="zh-CN" altLang="zh-CN" sz="2000" b="1" dirty="0">
                <a:cs typeface="Times New Roman" panose="02020603050405020304" pitchFamily="18" charset="0"/>
              </a:rPr>
              <a:t>19</a:t>
            </a: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的学生的学号和姓名</a:t>
            </a:r>
            <a:endParaRPr lang="zh-CN" altLang="zh-CN" sz="20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2071688" y="1363663"/>
            <a:ext cx="1219200" cy="936625"/>
          </a:xfrm>
          <a:custGeom>
            <a:avLst/>
            <a:gdLst/>
            <a:ahLst/>
            <a:cxnLst/>
            <a:rect l="l" t="t" r="r" b="b"/>
            <a:pathLst>
              <a:path w="1426210" h="1096010">
                <a:moveTo>
                  <a:pt x="1425702" y="547877"/>
                </a:moveTo>
                <a:lnTo>
                  <a:pt x="1423750" y="506998"/>
                </a:lnTo>
                <a:lnTo>
                  <a:pt x="1417987" y="466932"/>
                </a:lnTo>
                <a:lnTo>
                  <a:pt x="1408549" y="427787"/>
                </a:lnTo>
                <a:lnTo>
                  <a:pt x="1395574" y="389669"/>
                </a:lnTo>
                <a:lnTo>
                  <a:pt x="1379198" y="352683"/>
                </a:lnTo>
                <a:lnTo>
                  <a:pt x="1359559" y="316937"/>
                </a:lnTo>
                <a:lnTo>
                  <a:pt x="1336792" y="282535"/>
                </a:lnTo>
                <a:lnTo>
                  <a:pt x="1311036" y="249583"/>
                </a:lnTo>
                <a:lnTo>
                  <a:pt x="1282427" y="218189"/>
                </a:lnTo>
                <a:lnTo>
                  <a:pt x="1251103" y="188458"/>
                </a:lnTo>
                <a:lnTo>
                  <a:pt x="1217199" y="160496"/>
                </a:lnTo>
                <a:lnTo>
                  <a:pt x="1180854" y="134409"/>
                </a:lnTo>
                <a:lnTo>
                  <a:pt x="1142204" y="110303"/>
                </a:lnTo>
                <a:lnTo>
                  <a:pt x="1101385" y="88284"/>
                </a:lnTo>
                <a:lnTo>
                  <a:pt x="1058536" y="68458"/>
                </a:lnTo>
                <a:lnTo>
                  <a:pt x="1013793" y="50932"/>
                </a:lnTo>
                <a:lnTo>
                  <a:pt x="967293" y="35811"/>
                </a:lnTo>
                <a:lnTo>
                  <a:pt x="919173" y="23202"/>
                </a:lnTo>
                <a:lnTo>
                  <a:pt x="869570" y="13210"/>
                </a:lnTo>
                <a:lnTo>
                  <a:pt x="818621" y="5941"/>
                </a:lnTo>
                <a:lnTo>
                  <a:pt x="766462" y="1503"/>
                </a:lnTo>
                <a:lnTo>
                  <a:pt x="713232" y="0"/>
                </a:lnTo>
                <a:lnTo>
                  <a:pt x="659856" y="1515"/>
                </a:lnTo>
                <a:lnTo>
                  <a:pt x="607816" y="5943"/>
                </a:lnTo>
                <a:lnTo>
                  <a:pt x="556855" y="13210"/>
                </a:lnTo>
                <a:lnTo>
                  <a:pt x="507224" y="23202"/>
                </a:lnTo>
                <a:lnTo>
                  <a:pt x="459070" y="35811"/>
                </a:lnTo>
                <a:lnTo>
                  <a:pt x="412531" y="50932"/>
                </a:lnTo>
                <a:lnTo>
                  <a:pt x="367744" y="68458"/>
                </a:lnTo>
                <a:lnTo>
                  <a:pt x="324849" y="88284"/>
                </a:lnTo>
                <a:lnTo>
                  <a:pt x="283981" y="110303"/>
                </a:lnTo>
                <a:lnTo>
                  <a:pt x="245280" y="134409"/>
                </a:lnTo>
                <a:lnTo>
                  <a:pt x="208883" y="160496"/>
                </a:lnTo>
                <a:lnTo>
                  <a:pt x="174927" y="188458"/>
                </a:lnTo>
                <a:lnTo>
                  <a:pt x="143552" y="218189"/>
                </a:lnTo>
                <a:lnTo>
                  <a:pt x="114894" y="249583"/>
                </a:lnTo>
                <a:lnTo>
                  <a:pt x="89091" y="282535"/>
                </a:lnTo>
                <a:lnTo>
                  <a:pt x="66281" y="316937"/>
                </a:lnTo>
                <a:lnTo>
                  <a:pt x="46603" y="352683"/>
                </a:lnTo>
                <a:lnTo>
                  <a:pt x="30193" y="389669"/>
                </a:lnTo>
                <a:lnTo>
                  <a:pt x="17190" y="427787"/>
                </a:lnTo>
                <a:lnTo>
                  <a:pt x="7732" y="466932"/>
                </a:lnTo>
                <a:lnTo>
                  <a:pt x="1956" y="506998"/>
                </a:lnTo>
                <a:lnTo>
                  <a:pt x="0" y="547877"/>
                </a:lnTo>
                <a:lnTo>
                  <a:pt x="1956" y="588757"/>
                </a:lnTo>
                <a:lnTo>
                  <a:pt x="7732" y="628823"/>
                </a:lnTo>
                <a:lnTo>
                  <a:pt x="17190" y="667968"/>
                </a:lnTo>
                <a:lnTo>
                  <a:pt x="30193" y="706086"/>
                </a:lnTo>
                <a:lnTo>
                  <a:pt x="46603" y="743072"/>
                </a:lnTo>
                <a:lnTo>
                  <a:pt x="66281" y="778818"/>
                </a:lnTo>
                <a:lnTo>
                  <a:pt x="89091" y="813220"/>
                </a:lnTo>
                <a:lnTo>
                  <a:pt x="114894" y="846172"/>
                </a:lnTo>
                <a:lnTo>
                  <a:pt x="126492" y="858877"/>
                </a:lnTo>
                <a:lnTo>
                  <a:pt x="126492" y="547877"/>
                </a:lnTo>
                <a:lnTo>
                  <a:pt x="128891" y="506933"/>
                </a:lnTo>
                <a:lnTo>
                  <a:pt x="135951" y="467008"/>
                </a:lnTo>
                <a:lnTo>
                  <a:pt x="147464" y="428265"/>
                </a:lnTo>
                <a:lnTo>
                  <a:pt x="163222" y="390862"/>
                </a:lnTo>
                <a:lnTo>
                  <a:pt x="183018" y="354959"/>
                </a:lnTo>
                <a:lnTo>
                  <a:pt x="206643" y="320717"/>
                </a:lnTo>
                <a:lnTo>
                  <a:pt x="233889" y="288295"/>
                </a:lnTo>
                <a:lnTo>
                  <a:pt x="264550" y="257853"/>
                </a:lnTo>
                <a:lnTo>
                  <a:pt x="298418" y="229552"/>
                </a:lnTo>
                <a:lnTo>
                  <a:pt x="335284" y="203551"/>
                </a:lnTo>
                <a:lnTo>
                  <a:pt x="374940" y="180009"/>
                </a:lnTo>
                <a:lnTo>
                  <a:pt x="417180" y="159088"/>
                </a:lnTo>
                <a:lnTo>
                  <a:pt x="461796" y="140947"/>
                </a:lnTo>
                <a:lnTo>
                  <a:pt x="508579" y="125745"/>
                </a:lnTo>
                <a:lnTo>
                  <a:pt x="557321" y="113643"/>
                </a:lnTo>
                <a:lnTo>
                  <a:pt x="607825" y="104800"/>
                </a:lnTo>
                <a:lnTo>
                  <a:pt x="659996" y="99374"/>
                </a:lnTo>
                <a:lnTo>
                  <a:pt x="713232" y="97535"/>
                </a:lnTo>
                <a:lnTo>
                  <a:pt x="766607" y="99379"/>
                </a:lnTo>
                <a:lnTo>
                  <a:pt x="818647" y="104801"/>
                </a:lnTo>
                <a:lnTo>
                  <a:pt x="869142" y="113643"/>
                </a:lnTo>
                <a:lnTo>
                  <a:pt x="917884" y="125745"/>
                </a:lnTo>
                <a:lnTo>
                  <a:pt x="964667" y="140947"/>
                </a:lnTo>
                <a:lnTo>
                  <a:pt x="1009283" y="159088"/>
                </a:lnTo>
                <a:lnTo>
                  <a:pt x="1051523" y="180009"/>
                </a:lnTo>
                <a:lnTo>
                  <a:pt x="1091179" y="203551"/>
                </a:lnTo>
                <a:lnTo>
                  <a:pt x="1128045" y="229552"/>
                </a:lnTo>
                <a:lnTo>
                  <a:pt x="1161913" y="257853"/>
                </a:lnTo>
                <a:lnTo>
                  <a:pt x="1192574" y="288295"/>
                </a:lnTo>
                <a:lnTo>
                  <a:pt x="1219820" y="320717"/>
                </a:lnTo>
                <a:lnTo>
                  <a:pt x="1243445" y="354959"/>
                </a:lnTo>
                <a:lnTo>
                  <a:pt x="1263241" y="390862"/>
                </a:lnTo>
                <a:lnTo>
                  <a:pt x="1278999" y="428265"/>
                </a:lnTo>
                <a:lnTo>
                  <a:pt x="1290512" y="467008"/>
                </a:lnTo>
                <a:lnTo>
                  <a:pt x="1297572" y="506933"/>
                </a:lnTo>
                <a:lnTo>
                  <a:pt x="1299972" y="547877"/>
                </a:lnTo>
                <a:lnTo>
                  <a:pt x="1299972" y="858314"/>
                </a:lnTo>
                <a:lnTo>
                  <a:pt x="1311036" y="846172"/>
                </a:lnTo>
                <a:lnTo>
                  <a:pt x="1336792" y="813220"/>
                </a:lnTo>
                <a:lnTo>
                  <a:pt x="1359559" y="778818"/>
                </a:lnTo>
                <a:lnTo>
                  <a:pt x="1379198" y="743072"/>
                </a:lnTo>
                <a:lnTo>
                  <a:pt x="1395574" y="706086"/>
                </a:lnTo>
                <a:lnTo>
                  <a:pt x="1408549" y="667968"/>
                </a:lnTo>
                <a:lnTo>
                  <a:pt x="1417987" y="628823"/>
                </a:lnTo>
                <a:lnTo>
                  <a:pt x="1423750" y="588757"/>
                </a:lnTo>
                <a:lnTo>
                  <a:pt x="1425702" y="547877"/>
                </a:lnTo>
                <a:close/>
              </a:path>
              <a:path w="1426210" h="1096010">
                <a:moveTo>
                  <a:pt x="1299972" y="858314"/>
                </a:moveTo>
                <a:lnTo>
                  <a:pt x="1299972" y="547877"/>
                </a:lnTo>
                <a:lnTo>
                  <a:pt x="1297572" y="588943"/>
                </a:lnTo>
                <a:lnTo>
                  <a:pt x="1290512" y="628974"/>
                </a:lnTo>
                <a:lnTo>
                  <a:pt x="1278999" y="667811"/>
                </a:lnTo>
                <a:lnTo>
                  <a:pt x="1263241" y="705297"/>
                </a:lnTo>
                <a:lnTo>
                  <a:pt x="1243445" y="741271"/>
                </a:lnTo>
                <a:lnTo>
                  <a:pt x="1219820" y="775574"/>
                </a:lnTo>
                <a:lnTo>
                  <a:pt x="1192574" y="808048"/>
                </a:lnTo>
                <a:lnTo>
                  <a:pt x="1161913" y="838533"/>
                </a:lnTo>
                <a:lnTo>
                  <a:pt x="1128045" y="866870"/>
                </a:lnTo>
                <a:lnTo>
                  <a:pt x="1091179" y="892899"/>
                </a:lnTo>
                <a:lnTo>
                  <a:pt x="1051523" y="916463"/>
                </a:lnTo>
                <a:lnTo>
                  <a:pt x="1009283" y="937401"/>
                </a:lnTo>
                <a:lnTo>
                  <a:pt x="964667" y="955554"/>
                </a:lnTo>
                <a:lnTo>
                  <a:pt x="917884" y="970763"/>
                </a:lnTo>
                <a:lnTo>
                  <a:pt x="869142" y="982870"/>
                </a:lnTo>
                <a:lnTo>
                  <a:pt x="818621" y="991718"/>
                </a:lnTo>
                <a:lnTo>
                  <a:pt x="766462" y="997143"/>
                </a:lnTo>
                <a:lnTo>
                  <a:pt x="713232" y="998982"/>
                </a:lnTo>
                <a:lnTo>
                  <a:pt x="659856" y="997138"/>
                </a:lnTo>
                <a:lnTo>
                  <a:pt x="607816" y="991715"/>
                </a:lnTo>
                <a:lnTo>
                  <a:pt x="557321" y="982870"/>
                </a:lnTo>
                <a:lnTo>
                  <a:pt x="508579" y="970763"/>
                </a:lnTo>
                <a:lnTo>
                  <a:pt x="461796" y="955554"/>
                </a:lnTo>
                <a:lnTo>
                  <a:pt x="417180" y="937401"/>
                </a:lnTo>
                <a:lnTo>
                  <a:pt x="374940" y="916463"/>
                </a:lnTo>
                <a:lnTo>
                  <a:pt x="335284" y="892899"/>
                </a:lnTo>
                <a:lnTo>
                  <a:pt x="298418" y="866870"/>
                </a:lnTo>
                <a:lnTo>
                  <a:pt x="264550" y="838533"/>
                </a:lnTo>
                <a:lnTo>
                  <a:pt x="233889" y="808048"/>
                </a:lnTo>
                <a:lnTo>
                  <a:pt x="206643" y="775574"/>
                </a:lnTo>
                <a:lnTo>
                  <a:pt x="183018" y="741271"/>
                </a:lnTo>
                <a:lnTo>
                  <a:pt x="163222" y="705297"/>
                </a:lnTo>
                <a:lnTo>
                  <a:pt x="147464" y="667811"/>
                </a:lnTo>
                <a:lnTo>
                  <a:pt x="135951" y="628974"/>
                </a:lnTo>
                <a:lnTo>
                  <a:pt x="128891" y="588943"/>
                </a:lnTo>
                <a:lnTo>
                  <a:pt x="126492" y="547877"/>
                </a:lnTo>
                <a:lnTo>
                  <a:pt x="126492" y="858877"/>
                </a:lnTo>
                <a:lnTo>
                  <a:pt x="174927" y="907297"/>
                </a:lnTo>
                <a:lnTo>
                  <a:pt x="208883" y="935259"/>
                </a:lnTo>
                <a:lnTo>
                  <a:pt x="245280" y="961346"/>
                </a:lnTo>
                <a:lnTo>
                  <a:pt x="283981" y="985452"/>
                </a:lnTo>
                <a:lnTo>
                  <a:pt x="324849" y="1007471"/>
                </a:lnTo>
                <a:lnTo>
                  <a:pt x="367744" y="1027297"/>
                </a:lnTo>
                <a:lnTo>
                  <a:pt x="412531" y="1044823"/>
                </a:lnTo>
                <a:lnTo>
                  <a:pt x="459070" y="1059944"/>
                </a:lnTo>
                <a:lnTo>
                  <a:pt x="507224" y="1072553"/>
                </a:lnTo>
                <a:lnTo>
                  <a:pt x="556855" y="1082545"/>
                </a:lnTo>
                <a:lnTo>
                  <a:pt x="607825" y="1089814"/>
                </a:lnTo>
                <a:lnTo>
                  <a:pt x="659996" y="1094252"/>
                </a:lnTo>
                <a:lnTo>
                  <a:pt x="713232" y="1095755"/>
                </a:lnTo>
                <a:lnTo>
                  <a:pt x="766607" y="1094240"/>
                </a:lnTo>
                <a:lnTo>
                  <a:pt x="818647" y="1089810"/>
                </a:lnTo>
                <a:lnTo>
                  <a:pt x="869570" y="1082545"/>
                </a:lnTo>
                <a:lnTo>
                  <a:pt x="919173" y="1072553"/>
                </a:lnTo>
                <a:lnTo>
                  <a:pt x="967293" y="1059944"/>
                </a:lnTo>
                <a:lnTo>
                  <a:pt x="1013793" y="1044823"/>
                </a:lnTo>
                <a:lnTo>
                  <a:pt x="1058536" y="1027297"/>
                </a:lnTo>
                <a:lnTo>
                  <a:pt x="1101385" y="1007471"/>
                </a:lnTo>
                <a:lnTo>
                  <a:pt x="1142204" y="985452"/>
                </a:lnTo>
                <a:lnTo>
                  <a:pt x="1180854" y="961346"/>
                </a:lnTo>
                <a:lnTo>
                  <a:pt x="1217199" y="935259"/>
                </a:lnTo>
                <a:lnTo>
                  <a:pt x="1251103" y="907297"/>
                </a:lnTo>
                <a:lnTo>
                  <a:pt x="1282427" y="877566"/>
                </a:lnTo>
                <a:lnTo>
                  <a:pt x="1299972" y="858314"/>
                </a:lnTo>
                <a:close/>
              </a:path>
            </a:pathLst>
          </a:custGeom>
          <a:solidFill>
            <a:srgbClr val="B90000"/>
          </a:solid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6" name="object 6"/>
          <p:cNvSpPr/>
          <p:nvPr/>
        </p:nvSpPr>
        <p:spPr>
          <a:xfrm>
            <a:off x="2171700" y="1439863"/>
            <a:ext cx="1019175" cy="784225"/>
          </a:xfrm>
          <a:custGeom>
            <a:avLst/>
            <a:gdLst/>
            <a:ahLst/>
            <a:cxnLst/>
            <a:rect l="l" t="t" r="r" b="b"/>
            <a:pathLst>
              <a:path w="1190625" h="916305">
                <a:moveTo>
                  <a:pt x="1190243" y="457962"/>
                </a:moveTo>
                <a:lnTo>
                  <a:pt x="1187809" y="416269"/>
                </a:lnTo>
                <a:lnTo>
                  <a:pt x="1180647" y="375627"/>
                </a:lnTo>
                <a:lnTo>
                  <a:pt x="1168967" y="336197"/>
                </a:lnTo>
                <a:lnTo>
                  <a:pt x="1152982" y="298140"/>
                </a:lnTo>
                <a:lnTo>
                  <a:pt x="1132901" y="261618"/>
                </a:lnTo>
                <a:lnTo>
                  <a:pt x="1108935" y="226793"/>
                </a:lnTo>
                <a:lnTo>
                  <a:pt x="1081296" y="193826"/>
                </a:lnTo>
                <a:lnTo>
                  <a:pt x="1050194" y="162878"/>
                </a:lnTo>
                <a:lnTo>
                  <a:pt x="1015841" y="134112"/>
                </a:lnTo>
                <a:lnTo>
                  <a:pt x="978446" y="107687"/>
                </a:lnTo>
                <a:lnTo>
                  <a:pt x="938222" y="83767"/>
                </a:lnTo>
                <a:lnTo>
                  <a:pt x="895378" y="62512"/>
                </a:lnTo>
                <a:lnTo>
                  <a:pt x="850126" y="44084"/>
                </a:lnTo>
                <a:lnTo>
                  <a:pt x="802676" y="28644"/>
                </a:lnTo>
                <a:lnTo>
                  <a:pt x="753240" y="16354"/>
                </a:lnTo>
                <a:lnTo>
                  <a:pt x="702028" y="7376"/>
                </a:lnTo>
                <a:lnTo>
                  <a:pt x="649252" y="1871"/>
                </a:lnTo>
                <a:lnTo>
                  <a:pt x="595121" y="0"/>
                </a:lnTo>
                <a:lnTo>
                  <a:pt x="540878" y="1871"/>
                </a:lnTo>
                <a:lnTo>
                  <a:pt x="488014" y="7376"/>
                </a:lnTo>
                <a:lnTo>
                  <a:pt x="436738" y="16354"/>
                </a:lnTo>
                <a:lnTo>
                  <a:pt x="387260" y="28644"/>
                </a:lnTo>
                <a:lnTo>
                  <a:pt x="339786" y="44084"/>
                </a:lnTo>
                <a:lnTo>
                  <a:pt x="294527" y="62512"/>
                </a:lnTo>
                <a:lnTo>
                  <a:pt x="251689" y="83767"/>
                </a:lnTo>
                <a:lnTo>
                  <a:pt x="211483" y="107687"/>
                </a:lnTo>
                <a:lnTo>
                  <a:pt x="174116" y="134112"/>
                </a:lnTo>
                <a:lnTo>
                  <a:pt x="139798" y="162878"/>
                </a:lnTo>
                <a:lnTo>
                  <a:pt x="108736" y="193826"/>
                </a:lnTo>
                <a:lnTo>
                  <a:pt x="81138" y="226793"/>
                </a:lnTo>
                <a:lnTo>
                  <a:pt x="57215" y="261618"/>
                </a:lnTo>
                <a:lnTo>
                  <a:pt x="37173" y="298140"/>
                </a:lnTo>
                <a:lnTo>
                  <a:pt x="21223" y="336197"/>
                </a:lnTo>
                <a:lnTo>
                  <a:pt x="9571" y="375627"/>
                </a:lnTo>
                <a:lnTo>
                  <a:pt x="2427" y="416269"/>
                </a:lnTo>
                <a:lnTo>
                  <a:pt x="0" y="457962"/>
                </a:lnTo>
                <a:lnTo>
                  <a:pt x="2427" y="499654"/>
                </a:lnTo>
                <a:lnTo>
                  <a:pt x="9571" y="540296"/>
                </a:lnTo>
                <a:lnTo>
                  <a:pt x="21223" y="579726"/>
                </a:lnTo>
                <a:lnTo>
                  <a:pt x="37173" y="617783"/>
                </a:lnTo>
                <a:lnTo>
                  <a:pt x="57215" y="654305"/>
                </a:lnTo>
                <a:lnTo>
                  <a:pt x="81138" y="689130"/>
                </a:lnTo>
                <a:lnTo>
                  <a:pt x="108736" y="722097"/>
                </a:lnTo>
                <a:lnTo>
                  <a:pt x="139798" y="753045"/>
                </a:lnTo>
                <a:lnTo>
                  <a:pt x="174116" y="781812"/>
                </a:lnTo>
                <a:lnTo>
                  <a:pt x="211483" y="808236"/>
                </a:lnTo>
                <a:lnTo>
                  <a:pt x="251689" y="832156"/>
                </a:lnTo>
                <a:lnTo>
                  <a:pt x="294527" y="853411"/>
                </a:lnTo>
                <a:lnTo>
                  <a:pt x="339786" y="871839"/>
                </a:lnTo>
                <a:lnTo>
                  <a:pt x="387260" y="887279"/>
                </a:lnTo>
                <a:lnTo>
                  <a:pt x="436738" y="899569"/>
                </a:lnTo>
                <a:lnTo>
                  <a:pt x="488014" y="908547"/>
                </a:lnTo>
                <a:lnTo>
                  <a:pt x="540878" y="914052"/>
                </a:lnTo>
                <a:lnTo>
                  <a:pt x="595121" y="915924"/>
                </a:lnTo>
                <a:lnTo>
                  <a:pt x="649252" y="914052"/>
                </a:lnTo>
                <a:lnTo>
                  <a:pt x="702028" y="908547"/>
                </a:lnTo>
                <a:lnTo>
                  <a:pt x="753240" y="899569"/>
                </a:lnTo>
                <a:lnTo>
                  <a:pt x="802676" y="887279"/>
                </a:lnTo>
                <a:lnTo>
                  <a:pt x="850126" y="871839"/>
                </a:lnTo>
                <a:lnTo>
                  <a:pt x="895378" y="853411"/>
                </a:lnTo>
                <a:lnTo>
                  <a:pt x="938222" y="832156"/>
                </a:lnTo>
                <a:lnTo>
                  <a:pt x="978446" y="808236"/>
                </a:lnTo>
                <a:lnTo>
                  <a:pt x="1015841" y="781812"/>
                </a:lnTo>
                <a:lnTo>
                  <a:pt x="1050194" y="753045"/>
                </a:lnTo>
                <a:lnTo>
                  <a:pt x="1081296" y="722097"/>
                </a:lnTo>
                <a:lnTo>
                  <a:pt x="1108935" y="689130"/>
                </a:lnTo>
                <a:lnTo>
                  <a:pt x="1132901" y="654305"/>
                </a:lnTo>
                <a:lnTo>
                  <a:pt x="1152982" y="617783"/>
                </a:lnTo>
                <a:lnTo>
                  <a:pt x="1168967" y="579726"/>
                </a:lnTo>
                <a:lnTo>
                  <a:pt x="1180647" y="540296"/>
                </a:lnTo>
                <a:lnTo>
                  <a:pt x="1187809" y="499654"/>
                </a:lnTo>
                <a:lnTo>
                  <a:pt x="1190243" y="457962"/>
                </a:lnTo>
                <a:close/>
              </a:path>
            </a:pathLst>
          </a:custGeom>
          <a:solidFill>
            <a:srgbClr val="FFFF66"/>
          </a:solid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7" name="object 7"/>
          <p:cNvSpPr/>
          <p:nvPr/>
        </p:nvSpPr>
        <p:spPr>
          <a:xfrm>
            <a:off x="2171700" y="1439863"/>
            <a:ext cx="1019175" cy="784225"/>
          </a:xfrm>
          <a:custGeom>
            <a:avLst/>
            <a:gdLst/>
            <a:ahLst/>
            <a:cxnLst/>
            <a:rect l="l" t="t" r="r" b="b"/>
            <a:pathLst>
              <a:path w="1190625" h="916305">
                <a:moveTo>
                  <a:pt x="595121" y="0"/>
                </a:moveTo>
                <a:lnTo>
                  <a:pt x="540878" y="1871"/>
                </a:lnTo>
                <a:lnTo>
                  <a:pt x="488014" y="7376"/>
                </a:lnTo>
                <a:lnTo>
                  <a:pt x="436738" y="16354"/>
                </a:lnTo>
                <a:lnTo>
                  <a:pt x="387260" y="28644"/>
                </a:lnTo>
                <a:lnTo>
                  <a:pt x="339786" y="44084"/>
                </a:lnTo>
                <a:lnTo>
                  <a:pt x="294527" y="62512"/>
                </a:lnTo>
                <a:lnTo>
                  <a:pt x="251689" y="83767"/>
                </a:lnTo>
                <a:lnTo>
                  <a:pt x="211483" y="107687"/>
                </a:lnTo>
                <a:lnTo>
                  <a:pt x="174116" y="134112"/>
                </a:lnTo>
                <a:lnTo>
                  <a:pt x="139798" y="162878"/>
                </a:lnTo>
                <a:lnTo>
                  <a:pt x="108736" y="193826"/>
                </a:lnTo>
                <a:lnTo>
                  <a:pt x="81138" y="226793"/>
                </a:lnTo>
                <a:lnTo>
                  <a:pt x="57215" y="261618"/>
                </a:lnTo>
                <a:lnTo>
                  <a:pt x="37173" y="298140"/>
                </a:lnTo>
                <a:lnTo>
                  <a:pt x="21223" y="336197"/>
                </a:lnTo>
                <a:lnTo>
                  <a:pt x="9571" y="375627"/>
                </a:lnTo>
                <a:lnTo>
                  <a:pt x="2427" y="416269"/>
                </a:lnTo>
                <a:lnTo>
                  <a:pt x="0" y="457962"/>
                </a:lnTo>
                <a:lnTo>
                  <a:pt x="2427" y="499654"/>
                </a:lnTo>
                <a:lnTo>
                  <a:pt x="9571" y="540296"/>
                </a:lnTo>
                <a:lnTo>
                  <a:pt x="21223" y="579726"/>
                </a:lnTo>
                <a:lnTo>
                  <a:pt x="37173" y="617783"/>
                </a:lnTo>
                <a:lnTo>
                  <a:pt x="57215" y="654305"/>
                </a:lnTo>
                <a:lnTo>
                  <a:pt x="81138" y="689130"/>
                </a:lnTo>
                <a:lnTo>
                  <a:pt x="108736" y="722097"/>
                </a:lnTo>
                <a:lnTo>
                  <a:pt x="139798" y="753045"/>
                </a:lnTo>
                <a:lnTo>
                  <a:pt x="174116" y="781812"/>
                </a:lnTo>
                <a:lnTo>
                  <a:pt x="211483" y="808236"/>
                </a:lnTo>
                <a:lnTo>
                  <a:pt x="251689" y="832156"/>
                </a:lnTo>
                <a:lnTo>
                  <a:pt x="294527" y="853411"/>
                </a:lnTo>
                <a:lnTo>
                  <a:pt x="339786" y="871839"/>
                </a:lnTo>
                <a:lnTo>
                  <a:pt x="387260" y="887279"/>
                </a:lnTo>
                <a:lnTo>
                  <a:pt x="436738" y="899569"/>
                </a:lnTo>
                <a:lnTo>
                  <a:pt x="488014" y="908547"/>
                </a:lnTo>
                <a:lnTo>
                  <a:pt x="540878" y="914052"/>
                </a:lnTo>
                <a:lnTo>
                  <a:pt x="595121" y="915924"/>
                </a:lnTo>
                <a:lnTo>
                  <a:pt x="649252" y="914052"/>
                </a:lnTo>
                <a:lnTo>
                  <a:pt x="702028" y="908547"/>
                </a:lnTo>
                <a:lnTo>
                  <a:pt x="753240" y="899569"/>
                </a:lnTo>
                <a:lnTo>
                  <a:pt x="802676" y="887279"/>
                </a:lnTo>
                <a:lnTo>
                  <a:pt x="850126" y="871839"/>
                </a:lnTo>
                <a:lnTo>
                  <a:pt x="895378" y="853411"/>
                </a:lnTo>
                <a:lnTo>
                  <a:pt x="938222" y="832156"/>
                </a:lnTo>
                <a:lnTo>
                  <a:pt x="978446" y="808236"/>
                </a:lnTo>
                <a:lnTo>
                  <a:pt x="1015841" y="781812"/>
                </a:lnTo>
                <a:lnTo>
                  <a:pt x="1050194" y="753045"/>
                </a:lnTo>
                <a:lnTo>
                  <a:pt x="1081296" y="722097"/>
                </a:lnTo>
                <a:lnTo>
                  <a:pt x="1108935" y="689130"/>
                </a:lnTo>
                <a:lnTo>
                  <a:pt x="1132901" y="654305"/>
                </a:lnTo>
                <a:lnTo>
                  <a:pt x="1152982" y="617783"/>
                </a:lnTo>
                <a:lnTo>
                  <a:pt x="1168967" y="579726"/>
                </a:lnTo>
                <a:lnTo>
                  <a:pt x="1180647" y="540296"/>
                </a:lnTo>
                <a:lnTo>
                  <a:pt x="1187809" y="499654"/>
                </a:lnTo>
                <a:lnTo>
                  <a:pt x="1190243" y="457962"/>
                </a:lnTo>
                <a:lnTo>
                  <a:pt x="1187809" y="416269"/>
                </a:lnTo>
                <a:lnTo>
                  <a:pt x="1180647" y="375627"/>
                </a:lnTo>
                <a:lnTo>
                  <a:pt x="1168967" y="336197"/>
                </a:lnTo>
                <a:lnTo>
                  <a:pt x="1152982" y="298140"/>
                </a:lnTo>
                <a:lnTo>
                  <a:pt x="1132901" y="261618"/>
                </a:lnTo>
                <a:lnTo>
                  <a:pt x="1108935" y="226793"/>
                </a:lnTo>
                <a:lnTo>
                  <a:pt x="1081296" y="193826"/>
                </a:lnTo>
                <a:lnTo>
                  <a:pt x="1050194" y="162878"/>
                </a:lnTo>
                <a:lnTo>
                  <a:pt x="1015841" y="134112"/>
                </a:lnTo>
                <a:lnTo>
                  <a:pt x="978446" y="107687"/>
                </a:lnTo>
                <a:lnTo>
                  <a:pt x="938222" y="83767"/>
                </a:lnTo>
                <a:lnTo>
                  <a:pt x="895378" y="62512"/>
                </a:lnTo>
                <a:lnTo>
                  <a:pt x="850126" y="44084"/>
                </a:lnTo>
                <a:lnTo>
                  <a:pt x="802676" y="28644"/>
                </a:lnTo>
                <a:lnTo>
                  <a:pt x="753240" y="16354"/>
                </a:lnTo>
                <a:lnTo>
                  <a:pt x="702028" y="7376"/>
                </a:lnTo>
                <a:lnTo>
                  <a:pt x="649252" y="1871"/>
                </a:lnTo>
                <a:lnTo>
                  <a:pt x="595121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8" name="object 8"/>
          <p:cNvSpPr/>
          <p:nvPr/>
        </p:nvSpPr>
        <p:spPr>
          <a:xfrm>
            <a:off x="1166813" y="2627313"/>
            <a:ext cx="3032125" cy="15382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9" name="object 9"/>
          <p:cNvSpPr/>
          <p:nvPr/>
        </p:nvSpPr>
        <p:spPr>
          <a:xfrm>
            <a:off x="1770063" y="2292350"/>
            <a:ext cx="1741487" cy="276225"/>
          </a:xfrm>
          <a:custGeom>
            <a:avLst/>
            <a:gdLst/>
            <a:ahLst/>
            <a:cxnLst/>
            <a:rect l="l" t="t" r="r" b="b"/>
            <a:pathLst>
              <a:path w="2035810" h="323850">
                <a:moveTo>
                  <a:pt x="2035302" y="323850"/>
                </a:moveTo>
                <a:lnTo>
                  <a:pt x="2029223" y="280927"/>
                </a:lnTo>
                <a:lnTo>
                  <a:pt x="2012075" y="242344"/>
                </a:lnTo>
                <a:lnTo>
                  <a:pt x="1985486" y="209645"/>
                </a:lnTo>
                <a:lnTo>
                  <a:pt x="1951086" y="184375"/>
                </a:lnTo>
                <a:lnTo>
                  <a:pt x="1910506" y="168080"/>
                </a:lnTo>
                <a:lnTo>
                  <a:pt x="1865376" y="162306"/>
                </a:lnTo>
                <a:lnTo>
                  <a:pt x="1229867" y="162306"/>
                </a:lnTo>
                <a:lnTo>
                  <a:pt x="1184793" y="156527"/>
                </a:lnTo>
                <a:lnTo>
                  <a:pt x="1144354" y="140208"/>
                </a:lnTo>
                <a:lnTo>
                  <a:pt x="1110138" y="114871"/>
                </a:lnTo>
                <a:lnTo>
                  <a:pt x="1083733" y="82042"/>
                </a:lnTo>
                <a:lnTo>
                  <a:pt x="1066725" y="43243"/>
                </a:lnTo>
                <a:lnTo>
                  <a:pt x="1060704" y="0"/>
                </a:lnTo>
                <a:lnTo>
                  <a:pt x="1054625" y="43243"/>
                </a:lnTo>
                <a:lnTo>
                  <a:pt x="1037477" y="82042"/>
                </a:lnTo>
                <a:lnTo>
                  <a:pt x="1010888" y="114871"/>
                </a:lnTo>
                <a:lnTo>
                  <a:pt x="976488" y="140208"/>
                </a:lnTo>
                <a:lnTo>
                  <a:pt x="935908" y="156527"/>
                </a:lnTo>
                <a:lnTo>
                  <a:pt x="890777" y="162306"/>
                </a:lnTo>
                <a:lnTo>
                  <a:pt x="169925" y="162306"/>
                </a:lnTo>
                <a:lnTo>
                  <a:pt x="124795" y="168080"/>
                </a:lnTo>
                <a:lnTo>
                  <a:pt x="84215" y="184375"/>
                </a:lnTo>
                <a:lnTo>
                  <a:pt x="49815" y="209645"/>
                </a:lnTo>
                <a:lnTo>
                  <a:pt x="23226" y="242344"/>
                </a:lnTo>
                <a:lnTo>
                  <a:pt x="6078" y="280927"/>
                </a:lnTo>
                <a:lnTo>
                  <a:pt x="0" y="323850"/>
                </a:lnTo>
              </a:path>
            </a:pathLst>
          </a:custGeom>
          <a:ln w="57150">
            <a:solidFill>
              <a:srgbClr val="000000"/>
            </a:solidFill>
          </a:ln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0" name="object 10"/>
          <p:cNvSpPr txBox="1"/>
          <p:nvPr/>
        </p:nvSpPr>
        <p:spPr>
          <a:xfrm>
            <a:off x="1414463" y="1443027"/>
            <a:ext cx="1671216" cy="1072795"/>
          </a:xfrm>
          <a:prstGeom prst="rect">
            <a:avLst/>
          </a:prstGeom>
        </p:spPr>
        <p:txBody>
          <a:bodyPr wrap="square" lIns="0" tIns="10860" rIns="0" bIns="0">
            <a:spAutoFit/>
          </a:bodyPr>
          <a:lstStyle>
            <a:lvl1pPr marL="10318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88"/>
              </a:spcBef>
            </a:pPr>
            <a:r>
              <a:rPr lang="zh-CN" altLang="zh-CN" sz="2300" b="1" dirty="0">
                <a:solidFill>
                  <a:srgbClr val="3333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关系 代数</a:t>
            </a:r>
            <a:endParaRPr lang="zh-CN" altLang="zh-CN" sz="23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eaLnBrk="1" hangingPunct="1"/>
            <a:endParaRPr lang="zh-CN" altLang="zh-CN" sz="2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05079" y="4330107"/>
            <a:ext cx="6649341" cy="2152578"/>
          </a:xfrm>
          <a:prstGeom prst="rect">
            <a:avLst/>
          </a:prstGeom>
        </p:spPr>
        <p:txBody>
          <a:bodyPr wrap="square" lIns="0" tIns="10860" rIns="0" bIns="0">
            <a:spAutoFit/>
          </a:bodyPr>
          <a:lstStyle>
            <a:lvl1pPr>
              <a:tabLst>
                <a:tab pos="1039813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tabLst>
                <a:tab pos="1039813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tabLst>
                <a:tab pos="1039813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tabLst>
                <a:tab pos="1039813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tabLst>
                <a:tab pos="1039813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39813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39813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39813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39813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关系代数的基本书写思路：</a:t>
            </a:r>
            <a:endParaRPr lang="zh-CN" altLang="zh-CN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eaLnBrk="1" hangingPunct="1">
              <a:spcBef>
                <a:spcPts val="463"/>
              </a:spcBef>
              <a:buSzPct val="95000"/>
              <a:buFont typeface="Wingdings" panose="05000000000000000000" pitchFamily="2" charset="2"/>
              <a:buChar char=""/>
            </a:pPr>
            <a:r>
              <a:rPr lang="zh-CN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选出将用到的关系</a:t>
            </a:r>
            <a:r>
              <a:rPr lang="zh-CN" altLang="zh-CN" b="1" dirty="0">
                <a:cs typeface="Times New Roman" panose="02020603050405020304" pitchFamily="18" charset="0"/>
              </a:rPr>
              <a:t>/</a:t>
            </a:r>
            <a:r>
              <a:rPr lang="zh-CN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表</a:t>
            </a:r>
            <a:endParaRPr lang="zh-CN" altLang="zh-CN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eaLnBrk="1" hangingPunct="1">
              <a:spcBef>
                <a:spcPts val="613"/>
              </a:spcBef>
              <a:buSzPct val="95000"/>
              <a:buFont typeface="Wingdings" panose="05000000000000000000" pitchFamily="2" charset="2"/>
              <a:buChar char=""/>
            </a:pPr>
            <a:r>
              <a:rPr lang="zh-CN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做</a:t>
            </a:r>
            <a:r>
              <a:rPr lang="zh-CN" altLang="zh-CN" b="1" dirty="0">
                <a:cs typeface="Times New Roman" panose="02020603050405020304" pitchFamily="18" charset="0"/>
              </a:rPr>
              <a:t>“</a:t>
            </a:r>
            <a:r>
              <a:rPr lang="zh-CN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积</a:t>
            </a:r>
            <a:r>
              <a:rPr lang="zh-CN" altLang="zh-CN" b="1" dirty="0">
                <a:cs typeface="Times New Roman" panose="02020603050405020304" pitchFamily="18" charset="0"/>
              </a:rPr>
              <a:t>”</a:t>
            </a:r>
            <a:r>
              <a:rPr lang="zh-CN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运算</a:t>
            </a:r>
            <a:endParaRPr lang="zh-CN" altLang="zh-CN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eaLnBrk="1" hangingPunct="1">
              <a:spcBef>
                <a:spcPts val="625"/>
              </a:spcBef>
              <a:buSzPct val="95000"/>
              <a:buFont typeface="Wingdings" panose="05000000000000000000" pitchFamily="2" charset="2"/>
              <a:buChar char=""/>
            </a:pPr>
            <a:r>
              <a:rPr lang="zh-CN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做选择运算保留所需的行</a:t>
            </a:r>
            <a:r>
              <a:rPr lang="zh-CN" altLang="zh-CN" b="1" dirty="0">
                <a:cs typeface="Times New Roman" panose="02020603050405020304" pitchFamily="18" charset="0"/>
              </a:rPr>
              <a:t>/</a:t>
            </a:r>
            <a:r>
              <a:rPr lang="zh-CN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元组</a:t>
            </a:r>
            <a:endParaRPr lang="zh-CN" altLang="zh-CN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eaLnBrk="1" hangingPunct="1">
              <a:spcBef>
                <a:spcPts val="625"/>
              </a:spcBef>
              <a:buSzPct val="95000"/>
              <a:buFont typeface="Wingdings" panose="05000000000000000000" pitchFamily="2" charset="2"/>
              <a:buChar char=""/>
            </a:pPr>
            <a:r>
              <a:rPr lang="zh-CN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做投影运算保留所需的列</a:t>
            </a:r>
            <a:r>
              <a:rPr lang="zh-CN" altLang="zh-CN" b="1" dirty="0">
                <a:cs typeface="Times New Roman" panose="02020603050405020304" pitchFamily="18" charset="0"/>
              </a:rPr>
              <a:t>/</a:t>
            </a:r>
            <a:r>
              <a:rPr lang="zh-CN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属性</a:t>
            </a:r>
            <a:endParaRPr lang="zh-CN" altLang="zh-CN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14" name="灯片编号占位符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A6568E1-4089-4561-919E-9D2F37D3F2B0}" type="slidenum">
              <a:rPr lang="en-US" altLang="zh-CN" smtClean="0"/>
              <a:pPr>
                <a:defRPr/>
              </a:pPr>
              <a:t>31</a:t>
            </a:fld>
            <a:endParaRPr lang="en-US" altLang="zh-CN" dirty="0"/>
          </a:p>
        </p:txBody>
      </p:sp>
      <p:sp>
        <p:nvSpPr>
          <p:cNvPr id="15" name="标题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小 结</a:t>
            </a:r>
          </a:p>
        </p:txBody>
      </p:sp>
      <p:sp>
        <p:nvSpPr>
          <p:cNvPr id="16" name="矩形 15"/>
          <p:cNvSpPr/>
          <p:nvPr/>
        </p:nvSpPr>
        <p:spPr>
          <a:xfrm>
            <a:off x="1122363" y="2767310"/>
            <a:ext cx="110646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zh-CN" altLang="zh-CN" b="1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并</a:t>
            </a:r>
            <a:r>
              <a:rPr lang="zh-CN" altLang="zh-CN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endParaRPr lang="zh-CN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2125686" y="2798266"/>
            <a:ext cx="11112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zh-CN" altLang="zh-CN" b="1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差</a:t>
            </a:r>
            <a:r>
              <a:rPr lang="zh-CN" altLang="zh-CN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endParaRPr lang="zh-CN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3190875" y="2727073"/>
            <a:ext cx="11112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hangingPunct="1"/>
            <a:r>
              <a:rPr lang="zh-CN" altLang="zh-CN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zh-CN" altLang="zh-CN" b="1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积</a:t>
            </a:r>
            <a:r>
              <a:rPr lang="zh-CN" altLang="zh-CN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endParaRPr lang="zh-CN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1816040" y="3518377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b="1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选择</a:t>
            </a:r>
            <a:endParaRPr lang="zh-CN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2871990" y="3530066"/>
            <a:ext cx="135101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R="543560" algn="ctr">
              <a:lnSpc>
                <a:spcPct val="100000"/>
              </a:lnSpc>
              <a:spcBef>
                <a:spcPts val="100"/>
              </a:spcBef>
              <a:tabLst>
                <a:tab pos="1216025" algn="l"/>
              </a:tabLst>
            </a:pPr>
            <a:r>
              <a:rPr lang="zh-CN" altLang="en-US" b="1" spc="-5" dirty="0">
                <a:solidFill>
                  <a:srgbClr val="FFFFFF"/>
                </a:solidFill>
                <a:latin typeface="STZhongsong"/>
                <a:cs typeface="STZhongsong"/>
              </a:rPr>
              <a:t>投影</a:t>
            </a:r>
            <a:endParaRPr lang="zh-CN" altLang="en-US" dirty="0">
              <a:latin typeface="STZhongsong"/>
              <a:cs typeface="STZhongsong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1384300" y="4322763"/>
            <a:ext cx="3160713" cy="1816100"/>
          </a:xfrm>
          <a:custGeom>
            <a:avLst/>
            <a:gdLst/>
            <a:ahLst/>
            <a:cxnLst/>
            <a:rect l="l" t="t" r="r" b="b"/>
            <a:pathLst>
              <a:path w="3695700" h="2124709">
                <a:moveTo>
                  <a:pt x="0" y="0"/>
                </a:moveTo>
                <a:lnTo>
                  <a:pt x="0" y="2124455"/>
                </a:lnTo>
                <a:lnTo>
                  <a:pt x="3695700" y="2124455"/>
                </a:lnTo>
                <a:lnTo>
                  <a:pt x="369569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4" name="object 4"/>
          <p:cNvSpPr txBox="1"/>
          <p:nvPr/>
        </p:nvSpPr>
        <p:spPr>
          <a:xfrm>
            <a:off x="467544" y="1330325"/>
            <a:ext cx="8568951" cy="3018934"/>
          </a:xfrm>
          <a:prstGeom prst="rect">
            <a:avLst/>
          </a:prstGeom>
        </p:spPr>
        <p:txBody>
          <a:bodyPr wrap="square" lIns="0" tIns="10317" rIns="0" bIns="0">
            <a:spAutoFit/>
          </a:bodyPr>
          <a:lstStyle>
            <a:lvl1pPr marL="952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75"/>
              </a:spcBef>
            </a:pPr>
            <a:r>
              <a:rPr lang="zh-CN" altLang="zh-CN" sz="27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交(Intersection)</a:t>
            </a:r>
            <a:endParaRPr lang="zh-CN" altLang="zh-CN" sz="27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30000"/>
              </a:lnSpc>
              <a:spcBef>
                <a:spcPts val="1500"/>
              </a:spcBef>
              <a:buClr>
                <a:srgbClr val="000000"/>
              </a:buClr>
              <a:buFont typeface="Wingdings" panose="05000000000000000000" pitchFamily="2" charset="2"/>
              <a:buChar char=""/>
            </a:pPr>
            <a:r>
              <a:rPr lang="zh-CN" altLang="zh-CN" sz="2000" b="1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定义</a:t>
            </a: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：假设关系</a:t>
            </a:r>
            <a:r>
              <a:rPr lang="zh-CN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和关系</a:t>
            </a:r>
            <a:r>
              <a:rPr lang="zh-CN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是并相容的，则关系</a:t>
            </a:r>
            <a:r>
              <a:rPr lang="zh-CN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与关系</a:t>
            </a:r>
            <a:r>
              <a:rPr lang="zh-CN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的交运算结果也 是一个关系，记作：</a:t>
            </a:r>
            <a:r>
              <a:rPr lang="zh-CN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R </a:t>
            </a: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∩</a:t>
            </a:r>
            <a:r>
              <a:rPr lang="zh-CN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S, </a:t>
            </a: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它由</a:t>
            </a:r>
            <a:r>
              <a:rPr lang="zh-CN" altLang="zh-CN" sz="2000" b="1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同时出现在</a:t>
            </a: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关系</a:t>
            </a:r>
            <a:r>
              <a:rPr lang="zh-CN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和关系</a:t>
            </a:r>
            <a:r>
              <a:rPr lang="zh-CN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中的元组构成。</a:t>
            </a:r>
            <a:endParaRPr lang="zh-CN" altLang="zh-CN" sz="20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eaLnBrk="1" hangingPunct="1">
              <a:spcBef>
                <a:spcPts val="838"/>
              </a:spcBef>
              <a:buSzPct val="95000"/>
              <a:buFont typeface="Wingdings" panose="05000000000000000000" pitchFamily="2" charset="2"/>
              <a:buChar char=""/>
            </a:pPr>
            <a:r>
              <a:rPr lang="zh-CN" altLang="zh-CN" sz="2000" b="1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数学描述</a:t>
            </a: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： </a:t>
            </a:r>
            <a:r>
              <a:rPr lang="zh-CN" altLang="zh-CN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zh-CN" altLang="zh-CN" b="1" dirty="0">
                <a:solidFill>
                  <a:srgbClr val="FF0065"/>
                </a:solidFill>
                <a:latin typeface="Symbol" panose="05050102010706020507" pitchFamily="18" charset="2"/>
              </a:rPr>
              <a:t></a:t>
            </a:r>
            <a:r>
              <a:rPr lang="zh-CN" altLang="zh-CN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 ={ t | t</a:t>
            </a:r>
            <a:r>
              <a:rPr lang="zh-CN" altLang="zh-CN" b="1" dirty="0">
                <a:solidFill>
                  <a:srgbClr val="FF0065"/>
                </a:solidFill>
                <a:latin typeface="Symbol" panose="05050102010706020507" pitchFamily="18" charset="2"/>
              </a:rPr>
              <a:t></a:t>
            </a:r>
            <a:r>
              <a:rPr lang="zh-CN" altLang="zh-CN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 </a:t>
            </a:r>
            <a:r>
              <a:rPr lang="zh-CN" altLang="zh-CN" b="1" dirty="0">
                <a:solidFill>
                  <a:srgbClr val="FF0065"/>
                </a:solidFill>
                <a:latin typeface="Symbol" panose="05050102010706020507" pitchFamily="18" charset="2"/>
              </a:rPr>
              <a:t></a:t>
            </a:r>
            <a:r>
              <a:rPr lang="zh-CN" altLang="zh-CN" b="1" dirty="0">
                <a:solidFill>
                  <a:srgbClr val="FF0065"/>
                </a:solidFill>
                <a:cs typeface="Times New Roman" panose="02020603050405020304" pitchFamily="18" charset="0"/>
              </a:rPr>
              <a:t> </a:t>
            </a:r>
            <a:r>
              <a:rPr lang="zh-CN" altLang="zh-CN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zh-CN" altLang="zh-CN" b="1" dirty="0">
                <a:solidFill>
                  <a:srgbClr val="FF0065"/>
                </a:solidFill>
                <a:latin typeface="Symbol" panose="05050102010706020507" pitchFamily="18" charset="2"/>
              </a:rPr>
              <a:t></a:t>
            </a:r>
            <a:r>
              <a:rPr lang="zh-CN" altLang="zh-CN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 } </a:t>
            </a: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，其中</a:t>
            </a:r>
            <a:r>
              <a:rPr lang="zh-CN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是元组</a:t>
            </a:r>
            <a:endParaRPr lang="zh-CN" altLang="zh-CN" sz="20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eaLnBrk="1" hangingPunct="1">
              <a:spcBef>
                <a:spcPts val="650"/>
              </a:spcBef>
              <a:buFont typeface="Wingdings" panose="05000000000000000000" pitchFamily="2" charset="2"/>
              <a:buChar char=""/>
            </a:pPr>
            <a:r>
              <a:rPr lang="zh-CN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∩</a:t>
            </a:r>
            <a:r>
              <a:rPr lang="zh-CN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S </a:t>
            </a: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和 </a:t>
            </a:r>
            <a:r>
              <a:rPr lang="zh-CN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∩</a:t>
            </a:r>
            <a:r>
              <a:rPr lang="zh-CN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R </a:t>
            </a: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运算的结果是同一个关系</a:t>
            </a:r>
            <a:endParaRPr lang="zh-CN" altLang="zh-CN" sz="20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eaLnBrk="1" hangingPunct="1">
              <a:spcBef>
                <a:spcPts val="625"/>
              </a:spcBef>
              <a:buSzPct val="95000"/>
              <a:buFont typeface="Wingdings" panose="05000000000000000000" pitchFamily="2" charset="2"/>
              <a:buChar char=""/>
            </a:pP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交运算可以通过差运算来实现：</a:t>
            </a:r>
            <a:endParaRPr lang="zh-CN" altLang="zh-CN" sz="20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eaLnBrk="1" hangingPunct="1">
              <a:spcBef>
                <a:spcPts val="338"/>
              </a:spcBef>
            </a:pPr>
            <a:r>
              <a:rPr lang="zh-CN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R </a:t>
            </a:r>
            <a:r>
              <a:rPr lang="zh-CN" altLang="zh-CN" sz="2000" b="1" dirty="0">
                <a:latin typeface="Symbol" panose="05050102010706020507" pitchFamily="18" charset="2"/>
              </a:rPr>
              <a:t></a:t>
            </a:r>
            <a:r>
              <a:rPr lang="zh-CN" altLang="zh-CN" sz="2000" b="1" dirty="0">
                <a:cs typeface="Times New Roman" panose="02020603050405020304" pitchFamily="18" charset="0"/>
              </a:rPr>
              <a:t> </a:t>
            </a:r>
            <a:r>
              <a:rPr lang="zh-CN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S = R </a:t>
            </a:r>
            <a:r>
              <a:rPr lang="zh-CN" altLang="zh-CN" sz="2000" b="1" dirty="0">
                <a:latin typeface="Symbol" panose="05050102010706020507" pitchFamily="18" charset="2"/>
              </a:rPr>
              <a:t></a:t>
            </a:r>
            <a:r>
              <a:rPr lang="zh-CN" altLang="zh-CN" sz="2000" b="1" dirty="0">
                <a:cs typeface="Times New Roman" panose="02020603050405020304" pitchFamily="18" charset="0"/>
              </a:rPr>
              <a:t> </a:t>
            </a:r>
            <a:r>
              <a:rPr lang="zh-CN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(R </a:t>
            </a:r>
            <a:r>
              <a:rPr lang="zh-CN" altLang="zh-CN" sz="2000" b="1" dirty="0">
                <a:latin typeface="Symbol" panose="05050102010706020507" pitchFamily="18" charset="2"/>
              </a:rPr>
              <a:t></a:t>
            </a:r>
            <a:r>
              <a:rPr lang="zh-CN" altLang="zh-CN" sz="2000" b="1" dirty="0">
                <a:cs typeface="Times New Roman" panose="02020603050405020304" pitchFamily="18" charset="0"/>
              </a:rPr>
              <a:t> </a:t>
            </a:r>
            <a:r>
              <a:rPr lang="zh-CN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S) = S </a:t>
            </a:r>
            <a:r>
              <a:rPr lang="zh-CN" altLang="zh-CN" sz="2000" b="1" dirty="0">
                <a:latin typeface="Symbol" panose="05050102010706020507" pitchFamily="18" charset="2"/>
              </a:rPr>
              <a:t></a:t>
            </a:r>
            <a:r>
              <a:rPr lang="zh-CN" altLang="zh-CN" sz="2000" b="1" dirty="0">
                <a:cs typeface="Times New Roman" panose="02020603050405020304" pitchFamily="18" charset="0"/>
              </a:rPr>
              <a:t> </a:t>
            </a:r>
            <a:r>
              <a:rPr lang="zh-CN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(S </a:t>
            </a:r>
            <a:r>
              <a:rPr lang="zh-CN" altLang="zh-CN" sz="2000" b="1" dirty="0">
                <a:latin typeface="Symbol" panose="05050102010706020507" pitchFamily="18" charset="2"/>
              </a:rPr>
              <a:t></a:t>
            </a:r>
            <a:r>
              <a:rPr lang="zh-CN" altLang="zh-CN" sz="2000" b="1" dirty="0">
                <a:cs typeface="Times New Roman" panose="02020603050405020304" pitchFamily="18" charset="0"/>
              </a:rPr>
              <a:t> </a:t>
            </a:r>
            <a:r>
              <a:rPr lang="zh-CN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R)</a:t>
            </a:r>
            <a:endParaRPr lang="zh-CN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012950" y="4549775"/>
            <a:ext cx="1238250" cy="94456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6" name="object 6"/>
          <p:cNvSpPr/>
          <p:nvPr/>
        </p:nvSpPr>
        <p:spPr>
          <a:xfrm>
            <a:off x="2012950" y="4549775"/>
            <a:ext cx="1238250" cy="944563"/>
          </a:xfrm>
          <a:custGeom>
            <a:avLst/>
            <a:gdLst/>
            <a:ahLst/>
            <a:cxnLst/>
            <a:rect l="l" t="t" r="r" b="b"/>
            <a:pathLst>
              <a:path w="1447800" h="1104900">
                <a:moveTo>
                  <a:pt x="723900" y="0"/>
                </a:moveTo>
                <a:lnTo>
                  <a:pt x="669843" y="1517"/>
                </a:lnTo>
                <a:lnTo>
                  <a:pt x="616870" y="5996"/>
                </a:lnTo>
                <a:lnTo>
                  <a:pt x="565121" y="13332"/>
                </a:lnTo>
                <a:lnTo>
                  <a:pt x="514736" y="23415"/>
                </a:lnTo>
                <a:lnTo>
                  <a:pt x="465853" y="36139"/>
                </a:lnTo>
                <a:lnTo>
                  <a:pt x="418613" y="51396"/>
                </a:lnTo>
                <a:lnTo>
                  <a:pt x="373154" y="69079"/>
                </a:lnTo>
                <a:lnTo>
                  <a:pt x="329617" y="89081"/>
                </a:lnTo>
                <a:lnTo>
                  <a:pt x="288141" y="111294"/>
                </a:lnTo>
                <a:lnTo>
                  <a:pt x="248866" y="135611"/>
                </a:lnTo>
                <a:lnTo>
                  <a:pt x="211931" y="161924"/>
                </a:lnTo>
                <a:lnTo>
                  <a:pt x="177475" y="190127"/>
                </a:lnTo>
                <a:lnTo>
                  <a:pt x="145639" y="220112"/>
                </a:lnTo>
                <a:lnTo>
                  <a:pt x="116561" y="251772"/>
                </a:lnTo>
                <a:lnTo>
                  <a:pt x="90381" y="284998"/>
                </a:lnTo>
                <a:lnTo>
                  <a:pt x="67240" y="319685"/>
                </a:lnTo>
                <a:lnTo>
                  <a:pt x="47276" y="355724"/>
                </a:lnTo>
                <a:lnTo>
                  <a:pt x="30628" y="393008"/>
                </a:lnTo>
                <a:lnTo>
                  <a:pt x="17438" y="431430"/>
                </a:lnTo>
                <a:lnTo>
                  <a:pt x="7843" y="470882"/>
                </a:lnTo>
                <a:lnTo>
                  <a:pt x="1984" y="511258"/>
                </a:lnTo>
                <a:lnTo>
                  <a:pt x="0" y="552450"/>
                </a:lnTo>
                <a:lnTo>
                  <a:pt x="1984" y="593641"/>
                </a:lnTo>
                <a:lnTo>
                  <a:pt x="7843" y="634017"/>
                </a:lnTo>
                <a:lnTo>
                  <a:pt x="17438" y="673469"/>
                </a:lnTo>
                <a:lnTo>
                  <a:pt x="30628" y="711891"/>
                </a:lnTo>
                <a:lnTo>
                  <a:pt x="47276" y="749175"/>
                </a:lnTo>
                <a:lnTo>
                  <a:pt x="67240" y="785214"/>
                </a:lnTo>
                <a:lnTo>
                  <a:pt x="90381" y="819901"/>
                </a:lnTo>
                <a:lnTo>
                  <a:pt x="116561" y="853127"/>
                </a:lnTo>
                <a:lnTo>
                  <a:pt x="145639" y="884787"/>
                </a:lnTo>
                <a:lnTo>
                  <a:pt x="177475" y="914772"/>
                </a:lnTo>
                <a:lnTo>
                  <a:pt x="211931" y="942975"/>
                </a:lnTo>
                <a:lnTo>
                  <a:pt x="248866" y="969288"/>
                </a:lnTo>
                <a:lnTo>
                  <a:pt x="288141" y="993605"/>
                </a:lnTo>
                <a:lnTo>
                  <a:pt x="329617" y="1015818"/>
                </a:lnTo>
                <a:lnTo>
                  <a:pt x="373154" y="1035820"/>
                </a:lnTo>
                <a:lnTo>
                  <a:pt x="418613" y="1053503"/>
                </a:lnTo>
                <a:lnTo>
                  <a:pt x="465853" y="1068760"/>
                </a:lnTo>
                <a:lnTo>
                  <a:pt x="514736" y="1081484"/>
                </a:lnTo>
                <a:lnTo>
                  <a:pt x="565121" y="1091567"/>
                </a:lnTo>
                <a:lnTo>
                  <a:pt x="616870" y="1098903"/>
                </a:lnTo>
                <a:lnTo>
                  <a:pt x="669843" y="1103382"/>
                </a:lnTo>
                <a:lnTo>
                  <a:pt x="723900" y="1104900"/>
                </a:lnTo>
                <a:lnTo>
                  <a:pt x="777956" y="1103382"/>
                </a:lnTo>
                <a:lnTo>
                  <a:pt x="830929" y="1098903"/>
                </a:lnTo>
                <a:lnTo>
                  <a:pt x="882678" y="1091567"/>
                </a:lnTo>
                <a:lnTo>
                  <a:pt x="933063" y="1081484"/>
                </a:lnTo>
                <a:lnTo>
                  <a:pt x="981946" y="1068760"/>
                </a:lnTo>
                <a:lnTo>
                  <a:pt x="1029186" y="1053503"/>
                </a:lnTo>
                <a:lnTo>
                  <a:pt x="1074645" y="1035820"/>
                </a:lnTo>
                <a:lnTo>
                  <a:pt x="1118182" y="1015818"/>
                </a:lnTo>
                <a:lnTo>
                  <a:pt x="1159658" y="993605"/>
                </a:lnTo>
                <a:lnTo>
                  <a:pt x="1198933" y="969288"/>
                </a:lnTo>
                <a:lnTo>
                  <a:pt x="1235868" y="942974"/>
                </a:lnTo>
                <a:lnTo>
                  <a:pt x="1270324" y="914772"/>
                </a:lnTo>
                <a:lnTo>
                  <a:pt x="1302160" y="884787"/>
                </a:lnTo>
                <a:lnTo>
                  <a:pt x="1331238" y="853127"/>
                </a:lnTo>
                <a:lnTo>
                  <a:pt x="1357418" y="819901"/>
                </a:lnTo>
                <a:lnTo>
                  <a:pt x="1380559" y="785214"/>
                </a:lnTo>
                <a:lnTo>
                  <a:pt x="1400523" y="749175"/>
                </a:lnTo>
                <a:lnTo>
                  <a:pt x="1417171" y="711891"/>
                </a:lnTo>
                <a:lnTo>
                  <a:pt x="1430361" y="673469"/>
                </a:lnTo>
                <a:lnTo>
                  <a:pt x="1439956" y="634017"/>
                </a:lnTo>
                <a:lnTo>
                  <a:pt x="1445815" y="593641"/>
                </a:lnTo>
                <a:lnTo>
                  <a:pt x="1447800" y="552450"/>
                </a:lnTo>
                <a:lnTo>
                  <a:pt x="1445815" y="511258"/>
                </a:lnTo>
                <a:lnTo>
                  <a:pt x="1439956" y="470882"/>
                </a:lnTo>
                <a:lnTo>
                  <a:pt x="1430361" y="431430"/>
                </a:lnTo>
                <a:lnTo>
                  <a:pt x="1417171" y="393008"/>
                </a:lnTo>
                <a:lnTo>
                  <a:pt x="1400523" y="355724"/>
                </a:lnTo>
                <a:lnTo>
                  <a:pt x="1380559" y="319685"/>
                </a:lnTo>
                <a:lnTo>
                  <a:pt x="1357418" y="284998"/>
                </a:lnTo>
                <a:lnTo>
                  <a:pt x="1331238" y="251772"/>
                </a:lnTo>
                <a:lnTo>
                  <a:pt x="1302160" y="220112"/>
                </a:lnTo>
                <a:lnTo>
                  <a:pt x="1270324" y="190127"/>
                </a:lnTo>
                <a:lnTo>
                  <a:pt x="1235868" y="161924"/>
                </a:lnTo>
                <a:lnTo>
                  <a:pt x="1198933" y="135611"/>
                </a:lnTo>
                <a:lnTo>
                  <a:pt x="1159658" y="111294"/>
                </a:lnTo>
                <a:lnTo>
                  <a:pt x="1118182" y="89081"/>
                </a:lnTo>
                <a:lnTo>
                  <a:pt x="1074645" y="69079"/>
                </a:lnTo>
                <a:lnTo>
                  <a:pt x="1029186" y="51396"/>
                </a:lnTo>
                <a:lnTo>
                  <a:pt x="981946" y="36139"/>
                </a:lnTo>
                <a:lnTo>
                  <a:pt x="933063" y="23415"/>
                </a:lnTo>
                <a:lnTo>
                  <a:pt x="882678" y="13332"/>
                </a:lnTo>
                <a:lnTo>
                  <a:pt x="830929" y="5996"/>
                </a:lnTo>
                <a:lnTo>
                  <a:pt x="777956" y="1517"/>
                </a:lnTo>
                <a:lnTo>
                  <a:pt x="72390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7" name="object 7"/>
          <p:cNvSpPr/>
          <p:nvPr/>
        </p:nvSpPr>
        <p:spPr>
          <a:xfrm>
            <a:off x="1971675" y="4541838"/>
            <a:ext cx="741363" cy="952500"/>
          </a:xfrm>
          <a:custGeom>
            <a:avLst/>
            <a:gdLst/>
            <a:ahLst/>
            <a:cxnLst/>
            <a:rect l="l" t="t" r="r" b="b"/>
            <a:pathLst>
              <a:path w="868680" h="1115060">
                <a:moveTo>
                  <a:pt x="868680" y="1114806"/>
                </a:moveTo>
                <a:lnTo>
                  <a:pt x="868680" y="19050"/>
                </a:lnTo>
                <a:lnTo>
                  <a:pt x="514350" y="0"/>
                </a:lnTo>
                <a:lnTo>
                  <a:pt x="0" y="295656"/>
                </a:lnTo>
                <a:lnTo>
                  <a:pt x="39624" y="790956"/>
                </a:lnTo>
                <a:lnTo>
                  <a:pt x="297180" y="1038606"/>
                </a:lnTo>
                <a:lnTo>
                  <a:pt x="515874" y="1114806"/>
                </a:lnTo>
                <a:lnTo>
                  <a:pt x="868680" y="1114806"/>
                </a:lnTo>
                <a:close/>
              </a:path>
            </a:pathLst>
          </a:custGeom>
          <a:solidFill>
            <a:srgbClr val="FFFFFF"/>
          </a:solid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8" name="object 8"/>
          <p:cNvSpPr/>
          <p:nvPr/>
        </p:nvSpPr>
        <p:spPr>
          <a:xfrm>
            <a:off x="1971675" y="4541838"/>
            <a:ext cx="741363" cy="952500"/>
          </a:xfrm>
          <a:custGeom>
            <a:avLst/>
            <a:gdLst/>
            <a:ahLst/>
            <a:cxnLst/>
            <a:rect l="l" t="t" r="r" b="b"/>
            <a:pathLst>
              <a:path w="868680" h="1115060">
                <a:moveTo>
                  <a:pt x="868680" y="19050"/>
                </a:moveTo>
                <a:lnTo>
                  <a:pt x="514350" y="0"/>
                </a:lnTo>
                <a:lnTo>
                  <a:pt x="0" y="295656"/>
                </a:lnTo>
                <a:lnTo>
                  <a:pt x="39624" y="790956"/>
                </a:lnTo>
                <a:lnTo>
                  <a:pt x="297180" y="1038606"/>
                </a:lnTo>
                <a:lnTo>
                  <a:pt x="515874" y="1114806"/>
                </a:lnTo>
                <a:lnTo>
                  <a:pt x="868680" y="1114806"/>
                </a:lnTo>
                <a:lnTo>
                  <a:pt x="868680" y="19050"/>
                </a:lnTo>
                <a:close/>
              </a:path>
            </a:pathLst>
          </a:custGeom>
          <a:ln w="9525">
            <a:solidFill>
              <a:srgbClr val="FFFFFF"/>
            </a:solidFill>
          </a:ln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9" name="object 9"/>
          <p:cNvSpPr/>
          <p:nvPr/>
        </p:nvSpPr>
        <p:spPr>
          <a:xfrm>
            <a:off x="2713038" y="4441825"/>
            <a:ext cx="1500187" cy="1160463"/>
          </a:xfrm>
          <a:custGeom>
            <a:avLst/>
            <a:gdLst/>
            <a:ahLst/>
            <a:cxnLst/>
            <a:rect l="l" t="t" r="r" b="b"/>
            <a:pathLst>
              <a:path w="1752600" h="1358264">
                <a:moveTo>
                  <a:pt x="0" y="0"/>
                </a:moveTo>
                <a:lnTo>
                  <a:pt x="0" y="1357884"/>
                </a:lnTo>
                <a:lnTo>
                  <a:pt x="1752600" y="1357884"/>
                </a:lnTo>
                <a:lnTo>
                  <a:pt x="1752599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0" name="object 10"/>
          <p:cNvSpPr/>
          <p:nvPr/>
        </p:nvSpPr>
        <p:spPr>
          <a:xfrm>
            <a:off x="1755775" y="4537075"/>
            <a:ext cx="1498600" cy="976313"/>
          </a:xfrm>
          <a:custGeom>
            <a:avLst/>
            <a:gdLst/>
            <a:ahLst/>
            <a:cxnLst/>
            <a:rect l="l" t="t" r="r" b="b"/>
            <a:pathLst>
              <a:path w="1752600" h="1143000">
                <a:moveTo>
                  <a:pt x="876300" y="0"/>
                </a:moveTo>
                <a:lnTo>
                  <a:pt x="818693" y="1216"/>
                </a:lnTo>
                <a:lnTo>
                  <a:pt x="762080" y="4815"/>
                </a:lnTo>
                <a:lnTo>
                  <a:pt x="706577" y="10720"/>
                </a:lnTo>
                <a:lnTo>
                  <a:pt x="652297" y="18858"/>
                </a:lnTo>
                <a:lnTo>
                  <a:pt x="599358" y="29151"/>
                </a:lnTo>
                <a:lnTo>
                  <a:pt x="547875" y="41524"/>
                </a:lnTo>
                <a:lnTo>
                  <a:pt x="497963" y="55903"/>
                </a:lnTo>
                <a:lnTo>
                  <a:pt x="449738" y="72210"/>
                </a:lnTo>
                <a:lnTo>
                  <a:pt x="403315" y="90372"/>
                </a:lnTo>
                <a:lnTo>
                  <a:pt x="358810" y="110313"/>
                </a:lnTo>
                <a:lnTo>
                  <a:pt x="316339" y="131956"/>
                </a:lnTo>
                <a:lnTo>
                  <a:pt x="276017" y="155227"/>
                </a:lnTo>
                <a:lnTo>
                  <a:pt x="237960" y="180050"/>
                </a:lnTo>
                <a:lnTo>
                  <a:pt x="202283" y="206349"/>
                </a:lnTo>
                <a:lnTo>
                  <a:pt x="169103" y="234049"/>
                </a:lnTo>
                <a:lnTo>
                  <a:pt x="138533" y="263075"/>
                </a:lnTo>
                <a:lnTo>
                  <a:pt x="110691" y="293351"/>
                </a:lnTo>
                <a:lnTo>
                  <a:pt x="85692" y="324801"/>
                </a:lnTo>
                <a:lnTo>
                  <a:pt x="63651" y="357351"/>
                </a:lnTo>
                <a:lnTo>
                  <a:pt x="44683" y="390924"/>
                </a:lnTo>
                <a:lnTo>
                  <a:pt x="16432" y="460838"/>
                </a:lnTo>
                <a:lnTo>
                  <a:pt x="1864" y="533941"/>
                </a:lnTo>
                <a:lnTo>
                  <a:pt x="0" y="571500"/>
                </a:lnTo>
                <a:lnTo>
                  <a:pt x="1864" y="609058"/>
                </a:lnTo>
                <a:lnTo>
                  <a:pt x="16432" y="682161"/>
                </a:lnTo>
                <a:lnTo>
                  <a:pt x="44683" y="752075"/>
                </a:lnTo>
                <a:lnTo>
                  <a:pt x="63651" y="785648"/>
                </a:lnTo>
                <a:lnTo>
                  <a:pt x="85692" y="818198"/>
                </a:lnTo>
                <a:lnTo>
                  <a:pt x="110691" y="849648"/>
                </a:lnTo>
                <a:lnTo>
                  <a:pt x="138533" y="879924"/>
                </a:lnTo>
                <a:lnTo>
                  <a:pt x="169103" y="908950"/>
                </a:lnTo>
                <a:lnTo>
                  <a:pt x="202283" y="936650"/>
                </a:lnTo>
                <a:lnTo>
                  <a:pt x="237960" y="962949"/>
                </a:lnTo>
                <a:lnTo>
                  <a:pt x="276017" y="987772"/>
                </a:lnTo>
                <a:lnTo>
                  <a:pt x="316339" y="1011043"/>
                </a:lnTo>
                <a:lnTo>
                  <a:pt x="358810" y="1032686"/>
                </a:lnTo>
                <a:lnTo>
                  <a:pt x="403315" y="1052627"/>
                </a:lnTo>
                <a:lnTo>
                  <a:pt x="449738" y="1070789"/>
                </a:lnTo>
                <a:lnTo>
                  <a:pt x="497963" y="1087096"/>
                </a:lnTo>
                <a:lnTo>
                  <a:pt x="547875" y="1101475"/>
                </a:lnTo>
                <a:lnTo>
                  <a:pt x="599358" y="1113848"/>
                </a:lnTo>
                <a:lnTo>
                  <a:pt x="652297" y="1124141"/>
                </a:lnTo>
                <a:lnTo>
                  <a:pt x="706577" y="1132279"/>
                </a:lnTo>
                <a:lnTo>
                  <a:pt x="762080" y="1138184"/>
                </a:lnTo>
                <a:lnTo>
                  <a:pt x="818693" y="1141783"/>
                </a:lnTo>
                <a:lnTo>
                  <a:pt x="876300" y="1143000"/>
                </a:lnTo>
                <a:lnTo>
                  <a:pt x="933906" y="1141783"/>
                </a:lnTo>
                <a:lnTo>
                  <a:pt x="990519" y="1138184"/>
                </a:lnTo>
                <a:lnTo>
                  <a:pt x="1046022" y="1132279"/>
                </a:lnTo>
                <a:lnTo>
                  <a:pt x="1100302" y="1124141"/>
                </a:lnTo>
                <a:lnTo>
                  <a:pt x="1153241" y="1113848"/>
                </a:lnTo>
                <a:lnTo>
                  <a:pt x="1204724" y="1101475"/>
                </a:lnTo>
                <a:lnTo>
                  <a:pt x="1254636" y="1087096"/>
                </a:lnTo>
                <a:lnTo>
                  <a:pt x="1302861" y="1070789"/>
                </a:lnTo>
                <a:lnTo>
                  <a:pt x="1349284" y="1052627"/>
                </a:lnTo>
                <a:lnTo>
                  <a:pt x="1393789" y="1032686"/>
                </a:lnTo>
                <a:lnTo>
                  <a:pt x="1436260" y="1011043"/>
                </a:lnTo>
                <a:lnTo>
                  <a:pt x="1476582" y="987772"/>
                </a:lnTo>
                <a:lnTo>
                  <a:pt x="1514639" y="962949"/>
                </a:lnTo>
                <a:lnTo>
                  <a:pt x="1550316" y="936650"/>
                </a:lnTo>
                <a:lnTo>
                  <a:pt x="1583496" y="908950"/>
                </a:lnTo>
                <a:lnTo>
                  <a:pt x="1614066" y="879924"/>
                </a:lnTo>
                <a:lnTo>
                  <a:pt x="1641908" y="849648"/>
                </a:lnTo>
                <a:lnTo>
                  <a:pt x="1666907" y="818198"/>
                </a:lnTo>
                <a:lnTo>
                  <a:pt x="1688948" y="785648"/>
                </a:lnTo>
                <a:lnTo>
                  <a:pt x="1707916" y="752075"/>
                </a:lnTo>
                <a:lnTo>
                  <a:pt x="1736167" y="682161"/>
                </a:lnTo>
                <a:lnTo>
                  <a:pt x="1750735" y="609058"/>
                </a:lnTo>
                <a:lnTo>
                  <a:pt x="1752600" y="571499"/>
                </a:lnTo>
                <a:lnTo>
                  <a:pt x="1750735" y="533941"/>
                </a:lnTo>
                <a:lnTo>
                  <a:pt x="1736167" y="460838"/>
                </a:lnTo>
                <a:lnTo>
                  <a:pt x="1707916" y="390924"/>
                </a:lnTo>
                <a:lnTo>
                  <a:pt x="1688948" y="357351"/>
                </a:lnTo>
                <a:lnTo>
                  <a:pt x="1666907" y="324801"/>
                </a:lnTo>
                <a:lnTo>
                  <a:pt x="1641908" y="293351"/>
                </a:lnTo>
                <a:lnTo>
                  <a:pt x="1614066" y="263075"/>
                </a:lnTo>
                <a:lnTo>
                  <a:pt x="1583496" y="234049"/>
                </a:lnTo>
                <a:lnTo>
                  <a:pt x="1550316" y="206349"/>
                </a:lnTo>
                <a:lnTo>
                  <a:pt x="1514639" y="180050"/>
                </a:lnTo>
                <a:lnTo>
                  <a:pt x="1476582" y="155227"/>
                </a:lnTo>
                <a:lnTo>
                  <a:pt x="1436260" y="131956"/>
                </a:lnTo>
                <a:lnTo>
                  <a:pt x="1393789" y="110313"/>
                </a:lnTo>
                <a:lnTo>
                  <a:pt x="1349284" y="90372"/>
                </a:lnTo>
                <a:lnTo>
                  <a:pt x="1302861" y="72210"/>
                </a:lnTo>
                <a:lnTo>
                  <a:pt x="1254636" y="55903"/>
                </a:lnTo>
                <a:lnTo>
                  <a:pt x="1204724" y="41524"/>
                </a:lnTo>
                <a:lnTo>
                  <a:pt x="1153241" y="29151"/>
                </a:lnTo>
                <a:lnTo>
                  <a:pt x="1100302" y="18858"/>
                </a:lnTo>
                <a:lnTo>
                  <a:pt x="1046022" y="10720"/>
                </a:lnTo>
                <a:lnTo>
                  <a:pt x="990519" y="4815"/>
                </a:lnTo>
                <a:lnTo>
                  <a:pt x="933906" y="1216"/>
                </a:lnTo>
                <a:lnTo>
                  <a:pt x="87630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1" name="object 11"/>
          <p:cNvSpPr/>
          <p:nvPr/>
        </p:nvSpPr>
        <p:spPr>
          <a:xfrm>
            <a:off x="2713038" y="4441825"/>
            <a:ext cx="1500187" cy="1158875"/>
          </a:xfrm>
          <a:custGeom>
            <a:avLst/>
            <a:gdLst/>
            <a:ahLst/>
            <a:cxnLst/>
            <a:rect l="l" t="t" r="r" b="b"/>
            <a:pathLst>
              <a:path w="1752600" h="1355725">
                <a:moveTo>
                  <a:pt x="0" y="0"/>
                </a:moveTo>
                <a:lnTo>
                  <a:pt x="0" y="1355598"/>
                </a:lnTo>
                <a:lnTo>
                  <a:pt x="1752600" y="1355598"/>
                </a:lnTo>
                <a:lnTo>
                  <a:pt x="1752599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2" name="object 12"/>
          <p:cNvSpPr txBox="1"/>
          <p:nvPr/>
        </p:nvSpPr>
        <p:spPr>
          <a:xfrm>
            <a:off x="1384300" y="4440238"/>
            <a:ext cx="3160713" cy="1641475"/>
          </a:xfrm>
          <a:prstGeom prst="rect">
            <a:avLst/>
          </a:prstGeom>
        </p:spPr>
        <p:txBody>
          <a:bodyPr lIns="0" tIns="49954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ts val="388"/>
              </a:spcBef>
            </a:pPr>
            <a:r>
              <a:rPr lang="zh-CN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</a:p>
          <a:p>
            <a:pPr eaLnBrk="1" hangingPunct="1">
              <a:spcBef>
                <a:spcPts val="313"/>
              </a:spcBef>
            </a:pPr>
            <a:r>
              <a:rPr lang="zh-CN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</a:p>
          <a:p>
            <a:pPr eaLnBrk="1" hangingPunct="1"/>
            <a:endParaRPr lang="zh-CN" altLang="zh-CN" sz="3200" dirty="0">
              <a:cs typeface="Times New Roman" panose="02020603050405020304" pitchFamily="18" charset="0"/>
            </a:endParaRPr>
          </a:p>
          <a:p>
            <a:pPr algn="ctr" eaLnBrk="1" hangingPunct="1"/>
            <a:r>
              <a:rPr lang="zh-CN" altLang="zh-CN" sz="2700" b="1" dirty="0">
                <a:cs typeface="Times New Roman" panose="02020603050405020304" pitchFamily="18" charset="0"/>
              </a:rPr>
              <a:t>R</a:t>
            </a:r>
            <a:r>
              <a:rPr lang="zh-CN" altLang="zh-CN" sz="2700" b="1" dirty="0">
                <a:latin typeface="Symbol" panose="05050102010706020507" pitchFamily="18" charset="2"/>
              </a:rPr>
              <a:t></a:t>
            </a:r>
            <a:r>
              <a:rPr lang="zh-CN" altLang="zh-CN" sz="2700" b="1" dirty="0">
                <a:cs typeface="Times New Roman" panose="02020603050405020304" pitchFamily="18" charset="0"/>
              </a:rPr>
              <a:t>S</a:t>
            </a:r>
            <a:endParaRPr lang="zh-CN" altLang="zh-CN" sz="2700" dirty="0">
              <a:cs typeface="Times New Roman" panose="02020603050405020304" pitchFamily="18" charset="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572817" y="603736"/>
            <a:ext cx="5785892" cy="617052"/>
          </a:xfrm>
          <a:prstGeom prst="rect">
            <a:avLst/>
          </a:prstGeom>
        </p:spPr>
        <p:txBody>
          <a:bodyPr wrap="square" lIns="0" tIns="62444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88"/>
              </a:spcBef>
            </a:pPr>
            <a:r>
              <a:rPr lang="en-US" altLang="zh-CN" sz="3600" b="1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2. </a:t>
            </a:r>
            <a:r>
              <a:rPr lang="zh-CN" altLang="zh-CN" sz="3600" b="1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关系代数之扩展操作</a:t>
            </a:r>
            <a:endParaRPr lang="zh-CN" altLang="zh-CN" sz="36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57BEB047-46A5-08AF-5839-4D4ECE8EC1AF}"/>
              </a:ext>
            </a:extLst>
          </p:cNvPr>
          <p:cNvGrpSpPr/>
          <p:nvPr/>
        </p:nvGrpSpPr>
        <p:grpSpPr>
          <a:xfrm>
            <a:off x="5421982" y="4286250"/>
            <a:ext cx="2444750" cy="1300163"/>
            <a:chOff x="5429250" y="4298950"/>
            <a:chExt cx="2444750" cy="1300163"/>
          </a:xfrm>
        </p:grpSpPr>
        <p:sp>
          <p:nvSpPr>
            <p:cNvPr id="14" name="object 14"/>
            <p:cNvSpPr/>
            <p:nvPr/>
          </p:nvSpPr>
          <p:spPr>
            <a:xfrm>
              <a:off x="5448300" y="4298950"/>
              <a:ext cx="2419350" cy="1300163"/>
            </a:xfrm>
            <a:custGeom>
              <a:avLst/>
              <a:gdLst/>
              <a:ahLst/>
              <a:cxnLst/>
              <a:rect l="l" t="t" r="r" b="b"/>
              <a:pathLst>
                <a:path w="2830195" h="1520189">
                  <a:moveTo>
                    <a:pt x="0" y="0"/>
                  </a:moveTo>
                  <a:lnTo>
                    <a:pt x="0" y="1520189"/>
                  </a:lnTo>
                  <a:lnTo>
                    <a:pt x="2830067" y="1520189"/>
                  </a:lnTo>
                  <a:lnTo>
                    <a:pt x="28300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lIns="0" tIns="0" rIns="0" bIns="0"/>
            <a:lstStyle/>
            <a:p>
              <a:pPr eaLnBrk="1" hangingPunct="1">
                <a:defRPr/>
              </a:pPr>
              <a:endParaRPr sz="2052"/>
            </a:p>
          </p:txBody>
        </p:sp>
        <p:sp>
          <p:nvSpPr>
            <p:cNvPr id="16" name="object 16"/>
            <p:cNvSpPr/>
            <p:nvPr/>
          </p:nvSpPr>
          <p:spPr>
            <a:xfrm>
              <a:off x="5465763" y="4303713"/>
              <a:ext cx="2408237" cy="1292225"/>
            </a:xfrm>
            <a:custGeom>
              <a:avLst/>
              <a:gdLst/>
              <a:ahLst/>
              <a:cxnLst/>
              <a:rect l="l" t="t" r="r" b="b"/>
              <a:pathLst>
                <a:path w="2816859" h="1510029">
                  <a:moveTo>
                    <a:pt x="0" y="1509522"/>
                  </a:moveTo>
                  <a:lnTo>
                    <a:pt x="2816351" y="0"/>
                  </a:lnTo>
                </a:path>
              </a:pathLst>
            </a:custGeom>
            <a:ln w="38099">
              <a:solidFill>
                <a:srgbClr val="CC0000"/>
              </a:solidFill>
              <a:prstDash val="dash"/>
            </a:ln>
          </p:spPr>
          <p:txBody>
            <a:bodyPr lIns="0" tIns="0" rIns="0" bIns="0"/>
            <a:lstStyle/>
            <a:p>
              <a:pPr eaLnBrk="1" hangingPunct="1">
                <a:defRPr/>
              </a:pPr>
              <a:endParaRPr sz="2052"/>
            </a:p>
          </p:txBody>
        </p:sp>
        <p:sp>
          <p:nvSpPr>
            <p:cNvPr id="17" name="object 17"/>
            <p:cNvSpPr/>
            <p:nvPr/>
          </p:nvSpPr>
          <p:spPr>
            <a:xfrm>
              <a:off x="5429250" y="4316413"/>
              <a:ext cx="2408238" cy="1279525"/>
            </a:xfrm>
            <a:custGeom>
              <a:avLst/>
              <a:gdLst/>
              <a:ahLst/>
              <a:cxnLst/>
              <a:rect l="l" t="t" r="r" b="b"/>
              <a:pathLst>
                <a:path w="2817495" h="1495425">
                  <a:moveTo>
                    <a:pt x="0" y="0"/>
                  </a:moveTo>
                  <a:lnTo>
                    <a:pt x="2817114" y="1495044"/>
                  </a:lnTo>
                </a:path>
              </a:pathLst>
            </a:custGeom>
            <a:ln w="38100">
              <a:solidFill>
                <a:srgbClr val="CC0000"/>
              </a:solidFill>
              <a:prstDash val="dash"/>
            </a:ln>
          </p:spPr>
          <p:txBody>
            <a:bodyPr lIns="0" tIns="0" rIns="0" bIns="0"/>
            <a:lstStyle/>
            <a:p>
              <a:pPr eaLnBrk="1" hangingPunct="1">
                <a:defRPr/>
              </a:pPr>
              <a:endParaRPr sz="2052"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5449888" y="5688013"/>
            <a:ext cx="1092200" cy="247650"/>
          </a:xfrm>
          <a:prstGeom prst="rect">
            <a:avLst/>
          </a:prstGeom>
        </p:spPr>
        <p:txBody>
          <a:bodyPr lIns="0" tIns="10860" rIns="0" bIns="0">
            <a:spAutoFit/>
          </a:bodyPr>
          <a:lstStyle>
            <a:lvl1pPr marL="952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88"/>
              </a:spcBef>
            </a:pPr>
            <a:r>
              <a:rPr lang="zh-CN" altLang="zh-CN" sz="1500" b="1">
                <a:latin typeface="微软雅黑" panose="020B0503020204020204" pitchFamily="34" charset="-122"/>
                <a:ea typeface="微软雅黑" panose="020B0503020204020204" pitchFamily="34" charset="-122"/>
              </a:rPr>
              <a:t>错在哪里呢?</a:t>
            </a:r>
            <a:endParaRPr lang="zh-CN" altLang="zh-CN" sz="15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灯片编号占位符 1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02E7998-F56A-45D4-984E-4E67E3C944B8}" type="slidenum">
              <a:rPr lang="en-US" altLang="zh-CN" smtClean="0"/>
              <a:pPr>
                <a:defRPr/>
              </a:pPr>
              <a:t>32</a:t>
            </a:fld>
            <a:endParaRPr lang="en-US" altLang="zh-CN"/>
          </a:p>
        </p:txBody>
      </p:sp>
      <p:sp>
        <p:nvSpPr>
          <p:cNvPr id="20" name="弦形 19"/>
          <p:cNvSpPr/>
          <p:nvPr/>
        </p:nvSpPr>
        <p:spPr bwMode="auto">
          <a:xfrm rot="21334714" flipH="1">
            <a:off x="2043988" y="4568831"/>
            <a:ext cx="1270038" cy="926878"/>
          </a:xfrm>
          <a:prstGeom prst="chord">
            <a:avLst>
              <a:gd name="adj1" fmla="val 5366878"/>
              <a:gd name="adj2" fmla="val 15687502"/>
            </a:avLst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342900" marR="0" indent="-3429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416426" y="4283075"/>
            <a:ext cx="2419350" cy="1255713"/>
          </a:xfrm>
          <a:prstGeom prst="rect">
            <a:avLst/>
          </a:prstGeom>
          <a:ln w="28575">
            <a:solidFill>
              <a:srgbClr val="000000"/>
            </a:solidFill>
          </a:ln>
        </p:spPr>
        <p:txBody>
          <a:bodyPr lIns="0" tIns="48326" rIns="0" bIns="0">
            <a:spAutoFit/>
          </a:bodyPr>
          <a:lstStyle/>
          <a:p>
            <a:pPr marL="58643" algn="ctr" eaLnBrk="1" hangingPunct="1">
              <a:spcBef>
                <a:spcPts val="381"/>
              </a:spcBef>
              <a:defRPr/>
            </a:pPr>
            <a:r>
              <a:rPr sz="1710" b="1" spc="-4" dirty="0">
                <a:latin typeface="Arial"/>
                <a:cs typeface="Arial"/>
              </a:rPr>
              <a:t>R </a:t>
            </a:r>
            <a:r>
              <a:rPr sz="1710" b="1" spc="-4" dirty="0">
                <a:latin typeface="Symbol"/>
                <a:cs typeface="Symbol"/>
              </a:rPr>
              <a:t></a:t>
            </a:r>
            <a:r>
              <a:rPr sz="1710" b="1" spc="-4" dirty="0">
                <a:latin typeface="Times New Roman"/>
                <a:cs typeface="Times New Roman"/>
              </a:rPr>
              <a:t> </a:t>
            </a:r>
            <a:r>
              <a:rPr sz="1710" b="1" spc="-4" dirty="0">
                <a:latin typeface="Arial"/>
                <a:cs typeface="Arial"/>
              </a:rPr>
              <a:t>S = R </a:t>
            </a:r>
            <a:r>
              <a:rPr sz="1710" b="1" spc="-4" dirty="0">
                <a:latin typeface="Symbol"/>
                <a:cs typeface="Symbol"/>
              </a:rPr>
              <a:t></a:t>
            </a:r>
            <a:r>
              <a:rPr sz="1710" b="1" spc="-4" dirty="0">
                <a:latin typeface="Times New Roman"/>
                <a:cs typeface="Times New Roman"/>
              </a:rPr>
              <a:t> </a:t>
            </a:r>
            <a:r>
              <a:rPr sz="1710" b="1" spc="-4" dirty="0">
                <a:latin typeface="Arial"/>
                <a:cs typeface="Arial"/>
              </a:rPr>
              <a:t>(R </a:t>
            </a:r>
            <a:r>
              <a:rPr sz="1710" b="1" spc="-4" dirty="0">
                <a:latin typeface="Symbol"/>
                <a:cs typeface="Symbol"/>
              </a:rPr>
              <a:t></a:t>
            </a:r>
            <a:r>
              <a:rPr sz="1710" b="1" spc="97" dirty="0">
                <a:latin typeface="Times New Roman"/>
                <a:cs typeface="Times New Roman"/>
              </a:rPr>
              <a:t> </a:t>
            </a:r>
            <a:r>
              <a:rPr sz="1710" b="1" spc="-9" dirty="0">
                <a:latin typeface="Arial"/>
                <a:cs typeface="Arial"/>
              </a:rPr>
              <a:t>S)</a:t>
            </a:r>
            <a:endParaRPr sz="1710" dirty="0">
              <a:latin typeface="Arial"/>
              <a:cs typeface="Arial"/>
            </a:endParaRPr>
          </a:p>
          <a:p>
            <a:pPr marL="806881" eaLnBrk="1" hangingPunct="1">
              <a:spcBef>
                <a:spcPts val="406"/>
              </a:spcBef>
              <a:defRPr/>
            </a:pPr>
            <a:r>
              <a:rPr sz="1710" b="1" spc="-4" dirty="0">
                <a:latin typeface="Arial"/>
                <a:cs typeface="Arial"/>
              </a:rPr>
              <a:t>= R </a:t>
            </a:r>
            <a:r>
              <a:rPr sz="1710" b="1" spc="-4" dirty="0">
                <a:latin typeface="Symbol"/>
                <a:cs typeface="Symbol"/>
              </a:rPr>
              <a:t></a:t>
            </a:r>
            <a:r>
              <a:rPr sz="1710" b="1" spc="-4" dirty="0">
                <a:latin typeface="Times New Roman"/>
                <a:cs typeface="Times New Roman"/>
              </a:rPr>
              <a:t> </a:t>
            </a:r>
            <a:r>
              <a:rPr sz="1710" b="1" spc="-4" dirty="0">
                <a:latin typeface="Arial"/>
                <a:cs typeface="Arial"/>
              </a:rPr>
              <a:t>R + S =</a:t>
            </a:r>
            <a:r>
              <a:rPr sz="1710" b="1" spc="-21" dirty="0">
                <a:latin typeface="Arial"/>
                <a:cs typeface="Arial"/>
              </a:rPr>
              <a:t> </a:t>
            </a:r>
            <a:r>
              <a:rPr sz="1710" b="1" spc="-4" dirty="0">
                <a:latin typeface="Arial"/>
                <a:cs typeface="Arial"/>
              </a:rPr>
              <a:t>S</a:t>
            </a:r>
            <a:endParaRPr sz="1710" dirty="0">
              <a:latin typeface="Arial"/>
              <a:cs typeface="Arial"/>
            </a:endParaRPr>
          </a:p>
          <a:p>
            <a:pPr algn="ctr" eaLnBrk="1" hangingPunct="1">
              <a:spcBef>
                <a:spcPts val="406"/>
              </a:spcBef>
              <a:defRPr/>
            </a:pPr>
            <a:r>
              <a:rPr sz="1710" b="1" spc="-4" dirty="0">
                <a:latin typeface="Arial"/>
                <a:cs typeface="Arial"/>
              </a:rPr>
              <a:t>= S </a:t>
            </a:r>
            <a:r>
              <a:rPr sz="1710" b="1" spc="-4" dirty="0">
                <a:latin typeface="Symbol"/>
                <a:cs typeface="Symbol"/>
              </a:rPr>
              <a:t></a:t>
            </a:r>
            <a:r>
              <a:rPr sz="1710" b="1" spc="-4" dirty="0">
                <a:latin typeface="Times New Roman"/>
                <a:cs typeface="Times New Roman"/>
              </a:rPr>
              <a:t> </a:t>
            </a:r>
            <a:r>
              <a:rPr sz="1710" b="1" spc="-4" dirty="0">
                <a:latin typeface="Arial"/>
                <a:cs typeface="Arial"/>
              </a:rPr>
              <a:t>(S </a:t>
            </a:r>
            <a:r>
              <a:rPr sz="1710" b="1" spc="-4" dirty="0">
                <a:latin typeface="Symbol"/>
                <a:cs typeface="Symbol"/>
              </a:rPr>
              <a:t></a:t>
            </a:r>
            <a:r>
              <a:rPr sz="1710" b="1" spc="64" dirty="0">
                <a:latin typeface="Times New Roman"/>
                <a:cs typeface="Times New Roman"/>
              </a:rPr>
              <a:t> </a:t>
            </a:r>
            <a:r>
              <a:rPr sz="1710" b="1" spc="-9" dirty="0">
                <a:latin typeface="Arial"/>
                <a:cs typeface="Arial"/>
              </a:rPr>
              <a:t>R)</a:t>
            </a:r>
            <a:endParaRPr sz="1710" dirty="0">
              <a:latin typeface="Arial"/>
              <a:cs typeface="Arial"/>
            </a:endParaRPr>
          </a:p>
          <a:p>
            <a:pPr algn="ctr" eaLnBrk="1" hangingPunct="1">
              <a:spcBef>
                <a:spcPts val="406"/>
              </a:spcBef>
              <a:defRPr/>
            </a:pPr>
            <a:r>
              <a:rPr sz="1710" b="1" spc="-4" dirty="0">
                <a:latin typeface="Arial"/>
                <a:cs typeface="Arial"/>
              </a:rPr>
              <a:t>= S </a:t>
            </a:r>
            <a:r>
              <a:rPr sz="1710" b="1" spc="-4" dirty="0">
                <a:latin typeface="Symbol"/>
                <a:cs typeface="Symbol"/>
              </a:rPr>
              <a:t></a:t>
            </a:r>
            <a:r>
              <a:rPr sz="1710" b="1" spc="-4" dirty="0">
                <a:latin typeface="Times New Roman"/>
                <a:cs typeface="Times New Roman"/>
              </a:rPr>
              <a:t> </a:t>
            </a:r>
            <a:r>
              <a:rPr sz="1710" b="1" spc="-4" dirty="0">
                <a:latin typeface="Arial"/>
                <a:cs typeface="Arial"/>
              </a:rPr>
              <a:t>S + R =</a:t>
            </a:r>
            <a:r>
              <a:rPr sz="1710" b="1" spc="4" dirty="0">
                <a:latin typeface="Arial"/>
                <a:cs typeface="Arial"/>
              </a:rPr>
              <a:t> </a:t>
            </a:r>
            <a:r>
              <a:rPr sz="1710" b="1" spc="-4" dirty="0">
                <a:latin typeface="Arial"/>
                <a:cs typeface="Arial"/>
              </a:rPr>
              <a:t>R</a:t>
            </a:r>
            <a:endParaRPr sz="171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688975" y="1700808"/>
            <a:ext cx="6475313" cy="1012202"/>
          </a:xfrm>
          <a:prstGeom prst="rect">
            <a:avLst/>
          </a:prstGeom>
        </p:spPr>
        <p:txBody>
          <a:bodyPr wrap="square" lIns="0" tIns="143893" rIns="0" bIns="0">
            <a:spAutoFit/>
          </a:bodyPr>
          <a:lstStyle>
            <a:lvl1pPr marL="242888" indent="-231775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1138"/>
              </a:spcBef>
              <a:buFont typeface="Wingdings" panose="05000000000000000000" pitchFamily="2" charset="2"/>
              <a:buChar char=""/>
            </a:pPr>
            <a:r>
              <a:rPr lang="zh-CN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交操作的示例一</a:t>
            </a:r>
            <a:r>
              <a:rPr lang="zh-CN" altLang="zh-CN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zh-CN" altLang="zh-CN" b="1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抽象的</a:t>
            </a:r>
            <a:r>
              <a:rPr lang="zh-CN" altLang="zh-CN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zh-CN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113" indent="0" eaLnBrk="1" hangingPunct="1">
              <a:spcBef>
                <a:spcPts val="1038"/>
              </a:spcBef>
            </a:pPr>
            <a:r>
              <a:rPr lang="en-US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  </a:t>
            </a:r>
            <a:r>
              <a:rPr lang="zh-CN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假设</a:t>
            </a:r>
            <a:r>
              <a:rPr lang="zh-CN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zh-CN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与</a:t>
            </a:r>
            <a:r>
              <a:rPr lang="zh-CN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zh-CN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是并相容的两个关系，则</a:t>
            </a:r>
            <a:r>
              <a:rPr lang="zh-CN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R </a:t>
            </a:r>
            <a:r>
              <a:rPr lang="zh-CN" altLang="zh-CN" b="1" dirty="0">
                <a:latin typeface="Symbol" panose="05050102010706020507" pitchFamily="18" charset="2"/>
              </a:rPr>
              <a:t></a:t>
            </a:r>
            <a:r>
              <a:rPr lang="zh-CN" altLang="zh-CN" b="1" dirty="0">
                <a:cs typeface="Times New Roman" panose="02020603050405020304" pitchFamily="18" charset="0"/>
              </a:rPr>
              <a:t> </a:t>
            </a:r>
            <a:r>
              <a:rPr lang="zh-CN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S?</a:t>
            </a:r>
            <a:endParaRPr lang="zh-CN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208088" y="3573463"/>
            <a:ext cx="1385887" cy="13350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7" name="object 7"/>
          <p:cNvSpPr/>
          <p:nvPr/>
        </p:nvSpPr>
        <p:spPr>
          <a:xfrm>
            <a:off x="3011488" y="3540125"/>
            <a:ext cx="1384300" cy="159702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8" name="object 8"/>
          <p:cNvSpPr/>
          <p:nvPr/>
        </p:nvSpPr>
        <p:spPr>
          <a:xfrm>
            <a:off x="5541963" y="3551238"/>
            <a:ext cx="1384300" cy="107473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A6568E1-4089-4561-919E-9D2F37D3F2B0}" type="slidenum">
              <a:rPr lang="en-US" altLang="zh-CN" smtClean="0"/>
              <a:pPr>
                <a:defRPr/>
              </a:pPr>
              <a:t>33</a:t>
            </a:fld>
            <a:endParaRPr lang="en-US" altLang="zh-CN" dirty="0"/>
          </a:p>
        </p:txBody>
      </p:sp>
      <p:sp>
        <p:nvSpPr>
          <p:cNvPr id="12" name="标题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zh-CN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(1) “</a:t>
            </a:r>
            <a:r>
              <a:rPr lang="zh-CN" altLang="zh-CN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交</a:t>
            </a:r>
            <a:r>
              <a:rPr lang="zh-CN" altLang="zh-CN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r>
              <a:rPr lang="zh-CN" altLang="zh-CN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操作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521494" y="1703872"/>
            <a:ext cx="8177212" cy="902239"/>
          </a:xfrm>
          <a:prstGeom prst="rect">
            <a:avLst/>
          </a:prstGeom>
        </p:spPr>
        <p:txBody>
          <a:bodyPr wrap="square" lIns="0" tIns="85793" rIns="0" bIns="0">
            <a:spAutoFit/>
          </a:bodyPr>
          <a:lstStyle>
            <a:lvl1pPr marL="242888" indent="-231775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675"/>
              </a:spcBef>
              <a:buFont typeface="Wingdings" panose="05000000000000000000" pitchFamily="2" charset="2"/>
              <a:buChar char=""/>
            </a:pPr>
            <a:r>
              <a:rPr lang="zh-CN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交操作的示例二</a:t>
            </a:r>
            <a:r>
              <a:rPr lang="zh-CN" altLang="zh-CN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zh-CN" altLang="zh-CN" b="1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语义的</a:t>
            </a:r>
            <a:r>
              <a:rPr lang="zh-CN" altLang="zh-CN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zh-CN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113" indent="0" eaLnBrk="1" hangingPunct="1">
              <a:spcBef>
                <a:spcPts val="588"/>
              </a:spcBef>
            </a:pPr>
            <a:r>
              <a:rPr lang="en-US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  </a:t>
            </a:r>
            <a:r>
              <a:rPr lang="zh-CN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查询既参加体育队又参加文艺队的学生信息</a:t>
            </a:r>
            <a:endParaRPr lang="zh-CN" altLang="zh-CN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93775" y="2892425"/>
            <a:ext cx="2060575" cy="273050"/>
          </a:xfrm>
          <a:prstGeom prst="rect">
            <a:avLst/>
          </a:prstGeom>
        </p:spPr>
        <p:txBody>
          <a:bodyPr lIns="0" tIns="10317" rIns="0" bIns="0">
            <a:spAutoFit/>
          </a:bodyPr>
          <a:lstStyle>
            <a:lvl1pPr marL="952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75"/>
              </a:spcBef>
            </a:pPr>
            <a:r>
              <a:rPr lang="zh-CN" altLang="zh-CN" sz="1700" b="1">
                <a:solidFill>
                  <a:srgbClr val="FF0065"/>
                </a:solidFill>
                <a:cs typeface="Times New Roman" panose="02020603050405020304" pitchFamily="18" charset="0"/>
              </a:rPr>
              <a:t>R(</a:t>
            </a:r>
            <a:r>
              <a:rPr lang="zh-CN" altLang="zh-CN" sz="1700" b="1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参加体育队的学生</a:t>
            </a:r>
            <a:r>
              <a:rPr lang="zh-CN" altLang="zh-CN" sz="1700" b="1">
                <a:solidFill>
                  <a:srgbClr val="FF0065"/>
                </a:solidFill>
                <a:cs typeface="Times New Roman" panose="02020603050405020304" pitchFamily="18" charset="0"/>
              </a:rPr>
              <a:t>)</a:t>
            </a:r>
            <a:endParaRPr lang="zh-CN" altLang="zh-CN" sz="1700">
              <a:cs typeface="Times New Roman" panose="02020603050405020304" pitchFamily="18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93775" y="4543425"/>
            <a:ext cx="2024063" cy="274638"/>
          </a:xfrm>
          <a:prstGeom prst="rect">
            <a:avLst/>
          </a:prstGeom>
        </p:spPr>
        <p:txBody>
          <a:bodyPr lIns="0" tIns="10317" rIns="0" bIns="0">
            <a:spAutoFit/>
          </a:bodyPr>
          <a:lstStyle>
            <a:lvl1pPr marL="952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75"/>
              </a:spcBef>
            </a:pPr>
            <a:r>
              <a:rPr lang="zh-CN" altLang="zh-CN" sz="1700" b="1">
                <a:solidFill>
                  <a:srgbClr val="FF0065"/>
                </a:solidFill>
                <a:cs typeface="Times New Roman" panose="02020603050405020304" pitchFamily="18" charset="0"/>
              </a:rPr>
              <a:t>S(</a:t>
            </a:r>
            <a:r>
              <a:rPr lang="zh-CN" altLang="zh-CN" sz="1700" b="1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参加文艺队的学生</a:t>
            </a:r>
            <a:r>
              <a:rPr lang="zh-CN" altLang="zh-CN" sz="1700" b="1">
                <a:solidFill>
                  <a:srgbClr val="FF0065"/>
                </a:solidFill>
                <a:cs typeface="Times New Roman" panose="02020603050405020304" pitchFamily="18" charset="0"/>
              </a:rPr>
              <a:t>)</a:t>
            </a:r>
            <a:endParaRPr lang="zh-CN" altLang="zh-CN" sz="1700">
              <a:cs typeface="Times New Roman" panose="02020603050405020304" pitchFamily="18" charset="0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20750" y="3205163"/>
            <a:ext cx="3306763" cy="12461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9" name="object 9"/>
          <p:cNvSpPr/>
          <p:nvPr/>
        </p:nvSpPr>
        <p:spPr>
          <a:xfrm>
            <a:off x="963613" y="4833938"/>
            <a:ext cx="3306762" cy="124618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0" name="object 10"/>
          <p:cNvSpPr txBox="1"/>
          <p:nvPr/>
        </p:nvSpPr>
        <p:spPr>
          <a:xfrm>
            <a:off x="4489450" y="3587750"/>
            <a:ext cx="3919538" cy="273050"/>
          </a:xfrm>
          <a:prstGeom prst="rect">
            <a:avLst/>
          </a:prstGeom>
        </p:spPr>
        <p:txBody>
          <a:bodyPr lIns="0" tIns="10317" rIns="0" bIns="0">
            <a:spAutoFit/>
          </a:bodyPr>
          <a:lstStyle>
            <a:lvl1pPr marL="952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75"/>
              </a:spcBef>
            </a:pPr>
            <a:r>
              <a:rPr lang="zh-CN" altLang="zh-CN" sz="1700" b="1">
                <a:solidFill>
                  <a:srgbClr val="FF0065"/>
                </a:solidFill>
                <a:cs typeface="Times New Roman" panose="02020603050405020304" pitchFamily="18" charset="0"/>
              </a:rPr>
              <a:t>R</a:t>
            </a:r>
            <a:r>
              <a:rPr lang="zh-CN" altLang="zh-CN" sz="1700" b="1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∩</a:t>
            </a:r>
            <a:r>
              <a:rPr lang="zh-CN" altLang="zh-CN" sz="1700" b="1">
                <a:solidFill>
                  <a:srgbClr val="FF0065"/>
                </a:solidFill>
                <a:cs typeface="Times New Roman" panose="02020603050405020304" pitchFamily="18" charset="0"/>
              </a:rPr>
              <a:t>S(</a:t>
            </a:r>
            <a:r>
              <a:rPr lang="zh-CN" altLang="zh-CN" sz="1700" b="1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既参加体育队又参加文艺队的学生</a:t>
            </a:r>
            <a:r>
              <a:rPr lang="zh-CN" altLang="zh-CN" sz="1700" b="1">
                <a:solidFill>
                  <a:srgbClr val="FF0065"/>
                </a:solidFill>
                <a:cs typeface="Times New Roman" panose="02020603050405020304" pitchFamily="18" charset="0"/>
              </a:rPr>
              <a:t>)</a:t>
            </a:r>
            <a:endParaRPr lang="zh-CN" altLang="zh-CN" sz="1700">
              <a:cs typeface="Times New Roman" panose="02020603050405020304" pitchFamily="18" charset="0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619625" y="3925888"/>
            <a:ext cx="3314700" cy="71596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4" name="灯片编号占位符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A6568E1-4089-4561-919E-9D2F37D3F2B0}" type="slidenum">
              <a:rPr lang="en-US" altLang="zh-CN" smtClean="0"/>
              <a:pPr>
                <a:defRPr/>
              </a:pPr>
              <a:t>34</a:t>
            </a:fld>
            <a:endParaRPr lang="en-US" altLang="zh-CN" dirty="0"/>
          </a:p>
        </p:txBody>
      </p:sp>
      <p:sp>
        <p:nvSpPr>
          <p:cNvPr id="15" name="标题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eaLnBrk="1" hangingPunct="1">
              <a:spcBef>
                <a:spcPts val="75"/>
              </a:spcBef>
            </a:pPr>
            <a:r>
              <a:rPr lang="zh-CN" altLang="zh-CN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(1) “</a:t>
            </a:r>
            <a:r>
              <a:rPr lang="zh-CN" altLang="zh-CN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交</a:t>
            </a:r>
            <a:r>
              <a:rPr lang="zh-CN" altLang="zh-CN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r>
              <a:rPr lang="zh-CN" altLang="zh-CN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操作</a:t>
            </a:r>
            <a:endParaRPr lang="zh-CN" altLang="zh-CN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323528" y="1556792"/>
            <a:ext cx="8424936" cy="4253147"/>
          </a:xfrm>
          <a:prstGeom prst="rect">
            <a:avLst/>
          </a:prstGeom>
        </p:spPr>
        <p:txBody>
          <a:bodyPr wrap="square" lIns="0" tIns="89594" rIns="0" bIns="0">
            <a:spAutoFit/>
          </a:bodyPr>
          <a:lstStyle>
            <a:lvl1pPr marL="242888" indent="-242888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700"/>
              </a:spcBef>
              <a:buFont typeface="Wingdings" panose="05000000000000000000" pitchFamily="2" charset="2"/>
              <a:buChar char=""/>
            </a:pPr>
            <a:r>
              <a:rPr lang="zh-CN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交操作的示例三</a:t>
            </a:r>
            <a:r>
              <a:rPr lang="zh-CN" altLang="zh-CN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zh-CN" altLang="zh-CN" b="1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语义的</a:t>
            </a:r>
            <a:r>
              <a:rPr lang="zh-CN" altLang="zh-CN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zh-CN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eaLnBrk="1" hangingPunct="1">
              <a:lnSpc>
                <a:spcPts val="2700"/>
              </a:lnSpc>
              <a:spcBef>
                <a:spcPts val="175"/>
              </a:spcBef>
              <a:buClr>
                <a:srgbClr val="000000"/>
              </a:buClr>
              <a:buFont typeface="+mj-ea"/>
              <a:buAutoNum type="circleNumDbPlain"/>
            </a:pPr>
            <a:r>
              <a:rPr lang="zh-CN" altLang="zh-CN" sz="2200" b="1" dirty="0">
                <a:solidFill>
                  <a:srgbClr val="6565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若</a:t>
            </a:r>
            <a:r>
              <a:rPr lang="zh-CN" altLang="zh-CN" sz="2200" b="1" dirty="0">
                <a:solidFill>
                  <a:srgbClr val="6565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zh-CN" altLang="zh-CN" sz="2200" b="1" dirty="0">
                <a:solidFill>
                  <a:srgbClr val="6565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为年龄小于</a:t>
            </a:r>
            <a:r>
              <a:rPr lang="zh-CN" altLang="zh-CN" sz="2200" b="1" dirty="0">
                <a:solidFill>
                  <a:srgbClr val="6565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</a:t>
            </a:r>
            <a:r>
              <a:rPr lang="zh-CN" altLang="zh-CN" sz="2200" b="1" dirty="0">
                <a:solidFill>
                  <a:srgbClr val="6565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岁的学生，</a:t>
            </a:r>
            <a:r>
              <a:rPr lang="zh-CN" altLang="zh-CN" sz="2200" b="1" dirty="0">
                <a:solidFill>
                  <a:srgbClr val="6565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zh-CN" altLang="zh-CN" sz="2200" b="1" dirty="0">
                <a:solidFill>
                  <a:srgbClr val="6565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为计算机学院的学生， 则</a:t>
            </a:r>
            <a:r>
              <a:rPr lang="zh-CN" altLang="zh-CN" sz="2200" b="1" dirty="0">
                <a:solidFill>
                  <a:srgbClr val="6565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zh-CN" altLang="zh-CN" sz="2200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altLang="zh-CN" sz="2200" b="1" dirty="0">
              <a:solidFill>
                <a:srgbClr val="FF006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eaLnBrk="1" hangingPunct="1">
              <a:lnSpc>
                <a:spcPts val="2700"/>
              </a:lnSpc>
              <a:spcBef>
                <a:spcPts val="175"/>
              </a:spcBef>
              <a:buClr>
                <a:srgbClr val="000000"/>
              </a:buClr>
            </a:pPr>
            <a:r>
              <a:rPr lang="en-US" altLang="zh-CN" sz="2200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</a:t>
            </a:r>
            <a:r>
              <a:rPr lang="zh-CN" altLang="zh-CN" sz="2200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 </a:t>
            </a:r>
            <a:r>
              <a:rPr lang="zh-CN" altLang="zh-CN" sz="2200" b="1" dirty="0">
                <a:solidFill>
                  <a:srgbClr val="FF0065"/>
                </a:solidFill>
                <a:latin typeface="Symbol" panose="05050102010706020507" pitchFamily="18" charset="2"/>
              </a:rPr>
              <a:t></a:t>
            </a:r>
            <a:r>
              <a:rPr lang="zh-CN" altLang="zh-CN" sz="2200" b="1" dirty="0">
                <a:solidFill>
                  <a:srgbClr val="FF0065"/>
                </a:solidFill>
                <a:cs typeface="Times New Roman" panose="02020603050405020304" pitchFamily="18" charset="0"/>
              </a:rPr>
              <a:t> </a:t>
            </a:r>
            <a:r>
              <a:rPr lang="zh-CN" altLang="zh-CN" sz="2200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zh-CN" altLang="zh-CN" sz="2200" b="1" dirty="0">
                <a:solidFill>
                  <a:srgbClr val="6565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为计算机学院并且年龄小于</a:t>
            </a:r>
            <a:r>
              <a:rPr lang="zh-CN" altLang="zh-CN" sz="2200" b="1" dirty="0">
                <a:solidFill>
                  <a:srgbClr val="6565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</a:t>
            </a:r>
            <a:r>
              <a:rPr lang="zh-CN" altLang="zh-CN" sz="2200" b="1" dirty="0">
                <a:solidFill>
                  <a:srgbClr val="6565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岁的所有学生</a:t>
            </a:r>
            <a:endParaRPr lang="zh-CN" altLang="zh-CN" sz="22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marL="457200" indent="-457200" eaLnBrk="1" hangingPunct="1">
              <a:spcBef>
                <a:spcPts val="400"/>
              </a:spcBef>
              <a:buFont typeface="+mj-ea"/>
              <a:buAutoNum type="circleNumDbPlain"/>
            </a:pPr>
            <a:r>
              <a:rPr lang="zh-CN" altLang="zh-CN" sz="2200" b="1" dirty="0">
                <a:solidFill>
                  <a:srgbClr val="6565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若</a:t>
            </a:r>
            <a:r>
              <a:rPr lang="zh-CN" altLang="zh-CN" sz="2200" b="1" dirty="0">
                <a:solidFill>
                  <a:srgbClr val="6565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zh-CN" altLang="zh-CN" sz="2200" b="1" dirty="0">
                <a:solidFill>
                  <a:srgbClr val="6565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为学过数据库课程的学生，</a:t>
            </a:r>
            <a:r>
              <a:rPr lang="zh-CN" altLang="zh-CN" sz="2200" b="1" dirty="0">
                <a:solidFill>
                  <a:srgbClr val="6565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zh-CN" altLang="zh-CN" sz="2200" b="1" dirty="0">
                <a:solidFill>
                  <a:srgbClr val="6565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为学过自控理论课程的学生， 则</a:t>
            </a:r>
            <a:r>
              <a:rPr lang="zh-CN" altLang="zh-CN" sz="2200" b="1" dirty="0">
                <a:solidFill>
                  <a:srgbClr val="6565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zh-CN" altLang="zh-CN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eaLnBrk="1" hangingPunct="1">
              <a:spcBef>
                <a:spcPts val="638"/>
              </a:spcBef>
            </a:pPr>
            <a:r>
              <a:rPr lang="en-US" altLang="zh-CN" sz="2200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</a:t>
            </a:r>
            <a:r>
              <a:rPr lang="zh-CN" altLang="zh-CN" sz="2200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 </a:t>
            </a:r>
            <a:r>
              <a:rPr lang="zh-CN" altLang="zh-CN" sz="2200" b="1" dirty="0">
                <a:solidFill>
                  <a:srgbClr val="FF0065"/>
                </a:solidFill>
                <a:latin typeface="Symbol" panose="05050102010706020507" pitchFamily="18" charset="2"/>
              </a:rPr>
              <a:t></a:t>
            </a:r>
            <a:r>
              <a:rPr lang="zh-CN" altLang="zh-CN" sz="2200" b="1" dirty="0">
                <a:solidFill>
                  <a:srgbClr val="FF0065"/>
                </a:solidFill>
                <a:cs typeface="Times New Roman" panose="02020603050405020304" pitchFamily="18" charset="0"/>
              </a:rPr>
              <a:t> </a:t>
            </a:r>
            <a:r>
              <a:rPr lang="zh-CN" altLang="zh-CN" sz="2200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zh-CN" altLang="zh-CN" sz="2200" b="1" dirty="0">
                <a:solidFill>
                  <a:srgbClr val="6565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为既学过数据库课程又学过自控理论课程的所有学生</a:t>
            </a:r>
            <a:endParaRPr lang="zh-CN" altLang="zh-CN" sz="22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eaLnBrk="1" hangingPunct="1">
              <a:spcBef>
                <a:spcPts val="600"/>
              </a:spcBef>
              <a:buFont typeface="Wingdings" panose="05000000000000000000" pitchFamily="2" charset="2"/>
              <a:buChar char=""/>
            </a:pPr>
            <a:r>
              <a:rPr lang="zh-CN" altLang="zh-CN" sz="27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汉语中的</a:t>
            </a:r>
            <a:r>
              <a:rPr lang="zh-CN" altLang="zh-CN" sz="2700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zh-CN" altLang="zh-CN" sz="2700" b="1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既</a:t>
            </a:r>
            <a:r>
              <a:rPr lang="zh-CN" altLang="zh-CN" sz="2700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r>
              <a:rPr lang="zh-CN" altLang="zh-CN" sz="2700" b="1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又</a:t>
            </a:r>
            <a:r>
              <a:rPr lang="zh-CN" altLang="zh-CN" sz="2700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…”</a:t>
            </a:r>
            <a:r>
              <a:rPr lang="zh-CN" altLang="zh-CN" sz="2700" b="1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，</a:t>
            </a:r>
            <a:r>
              <a:rPr lang="zh-CN" altLang="zh-CN" sz="2700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“…, </a:t>
            </a:r>
            <a:r>
              <a:rPr lang="zh-CN" altLang="zh-CN" sz="2700" b="1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并且</a:t>
            </a:r>
            <a:r>
              <a:rPr lang="zh-CN" altLang="zh-CN" sz="2700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…”</a:t>
            </a:r>
            <a:r>
              <a:rPr lang="zh-CN" altLang="zh-CN" sz="27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通常意义是交运算的要求</a:t>
            </a:r>
            <a:endParaRPr lang="zh-CN" altLang="zh-CN" sz="27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eaLnBrk="1" hangingPunct="1">
              <a:spcBef>
                <a:spcPts val="750"/>
              </a:spcBef>
              <a:buSzPct val="95000"/>
              <a:buFont typeface="Wingdings" panose="05000000000000000000" pitchFamily="2" charset="2"/>
              <a:buChar char=""/>
            </a:pPr>
            <a:r>
              <a:rPr lang="zh-CN" altLang="zh-CN" b="1" u="sng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首先要准确理解汉语的查询要求，然后再找到正确的操作</a:t>
            </a:r>
            <a:endParaRPr lang="zh-CN" altLang="zh-CN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eaLnBrk="1" hangingPunct="1">
              <a:spcBef>
                <a:spcPts val="488"/>
              </a:spcBef>
              <a:buFont typeface="Wingdings" panose="05000000000000000000" pitchFamily="2" charset="2"/>
              <a:buChar char=""/>
            </a:pPr>
            <a:r>
              <a:rPr lang="zh-CN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同学可举出更多的示例</a:t>
            </a:r>
            <a:r>
              <a:rPr lang="zh-CN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zh-CN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A6568E1-4089-4561-919E-9D2F37D3F2B0}" type="slidenum">
              <a:rPr lang="en-US" altLang="zh-CN" smtClean="0"/>
              <a:pPr>
                <a:defRPr/>
              </a:pPr>
              <a:t>35</a:t>
            </a:fld>
            <a:endParaRPr lang="en-US" altLang="zh-CN" dirty="0"/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zh-CN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(1) “</a:t>
            </a:r>
            <a:r>
              <a:rPr lang="zh-CN" altLang="zh-CN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交</a:t>
            </a:r>
            <a:r>
              <a:rPr lang="zh-CN" altLang="zh-CN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r>
              <a:rPr lang="zh-CN" altLang="zh-CN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操作</a:t>
            </a:r>
            <a:endParaRPr lang="zh-CN" altLang="en-US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604357" y="1393824"/>
            <a:ext cx="7992888" cy="5149809"/>
          </a:xfrm>
          <a:prstGeom prst="rect">
            <a:avLst/>
          </a:prstGeom>
        </p:spPr>
        <p:txBody>
          <a:bodyPr wrap="square" lIns="0" tIns="10860" rIns="0" bIns="0">
            <a:spAutoFit/>
          </a:bodyPr>
          <a:lstStyle>
            <a:lvl1pPr marL="9525">
              <a:tabLst>
                <a:tab pos="242888" algn="l"/>
                <a:tab pos="88423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tabLst>
                <a:tab pos="242888" algn="l"/>
                <a:tab pos="88423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tabLst>
                <a:tab pos="242888" algn="l"/>
                <a:tab pos="88423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tabLst>
                <a:tab pos="242888" algn="l"/>
                <a:tab pos="88423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tabLst>
                <a:tab pos="242888" algn="l"/>
                <a:tab pos="88423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  <a:tab pos="88423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  <a:tab pos="88423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  <a:tab pos="88423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  <a:tab pos="88423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9000"/>
              </a:lnSpc>
              <a:spcBef>
                <a:spcPts val="88"/>
              </a:spcBef>
              <a:buClr>
                <a:srgbClr val="000000"/>
              </a:buClr>
              <a:buFont typeface="Wingdings" panose="05000000000000000000" pitchFamily="2" charset="2"/>
              <a:buChar char=""/>
            </a:pPr>
            <a:r>
              <a:rPr lang="zh-CN" altLang="zh-CN" sz="2000" b="1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定义</a:t>
            </a: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：给定关系</a:t>
            </a:r>
            <a:r>
              <a:rPr lang="zh-CN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和关系</a:t>
            </a:r>
            <a:r>
              <a:rPr lang="zh-CN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S, R</a:t>
            </a: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与</a:t>
            </a:r>
            <a:r>
              <a:rPr lang="zh-CN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的</a:t>
            </a:r>
            <a:r>
              <a:rPr lang="zh-CN" altLang="zh-CN" sz="2000" b="1" dirty="0">
                <a:latin typeface="Symbol" panose="05050102010706020507" pitchFamily="18" charset="2"/>
              </a:rPr>
              <a:t></a:t>
            </a: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连接运算结果也是一个关系，记 作	，它由关系</a:t>
            </a:r>
            <a:r>
              <a:rPr lang="zh-CN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和关系</a:t>
            </a:r>
            <a:r>
              <a:rPr lang="zh-CN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的笛卡尔积中</a:t>
            </a:r>
            <a:r>
              <a:rPr lang="zh-CN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选取</a:t>
            </a:r>
            <a:r>
              <a:rPr lang="zh-CN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中属性</a:t>
            </a:r>
            <a:r>
              <a:rPr lang="zh-CN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与</a:t>
            </a:r>
            <a:r>
              <a:rPr lang="zh-CN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中属性</a:t>
            </a:r>
            <a:endParaRPr lang="zh-CN" altLang="zh-CN" sz="20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eaLnBrk="1" hangingPunct="1">
              <a:spcBef>
                <a:spcPts val="638"/>
              </a:spcBef>
            </a:pPr>
            <a:r>
              <a:rPr lang="zh-CN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之间满足</a:t>
            </a:r>
            <a:r>
              <a:rPr lang="zh-CN" altLang="zh-CN" sz="2000" b="1" dirty="0">
                <a:latin typeface="Symbol" panose="05050102010706020507" pitchFamily="18" charset="2"/>
              </a:rPr>
              <a:t></a:t>
            </a:r>
            <a:r>
              <a:rPr lang="zh-CN" altLang="zh-CN" sz="2000" b="1" dirty="0">
                <a:cs typeface="Times New Roman" panose="02020603050405020304" pitchFamily="18" charset="0"/>
              </a:rPr>
              <a:t> </a:t>
            </a: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条件的元组构成。</a:t>
            </a:r>
            <a:endParaRPr lang="zh-CN" altLang="zh-CN" sz="20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eaLnBrk="1" hangingPunct="1">
              <a:spcBef>
                <a:spcPts val="25"/>
              </a:spcBef>
            </a:pPr>
            <a:endParaRPr lang="zh-CN" altLang="zh-CN" sz="2800" dirty="0"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Char char=""/>
            </a:pPr>
            <a:r>
              <a:rPr lang="zh-CN" altLang="zh-CN" sz="2000" b="1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数学描述</a:t>
            </a: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：</a:t>
            </a:r>
            <a:endParaRPr lang="zh-CN" altLang="zh-CN" sz="20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eaLnBrk="1" hangingPunct="1"/>
            <a:endParaRPr lang="zh-CN" altLang="zh-CN" sz="2500" dirty="0">
              <a:cs typeface="Times New Roman" panose="02020603050405020304" pitchFamily="18" charset="0"/>
            </a:endParaRPr>
          </a:p>
          <a:p>
            <a:pPr eaLnBrk="1" hangingPunct="1"/>
            <a:r>
              <a:rPr lang="zh-CN" altLang="zh-CN" sz="1700" dirty="0">
                <a:latin typeface="Wingdings" panose="05000000000000000000" pitchFamily="2" charset="2"/>
              </a:rPr>
              <a:t></a:t>
            </a:r>
            <a:r>
              <a:rPr lang="zh-CN" altLang="zh-CN" sz="1700" dirty="0">
                <a:cs typeface="Times New Roman" panose="02020603050405020304" pitchFamily="18" charset="0"/>
              </a:rPr>
              <a:t> </a:t>
            </a:r>
            <a:r>
              <a:rPr lang="zh-CN" altLang="zh-CN" sz="2000" b="1" dirty="0">
                <a:solidFill>
                  <a:srgbClr val="3333CC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设</a:t>
            </a:r>
            <a:r>
              <a:rPr lang="zh-CN" altLang="zh-CN" sz="2000" b="1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R(A</a:t>
            </a:r>
            <a:r>
              <a:rPr lang="zh-CN" altLang="zh-CN" sz="2000" b="1" baseline="-17000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zh-CN" altLang="zh-CN" sz="2000" b="1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,A</a:t>
            </a:r>
            <a:r>
              <a:rPr lang="zh-CN" altLang="zh-CN" sz="2000" b="1" baseline="-17000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zh-CN" altLang="zh-CN" sz="2000" b="1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… ,A</a:t>
            </a:r>
            <a:r>
              <a:rPr lang="zh-CN" altLang="zh-CN" sz="2000" b="1" baseline="-17000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zh-CN" altLang="zh-CN" sz="2000" b="1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), </a:t>
            </a:r>
            <a:r>
              <a:rPr lang="zh-CN" altLang="zh-CN" sz="2000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zh-CN" altLang="zh-CN" sz="2000" b="1" dirty="0">
                <a:solidFill>
                  <a:srgbClr val="3333CC"/>
                </a:solidFill>
                <a:latin typeface="Symbol" panose="05050102010706020507" pitchFamily="18" charset="2"/>
              </a:rPr>
              <a:t></a:t>
            </a:r>
            <a:r>
              <a:rPr lang="zh-CN" altLang="zh-CN" sz="2000" b="1" dirty="0">
                <a:solidFill>
                  <a:srgbClr val="3333CC"/>
                </a:solidFill>
                <a:cs typeface="Times New Roman" panose="02020603050405020304" pitchFamily="18" charset="0"/>
              </a:rPr>
              <a:t> </a:t>
            </a:r>
            <a:r>
              <a:rPr lang="zh-CN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{ </a:t>
            </a:r>
            <a:r>
              <a:rPr lang="zh-CN" altLang="zh-CN" sz="2000" b="1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zh-CN" altLang="zh-CN" sz="2000" b="1" baseline="-17000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zh-CN" altLang="zh-CN" sz="2000" b="1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,A</a:t>
            </a:r>
            <a:r>
              <a:rPr lang="zh-CN" altLang="zh-CN" sz="2000" b="1" baseline="-17000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zh-CN" altLang="zh-CN" sz="2000" b="1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… ,A</a:t>
            </a:r>
            <a:r>
              <a:rPr lang="zh-CN" altLang="zh-CN" sz="2000" b="1" baseline="-17000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 </a:t>
            </a:r>
            <a:r>
              <a:rPr lang="zh-CN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  <a:p>
            <a:pPr eaLnBrk="1" hangingPunct="1">
              <a:spcBef>
                <a:spcPts val="500"/>
              </a:spcBef>
            </a:pPr>
            <a:r>
              <a:rPr lang="zh-CN" altLang="zh-CN" sz="2000" dirty="0">
                <a:solidFill>
                  <a:srgbClr val="3333CC"/>
                </a:solidFill>
                <a:latin typeface="Wingdings" panose="05000000000000000000" pitchFamily="2" charset="2"/>
              </a:rPr>
              <a:t></a:t>
            </a:r>
            <a:r>
              <a:rPr lang="zh-CN" altLang="zh-CN" sz="2000" dirty="0">
                <a:solidFill>
                  <a:srgbClr val="3333CC"/>
                </a:solidFill>
                <a:cs typeface="Times New Roman" panose="02020603050405020304" pitchFamily="18" charset="0"/>
              </a:rPr>
              <a:t> </a:t>
            </a:r>
            <a:r>
              <a:rPr lang="zh-CN" altLang="zh-CN" sz="2000" b="1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S(B</a:t>
            </a:r>
            <a:r>
              <a:rPr lang="zh-CN" altLang="zh-CN" sz="2000" b="1" baseline="-17000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 </a:t>
            </a:r>
            <a:r>
              <a:rPr lang="zh-CN" altLang="zh-CN" sz="2000" b="1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,B</a:t>
            </a:r>
            <a:r>
              <a:rPr lang="zh-CN" altLang="zh-CN" sz="2000" b="1" baseline="-17000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zh-CN" altLang="zh-CN" sz="2000" b="1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… ,B</a:t>
            </a:r>
            <a:r>
              <a:rPr lang="zh-CN" altLang="zh-CN" sz="2000" b="1" baseline="-17000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zh-CN" altLang="zh-CN" sz="2000" b="1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), </a:t>
            </a:r>
            <a:r>
              <a:rPr lang="zh-CN" altLang="zh-CN" sz="2000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zh-CN" altLang="zh-CN" sz="2000" b="1" dirty="0">
                <a:solidFill>
                  <a:srgbClr val="3333CC"/>
                </a:solidFill>
                <a:latin typeface="Symbol" panose="05050102010706020507" pitchFamily="18" charset="2"/>
              </a:rPr>
              <a:t></a:t>
            </a:r>
            <a:r>
              <a:rPr lang="zh-CN" altLang="zh-CN" sz="2000" b="1" dirty="0">
                <a:solidFill>
                  <a:srgbClr val="3333CC"/>
                </a:solidFill>
                <a:cs typeface="Times New Roman" panose="02020603050405020304" pitchFamily="18" charset="0"/>
              </a:rPr>
              <a:t> </a:t>
            </a:r>
            <a:r>
              <a:rPr lang="zh-CN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{ </a:t>
            </a:r>
            <a:r>
              <a:rPr lang="zh-CN" altLang="zh-CN" sz="2000" b="1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zh-CN" altLang="zh-CN" sz="2000" b="1" baseline="-17000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 </a:t>
            </a:r>
            <a:r>
              <a:rPr lang="zh-CN" altLang="zh-CN" sz="2000" b="1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,B</a:t>
            </a:r>
            <a:r>
              <a:rPr lang="zh-CN" altLang="zh-CN" sz="2000" b="1" baseline="-17000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zh-CN" altLang="zh-CN" sz="2000" b="1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… ,B</a:t>
            </a:r>
            <a:r>
              <a:rPr lang="zh-CN" altLang="zh-CN" sz="2000" b="1" baseline="-17000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 </a:t>
            </a:r>
            <a:r>
              <a:rPr lang="zh-CN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  <a:p>
            <a:pPr eaLnBrk="1" hangingPunct="1">
              <a:spcBef>
                <a:spcPts val="713"/>
              </a:spcBef>
            </a:pPr>
            <a:r>
              <a:rPr lang="zh-CN" altLang="zh-CN" sz="2000" dirty="0">
                <a:solidFill>
                  <a:srgbClr val="3333CC"/>
                </a:solidFill>
                <a:latin typeface="Wingdings" panose="05000000000000000000" pitchFamily="2" charset="2"/>
              </a:rPr>
              <a:t></a:t>
            </a:r>
            <a:r>
              <a:rPr lang="zh-CN" altLang="zh-CN" sz="2000" dirty="0">
                <a:solidFill>
                  <a:srgbClr val="3333CC"/>
                </a:solidFill>
                <a:cs typeface="Times New Roman" panose="02020603050405020304" pitchFamily="18" charset="0"/>
              </a:rPr>
              <a:t> </a:t>
            </a:r>
            <a:r>
              <a:rPr lang="zh-CN" altLang="zh-CN" sz="2000" b="1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zh-CN" altLang="zh-CN" sz="2000" b="1" dirty="0">
                <a:solidFill>
                  <a:srgbClr val="3333CC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是关系</a:t>
            </a:r>
            <a:r>
              <a:rPr lang="zh-CN" altLang="zh-CN" sz="2000" b="1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zh-CN" altLang="zh-CN" sz="2000" b="1" dirty="0">
                <a:solidFill>
                  <a:srgbClr val="3333CC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中的元组，</a:t>
            </a:r>
            <a:r>
              <a:rPr lang="zh-CN" altLang="zh-CN" sz="2000" b="1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zh-CN" altLang="zh-CN" sz="2000" b="1" dirty="0">
                <a:solidFill>
                  <a:srgbClr val="3333CC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是关系</a:t>
            </a:r>
            <a:r>
              <a:rPr lang="zh-CN" altLang="zh-CN" sz="2000" b="1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zh-CN" altLang="zh-CN" sz="2000" b="1" dirty="0">
                <a:solidFill>
                  <a:srgbClr val="3333CC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中的元组</a:t>
            </a:r>
            <a:endParaRPr lang="zh-CN" altLang="zh-CN" sz="20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eaLnBrk="1" hangingPunct="1">
              <a:spcBef>
                <a:spcPts val="625"/>
              </a:spcBef>
            </a:pPr>
            <a:r>
              <a:rPr lang="zh-CN" altLang="zh-CN" sz="2000" dirty="0">
                <a:solidFill>
                  <a:srgbClr val="3333CC"/>
                </a:solidFill>
                <a:latin typeface="Wingdings" panose="05000000000000000000" pitchFamily="2" charset="2"/>
              </a:rPr>
              <a:t></a:t>
            </a:r>
            <a:r>
              <a:rPr lang="zh-CN" altLang="zh-CN" sz="2000" dirty="0">
                <a:solidFill>
                  <a:srgbClr val="3333CC"/>
                </a:solidFill>
                <a:cs typeface="Times New Roman" panose="02020603050405020304" pitchFamily="18" charset="0"/>
              </a:rPr>
              <a:t> </a:t>
            </a:r>
            <a:r>
              <a:rPr lang="zh-CN" altLang="zh-CN" sz="2000" b="1" dirty="0">
                <a:solidFill>
                  <a:srgbClr val="3333CC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属性</a:t>
            </a:r>
            <a:r>
              <a:rPr lang="zh-CN" altLang="zh-CN" sz="2000" b="1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zh-CN" altLang="zh-CN" sz="2000" b="1" dirty="0">
                <a:solidFill>
                  <a:srgbClr val="3333CC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和属性</a:t>
            </a:r>
            <a:r>
              <a:rPr lang="zh-CN" altLang="zh-CN" sz="2000" b="1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zh-CN" altLang="zh-CN" sz="2000" b="1" dirty="0">
                <a:solidFill>
                  <a:srgbClr val="3333CC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具有可比性</a:t>
            </a:r>
            <a:endParaRPr lang="zh-CN" altLang="zh-CN" sz="20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eaLnBrk="1" hangingPunct="1">
              <a:spcBef>
                <a:spcPts val="525"/>
              </a:spcBef>
            </a:pPr>
            <a:r>
              <a:rPr lang="zh-CN" altLang="zh-CN" sz="2000" dirty="0">
                <a:solidFill>
                  <a:srgbClr val="3333CC"/>
                </a:solidFill>
                <a:latin typeface="Wingdings" panose="05000000000000000000" pitchFamily="2" charset="2"/>
              </a:rPr>
              <a:t></a:t>
            </a:r>
            <a:r>
              <a:rPr lang="zh-CN" altLang="zh-CN" sz="2000" dirty="0">
                <a:solidFill>
                  <a:srgbClr val="3333CC"/>
                </a:solidFill>
                <a:cs typeface="Times New Roman" panose="02020603050405020304" pitchFamily="18" charset="0"/>
              </a:rPr>
              <a:t> </a:t>
            </a:r>
            <a:r>
              <a:rPr lang="zh-CN" altLang="zh-CN" sz="2000" b="1" dirty="0">
                <a:solidFill>
                  <a:srgbClr val="3333CC"/>
                </a:solidFill>
                <a:latin typeface="Symbol" panose="05050102010706020507" pitchFamily="18" charset="2"/>
              </a:rPr>
              <a:t></a:t>
            </a:r>
            <a:r>
              <a:rPr lang="zh-CN" altLang="zh-CN" sz="2000" b="1" dirty="0">
                <a:solidFill>
                  <a:srgbClr val="3333CC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是比较运算符</a:t>
            </a:r>
            <a:r>
              <a:rPr lang="zh-CN" altLang="zh-CN" sz="2000" b="1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zh-CN" altLang="zh-CN" sz="2000" b="1" dirty="0">
                <a:solidFill>
                  <a:srgbClr val="3333CC"/>
                </a:solidFill>
                <a:latin typeface="Symbol" panose="05050102010706020507" pitchFamily="18" charset="2"/>
              </a:rPr>
              <a:t></a:t>
            </a:r>
            <a:r>
              <a:rPr lang="zh-CN" altLang="zh-CN" sz="2000" b="1" dirty="0">
                <a:solidFill>
                  <a:srgbClr val="3333CC"/>
                </a:solidFill>
                <a:cs typeface="Times New Roman" panose="02020603050405020304" pitchFamily="18" charset="0"/>
              </a:rPr>
              <a:t> </a:t>
            </a:r>
            <a:r>
              <a:rPr lang="zh-CN" altLang="zh-CN" sz="2000" b="1" dirty="0">
                <a:solidFill>
                  <a:srgbClr val="3333CC"/>
                </a:solidFill>
                <a:latin typeface="Symbol" panose="05050102010706020507" pitchFamily="18" charset="2"/>
              </a:rPr>
              <a:t></a:t>
            </a:r>
            <a:r>
              <a:rPr lang="zh-CN" altLang="zh-CN" sz="2000" b="1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{ </a:t>
            </a:r>
            <a:r>
              <a:rPr lang="zh-CN" altLang="zh-CN" sz="2000" b="1" dirty="0">
                <a:solidFill>
                  <a:srgbClr val="3333CC"/>
                </a:solidFill>
                <a:latin typeface="Symbol" panose="05050102010706020507" pitchFamily="18" charset="2"/>
              </a:rPr>
              <a:t></a:t>
            </a:r>
            <a:r>
              <a:rPr lang="zh-CN" altLang="zh-CN" sz="2000" b="1" dirty="0">
                <a:solidFill>
                  <a:srgbClr val="3333CC"/>
                </a:solidFill>
                <a:cs typeface="Times New Roman" panose="02020603050405020304" pitchFamily="18" charset="0"/>
              </a:rPr>
              <a:t> </a:t>
            </a:r>
            <a:r>
              <a:rPr lang="zh-CN" altLang="zh-CN" sz="2000" b="1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zh-CN" altLang="zh-CN" sz="2000" b="1" dirty="0">
                <a:solidFill>
                  <a:srgbClr val="3333CC"/>
                </a:solidFill>
                <a:latin typeface="Symbol" panose="05050102010706020507" pitchFamily="18" charset="2"/>
              </a:rPr>
              <a:t></a:t>
            </a:r>
            <a:r>
              <a:rPr lang="zh-CN" altLang="zh-CN" sz="2000" b="1" dirty="0">
                <a:solidFill>
                  <a:srgbClr val="3333CC"/>
                </a:solidFill>
                <a:cs typeface="Times New Roman" panose="02020603050405020304" pitchFamily="18" charset="0"/>
              </a:rPr>
              <a:t> </a:t>
            </a:r>
            <a:r>
              <a:rPr lang="zh-CN" altLang="zh-CN" sz="2000" b="1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zh-CN" altLang="zh-CN" sz="2000" b="1" dirty="0">
                <a:solidFill>
                  <a:srgbClr val="3333CC"/>
                </a:solidFill>
                <a:latin typeface="Symbol" panose="05050102010706020507" pitchFamily="18" charset="2"/>
              </a:rPr>
              <a:t></a:t>
            </a:r>
            <a:r>
              <a:rPr lang="zh-CN" altLang="zh-CN" sz="2000" b="1" dirty="0">
                <a:solidFill>
                  <a:srgbClr val="3333CC"/>
                </a:solidFill>
                <a:cs typeface="Times New Roman" panose="02020603050405020304" pitchFamily="18" charset="0"/>
              </a:rPr>
              <a:t> </a:t>
            </a:r>
            <a:r>
              <a:rPr lang="zh-CN" altLang="zh-CN" sz="2000" b="1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zh-CN" altLang="zh-CN" sz="2000" b="1" dirty="0">
                <a:solidFill>
                  <a:srgbClr val="3333CC"/>
                </a:solidFill>
                <a:latin typeface="Symbol" panose="05050102010706020507" pitchFamily="18" charset="2"/>
              </a:rPr>
              <a:t></a:t>
            </a:r>
            <a:r>
              <a:rPr lang="zh-CN" altLang="zh-CN" sz="2000" b="1" dirty="0">
                <a:solidFill>
                  <a:srgbClr val="3333CC"/>
                </a:solidFill>
                <a:cs typeface="Times New Roman" panose="02020603050405020304" pitchFamily="18" charset="0"/>
              </a:rPr>
              <a:t> </a:t>
            </a:r>
            <a:r>
              <a:rPr lang="zh-CN" altLang="zh-CN" sz="2000" b="1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zh-CN" altLang="zh-CN" sz="2000" b="1" dirty="0">
                <a:solidFill>
                  <a:srgbClr val="3333CC"/>
                </a:solidFill>
                <a:latin typeface="Symbol" panose="05050102010706020507" pitchFamily="18" charset="2"/>
              </a:rPr>
              <a:t></a:t>
            </a:r>
            <a:r>
              <a:rPr lang="zh-CN" altLang="zh-CN" sz="2000" b="1" dirty="0">
                <a:solidFill>
                  <a:srgbClr val="3333CC"/>
                </a:solidFill>
                <a:cs typeface="Times New Roman" panose="02020603050405020304" pitchFamily="18" charset="0"/>
              </a:rPr>
              <a:t> </a:t>
            </a:r>
            <a:r>
              <a:rPr lang="zh-CN" altLang="zh-CN" sz="2000" b="1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zh-CN" altLang="zh-CN" sz="2000" b="1" dirty="0">
                <a:solidFill>
                  <a:srgbClr val="3333CC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≠</a:t>
            </a:r>
            <a:r>
              <a:rPr lang="zh-CN" altLang="zh-CN" sz="2000" b="1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  <a:endParaRPr lang="zh-CN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ts val="1063"/>
              </a:spcBef>
              <a:buFont typeface="Wingdings" panose="05000000000000000000" pitchFamily="2" charset="2"/>
              <a:buChar char=""/>
            </a:pPr>
            <a:r>
              <a:rPr lang="zh-CN" altLang="zh-CN" sz="2600" b="1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在实际应用中，</a:t>
            </a:r>
            <a:r>
              <a:rPr lang="zh-CN" altLang="zh-CN" sz="2600" b="1" dirty="0">
                <a:solidFill>
                  <a:srgbClr val="FF0065"/>
                </a:solidFill>
                <a:latin typeface="Symbol" panose="05050102010706020507" pitchFamily="18" charset="2"/>
              </a:rPr>
              <a:t></a:t>
            </a:r>
            <a:r>
              <a:rPr lang="zh-CN" altLang="zh-CN" sz="2600" b="1" dirty="0">
                <a:solidFill>
                  <a:srgbClr val="FF0065"/>
                </a:solidFill>
                <a:cs typeface="Times New Roman" panose="02020603050405020304" pitchFamily="18" charset="0"/>
              </a:rPr>
              <a:t>-</a:t>
            </a:r>
            <a:r>
              <a:rPr lang="zh-CN" altLang="zh-CN" sz="2600" b="1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连接操作经常与投影、选择操作一起使用</a:t>
            </a:r>
            <a:endParaRPr lang="zh-CN" altLang="zh-CN" sz="26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73497" y="1830388"/>
            <a:ext cx="635000" cy="36353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6" name="object 6"/>
          <p:cNvSpPr/>
          <p:nvPr/>
        </p:nvSpPr>
        <p:spPr>
          <a:xfrm>
            <a:off x="2339752" y="2708920"/>
            <a:ext cx="3911600" cy="56673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 dirty="0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A6568E1-4089-4561-919E-9D2F37D3F2B0}" type="slidenum">
              <a:rPr lang="en-US" altLang="zh-CN" smtClean="0"/>
              <a:pPr>
                <a:defRPr/>
              </a:pPr>
              <a:t>36</a:t>
            </a:fld>
            <a:endParaRPr lang="en-US" altLang="zh-CN" dirty="0"/>
          </a:p>
        </p:txBody>
      </p:sp>
      <p:sp>
        <p:nvSpPr>
          <p:cNvPr id="11" name="标题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zh-CN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(2) “</a:t>
            </a:r>
            <a:r>
              <a:rPr lang="zh-CN" altLang="zh-CN" dirty="0">
                <a:solidFill>
                  <a:srgbClr val="F8F8F8"/>
                </a:solidFill>
                <a:latin typeface="Symbol" panose="05050102010706020507" pitchFamily="18" charset="2"/>
              </a:rPr>
              <a:t></a:t>
            </a:r>
            <a:r>
              <a:rPr lang="zh-CN" altLang="zh-CN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zh-CN" altLang="zh-CN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连接</a:t>
            </a:r>
            <a:r>
              <a:rPr lang="zh-CN" altLang="zh-CN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r>
              <a:rPr lang="zh-CN" altLang="zh-CN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操作</a:t>
            </a:r>
            <a:endParaRPr lang="zh-CN" alt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395536" y="1536701"/>
            <a:ext cx="5563145" cy="410527"/>
          </a:xfrm>
          <a:prstGeom prst="rect">
            <a:avLst/>
          </a:prstGeom>
        </p:spPr>
        <p:txBody>
          <a:bodyPr wrap="square" lIns="0" tIns="10317" rIns="0" bIns="0">
            <a:spAutoFit/>
          </a:bodyPr>
          <a:lstStyle>
            <a:lvl1pPr marL="242888" indent="-231775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75"/>
              </a:spcBef>
              <a:buFont typeface="Wingdings" panose="05000000000000000000" pitchFamily="2" charset="2"/>
              <a:buChar char=""/>
            </a:pPr>
            <a:r>
              <a:rPr lang="zh-CN" altLang="zh-CN" sz="2600" b="1" dirty="0">
                <a:latin typeface="Symbol" panose="05050102010706020507" pitchFamily="18" charset="2"/>
              </a:rPr>
              <a:t></a:t>
            </a:r>
            <a:r>
              <a:rPr lang="zh-CN" altLang="zh-CN" sz="2600" b="1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zh-CN" altLang="zh-CN" sz="26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连接</a:t>
            </a:r>
            <a:r>
              <a:rPr lang="zh-CN" altLang="zh-CN" sz="2600" b="1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zh-CN" altLang="zh-CN" sz="2600" b="1" dirty="0">
                <a:latin typeface="Symbol" panose="05050102010706020507" pitchFamily="18" charset="2"/>
              </a:rPr>
              <a:t></a:t>
            </a:r>
            <a:r>
              <a:rPr lang="zh-CN" altLang="zh-CN" sz="2600" b="1" dirty="0">
                <a:latin typeface="Arial" panose="020B0604020202020204" pitchFamily="34" charset="0"/>
                <a:cs typeface="Arial" panose="020B0604020202020204" pitchFamily="34" charset="0"/>
              </a:rPr>
              <a:t>-Join)</a:t>
            </a:r>
            <a:r>
              <a:rPr lang="zh-CN" altLang="zh-CN" sz="26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操作的示例一</a:t>
            </a:r>
            <a:r>
              <a:rPr lang="zh-CN" altLang="zh-CN" sz="2600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zh-CN" altLang="zh-CN" sz="2600" b="1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抽象的</a:t>
            </a:r>
            <a:r>
              <a:rPr lang="zh-CN" altLang="zh-CN" sz="2600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zh-CN" altLang="zh-CN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201738" y="2332038"/>
            <a:ext cx="919162" cy="107473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7" name="object 7"/>
          <p:cNvSpPr/>
          <p:nvPr/>
        </p:nvSpPr>
        <p:spPr>
          <a:xfrm>
            <a:off x="3808413" y="3094038"/>
            <a:ext cx="1808162" cy="21574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8" name="object 8"/>
          <p:cNvSpPr/>
          <p:nvPr/>
        </p:nvSpPr>
        <p:spPr>
          <a:xfrm>
            <a:off x="2516188" y="2332038"/>
            <a:ext cx="919162" cy="133508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9" name="object 9"/>
          <p:cNvSpPr/>
          <p:nvPr/>
        </p:nvSpPr>
        <p:spPr>
          <a:xfrm>
            <a:off x="1749425" y="2913063"/>
            <a:ext cx="292100" cy="184150"/>
          </a:xfrm>
          <a:custGeom>
            <a:avLst/>
            <a:gdLst/>
            <a:ahLst/>
            <a:cxnLst/>
            <a:rect l="l" t="t" r="r" b="b"/>
            <a:pathLst>
              <a:path w="342900" h="216535">
                <a:moveTo>
                  <a:pt x="171450" y="0"/>
                </a:moveTo>
                <a:lnTo>
                  <a:pt x="117043" y="5547"/>
                </a:lnTo>
                <a:lnTo>
                  <a:pt x="69951" y="20970"/>
                </a:lnTo>
                <a:lnTo>
                  <a:pt x="32918" y="44439"/>
                </a:lnTo>
                <a:lnTo>
                  <a:pt x="8686" y="74127"/>
                </a:lnTo>
                <a:lnTo>
                  <a:pt x="0" y="108204"/>
                </a:lnTo>
                <a:lnTo>
                  <a:pt x="8686" y="142280"/>
                </a:lnTo>
                <a:lnTo>
                  <a:pt x="32918" y="171968"/>
                </a:lnTo>
                <a:lnTo>
                  <a:pt x="69951" y="195437"/>
                </a:lnTo>
                <a:lnTo>
                  <a:pt x="117043" y="210860"/>
                </a:lnTo>
                <a:lnTo>
                  <a:pt x="171450" y="216408"/>
                </a:lnTo>
                <a:lnTo>
                  <a:pt x="225564" y="210860"/>
                </a:lnTo>
                <a:lnTo>
                  <a:pt x="272619" y="195437"/>
                </a:lnTo>
                <a:lnTo>
                  <a:pt x="309762" y="171968"/>
                </a:lnTo>
                <a:lnTo>
                  <a:pt x="334140" y="142280"/>
                </a:lnTo>
                <a:lnTo>
                  <a:pt x="342900" y="108204"/>
                </a:lnTo>
                <a:lnTo>
                  <a:pt x="334140" y="74127"/>
                </a:lnTo>
                <a:lnTo>
                  <a:pt x="309762" y="44439"/>
                </a:lnTo>
                <a:lnTo>
                  <a:pt x="272619" y="20970"/>
                </a:lnTo>
                <a:lnTo>
                  <a:pt x="225564" y="5547"/>
                </a:lnTo>
                <a:lnTo>
                  <a:pt x="171450" y="0"/>
                </a:lnTo>
                <a:close/>
              </a:path>
            </a:pathLst>
          </a:custGeom>
          <a:ln w="28575">
            <a:solidFill>
              <a:srgbClr val="FF00FF"/>
            </a:solidFill>
            <a:prstDash val="dash"/>
          </a:ln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0" name="object 10"/>
          <p:cNvSpPr/>
          <p:nvPr/>
        </p:nvSpPr>
        <p:spPr>
          <a:xfrm>
            <a:off x="1749425" y="3184525"/>
            <a:ext cx="292100" cy="184150"/>
          </a:xfrm>
          <a:custGeom>
            <a:avLst/>
            <a:gdLst/>
            <a:ahLst/>
            <a:cxnLst/>
            <a:rect l="l" t="t" r="r" b="b"/>
            <a:pathLst>
              <a:path w="342900" h="215900">
                <a:moveTo>
                  <a:pt x="171450" y="0"/>
                </a:moveTo>
                <a:lnTo>
                  <a:pt x="117043" y="5547"/>
                </a:lnTo>
                <a:lnTo>
                  <a:pt x="69951" y="20970"/>
                </a:lnTo>
                <a:lnTo>
                  <a:pt x="32918" y="44439"/>
                </a:lnTo>
                <a:lnTo>
                  <a:pt x="8686" y="74127"/>
                </a:lnTo>
                <a:lnTo>
                  <a:pt x="0" y="108203"/>
                </a:lnTo>
                <a:lnTo>
                  <a:pt x="8686" y="142201"/>
                </a:lnTo>
                <a:lnTo>
                  <a:pt x="32918" y="171699"/>
                </a:lnTo>
                <a:lnTo>
                  <a:pt x="69951" y="194943"/>
                </a:lnTo>
                <a:lnTo>
                  <a:pt x="117043" y="210177"/>
                </a:lnTo>
                <a:lnTo>
                  <a:pt x="171450" y="215645"/>
                </a:lnTo>
                <a:lnTo>
                  <a:pt x="225564" y="210177"/>
                </a:lnTo>
                <a:lnTo>
                  <a:pt x="272619" y="194943"/>
                </a:lnTo>
                <a:lnTo>
                  <a:pt x="309762" y="171699"/>
                </a:lnTo>
                <a:lnTo>
                  <a:pt x="334140" y="142201"/>
                </a:lnTo>
                <a:lnTo>
                  <a:pt x="342900" y="108203"/>
                </a:lnTo>
                <a:lnTo>
                  <a:pt x="334140" y="74127"/>
                </a:lnTo>
                <a:lnTo>
                  <a:pt x="309762" y="44439"/>
                </a:lnTo>
                <a:lnTo>
                  <a:pt x="272619" y="20970"/>
                </a:lnTo>
                <a:lnTo>
                  <a:pt x="225564" y="5547"/>
                </a:lnTo>
                <a:lnTo>
                  <a:pt x="171450" y="0"/>
                </a:lnTo>
                <a:close/>
              </a:path>
            </a:pathLst>
          </a:custGeom>
          <a:ln w="28575">
            <a:solidFill>
              <a:srgbClr val="FF00FF"/>
            </a:solidFill>
            <a:prstDash val="dash"/>
          </a:ln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1" name="object 11"/>
          <p:cNvSpPr/>
          <p:nvPr/>
        </p:nvSpPr>
        <p:spPr>
          <a:xfrm>
            <a:off x="2606675" y="2901950"/>
            <a:ext cx="292100" cy="184150"/>
          </a:xfrm>
          <a:custGeom>
            <a:avLst/>
            <a:gdLst/>
            <a:ahLst/>
            <a:cxnLst/>
            <a:rect l="l" t="t" r="r" b="b"/>
            <a:pathLst>
              <a:path w="342900" h="215900">
                <a:moveTo>
                  <a:pt x="171450" y="0"/>
                </a:moveTo>
                <a:lnTo>
                  <a:pt x="117335" y="5468"/>
                </a:lnTo>
                <a:lnTo>
                  <a:pt x="70280" y="20702"/>
                </a:lnTo>
                <a:lnTo>
                  <a:pt x="33137" y="43946"/>
                </a:lnTo>
                <a:lnTo>
                  <a:pt x="8759" y="73444"/>
                </a:lnTo>
                <a:lnTo>
                  <a:pt x="0" y="107441"/>
                </a:lnTo>
                <a:lnTo>
                  <a:pt x="8759" y="141811"/>
                </a:lnTo>
                <a:lnTo>
                  <a:pt x="33137" y="171535"/>
                </a:lnTo>
                <a:lnTo>
                  <a:pt x="70280" y="194895"/>
                </a:lnTo>
                <a:lnTo>
                  <a:pt x="117335" y="210171"/>
                </a:lnTo>
                <a:lnTo>
                  <a:pt x="171450" y="215646"/>
                </a:lnTo>
                <a:lnTo>
                  <a:pt x="225856" y="210171"/>
                </a:lnTo>
                <a:lnTo>
                  <a:pt x="272948" y="194895"/>
                </a:lnTo>
                <a:lnTo>
                  <a:pt x="309981" y="171535"/>
                </a:lnTo>
                <a:lnTo>
                  <a:pt x="334213" y="141811"/>
                </a:lnTo>
                <a:lnTo>
                  <a:pt x="342899" y="107441"/>
                </a:lnTo>
                <a:lnTo>
                  <a:pt x="334213" y="73444"/>
                </a:lnTo>
                <a:lnTo>
                  <a:pt x="309981" y="43946"/>
                </a:lnTo>
                <a:lnTo>
                  <a:pt x="272948" y="20702"/>
                </a:lnTo>
                <a:lnTo>
                  <a:pt x="225856" y="5468"/>
                </a:lnTo>
                <a:lnTo>
                  <a:pt x="171450" y="0"/>
                </a:lnTo>
                <a:close/>
              </a:path>
            </a:pathLst>
          </a:custGeom>
          <a:ln w="28575">
            <a:solidFill>
              <a:srgbClr val="FF00FF"/>
            </a:solidFill>
            <a:prstDash val="dash"/>
          </a:ln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2" name="object 12"/>
          <p:cNvSpPr/>
          <p:nvPr/>
        </p:nvSpPr>
        <p:spPr>
          <a:xfrm>
            <a:off x="2617788" y="3162300"/>
            <a:ext cx="292100" cy="185738"/>
          </a:xfrm>
          <a:custGeom>
            <a:avLst/>
            <a:gdLst/>
            <a:ahLst/>
            <a:cxnLst/>
            <a:rect l="l" t="t" r="r" b="b"/>
            <a:pathLst>
              <a:path w="342900" h="215900">
                <a:moveTo>
                  <a:pt x="171450" y="0"/>
                </a:moveTo>
                <a:lnTo>
                  <a:pt x="117335" y="5468"/>
                </a:lnTo>
                <a:lnTo>
                  <a:pt x="70280" y="20702"/>
                </a:lnTo>
                <a:lnTo>
                  <a:pt x="33137" y="43946"/>
                </a:lnTo>
                <a:lnTo>
                  <a:pt x="8759" y="73444"/>
                </a:lnTo>
                <a:lnTo>
                  <a:pt x="0" y="107441"/>
                </a:lnTo>
                <a:lnTo>
                  <a:pt x="8759" y="141811"/>
                </a:lnTo>
                <a:lnTo>
                  <a:pt x="33137" y="171535"/>
                </a:lnTo>
                <a:lnTo>
                  <a:pt x="70280" y="194895"/>
                </a:lnTo>
                <a:lnTo>
                  <a:pt x="117335" y="210171"/>
                </a:lnTo>
                <a:lnTo>
                  <a:pt x="171450" y="215646"/>
                </a:lnTo>
                <a:lnTo>
                  <a:pt x="225564" y="210171"/>
                </a:lnTo>
                <a:lnTo>
                  <a:pt x="272619" y="194895"/>
                </a:lnTo>
                <a:lnTo>
                  <a:pt x="309762" y="171535"/>
                </a:lnTo>
                <a:lnTo>
                  <a:pt x="334140" y="141811"/>
                </a:lnTo>
                <a:lnTo>
                  <a:pt x="342900" y="107441"/>
                </a:lnTo>
                <a:lnTo>
                  <a:pt x="334140" y="73444"/>
                </a:lnTo>
                <a:lnTo>
                  <a:pt x="309762" y="43946"/>
                </a:lnTo>
                <a:lnTo>
                  <a:pt x="272619" y="20702"/>
                </a:lnTo>
                <a:lnTo>
                  <a:pt x="225564" y="5468"/>
                </a:lnTo>
                <a:lnTo>
                  <a:pt x="171450" y="0"/>
                </a:lnTo>
                <a:close/>
              </a:path>
            </a:pathLst>
          </a:custGeom>
          <a:ln w="28575">
            <a:solidFill>
              <a:srgbClr val="FF00FF"/>
            </a:solidFill>
            <a:prstDash val="dash"/>
          </a:ln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3" name="object 13"/>
          <p:cNvSpPr/>
          <p:nvPr/>
        </p:nvSpPr>
        <p:spPr>
          <a:xfrm>
            <a:off x="2606675" y="3424238"/>
            <a:ext cx="292100" cy="184150"/>
          </a:xfrm>
          <a:custGeom>
            <a:avLst/>
            <a:gdLst/>
            <a:ahLst/>
            <a:cxnLst/>
            <a:rect l="l" t="t" r="r" b="b"/>
            <a:pathLst>
              <a:path w="342900" h="215900">
                <a:moveTo>
                  <a:pt x="171450" y="0"/>
                </a:moveTo>
                <a:lnTo>
                  <a:pt x="117335" y="5468"/>
                </a:lnTo>
                <a:lnTo>
                  <a:pt x="70280" y="20702"/>
                </a:lnTo>
                <a:lnTo>
                  <a:pt x="33137" y="43946"/>
                </a:lnTo>
                <a:lnTo>
                  <a:pt x="8759" y="73444"/>
                </a:lnTo>
                <a:lnTo>
                  <a:pt x="0" y="107441"/>
                </a:lnTo>
                <a:lnTo>
                  <a:pt x="8759" y="141811"/>
                </a:lnTo>
                <a:lnTo>
                  <a:pt x="33137" y="171535"/>
                </a:lnTo>
                <a:lnTo>
                  <a:pt x="70280" y="194895"/>
                </a:lnTo>
                <a:lnTo>
                  <a:pt x="117335" y="210171"/>
                </a:lnTo>
                <a:lnTo>
                  <a:pt x="171450" y="215646"/>
                </a:lnTo>
                <a:lnTo>
                  <a:pt x="225856" y="210171"/>
                </a:lnTo>
                <a:lnTo>
                  <a:pt x="272948" y="194895"/>
                </a:lnTo>
                <a:lnTo>
                  <a:pt x="309981" y="171535"/>
                </a:lnTo>
                <a:lnTo>
                  <a:pt x="334213" y="141811"/>
                </a:lnTo>
                <a:lnTo>
                  <a:pt x="342899" y="107441"/>
                </a:lnTo>
                <a:lnTo>
                  <a:pt x="334213" y="73444"/>
                </a:lnTo>
                <a:lnTo>
                  <a:pt x="309981" y="43946"/>
                </a:lnTo>
                <a:lnTo>
                  <a:pt x="272948" y="20702"/>
                </a:lnTo>
                <a:lnTo>
                  <a:pt x="225856" y="5468"/>
                </a:lnTo>
                <a:lnTo>
                  <a:pt x="171450" y="0"/>
                </a:lnTo>
                <a:close/>
              </a:path>
            </a:pathLst>
          </a:custGeom>
          <a:ln w="28575">
            <a:solidFill>
              <a:srgbClr val="FF00FF"/>
            </a:solidFill>
            <a:prstDash val="dash"/>
          </a:ln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4" name="object 14"/>
          <p:cNvSpPr/>
          <p:nvPr/>
        </p:nvSpPr>
        <p:spPr>
          <a:xfrm>
            <a:off x="2063750" y="3009900"/>
            <a:ext cx="542925" cy="0"/>
          </a:xfrm>
          <a:custGeom>
            <a:avLst/>
            <a:gdLst/>
            <a:ahLst/>
            <a:cxnLst/>
            <a:rect l="l" t="t" r="r" b="b"/>
            <a:pathLst>
              <a:path w="635000">
                <a:moveTo>
                  <a:pt x="0" y="0"/>
                </a:moveTo>
                <a:lnTo>
                  <a:pt x="634746" y="0"/>
                </a:lnTo>
              </a:path>
            </a:pathLst>
          </a:custGeom>
          <a:ln w="28575">
            <a:solidFill>
              <a:srgbClr val="FF00FF"/>
            </a:solidFill>
            <a:prstDash val="dash"/>
          </a:ln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5" name="object 15"/>
          <p:cNvSpPr/>
          <p:nvPr/>
        </p:nvSpPr>
        <p:spPr>
          <a:xfrm>
            <a:off x="2063750" y="3009900"/>
            <a:ext cx="554038" cy="250825"/>
          </a:xfrm>
          <a:custGeom>
            <a:avLst/>
            <a:gdLst/>
            <a:ahLst/>
            <a:cxnLst/>
            <a:rect l="l" t="t" r="r" b="b"/>
            <a:pathLst>
              <a:path w="647700" h="292735">
                <a:moveTo>
                  <a:pt x="0" y="0"/>
                </a:moveTo>
                <a:lnTo>
                  <a:pt x="647700" y="292608"/>
                </a:lnTo>
              </a:path>
            </a:pathLst>
          </a:custGeom>
          <a:ln w="28575">
            <a:solidFill>
              <a:srgbClr val="FF00FF"/>
            </a:solidFill>
            <a:prstDash val="dash"/>
          </a:ln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6" name="object 16"/>
          <p:cNvSpPr/>
          <p:nvPr/>
        </p:nvSpPr>
        <p:spPr>
          <a:xfrm>
            <a:off x="2030413" y="3303588"/>
            <a:ext cx="576262" cy="239712"/>
          </a:xfrm>
          <a:custGeom>
            <a:avLst/>
            <a:gdLst/>
            <a:ahLst/>
            <a:cxnLst/>
            <a:rect l="l" t="t" r="r" b="b"/>
            <a:pathLst>
              <a:path w="673100" h="280035">
                <a:moveTo>
                  <a:pt x="0" y="0"/>
                </a:moveTo>
                <a:lnTo>
                  <a:pt x="672846" y="279654"/>
                </a:lnTo>
              </a:path>
            </a:pathLst>
          </a:custGeom>
          <a:ln w="28575">
            <a:solidFill>
              <a:srgbClr val="FF00FF"/>
            </a:solidFill>
            <a:prstDash val="dash"/>
          </a:ln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7" name="object 17"/>
          <p:cNvSpPr/>
          <p:nvPr/>
        </p:nvSpPr>
        <p:spPr>
          <a:xfrm>
            <a:off x="2038350" y="3016250"/>
            <a:ext cx="595313" cy="463550"/>
          </a:xfrm>
          <a:custGeom>
            <a:avLst/>
            <a:gdLst/>
            <a:ahLst/>
            <a:cxnLst/>
            <a:rect l="l" t="t" r="r" b="b"/>
            <a:pathLst>
              <a:path w="695960" h="542925">
                <a:moveTo>
                  <a:pt x="0" y="0"/>
                </a:moveTo>
                <a:lnTo>
                  <a:pt x="695706" y="542543"/>
                </a:lnTo>
              </a:path>
            </a:pathLst>
          </a:custGeom>
          <a:ln w="28575">
            <a:solidFill>
              <a:srgbClr val="FF00FF"/>
            </a:solidFill>
            <a:prstDash val="dash"/>
          </a:ln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8" name="object 18"/>
          <p:cNvSpPr/>
          <p:nvPr/>
        </p:nvSpPr>
        <p:spPr>
          <a:xfrm>
            <a:off x="6148388" y="2319338"/>
            <a:ext cx="2157412" cy="211777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21" name="灯片编号占位符 20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A6568E1-4089-4561-919E-9D2F37D3F2B0}" type="slidenum">
              <a:rPr lang="en-US" altLang="zh-CN" smtClean="0"/>
              <a:pPr>
                <a:defRPr/>
              </a:pPr>
              <a:t>37</a:t>
            </a:fld>
            <a:endParaRPr lang="en-US" altLang="zh-CN" dirty="0"/>
          </a:p>
        </p:txBody>
      </p:sp>
      <p:sp>
        <p:nvSpPr>
          <p:cNvPr id="22" name="标题 2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zh-CN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(2) “</a:t>
            </a:r>
            <a:r>
              <a:rPr lang="zh-CN" altLang="zh-CN" dirty="0">
                <a:solidFill>
                  <a:srgbClr val="F8F8F8"/>
                </a:solidFill>
                <a:latin typeface="Symbol" panose="05050102010706020507" pitchFamily="18" charset="2"/>
              </a:rPr>
              <a:t></a:t>
            </a:r>
            <a:r>
              <a:rPr lang="zh-CN" altLang="zh-CN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zh-CN" altLang="zh-CN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连接</a:t>
            </a:r>
            <a:r>
              <a:rPr lang="zh-CN" altLang="zh-CN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r>
              <a:rPr lang="zh-CN" altLang="zh-CN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操作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1127125" y="3149724"/>
            <a:ext cx="3231780" cy="128382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6" name="object 6"/>
          <p:cNvSpPr/>
          <p:nvPr/>
        </p:nvSpPr>
        <p:spPr>
          <a:xfrm>
            <a:off x="4464050" y="3144962"/>
            <a:ext cx="2196182" cy="12921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9" name="object 9"/>
          <p:cNvSpPr txBox="1"/>
          <p:nvPr/>
        </p:nvSpPr>
        <p:spPr>
          <a:xfrm>
            <a:off x="879475" y="1347788"/>
            <a:ext cx="6405563" cy="3570732"/>
          </a:xfrm>
          <a:prstGeom prst="rect">
            <a:avLst/>
          </a:prstGeom>
        </p:spPr>
        <p:txBody>
          <a:bodyPr lIns="0" tIns="86879" rIns="0" bIns="0">
            <a:spAutoFit/>
          </a:bodyPr>
          <a:lstStyle>
            <a:lvl1pPr marL="242888" indent="-231775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688"/>
              </a:spcBef>
              <a:buClr>
                <a:srgbClr val="000000"/>
              </a:buClr>
              <a:buFont typeface="Wingdings" panose="05000000000000000000" pitchFamily="2" charset="2"/>
              <a:buChar char=""/>
            </a:pPr>
            <a:r>
              <a:rPr lang="zh-CN" altLang="zh-CN" b="1" dirty="0">
                <a:solidFill>
                  <a:srgbClr val="FF0065"/>
                </a:solidFill>
                <a:latin typeface="Symbol" panose="05050102010706020507" pitchFamily="18" charset="2"/>
              </a:rPr>
              <a:t></a:t>
            </a:r>
            <a:r>
              <a:rPr lang="zh-CN" altLang="zh-CN" b="1" dirty="0">
                <a:solidFill>
                  <a:srgbClr val="FF0065"/>
                </a:solidFill>
                <a:cs typeface="Times New Roman" panose="02020603050405020304" pitchFamily="18" charset="0"/>
              </a:rPr>
              <a:t>-</a:t>
            </a:r>
            <a:r>
              <a:rPr lang="zh-CN" altLang="zh-CN" b="1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连接</a:t>
            </a:r>
            <a:r>
              <a:rPr lang="zh-CN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操作的示例二</a:t>
            </a:r>
            <a:r>
              <a:rPr lang="zh-CN" altLang="zh-CN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zh-CN" altLang="zh-CN" b="1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语义的</a:t>
            </a:r>
            <a:r>
              <a:rPr lang="zh-CN" altLang="zh-CN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zh-CN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113" indent="0" eaLnBrk="1" hangingPunct="1">
              <a:spcBef>
                <a:spcPts val="600"/>
              </a:spcBef>
            </a:pP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员工表</a:t>
            </a:r>
            <a:r>
              <a:rPr lang="zh-CN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Worker(W#, Wname, Wsex, Wage, Degree) ,</a:t>
            </a:r>
            <a:endParaRPr lang="zh-CN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ts val="625"/>
              </a:spcBef>
            </a:pP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职位限定表</a:t>
            </a:r>
            <a:r>
              <a:rPr lang="zh-CN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Position(Type, Limited_Degree)</a:t>
            </a:r>
            <a:endParaRPr lang="zh-CN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ts val="613"/>
              </a:spcBef>
            </a:pP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竞聘的岗位必须由不低于其最低学历要求的人员担任，</a:t>
            </a:r>
            <a:endParaRPr lang="zh-CN" altLang="zh-CN" sz="20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eaLnBrk="1" hangingPunct="1">
              <a:spcBef>
                <a:spcPts val="13"/>
              </a:spcBef>
            </a:pPr>
            <a:endParaRPr lang="zh-CN" altLang="zh-CN" sz="2200" dirty="0">
              <a:cs typeface="Times New Roman" panose="02020603050405020304" pitchFamily="18" charset="0"/>
            </a:endParaRPr>
          </a:p>
          <a:p>
            <a:pPr algn="r" eaLnBrk="1" hangingPunct="1"/>
            <a:endParaRPr lang="en-US" altLang="zh-CN" sz="13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 eaLnBrk="1" hangingPunct="1"/>
            <a:r>
              <a:rPr lang="zh-CN" altLang="zh-CN" sz="13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1: 本科</a:t>
            </a:r>
            <a:endParaRPr lang="zh-CN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 eaLnBrk="1" hangingPunct="1">
              <a:spcBef>
                <a:spcPts val="500"/>
              </a:spcBef>
            </a:pPr>
            <a:r>
              <a:rPr lang="zh-CN" altLang="zh-CN" sz="13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2: 硕士</a:t>
            </a:r>
            <a:endParaRPr lang="zh-CN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 eaLnBrk="1" hangingPunct="1">
              <a:spcBef>
                <a:spcPts val="488"/>
              </a:spcBef>
            </a:pPr>
            <a:r>
              <a:rPr lang="zh-CN" altLang="zh-CN" sz="13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3: 博士</a:t>
            </a:r>
            <a:endParaRPr lang="zh-CN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spcBef>
                <a:spcPts val="25"/>
              </a:spcBef>
            </a:pPr>
            <a:endParaRPr lang="en-US" altLang="zh-CN" sz="2500" dirty="0"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Char char=""/>
            </a:pP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找出所有员工的姓名及其可能竞聘职位的名称</a:t>
            </a:r>
            <a:endParaRPr lang="zh-CN" altLang="zh-CN" sz="20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976438" y="5192365"/>
            <a:ext cx="2240818" cy="318743"/>
          </a:xfrm>
          <a:prstGeom prst="rect">
            <a:avLst/>
          </a:prstGeom>
        </p:spPr>
        <p:txBody>
          <a:bodyPr wrap="square" lIns="0" tIns="10860" rIns="0" bIns="0">
            <a:spAutoFit/>
          </a:bodyPr>
          <a:lstStyle>
            <a:lvl1pPr marL="952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88"/>
              </a:spcBef>
            </a:pPr>
            <a:r>
              <a:rPr lang="zh-CN" altLang="zh-CN" sz="3000" b="1" baseline="12000">
                <a:solidFill>
                  <a:srgbClr val="FF006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π</a:t>
            </a:r>
            <a:r>
              <a:rPr lang="zh-CN" altLang="zh-CN" sz="1000" b="1">
                <a:latin typeface="Arial" panose="020B0604020202020204" pitchFamily="34" charset="0"/>
                <a:cs typeface="Arial" panose="020B0604020202020204" pitchFamily="34" charset="0"/>
              </a:rPr>
              <a:t>Wname, Type</a:t>
            </a:r>
            <a:r>
              <a:rPr lang="zh-CN" altLang="zh-CN" sz="2500" b="1" baseline="14000">
                <a:latin typeface="Arial" panose="020B0604020202020204" pitchFamily="34" charset="0"/>
                <a:cs typeface="Arial" panose="020B0604020202020204" pitchFamily="34" charset="0"/>
              </a:rPr>
              <a:t>(worker</a:t>
            </a:r>
            <a:endParaRPr lang="zh-CN" altLang="zh-CN" sz="2500" baseline="14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354512" y="5181252"/>
            <a:ext cx="1153591" cy="273567"/>
          </a:xfrm>
          <a:prstGeom prst="rect">
            <a:avLst/>
          </a:prstGeom>
        </p:spPr>
        <p:txBody>
          <a:bodyPr wrap="square" lIns="0" tIns="10317" rIns="0" bIns="0">
            <a:spAutoFit/>
          </a:bodyPr>
          <a:lstStyle/>
          <a:p>
            <a:pPr marL="10860" eaLnBrk="1" hangingPunct="1">
              <a:spcBef>
                <a:spcPts val="81"/>
              </a:spcBef>
              <a:defRPr/>
            </a:pPr>
            <a:r>
              <a:rPr sz="1710" b="1" spc="-9" dirty="0">
                <a:latin typeface="Arial"/>
                <a:cs typeface="Arial"/>
              </a:rPr>
              <a:t>position)</a:t>
            </a:r>
            <a:endParaRPr sz="171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301999" y="5419377"/>
            <a:ext cx="1959739" cy="195632"/>
          </a:xfrm>
          <a:prstGeom prst="rect">
            <a:avLst/>
          </a:prstGeom>
        </p:spPr>
        <p:txBody>
          <a:bodyPr wrap="square" lIns="0" tIns="10860" rIns="0" bIns="0">
            <a:spAutoFit/>
          </a:bodyPr>
          <a:lstStyle/>
          <a:p>
            <a:pPr marL="10860" eaLnBrk="1" hangingPunct="1">
              <a:spcBef>
                <a:spcPts val="86"/>
              </a:spcBef>
              <a:defRPr/>
            </a:pPr>
            <a:r>
              <a:rPr sz="1200" b="1" spc="-4" dirty="0">
                <a:solidFill>
                  <a:srgbClr val="FF0065"/>
                </a:solidFill>
                <a:latin typeface="Arial"/>
                <a:cs typeface="Arial"/>
              </a:rPr>
              <a:t>degree </a:t>
            </a:r>
            <a:r>
              <a:rPr sz="1200" b="1" dirty="0">
                <a:solidFill>
                  <a:srgbClr val="FF0065"/>
                </a:solidFill>
                <a:latin typeface="Arial"/>
                <a:cs typeface="Arial"/>
              </a:rPr>
              <a:t>&gt;=</a:t>
            </a:r>
            <a:r>
              <a:rPr sz="1200" b="1" spc="-56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FF0065"/>
                </a:solidFill>
                <a:latin typeface="Arial"/>
                <a:cs typeface="Arial"/>
              </a:rPr>
              <a:t>limited_degree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923928" y="5157192"/>
            <a:ext cx="368914" cy="203720"/>
          </a:xfrm>
          <a:custGeom>
            <a:avLst/>
            <a:gdLst/>
            <a:ahLst/>
            <a:cxnLst/>
            <a:rect l="l" t="t" r="r" b="b"/>
            <a:pathLst>
              <a:path w="350520" h="135254">
                <a:moveTo>
                  <a:pt x="0" y="134874"/>
                </a:moveTo>
                <a:lnTo>
                  <a:pt x="0" y="0"/>
                </a:lnTo>
                <a:lnTo>
                  <a:pt x="350520" y="134874"/>
                </a:lnTo>
                <a:lnTo>
                  <a:pt x="350520" y="0"/>
                </a:lnTo>
                <a:lnTo>
                  <a:pt x="0" y="134874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4" name="灯片编号占位符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A6568E1-4089-4561-919E-9D2F37D3F2B0}" type="slidenum">
              <a:rPr lang="en-US" altLang="zh-CN" smtClean="0"/>
              <a:pPr>
                <a:defRPr/>
              </a:pPr>
              <a:t>38</a:t>
            </a:fld>
            <a:endParaRPr lang="en-US" altLang="zh-CN" dirty="0"/>
          </a:p>
        </p:txBody>
      </p:sp>
      <p:sp>
        <p:nvSpPr>
          <p:cNvPr id="15" name="标题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zh-CN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(2) “</a:t>
            </a:r>
            <a:r>
              <a:rPr lang="zh-CN" altLang="zh-CN" dirty="0">
                <a:solidFill>
                  <a:srgbClr val="F8F8F8"/>
                </a:solidFill>
                <a:latin typeface="Symbol" panose="05050102010706020507" pitchFamily="18" charset="2"/>
              </a:rPr>
              <a:t></a:t>
            </a:r>
            <a:r>
              <a:rPr lang="zh-CN" altLang="zh-CN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zh-CN" altLang="zh-CN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连接</a:t>
            </a:r>
            <a:r>
              <a:rPr lang="zh-CN" altLang="zh-CN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r>
              <a:rPr lang="zh-CN" altLang="zh-CN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操作</a:t>
            </a:r>
            <a:endParaRPr lang="zh-CN" altLang="en-US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2020888" y="4027488"/>
            <a:ext cx="4503737" cy="1384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8" name="object 8"/>
          <p:cNvSpPr/>
          <p:nvPr/>
        </p:nvSpPr>
        <p:spPr>
          <a:xfrm>
            <a:off x="2016125" y="2003425"/>
            <a:ext cx="4511675" cy="192246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9" name="object 9"/>
          <p:cNvSpPr/>
          <p:nvPr/>
        </p:nvSpPr>
        <p:spPr>
          <a:xfrm>
            <a:off x="2036763" y="2530475"/>
            <a:ext cx="4478337" cy="152400"/>
          </a:xfrm>
          <a:custGeom>
            <a:avLst/>
            <a:gdLst/>
            <a:ahLst/>
            <a:cxnLst/>
            <a:rect l="l" t="t" r="r" b="b"/>
            <a:pathLst>
              <a:path w="5238750" h="179069">
                <a:moveTo>
                  <a:pt x="2619756" y="0"/>
                </a:moveTo>
                <a:lnTo>
                  <a:pt x="2538147" y="42"/>
                </a:lnTo>
                <a:lnTo>
                  <a:pt x="2457160" y="170"/>
                </a:lnTo>
                <a:lnTo>
                  <a:pt x="2376832" y="382"/>
                </a:lnTo>
                <a:lnTo>
                  <a:pt x="2297198" y="676"/>
                </a:lnTo>
                <a:lnTo>
                  <a:pt x="2218295" y="1052"/>
                </a:lnTo>
                <a:lnTo>
                  <a:pt x="2140159" y="1507"/>
                </a:lnTo>
                <a:lnTo>
                  <a:pt x="2062826" y="2041"/>
                </a:lnTo>
                <a:lnTo>
                  <a:pt x="1986333" y="2653"/>
                </a:lnTo>
                <a:lnTo>
                  <a:pt x="1910715" y="3340"/>
                </a:lnTo>
                <a:lnTo>
                  <a:pt x="1836009" y="4103"/>
                </a:lnTo>
                <a:lnTo>
                  <a:pt x="1762251" y="4939"/>
                </a:lnTo>
                <a:lnTo>
                  <a:pt x="1689477" y="5848"/>
                </a:lnTo>
                <a:lnTo>
                  <a:pt x="1617724" y="6828"/>
                </a:lnTo>
                <a:lnTo>
                  <a:pt x="1547027" y="7878"/>
                </a:lnTo>
                <a:lnTo>
                  <a:pt x="1477424" y="8996"/>
                </a:lnTo>
                <a:lnTo>
                  <a:pt x="1408949" y="10182"/>
                </a:lnTo>
                <a:lnTo>
                  <a:pt x="1341639" y="11434"/>
                </a:lnTo>
                <a:lnTo>
                  <a:pt x="1275531" y="12750"/>
                </a:lnTo>
                <a:lnTo>
                  <a:pt x="1210661" y="14131"/>
                </a:lnTo>
                <a:lnTo>
                  <a:pt x="1147064" y="15574"/>
                </a:lnTo>
                <a:lnTo>
                  <a:pt x="1084778" y="17077"/>
                </a:lnTo>
                <a:lnTo>
                  <a:pt x="1023838" y="18641"/>
                </a:lnTo>
                <a:lnTo>
                  <a:pt x="964280" y="20263"/>
                </a:lnTo>
                <a:lnTo>
                  <a:pt x="906141" y="21943"/>
                </a:lnTo>
                <a:lnTo>
                  <a:pt x="849457" y="23678"/>
                </a:lnTo>
                <a:lnTo>
                  <a:pt x="794264" y="25468"/>
                </a:lnTo>
                <a:lnTo>
                  <a:pt x="740599" y="27312"/>
                </a:lnTo>
                <a:lnTo>
                  <a:pt x="688497" y="29208"/>
                </a:lnTo>
                <a:lnTo>
                  <a:pt x="637994" y="31156"/>
                </a:lnTo>
                <a:lnTo>
                  <a:pt x="589128" y="33152"/>
                </a:lnTo>
                <a:lnTo>
                  <a:pt x="541934" y="35198"/>
                </a:lnTo>
                <a:lnTo>
                  <a:pt x="496448" y="37290"/>
                </a:lnTo>
                <a:lnTo>
                  <a:pt x="452707" y="39429"/>
                </a:lnTo>
                <a:lnTo>
                  <a:pt x="410746" y="41612"/>
                </a:lnTo>
                <a:lnTo>
                  <a:pt x="370603" y="43839"/>
                </a:lnTo>
                <a:lnTo>
                  <a:pt x="332312" y="46108"/>
                </a:lnTo>
                <a:lnTo>
                  <a:pt x="261436" y="50767"/>
                </a:lnTo>
                <a:lnTo>
                  <a:pt x="198407" y="55580"/>
                </a:lnTo>
                <a:lnTo>
                  <a:pt x="143515" y="60537"/>
                </a:lnTo>
                <a:lnTo>
                  <a:pt x="97049" y="65627"/>
                </a:lnTo>
                <a:lnTo>
                  <a:pt x="59300" y="70841"/>
                </a:lnTo>
                <a:lnTo>
                  <a:pt x="19653" y="78871"/>
                </a:lnTo>
                <a:lnTo>
                  <a:pt x="0" y="89916"/>
                </a:lnTo>
                <a:lnTo>
                  <a:pt x="1246" y="92708"/>
                </a:lnTo>
                <a:lnTo>
                  <a:pt x="43785" y="106313"/>
                </a:lnTo>
                <a:lnTo>
                  <a:pt x="97049" y="114145"/>
                </a:lnTo>
                <a:lnTo>
                  <a:pt x="143515" y="119209"/>
                </a:lnTo>
                <a:lnTo>
                  <a:pt x="198407" y="124136"/>
                </a:lnTo>
                <a:lnTo>
                  <a:pt x="261436" y="128915"/>
                </a:lnTo>
                <a:lnTo>
                  <a:pt x="332312" y="133538"/>
                </a:lnTo>
                <a:lnTo>
                  <a:pt x="370603" y="135788"/>
                </a:lnTo>
                <a:lnTo>
                  <a:pt x="410746" y="137995"/>
                </a:lnTo>
                <a:lnTo>
                  <a:pt x="452707" y="140158"/>
                </a:lnTo>
                <a:lnTo>
                  <a:pt x="496448" y="142277"/>
                </a:lnTo>
                <a:lnTo>
                  <a:pt x="541934" y="144348"/>
                </a:lnTo>
                <a:lnTo>
                  <a:pt x="589128" y="146373"/>
                </a:lnTo>
                <a:lnTo>
                  <a:pt x="637994" y="148348"/>
                </a:lnTo>
                <a:lnTo>
                  <a:pt x="688497" y="150274"/>
                </a:lnTo>
                <a:lnTo>
                  <a:pt x="740599" y="152148"/>
                </a:lnTo>
                <a:lnTo>
                  <a:pt x="794264" y="153971"/>
                </a:lnTo>
                <a:lnTo>
                  <a:pt x="849457" y="155740"/>
                </a:lnTo>
                <a:lnTo>
                  <a:pt x="906141" y="157454"/>
                </a:lnTo>
                <a:lnTo>
                  <a:pt x="964280" y="159112"/>
                </a:lnTo>
                <a:lnTo>
                  <a:pt x="1023838" y="160713"/>
                </a:lnTo>
                <a:lnTo>
                  <a:pt x="1084778" y="162256"/>
                </a:lnTo>
                <a:lnTo>
                  <a:pt x="1147064" y="163739"/>
                </a:lnTo>
                <a:lnTo>
                  <a:pt x="1210661" y="165162"/>
                </a:lnTo>
                <a:lnTo>
                  <a:pt x="1275531" y="166523"/>
                </a:lnTo>
                <a:lnTo>
                  <a:pt x="1341639" y="167820"/>
                </a:lnTo>
                <a:lnTo>
                  <a:pt x="1408949" y="169054"/>
                </a:lnTo>
                <a:lnTo>
                  <a:pt x="1477424" y="170222"/>
                </a:lnTo>
                <a:lnTo>
                  <a:pt x="1547027" y="171323"/>
                </a:lnTo>
                <a:lnTo>
                  <a:pt x="1617724" y="172356"/>
                </a:lnTo>
                <a:lnTo>
                  <a:pt x="1689477" y="173321"/>
                </a:lnTo>
                <a:lnTo>
                  <a:pt x="1762251" y="174215"/>
                </a:lnTo>
                <a:lnTo>
                  <a:pt x="1836009" y="175037"/>
                </a:lnTo>
                <a:lnTo>
                  <a:pt x="1910715" y="175787"/>
                </a:lnTo>
                <a:lnTo>
                  <a:pt x="1986333" y="176463"/>
                </a:lnTo>
                <a:lnTo>
                  <a:pt x="2062826" y="177064"/>
                </a:lnTo>
                <a:lnTo>
                  <a:pt x="2140159" y="177589"/>
                </a:lnTo>
                <a:lnTo>
                  <a:pt x="2218295" y="178036"/>
                </a:lnTo>
                <a:lnTo>
                  <a:pt x="2297198" y="178405"/>
                </a:lnTo>
                <a:lnTo>
                  <a:pt x="2376832" y="178694"/>
                </a:lnTo>
                <a:lnTo>
                  <a:pt x="2457160" y="178902"/>
                </a:lnTo>
                <a:lnTo>
                  <a:pt x="2538147" y="179027"/>
                </a:lnTo>
                <a:lnTo>
                  <a:pt x="2619756" y="179070"/>
                </a:lnTo>
                <a:lnTo>
                  <a:pt x="2701322" y="179027"/>
                </a:lnTo>
                <a:lnTo>
                  <a:pt x="2782268" y="178902"/>
                </a:lnTo>
                <a:lnTo>
                  <a:pt x="2862557" y="178694"/>
                </a:lnTo>
                <a:lnTo>
                  <a:pt x="2942153" y="178405"/>
                </a:lnTo>
                <a:lnTo>
                  <a:pt x="3021020" y="178036"/>
                </a:lnTo>
                <a:lnTo>
                  <a:pt x="3099121" y="177589"/>
                </a:lnTo>
                <a:lnTo>
                  <a:pt x="3176420" y="177064"/>
                </a:lnTo>
                <a:lnTo>
                  <a:pt x="3252882" y="176463"/>
                </a:lnTo>
                <a:lnTo>
                  <a:pt x="3328469" y="175787"/>
                </a:lnTo>
                <a:lnTo>
                  <a:pt x="3403146" y="175037"/>
                </a:lnTo>
                <a:lnTo>
                  <a:pt x="3476876" y="174215"/>
                </a:lnTo>
                <a:lnTo>
                  <a:pt x="3549623" y="173321"/>
                </a:lnTo>
                <a:lnTo>
                  <a:pt x="3621351" y="172356"/>
                </a:lnTo>
                <a:lnTo>
                  <a:pt x="3692023" y="171323"/>
                </a:lnTo>
                <a:lnTo>
                  <a:pt x="3761604" y="170222"/>
                </a:lnTo>
                <a:lnTo>
                  <a:pt x="3830057" y="169054"/>
                </a:lnTo>
                <a:lnTo>
                  <a:pt x="3897345" y="167820"/>
                </a:lnTo>
                <a:lnTo>
                  <a:pt x="3963434" y="166523"/>
                </a:lnTo>
                <a:lnTo>
                  <a:pt x="4028286" y="165162"/>
                </a:lnTo>
                <a:lnTo>
                  <a:pt x="4091865" y="163739"/>
                </a:lnTo>
                <a:lnTo>
                  <a:pt x="4154134" y="162256"/>
                </a:lnTo>
                <a:lnTo>
                  <a:pt x="4215059" y="160713"/>
                </a:lnTo>
                <a:lnTo>
                  <a:pt x="4274602" y="159112"/>
                </a:lnTo>
                <a:lnTo>
                  <a:pt x="4332727" y="157454"/>
                </a:lnTo>
                <a:lnTo>
                  <a:pt x="4389398" y="155740"/>
                </a:lnTo>
                <a:lnTo>
                  <a:pt x="4444579" y="153971"/>
                </a:lnTo>
                <a:lnTo>
                  <a:pt x="4498234" y="152148"/>
                </a:lnTo>
                <a:lnTo>
                  <a:pt x="4550325" y="150274"/>
                </a:lnTo>
                <a:lnTo>
                  <a:pt x="4600818" y="148348"/>
                </a:lnTo>
                <a:lnTo>
                  <a:pt x="4649676" y="146373"/>
                </a:lnTo>
                <a:lnTo>
                  <a:pt x="4696862" y="144348"/>
                </a:lnTo>
                <a:lnTo>
                  <a:pt x="4742340" y="142277"/>
                </a:lnTo>
                <a:lnTo>
                  <a:pt x="4786075" y="140158"/>
                </a:lnTo>
                <a:lnTo>
                  <a:pt x="4828029" y="137995"/>
                </a:lnTo>
                <a:lnTo>
                  <a:pt x="4868167" y="135788"/>
                </a:lnTo>
                <a:lnTo>
                  <a:pt x="4906452" y="133538"/>
                </a:lnTo>
                <a:lnTo>
                  <a:pt x="4977320" y="128915"/>
                </a:lnTo>
                <a:lnTo>
                  <a:pt x="5040342" y="124136"/>
                </a:lnTo>
                <a:lnTo>
                  <a:pt x="5095230" y="119209"/>
                </a:lnTo>
                <a:lnTo>
                  <a:pt x="5141692" y="114145"/>
                </a:lnTo>
                <a:lnTo>
                  <a:pt x="5179439" y="108954"/>
                </a:lnTo>
                <a:lnTo>
                  <a:pt x="5219084" y="100948"/>
                </a:lnTo>
                <a:lnTo>
                  <a:pt x="5238737" y="89916"/>
                </a:lnTo>
                <a:lnTo>
                  <a:pt x="5237490" y="87122"/>
                </a:lnTo>
                <a:lnTo>
                  <a:pt x="5194953" y="73491"/>
                </a:lnTo>
                <a:lnTo>
                  <a:pt x="5141692" y="65627"/>
                </a:lnTo>
                <a:lnTo>
                  <a:pt x="5095230" y="60537"/>
                </a:lnTo>
                <a:lnTo>
                  <a:pt x="5040342" y="55580"/>
                </a:lnTo>
                <a:lnTo>
                  <a:pt x="4977320" y="50767"/>
                </a:lnTo>
                <a:lnTo>
                  <a:pt x="4906452" y="46108"/>
                </a:lnTo>
                <a:lnTo>
                  <a:pt x="4868167" y="43839"/>
                </a:lnTo>
                <a:lnTo>
                  <a:pt x="4828029" y="41612"/>
                </a:lnTo>
                <a:lnTo>
                  <a:pt x="4786075" y="39429"/>
                </a:lnTo>
                <a:lnTo>
                  <a:pt x="4742340" y="37290"/>
                </a:lnTo>
                <a:lnTo>
                  <a:pt x="4696862" y="35198"/>
                </a:lnTo>
                <a:lnTo>
                  <a:pt x="4649676" y="33152"/>
                </a:lnTo>
                <a:lnTo>
                  <a:pt x="4600818" y="31156"/>
                </a:lnTo>
                <a:lnTo>
                  <a:pt x="4550325" y="29208"/>
                </a:lnTo>
                <a:lnTo>
                  <a:pt x="4498234" y="27312"/>
                </a:lnTo>
                <a:lnTo>
                  <a:pt x="4444579" y="25468"/>
                </a:lnTo>
                <a:lnTo>
                  <a:pt x="4389398" y="23678"/>
                </a:lnTo>
                <a:lnTo>
                  <a:pt x="4332727" y="21943"/>
                </a:lnTo>
                <a:lnTo>
                  <a:pt x="4274602" y="20263"/>
                </a:lnTo>
                <a:lnTo>
                  <a:pt x="4215059" y="18641"/>
                </a:lnTo>
                <a:lnTo>
                  <a:pt x="4154134" y="17077"/>
                </a:lnTo>
                <a:lnTo>
                  <a:pt x="4091865" y="15574"/>
                </a:lnTo>
                <a:lnTo>
                  <a:pt x="4028286" y="14131"/>
                </a:lnTo>
                <a:lnTo>
                  <a:pt x="3963434" y="12750"/>
                </a:lnTo>
                <a:lnTo>
                  <a:pt x="3897345" y="11434"/>
                </a:lnTo>
                <a:lnTo>
                  <a:pt x="3830057" y="10182"/>
                </a:lnTo>
                <a:lnTo>
                  <a:pt x="3761604" y="8996"/>
                </a:lnTo>
                <a:lnTo>
                  <a:pt x="3692023" y="7878"/>
                </a:lnTo>
                <a:lnTo>
                  <a:pt x="3621351" y="6828"/>
                </a:lnTo>
                <a:lnTo>
                  <a:pt x="3549623" y="5848"/>
                </a:lnTo>
                <a:lnTo>
                  <a:pt x="3476876" y="4939"/>
                </a:lnTo>
                <a:lnTo>
                  <a:pt x="3403146" y="4103"/>
                </a:lnTo>
                <a:lnTo>
                  <a:pt x="3328469" y="3340"/>
                </a:lnTo>
                <a:lnTo>
                  <a:pt x="3252882" y="2653"/>
                </a:lnTo>
                <a:lnTo>
                  <a:pt x="3176420" y="2041"/>
                </a:lnTo>
                <a:lnTo>
                  <a:pt x="3099121" y="1507"/>
                </a:lnTo>
                <a:lnTo>
                  <a:pt x="3021020" y="1052"/>
                </a:lnTo>
                <a:lnTo>
                  <a:pt x="2942153" y="676"/>
                </a:lnTo>
                <a:lnTo>
                  <a:pt x="2862557" y="382"/>
                </a:lnTo>
                <a:lnTo>
                  <a:pt x="2782268" y="170"/>
                </a:lnTo>
                <a:lnTo>
                  <a:pt x="2701322" y="42"/>
                </a:lnTo>
                <a:lnTo>
                  <a:pt x="2619756" y="0"/>
                </a:lnTo>
                <a:close/>
              </a:path>
            </a:pathLst>
          </a:custGeom>
          <a:ln w="31750">
            <a:solidFill>
              <a:srgbClr val="FF00FF"/>
            </a:solidFill>
            <a:prstDash val="dash"/>
          </a:ln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0" name="object 10"/>
          <p:cNvSpPr/>
          <p:nvPr/>
        </p:nvSpPr>
        <p:spPr>
          <a:xfrm>
            <a:off x="2058988" y="2714625"/>
            <a:ext cx="4478337" cy="153988"/>
          </a:xfrm>
          <a:custGeom>
            <a:avLst/>
            <a:gdLst/>
            <a:ahLst/>
            <a:cxnLst/>
            <a:rect l="l" t="t" r="r" b="b"/>
            <a:pathLst>
              <a:path w="5238750" h="180339">
                <a:moveTo>
                  <a:pt x="2618993" y="0"/>
                </a:moveTo>
                <a:lnTo>
                  <a:pt x="2537427" y="42"/>
                </a:lnTo>
                <a:lnTo>
                  <a:pt x="2456481" y="170"/>
                </a:lnTo>
                <a:lnTo>
                  <a:pt x="2376192" y="382"/>
                </a:lnTo>
                <a:lnTo>
                  <a:pt x="2296596" y="676"/>
                </a:lnTo>
                <a:lnTo>
                  <a:pt x="2217729" y="1052"/>
                </a:lnTo>
                <a:lnTo>
                  <a:pt x="2139628" y="1507"/>
                </a:lnTo>
                <a:lnTo>
                  <a:pt x="2062328" y="2041"/>
                </a:lnTo>
                <a:lnTo>
                  <a:pt x="1985867" y="2653"/>
                </a:lnTo>
                <a:lnTo>
                  <a:pt x="1910279" y="3340"/>
                </a:lnTo>
                <a:lnTo>
                  <a:pt x="1835602" y="4103"/>
                </a:lnTo>
                <a:lnTo>
                  <a:pt x="1761872" y="4939"/>
                </a:lnTo>
                <a:lnTo>
                  <a:pt x="1689125" y="5848"/>
                </a:lnTo>
                <a:lnTo>
                  <a:pt x="1617397" y="6828"/>
                </a:lnTo>
                <a:lnTo>
                  <a:pt x="1546724" y="7878"/>
                </a:lnTo>
                <a:lnTo>
                  <a:pt x="1477143" y="8996"/>
                </a:lnTo>
                <a:lnTo>
                  <a:pt x="1408690" y="10182"/>
                </a:lnTo>
                <a:lnTo>
                  <a:pt x="1341400" y="11434"/>
                </a:lnTo>
                <a:lnTo>
                  <a:pt x="1275312" y="12750"/>
                </a:lnTo>
                <a:lnTo>
                  <a:pt x="1210460" y="14131"/>
                </a:lnTo>
                <a:lnTo>
                  <a:pt x="1146880" y="15574"/>
                </a:lnTo>
                <a:lnTo>
                  <a:pt x="1084610" y="17077"/>
                </a:lnTo>
                <a:lnTo>
                  <a:pt x="1023685" y="18641"/>
                </a:lnTo>
                <a:lnTo>
                  <a:pt x="964142" y="20263"/>
                </a:lnTo>
                <a:lnTo>
                  <a:pt x="906016" y="21943"/>
                </a:lnTo>
                <a:lnTo>
                  <a:pt x="849345" y="23678"/>
                </a:lnTo>
                <a:lnTo>
                  <a:pt x="794163" y="25468"/>
                </a:lnTo>
                <a:lnTo>
                  <a:pt x="740509" y="27312"/>
                </a:lnTo>
                <a:lnTo>
                  <a:pt x="688417" y="29208"/>
                </a:lnTo>
                <a:lnTo>
                  <a:pt x="637924" y="31156"/>
                </a:lnTo>
                <a:lnTo>
                  <a:pt x="589066" y="33152"/>
                </a:lnTo>
                <a:lnTo>
                  <a:pt x="541879" y="35198"/>
                </a:lnTo>
                <a:lnTo>
                  <a:pt x="496401" y="37290"/>
                </a:lnTo>
                <a:lnTo>
                  <a:pt x="452666" y="39429"/>
                </a:lnTo>
                <a:lnTo>
                  <a:pt x="410711" y="41612"/>
                </a:lnTo>
                <a:lnTo>
                  <a:pt x="370573" y="43839"/>
                </a:lnTo>
                <a:lnTo>
                  <a:pt x="332287" y="46108"/>
                </a:lnTo>
                <a:lnTo>
                  <a:pt x="261419" y="50767"/>
                </a:lnTo>
                <a:lnTo>
                  <a:pt x="198396" y="55580"/>
                </a:lnTo>
                <a:lnTo>
                  <a:pt x="143508" y="60537"/>
                </a:lnTo>
                <a:lnTo>
                  <a:pt x="97046" y="65627"/>
                </a:lnTo>
                <a:lnTo>
                  <a:pt x="59298" y="70841"/>
                </a:lnTo>
                <a:lnTo>
                  <a:pt x="19652" y="78871"/>
                </a:lnTo>
                <a:lnTo>
                  <a:pt x="0" y="89916"/>
                </a:lnTo>
                <a:lnTo>
                  <a:pt x="1246" y="92709"/>
                </a:lnTo>
                <a:lnTo>
                  <a:pt x="43783" y="106340"/>
                </a:lnTo>
                <a:lnTo>
                  <a:pt x="97046" y="114204"/>
                </a:lnTo>
                <a:lnTo>
                  <a:pt x="143508" y="119294"/>
                </a:lnTo>
                <a:lnTo>
                  <a:pt x="198396" y="124251"/>
                </a:lnTo>
                <a:lnTo>
                  <a:pt x="261419" y="129064"/>
                </a:lnTo>
                <a:lnTo>
                  <a:pt x="332287" y="133723"/>
                </a:lnTo>
                <a:lnTo>
                  <a:pt x="370573" y="135992"/>
                </a:lnTo>
                <a:lnTo>
                  <a:pt x="410711" y="138219"/>
                </a:lnTo>
                <a:lnTo>
                  <a:pt x="452666" y="140402"/>
                </a:lnTo>
                <a:lnTo>
                  <a:pt x="496401" y="142541"/>
                </a:lnTo>
                <a:lnTo>
                  <a:pt x="541879" y="144633"/>
                </a:lnTo>
                <a:lnTo>
                  <a:pt x="589066" y="146679"/>
                </a:lnTo>
                <a:lnTo>
                  <a:pt x="637924" y="148675"/>
                </a:lnTo>
                <a:lnTo>
                  <a:pt x="688417" y="150623"/>
                </a:lnTo>
                <a:lnTo>
                  <a:pt x="740509" y="152519"/>
                </a:lnTo>
                <a:lnTo>
                  <a:pt x="794163" y="154363"/>
                </a:lnTo>
                <a:lnTo>
                  <a:pt x="849345" y="156153"/>
                </a:lnTo>
                <a:lnTo>
                  <a:pt x="906016" y="157888"/>
                </a:lnTo>
                <a:lnTo>
                  <a:pt x="964142" y="159568"/>
                </a:lnTo>
                <a:lnTo>
                  <a:pt x="1023685" y="161190"/>
                </a:lnTo>
                <a:lnTo>
                  <a:pt x="1084610" y="162754"/>
                </a:lnTo>
                <a:lnTo>
                  <a:pt x="1146880" y="164257"/>
                </a:lnTo>
                <a:lnTo>
                  <a:pt x="1210460" y="165700"/>
                </a:lnTo>
                <a:lnTo>
                  <a:pt x="1275312" y="167081"/>
                </a:lnTo>
                <a:lnTo>
                  <a:pt x="1341400" y="168397"/>
                </a:lnTo>
                <a:lnTo>
                  <a:pt x="1408690" y="169649"/>
                </a:lnTo>
                <a:lnTo>
                  <a:pt x="1477143" y="170835"/>
                </a:lnTo>
                <a:lnTo>
                  <a:pt x="1546724" y="171953"/>
                </a:lnTo>
                <a:lnTo>
                  <a:pt x="1617397" y="173003"/>
                </a:lnTo>
                <a:lnTo>
                  <a:pt x="1689125" y="173983"/>
                </a:lnTo>
                <a:lnTo>
                  <a:pt x="1761872" y="174892"/>
                </a:lnTo>
                <a:lnTo>
                  <a:pt x="1835602" y="175728"/>
                </a:lnTo>
                <a:lnTo>
                  <a:pt x="1910279" y="176491"/>
                </a:lnTo>
                <a:lnTo>
                  <a:pt x="1985867" y="177178"/>
                </a:lnTo>
                <a:lnTo>
                  <a:pt x="2062328" y="177790"/>
                </a:lnTo>
                <a:lnTo>
                  <a:pt x="2139628" y="178324"/>
                </a:lnTo>
                <a:lnTo>
                  <a:pt x="2217729" y="178779"/>
                </a:lnTo>
                <a:lnTo>
                  <a:pt x="2296596" y="179155"/>
                </a:lnTo>
                <a:lnTo>
                  <a:pt x="2376192" y="179449"/>
                </a:lnTo>
                <a:lnTo>
                  <a:pt x="2456481" y="179661"/>
                </a:lnTo>
                <a:lnTo>
                  <a:pt x="2537427" y="179789"/>
                </a:lnTo>
                <a:lnTo>
                  <a:pt x="2618993" y="179831"/>
                </a:lnTo>
                <a:lnTo>
                  <a:pt x="2700602" y="179789"/>
                </a:lnTo>
                <a:lnTo>
                  <a:pt x="2781588" y="179661"/>
                </a:lnTo>
                <a:lnTo>
                  <a:pt x="2861915" y="179449"/>
                </a:lnTo>
                <a:lnTo>
                  <a:pt x="2941549" y="179155"/>
                </a:lnTo>
                <a:lnTo>
                  <a:pt x="3020451" y="178779"/>
                </a:lnTo>
                <a:lnTo>
                  <a:pt x="3098587" y="178324"/>
                </a:lnTo>
                <a:lnTo>
                  <a:pt x="3175919" y="177790"/>
                </a:lnTo>
                <a:lnTo>
                  <a:pt x="3252412" y="177178"/>
                </a:lnTo>
                <a:lnTo>
                  <a:pt x="3328029" y="176491"/>
                </a:lnTo>
                <a:lnTo>
                  <a:pt x="3402735" y="175728"/>
                </a:lnTo>
                <a:lnTo>
                  <a:pt x="3476493" y="174892"/>
                </a:lnTo>
                <a:lnTo>
                  <a:pt x="3549266" y="173983"/>
                </a:lnTo>
                <a:lnTo>
                  <a:pt x="3621020" y="173003"/>
                </a:lnTo>
                <a:lnTo>
                  <a:pt x="3691716" y="171953"/>
                </a:lnTo>
                <a:lnTo>
                  <a:pt x="3761320" y="170835"/>
                </a:lnTo>
                <a:lnTo>
                  <a:pt x="3829795" y="169649"/>
                </a:lnTo>
                <a:lnTo>
                  <a:pt x="3897104" y="168397"/>
                </a:lnTo>
                <a:lnTo>
                  <a:pt x="3963212" y="167081"/>
                </a:lnTo>
                <a:lnTo>
                  <a:pt x="4028083" y="165700"/>
                </a:lnTo>
                <a:lnTo>
                  <a:pt x="4091679" y="164257"/>
                </a:lnTo>
                <a:lnTo>
                  <a:pt x="4153966" y="162754"/>
                </a:lnTo>
                <a:lnTo>
                  <a:pt x="4214906" y="161190"/>
                </a:lnTo>
                <a:lnTo>
                  <a:pt x="4274464" y="159568"/>
                </a:lnTo>
                <a:lnTo>
                  <a:pt x="4332603" y="157888"/>
                </a:lnTo>
                <a:lnTo>
                  <a:pt x="4389287" y="156153"/>
                </a:lnTo>
                <a:lnTo>
                  <a:pt x="4444480" y="154363"/>
                </a:lnTo>
                <a:lnTo>
                  <a:pt x="4498146" y="152519"/>
                </a:lnTo>
                <a:lnTo>
                  <a:pt x="4550248" y="150623"/>
                </a:lnTo>
                <a:lnTo>
                  <a:pt x="4600750" y="148675"/>
                </a:lnTo>
                <a:lnTo>
                  <a:pt x="4649617" y="146679"/>
                </a:lnTo>
                <a:lnTo>
                  <a:pt x="4696811" y="144633"/>
                </a:lnTo>
                <a:lnTo>
                  <a:pt x="4742297" y="142541"/>
                </a:lnTo>
                <a:lnTo>
                  <a:pt x="4786039" y="140402"/>
                </a:lnTo>
                <a:lnTo>
                  <a:pt x="4828000" y="138219"/>
                </a:lnTo>
                <a:lnTo>
                  <a:pt x="4868143" y="135992"/>
                </a:lnTo>
                <a:lnTo>
                  <a:pt x="4906434" y="133723"/>
                </a:lnTo>
                <a:lnTo>
                  <a:pt x="4977311" y="129064"/>
                </a:lnTo>
                <a:lnTo>
                  <a:pt x="5040340" y="124251"/>
                </a:lnTo>
                <a:lnTo>
                  <a:pt x="5095233" y="119294"/>
                </a:lnTo>
                <a:lnTo>
                  <a:pt x="5141699" y="114204"/>
                </a:lnTo>
                <a:lnTo>
                  <a:pt x="5179448" y="108990"/>
                </a:lnTo>
                <a:lnTo>
                  <a:pt x="5219096" y="100960"/>
                </a:lnTo>
                <a:lnTo>
                  <a:pt x="5238749" y="89915"/>
                </a:lnTo>
                <a:lnTo>
                  <a:pt x="5237503" y="87122"/>
                </a:lnTo>
                <a:lnTo>
                  <a:pt x="5194964" y="73491"/>
                </a:lnTo>
                <a:lnTo>
                  <a:pt x="5141699" y="65627"/>
                </a:lnTo>
                <a:lnTo>
                  <a:pt x="5095233" y="60537"/>
                </a:lnTo>
                <a:lnTo>
                  <a:pt x="5040340" y="55580"/>
                </a:lnTo>
                <a:lnTo>
                  <a:pt x="4977311" y="50767"/>
                </a:lnTo>
                <a:lnTo>
                  <a:pt x="4906434" y="46108"/>
                </a:lnTo>
                <a:lnTo>
                  <a:pt x="4868143" y="43839"/>
                </a:lnTo>
                <a:lnTo>
                  <a:pt x="4828000" y="41612"/>
                </a:lnTo>
                <a:lnTo>
                  <a:pt x="4786039" y="39429"/>
                </a:lnTo>
                <a:lnTo>
                  <a:pt x="4742297" y="37290"/>
                </a:lnTo>
                <a:lnTo>
                  <a:pt x="4696811" y="35198"/>
                </a:lnTo>
                <a:lnTo>
                  <a:pt x="4649617" y="33152"/>
                </a:lnTo>
                <a:lnTo>
                  <a:pt x="4600750" y="31156"/>
                </a:lnTo>
                <a:lnTo>
                  <a:pt x="4550248" y="29208"/>
                </a:lnTo>
                <a:lnTo>
                  <a:pt x="4498146" y="27312"/>
                </a:lnTo>
                <a:lnTo>
                  <a:pt x="4444480" y="25468"/>
                </a:lnTo>
                <a:lnTo>
                  <a:pt x="4389287" y="23678"/>
                </a:lnTo>
                <a:lnTo>
                  <a:pt x="4332603" y="21943"/>
                </a:lnTo>
                <a:lnTo>
                  <a:pt x="4274464" y="20263"/>
                </a:lnTo>
                <a:lnTo>
                  <a:pt x="4214906" y="18641"/>
                </a:lnTo>
                <a:lnTo>
                  <a:pt x="4153966" y="17077"/>
                </a:lnTo>
                <a:lnTo>
                  <a:pt x="4091679" y="15574"/>
                </a:lnTo>
                <a:lnTo>
                  <a:pt x="4028083" y="14131"/>
                </a:lnTo>
                <a:lnTo>
                  <a:pt x="3963212" y="12750"/>
                </a:lnTo>
                <a:lnTo>
                  <a:pt x="3897104" y="11434"/>
                </a:lnTo>
                <a:lnTo>
                  <a:pt x="3829795" y="10182"/>
                </a:lnTo>
                <a:lnTo>
                  <a:pt x="3761320" y="8996"/>
                </a:lnTo>
                <a:lnTo>
                  <a:pt x="3691716" y="7878"/>
                </a:lnTo>
                <a:lnTo>
                  <a:pt x="3621020" y="6828"/>
                </a:lnTo>
                <a:lnTo>
                  <a:pt x="3549266" y="5848"/>
                </a:lnTo>
                <a:lnTo>
                  <a:pt x="3476493" y="4939"/>
                </a:lnTo>
                <a:lnTo>
                  <a:pt x="3402735" y="4103"/>
                </a:lnTo>
                <a:lnTo>
                  <a:pt x="3328029" y="3340"/>
                </a:lnTo>
                <a:lnTo>
                  <a:pt x="3252412" y="2653"/>
                </a:lnTo>
                <a:lnTo>
                  <a:pt x="3175919" y="2041"/>
                </a:lnTo>
                <a:lnTo>
                  <a:pt x="3098587" y="1507"/>
                </a:lnTo>
                <a:lnTo>
                  <a:pt x="3020451" y="1052"/>
                </a:lnTo>
                <a:lnTo>
                  <a:pt x="2941549" y="676"/>
                </a:lnTo>
                <a:lnTo>
                  <a:pt x="2861915" y="382"/>
                </a:lnTo>
                <a:lnTo>
                  <a:pt x="2781588" y="170"/>
                </a:lnTo>
                <a:lnTo>
                  <a:pt x="2700602" y="42"/>
                </a:lnTo>
                <a:lnTo>
                  <a:pt x="2618993" y="0"/>
                </a:lnTo>
                <a:close/>
              </a:path>
            </a:pathLst>
          </a:custGeom>
          <a:ln w="31749">
            <a:solidFill>
              <a:srgbClr val="FF00FF"/>
            </a:solidFill>
            <a:prstDash val="dash"/>
          </a:ln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1" name="object 11"/>
          <p:cNvSpPr/>
          <p:nvPr/>
        </p:nvSpPr>
        <p:spPr>
          <a:xfrm>
            <a:off x="2025650" y="3757613"/>
            <a:ext cx="4479925" cy="153987"/>
          </a:xfrm>
          <a:custGeom>
            <a:avLst/>
            <a:gdLst/>
            <a:ahLst/>
            <a:cxnLst/>
            <a:rect l="l" t="t" r="r" b="b"/>
            <a:pathLst>
              <a:path w="5238750" h="180339">
                <a:moveTo>
                  <a:pt x="2618993" y="0"/>
                </a:moveTo>
                <a:lnTo>
                  <a:pt x="2537427" y="42"/>
                </a:lnTo>
                <a:lnTo>
                  <a:pt x="2456481" y="170"/>
                </a:lnTo>
                <a:lnTo>
                  <a:pt x="2376192" y="382"/>
                </a:lnTo>
                <a:lnTo>
                  <a:pt x="2296596" y="676"/>
                </a:lnTo>
                <a:lnTo>
                  <a:pt x="2217729" y="1052"/>
                </a:lnTo>
                <a:lnTo>
                  <a:pt x="2139628" y="1507"/>
                </a:lnTo>
                <a:lnTo>
                  <a:pt x="2062328" y="2041"/>
                </a:lnTo>
                <a:lnTo>
                  <a:pt x="1985867" y="2653"/>
                </a:lnTo>
                <a:lnTo>
                  <a:pt x="1910279" y="3340"/>
                </a:lnTo>
                <a:lnTo>
                  <a:pt x="1835602" y="4103"/>
                </a:lnTo>
                <a:lnTo>
                  <a:pt x="1761872" y="4939"/>
                </a:lnTo>
                <a:lnTo>
                  <a:pt x="1689125" y="5848"/>
                </a:lnTo>
                <a:lnTo>
                  <a:pt x="1617397" y="6828"/>
                </a:lnTo>
                <a:lnTo>
                  <a:pt x="1546724" y="7878"/>
                </a:lnTo>
                <a:lnTo>
                  <a:pt x="1477143" y="8996"/>
                </a:lnTo>
                <a:lnTo>
                  <a:pt x="1408690" y="10182"/>
                </a:lnTo>
                <a:lnTo>
                  <a:pt x="1341400" y="11434"/>
                </a:lnTo>
                <a:lnTo>
                  <a:pt x="1275312" y="12750"/>
                </a:lnTo>
                <a:lnTo>
                  <a:pt x="1210460" y="14131"/>
                </a:lnTo>
                <a:lnTo>
                  <a:pt x="1146880" y="15574"/>
                </a:lnTo>
                <a:lnTo>
                  <a:pt x="1084610" y="17077"/>
                </a:lnTo>
                <a:lnTo>
                  <a:pt x="1023685" y="18641"/>
                </a:lnTo>
                <a:lnTo>
                  <a:pt x="964142" y="20263"/>
                </a:lnTo>
                <a:lnTo>
                  <a:pt x="906016" y="21943"/>
                </a:lnTo>
                <a:lnTo>
                  <a:pt x="849345" y="23678"/>
                </a:lnTo>
                <a:lnTo>
                  <a:pt x="794163" y="25468"/>
                </a:lnTo>
                <a:lnTo>
                  <a:pt x="740509" y="27312"/>
                </a:lnTo>
                <a:lnTo>
                  <a:pt x="688417" y="29208"/>
                </a:lnTo>
                <a:lnTo>
                  <a:pt x="637924" y="31156"/>
                </a:lnTo>
                <a:lnTo>
                  <a:pt x="589066" y="33152"/>
                </a:lnTo>
                <a:lnTo>
                  <a:pt x="541879" y="35198"/>
                </a:lnTo>
                <a:lnTo>
                  <a:pt x="496401" y="37290"/>
                </a:lnTo>
                <a:lnTo>
                  <a:pt x="452666" y="39429"/>
                </a:lnTo>
                <a:lnTo>
                  <a:pt x="410711" y="41612"/>
                </a:lnTo>
                <a:lnTo>
                  <a:pt x="370573" y="43839"/>
                </a:lnTo>
                <a:lnTo>
                  <a:pt x="332287" y="46108"/>
                </a:lnTo>
                <a:lnTo>
                  <a:pt x="261419" y="50767"/>
                </a:lnTo>
                <a:lnTo>
                  <a:pt x="198396" y="55580"/>
                </a:lnTo>
                <a:lnTo>
                  <a:pt x="143508" y="60537"/>
                </a:lnTo>
                <a:lnTo>
                  <a:pt x="97046" y="65627"/>
                </a:lnTo>
                <a:lnTo>
                  <a:pt x="59298" y="70841"/>
                </a:lnTo>
                <a:lnTo>
                  <a:pt x="19652" y="78871"/>
                </a:lnTo>
                <a:lnTo>
                  <a:pt x="0" y="89916"/>
                </a:lnTo>
                <a:lnTo>
                  <a:pt x="1246" y="92709"/>
                </a:lnTo>
                <a:lnTo>
                  <a:pt x="43783" y="106340"/>
                </a:lnTo>
                <a:lnTo>
                  <a:pt x="97046" y="114204"/>
                </a:lnTo>
                <a:lnTo>
                  <a:pt x="143508" y="119294"/>
                </a:lnTo>
                <a:lnTo>
                  <a:pt x="198396" y="124251"/>
                </a:lnTo>
                <a:lnTo>
                  <a:pt x="261419" y="129064"/>
                </a:lnTo>
                <a:lnTo>
                  <a:pt x="332287" y="133723"/>
                </a:lnTo>
                <a:lnTo>
                  <a:pt x="370573" y="135992"/>
                </a:lnTo>
                <a:lnTo>
                  <a:pt x="410711" y="138219"/>
                </a:lnTo>
                <a:lnTo>
                  <a:pt x="452666" y="140402"/>
                </a:lnTo>
                <a:lnTo>
                  <a:pt x="496401" y="142541"/>
                </a:lnTo>
                <a:lnTo>
                  <a:pt x="541879" y="144633"/>
                </a:lnTo>
                <a:lnTo>
                  <a:pt x="589066" y="146679"/>
                </a:lnTo>
                <a:lnTo>
                  <a:pt x="637924" y="148675"/>
                </a:lnTo>
                <a:lnTo>
                  <a:pt x="688417" y="150623"/>
                </a:lnTo>
                <a:lnTo>
                  <a:pt x="740509" y="152519"/>
                </a:lnTo>
                <a:lnTo>
                  <a:pt x="794163" y="154363"/>
                </a:lnTo>
                <a:lnTo>
                  <a:pt x="849345" y="156153"/>
                </a:lnTo>
                <a:lnTo>
                  <a:pt x="906016" y="157888"/>
                </a:lnTo>
                <a:lnTo>
                  <a:pt x="964142" y="159568"/>
                </a:lnTo>
                <a:lnTo>
                  <a:pt x="1023685" y="161190"/>
                </a:lnTo>
                <a:lnTo>
                  <a:pt x="1084610" y="162754"/>
                </a:lnTo>
                <a:lnTo>
                  <a:pt x="1146880" y="164257"/>
                </a:lnTo>
                <a:lnTo>
                  <a:pt x="1210460" y="165700"/>
                </a:lnTo>
                <a:lnTo>
                  <a:pt x="1275312" y="167081"/>
                </a:lnTo>
                <a:lnTo>
                  <a:pt x="1341400" y="168397"/>
                </a:lnTo>
                <a:lnTo>
                  <a:pt x="1408690" y="169649"/>
                </a:lnTo>
                <a:lnTo>
                  <a:pt x="1477143" y="170835"/>
                </a:lnTo>
                <a:lnTo>
                  <a:pt x="1546724" y="171953"/>
                </a:lnTo>
                <a:lnTo>
                  <a:pt x="1617397" y="173003"/>
                </a:lnTo>
                <a:lnTo>
                  <a:pt x="1689125" y="173983"/>
                </a:lnTo>
                <a:lnTo>
                  <a:pt x="1761872" y="174892"/>
                </a:lnTo>
                <a:lnTo>
                  <a:pt x="1835602" y="175728"/>
                </a:lnTo>
                <a:lnTo>
                  <a:pt x="1910279" y="176491"/>
                </a:lnTo>
                <a:lnTo>
                  <a:pt x="1985867" y="177178"/>
                </a:lnTo>
                <a:lnTo>
                  <a:pt x="2062328" y="177790"/>
                </a:lnTo>
                <a:lnTo>
                  <a:pt x="2139628" y="178324"/>
                </a:lnTo>
                <a:lnTo>
                  <a:pt x="2217729" y="178779"/>
                </a:lnTo>
                <a:lnTo>
                  <a:pt x="2296596" y="179155"/>
                </a:lnTo>
                <a:lnTo>
                  <a:pt x="2376192" y="179449"/>
                </a:lnTo>
                <a:lnTo>
                  <a:pt x="2456481" y="179661"/>
                </a:lnTo>
                <a:lnTo>
                  <a:pt x="2537427" y="179789"/>
                </a:lnTo>
                <a:lnTo>
                  <a:pt x="2618993" y="179832"/>
                </a:lnTo>
                <a:lnTo>
                  <a:pt x="2700602" y="179789"/>
                </a:lnTo>
                <a:lnTo>
                  <a:pt x="2781588" y="179661"/>
                </a:lnTo>
                <a:lnTo>
                  <a:pt x="2861915" y="179449"/>
                </a:lnTo>
                <a:lnTo>
                  <a:pt x="2941549" y="179155"/>
                </a:lnTo>
                <a:lnTo>
                  <a:pt x="3020451" y="178779"/>
                </a:lnTo>
                <a:lnTo>
                  <a:pt x="3098587" y="178324"/>
                </a:lnTo>
                <a:lnTo>
                  <a:pt x="3175919" y="177790"/>
                </a:lnTo>
                <a:lnTo>
                  <a:pt x="3252412" y="177178"/>
                </a:lnTo>
                <a:lnTo>
                  <a:pt x="3328029" y="176491"/>
                </a:lnTo>
                <a:lnTo>
                  <a:pt x="3402735" y="175728"/>
                </a:lnTo>
                <a:lnTo>
                  <a:pt x="3476493" y="174892"/>
                </a:lnTo>
                <a:lnTo>
                  <a:pt x="3549266" y="173983"/>
                </a:lnTo>
                <a:lnTo>
                  <a:pt x="3621020" y="173003"/>
                </a:lnTo>
                <a:lnTo>
                  <a:pt x="3691716" y="171953"/>
                </a:lnTo>
                <a:lnTo>
                  <a:pt x="3761320" y="170835"/>
                </a:lnTo>
                <a:lnTo>
                  <a:pt x="3829795" y="169649"/>
                </a:lnTo>
                <a:lnTo>
                  <a:pt x="3897104" y="168397"/>
                </a:lnTo>
                <a:lnTo>
                  <a:pt x="3963212" y="167081"/>
                </a:lnTo>
                <a:lnTo>
                  <a:pt x="4028083" y="165700"/>
                </a:lnTo>
                <a:lnTo>
                  <a:pt x="4091679" y="164257"/>
                </a:lnTo>
                <a:lnTo>
                  <a:pt x="4153966" y="162754"/>
                </a:lnTo>
                <a:lnTo>
                  <a:pt x="4214906" y="161190"/>
                </a:lnTo>
                <a:lnTo>
                  <a:pt x="4274464" y="159568"/>
                </a:lnTo>
                <a:lnTo>
                  <a:pt x="4332603" y="157888"/>
                </a:lnTo>
                <a:lnTo>
                  <a:pt x="4389287" y="156153"/>
                </a:lnTo>
                <a:lnTo>
                  <a:pt x="4444480" y="154363"/>
                </a:lnTo>
                <a:lnTo>
                  <a:pt x="4498146" y="152519"/>
                </a:lnTo>
                <a:lnTo>
                  <a:pt x="4550248" y="150623"/>
                </a:lnTo>
                <a:lnTo>
                  <a:pt x="4600750" y="148675"/>
                </a:lnTo>
                <a:lnTo>
                  <a:pt x="4649617" y="146679"/>
                </a:lnTo>
                <a:lnTo>
                  <a:pt x="4696811" y="144633"/>
                </a:lnTo>
                <a:lnTo>
                  <a:pt x="4742297" y="142541"/>
                </a:lnTo>
                <a:lnTo>
                  <a:pt x="4786039" y="140402"/>
                </a:lnTo>
                <a:lnTo>
                  <a:pt x="4828000" y="138219"/>
                </a:lnTo>
                <a:lnTo>
                  <a:pt x="4868143" y="135992"/>
                </a:lnTo>
                <a:lnTo>
                  <a:pt x="4906434" y="133723"/>
                </a:lnTo>
                <a:lnTo>
                  <a:pt x="4977311" y="129064"/>
                </a:lnTo>
                <a:lnTo>
                  <a:pt x="5040340" y="124251"/>
                </a:lnTo>
                <a:lnTo>
                  <a:pt x="5095233" y="119294"/>
                </a:lnTo>
                <a:lnTo>
                  <a:pt x="5141699" y="114204"/>
                </a:lnTo>
                <a:lnTo>
                  <a:pt x="5179448" y="108990"/>
                </a:lnTo>
                <a:lnTo>
                  <a:pt x="5219096" y="100960"/>
                </a:lnTo>
                <a:lnTo>
                  <a:pt x="5238749" y="89915"/>
                </a:lnTo>
                <a:lnTo>
                  <a:pt x="5237503" y="87122"/>
                </a:lnTo>
                <a:lnTo>
                  <a:pt x="5194964" y="73491"/>
                </a:lnTo>
                <a:lnTo>
                  <a:pt x="5141699" y="65627"/>
                </a:lnTo>
                <a:lnTo>
                  <a:pt x="5095233" y="60537"/>
                </a:lnTo>
                <a:lnTo>
                  <a:pt x="5040340" y="55580"/>
                </a:lnTo>
                <a:lnTo>
                  <a:pt x="4977311" y="50767"/>
                </a:lnTo>
                <a:lnTo>
                  <a:pt x="4906434" y="46108"/>
                </a:lnTo>
                <a:lnTo>
                  <a:pt x="4868143" y="43839"/>
                </a:lnTo>
                <a:lnTo>
                  <a:pt x="4828000" y="41612"/>
                </a:lnTo>
                <a:lnTo>
                  <a:pt x="4786039" y="39429"/>
                </a:lnTo>
                <a:lnTo>
                  <a:pt x="4742297" y="37290"/>
                </a:lnTo>
                <a:lnTo>
                  <a:pt x="4696811" y="35198"/>
                </a:lnTo>
                <a:lnTo>
                  <a:pt x="4649617" y="33152"/>
                </a:lnTo>
                <a:lnTo>
                  <a:pt x="4600750" y="31156"/>
                </a:lnTo>
                <a:lnTo>
                  <a:pt x="4550248" y="29208"/>
                </a:lnTo>
                <a:lnTo>
                  <a:pt x="4498146" y="27312"/>
                </a:lnTo>
                <a:lnTo>
                  <a:pt x="4444480" y="25468"/>
                </a:lnTo>
                <a:lnTo>
                  <a:pt x="4389287" y="23678"/>
                </a:lnTo>
                <a:lnTo>
                  <a:pt x="4332603" y="21943"/>
                </a:lnTo>
                <a:lnTo>
                  <a:pt x="4274464" y="20263"/>
                </a:lnTo>
                <a:lnTo>
                  <a:pt x="4214906" y="18641"/>
                </a:lnTo>
                <a:lnTo>
                  <a:pt x="4153966" y="17077"/>
                </a:lnTo>
                <a:lnTo>
                  <a:pt x="4091679" y="15574"/>
                </a:lnTo>
                <a:lnTo>
                  <a:pt x="4028083" y="14131"/>
                </a:lnTo>
                <a:lnTo>
                  <a:pt x="3963212" y="12750"/>
                </a:lnTo>
                <a:lnTo>
                  <a:pt x="3897104" y="11434"/>
                </a:lnTo>
                <a:lnTo>
                  <a:pt x="3829795" y="10182"/>
                </a:lnTo>
                <a:lnTo>
                  <a:pt x="3761320" y="8996"/>
                </a:lnTo>
                <a:lnTo>
                  <a:pt x="3691716" y="7878"/>
                </a:lnTo>
                <a:lnTo>
                  <a:pt x="3621020" y="6828"/>
                </a:lnTo>
                <a:lnTo>
                  <a:pt x="3549266" y="5848"/>
                </a:lnTo>
                <a:lnTo>
                  <a:pt x="3476493" y="4939"/>
                </a:lnTo>
                <a:lnTo>
                  <a:pt x="3402735" y="4103"/>
                </a:lnTo>
                <a:lnTo>
                  <a:pt x="3328029" y="3340"/>
                </a:lnTo>
                <a:lnTo>
                  <a:pt x="3252412" y="2653"/>
                </a:lnTo>
                <a:lnTo>
                  <a:pt x="3175919" y="2041"/>
                </a:lnTo>
                <a:lnTo>
                  <a:pt x="3098587" y="1507"/>
                </a:lnTo>
                <a:lnTo>
                  <a:pt x="3020451" y="1052"/>
                </a:lnTo>
                <a:lnTo>
                  <a:pt x="2941549" y="676"/>
                </a:lnTo>
                <a:lnTo>
                  <a:pt x="2861915" y="382"/>
                </a:lnTo>
                <a:lnTo>
                  <a:pt x="2781588" y="170"/>
                </a:lnTo>
                <a:lnTo>
                  <a:pt x="2700602" y="42"/>
                </a:lnTo>
                <a:lnTo>
                  <a:pt x="2618993" y="0"/>
                </a:lnTo>
                <a:close/>
              </a:path>
            </a:pathLst>
          </a:custGeom>
          <a:ln w="31749">
            <a:solidFill>
              <a:srgbClr val="FF00FF"/>
            </a:solidFill>
            <a:prstDash val="dash"/>
          </a:ln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2" name="object 12"/>
          <p:cNvSpPr txBox="1"/>
          <p:nvPr/>
        </p:nvSpPr>
        <p:spPr>
          <a:xfrm>
            <a:off x="6532563" y="3673475"/>
            <a:ext cx="217487" cy="247650"/>
          </a:xfrm>
          <a:prstGeom prst="rect">
            <a:avLst/>
          </a:prstGeom>
        </p:spPr>
        <p:txBody>
          <a:bodyPr lIns="0" tIns="10860" rIns="0" bIns="0">
            <a:spAutoFit/>
          </a:bodyPr>
          <a:lstStyle/>
          <a:p>
            <a:pPr marL="10860" eaLnBrk="1" hangingPunct="1">
              <a:spcBef>
                <a:spcPts val="86"/>
              </a:spcBef>
              <a:defRPr/>
            </a:pPr>
            <a:r>
              <a:rPr sz="1539" b="1" spc="-9" dirty="0">
                <a:solidFill>
                  <a:srgbClr val="CC0000"/>
                </a:solidFill>
                <a:latin typeface="SimSun"/>
                <a:cs typeface="SimSun"/>
              </a:rPr>
              <a:t>×</a:t>
            </a:r>
            <a:endParaRPr sz="1539">
              <a:latin typeface="SimSun"/>
              <a:cs typeface="SimSu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50825" y="5514975"/>
            <a:ext cx="6384925" cy="625971"/>
          </a:xfrm>
          <a:prstGeom prst="rect">
            <a:avLst/>
          </a:prstGeom>
        </p:spPr>
        <p:txBody>
          <a:bodyPr wrap="square" lIns="0" tIns="10317" rIns="0" bIns="0">
            <a:spAutoFit/>
          </a:bodyPr>
          <a:lstStyle>
            <a:lvl1pPr marL="952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75"/>
              </a:spcBef>
            </a:pPr>
            <a:r>
              <a:rPr lang="zh-CN" altLang="zh-CN" sz="2000" b="1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第三步：在</a:t>
            </a:r>
            <a:r>
              <a:rPr lang="zh-CN" altLang="zh-CN" sz="2000" b="1" dirty="0">
                <a:solidFill>
                  <a:srgbClr val="FF0065"/>
                </a:solidFill>
                <a:cs typeface="Times New Roman" panose="02020603050405020304" pitchFamily="18" charset="0"/>
              </a:rPr>
              <a:t>(Wname, Type)</a:t>
            </a:r>
            <a:r>
              <a:rPr lang="zh-CN" altLang="zh-CN" sz="2000" b="1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上进行投影操作，得到最终的结果</a:t>
            </a:r>
            <a:endParaRPr lang="zh-CN" altLang="zh-CN" sz="20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762750" y="4441825"/>
            <a:ext cx="1581150" cy="170497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5" name="object 15"/>
          <p:cNvSpPr txBox="1"/>
          <p:nvPr/>
        </p:nvSpPr>
        <p:spPr>
          <a:xfrm>
            <a:off x="107505" y="1227138"/>
            <a:ext cx="8928992" cy="802370"/>
          </a:xfrm>
          <a:prstGeom prst="rect">
            <a:avLst/>
          </a:prstGeom>
        </p:spPr>
        <p:txBody>
          <a:bodyPr wrap="square" lIns="0" tIns="96110" rIns="0" bIns="0">
            <a:spAutoFit/>
          </a:bodyPr>
          <a:lstStyle>
            <a:lvl1pPr marL="952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763"/>
              </a:spcBef>
            </a:pPr>
            <a:r>
              <a:rPr lang="zh-CN" altLang="zh-CN" sz="2000" b="1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第一步：对两个表进行广义笛卡尔积</a:t>
            </a:r>
            <a:endParaRPr lang="zh-CN" altLang="zh-CN" sz="20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eaLnBrk="1" hangingPunct="1">
              <a:spcBef>
                <a:spcPts val="675"/>
              </a:spcBef>
            </a:pPr>
            <a:r>
              <a:rPr lang="zh-CN" altLang="zh-CN" sz="2000" b="1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第二步：从广义笛卡尔积中选取出符合</a:t>
            </a:r>
            <a:r>
              <a:rPr lang="zh-CN" altLang="zh-CN" sz="2000" b="1" dirty="0">
                <a:solidFill>
                  <a:srgbClr val="FF0065"/>
                </a:solidFill>
                <a:cs typeface="Times New Roman" panose="02020603050405020304" pitchFamily="18" charset="0"/>
              </a:rPr>
              <a:t>(</a:t>
            </a:r>
            <a:r>
              <a:rPr lang="zh-CN" altLang="zh-CN" sz="2000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degree &gt;= limited_degree</a:t>
            </a:r>
            <a:r>
              <a:rPr lang="zh-CN" altLang="zh-CN" sz="2000" b="1" dirty="0">
                <a:solidFill>
                  <a:srgbClr val="FF0065"/>
                </a:solidFill>
                <a:cs typeface="Times New Roman" panose="02020603050405020304" pitchFamily="18" charset="0"/>
              </a:rPr>
              <a:t>)</a:t>
            </a:r>
            <a:r>
              <a:rPr lang="zh-CN" altLang="zh-CN" sz="2000" b="1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条件的元组</a:t>
            </a:r>
            <a:endParaRPr lang="zh-CN" altLang="zh-CN" sz="20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16" name="灯片编号占位符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A6568E1-4089-4561-919E-9D2F37D3F2B0}" type="slidenum">
              <a:rPr lang="en-US" altLang="zh-CN" smtClean="0"/>
              <a:pPr>
                <a:defRPr/>
              </a:pPr>
              <a:t>39</a:t>
            </a:fld>
            <a:endParaRPr lang="en-US" altLang="zh-CN" dirty="0"/>
          </a:p>
        </p:txBody>
      </p:sp>
      <p:sp>
        <p:nvSpPr>
          <p:cNvPr id="17" name="标题 1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zh-CN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(2) “</a:t>
            </a:r>
            <a:r>
              <a:rPr lang="zh-CN" altLang="zh-CN" dirty="0">
                <a:solidFill>
                  <a:srgbClr val="F8F8F8"/>
                </a:solidFill>
                <a:latin typeface="Symbol" panose="05050102010706020507" pitchFamily="18" charset="2"/>
              </a:rPr>
              <a:t></a:t>
            </a:r>
            <a:r>
              <a:rPr lang="zh-CN" altLang="zh-CN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zh-CN" altLang="zh-CN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连接</a:t>
            </a:r>
            <a:r>
              <a:rPr lang="zh-CN" altLang="zh-CN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r>
              <a:rPr lang="zh-CN" altLang="zh-CN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操作</a:t>
            </a:r>
            <a:endParaRPr lang="zh-CN" altLang="en-US" dirty="0"/>
          </a:p>
        </p:txBody>
      </p:sp>
      <p:sp>
        <p:nvSpPr>
          <p:cNvPr id="2" name="矩形 1"/>
          <p:cNvSpPr/>
          <p:nvPr/>
        </p:nvSpPr>
        <p:spPr>
          <a:xfrm>
            <a:off x="6431417" y="2469866"/>
            <a:ext cx="408666" cy="5283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lnSpc>
                <a:spcPts val="1650"/>
              </a:lnSpc>
            </a:pPr>
            <a:r>
              <a:rPr lang="zh-CN" altLang="zh-CN" sz="1200" b="1" dirty="0">
                <a:solidFill>
                  <a:srgbClr val="CC0000"/>
                </a:solidFill>
                <a:latin typeface="宋体" panose="02010600030101010101" pitchFamily="2" charset="-122"/>
              </a:rPr>
              <a:t>×</a:t>
            </a:r>
            <a:endParaRPr lang="zh-CN" altLang="zh-CN" sz="1200" dirty="0">
              <a:latin typeface="宋体" panose="02010600030101010101" pitchFamily="2" charset="-122"/>
            </a:endParaRPr>
          </a:p>
          <a:p>
            <a:pPr eaLnBrk="1" hangingPunct="1">
              <a:lnSpc>
                <a:spcPts val="1650"/>
              </a:lnSpc>
            </a:pPr>
            <a:r>
              <a:rPr lang="zh-CN" altLang="zh-CN" sz="1200" b="1" dirty="0">
                <a:solidFill>
                  <a:srgbClr val="CC0000"/>
                </a:solidFill>
                <a:latin typeface="宋体" panose="02010600030101010101" pitchFamily="2" charset="-122"/>
              </a:rPr>
              <a:t>×</a:t>
            </a:r>
            <a:endParaRPr lang="zh-CN" altLang="zh-CN" sz="1200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/>
      <p:bldP spid="2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903288" y="3388706"/>
            <a:ext cx="7845176" cy="631702"/>
          </a:xfrm>
          <a:prstGeom prst="rect">
            <a:avLst/>
          </a:prstGeom>
        </p:spPr>
        <p:txBody>
          <a:bodyPr wrap="square" lIns="0" tIns="3801" rIns="0" bIns="0">
            <a:spAutoFit/>
          </a:bodyPr>
          <a:lstStyle>
            <a:lvl1pPr marL="952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2000"/>
              </a:lnSpc>
              <a:spcBef>
                <a:spcPts val="25"/>
              </a:spcBef>
            </a:pP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注：上式</a:t>
            </a:r>
            <a:r>
              <a:rPr lang="zh-CN" altLang="zh-CN" sz="2000" b="1" i="1" dirty="0">
                <a:solidFill>
                  <a:srgbClr val="FF0065"/>
                </a:solidFill>
                <a:latin typeface="Symbol" panose="05050102010706020507" pitchFamily="18" charset="2"/>
              </a:rPr>
              <a:t></a:t>
            </a:r>
            <a:r>
              <a:rPr lang="zh-CN" altLang="zh-CN" sz="2000" b="1" i="1" dirty="0">
                <a:solidFill>
                  <a:srgbClr val="FF0065"/>
                </a:solidFill>
                <a:cs typeface="Times New Roman" panose="02020603050405020304" pitchFamily="18" charset="0"/>
              </a:rPr>
              <a:t> </a:t>
            </a:r>
            <a:r>
              <a:rPr lang="zh-CN" altLang="zh-CN" sz="2000" b="1" baseline="-13000" dirty="0">
                <a:latin typeface="Arial" panose="020B0604020202020204" pitchFamily="34" charset="0"/>
                <a:cs typeface="Arial" panose="020B0604020202020204" pitchFamily="34" charset="0"/>
              </a:rPr>
              <a:t>SC1 </a:t>
            </a:r>
            <a:r>
              <a:rPr lang="zh-CN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(SC)</a:t>
            </a: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表</a:t>
            </a:r>
            <a:r>
              <a:rPr lang="zh-CN" altLang="zh-CN" sz="2000" b="1" dirty="0">
                <a:solidFill>
                  <a:srgbClr val="FF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更名</a:t>
            </a: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操作，即将表</a:t>
            </a:r>
            <a:r>
              <a:rPr lang="zh-CN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SC</a:t>
            </a: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更名为</a:t>
            </a:r>
            <a:r>
              <a:rPr lang="zh-CN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SC1</a:t>
            </a: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，当一个表需要 和其自身进行连接运算时，通常要使用更名操作</a:t>
            </a:r>
            <a:endParaRPr lang="zh-CN" altLang="zh-CN" sz="20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03648" y="2852936"/>
            <a:ext cx="4320480" cy="325437"/>
          </a:xfrm>
          <a:prstGeom prst="rect">
            <a:avLst/>
          </a:prstGeom>
        </p:spPr>
        <p:txBody>
          <a:bodyPr wrap="square" lIns="0" tIns="10860" rIns="0" bIns="0">
            <a:spAutoFit/>
          </a:bodyPr>
          <a:lstStyle>
            <a:lvl1pPr marL="952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88"/>
              </a:spcBef>
            </a:pPr>
            <a:r>
              <a:rPr lang="zh-CN" altLang="zh-CN" sz="3000" b="1" baseline="12000">
                <a:solidFill>
                  <a:srgbClr val="FF006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π</a:t>
            </a:r>
            <a:r>
              <a:rPr lang="zh-CN" altLang="zh-CN" sz="1000" b="1">
                <a:latin typeface="Arial" panose="020B0604020202020204" pitchFamily="34" charset="0"/>
                <a:cs typeface="Arial" panose="020B0604020202020204" pitchFamily="34" charset="0"/>
              </a:rPr>
              <a:t>SC.C# </a:t>
            </a:r>
            <a:r>
              <a:rPr lang="zh-CN" altLang="zh-CN" sz="2500" b="1" baseline="1400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zh-CN" altLang="zh-CN" sz="3000" b="1" baseline="12000">
                <a:solidFill>
                  <a:srgbClr val="FF006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σ</a:t>
            </a:r>
            <a:r>
              <a:rPr lang="zh-CN" altLang="zh-CN" sz="1000" b="1">
                <a:latin typeface="Arial" panose="020B0604020202020204" pitchFamily="34" charset="0"/>
                <a:cs typeface="Arial" panose="020B0604020202020204" pitchFamily="34" charset="0"/>
              </a:rPr>
              <a:t>SC.S#=“98030101” </a:t>
            </a:r>
            <a:r>
              <a:rPr lang="zh-CN" altLang="zh-CN" b="1" baseline="-6000">
                <a:latin typeface="Symbol" panose="05050102010706020507" pitchFamily="18" charset="2"/>
              </a:rPr>
              <a:t></a:t>
            </a:r>
            <a:r>
              <a:rPr lang="zh-CN" altLang="zh-CN" b="1" baseline="-6000">
                <a:cs typeface="Times New Roman" panose="02020603050405020304" pitchFamily="18" charset="0"/>
              </a:rPr>
              <a:t> </a:t>
            </a:r>
            <a:r>
              <a:rPr lang="zh-CN" altLang="zh-CN" sz="1000" b="1">
                <a:latin typeface="Arial" panose="020B0604020202020204" pitchFamily="34" charset="0"/>
                <a:cs typeface="Arial" panose="020B0604020202020204" pitchFamily="34" charset="0"/>
              </a:rPr>
              <a:t>SC1.S#=“98040202”</a:t>
            </a:r>
            <a:r>
              <a:rPr lang="zh-CN" altLang="zh-CN" sz="2500" b="1" baseline="14000">
                <a:latin typeface="Arial" panose="020B0604020202020204" pitchFamily="34" charset="0"/>
                <a:cs typeface="Arial" panose="020B0604020202020204" pitchFamily="34" charset="0"/>
              </a:rPr>
              <a:t>(SC</a:t>
            </a:r>
            <a:endParaRPr lang="zh-CN" altLang="zh-CN" sz="2500" baseline="14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5535" y="1335088"/>
            <a:ext cx="8640961" cy="1803758"/>
          </a:xfrm>
          <a:prstGeom prst="rect">
            <a:avLst/>
          </a:prstGeom>
        </p:spPr>
        <p:txBody>
          <a:bodyPr wrap="square" lIns="0" tIns="89594" rIns="0" bIns="0">
            <a:spAutoFit/>
          </a:bodyPr>
          <a:lstStyle>
            <a:lvl1pPr marL="244475" indent="-231775">
              <a:tabLst>
                <a:tab pos="244475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tabLst>
                <a:tab pos="244475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tabLst>
                <a:tab pos="244475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tabLst>
                <a:tab pos="244475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tabLst>
                <a:tab pos="244475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4475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4475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4475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4475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700"/>
              </a:spcBef>
              <a:buClr>
                <a:srgbClr val="000000"/>
              </a:buClr>
              <a:buFont typeface="Wingdings" panose="05000000000000000000" pitchFamily="2" charset="2"/>
              <a:buChar char=""/>
            </a:pPr>
            <a:r>
              <a:rPr lang="zh-CN" altLang="zh-CN" b="1" dirty="0">
                <a:solidFill>
                  <a:srgbClr val="FF0065"/>
                </a:solidFill>
                <a:latin typeface="Symbol" panose="05050102010706020507" pitchFamily="18" charset="2"/>
              </a:rPr>
              <a:t></a:t>
            </a:r>
            <a:r>
              <a:rPr lang="zh-CN" altLang="zh-CN" b="1" dirty="0">
                <a:solidFill>
                  <a:srgbClr val="FF0065"/>
                </a:solidFill>
                <a:cs typeface="Times New Roman" panose="02020603050405020304" pitchFamily="18" charset="0"/>
              </a:rPr>
              <a:t>-</a:t>
            </a:r>
            <a:r>
              <a:rPr lang="zh-CN" altLang="zh-CN" b="1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连接</a:t>
            </a:r>
            <a:r>
              <a:rPr lang="zh-CN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操作的示例三</a:t>
            </a:r>
            <a:r>
              <a:rPr lang="zh-CN" altLang="zh-CN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zh-CN" altLang="zh-CN" b="1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续</a:t>
            </a:r>
            <a:r>
              <a:rPr lang="zh-CN" altLang="zh-CN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zh-CN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ts val="625"/>
              </a:spcBef>
              <a:buFont typeface="Wingdings" panose="05000000000000000000" pitchFamily="2" charset="2"/>
              <a:buChar char=""/>
            </a:pPr>
            <a:r>
              <a:rPr lang="zh-CN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关系与自身的</a:t>
            </a:r>
            <a:r>
              <a:rPr lang="zh-CN" altLang="zh-CN" b="1" dirty="0">
                <a:solidFill>
                  <a:srgbClr val="FF0065"/>
                </a:solidFill>
                <a:latin typeface="Symbol" panose="05050102010706020507" pitchFamily="18" charset="2"/>
              </a:rPr>
              <a:t></a:t>
            </a:r>
            <a:r>
              <a:rPr lang="zh-CN" altLang="zh-CN" b="1" dirty="0">
                <a:solidFill>
                  <a:srgbClr val="FF0000"/>
                </a:solidFill>
                <a:cs typeface="Times New Roman" panose="02020603050405020304" pitchFamily="18" charset="0"/>
              </a:rPr>
              <a:t>-</a:t>
            </a:r>
            <a:r>
              <a:rPr lang="zh-CN" altLang="zh-CN" b="1" dirty="0">
                <a:solidFill>
                  <a:srgbClr val="FF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连接</a:t>
            </a:r>
            <a:endParaRPr lang="zh-CN" altLang="zh-CN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eaLnBrk="1" hangingPunct="1">
              <a:spcBef>
                <a:spcPts val="763"/>
              </a:spcBef>
              <a:buFont typeface="Wingdings" panose="05000000000000000000" pitchFamily="2" charset="2"/>
              <a:buChar char=""/>
            </a:pP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查询至少</a:t>
            </a:r>
            <a:r>
              <a:rPr lang="zh-CN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98030101</a:t>
            </a: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号同学和</a:t>
            </a:r>
            <a:r>
              <a:rPr lang="zh-CN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98040202</a:t>
            </a: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号同学学过的所有课程号</a:t>
            </a:r>
            <a:endParaRPr lang="en-US" altLang="zh-CN" sz="20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marL="12700" indent="0" eaLnBrk="1" hangingPunct="1">
              <a:spcBef>
                <a:spcPts val="763"/>
              </a:spcBef>
            </a:pPr>
            <a:r>
              <a:rPr lang="en-US" altLang="zh-CN" sz="2000" b="1" i="1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                                             </a:t>
            </a:r>
            <a:r>
              <a:rPr lang="zh-CN" altLang="zh-CN" sz="2500" b="1" i="1" dirty="0">
                <a:solidFill>
                  <a:srgbClr val="FF0065"/>
                </a:solidFill>
                <a:latin typeface="Symbol" panose="05050102010706020507" pitchFamily="18" charset="2"/>
              </a:rPr>
              <a:t></a:t>
            </a:r>
            <a:r>
              <a:rPr lang="zh-CN" altLang="zh-CN" sz="2500" b="1" i="1" dirty="0">
                <a:solidFill>
                  <a:srgbClr val="FF0065"/>
                </a:solidFill>
                <a:cs typeface="Times New Roman" panose="02020603050405020304" pitchFamily="18" charset="0"/>
              </a:rPr>
              <a:t> </a:t>
            </a:r>
            <a:r>
              <a:rPr lang="zh-CN" altLang="zh-CN" sz="1600" b="1" baseline="-13000" dirty="0">
                <a:latin typeface="Tahoma" panose="020B0604030504040204" pitchFamily="34" charset="0"/>
                <a:cs typeface="Tahoma" panose="020B0604030504040204" pitchFamily="34" charset="0"/>
              </a:rPr>
              <a:t>SC1 </a:t>
            </a:r>
            <a:r>
              <a:rPr lang="zh-CN" altLang="zh-CN" sz="1700" b="1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zh-CN" altLang="zh-CN" sz="1700" b="1" dirty="0">
                <a:latin typeface="Tahoma" panose="020B0604030504040204" pitchFamily="34" charset="0"/>
                <a:cs typeface="Tahoma" panose="020B0604030504040204" pitchFamily="34" charset="0"/>
              </a:rPr>
              <a:t>SC))</a:t>
            </a:r>
            <a:endParaRPr lang="zh-CN" altLang="zh-CN" sz="1700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998146" y="2853879"/>
            <a:ext cx="301625" cy="115887"/>
          </a:xfrm>
          <a:custGeom>
            <a:avLst/>
            <a:gdLst/>
            <a:ahLst/>
            <a:cxnLst/>
            <a:rect l="l" t="t" r="r" b="b"/>
            <a:pathLst>
              <a:path w="351790" h="135255">
                <a:moveTo>
                  <a:pt x="0" y="134874"/>
                </a:moveTo>
                <a:lnTo>
                  <a:pt x="0" y="0"/>
                </a:lnTo>
                <a:lnTo>
                  <a:pt x="351282" y="134874"/>
                </a:lnTo>
                <a:lnTo>
                  <a:pt x="351282" y="0"/>
                </a:lnTo>
                <a:lnTo>
                  <a:pt x="0" y="134874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7" name="object 7"/>
          <p:cNvSpPr txBox="1"/>
          <p:nvPr/>
        </p:nvSpPr>
        <p:spPr>
          <a:xfrm>
            <a:off x="5666358" y="3006279"/>
            <a:ext cx="1009650" cy="169862"/>
          </a:xfrm>
          <a:prstGeom prst="rect">
            <a:avLst/>
          </a:prstGeom>
        </p:spPr>
        <p:txBody>
          <a:bodyPr lIns="0" tIns="10860" rIns="0" bIns="0">
            <a:spAutoFit/>
          </a:bodyPr>
          <a:lstStyle/>
          <a:p>
            <a:pPr marL="10860" eaLnBrk="1" hangingPunct="1">
              <a:spcBef>
                <a:spcPts val="86"/>
              </a:spcBef>
              <a:defRPr/>
            </a:pPr>
            <a:r>
              <a:rPr sz="1026" b="1" spc="-4" dirty="0">
                <a:solidFill>
                  <a:srgbClr val="FF0065"/>
                </a:solidFill>
                <a:latin typeface="Arial"/>
                <a:cs typeface="Arial"/>
              </a:rPr>
              <a:t>SC.C# </a:t>
            </a:r>
            <a:r>
              <a:rPr sz="1026" b="1" dirty="0">
                <a:solidFill>
                  <a:srgbClr val="FF0065"/>
                </a:solidFill>
                <a:latin typeface="Arial"/>
                <a:cs typeface="Arial"/>
              </a:rPr>
              <a:t>=</a:t>
            </a:r>
            <a:r>
              <a:rPr sz="1026" b="1" spc="-43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1026" b="1" spc="-9" dirty="0">
                <a:solidFill>
                  <a:srgbClr val="FF0065"/>
                </a:solidFill>
                <a:latin typeface="Arial"/>
                <a:cs typeface="Arial"/>
              </a:rPr>
              <a:t>SC1.C#</a:t>
            </a:r>
            <a:endParaRPr sz="1026" dirty="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71601" y="4653136"/>
            <a:ext cx="4489400" cy="12936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0" name="object 10"/>
          <p:cNvSpPr/>
          <p:nvPr/>
        </p:nvSpPr>
        <p:spPr>
          <a:xfrm>
            <a:off x="6396038" y="4189413"/>
            <a:ext cx="2352426" cy="233593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02E7998-F56A-45D4-984E-4E67E3C944B8}" type="slidenum">
              <a:rPr lang="en-US" altLang="zh-CN" smtClean="0"/>
              <a:pPr>
                <a:defRPr/>
              </a:pPr>
              <a:t>40</a:t>
            </a:fld>
            <a:endParaRPr lang="en-US" altLang="zh-CN"/>
          </a:p>
        </p:txBody>
      </p:sp>
      <p:sp>
        <p:nvSpPr>
          <p:cNvPr id="12" name="矩形 11"/>
          <p:cNvSpPr/>
          <p:nvPr/>
        </p:nvSpPr>
        <p:spPr>
          <a:xfrm>
            <a:off x="759475" y="695559"/>
            <a:ext cx="404469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spcBef>
                <a:spcPts val="75"/>
              </a:spcBef>
            </a:pPr>
            <a:r>
              <a:rPr lang="zh-CN" altLang="zh-CN" sz="36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(2) “</a:t>
            </a:r>
            <a:r>
              <a:rPr lang="zh-CN" altLang="zh-CN" sz="3600" b="1" dirty="0">
                <a:solidFill>
                  <a:srgbClr val="F8F8F8"/>
                </a:solidFill>
                <a:latin typeface="Symbol" panose="05050102010706020507" pitchFamily="18" charset="2"/>
              </a:rPr>
              <a:t></a:t>
            </a:r>
            <a:r>
              <a:rPr lang="zh-CN" altLang="zh-CN" sz="36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zh-CN" altLang="zh-CN" sz="3600" b="1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连接</a:t>
            </a:r>
            <a:r>
              <a:rPr lang="zh-CN" altLang="zh-CN" sz="36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r>
              <a:rPr lang="zh-CN" altLang="zh-CN" sz="3600" b="1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操作</a:t>
            </a:r>
            <a:endParaRPr lang="zh-CN" altLang="zh-CN" sz="36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683568" y="1772816"/>
            <a:ext cx="7704856" cy="2270553"/>
          </a:xfrm>
          <a:prstGeom prst="rect">
            <a:avLst/>
          </a:prstGeom>
        </p:spPr>
        <p:txBody>
          <a:bodyPr wrap="square" lIns="0" tIns="89594" rIns="0" bIns="0">
            <a:spAutoFit/>
          </a:bodyPr>
          <a:lstStyle>
            <a:lvl1pPr marL="246063" indent="-236538">
              <a:tabLst>
                <a:tab pos="2476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tabLst>
                <a:tab pos="2476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tabLst>
                <a:tab pos="2476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tabLst>
                <a:tab pos="2476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tabLst>
                <a:tab pos="2476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76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76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76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76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700"/>
              </a:spcBef>
              <a:buFont typeface="Wingdings" panose="05000000000000000000" pitchFamily="2" charset="2"/>
              <a:buChar char=""/>
            </a:pPr>
            <a:r>
              <a:rPr lang="zh-CN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特别注意：</a:t>
            </a:r>
            <a:endParaRPr lang="zh-CN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eaLnBrk="1" hangingPunct="1">
              <a:spcBef>
                <a:spcPts val="188"/>
              </a:spcBef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虽然我们在讲解</a:t>
            </a:r>
            <a:r>
              <a:rPr lang="zh-CN" altLang="zh-CN" sz="2800" b="1" dirty="0">
                <a:solidFill>
                  <a:srgbClr val="FF0065"/>
                </a:solidFill>
                <a:latin typeface="Symbol" panose="05050102010706020507" pitchFamily="18" charset="2"/>
              </a:rPr>
              <a:t></a:t>
            </a:r>
            <a:r>
              <a:rPr lang="zh-CN" altLang="zh-CN" sz="2800" b="1" dirty="0">
                <a:solidFill>
                  <a:srgbClr val="FF006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-连接</a:t>
            </a:r>
            <a:r>
              <a:rPr lang="zh-CN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操作时，使用笛卡尔积然后再进行选择来得到</a:t>
            </a:r>
            <a:r>
              <a:rPr lang="zh-CN" altLang="zh-CN" sz="2800" b="1" dirty="0">
                <a:solidFill>
                  <a:srgbClr val="FF0065"/>
                </a:solidFill>
                <a:latin typeface="Symbol" panose="05050102010706020507" pitchFamily="18" charset="2"/>
              </a:rPr>
              <a:t></a:t>
            </a:r>
            <a:r>
              <a:rPr lang="zh-CN" altLang="zh-CN" sz="2800" b="1" dirty="0">
                <a:solidFill>
                  <a:srgbClr val="FF006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 连接</a:t>
            </a:r>
            <a:r>
              <a:rPr lang="zh-CN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结果。这主要是方便大家理解。但当引入连接操作后，DBMS可直接进行连接操作，而不必先形成笛卡尔积。</a:t>
            </a:r>
            <a:endParaRPr lang="zh-CN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A6568E1-4089-4561-919E-9D2F37D3F2B0}" type="slidenum">
              <a:rPr lang="en-US" altLang="zh-CN" smtClean="0"/>
              <a:pPr>
                <a:defRPr/>
              </a:pPr>
              <a:t>41</a:t>
            </a:fld>
            <a:endParaRPr lang="en-US" altLang="zh-CN" dirty="0"/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1043608" y="685800"/>
            <a:ext cx="6408712" cy="563563"/>
          </a:xfrm>
        </p:spPr>
        <p:txBody>
          <a:bodyPr/>
          <a:lstStyle/>
          <a:p>
            <a:pPr algn="l"/>
            <a:r>
              <a:rPr lang="zh-CN" altLang="zh-CN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(2) “</a:t>
            </a:r>
            <a:r>
              <a:rPr lang="zh-CN" altLang="zh-CN" dirty="0">
                <a:solidFill>
                  <a:srgbClr val="F8F8F8"/>
                </a:solidFill>
                <a:latin typeface="Symbol" panose="05050102010706020507" pitchFamily="18" charset="2"/>
              </a:rPr>
              <a:t></a:t>
            </a:r>
            <a:r>
              <a:rPr lang="zh-CN" altLang="zh-CN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zh-CN" altLang="zh-CN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连接</a:t>
            </a:r>
            <a:r>
              <a:rPr lang="zh-CN" altLang="zh-CN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r>
              <a:rPr lang="zh-CN" altLang="zh-CN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操作</a:t>
            </a:r>
            <a:endParaRPr lang="zh-CN" altLang="en-US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539553" y="1368425"/>
            <a:ext cx="8424936" cy="4784417"/>
          </a:xfrm>
          <a:prstGeom prst="rect">
            <a:avLst/>
          </a:prstGeom>
        </p:spPr>
        <p:txBody>
          <a:bodyPr wrap="square" lIns="0" tIns="10317" rIns="0" bIns="0">
            <a:spAutoFit/>
          </a:bodyPr>
          <a:lstStyle>
            <a:lvl1pPr marL="14288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75"/>
              </a:spcBef>
            </a:pPr>
            <a:r>
              <a:rPr lang="zh-CN" altLang="zh-CN" sz="27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等值连接(Equi-Join)</a:t>
            </a:r>
            <a:endParaRPr lang="zh-CN" altLang="zh-CN" sz="27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30000"/>
              </a:lnSpc>
              <a:spcBef>
                <a:spcPts val="1163"/>
              </a:spcBef>
              <a:buClr>
                <a:srgbClr val="000000"/>
              </a:buClr>
              <a:buFont typeface="Wingdings" panose="05000000000000000000" pitchFamily="2" charset="2"/>
              <a:buChar char=""/>
            </a:pPr>
            <a:r>
              <a:rPr lang="zh-CN" altLang="zh-CN" sz="2000" b="1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定义</a:t>
            </a: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：给定关系</a:t>
            </a:r>
            <a:r>
              <a:rPr lang="zh-CN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和关系</a:t>
            </a:r>
            <a:r>
              <a:rPr lang="zh-CN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S, R</a:t>
            </a: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与</a:t>
            </a:r>
            <a:r>
              <a:rPr lang="zh-CN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的等值连接运算结果也是一个关系，  记作	，</a:t>
            </a:r>
            <a:r>
              <a:rPr lang="en-US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  </a:t>
            </a: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它由关系</a:t>
            </a:r>
            <a:r>
              <a:rPr lang="zh-CN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和关系</a:t>
            </a:r>
            <a:r>
              <a:rPr lang="zh-CN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的笛卡尔积中选取</a:t>
            </a:r>
            <a:r>
              <a:rPr lang="zh-CN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中属性</a:t>
            </a:r>
            <a:r>
              <a:rPr lang="zh-CN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与</a:t>
            </a:r>
            <a:r>
              <a:rPr lang="zh-CN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中属性</a:t>
            </a:r>
            <a:endParaRPr lang="zh-CN" altLang="zh-CN" sz="20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eaLnBrk="1" hangingPunct="1">
              <a:spcBef>
                <a:spcPts val="625"/>
              </a:spcBef>
            </a:pPr>
            <a:r>
              <a:rPr lang="zh-CN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上值</a:t>
            </a:r>
            <a:r>
              <a:rPr lang="zh-CN" altLang="zh-CN" sz="2000" b="1" dirty="0">
                <a:solidFill>
                  <a:srgbClr val="FF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相等</a:t>
            </a: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的元组所构成。</a:t>
            </a:r>
            <a:endParaRPr lang="zh-CN" altLang="zh-CN" sz="20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eaLnBrk="1" hangingPunct="1"/>
            <a:endParaRPr lang="zh-CN" altLang="zh-CN" sz="1800" dirty="0">
              <a:cs typeface="Times New Roman" panose="02020603050405020304" pitchFamily="18" charset="0"/>
            </a:endParaRPr>
          </a:p>
          <a:p>
            <a:pPr eaLnBrk="1" hangingPunct="1">
              <a:spcBef>
                <a:spcPts val="1125"/>
              </a:spcBef>
              <a:buFont typeface="Wingdings" panose="05000000000000000000" pitchFamily="2" charset="2"/>
              <a:buChar char=""/>
            </a:pPr>
            <a:r>
              <a:rPr lang="zh-CN" altLang="zh-CN" sz="2000" b="1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数学描述</a:t>
            </a: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：</a:t>
            </a:r>
            <a:endParaRPr lang="zh-CN" altLang="zh-CN" sz="20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eaLnBrk="1" hangingPunct="1">
              <a:buFontTx/>
              <a:buChar char=""/>
            </a:pPr>
            <a:endParaRPr lang="zh-CN" altLang="zh-CN" sz="1800" dirty="0">
              <a:cs typeface="Times New Roman" panose="02020603050405020304" pitchFamily="18" charset="0"/>
            </a:endParaRPr>
          </a:p>
          <a:p>
            <a:pPr eaLnBrk="1" hangingPunct="1">
              <a:spcBef>
                <a:spcPts val="25"/>
              </a:spcBef>
              <a:buFontTx/>
              <a:buChar char=""/>
            </a:pPr>
            <a:endParaRPr lang="zh-CN" altLang="zh-CN" sz="1400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124000"/>
              </a:lnSpc>
              <a:buSzPct val="95000"/>
              <a:buFont typeface="Wingdings" panose="05000000000000000000" pitchFamily="2" charset="2"/>
              <a:buChar char=""/>
            </a:pPr>
            <a:r>
              <a:rPr lang="zh-CN" altLang="zh-CN" sz="2200" b="1" dirty="0">
                <a:solidFill>
                  <a:srgbClr val="3333CC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当</a:t>
            </a:r>
            <a:r>
              <a:rPr lang="zh-CN" altLang="zh-CN" sz="2200" b="1" dirty="0">
                <a:solidFill>
                  <a:srgbClr val="FF0065"/>
                </a:solidFill>
                <a:latin typeface="Symbol" panose="05050102010706020507" pitchFamily="18" charset="2"/>
              </a:rPr>
              <a:t></a:t>
            </a:r>
            <a:r>
              <a:rPr lang="zh-CN" altLang="zh-CN" sz="2200" b="1" dirty="0">
                <a:solidFill>
                  <a:srgbClr val="FF0065"/>
                </a:solidFill>
                <a:cs typeface="Times New Roman" panose="02020603050405020304" pitchFamily="18" charset="0"/>
              </a:rPr>
              <a:t>-</a:t>
            </a:r>
            <a:r>
              <a:rPr lang="zh-CN" altLang="zh-CN" sz="2200" b="1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连接</a:t>
            </a:r>
            <a:r>
              <a:rPr lang="zh-CN" altLang="zh-CN" sz="2200" b="1" dirty="0">
                <a:solidFill>
                  <a:srgbClr val="3333CC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中运算符为</a:t>
            </a:r>
            <a:r>
              <a:rPr lang="zh-CN" altLang="zh-CN" sz="2200" b="1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zh-CN" altLang="zh-CN" sz="2200" b="1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＝</a:t>
            </a:r>
            <a:r>
              <a:rPr lang="zh-CN" altLang="zh-CN" sz="2200" b="1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r>
              <a:rPr lang="zh-CN" altLang="zh-CN" sz="2200" b="1" dirty="0">
                <a:solidFill>
                  <a:srgbClr val="3333CC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时，就是</a:t>
            </a:r>
            <a:r>
              <a:rPr lang="zh-CN" altLang="zh-CN" sz="2200" b="1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等值连接</a:t>
            </a:r>
            <a:r>
              <a:rPr lang="zh-CN" altLang="zh-CN" sz="2200" b="1" dirty="0">
                <a:solidFill>
                  <a:srgbClr val="3333CC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，等值连接是</a:t>
            </a:r>
            <a:r>
              <a:rPr lang="zh-CN" altLang="zh-CN" sz="2200" b="1" dirty="0">
                <a:solidFill>
                  <a:srgbClr val="3333CC"/>
                </a:solidFill>
                <a:latin typeface="Symbol" panose="05050102010706020507" pitchFamily="18" charset="2"/>
              </a:rPr>
              <a:t></a:t>
            </a:r>
            <a:r>
              <a:rPr lang="zh-CN" altLang="zh-CN" sz="2200" b="1" dirty="0">
                <a:solidFill>
                  <a:srgbClr val="3333CC"/>
                </a:solidFill>
                <a:cs typeface="Times New Roman" panose="02020603050405020304" pitchFamily="18" charset="0"/>
              </a:rPr>
              <a:t>-</a:t>
            </a:r>
            <a:r>
              <a:rPr lang="zh-CN" altLang="zh-CN" sz="2200" b="1" dirty="0">
                <a:solidFill>
                  <a:srgbClr val="3333CC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连接的一个特例；</a:t>
            </a:r>
            <a:endParaRPr lang="zh-CN" altLang="zh-CN" sz="22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eaLnBrk="1" hangingPunct="1">
              <a:lnSpc>
                <a:spcPts val="2500"/>
              </a:lnSpc>
              <a:buFont typeface="Wingdings" panose="05000000000000000000" pitchFamily="2" charset="2"/>
              <a:buChar char=""/>
            </a:pPr>
            <a:r>
              <a:rPr lang="zh-CN" altLang="zh-CN" sz="2200" b="1" dirty="0">
                <a:solidFill>
                  <a:srgbClr val="3333CC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广义积的元组组合并不是都有意义的，另广义积的元组组合数目也非常庞大，因此采用</a:t>
            </a:r>
            <a:r>
              <a:rPr lang="zh-CN" altLang="zh-CN" sz="2200" b="1" dirty="0">
                <a:solidFill>
                  <a:srgbClr val="FF0065"/>
                </a:solidFill>
                <a:latin typeface="Symbol" panose="05050102010706020507" pitchFamily="18" charset="2"/>
              </a:rPr>
              <a:t></a:t>
            </a:r>
            <a:r>
              <a:rPr lang="zh-CN" altLang="zh-CN" sz="2200" b="1" dirty="0">
                <a:solidFill>
                  <a:srgbClr val="FF0065"/>
                </a:solidFill>
                <a:cs typeface="Times New Roman" panose="02020603050405020304" pitchFamily="18" charset="0"/>
              </a:rPr>
              <a:t>-</a:t>
            </a:r>
            <a:r>
              <a:rPr lang="zh-CN" altLang="zh-CN" sz="2200" b="1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连接</a:t>
            </a:r>
            <a:r>
              <a:rPr lang="zh-CN" altLang="zh-CN" sz="2200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zh-CN" altLang="zh-CN" sz="2200" b="1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等值连接</a:t>
            </a:r>
            <a:r>
              <a:rPr lang="zh-CN" altLang="zh-CN" sz="2200" b="1" dirty="0">
                <a:solidFill>
                  <a:srgbClr val="3333CC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运算可大幅度降低中间结果的保存量，提高速度。</a:t>
            </a:r>
            <a:endParaRPr lang="zh-CN" altLang="zh-CN" sz="22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199109" y="2367608"/>
            <a:ext cx="636587" cy="3413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7" name="object 7"/>
          <p:cNvSpPr/>
          <p:nvPr/>
        </p:nvSpPr>
        <p:spPr>
          <a:xfrm>
            <a:off x="2265363" y="3213100"/>
            <a:ext cx="3948112" cy="7270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A6568E1-4089-4561-919E-9D2F37D3F2B0}" type="slidenum">
              <a:rPr lang="en-US" altLang="zh-CN" smtClean="0"/>
              <a:pPr>
                <a:defRPr/>
              </a:pPr>
              <a:t>42</a:t>
            </a:fld>
            <a:endParaRPr lang="en-US" altLang="zh-CN" dirty="0"/>
          </a:p>
        </p:txBody>
      </p:sp>
      <p:sp>
        <p:nvSpPr>
          <p:cNvPr id="11" name="标题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zh-CN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(3) “</a:t>
            </a:r>
            <a:r>
              <a:rPr lang="zh-CN" altLang="zh-CN" dirty="0">
                <a:solidFill>
                  <a:srgbClr val="F8F8F8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等值</a:t>
            </a:r>
            <a:r>
              <a:rPr lang="zh-CN" altLang="zh-CN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zh-CN" altLang="zh-CN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连接</a:t>
            </a:r>
            <a:r>
              <a:rPr lang="zh-CN" altLang="zh-CN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r>
              <a:rPr lang="zh-CN" altLang="zh-CN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操作</a:t>
            </a:r>
            <a:endParaRPr lang="zh-CN" altLang="en-US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543719" y="1477733"/>
            <a:ext cx="6497662" cy="379750"/>
          </a:xfrm>
          <a:prstGeom prst="rect">
            <a:avLst/>
          </a:prstGeom>
        </p:spPr>
        <p:txBody>
          <a:bodyPr wrap="square" lIns="0" tIns="10317" rIns="0" bIns="0">
            <a:spAutoFit/>
          </a:bodyPr>
          <a:lstStyle>
            <a:lvl1pPr marL="242888" indent="-231775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75"/>
              </a:spcBef>
              <a:buFont typeface="Wingdings" panose="05000000000000000000" pitchFamily="2" charset="2"/>
              <a:buChar char=""/>
            </a:pPr>
            <a:r>
              <a:rPr lang="zh-CN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等值连接</a:t>
            </a:r>
            <a:r>
              <a:rPr lang="zh-CN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(Equi-Join)</a:t>
            </a:r>
            <a:r>
              <a:rPr lang="zh-CN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操作的示例一</a:t>
            </a:r>
            <a:r>
              <a:rPr lang="zh-CN" altLang="zh-CN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zh-CN" altLang="zh-CN" b="1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抽象的</a:t>
            </a:r>
            <a:r>
              <a:rPr lang="zh-CN" altLang="zh-CN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zh-CN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235075" y="2216150"/>
            <a:ext cx="920750" cy="107632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7" name="object 7"/>
          <p:cNvSpPr/>
          <p:nvPr/>
        </p:nvSpPr>
        <p:spPr>
          <a:xfrm>
            <a:off x="3887788" y="3208338"/>
            <a:ext cx="1808162" cy="2159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8" name="object 8"/>
          <p:cNvSpPr/>
          <p:nvPr/>
        </p:nvSpPr>
        <p:spPr>
          <a:xfrm>
            <a:off x="2549525" y="2216150"/>
            <a:ext cx="920750" cy="133667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9" name="object 9"/>
          <p:cNvSpPr/>
          <p:nvPr/>
        </p:nvSpPr>
        <p:spPr>
          <a:xfrm>
            <a:off x="6037262" y="2233613"/>
            <a:ext cx="2063129" cy="162743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0" name="object 10"/>
          <p:cNvSpPr/>
          <p:nvPr/>
        </p:nvSpPr>
        <p:spPr>
          <a:xfrm>
            <a:off x="1782763" y="2797175"/>
            <a:ext cx="293687" cy="185738"/>
          </a:xfrm>
          <a:custGeom>
            <a:avLst/>
            <a:gdLst/>
            <a:ahLst/>
            <a:cxnLst/>
            <a:rect l="l" t="t" r="r" b="b"/>
            <a:pathLst>
              <a:path w="342900" h="216535">
                <a:moveTo>
                  <a:pt x="171450" y="0"/>
                </a:moveTo>
                <a:lnTo>
                  <a:pt x="117043" y="5547"/>
                </a:lnTo>
                <a:lnTo>
                  <a:pt x="69951" y="20970"/>
                </a:lnTo>
                <a:lnTo>
                  <a:pt x="32918" y="44439"/>
                </a:lnTo>
                <a:lnTo>
                  <a:pt x="8686" y="74127"/>
                </a:lnTo>
                <a:lnTo>
                  <a:pt x="0" y="108203"/>
                </a:lnTo>
                <a:lnTo>
                  <a:pt x="8686" y="142280"/>
                </a:lnTo>
                <a:lnTo>
                  <a:pt x="32918" y="171968"/>
                </a:lnTo>
                <a:lnTo>
                  <a:pt x="69951" y="195437"/>
                </a:lnTo>
                <a:lnTo>
                  <a:pt x="117043" y="210860"/>
                </a:lnTo>
                <a:lnTo>
                  <a:pt x="171450" y="216407"/>
                </a:lnTo>
                <a:lnTo>
                  <a:pt x="225564" y="210860"/>
                </a:lnTo>
                <a:lnTo>
                  <a:pt x="272619" y="195437"/>
                </a:lnTo>
                <a:lnTo>
                  <a:pt x="309762" y="171968"/>
                </a:lnTo>
                <a:lnTo>
                  <a:pt x="334140" y="142280"/>
                </a:lnTo>
                <a:lnTo>
                  <a:pt x="342900" y="108203"/>
                </a:lnTo>
                <a:lnTo>
                  <a:pt x="334140" y="74127"/>
                </a:lnTo>
                <a:lnTo>
                  <a:pt x="309762" y="44439"/>
                </a:lnTo>
                <a:lnTo>
                  <a:pt x="272619" y="20970"/>
                </a:lnTo>
                <a:lnTo>
                  <a:pt x="225564" y="5547"/>
                </a:lnTo>
                <a:lnTo>
                  <a:pt x="171450" y="0"/>
                </a:lnTo>
                <a:close/>
              </a:path>
            </a:pathLst>
          </a:custGeom>
          <a:ln w="28575">
            <a:solidFill>
              <a:srgbClr val="FF00FF"/>
            </a:solidFill>
            <a:prstDash val="dash"/>
          </a:ln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1" name="object 11"/>
          <p:cNvSpPr/>
          <p:nvPr/>
        </p:nvSpPr>
        <p:spPr>
          <a:xfrm>
            <a:off x="2640013" y="2786063"/>
            <a:ext cx="293687" cy="185737"/>
          </a:xfrm>
          <a:custGeom>
            <a:avLst/>
            <a:gdLst/>
            <a:ahLst/>
            <a:cxnLst/>
            <a:rect l="l" t="t" r="r" b="b"/>
            <a:pathLst>
              <a:path w="342900" h="215900">
                <a:moveTo>
                  <a:pt x="171449" y="0"/>
                </a:moveTo>
                <a:lnTo>
                  <a:pt x="117335" y="5468"/>
                </a:lnTo>
                <a:lnTo>
                  <a:pt x="70280" y="20702"/>
                </a:lnTo>
                <a:lnTo>
                  <a:pt x="33137" y="43946"/>
                </a:lnTo>
                <a:lnTo>
                  <a:pt x="8759" y="73444"/>
                </a:lnTo>
                <a:lnTo>
                  <a:pt x="0" y="107441"/>
                </a:lnTo>
                <a:lnTo>
                  <a:pt x="8759" y="141811"/>
                </a:lnTo>
                <a:lnTo>
                  <a:pt x="33137" y="171535"/>
                </a:lnTo>
                <a:lnTo>
                  <a:pt x="70280" y="194895"/>
                </a:lnTo>
                <a:lnTo>
                  <a:pt x="117335" y="210171"/>
                </a:lnTo>
                <a:lnTo>
                  <a:pt x="171449" y="215645"/>
                </a:lnTo>
                <a:lnTo>
                  <a:pt x="225856" y="210171"/>
                </a:lnTo>
                <a:lnTo>
                  <a:pt x="272948" y="194895"/>
                </a:lnTo>
                <a:lnTo>
                  <a:pt x="309981" y="171535"/>
                </a:lnTo>
                <a:lnTo>
                  <a:pt x="334213" y="141811"/>
                </a:lnTo>
                <a:lnTo>
                  <a:pt x="342899" y="107441"/>
                </a:lnTo>
                <a:lnTo>
                  <a:pt x="334213" y="73444"/>
                </a:lnTo>
                <a:lnTo>
                  <a:pt x="309981" y="43946"/>
                </a:lnTo>
                <a:lnTo>
                  <a:pt x="272948" y="20702"/>
                </a:lnTo>
                <a:lnTo>
                  <a:pt x="225856" y="5468"/>
                </a:lnTo>
                <a:lnTo>
                  <a:pt x="171449" y="0"/>
                </a:lnTo>
                <a:close/>
              </a:path>
            </a:pathLst>
          </a:custGeom>
          <a:ln w="28574">
            <a:solidFill>
              <a:srgbClr val="FF00FF"/>
            </a:solidFill>
            <a:prstDash val="dash"/>
          </a:ln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2" name="object 12"/>
          <p:cNvSpPr/>
          <p:nvPr/>
        </p:nvSpPr>
        <p:spPr>
          <a:xfrm>
            <a:off x="2651125" y="3048000"/>
            <a:ext cx="293688" cy="184150"/>
          </a:xfrm>
          <a:custGeom>
            <a:avLst/>
            <a:gdLst/>
            <a:ahLst/>
            <a:cxnLst/>
            <a:rect l="l" t="t" r="r" b="b"/>
            <a:pathLst>
              <a:path w="342900" h="215900">
                <a:moveTo>
                  <a:pt x="171449" y="0"/>
                </a:moveTo>
                <a:lnTo>
                  <a:pt x="117335" y="5468"/>
                </a:lnTo>
                <a:lnTo>
                  <a:pt x="70280" y="20702"/>
                </a:lnTo>
                <a:lnTo>
                  <a:pt x="33137" y="43946"/>
                </a:lnTo>
                <a:lnTo>
                  <a:pt x="8759" y="73444"/>
                </a:lnTo>
                <a:lnTo>
                  <a:pt x="0" y="107441"/>
                </a:lnTo>
                <a:lnTo>
                  <a:pt x="8759" y="141811"/>
                </a:lnTo>
                <a:lnTo>
                  <a:pt x="33137" y="171535"/>
                </a:lnTo>
                <a:lnTo>
                  <a:pt x="70280" y="194895"/>
                </a:lnTo>
                <a:lnTo>
                  <a:pt x="117335" y="210171"/>
                </a:lnTo>
                <a:lnTo>
                  <a:pt x="171449" y="215646"/>
                </a:lnTo>
                <a:lnTo>
                  <a:pt x="225564" y="210171"/>
                </a:lnTo>
                <a:lnTo>
                  <a:pt x="272619" y="194895"/>
                </a:lnTo>
                <a:lnTo>
                  <a:pt x="309762" y="171535"/>
                </a:lnTo>
                <a:lnTo>
                  <a:pt x="334140" y="141811"/>
                </a:lnTo>
                <a:lnTo>
                  <a:pt x="342899" y="107441"/>
                </a:lnTo>
                <a:lnTo>
                  <a:pt x="334140" y="73444"/>
                </a:lnTo>
                <a:lnTo>
                  <a:pt x="309762" y="43946"/>
                </a:lnTo>
                <a:lnTo>
                  <a:pt x="272619" y="20702"/>
                </a:lnTo>
                <a:lnTo>
                  <a:pt x="225564" y="5468"/>
                </a:lnTo>
                <a:lnTo>
                  <a:pt x="171449" y="0"/>
                </a:lnTo>
                <a:close/>
              </a:path>
            </a:pathLst>
          </a:custGeom>
          <a:ln w="28575">
            <a:solidFill>
              <a:srgbClr val="FF00FF"/>
            </a:solidFill>
            <a:prstDash val="dash"/>
          </a:ln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3" name="object 13"/>
          <p:cNvSpPr/>
          <p:nvPr/>
        </p:nvSpPr>
        <p:spPr>
          <a:xfrm>
            <a:off x="2097088" y="2895600"/>
            <a:ext cx="542925" cy="0"/>
          </a:xfrm>
          <a:custGeom>
            <a:avLst/>
            <a:gdLst/>
            <a:ahLst/>
            <a:cxnLst/>
            <a:rect l="l" t="t" r="r" b="b"/>
            <a:pathLst>
              <a:path w="635000">
                <a:moveTo>
                  <a:pt x="0" y="0"/>
                </a:moveTo>
                <a:lnTo>
                  <a:pt x="634745" y="0"/>
                </a:lnTo>
              </a:path>
            </a:pathLst>
          </a:custGeom>
          <a:ln w="28575">
            <a:solidFill>
              <a:srgbClr val="FF00FF"/>
            </a:solidFill>
            <a:prstDash val="dash"/>
          </a:ln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4" name="object 14"/>
          <p:cNvSpPr/>
          <p:nvPr/>
        </p:nvSpPr>
        <p:spPr>
          <a:xfrm>
            <a:off x="2097088" y="2895600"/>
            <a:ext cx="554037" cy="249238"/>
          </a:xfrm>
          <a:custGeom>
            <a:avLst/>
            <a:gdLst/>
            <a:ahLst/>
            <a:cxnLst/>
            <a:rect l="l" t="t" r="r" b="b"/>
            <a:pathLst>
              <a:path w="647700" h="292735">
                <a:moveTo>
                  <a:pt x="0" y="0"/>
                </a:moveTo>
                <a:lnTo>
                  <a:pt x="647700" y="292607"/>
                </a:lnTo>
              </a:path>
            </a:pathLst>
          </a:custGeom>
          <a:ln w="28575">
            <a:solidFill>
              <a:srgbClr val="FF00FF"/>
            </a:solidFill>
            <a:prstDash val="dash"/>
          </a:ln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7" name="灯片编号占位符 1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A6568E1-4089-4561-919E-9D2F37D3F2B0}" type="slidenum">
              <a:rPr lang="en-US" altLang="zh-CN" smtClean="0"/>
              <a:pPr>
                <a:defRPr/>
              </a:pPr>
              <a:t>43</a:t>
            </a:fld>
            <a:endParaRPr lang="en-US" altLang="zh-CN" dirty="0"/>
          </a:p>
        </p:txBody>
      </p:sp>
      <p:sp>
        <p:nvSpPr>
          <p:cNvPr id="18" name="标题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zh-CN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(3) “</a:t>
            </a:r>
            <a:r>
              <a:rPr lang="zh-CN" altLang="zh-CN" dirty="0">
                <a:solidFill>
                  <a:srgbClr val="F8F8F8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等值</a:t>
            </a:r>
            <a:r>
              <a:rPr lang="zh-CN" altLang="zh-CN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zh-CN" altLang="zh-CN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连接</a:t>
            </a:r>
            <a:r>
              <a:rPr lang="zh-CN" altLang="zh-CN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r>
              <a:rPr lang="zh-CN" altLang="zh-CN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操作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1601787" y="3649663"/>
            <a:ext cx="3978275" cy="115728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6" name="object 6"/>
          <p:cNvSpPr/>
          <p:nvPr/>
        </p:nvSpPr>
        <p:spPr>
          <a:xfrm>
            <a:off x="1624013" y="4807048"/>
            <a:ext cx="2743200" cy="143033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7" name="object 7"/>
          <p:cNvSpPr txBox="1"/>
          <p:nvPr/>
        </p:nvSpPr>
        <p:spPr>
          <a:xfrm>
            <a:off x="1691680" y="5072873"/>
            <a:ext cx="792088" cy="230832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txBody>
          <a:bodyPr wrap="square" lIns="0" tIns="0" rIns="0" bIns="0">
            <a:spAutoFit/>
          </a:bodyPr>
          <a:lstStyle/>
          <a:p>
            <a:pPr marL="134661" eaLnBrk="1" hangingPunct="1">
              <a:defRPr/>
            </a:pPr>
            <a:r>
              <a:rPr sz="1500" b="1" spc="-4" dirty="0">
                <a:latin typeface="Arial"/>
                <a:cs typeface="Arial"/>
              </a:rPr>
              <a:t>Type</a:t>
            </a:r>
            <a:endParaRPr sz="1500" dirty="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95536" y="1322388"/>
            <a:ext cx="8496944" cy="1649907"/>
          </a:xfrm>
          <a:prstGeom prst="rect">
            <a:avLst/>
          </a:prstGeom>
        </p:spPr>
        <p:txBody>
          <a:bodyPr wrap="square" lIns="0" tIns="74390" rIns="0" bIns="0">
            <a:spAutoFit/>
          </a:bodyPr>
          <a:lstStyle>
            <a:lvl1pPr marL="336550" indent="-325438">
              <a:tabLst>
                <a:tab pos="334963" algn="l"/>
                <a:tab pos="3365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tabLst>
                <a:tab pos="334963" algn="l"/>
                <a:tab pos="3365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tabLst>
                <a:tab pos="334963" algn="l"/>
                <a:tab pos="3365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tabLst>
                <a:tab pos="334963" algn="l"/>
                <a:tab pos="3365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tabLst>
                <a:tab pos="334963" algn="l"/>
                <a:tab pos="3365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4963" algn="l"/>
                <a:tab pos="3365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4963" algn="l"/>
                <a:tab pos="3365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4963" algn="l"/>
                <a:tab pos="3365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4963" algn="l"/>
                <a:tab pos="3365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588"/>
              </a:spcBef>
              <a:buFont typeface="Wingdings" panose="05000000000000000000" pitchFamily="2" charset="2"/>
              <a:buChar char=""/>
            </a:pPr>
            <a:r>
              <a:rPr lang="zh-CN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等值连接</a:t>
            </a:r>
            <a:r>
              <a:rPr lang="zh-CN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(Equi-Join)</a:t>
            </a:r>
            <a:r>
              <a:rPr lang="zh-CN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操作的示例二</a:t>
            </a:r>
            <a:r>
              <a:rPr lang="zh-CN" altLang="zh-CN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zh-CN" altLang="zh-CN" b="1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语义的</a:t>
            </a:r>
            <a:r>
              <a:rPr lang="zh-CN" altLang="zh-CN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zh-CN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112" indent="0" eaLnBrk="1" hangingPunct="1">
              <a:spcBef>
                <a:spcPts val="500"/>
              </a:spcBef>
            </a:pPr>
            <a:r>
              <a:rPr lang="en-US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   </a:t>
            </a: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员工表</a:t>
            </a:r>
            <a:r>
              <a:rPr lang="zh-CN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Worker(W#, Wname, Wsex, Wage, Honor_type) ,</a:t>
            </a:r>
            <a:endParaRPr lang="zh-CN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112" indent="0" eaLnBrk="1" hangingPunct="1">
              <a:spcBef>
                <a:spcPts val="613"/>
              </a:spcBef>
            </a:pPr>
            <a:r>
              <a:rPr lang="en-US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   </a:t>
            </a: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获奖类别表</a:t>
            </a:r>
            <a:r>
              <a:rPr lang="zh-CN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Honor(Type, Title)</a:t>
            </a:r>
            <a:endParaRPr lang="zh-CN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112" indent="0" eaLnBrk="1" hangingPunct="1">
              <a:spcBef>
                <a:spcPts val="1088"/>
              </a:spcBef>
            </a:pPr>
            <a:r>
              <a:rPr lang="en-US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     </a:t>
            </a: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找出所有获奖员工姓名、年龄及其获奖的名称</a:t>
            </a:r>
            <a:endParaRPr lang="zh-CN" altLang="zh-CN" sz="20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82763" y="3006725"/>
            <a:ext cx="2390775" cy="318743"/>
          </a:xfrm>
          <a:prstGeom prst="rect">
            <a:avLst/>
          </a:prstGeom>
        </p:spPr>
        <p:txBody>
          <a:bodyPr wrap="square" lIns="0" tIns="10860" rIns="0" bIns="0">
            <a:spAutoFit/>
          </a:bodyPr>
          <a:lstStyle>
            <a:lvl1pPr marL="952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88"/>
              </a:spcBef>
            </a:pPr>
            <a:r>
              <a:rPr lang="zh-CN" altLang="zh-CN" sz="3000" b="1" baseline="12000" dirty="0">
                <a:solidFill>
                  <a:srgbClr val="FF006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π</a:t>
            </a:r>
            <a:r>
              <a:rPr lang="zh-CN" altLang="zh-CN" sz="1000" b="1" dirty="0">
                <a:latin typeface="Arial" panose="020B0604020202020204" pitchFamily="34" charset="0"/>
                <a:cs typeface="Arial" panose="020B0604020202020204" pitchFamily="34" charset="0"/>
              </a:rPr>
              <a:t>Wname, Wage, Title</a:t>
            </a:r>
            <a:r>
              <a:rPr lang="zh-CN" altLang="zh-CN" sz="2500" b="1" baseline="14000" dirty="0">
                <a:latin typeface="Arial" panose="020B0604020202020204" pitchFamily="34" charset="0"/>
                <a:cs typeface="Arial" panose="020B0604020202020204" pitchFamily="34" charset="0"/>
              </a:rPr>
              <a:t>(worker</a:t>
            </a:r>
            <a:endParaRPr lang="zh-CN" altLang="zh-CN" sz="2500" baseline="1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848225" y="2995613"/>
            <a:ext cx="731838" cy="274637"/>
          </a:xfrm>
          <a:prstGeom prst="rect">
            <a:avLst/>
          </a:prstGeom>
        </p:spPr>
        <p:txBody>
          <a:bodyPr lIns="0" tIns="10317" rIns="0" bIns="0">
            <a:spAutoFit/>
          </a:bodyPr>
          <a:lstStyle/>
          <a:p>
            <a:pPr marL="10860" eaLnBrk="1" hangingPunct="1">
              <a:spcBef>
                <a:spcPts val="81"/>
              </a:spcBef>
              <a:defRPr/>
            </a:pPr>
            <a:r>
              <a:rPr sz="1710" b="1" spc="-4" dirty="0">
                <a:latin typeface="Arial"/>
                <a:cs typeface="Arial"/>
              </a:rPr>
              <a:t>Honor)</a:t>
            </a:r>
            <a:endParaRPr sz="171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983038" y="3255963"/>
            <a:ext cx="1162050" cy="169862"/>
          </a:xfrm>
          <a:prstGeom prst="rect">
            <a:avLst/>
          </a:prstGeom>
        </p:spPr>
        <p:txBody>
          <a:bodyPr lIns="0" tIns="10860" rIns="0" bIns="0">
            <a:spAutoFit/>
          </a:bodyPr>
          <a:lstStyle/>
          <a:p>
            <a:pPr marL="10860" eaLnBrk="1" hangingPunct="1">
              <a:spcBef>
                <a:spcPts val="86"/>
              </a:spcBef>
              <a:defRPr/>
            </a:pPr>
            <a:r>
              <a:rPr sz="1026" b="1" spc="-4" dirty="0">
                <a:solidFill>
                  <a:srgbClr val="FF0065"/>
                </a:solidFill>
                <a:latin typeface="Arial"/>
                <a:cs typeface="Arial"/>
              </a:rPr>
              <a:t>Honor_type=</a:t>
            </a:r>
            <a:r>
              <a:rPr sz="1026" b="1" spc="-38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1026" b="1" spc="-4" dirty="0">
                <a:solidFill>
                  <a:srgbClr val="FF0065"/>
                </a:solidFill>
                <a:latin typeface="Arial"/>
                <a:cs typeface="Arial"/>
              </a:rPr>
              <a:t>Type</a:t>
            </a:r>
            <a:endParaRPr sz="1026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367213" y="3103563"/>
            <a:ext cx="300037" cy="115887"/>
          </a:xfrm>
          <a:custGeom>
            <a:avLst/>
            <a:gdLst/>
            <a:ahLst/>
            <a:cxnLst/>
            <a:rect l="l" t="t" r="r" b="b"/>
            <a:pathLst>
              <a:path w="351789" h="135254">
                <a:moveTo>
                  <a:pt x="0" y="134874"/>
                </a:moveTo>
                <a:lnTo>
                  <a:pt x="0" y="0"/>
                </a:lnTo>
                <a:lnTo>
                  <a:pt x="351282" y="134874"/>
                </a:lnTo>
                <a:lnTo>
                  <a:pt x="351282" y="0"/>
                </a:lnTo>
                <a:lnTo>
                  <a:pt x="0" y="134874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5" name="灯片编号占位符 1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A6568E1-4089-4561-919E-9D2F37D3F2B0}" type="slidenum">
              <a:rPr lang="en-US" altLang="zh-CN" smtClean="0"/>
              <a:pPr>
                <a:defRPr/>
              </a:pPr>
              <a:t>44</a:t>
            </a:fld>
            <a:endParaRPr lang="en-US" altLang="zh-CN" dirty="0"/>
          </a:p>
        </p:txBody>
      </p:sp>
      <p:sp>
        <p:nvSpPr>
          <p:cNvPr id="16" name="标题 1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zh-CN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(3) “</a:t>
            </a:r>
            <a:r>
              <a:rPr lang="zh-CN" altLang="zh-CN" dirty="0">
                <a:solidFill>
                  <a:srgbClr val="F8F8F8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等值</a:t>
            </a:r>
            <a:r>
              <a:rPr lang="zh-CN" altLang="zh-CN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zh-CN" altLang="zh-CN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连接</a:t>
            </a:r>
            <a:r>
              <a:rPr lang="zh-CN" altLang="zh-CN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r>
              <a:rPr lang="zh-CN" altLang="zh-CN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操作</a:t>
            </a:r>
            <a:endParaRPr lang="zh-CN" altLang="en-US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1504950" y="4222750"/>
            <a:ext cx="4687888" cy="928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8" name="object 8"/>
          <p:cNvSpPr/>
          <p:nvPr/>
        </p:nvSpPr>
        <p:spPr>
          <a:xfrm>
            <a:off x="1493838" y="2095499"/>
            <a:ext cx="4538662" cy="196182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9" name="object 9"/>
          <p:cNvSpPr/>
          <p:nvPr/>
        </p:nvSpPr>
        <p:spPr>
          <a:xfrm>
            <a:off x="1498600" y="2465388"/>
            <a:ext cx="4479925" cy="152400"/>
          </a:xfrm>
          <a:custGeom>
            <a:avLst/>
            <a:gdLst/>
            <a:ahLst/>
            <a:cxnLst/>
            <a:rect l="l" t="t" r="r" b="b"/>
            <a:pathLst>
              <a:path w="5238750" h="179069">
                <a:moveTo>
                  <a:pt x="2619756" y="0"/>
                </a:moveTo>
                <a:lnTo>
                  <a:pt x="2538147" y="42"/>
                </a:lnTo>
                <a:lnTo>
                  <a:pt x="2457160" y="170"/>
                </a:lnTo>
                <a:lnTo>
                  <a:pt x="2376832" y="382"/>
                </a:lnTo>
                <a:lnTo>
                  <a:pt x="2297198" y="676"/>
                </a:lnTo>
                <a:lnTo>
                  <a:pt x="2218295" y="1052"/>
                </a:lnTo>
                <a:lnTo>
                  <a:pt x="2140159" y="1507"/>
                </a:lnTo>
                <a:lnTo>
                  <a:pt x="2062826" y="2041"/>
                </a:lnTo>
                <a:lnTo>
                  <a:pt x="1986333" y="2653"/>
                </a:lnTo>
                <a:lnTo>
                  <a:pt x="1910715" y="3340"/>
                </a:lnTo>
                <a:lnTo>
                  <a:pt x="1836009" y="4103"/>
                </a:lnTo>
                <a:lnTo>
                  <a:pt x="1762251" y="4939"/>
                </a:lnTo>
                <a:lnTo>
                  <a:pt x="1689477" y="5848"/>
                </a:lnTo>
                <a:lnTo>
                  <a:pt x="1617724" y="6828"/>
                </a:lnTo>
                <a:lnTo>
                  <a:pt x="1547027" y="7878"/>
                </a:lnTo>
                <a:lnTo>
                  <a:pt x="1477424" y="8996"/>
                </a:lnTo>
                <a:lnTo>
                  <a:pt x="1408949" y="10182"/>
                </a:lnTo>
                <a:lnTo>
                  <a:pt x="1341639" y="11434"/>
                </a:lnTo>
                <a:lnTo>
                  <a:pt x="1275531" y="12750"/>
                </a:lnTo>
                <a:lnTo>
                  <a:pt x="1210661" y="14131"/>
                </a:lnTo>
                <a:lnTo>
                  <a:pt x="1147064" y="15574"/>
                </a:lnTo>
                <a:lnTo>
                  <a:pt x="1084778" y="17077"/>
                </a:lnTo>
                <a:lnTo>
                  <a:pt x="1023838" y="18641"/>
                </a:lnTo>
                <a:lnTo>
                  <a:pt x="964280" y="20263"/>
                </a:lnTo>
                <a:lnTo>
                  <a:pt x="906141" y="21943"/>
                </a:lnTo>
                <a:lnTo>
                  <a:pt x="849457" y="23678"/>
                </a:lnTo>
                <a:lnTo>
                  <a:pt x="794264" y="25468"/>
                </a:lnTo>
                <a:lnTo>
                  <a:pt x="740599" y="27312"/>
                </a:lnTo>
                <a:lnTo>
                  <a:pt x="688497" y="29208"/>
                </a:lnTo>
                <a:lnTo>
                  <a:pt x="637994" y="31156"/>
                </a:lnTo>
                <a:lnTo>
                  <a:pt x="589128" y="33152"/>
                </a:lnTo>
                <a:lnTo>
                  <a:pt x="541934" y="35198"/>
                </a:lnTo>
                <a:lnTo>
                  <a:pt x="496448" y="37290"/>
                </a:lnTo>
                <a:lnTo>
                  <a:pt x="452707" y="39429"/>
                </a:lnTo>
                <a:lnTo>
                  <a:pt x="410746" y="41612"/>
                </a:lnTo>
                <a:lnTo>
                  <a:pt x="370603" y="43839"/>
                </a:lnTo>
                <a:lnTo>
                  <a:pt x="332312" y="46108"/>
                </a:lnTo>
                <a:lnTo>
                  <a:pt x="261436" y="50767"/>
                </a:lnTo>
                <a:lnTo>
                  <a:pt x="198407" y="55580"/>
                </a:lnTo>
                <a:lnTo>
                  <a:pt x="143515" y="60537"/>
                </a:lnTo>
                <a:lnTo>
                  <a:pt x="97049" y="65627"/>
                </a:lnTo>
                <a:lnTo>
                  <a:pt x="59300" y="70841"/>
                </a:lnTo>
                <a:lnTo>
                  <a:pt x="19653" y="78871"/>
                </a:lnTo>
                <a:lnTo>
                  <a:pt x="0" y="89916"/>
                </a:lnTo>
                <a:lnTo>
                  <a:pt x="1246" y="92708"/>
                </a:lnTo>
                <a:lnTo>
                  <a:pt x="43785" y="106313"/>
                </a:lnTo>
                <a:lnTo>
                  <a:pt x="97049" y="114145"/>
                </a:lnTo>
                <a:lnTo>
                  <a:pt x="143515" y="119209"/>
                </a:lnTo>
                <a:lnTo>
                  <a:pt x="198407" y="124136"/>
                </a:lnTo>
                <a:lnTo>
                  <a:pt x="261436" y="128915"/>
                </a:lnTo>
                <a:lnTo>
                  <a:pt x="332312" y="133538"/>
                </a:lnTo>
                <a:lnTo>
                  <a:pt x="370603" y="135788"/>
                </a:lnTo>
                <a:lnTo>
                  <a:pt x="410746" y="137995"/>
                </a:lnTo>
                <a:lnTo>
                  <a:pt x="452707" y="140158"/>
                </a:lnTo>
                <a:lnTo>
                  <a:pt x="496448" y="142277"/>
                </a:lnTo>
                <a:lnTo>
                  <a:pt x="541934" y="144348"/>
                </a:lnTo>
                <a:lnTo>
                  <a:pt x="589128" y="146373"/>
                </a:lnTo>
                <a:lnTo>
                  <a:pt x="637994" y="148348"/>
                </a:lnTo>
                <a:lnTo>
                  <a:pt x="688497" y="150274"/>
                </a:lnTo>
                <a:lnTo>
                  <a:pt x="740599" y="152148"/>
                </a:lnTo>
                <a:lnTo>
                  <a:pt x="794264" y="153971"/>
                </a:lnTo>
                <a:lnTo>
                  <a:pt x="849457" y="155740"/>
                </a:lnTo>
                <a:lnTo>
                  <a:pt x="906141" y="157454"/>
                </a:lnTo>
                <a:lnTo>
                  <a:pt x="964280" y="159112"/>
                </a:lnTo>
                <a:lnTo>
                  <a:pt x="1023838" y="160713"/>
                </a:lnTo>
                <a:lnTo>
                  <a:pt x="1084778" y="162256"/>
                </a:lnTo>
                <a:lnTo>
                  <a:pt x="1147064" y="163739"/>
                </a:lnTo>
                <a:lnTo>
                  <a:pt x="1210661" y="165162"/>
                </a:lnTo>
                <a:lnTo>
                  <a:pt x="1275531" y="166523"/>
                </a:lnTo>
                <a:lnTo>
                  <a:pt x="1341639" y="167820"/>
                </a:lnTo>
                <a:lnTo>
                  <a:pt x="1408949" y="169054"/>
                </a:lnTo>
                <a:lnTo>
                  <a:pt x="1477424" y="170222"/>
                </a:lnTo>
                <a:lnTo>
                  <a:pt x="1547027" y="171323"/>
                </a:lnTo>
                <a:lnTo>
                  <a:pt x="1617724" y="172356"/>
                </a:lnTo>
                <a:lnTo>
                  <a:pt x="1689477" y="173321"/>
                </a:lnTo>
                <a:lnTo>
                  <a:pt x="1762251" y="174215"/>
                </a:lnTo>
                <a:lnTo>
                  <a:pt x="1836009" y="175037"/>
                </a:lnTo>
                <a:lnTo>
                  <a:pt x="1910715" y="175787"/>
                </a:lnTo>
                <a:lnTo>
                  <a:pt x="1986333" y="176463"/>
                </a:lnTo>
                <a:lnTo>
                  <a:pt x="2062826" y="177064"/>
                </a:lnTo>
                <a:lnTo>
                  <a:pt x="2140159" y="177589"/>
                </a:lnTo>
                <a:lnTo>
                  <a:pt x="2218295" y="178036"/>
                </a:lnTo>
                <a:lnTo>
                  <a:pt x="2297198" y="178405"/>
                </a:lnTo>
                <a:lnTo>
                  <a:pt x="2376832" y="178694"/>
                </a:lnTo>
                <a:lnTo>
                  <a:pt x="2457160" y="178902"/>
                </a:lnTo>
                <a:lnTo>
                  <a:pt x="2538147" y="179027"/>
                </a:lnTo>
                <a:lnTo>
                  <a:pt x="2619756" y="179070"/>
                </a:lnTo>
                <a:lnTo>
                  <a:pt x="2701322" y="179027"/>
                </a:lnTo>
                <a:lnTo>
                  <a:pt x="2782268" y="178902"/>
                </a:lnTo>
                <a:lnTo>
                  <a:pt x="2862557" y="178694"/>
                </a:lnTo>
                <a:lnTo>
                  <a:pt x="2942153" y="178405"/>
                </a:lnTo>
                <a:lnTo>
                  <a:pt x="3021020" y="178036"/>
                </a:lnTo>
                <a:lnTo>
                  <a:pt x="3099121" y="177589"/>
                </a:lnTo>
                <a:lnTo>
                  <a:pt x="3176420" y="177064"/>
                </a:lnTo>
                <a:lnTo>
                  <a:pt x="3252882" y="176463"/>
                </a:lnTo>
                <a:lnTo>
                  <a:pt x="3328469" y="175787"/>
                </a:lnTo>
                <a:lnTo>
                  <a:pt x="3403146" y="175037"/>
                </a:lnTo>
                <a:lnTo>
                  <a:pt x="3476876" y="174215"/>
                </a:lnTo>
                <a:lnTo>
                  <a:pt x="3549623" y="173321"/>
                </a:lnTo>
                <a:lnTo>
                  <a:pt x="3621351" y="172356"/>
                </a:lnTo>
                <a:lnTo>
                  <a:pt x="3692023" y="171323"/>
                </a:lnTo>
                <a:lnTo>
                  <a:pt x="3761604" y="170222"/>
                </a:lnTo>
                <a:lnTo>
                  <a:pt x="3830057" y="169054"/>
                </a:lnTo>
                <a:lnTo>
                  <a:pt x="3897345" y="167820"/>
                </a:lnTo>
                <a:lnTo>
                  <a:pt x="3963434" y="166523"/>
                </a:lnTo>
                <a:lnTo>
                  <a:pt x="4028286" y="165162"/>
                </a:lnTo>
                <a:lnTo>
                  <a:pt x="4091865" y="163739"/>
                </a:lnTo>
                <a:lnTo>
                  <a:pt x="4154134" y="162256"/>
                </a:lnTo>
                <a:lnTo>
                  <a:pt x="4215059" y="160713"/>
                </a:lnTo>
                <a:lnTo>
                  <a:pt x="4274602" y="159112"/>
                </a:lnTo>
                <a:lnTo>
                  <a:pt x="4332727" y="157454"/>
                </a:lnTo>
                <a:lnTo>
                  <a:pt x="4389398" y="155740"/>
                </a:lnTo>
                <a:lnTo>
                  <a:pt x="4444579" y="153971"/>
                </a:lnTo>
                <a:lnTo>
                  <a:pt x="4498234" y="152148"/>
                </a:lnTo>
                <a:lnTo>
                  <a:pt x="4550325" y="150274"/>
                </a:lnTo>
                <a:lnTo>
                  <a:pt x="4600818" y="148348"/>
                </a:lnTo>
                <a:lnTo>
                  <a:pt x="4649676" y="146373"/>
                </a:lnTo>
                <a:lnTo>
                  <a:pt x="4696862" y="144348"/>
                </a:lnTo>
                <a:lnTo>
                  <a:pt x="4742340" y="142277"/>
                </a:lnTo>
                <a:lnTo>
                  <a:pt x="4786075" y="140158"/>
                </a:lnTo>
                <a:lnTo>
                  <a:pt x="4828029" y="137995"/>
                </a:lnTo>
                <a:lnTo>
                  <a:pt x="4868167" y="135788"/>
                </a:lnTo>
                <a:lnTo>
                  <a:pt x="4906452" y="133538"/>
                </a:lnTo>
                <a:lnTo>
                  <a:pt x="4977320" y="128915"/>
                </a:lnTo>
                <a:lnTo>
                  <a:pt x="5040342" y="124136"/>
                </a:lnTo>
                <a:lnTo>
                  <a:pt x="5095230" y="119209"/>
                </a:lnTo>
                <a:lnTo>
                  <a:pt x="5141692" y="114145"/>
                </a:lnTo>
                <a:lnTo>
                  <a:pt x="5179439" y="108954"/>
                </a:lnTo>
                <a:lnTo>
                  <a:pt x="5219084" y="100948"/>
                </a:lnTo>
                <a:lnTo>
                  <a:pt x="5238737" y="89916"/>
                </a:lnTo>
                <a:lnTo>
                  <a:pt x="5237490" y="87122"/>
                </a:lnTo>
                <a:lnTo>
                  <a:pt x="5194953" y="73491"/>
                </a:lnTo>
                <a:lnTo>
                  <a:pt x="5141692" y="65627"/>
                </a:lnTo>
                <a:lnTo>
                  <a:pt x="5095230" y="60537"/>
                </a:lnTo>
                <a:lnTo>
                  <a:pt x="5040342" y="55580"/>
                </a:lnTo>
                <a:lnTo>
                  <a:pt x="4977320" y="50767"/>
                </a:lnTo>
                <a:lnTo>
                  <a:pt x="4906452" y="46108"/>
                </a:lnTo>
                <a:lnTo>
                  <a:pt x="4868167" y="43839"/>
                </a:lnTo>
                <a:lnTo>
                  <a:pt x="4828029" y="41612"/>
                </a:lnTo>
                <a:lnTo>
                  <a:pt x="4786075" y="39429"/>
                </a:lnTo>
                <a:lnTo>
                  <a:pt x="4742340" y="37290"/>
                </a:lnTo>
                <a:lnTo>
                  <a:pt x="4696862" y="35198"/>
                </a:lnTo>
                <a:lnTo>
                  <a:pt x="4649676" y="33152"/>
                </a:lnTo>
                <a:lnTo>
                  <a:pt x="4600818" y="31156"/>
                </a:lnTo>
                <a:lnTo>
                  <a:pt x="4550325" y="29208"/>
                </a:lnTo>
                <a:lnTo>
                  <a:pt x="4498234" y="27312"/>
                </a:lnTo>
                <a:lnTo>
                  <a:pt x="4444579" y="25468"/>
                </a:lnTo>
                <a:lnTo>
                  <a:pt x="4389398" y="23678"/>
                </a:lnTo>
                <a:lnTo>
                  <a:pt x="4332727" y="21943"/>
                </a:lnTo>
                <a:lnTo>
                  <a:pt x="4274602" y="20263"/>
                </a:lnTo>
                <a:lnTo>
                  <a:pt x="4215059" y="18641"/>
                </a:lnTo>
                <a:lnTo>
                  <a:pt x="4154134" y="17077"/>
                </a:lnTo>
                <a:lnTo>
                  <a:pt x="4091865" y="15574"/>
                </a:lnTo>
                <a:lnTo>
                  <a:pt x="4028286" y="14131"/>
                </a:lnTo>
                <a:lnTo>
                  <a:pt x="3963434" y="12750"/>
                </a:lnTo>
                <a:lnTo>
                  <a:pt x="3897345" y="11434"/>
                </a:lnTo>
                <a:lnTo>
                  <a:pt x="3830057" y="10182"/>
                </a:lnTo>
                <a:lnTo>
                  <a:pt x="3761604" y="8996"/>
                </a:lnTo>
                <a:lnTo>
                  <a:pt x="3692023" y="7878"/>
                </a:lnTo>
                <a:lnTo>
                  <a:pt x="3621351" y="6828"/>
                </a:lnTo>
                <a:lnTo>
                  <a:pt x="3549623" y="5848"/>
                </a:lnTo>
                <a:lnTo>
                  <a:pt x="3476876" y="4939"/>
                </a:lnTo>
                <a:lnTo>
                  <a:pt x="3403146" y="4103"/>
                </a:lnTo>
                <a:lnTo>
                  <a:pt x="3328469" y="3340"/>
                </a:lnTo>
                <a:lnTo>
                  <a:pt x="3252882" y="2653"/>
                </a:lnTo>
                <a:lnTo>
                  <a:pt x="3176420" y="2041"/>
                </a:lnTo>
                <a:lnTo>
                  <a:pt x="3099121" y="1507"/>
                </a:lnTo>
                <a:lnTo>
                  <a:pt x="3021020" y="1052"/>
                </a:lnTo>
                <a:lnTo>
                  <a:pt x="2942153" y="676"/>
                </a:lnTo>
                <a:lnTo>
                  <a:pt x="2862557" y="382"/>
                </a:lnTo>
                <a:lnTo>
                  <a:pt x="2782268" y="170"/>
                </a:lnTo>
                <a:lnTo>
                  <a:pt x="2701322" y="42"/>
                </a:lnTo>
                <a:lnTo>
                  <a:pt x="2619756" y="0"/>
                </a:lnTo>
                <a:close/>
              </a:path>
            </a:pathLst>
          </a:custGeom>
          <a:ln w="31750">
            <a:solidFill>
              <a:srgbClr val="FF00FF"/>
            </a:solidFill>
            <a:prstDash val="dash"/>
          </a:ln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0" name="object 10"/>
          <p:cNvSpPr/>
          <p:nvPr/>
        </p:nvSpPr>
        <p:spPr>
          <a:xfrm>
            <a:off x="1498600" y="3311525"/>
            <a:ext cx="4479925" cy="153988"/>
          </a:xfrm>
          <a:custGeom>
            <a:avLst/>
            <a:gdLst/>
            <a:ahLst/>
            <a:cxnLst/>
            <a:rect l="l" t="t" r="r" b="b"/>
            <a:pathLst>
              <a:path w="5238750" h="179070">
                <a:moveTo>
                  <a:pt x="2619755" y="0"/>
                </a:moveTo>
                <a:lnTo>
                  <a:pt x="2538147" y="42"/>
                </a:lnTo>
                <a:lnTo>
                  <a:pt x="2457160" y="170"/>
                </a:lnTo>
                <a:lnTo>
                  <a:pt x="2376832" y="382"/>
                </a:lnTo>
                <a:lnTo>
                  <a:pt x="2297198" y="676"/>
                </a:lnTo>
                <a:lnTo>
                  <a:pt x="2218295" y="1052"/>
                </a:lnTo>
                <a:lnTo>
                  <a:pt x="2140159" y="1507"/>
                </a:lnTo>
                <a:lnTo>
                  <a:pt x="2062826" y="2041"/>
                </a:lnTo>
                <a:lnTo>
                  <a:pt x="1986333" y="2653"/>
                </a:lnTo>
                <a:lnTo>
                  <a:pt x="1910715" y="3340"/>
                </a:lnTo>
                <a:lnTo>
                  <a:pt x="1836009" y="4103"/>
                </a:lnTo>
                <a:lnTo>
                  <a:pt x="1762251" y="4939"/>
                </a:lnTo>
                <a:lnTo>
                  <a:pt x="1689477" y="5848"/>
                </a:lnTo>
                <a:lnTo>
                  <a:pt x="1617724" y="6828"/>
                </a:lnTo>
                <a:lnTo>
                  <a:pt x="1547027" y="7878"/>
                </a:lnTo>
                <a:lnTo>
                  <a:pt x="1477424" y="8996"/>
                </a:lnTo>
                <a:lnTo>
                  <a:pt x="1408949" y="10182"/>
                </a:lnTo>
                <a:lnTo>
                  <a:pt x="1341639" y="11434"/>
                </a:lnTo>
                <a:lnTo>
                  <a:pt x="1275531" y="12750"/>
                </a:lnTo>
                <a:lnTo>
                  <a:pt x="1210661" y="14131"/>
                </a:lnTo>
                <a:lnTo>
                  <a:pt x="1147064" y="15574"/>
                </a:lnTo>
                <a:lnTo>
                  <a:pt x="1084778" y="17077"/>
                </a:lnTo>
                <a:lnTo>
                  <a:pt x="1023838" y="18641"/>
                </a:lnTo>
                <a:lnTo>
                  <a:pt x="964280" y="20263"/>
                </a:lnTo>
                <a:lnTo>
                  <a:pt x="906141" y="21943"/>
                </a:lnTo>
                <a:lnTo>
                  <a:pt x="849457" y="23678"/>
                </a:lnTo>
                <a:lnTo>
                  <a:pt x="794264" y="25468"/>
                </a:lnTo>
                <a:lnTo>
                  <a:pt x="740599" y="27312"/>
                </a:lnTo>
                <a:lnTo>
                  <a:pt x="688497" y="29208"/>
                </a:lnTo>
                <a:lnTo>
                  <a:pt x="637994" y="31156"/>
                </a:lnTo>
                <a:lnTo>
                  <a:pt x="589128" y="33152"/>
                </a:lnTo>
                <a:lnTo>
                  <a:pt x="541934" y="35198"/>
                </a:lnTo>
                <a:lnTo>
                  <a:pt x="496448" y="37290"/>
                </a:lnTo>
                <a:lnTo>
                  <a:pt x="452707" y="39429"/>
                </a:lnTo>
                <a:lnTo>
                  <a:pt x="410746" y="41612"/>
                </a:lnTo>
                <a:lnTo>
                  <a:pt x="370603" y="43839"/>
                </a:lnTo>
                <a:lnTo>
                  <a:pt x="332312" y="46108"/>
                </a:lnTo>
                <a:lnTo>
                  <a:pt x="261436" y="50767"/>
                </a:lnTo>
                <a:lnTo>
                  <a:pt x="198407" y="55580"/>
                </a:lnTo>
                <a:lnTo>
                  <a:pt x="143515" y="60537"/>
                </a:lnTo>
                <a:lnTo>
                  <a:pt x="97049" y="65627"/>
                </a:lnTo>
                <a:lnTo>
                  <a:pt x="59300" y="70841"/>
                </a:lnTo>
                <a:lnTo>
                  <a:pt x="19653" y="78871"/>
                </a:lnTo>
                <a:lnTo>
                  <a:pt x="0" y="89915"/>
                </a:lnTo>
                <a:lnTo>
                  <a:pt x="1246" y="92708"/>
                </a:lnTo>
                <a:lnTo>
                  <a:pt x="43785" y="106313"/>
                </a:lnTo>
                <a:lnTo>
                  <a:pt x="97049" y="114145"/>
                </a:lnTo>
                <a:lnTo>
                  <a:pt x="143515" y="119209"/>
                </a:lnTo>
                <a:lnTo>
                  <a:pt x="198407" y="124136"/>
                </a:lnTo>
                <a:lnTo>
                  <a:pt x="261436" y="128915"/>
                </a:lnTo>
                <a:lnTo>
                  <a:pt x="332312" y="133538"/>
                </a:lnTo>
                <a:lnTo>
                  <a:pt x="370603" y="135788"/>
                </a:lnTo>
                <a:lnTo>
                  <a:pt x="410746" y="137995"/>
                </a:lnTo>
                <a:lnTo>
                  <a:pt x="452707" y="140158"/>
                </a:lnTo>
                <a:lnTo>
                  <a:pt x="496448" y="142277"/>
                </a:lnTo>
                <a:lnTo>
                  <a:pt x="541934" y="144348"/>
                </a:lnTo>
                <a:lnTo>
                  <a:pt x="589128" y="146373"/>
                </a:lnTo>
                <a:lnTo>
                  <a:pt x="637994" y="148348"/>
                </a:lnTo>
                <a:lnTo>
                  <a:pt x="688497" y="150274"/>
                </a:lnTo>
                <a:lnTo>
                  <a:pt x="740599" y="152148"/>
                </a:lnTo>
                <a:lnTo>
                  <a:pt x="794264" y="153971"/>
                </a:lnTo>
                <a:lnTo>
                  <a:pt x="849457" y="155740"/>
                </a:lnTo>
                <a:lnTo>
                  <a:pt x="906141" y="157454"/>
                </a:lnTo>
                <a:lnTo>
                  <a:pt x="964280" y="159112"/>
                </a:lnTo>
                <a:lnTo>
                  <a:pt x="1023838" y="160713"/>
                </a:lnTo>
                <a:lnTo>
                  <a:pt x="1084778" y="162256"/>
                </a:lnTo>
                <a:lnTo>
                  <a:pt x="1147064" y="163739"/>
                </a:lnTo>
                <a:lnTo>
                  <a:pt x="1210661" y="165162"/>
                </a:lnTo>
                <a:lnTo>
                  <a:pt x="1275531" y="166523"/>
                </a:lnTo>
                <a:lnTo>
                  <a:pt x="1341639" y="167820"/>
                </a:lnTo>
                <a:lnTo>
                  <a:pt x="1408949" y="169054"/>
                </a:lnTo>
                <a:lnTo>
                  <a:pt x="1477424" y="170222"/>
                </a:lnTo>
                <a:lnTo>
                  <a:pt x="1547027" y="171323"/>
                </a:lnTo>
                <a:lnTo>
                  <a:pt x="1617724" y="172356"/>
                </a:lnTo>
                <a:lnTo>
                  <a:pt x="1689477" y="173321"/>
                </a:lnTo>
                <a:lnTo>
                  <a:pt x="1762251" y="174215"/>
                </a:lnTo>
                <a:lnTo>
                  <a:pt x="1836009" y="175037"/>
                </a:lnTo>
                <a:lnTo>
                  <a:pt x="1910715" y="175787"/>
                </a:lnTo>
                <a:lnTo>
                  <a:pt x="1986333" y="176463"/>
                </a:lnTo>
                <a:lnTo>
                  <a:pt x="2062826" y="177064"/>
                </a:lnTo>
                <a:lnTo>
                  <a:pt x="2140159" y="177589"/>
                </a:lnTo>
                <a:lnTo>
                  <a:pt x="2218295" y="178036"/>
                </a:lnTo>
                <a:lnTo>
                  <a:pt x="2297198" y="178405"/>
                </a:lnTo>
                <a:lnTo>
                  <a:pt x="2376832" y="178694"/>
                </a:lnTo>
                <a:lnTo>
                  <a:pt x="2457160" y="178902"/>
                </a:lnTo>
                <a:lnTo>
                  <a:pt x="2538147" y="179027"/>
                </a:lnTo>
                <a:lnTo>
                  <a:pt x="2619755" y="179069"/>
                </a:lnTo>
                <a:lnTo>
                  <a:pt x="2701322" y="179027"/>
                </a:lnTo>
                <a:lnTo>
                  <a:pt x="2782268" y="178902"/>
                </a:lnTo>
                <a:lnTo>
                  <a:pt x="2862557" y="178694"/>
                </a:lnTo>
                <a:lnTo>
                  <a:pt x="2942153" y="178405"/>
                </a:lnTo>
                <a:lnTo>
                  <a:pt x="3021020" y="178036"/>
                </a:lnTo>
                <a:lnTo>
                  <a:pt x="3099121" y="177589"/>
                </a:lnTo>
                <a:lnTo>
                  <a:pt x="3176420" y="177064"/>
                </a:lnTo>
                <a:lnTo>
                  <a:pt x="3252882" y="176463"/>
                </a:lnTo>
                <a:lnTo>
                  <a:pt x="3328469" y="175787"/>
                </a:lnTo>
                <a:lnTo>
                  <a:pt x="3403146" y="175037"/>
                </a:lnTo>
                <a:lnTo>
                  <a:pt x="3476876" y="174215"/>
                </a:lnTo>
                <a:lnTo>
                  <a:pt x="3549623" y="173321"/>
                </a:lnTo>
                <a:lnTo>
                  <a:pt x="3621351" y="172356"/>
                </a:lnTo>
                <a:lnTo>
                  <a:pt x="3692023" y="171323"/>
                </a:lnTo>
                <a:lnTo>
                  <a:pt x="3761604" y="170222"/>
                </a:lnTo>
                <a:lnTo>
                  <a:pt x="3830057" y="169054"/>
                </a:lnTo>
                <a:lnTo>
                  <a:pt x="3897345" y="167820"/>
                </a:lnTo>
                <a:lnTo>
                  <a:pt x="3963434" y="166523"/>
                </a:lnTo>
                <a:lnTo>
                  <a:pt x="4028286" y="165162"/>
                </a:lnTo>
                <a:lnTo>
                  <a:pt x="4091865" y="163739"/>
                </a:lnTo>
                <a:lnTo>
                  <a:pt x="4154134" y="162256"/>
                </a:lnTo>
                <a:lnTo>
                  <a:pt x="4215059" y="160713"/>
                </a:lnTo>
                <a:lnTo>
                  <a:pt x="4274602" y="159112"/>
                </a:lnTo>
                <a:lnTo>
                  <a:pt x="4332727" y="157454"/>
                </a:lnTo>
                <a:lnTo>
                  <a:pt x="4389398" y="155740"/>
                </a:lnTo>
                <a:lnTo>
                  <a:pt x="4444579" y="153971"/>
                </a:lnTo>
                <a:lnTo>
                  <a:pt x="4498234" y="152148"/>
                </a:lnTo>
                <a:lnTo>
                  <a:pt x="4550325" y="150274"/>
                </a:lnTo>
                <a:lnTo>
                  <a:pt x="4600818" y="148348"/>
                </a:lnTo>
                <a:lnTo>
                  <a:pt x="4649676" y="146373"/>
                </a:lnTo>
                <a:lnTo>
                  <a:pt x="4696862" y="144348"/>
                </a:lnTo>
                <a:lnTo>
                  <a:pt x="4742340" y="142277"/>
                </a:lnTo>
                <a:lnTo>
                  <a:pt x="4786075" y="140158"/>
                </a:lnTo>
                <a:lnTo>
                  <a:pt x="4828029" y="137995"/>
                </a:lnTo>
                <a:lnTo>
                  <a:pt x="4868167" y="135788"/>
                </a:lnTo>
                <a:lnTo>
                  <a:pt x="4906452" y="133538"/>
                </a:lnTo>
                <a:lnTo>
                  <a:pt x="4977320" y="128915"/>
                </a:lnTo>
                <a:lnTo>
                  <a:pt x="5040342" y="124136"/>
                </a:lnTo>
                <a:lnTo>
                  <a:pt x="5095230" y="119209"/>
                </a:lnTo>
                <a:lnTo>
                  <a:pt x="5141692" y="114145"/>
                </a:lnTo>
                <a:lnTo>
                  <a:pt x="5179439" y="108954"/>
                </a:lnTo>
                <a:lnTo>
                  <a:pt x="5219084" y="100948"/>
                </a:lnTo>
                <a:lnTo>
                  <a:pt x="5238737" y="89915"/>
                </a:lnTo>
                <a:lnTo>
                  <a:pt x="5237490" y="87122"/>
                </a:lnTo>
                <a:lnTo>
                  <a:pt x="5194953" y="73491"/>
                </a:lnTo>
                <a:lnTo>
                  <a:pt x="5141692" y="65627"/>
                </a:lnTo>
                <a:lnTo>
                  <a:pt x="5095230" y="60537"/>
                </a:lnTo>
                <a:lnTo>
                  <a:pt x="5040342" y="55580"/>
                </a:lnTo>
                <a:lnTo>
                  <a:pt x="4977320" y="50767"/>
                </a:lnTo>
                <a:lnTo>
                  <a:pt x="4906452" y="46108"/>
                </a:lnTo>
                <a:lnTo>
                  <a:pt x="4868167" y="43839"/>
                </a:lnTo>
                <a:lnTo>
                  <a:pt x="4828029" y="41612"/>
                </a:lnTo>
                <a:lnTo>
                  <a:pt x="4786075" y="39429"/>
                </a:lnTo>
                <a:lnTo>
                  <a:pt x="4742340" y="37290"/>
                </a:lnTo>
                <a:lnTo>
                  <a:pt x="4696862" y="35198"/>
                </a:lnTo>
                <a:lnTo>
                  <a:pt x="4649676" y="33152"/>
                </a:lnTo>
                <a:lnTo>
                  <a:pt x="4600818" y="31156"/>
                </a:lnTo>
                <a:lnTo>
                  <a:pt x="4550325" y="29208"/>
                </a:lnTo>
                <a:lnTo>
                  <a:pt x="4498234" y="27312"/>
                </a:lnTo>
                <a:lnTo>
                  <a:pt x="4444579" y="25468"/>
                </a:lnTo>
                <a:lnTo>
                  <a:pt x="4389398" y="23678"/>
                </a:lnTo>
                <a:lnTo>
                  <a:pt x="4332727" y="21943"/>
                </a:lnTo>
                <a:lnTo>
                  <a:pt x="4274602" y="20263"/>
                </a:lnTo>
                <a:lnTo>
                  <a:pt x="4215059" y="18641"/>
                </a:lnTo>
                <a:lnTo>
                  <a:pt x="4154134" y="17077"/>
                </a:lnTo>
                <a:lnTo>
                  <a:pt x="4091865" y="15574"/>
                </a:lnTo>
                <a:lnTo>
                  <a:pt x="4028286" y="14131"/>
                </a:lnTo>
                <a:lnTo>
                  <a:pt x="3963434" y="12750"/>
                </a:lnTo>
                <a:lnTo>
                  <a:pt x="3897345" y="11434"/>
                </a:lnTo>
                <a:lnTo>
                  <a:pt x="3830057" y="10182"/>
                </a:lnTo>
                <a:lnTo>
                  <a:pt x="3761604" y="8996"/>
                </a:lnTo>
                <a:lnTo>
                  <a:pt x="3692023" y="7878"/>
                </a:lnTo>
                <a:lnTo>
                  <a:pt x="3621351" y="6828"/>
                </a:lnTo>
                <a:lnTo>
                  <a:pt x="3549623" y="5848"/>
                </a:lnTo>
                <a:lnTo>
                  <a:pt x="3476876" y="4939"/>
                </a:lnTo>
                <a:lnTo>
                  <a:pt x="3403146" y="4103"/>
                </a:lnTo>
                <a:lnTo>
                  <a:pt x="3328469" y="3340"/>
                </a:lnTo>
                <a:lnTo>
                  <a:pt x="3252882" y="2653"/>
                </a:lnTo>
                <a:lnTo>
                  <a:pt x="3176420" y="2041"/>
                </a:lnTo>
                <a:lnTo>
                  <a:pt x="3099121" y="1507"/>
                </a:lnTo>
                <a:lnTo>
                  <a:pt x="3021020" y="1052"/>
                </a:lnTo>
                <a:lnTo>
                  <a:pt x="2942153" y="676"/>
                </a:lnTo>
                <a:lnTo>
                  <a:pt x="2862557" y="382"/>
                </a:lnTo>
                <a:lnTo>
                  <a:pt x="2782268" y="170"/>
                </a:lnTo>
                <a:lnTo>
                  <a:pt x="2701322" y="42"/>
                </a:lnTo>
                <a:lnTo>
                  <a:pt x="2619755" y="0"/>
                </a:lnTo>
                <a:close/>
              </a:path>
            </a:pathLst>
          </a:custGeom>
          <a:ln w="31750">
            <a:solidFill>
              <a:srgbClr val="FF00FF"/>
            </a:solidFill>
            <a:prstDash val="dash"/>
          </a:ln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1" name="object 11"/>
          <p:cNvSpPr/>
          <p:nvPr/>
        </p:nvSpPr>
        <p:spPr>
          <a:xfrm>
            <a:off x="1498600" y="3670300"/>
            <a:ext cx="4479925" cy="153988"/>
          </a:xfrm>
          <a:custGeom>
            <a:avLst/>
            <a:gdLst/>
            <a:ahLst/>
            <a:cxnLst/>
            <a:rect l="l" t="t" r="r" b="b"/>
            <a:pathLst>
              <a:path w="5238750" h="179070">
                <a:moveTo>
                  <a:pt x="2619755" y="0"/>
                </a:moveTo>
                <a:lnTo>
                  <a:pt x="2538147" y="42"/>
                </a:lnTo>
                <a:lnTo>
                  <a:pt x="2457160" y="170"/>
                </a:lnTo>
                <a:lnTo>
                  <a:pt x="2376832" y="382"/>
                </a:lnTo>
                <a:lnTo>
                  <a:pt x="2297198" y="676"/>
                </a:lnTo>
                <a:lnTo>
                  <a:pt x="2218295" y="1052"/>
                </a:lnTo>
                <a:lnTo>
                  <a:pt x="2140159" y="1507"/>
                </a:lnTo>
                <a:lnTo>
                  <a:pt x="2062826" y="2041"/>
                </a:lnTo>
                <a:lnTo>
                  <a:pt x="1986333" y="2653"/>
                </a:lnTo>
                <a:lnTo>
                  <a:pt x="1910715" y="3340"/>
                </a:lnTo>
                <a:lnTo>
                  <a:pt x="1836009" y="4103"/>
                </a:lnTo>
                <a:lnTo>
                  <a:pt x="1762251" y="4939"/>
                </a:lnTo>
                <a:lnTo>
                  <a:pt x="1689477" y="5848"/>
                </a:lnTo>
                <a:lnTo>
                  <a:pt x="1617724" y="6828"/>
                </a:lnTo>
                <a:lnTo>
                  <a:pt x="1547027" y="7878"/>
                </a:lnTo>
                <a:lnTo>
                  <a:pt x="1477424" y="8996"/>
                </a:lnTo>
                <a:lnTo>
                  <a:pt x="1408949" y="10182"/>
                </a:lnTo>
                <a:lnTo>
                  <a:pt x="1341639" y="11434"/>
                </a:lnTo>
                <a:lnTo>
                  <a:pt x="1275531" y="12750"/>
                </a:lnTo>
                <a:lnTo>
                  <a:pt x="1210661" y="14131"/>
                </a:lnTo>
                <a:lnTo>
                  <a:pt x="1147064" y="15574"/>
                </a:lnTo>
                <a:lnTo>
                  <a:pt x="1084778" y="17077"/>
                </a:lnTo>
                <a:lnTo>
                  <a:pt x="1023838" y="18641"/>
                </a:lnTo>
                <a:lnTo>
                  <a:pt x="964280" y="20263"/>
                </a:lnTo>
                <a:lnTo>
                  <a:pt x="906141" y="21943"/>
                </a:lnTo>
                <a:lnTo>
                  <a:pt x="849457" y="23678"/>
                </a:lnTo>
                <a:lnTo>
                  <a:pt x="794264" y="25468"/>
                </a:lnTo>
                <a:lnTo>
                  <a:pt x="740599" y="27312"/>
                </a:lnTo>
                <a:lnTo>
                  <a:pt x="688497" y="29208"/>
                </a:lnTo>
                <a:lnTo>
                  <a:pt x="637994" y="31156"/>
                </a:lnTo>
                <a:lnTo>
                  <a:pt x="589128" y="33152"/>
                </a:lnTo>
                <a:lnTo>
                  <a:pt x="541934" y="35198"/>
                </a:lnTo>
                <a:lnTo>
                  <a:pt x="496448" y="37290"/>
                </a:lnTo>
                <a:lnTo>
                  <a:pt x="452707" y="39429"/>
                </a:lnTo>
                <a:lnTo>
                  <a:pt x="410746" y="41612"/>
                </a:lnTo>
                <a:lnTo>
                  <a:pt x="370603" y="43839"/>
                </a:lnTo>
                <a:lnTo>
                  <a:pt x="332312" y="46108"/>
                </a:lnTo>
                <a:lnTo>
                  <a:pt x="261436" y="50767"/>
                </a:lnTo>
                <a:lnTo>
                  <a:pt x="198407" y="55580"/>
                </a:lnTo>
                <a:lnTo>
                  <a:pt x="143515" y="60537"/>
                </a:lnTo>
                <a:lnTo>
                  <a:pt x="97049" y="65627"/>
                </a:lnTo>
                <a:lnTo>
                  <a:pt x="59300" y="70841"/>
                </a:lnTo>
                <a:lnTo>
                  <a:pt x="19653" y="78871"/>
                </a:lnTo>
                <a:lnTo>
                  <a:pt x="0" y="89915"/>
                </a:lnTo>
                <a:lnTo>
                  <a:pt x="1246" y="92708"/>
                </a:lnTo>
                <a:lnTo>
                  <a:pt x="43785" y="106313"/>
                </a:lnTo>
                <a:lnTo>
                  <a:pt x="97049" y="114145"/>
                </a:lnTo>
                <a:lnTo>
                  <a:pt x="143515" y="119209"/>
                </a:lnTo>
                <a:lnTo>
                  <a:pt x="198407" y="124136"/>
                </a:lnTo>
                <a:lnTo>
                  <a:pt x="261436" y="128915"/>
                </a:lnTo>
                <a:lnTo>
                  <a:pt x="332312" y="133538"/>
                </a:lnTo>
                <a:lnTo>
                  <a:pt x="370603" y="135788"/>
                </a:lnTo>
                <a:lnTo>
                  <a:pt x="410746" y="137995"/>
                </a:lnTo>
                <a:lnTo>
                  <a:pt x="452707" y="140158"/>
                </a:lnTo>
                <a:lnTo>
                  <a:pt x="496448" y="142277"/>
                </a:lnTo>
                <a:lnTo>
                  <a:pt x="541934" y="144348"/>
                </a:lnTo>
                <a:lnTo>
                  <a:pt x="589128" y="146373"/>
                </a:lnTo>
                <a:lnTo>
                  <a:pt x="637994" y="148348"/>
                </a:lnTo>
                <a:lnTo>
                  <a:pt x="688497" y="150274"/>
                </a:lnTo>
                <a:lnTo>
                  <a:pt x="740599" y="152148"/>
                </a:lnTo>
                <a:lnTo>
                  <a:pt x="794264" y="153971"/>
                </a:lnTo>
                <a:lnTo>
                  <a:pt x="849457" y="155740"/>
                </a:lnTo>
                <a:lnTo>
                  <a:pt x="906141" y="157454"/>
                </a:lnTo>
                <a:lnTo>
                  <a:pt x="964280" y="159112"/>
                </a:lnTo>
                <a:lnTo>
                  <a:pt x="1023838" y="160713"/>
                </a:lnTo>
                <a:lnTo>
                  <a:pt x="1084778" y="162256"/>
                </a:lnTo>
                <a:lnTo>
                  <a:pt x="1147064" y="163739"/>
                </a:lnTo>
                <a:lnTo>
                  <a:pt x="1210661" y="165162"/>
                </a:lnTo>
                <a:lnTo>
                  <a:pt x="1275531" y="166523"/>
                </a:lnTo>
                <a:lnTo>
                  <a:pt x="1341639" y="167820"/>
                </a:lnTo>
                <a:lnTo>
                  <a:pt x="1408949" y="169054"/>
                </a:lnTo>
                <a:lnTo>
                  <a:pt x="1477424" y="170222"/>
                </a:lnTo>
                <a:lnTo>
                  <a:pt x="1547027" y="171323"/>
                </a:lnTo>
                <a:lnTo>
                  <a:pt x="1617724" y="172356"/>
                </a:lnTo>
                <a:lnTo>
                  <a:pt x="1689477" y="173321"/>
                </a:lnTo>
                <a:lnTo>
                  <a:pt x="1762251" y="174215"/>
                </a:lnTo>
                <a:lnTo>
                  <a:pt x="1836009" y="175037"/>
                </a:lnTo>
                <a:lnTo>
                  <a:pt x="1910715" y="175787"/>
                </a:lnTo>
                <a:lnTo>
                  <a:pt x="1986333" y="176463"/>
                </a:lnTo>
                <a:lnTo>
                  <a:pt x="2062826" y="177064"/>
                </a:lnTo>
                <a:lnTo>
                  <a:pt x="2140159" y="177589"/>
                </a:lnTo>
                <a:lnTo>
                  <a:pt x="2218295" y="178036"/>
                </a:lnTo>
                <a:lnTo>
                  <a:pt x="2297198" y="178405"/>
                </a:lnTo>
                <a:lnTo>
                  <a:pt x="2376832" y="178694"/>
                </a:lnTo>
                <a:lnTo>
                  <a:pt x="2457160" y="178902"/>
                </a:lnTo>
                <a:lnTo>
                  <a:pt x="2538147" y="179027"/>
                </a:lnTo>
                <a:lnTo>
                  <a:pt x="2619755" y="179069"/>
                </a:lnTo>
                <a:lnTo>
                  <a:pt x="2701322" y="179027"/>
                </a:lnTo>
                <a:lnTo>
                  <a:pt x="2782268" y="178902"/>
                </a:lnTo>
                <a:lnTo>
                  <a:pt x="2862557" y="178694"/>
                </a:lnTo>
                <a:lnTo>
                  <a:pt x="2942153" y="178405"/>
                </a:lnTo>
                <a:lnTo>
                  <a:pt x="3021020" y="178036"/>
                </a:lnTo>
                <a:lnTo>
                  <a:pt x="3099121" y="177589"/>
                </a:lnTo>
                <a:lnTo>
                  <a:pt x="3176420" y="177064"/>
                </a:lnTo>
                <a:lnTo>
                  <a:pt x="3252882" y="176463"/>
                </a:lnTo>
                <a:lnTo>
                  <a:pt x="3328469" y="175787"/>
                </a:lnTo>
                <a:lnTo>
                  <a:pt x="3403146" y="175037"/>
                </a:lnTo>
                <a:lnTo>
                  <a:pt x="3476876" y="174215"/>
                </a:lnTo>
                <a:lnTo>
                  <a:pt x="3549623" y="173321"/>
                </a:lnTo>
                <a:lnTo>
                  <a:pt x="3621351" y="172356"/>
                </a:lnTo>
                <a:lnTo>
                  <a:pt x="3692023" y="171323"/>
                </a:lnTo>
                <a:lnTo>
                  <a:pt x="3761604" y="170222"/>
                </a:lnTo>
                <a:lnTo>
                  <a:pt x="3830057" y="169054"/>
                </a:lnTo>
                <a:lnTo>
                  <a:pt x="3897345" y="167820"/>
                </a:lnTo>
                <a:lnTo>
                  <a:pt x="3963434" y="166523"/>
                </a:lnTo>
                <a:lnTo>
                  <a:pt x="4028286" y="165162"/>
                </a:lnTo>
                <a:lnTo>
                  <a:pt x="4091865" y="163739"/>
                </a:lnTo>
                <a:lnTo>
                  <a:pt x="4154134" y="162256"/>
                </a:lnTo>
                <a:lnTo>
                  <a:pt x="4215059" y="160713"/>
                </a:lnTo>
                <a:lnTo>
                  <a:pt x="4274602" y="159112"/>
                </a:lnTo>
                <a:lnTo>
                  <a:pt x="4332727" y="157454"/>
                </a:lnTo>
                <a:lnTo>
                  <a:pt x="4389398" y="155740"/>
                </a:lnTo>
                <a:lnTo>
                  <a:pt x="4444579" y="153971"/>
                </a:lnTo>
                <a:lnTo>
                  <a:pt x="4498234" y="152148"/>
                </a:lnTo>
                <a:lnTo>
                  <a:pt x="4550325" y="150274"/>
                </a:lnTo>
                <a:lnTo>
                  <a:pt x="4600818" y="148348"/>
                </a:lnTo>
                <a:lnTo>
                  <a:pt x="4649676" y="146373"/>
                </a:lnTo>
                <a:lnTo>
                  <a:pt x="4696862" y="144348"/>
                </a:lnTo>
                <a:lnTo>
                  <a:pt x="4742340" y="142277"/>
                </a:lnTo>
                <a:lnTo>
                  <a:pt x="4786075" y="140158"/>
                </a:lnTo>
                <a:lnTo>
                  <a:pt x="4828029" y="137995"/>
                </a:lnTo>
                <a:lnTo>
                  <a:pt x="4868167" y="135788"/>
                </a:lnTo>
                <a:lnTo>
                  <a:pt x="4906452" y="133538"/>
                </a:lnTo>
                <a:lnTo>
                  <a:pt x="4977320" y="128915"/>
                </a:lnTo>
                <a:lnTo>
                  <a:pt x="5040342" y="124136"/>
                </a:lnTo>
                <a:lnTo>
                  <a:pt x="5095230" y="119209"/>
                </a:lnTo>
                <a:lnTo>
                  <a:pt x="5141692" y="114145"/>
                </a:lnTo>
                <a:lnTo>
                  <a:pt x="5179439" y="108954"/>
                </a:lnTo>
                <a:lnTo>
                  <a:pt x="5219084" y="100948"/>
                </a:lnTo>
                <a:lnTo>
                  <a:pt x="5238737" y="89915"/>
                </a:lnTo>
                <a:lnTo>
                  <a:pt x="5237490" y="87122"/>
                </a:lnTo>
                <a:lnTo>
                  <a:pt x="5194953" y="73491"/>
                </a:lnTo>
                <a:lnTo>
                  <a:pt x="5141692" y="65627"/>
                </a:lnTo>
                <a:lnTo>
                  <a:pt x="5095230" y="60537"/>
                </a:lnTo>
                <a:lnTo>
                  <a:pt x="5040342" y="55580"/>
                </a:lnTo>
                <a:lnTo>
                  <a:pt x="4977320" y="50767"/>
                </a:lnTo>
                <a:lnTo>
                  <a:pt x="4906452" y="46108"/>
                </a:lnTo>
                <a:lnTo>
                  <a:pt x="4868167" y="43839"/>
                </a:lnTo>
                <a:lnTo>
                  <a:pt x="4828029" y="41612"/>
                </a:lnTo>
                <a:lnTo>
                  <a:pt x="4786075" y="39429"/>
                </a:lnTo>
                <a:lnTo>
                  <a:pt x="4742340" y="37290"/>
                </a:lnTo>
                <a:lnTo>
                  <a:pt x="4696862" y="35198"/>
                </a:lnTo>
                <a:lnTo>
                  <a:pt x="4649676" y="33152"/>
                </a:lnTo>
                <a:lnTo>
                  <a:pt x="4600818" y="31156"/>
                </a:lnTo>
                <a:lnTo>
                  <a:pt x="4550325" y="29208"/>
                </a:lnTo>
                <a:lnTo>
                  <a:pt x="4498234" y="27312"/>
                </a:lnTo>
                <a:lnTo>
                  <a:pt x="4444579" y="25468"/>
                </a:lnTo>
                <a:lnTo>
                  <a:pt x="4389398" y="23678"/>
                </a:lnTo>
                <a:lnTo>
                  <a:pt x="4332727" y="21943"/>
                </a:lnTo>
                <a:lnTo>
                  <a:pt x="4274602" y="20263"/>
                </a:lnTo>
                <a:lnTo>
                  <a:pt x="4215059" y="18641"/>
                </a:lnTo>
                <a:lnTo>
                  <a:pt x="4154134" y="17077"/>
                </a:lnTo>
                <a:lnTo>
                  <a:pt x="4091865" y="15574"/>
                </a:lnTo>
                <a:lnTo>
                  <a:pt x="4028286" y="14131"/>
                </a:lnTo>
                <a:lnTo>
                  <a:pt x="3963434" y="12750"/>
                </a:lnTo>
                <a:lnTo>
                  <a:pt x="3897345" y="11434"/>
                </a:lnTo>
                <a:lnTo>
                  <a:pt x="3830057" y="10182"/>
                </a:lnTo>
                <a:lnTo>
                  <a:pt x="3761604" y="8996"/>
                </a:lnTo>
                <a:lnTo>
                  <a:pt x="3692023" y="7878"/>
                </a:lnTo>
                <a:lnTo>
                  <a:pt x="3621351" y="6828"/>
                </a:lnTo>
                <a:lnTo>
                  <a:pt x="3549623" y="5848"/>
                </a:lnTo>
                <a:lnTo>
                  <a:pt x="3476876" y="4939"/>
                </a:lnTo>
                <a:lnTo>
                  <a:pt x="3403146" y="4103"/>
                </a:lnTo>
                <a:lnTo>
                  <a:pt x="3328469" y="3340"/>
                </a:lnTo>
                <a:lnTo>
                  <a:pt x="3252882" y="2653"/>
                </a:lnTo>
                <a:lnTo>
                  <a:pt x="3176420" y="2041"/>
                </a:lnTo>
                <a:lnTo>
                  <a:pt x="3099121" y="1507"/>
                </a:lnTo>
                <a:lnTo>
                  <a:pt x="3021020" y="1052"/>
                </a:lnTo>
                <a:lnTo>
                  <a:pt x="2942153" y="676"/>
                </a:lnTo>
                <a:lnTo>
                  <a:pt x="2862557" y="382"/>
                </a:lnTo>
                <a:lnTo>
                  <a:pt x="2782268" y="170"/>
                </a:lnTo>
                <a:lnTo>
                  <a:pt x="2701322" y="42"/>
                </a:lnTo>
                <a:lnTo>
                  <a:pt x="2619755" y="0"/>
                </a:lnTo>
                <a:close/>
              </a:path>
            </a:pathLst>
          </a:custGeom>
          <a:ln w="31750">
            <a:solidFill>
              <a:srgbClr val="FF00FF"/>
            </a:solidFill>
            <a:prstDash val="dash"/>
          </a:ln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2" name="object 12"/>
          <p:cNvSpPr txBox="1"/>
          <p:nvPr/>
        </p:nvSpPr>
        <p:spPr>
          <a:xfrm>
            <a:off x="5995988" y="3224213"/>
            <a:ext cx="196850" cy="587375"/>
          </a:xfrm>
          <a:prstGeom prst="rect">
            <a:avLst/>
          </a:prstGeom>
        </p:spPr>
        <p:txBody>
          <a:bodyPr lIns="0" tIns="10860" rIns="0" bIns="0">
            <a:spAutoFit/>
          </a:bodyPr>
          <a:lstStyle/>
          <a:p>
            <a:pPr marL="10860" eaLnBrk="1" hangingPunct="1">
              <a:spcBef>
                <a:spcPts val="86"/>
              </a:spcBef>
              <a:defRPr/>
            </a:pPr>
            <a:r>
              <a:rPr sz="1368" b="1" spc="-4" dirty="0">
                <a:solidFill>
                  <a:srgbClr val="FF0065"/>
                </a:solidFill>
                <a:latin typeface="SimSun"/>
                <a:cs typeface="SimSun"/>
              </a:rPr>
              <a:t>√</a:t>
            </a:r>
            <a:endParaRPr sz="1368">
              <a:latin typeface="SimSun"/>
              <a:cs typeface="SimSun"/>
            </a:endParaRPr>
          </a:p>
          <a:p>
            <a:pPr marL="10860" eaLnBrk="1" hangingPunct="1">
              <a:spcBef>
                <a:spcPts val="1180"/>
              </a:spcBef>
              <a:defRPr/>
            </a:pPr>
            <a:r>
              <a:rPr sz="1368" b="1" spc="-4" dirty="0">
                <a:solidFill>
                  <a:srgbClr val="FF0065"/>
                </a:solidFill>
                <a:latin typeface="SimSun"/>
                <a:cs typeface="SimSun"/>
              </a:rPr>
              <a:t>√</a:t>
            </a:r>
            <a:endParaRPr sz="1368">
              <a:latin typeface="SimSun"/>
              <a:cs typeface="SimSu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81062" y="5164138"/>
            <a:ext cx="7651377" cy="318194"/>
          </a:xfrm>
          <a:prstGeom prst="rect">
            <a:avLst/>
          </a:prstGeom>
        </p:spPr>
        <p:txBody>
          <a:bodyPr wrap="square" lIns="0" tIns="10317" rIns="0" bIns="0">
            <a:spAutoFit/>
          </a:bodyPr>
          <a:lstStyle>
            <a:lvl1pPr marL="952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75"/>
              </a:spcBef>
            </a:pPr>
            <a:r>
              <a:rPr lang="zh-CN" altLang="zh-CN" sz="2000" b="1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第三步：在</a:t>
            </a:r>
            <a:r>
              <a:rPr lang="zh-CN" altLang="zh-CN" sz="2000" b="1" dirty="0">
                <a:solidFill>
                  <a:srgbClr val="FF0065"/>
                </a:solidFill>
                <a:cs typeface="Times New Roman" panose="02020603050405020304" pitchFamily="18" charset="0"/>
              </a:rPr>
              <a:t>(Wname, Wage, Title)</a:t>
            </a:r>
            <a:r>
              <a:rPr lang="zh-CN" altLang="zh-CN" sz="2000" b="1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上进行投影运算，得到最终结果</a:t>
            </a:r>
            <a:endParaRPr lang="zh-CN" altLang="zh-CN" sz="20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830388" y="5580062"/>
            <a:ext cx="3029644" cy="111442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5" name="object 15"/>
          <p:cNvSpPr txBox="1"/>
          <p:nvPr/>
        </p:nvSpPr>
        <p:spPr>
          <a:xfrm>
            <a:off x="611560" y="1231900"/>
            <a:ext cx="8532439" cy="1488268"/>
          </a:xfrm>
          <a:prstGeom prst="rect">
            <a:avLst/>
          </a:prstGeom>
        </p:spPr>
        <p:txBody>
          <a:bodyPr wrap="square" lIns="0" tIns="97195" rIns="0" bIns="0">
            <a:spAutoFit/>
          </a:bodyPr>
          <a:lstStyle>
            <a:lvl1pPr marL="952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763"/>
              </a:spcBef>
            </a:pPr>
            <a:r>
              <a:rPr lang="zh-CN" altLang="zh-CN" sz="2000" b="1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第一步：对两个表进行广义笛卡尔积</a:t>
            </a:r>
            <a:endParaRPr lang="zh-CN" altLang="zh-CN" sz="20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eaLnBrk="1" hangingPunct="1">
              <a:spcBef>
                <a:spcPts val="688"/>
              </a:spcBef>
            </a:pPr>
            <a:r>
              <a:rPr lang="zh-CN" altLang="zh-CN" sz="2000" b="1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第二步：从广义笛卡尔积中选取出符合</a:t>
            </a:r>
            <a:r>
              <a:rPr lang="zh-CN" altLang="zh-CN" sz="2000" b="1" dirty="0">
                <a:solidFill>
                  <a:srgbClr val="FF0065"/>
                </a:solidFill>
                <a:cs typeface="Times New Roman" panose="02020603050405020304" pitchFamily="18" charset="0"/>
              </a:rPr>
              <a:t>(</a:t>
            </a:r>
            <a:r>
              <a:rPr lang="zh-CN" altLang="zh-CN" sz="2000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Honor_type=Type</a:t>
            </a:r>
            <a:r>
              <a:rPr lang="zh-CN" altLang="zh-CN" sz="2000" b="1" dirty="0">
                <a:solidFill>
                  <a:srgbClr val="FF0065"/>
                </a:solidFill>
                <a:cs typeface="Times New Roman" panose="02020603050405020304" pitchFamily="18" charset="0"/>
              </a:rPr>
              <a:t>)</a:t>
            </a:r>
            <a:r>
              <a:rPr lang="zh-CN" altLang="zh-CN" sz="2000" b="1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条件 的元组</a:t>
            </a:r>
            <a:endParaRPr lang="zh-CN" altLang="zh-CN" sz="20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eaLnBrk="1" hangingPunct="1">
              <a:lnSpc>
                <a:spcPct val="50000"/>
              </a:lnSpc>
              <a:spcBef>
                <a:spcPts val="1475"/>
              </a:spcBef>
            </a:pPr>
            <a:r>
              <a:rPr lang="en-US" altLang="zh-CN" sz="1300" b="1" dirty="0">
                <a:solidFill>
                  <a:srgbClr val="FF0065"/>
                </a:solidFill>
                <a:latin typeface="宋体" panose="02010600030101010101" pitchFamily="2" charset="-122"/>
              </a:rPr>
              <a:t>                                                                  </a:t>
            </a:r>
          </a:p>
          <a:p>
            <a:pPr eaLnBrk="1" hangingPunct="1">
              <a:spcBef>
                <a:spcPts val="1475"/>
              </a:spcBef>
            </a:pPr>
            <a:r>
              <a:rPr lang="en-US" altLang="zh-CN" sz="1300" b="1" dirty="0">
                <a:solidFill>
                  <a:srgbClr val="FF0065"/>
                </a:solidFill>
                <a:latin typeface="宋体" panose="02010600030101010101" pitchFamily="2" charset="-122"/>
              </a:rPr>
              <a:t>                                                                   </a:t>
            </a:r>
            <a:endParaRPr lang="zh-CN" altLang="zh-CN" sz="1300" dirty="0">
              <a:latin typeface="宋体" panose="02010600030101010101" pitchFamily="2" charset="-122"/>
            </a:endParaRPr>
          </a:p>
        </p:txBody>
      </p:sp>
      <p:sp>
        <p:nvSpPr>
          <p:cNvPr id="16" name="灯片编号占位符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A6568E1-4089-4561-919E-9D2F37D3F2B0}" type="slidenum">
              <a:rPr lang="en-US" altLang="zh-CN" smtClean="0"/>
              <a:pPr>
                <a:defRPr/>
              </a:pPr>
              <a:t>45</a:t>
            </a:fld>
            <a:endParaRPr lang="en-US" altLang="zh-CN" dirty="0"/>
          </a:p>
        </p:txBody>
      </p:sp>
      <p:sp>
        <p:nvSpPr>
          <p:cNvPr id="17" name="标题 1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zh-CN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(3) “</a:t>
            </a:r>
            <a:r>
              <a:rPr lang="zh-CN" altLang="zh-CN" dirty="0">
                <a:solidFill>
                  <a:srgbClr val="F8F8F8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等值</a:t>
            </a:r>
            <a:r>
              <a:rPr lang="zh-CN" altLang="zh-CN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zh-CN" altLang="zh-CN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连接</a:t>
            </a:r>
            <a:r>
              <a:rPr lang="zh-CN" altLang="zh-CN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r>
              <a:rPr lang="zh-CN" altLang="zh-CN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操作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9CA872F-9207-D162-8F50-5240FC4BC601}"/>
              </a:ext>
            </a:extLst>
          </p:cNvPr>
          <p:cNvSpPr txBox="1"/>
          <p:nvPr/>
        </p:nvSpPr>
        <p:spPr>
          <a:xfrm flipH="1">
            <a:off x="5940152" y="2339588"/>
            <a:ext cx="5202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600" b="1" dirty="0">
                <a:solidFill>
                  <a:srgbClr val="FF0065"/>
                </a:solidFill>
                <a:latin typeface="宋体" panose="02010600030101010101" pitchFamily="2" charset="-122"/>
              </a:rPr>
              <a:t>√</a:t>
            </a:r>
            <a:endParaRPr lang="zh-CN" alt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/>
      <p:bldP spid="3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611560" y="1366838"/>
            <a:ext cx="8532440" cy="5157468"/>
          </a:xfrm>
          <a:prstGeom prst="rect">
            <a:avLst/>
          </a:prstGeom>
        </p:spPr>
        <p:txBody>
          <a:bodyPr wrap="square" lIns="0" tIns="10317" rIns="0" bIns="0">
            <a:spAutoFit/>
          </a:bodyPr>
          <a:lstStyle>
            <a:lvl1pPr marL="952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75"/>
              </a:spcBef>
            </a:pPr>
            <a:r>
              <a:rPr lang="zh-CN" altLang="zh-CN" sz="27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自然连接(Natural-Join)</a:t>
            </a:r>
            <a:endParaRPr lang="zh-CN" altLang="zh-CN" sz="27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33000"/>
              </a:lnSpc>
              <a:spcBef>
                <a:spcPts val="2238"/>
              </a:spcBef>
              <a:buClr>
                <a:srgbClr val="000000"/>
              </a:buClr>
              <a:buFont typeface="Wingdings" panose="05000000000000000000" pitchFamily="2" charset="2"/>
              <a:buChar char=""/>
            </a:pPr>
            <a:r>
              <a:rPr lang="zh-CN" altLang="zh-CN" sz="2000" b="1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定义</a:t>
            </a: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：给定关系</a:t>
            </a:r>
            <a:r>
              <a:rPr lang="zh-CN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和关系</a:t>
            </a:r>
            <a:r>
              <a:rPr lang="zh-CN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S, R</a:t>
            </a: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与</a:t>
            </a:r>
            <a:r>
              <a:rPr lang="zh-CN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的自然连接运算结果也是一个关系，记 作	，它由关系</a:t>
            </a:r>
            <a:r>
              <a:rPr lang="zh-CN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和关系</a:t>
            </a:r>
            <a:r>
              <a:rPr lang="zh-CN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的笛卡尔积中选取相同属性组</a:t>
            </a:r>
            <a:r>
              <a:rPr lang="zh-CN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上值相等的元组所构成。</a:t>
            </a:r>
            <a:endParaRPr lang="zh-CN" altLang="zh-CN" sz="20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eaLnBrk="1" hangingPunct="1">
              <a:spcBef>
                <a:spcPts val="488"/>
              </a:spcBef>
              <a:buFont typeface="Wingdings" panose="05000000000000000000" pitchFamily="2" charset="2"/>
              <a:buChar char=""/>
            </a:pPr>
            <a:r>
              <a:rPr lang="zh-CN" altLang="zh-CN" sz="2000" b="1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数学描述</a:t>
            </a:r>
            <a:r>
              <a:rPr lang="zh-CN" altLang="zh-CN" sz="17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：</a:t>
            </a:r>
            <a:endParaRPr lang="zh-CN" altLang="zh-CN" sz="17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eaLnBrk="1" hangingPunct="1"/>
            <a:endParaRPr lang="zh-CN" altLang="zh-CN" sz="1800" dirty="0">
              <a:cs typeface="Times New Roman" panose="02020603050405020304" pitchFamily="18" charset="0"/>
            </a:endParaRPr>
          </a:p>
          <a:p>
            <a:pPr eaLnBrk="1" hangingPunct="1">
              <a:spcBef>
                <a:spcPts val="25"/>
              </a:spcBef>
            </a:pPr>
            <a:endParaRPr lang="zh-CN" altLang="zh-CN" sz="1400" dirty="0">
              <a:cs typeface="Times New Roman" panose="02020603050405020304" pitchFamily="18" charset="0"/>
            </a:endParaRPr>
          </a:p>
          <a:p>
            <a:pPr eaLnBrk="1" hangingPunct="1"/>
            <a:r>
              <a:rPr lang="zh-CN" altLang="zh-CN" sz="1700" dirty="0">
                <a:solidFill>
                  <a:srgbClr val="3333CC"/>
                </a:solidFill>
                <a:latin typeface="Wingdings" panose="05000000000000000000" pitchFamily="2" charset="2"/>
              </a:rPr>
              <a:t></a:t>
            </a:r>
            <a:r>
              <a:rPr lang="zh-CN" altLang="zh-CN" b="1" dirty="0">
                <a:solidFill>
                  <a:srgbClr val="3333CC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自然连接是一种特殊的等值连接</a:t>
            </a:r>
            <a:endParaRPr lang="zh-CN" altLang="zh-CN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eaLnBrk="1" hangingPunct="1">
              <a:spcBef>
                <a:spcPts val="288"/>
              </a:spcBef>
            </a:pPr>
            <a:r>
              <a:rPr lang="zh-CN" altLang="zh-CN" sz="1700" dirty="0">
                <a:solidFill>
                  <a:srgbClr val="3333CC"/>
                </a:solidFill>
                <a:latin typeface="Wingdings" panose="05000000000000000000" pitchFamily="2" charset="2"/>
              </a:rPr>
              <a:t></a:t>
            </a:r>
            <a:r>
              <a:rPr lang="zh-CN" altLang="zh-CN" sz="2000" b="1" dirty="0">
                <a:solidFill>
                  <a:srgbClr val="3333CC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要求关系</a:t>
            </a:r>
            <a:r>
              <a:rPr lang="zh-CN" altLang="zh-CN" sz="2000" b="1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zh-CN" altLang="zh-CN" sz="2000" b="1" dirty="0">
                <a:solidFill>
                  <a:srgbClr val="3333CC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和关系</a:t>
            </a:r>
            <a:r>
              <a:rPr lang="zh-CN" altLang="zh-CN" sz="2000" b="1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zh-CN" altLang="zh-CN" sz="2000" b="1" dirty="0">
                <a:solidFill>
                  <a:srgbClr val="3333CC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必须有相同的属性组</a:t>
            </a:r>
            <a:r>
              <a:rPr lang="zh-CN" altLang="zh-CN" sz="2000" b="1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zh-CN" altLang="zh-CN" sz="2000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zh-CN" altLang="zh-CN" sz="2000" b="1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如</a:t>
            </a:r>
            <a:r>
              <a:rPr lang="zh-CN" altLang="zh-CN" sz="2000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R,S</a:t>
            </a:r>
            <a:r>
              <a:rPr lang="zh-CN" altLang="zh-CN" sz="2000" b="1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共有一个属性</a:t>
            </a:r>
            <a:r>
              <a:rPr lang="zh-CN" altLang="zh-CN" sz="2000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zh-CN" altLang="zh-CN" sz="2000" b="1" baseline="-21000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zh-CN" altLang="zh-CN" sz="2000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zh-CN" altLang="zh-CN" sz="2000" b="1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则</a:t>
            </a:r>
            <a:r>
              <a:rPr lang="zh-CN" altLang="zh-CN" sz="2000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zh-CN" altLang="zh-CN" sz="2000" b="1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是</a:t>
            </a:r>
            <a:r>
              <a:rPr lang="zh-CN" altLang="zh-CN" sz="2000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zh-CN" altLang="zh-CN" sz="2000" b="1" baseline="-21000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zh-CN" altLang="zh-CN" sz="2000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zh-CN" altLang="zh-CN" sz="2000" b="1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如</a:t>
            </a:r>
            <a:r>
              <a:rPr lang="zh-CN" altLang="zh-CN" sz="2000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R, S</a:t>
            </a:r>
            <a:r>
              <a:rPr lang="zh-CN" altLang="zh-CN" sz="2000" b="1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共有一组属性</a:t>
            </a:r>
            <a:r>
              <a:rPr lang="zh-CN" altLang="zh-CN" sz="2000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zh-CN" altLang="zh-CN" sz="2000" b="1" baseline="-21000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zh-CN" altLang="zh-CN" sz="2000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B</a:t>
            </a:r>
            <a:r>
              <a:rPr lang="zh-CN" altLang="zh-CN" sz="2000" b="1" baseline="-21000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zh-CN" altLang="zh-CN" sz="2000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…, B</a:t>
            </a:r>
            <a:r>
              <a:rPr lang="zh-CN" altLang="zh-CN" sz="2000" b="1" baseline="-21000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zh-CN" altLang="zh-CN" sz="2000" b="1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，则</a:t>
            </a:r>
            <a:r>
              <a:rPr lang="zh-CN" altLang="zh-CN" sz="2000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zh-CN" altLang="zh-CN" sz="2000" b="1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是这些共有的所有属性</a:t>
            </a:r>
            <a:r>
              <a:rPr lang="zh-CN" altLang="zh-CN" sz="2000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zh-CN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ts val="400"/>
              </a:spcBef>
            </a:pPr>
            <a:r>
              <a:rPr lang="zh-CN" altLang="zh-CN" sz="1700" dirty="0">
                <a:solidFill>
                  <a:srgbClr val="3333CC"/>
                </a:solidFill>
                <a:latin typeface="Wingdings" panose="05000000000000000000" pitchFamily="2" charset="2"/>
              </a:rPr>
              <a:t></a:t>
            </a:r>
            <a:r>
              <a:rPr lang="zh-CN" altLang="zh-CN" sz="1700" dirty="0">
                <a:solidFill>
                  <a:srgbClr val="3333CC"/>
                </a:solidFill>
                <a:cs typeface="Times New Roman" panose="02020603050405020304" pitchFamily="18" charset="0"/>
              </a:rPr>
              <a:t> </a:t>
            </a:r>
            <a:r>
              <a:rPr lang="zh-CN" altLang="zh-CN" sz="2000" b="1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R, S</a:t>
            </a:r>
            <a:r>
              <a:rPr lang="zh-CN" altLang="zh-CN" sz="2000" b="1" dirty="0">
                <a:solidFill>
                  <a:srgbClr val="3333CC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属性相同，值必须相等才能连接，即</a:t>
            </a:r>
            <a:r>
              <a:rPr lang="en-US" altLang="zh-CN" sz="2000" b="1" dirty="0">
                <a:solidFill>
                  <a:srgbClr val="3333CC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br>
              <a:rPr lang="en-US" altLang="zh-CN" sz="2000" b="1" dirty="0">
                <a:solidFill>
                  <a:srgbClr val="3333CC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</a:br>
            <a:r>
              <a:rPr lang="en-US" altLang="zh-CN" sz="2000" b="1" dirty="0">
                <a:solidFill>
                  <a:srgbClr val="3333CC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</a:t>
            </a:r>
            <a:r>
              <a:rPr lang="zh-CN" altLang="zh-CN" sz="2000" b="1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R.B</a:t>
            </a:r>
            <a:r>
              <a:rPr lang="zh-CN" altLang="zh-CN" sz="2000" b="1" baseline="-21000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zh-CN" altLang="zh-CN" sz="2000" b="1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S.B</a:t>
            </a:r>
            <a:r>
              <a:rPr lang="zh-CN" altLang="zh-CN" sz="2000" b="1" baseline="-21000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zh-CN" sz="2000" b="1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zh-CN" altLang="zh-CN" sz="2000" b="1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en-US" altLang="zh-CN" sz="2000" b="1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zh-CN" altLang="zh-CN" sz="2000" b="1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R.B</a:t>
            </a:r>
            <a:r>
              <a:rPr lang="zh-CN" altLang="zh-CN" sz="2000" b="1" baseline="-21000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zh-CN" altLang="zh-CN" sz="2000" b="1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S.B</a:t>
            </a:r>
            <a:r>
              <a:rPr lang="zh-CN" altLang="zh-CN" sz="2000" b="1" baseline="-21000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zh-CN" sz="2000" b="1" baseline="-21000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zh-CN" altLang="zh-CN" sz="2000" b="1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r>
              <a:rPr lang="en-US" altLang="zh-CN" sz="2000" b="1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zh-CN" altLang="zh-CN" sz="2000" b="1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en-US" altLang="zh-CN" sz="2000" b="1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zh-CN" altLang="zh-CN" sz="2000" b="1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R.B</a:t>
            </a:r>
            <a:r>
              <a:rPr lang="zh-CN" altLang="zh-CN" sz="2000" b="1" baseline="-21000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 </a:t>
            </a:r>
            <a:r>
              <a:rPr lang="zh-CN" altLang="zh-CN" sz="2000" b="1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S.B</a:t>
            </a:r>
            <a:r>
              <a:rPr lang="zh-CN" altLang="zh-CN" sz="2000" b="1" baseline="-21000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altLang="zh-CN" sz="2000" b="1" baseline="-21000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zh-CN" altLang="zh-CN" sz="2000" b="1" dirty="0">
                <a:solidFill>
                  <a:srgbClr val="3333CC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才能连接</a:t>
            </a:r>
            <a:endParaRPr lang="zh-CN" altLang="zh-CN" sz="20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eaLnBrk="1" hangingPunct="1">
              <a:lnSpc>
                <a:spcPts val="2450"/>
              </a:lnSpc>
              <a:spcBef>
                <a:spcPts val="150"/>
              </a:spcBef>
            </a:pPr>
            <a:r>
              <a:rPr lang="zh-CN" altLang="zh-CN" sz="1700" dirty="0">
                <a:solidFill>
                  <a:srgbClr val="3333CC"/>
                </a:solidFill>
                <a:latin typeface="Wingdings" panose="05000000000000000000" pitchFamily="2" charset="2"/>
              </a:rPr>
              <a:t></a:t>
            </a:r>
            <a:r>
              <a:rPr lang="zh-CN" altLang="zh-CN" sz="1700" dirty="0">
                <a:solidFill>
                  <a:srgbClr val="3333CC"/>
                </a:solidFill>
                <a:cs typeface="Times New Roman" panose="02020603050405020304" pitchFamily="18" charset="0"/>
              </a:rPr>
              <a:t> </a:t>
            </a:r>
            <a:r>
              <a:rPr lang="zh-CN" altLang="zh-CN" sz="2000" b="1" dirty="0">
                <a:solidFill>
                  <a:srgbClr val="3333CC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要在结果中去掉重复的属性列</a:t>
            </a:r>
            <a:r>
              <a:rPr lang="zh-CN" altLang="zh-CN" sz="2000" b="1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zh-CN" altLang="zh-CN" sz="2000" b="1" dirty="0">
                <a:solidFill>
                  <a:srgbClr val="3333CC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因结果中</a:t>
            </a:r>
            <a:r>
              <a:rPr lang="zh-CN" altLang="zh-CN" sz="2000" b="1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R.B</a:t>
            </a:r>
            <a:r>
              <a:rPr lang="zh-CN" altLang="zh-CN" sz="2000" b="1" baseline="-21000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</a:t>
            </a:r>
            <a:r>
              <a:rPr lang="zh-CN" altLang="zh-CN" sz="2000" b="1" dirty="0">
                <a:solidFill>
                  <a:srgbClr val="3333CC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始终是等于</a:t>
            </a:r>
            <a:r>
              <a:rPr lang="zh-CN" altLang="zh-CN" sz="2000" b="1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S.B</a:t>
            </a:r>
            <a:r>
              <a:rPr lang="zh-CN" altLang="zh-CN" sz="2000" b="1" baseline="-21000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</a:t>
            </a:r>
            <a:r>
              <a:rPr lang="zh-CN" altLang="zh-CN" sz="2000" b="1" dirty="0">
                <a:solidFill>
                  <a:srgbClr val="3333CC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所以可只保留一列即可</a:t>
            </a:r>
            <a:r>
              <a:rPr lang="zh-CN" altLang="zh-CN" sz="2000" b="1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zh-CN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14400" y="2492896"/>
            <a:ext cx="627063" cy="3667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7" name="object 7"/>
          <p:cNvSpPr/>
          <p:nvPr/>
        </p:nvSpPr>
        <p:spPr>
          <a:xfrm>
            <a:off x="2235200" y="3101975"/>
            <a:ext cx="4524375" cy="68421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A6568E1-4089-4561-919E-9D2F37D3F2B0}" type="slidenum">
              <a:rPr lang="en-US" altLang="zh-CN" smtClean="0"/>
              <a:pPr>
                <a:defRPr/>
              </a:pPr>
              <a:t>46</a:t>
            </a:fld>
            <a:endParaRPr lang="en-US" altLang="zh-CN" dirty="0"/>
          </a:p>
        </p:txBody>
      </p:sp>
      <p:sp>
        <p:nvSpPr>
          <p:cNvPr id="11" name="标题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zh-CN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(4) “</a:t>
            </a:r>
            <a:r>
              <a:rPr lang="zh-CN" altLang="zh-CN" dirty="0">
                <a:solidFill>
                  <a:srgbClr val="F8F8F8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自然</a:t>
            </a:r>
            <a:r>
              <a:rPr lang="zh-CN" altLang="zh-CN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连接</a:t>
            </a:r>
            <a:r>
              <a:rPr lang="zh-CN" altLang="zh-CN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r>
              <a:rPr lang="zh-CN" altLang="zh-CN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操作</a:t>
            </a:r>
            <a:endParaRPr lang="zh-CN" altLang="en-US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871538" y="1379538"/>
            <a:ext cx="7012830" cy="379750"/>
          </a:xfrm>
          <a:prstGeom prst="rect">
            <a:avLst/>
          </a:prstGeom>
        </p:spPr>
        <p:txBody>
          <a:bodyPr wrap="square" lIns="0" tIns="10317" rIns="0" bIns="0">
            <a:spAutoFit/>
          </a:bodyPr>
          <a:lstStyle>
            <a:lvl1pPr marL="242888" indent="-231775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75"/>
              </a:spcBef>
              <a:buFont typeface="Wingdings" panose="05000000000000000000" pitchFamily="2" charset="2"/>
              <a:buChar char=""/>
            </a:pPr>
            <a:r>
              <a:rPr lang="zh-CN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自然连接</a:t>
            </a:r>
            <a:r>
              <a:rPr lang="zh-CN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(Natural-Join)</a:t>
            </a:r>
            <a:r>
              <a:rPr lang="zh-CN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操作的示例一</a:t>
            </a:r>
            <a:r>
              <a:rPr lang="zh-CN" altLang="zh-CN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zh-CN" altLang="zh-CN" b="1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抽象的</a:t>
            </a:r>
            <a:r>
              <a:rPr lang="zh-CN" altLang="zh-CN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zh-CN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493963" y="3116263"/>
            <a:ext cx="920750" cy="13366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7" name="object 7"/>
          <p:cNvSpPr/>
          <p:nvPr/>
        </p:nvSpPr>
        <p:spPr>
          <a:xfrm>
            <a:off x="1223963" y="3116263"/>
            <a:ext cx="919162" cy="107473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8" name="object 8"/>
          <p:cNvSpPr/>
          <p:nvPr/>
        </p:nvSpPr>
        <p:spPr>
          <a:xfrm>
            <a:off x="3976688" y="3443288"/>
            <a:ext cx="2107480" cy="265000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9" name="object 9"/>
          <p:cNvSpPr/>
          <p:nvPr/>
        </p:nvSpPr>
        <p:spPr>
          <a:xfrm>
            <a:off x="6327775" y="2708920"/>
            <a:ext cx="1844625" cy="151065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0" name="object 10"/>
          <p:cNvSpPr/>
          <p:nvPr/>
        </p:nvSpPr>
        <p:spPr>
          <a:xfrm>
            <a:off x="1749425" y="3686175"/>
            <a:ext cx="292100" cy="185738"/>
          </a:xfrm>
          <a:custGeom>
            <a:avLst/>
            <a:gdLst/>
            <a:ahLst/>
            <a:cxnLst/>
            <a:rect l="l" t="t" r="r" b="b"/>
            <a:pathLst>
              <a:path w="342900" h="215900">
                <a:moveTo>
                  <a:pt x="171450" y="0"/>
                </a:moveTo>
                <a:lnTo>
                  <a:pt x="117043" y="5474"/>
                </a:lnTo>
                <a:lnTo>
                  <a:pt x="69951" y="20750"/>
                </a:lnTo>
                <a:lnTo>
                  <a:pt x="32918" y="44110"/>
                </a:lnTo>
                <a:lnTo>
                  <a:pt x="8686" y="73834"/>
                </a:lnTo>
                <a:lnTo>
                  <a:pt x="0" y="108203"/>
                </a:lnTo>
                <a:lnTo>
                  <a:pt x="8686" y="142201"/>
                </a:lnTo>
                <a:lnTo>
                  <a:pt x="32918" y="171699"/>
                </a:lnTo>
                <a:lnTo>
                  <a:pt x="69951" y="194943"/>
                </a:lnTo>
                <a:lnTo>
                  <a:pt x="117043" y="210177"/>
                </a:lnTo>
                <a:lnTo>
                  <a:pt x="171450" y="215645"/>
                </a:lnTo>
                <a:lnTo>
                  <a:pt x="225564" y="210177"/>
                </a:lnTo>
                <a:lnTo>
                  <a:pt x="272619" y="194943"/>
                </a:lnTo>
                <a:lnTo>
                  <a:pt x="309762" y="171699"/>
                </a:lnTo>
                <a:lnTo>
                  <a:pt x="334140" y="142201"/>
                </a:lnTo>
                <a:lnTo>
                  <a:pt x="342900" y="108203"/>
                </a:lnTo>
                <a:lnTo>
                  <a:pt x="334140" y="73834"/>
                </a:lnTo>
                <a:lnTo>
                  <a:pt x="309762" y="44110"/>
                </a:lnTo>
                <a:lnTo>
                  <a:pt x="272619" y="20750"/>
                </a:lnTo>
                <a:lnTo>
                  <a:pt x="225564" y="5474"/>
                </a:lnTo>
                <a:lnTo>
                  <a:pt x="171450" y="0"/>
                </a:lnTo>
                <a:close/>
              </a:path>
            </a:pathLst>
          </a:custGeom>
          <a:ln w="28575">
            <a:solidFill>
              <a:srgbClr val="FF00FF"/>
            </a:solidFill>
            <a:prstDash val="dash"/>
          </a:ln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1" name="object 11"/>
          <p:cNvSpPr/>
          <p:nvPr/>
        </p:nvSpPr>
        <p:spPr>
          <a:xfrm>
            <a:off x="2606675" y="3675063"/>
            <a:ext cx="292100" cy="185737"/>
          </a:xfrm>
          <a:custGeom>
            <a:avLst/>
            <a:gdLst/>
            <a:ahLst/>
            <a:cxnLst/>
            <a:rect l="l" t="t" r="r" b="b"/>
            <a:pathLst>
              <a:path w="342900" h="216535">
                <a:moveTo>
                  <a:pt x="171450" y="0"/>
                </a:moveTo>
                <a:lnTo>
                  <a:pt x="117335" y="5547"/>
                </a:lnTo>
                <a:lnTo>
                  <a:pt x="70280" y="20970"/>
                </a:lnTo>
                <a:lnTo>
                  <a:pt x="33137" y="44439"/>
                </a:lnTo>
                <a:lnTo>
                  <a:pt x="8759" y="74127"/>
                </a:lnTo>
                <a:lnTo>
                  <a:pt x="0" y="108204"/>
                </a:lnTo>
                <a:lnTo>
                  <a:pt x="8759" y="142280"/>
                </a:lnTo>
                <a:lnTo>
                  <a:pt x="33137" y="171968"/>
                </a:lnTo>
                <a:lnTo>
                  <a:pt x="70280" y="195437"/>
                </a:lnTo>
                <a:lnTo>
                  <a:pt x="117335" y="210860"/>
                </a:lnTo>
                <a:lnTo>
                  <a:pt x="171450" y="216408"/>
                </a:lnTo>
                <a:lnTo>
                  <a:pt x="225856" y="210860"/>
                </a:lnTo>
                <a:lnTo>
                  <a:pt x="272948" y="195437"/>
                </a:lnTo>
                <a:lnTo>
                  <a:pt x="309981" y="171968"/>
                </a:lnTo>
                <a:lnTo>
                  <a:pt x="334213" y="142280"/>
                </a:lnTo>
                <a:lnTo>
                  <a:pt x="342899" y="108204"/>
                </a:lnTo>
                <a:lnTo>
                  <a:pt x="334213" y="74127"/>
                </a:lnTo>
                <a:lnTo>
                  <a:pt x="309981" y="44439"/>
                </a:lnTo>
                <a:lnTo>
                  <a:pt x="272948" y="20970"/>
                </a:lnTo>
                <a:lnTo>
                  <a:pt x="225856" y="5547"/>
                </a:lnTo>
                <a:lnTo>
                  <a:pt x="171450" y="0"/>
                </a:lnTo>
                <a:close/>
              </a:path>
            </a:pathLst>
          </a:custGeom>
          <a:ln w="28574">
            <a:solidFill>
              <a:srgbClr val="FF00FF"/>
            </a:solidFill>
            <a:prstDash val="dash"/>
          </a:ln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2" name="object 12"/>
          <p:cNvSpPr/>
          <p:nvPr/>
        </p:nvSpPr>
        <p:spPr>
          <a:xfrm>
            <a:off x="2617788" y="3937000"/>
            <a:ext cx="292100" cy="184150"/>
          </a:xfrm>
          <a:custGeom>
            <a:avLst/>
            <a:gdLst/>
            <a:ahLst/>
            <a:cxnLst/>
            <a:rect l="l" t="t" r="r" b="b"/>
            <a:pathLst>
              <a:path w="342900" h="216535">
                <a:moveTo>
                  <a:pt x="171450" y="0"/>
                </a:moveTo>
                <a:lnTo>
                  <a:pt x="117335" y="5547"/>
                </a:lnTo>
                <a:lnTo>
                  <a:pt x="70280" y="20970"/>
                </a:lnTo>
                <a:lnTo>
                  <a:pt x="33137" y="44439"/>
                </a:lnTo>
                <a:lnTo>
                  <a:pt x="8759" y="74127"/>
                </a:lnTo>
                <a:lnTo>
                  <a:pt x="0" y="108204"/>
                </a:lnTo>
                <a:lnTo>
                  <a:pt x="8759" y="142280"/>
                </a:lnTo>
                <a:lnTo>
                  <a:pt x="33137" y="171968"/>
                </a:lnTo>
                <a:lnTo>
                  <a:pt x="70280" y="195437"/>
                </a:lnTo>
                <a:lnTo>
                  <a:pt x="117335" y="210860"/>
                </a:lnTo>
                <a:lnTo>
                  <a:pt x="171450" y="216408"/>
                </a:lnTo>
                <a:lnTo>
                  <a:pt x="225564" y="210860"/>
                </a:lnTo>
                <a:lnTo>
                  <a:pt x="272619" y="195437"/>
                </a:lnTo>
                <a:lnTo>
                  <a:pt x="309762" y="171968"/>
                </a:lnTo>
                <a:lnTo>
                  <a:pt x="334140" y="142280"/>
                </a:lnTo>
                <a:lnTo>
                  <a:pt x="342900" y="108204"/>
                </a:lnTo>
                <a:lnTo>
                  <a:pt x="334140" y="74127"/>
                </a:lnTo>
                <a:lnTo>
                  <a:pt x="309762" y="44439"/>
                </a:lnTo>
                <a:lnTo>
                  <a:pt x="272619" y="20970"/>
                </a:lnTo>
                <a:lnTo>
                  <a:pt x="225564" y="5547"/>
                </a:lnTo>
                <a:lnTo>
                  <a:pt x="171450" y="0"/>
                </a:lnTo>
                <a:close/>
              </a:path>
            </a:pathLst>
          </a:custGeom>
          <a:ln w="28575">
            <a:solidFill>
              <a:srgbClr val="FF00FF"/>
            </a:solidFill>
            <a:prstDash val="dash"/>
          </a:ln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3" name="object 13"/>
          <p:cNvSpPr/>
          <p:nvPr/>
        </p:nvSpPr>
        <p:spPr>
          <a:xfrm>
            <a:off x="2063750" y="3784600"/>
            <a:ext cx="542925" cy="0"/>
          </a:xfrm>
          <a:custGeom>
            <a:avLst/>
            <a:gdLst/>
            <a:ahLst/>
            <a:cxnLst/>
            <a:rect l="l" t="t" r="r" b="b"/>
            <a:pathLst>
              <a:path w="635000">
                <a:moveTo>
                  <a:pt x="0" y="0"/>
                </a:moveTo>
                <a:lnTo>
                  <a:pt x="634746" y="0"/>
                </a:lnTo>
              </a:path>
            </a:pathLst>
          </a:custGeom>
          <a:ln w="28575">
            <a:solidFill>
              <a:srgbClr val="FF00FF"/>
            </a:solidFill>
            <a:prstDash val="dash"/>
          </a:ln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4" name="object 14"/>
          <p:cNvSpPr/>
          <p:nvPr/>
        </p:nvSpPr>
        <p:spPr>
          <a:xfrm>
            <a:off x="2063750" y="3784600"/>
            <a:ext cx="554038" cy="249238"/>
          </a:xfrm>
          <a:custGeom>
            <a:avLst/>
            <a:gdLst/>
            <a:ahLst/>
            <a:cxnLst/>
            <a:rect l="l" t="t" r="r" b="b"/>
            <a:pathLst>
              <a:path w="647700" h="292100">
                <a:moveTo>
                  <a:pt x="0" y="0"/>
                </a:moveTo>
                <a:lnTo>
                  <a:pt x="647700" y="291845"/>
                </a:lnTo>
              </a:path>
            </a:pathLst>
          </a:custGeom>
          <a:ln w="28575">
            <a:solidFill>
              <a:srgbClr val="FF00FF"/>
            </a:solidFill>
            <a:prstDash val="dash"/>
          </a:ln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7" name="灯片编号占位符 1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A6568E1-4089-4561-919E-9D2F37D3F2B0}" type="slidenum">
              <a:rPr lang="en-US" altLang="zh-CN" smtClean="0"/>
              <a:pPr>
                <a:defRPr/>
              </a:pPr>
              <a:t>47</a:t>
            </a:fld>
            <a:endParaRPr lang="en-US" altLang="zh-CN" dirty="0"/>
          </a:p>
        </p:txBody>
      </p:sp>
      <p:sp>
        <p:nvSpPr>
          <p:cNvPr id="18" name="标题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zh-CN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(4) “</a:t>
            </a:r>
            <a:r>
              <a:rPr lang="zh-CN" altLang="zh-CN" dirty="0">
                <a:solidFill>
                  <a:srgbClr val="F8F8F8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自然</a:t>
            </a:r>
            <a:r>
              <a:rPr lang="zh-CN" altLang="zh-CN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连接</a:t>
            </a:r>
            <a:r>
              <a:rPr lang="zh-CN" altLang="zh-CN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r>
              <a:rPr lang="zh-CN" altLang="zh-CN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操作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871538" y="1316038"/>
            <a:ext cx="7434262" cy="1229242"/>
          </a:xfrm>
          <a:prstGeom prst="rect">
            <a:avLst/>
          </a:prstGeom>
        </p:spPr>
        <p:txBody>
          <a:bodyPr wrap="square" lIns="0" tIns="89594" rIns="0" bIns="0">
            <a:spAutoFit/>
          </a:bodyPr>
          <a:lstStyle>
            <a:lvl1pPr marL="336550" indent="-325438">
              <a:tabLst>
                <a:tab pos="334963" algn="l"/>
                <a:tab pos="3365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tabLst>
                <a:tab pos="334963" algn="l"/>
                <a:tab pos="3365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tabLst>
                <a:tab pos="334963" algn="l"/>
                <a:tab pos="3365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tabLst>
                <a:tab pos="334963" algn="l"/>
                <a:tab pos="3365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tabLst>
                <a:tab pos="334963" algn="l"/>
                <a:tab pos="3365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4963" algn="l"/>
                <a:tab pos="3365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4963" algn="l"/>
                <a:tab pos="3365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4963" algn="l"/>
                <a:tab pos="3365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4963" algn="l"/>
                <a:tab pos="3365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700"/>
              </a:spcBef>
              <a:buFont typeface="Wingdings" panose="05000000000000000000" pitchFamily="2" charset="2"/>
              <a:buChar char=""/>
            </a:pPr>
            <a:r>
              <a:rPr lang="zh-CN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自然连接</a:t>
            </a:r>
            <a:r>
              <a:rPr lang="zh-CN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(Natural-Join)</a:t>
            </a:r>
            <a:r>
              <a:rPr lang="zh-CN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操作的示例二</a:t>
            </a:r>
            <a:r>
              <a:rPr lang="zh-CN" altLang="zh-CN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zh-CN" altLang="zh-CN" b="1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语义的</a:t>
            </a:r>
            <a:r>
              <a:rPr lang="zh-CN" altLang="zh-CN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zh-CN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112" indent="0" eaLnBrk="1" hangingPunct="1">
              <a:spcBef>
                <a:spcPts val="625"/>
              </a:spcBef>
            </a:pPr>
            <a:r>
              <a:rPr lang="en-US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  </a:t>
            </a: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学生选课表</a:t>
            </a:r>
            <a:r>
              <a:rPr lang="zh-CN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SC(S#, C#, Score) ,</a:t>
            </a:r>
            <a:endParaRPr lang="zh-CN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ts val="625"/>
              </a:spcBef>
            </a:pPr>
            <a:r>
              <a:rPr lang="en-US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  </a:t>
            </a: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课程表</a:t>
            </a:r>
            <a:r>
              <a:rPr lang="zh-CN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Course (C#, Cname, Chours, Credit, T#)</a:t>
            </a:r>
            <a:endParaRPr lang="zh-CN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187625" y="2551113"/>
            <a:ext cx="2768426" cy="13099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7" name="object 7"/>
          <p:cNvSpPr/>
          <p:nvPr/>
        </p:nvSpPr>
        <p:spPr>
          <a:xfrm>
            <a:off x="4187825" y="2543175"/>
            <a:ext cx="3840559" cy="146189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0" name="object 10"/>
          <p:cNvSpPr txBox="1"/>
          <p:nvPr/>
        </p:nvSpPr>
        <p:spPr>
          <a:xfrm>
            <a:off x="919162" y="4588991"/>
            <a:ext cx="7253237" cy="318194"/>
          </a:xfrm>
          <a:prstGeom prst="rect">
            <a:avLst/>
          </a:prstGeom>
        </p:spPr>
        <p:txBody>
          <a:bodyPr wrap="square" lIns="0" tIns="10317" rIns="0" bIns="0">
            <a:spAutoFit/>
          </a:bodyPr>
          <a:lstStyle>
            <a:lvl1pPr marL="182563" indent="-171450">
              <a:tabLst>
                <a:tab pos="182563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tabLst>
                <a:tab pos="182563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tabLst>
                <a:tab pos="182563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tabLst>
                <a:tab pos="182563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tabLst>
                <a:tab pos="182563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82563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82563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82563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82563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75"/>
              </a:spcBef>
              <a:buSzPct val="95000"/>
              <a:buFont typeface="Wingdings" panose="05000000000000000000" pitchFamily="2" charset="2"/>
              <a:buChar char=""/>
            </a:pP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查询所有学生选课的成绩</a:t>
            </a:r>
            <a:r>
              <a:rPr lang="zh-CN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包括学号，课程名称，成绩</a:t>
            </a:r>
            <a:r>
              <a:rPr lang="zh-CN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zh-CN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178050" y="5046191"/>
            <a:ext cx="1673225" cy="327025"/>
          </a:xfrm>
          <a:prstGeom prst="rect">
            <a:avLst/>
          </a:prstGeom>
        </p:spPr>
        <p:txBody>
          <a:bodyPr lIns="0" tIns="10860" rIns="0" bIns="0">
            <a:spAutoFit/>
          </a:bodyPr>
          <a:lstStyle>
            <a:lvl1pPr marL="952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88"/>
              </a:spcBef>
            </a:pPr>
            <a:r>
              <a:rPr lang="zh-CN" altLang="zh-CN" sz="3000" b="1" baseline="12000">
                <a:solidFill>
                  <a:srgbClr val="FF006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π</a:t>
            </a:r>
            <a:r>
              <a:rPr lang="zh-CN" altLang="zh-CN" sz="1000" b="1">
                <a:latin typeface="Arial" panose="020B0604020202020204" pitchFamily="34" charset="0"/>
                <a:cs typeface="Arial" panose="020B0604020202020204" pitchFamily="34" charset="0"/>
              </a:rPr>
              <a:t>S#, Cname, Score</a:t>
            </a:r>
            <a:r>
              <a:rPr lang="zh-CN" altLang="zh-CN" sz="2500" b="1" baseline="14000">
                <a:latin typeface="Arial" panose="020B0604020202020204" pitchFamily="34" charset="0"/>
                <a:cs typeface="Arial" panose="020B0604020202020204" pitchFamily="34" charset="0"/>
              </a:rPr>
              <a:t>(SC</a:t>
            </a:r>
            <a:endParaRPr lang="zh-CN" altLang="zh-CN" sz="2500" baseline="14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452938" y="5035079"/>
            <a:ext cx="842962" cy="274637"/>
          </a:xfrm>
          <a:prstGeom prst="rect">
            <a:avLst/>
          </a:prstGeom>
        </p:spPr>
        <p:txBody>
          <a:bodyPr lIns="0" tIns="10317" rIns="0" bIns="0">
            <a:spAutoFit/>
          </a:bodyPr>
          <a:lstStyle/>
          <a:p>
            <a:pPr marL="10860" eaLnBrk="1" hangingPunct="1">
              <a:spcBef>
                <a:spcPts val="81"/>
              </a:spcBef>
              <a:defRPr/>
            </a:pPr>
            <a:r>
              <a:rPr sz="1710" b="1" spc="-4" dirty="0">
                <a:latin typeface="Arial"/>
                <a:cs typeface="Arial"/>
              </a:rPr>
              <a:t>Course)</a:t>
            </a:r>
            <a:endParaRPr sz="171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038600" y="5122391"/>
            <a:ext cx="300038" cy="115888"/>
          </a:xfrm>
          <a:custGeom>
            <a:avLst/>
            <a:gdLst/>
            <a:ahLst/>
            <a:cxnLst/>
            <a:rect l="l" t="t" r="r" b="b"/>
            <a:pathLst>
              <a:path w="351789" h="135254">
                <a:moveTo>
                  <a:pt x="0" y="134874"/>
                </a:moveTo>
                <a:lnTo>
                  <a:pt x="0" y="0"/>
                </a:lnTo>
                <a:lnTo>
                  <a:pt x="351282" y="134874"/>
                </a:lnTo>
                <a:lnTo>
                  <a:pt x="351282" y="0"/>
                </a:lnTo>
                <a:lnTo>
                  <a:pt x="0" y="134874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4" name="灯片编号占位符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A6568E1-4089-4561-919E-9D2F37D3F2B0}" type="slidenum">
              <a:rPr lang="en-US" altLang="zh-CN" smtClean="0"/>
              <a:pPr>
                <a:defRPr/>
              </a:pPr>
              <a:t>48</a:t>
            </a:fld>
            <a:endParaRPr lang="en-US" altLang="zh-CN" dirty="0"/>
          </a:p>
        </p:txBody>
      </p:sp>
      <p:sp>
        <p:nvSpPr>
          <p:cNvPr id="15" name="标题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zh-CN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(4) “</a:t>
            </a:r>
            <a:r>
              <a:rPr lang="zh-CN" altLang="zh-CN" dirty="0">
                <a:solidFill>
                  <a:srgbClr val="F8F8F8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自然</a:t>
            </a:r>
            <a:r>
              <a:rPr lang="zh-CN" altLang="zh-CN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连接</a:t>
            </a:r>
            <a:r>
              <a:rPr lang="zh-CN" altLang="zh-CN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r>
              <a:rPr lang="zh-CN" altLang="zh-CN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操作</a:t>
            </a:r>
            <a:endParaRPr lang="zh-CN" altLang="en-US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1295400" y="4169197"/>
            <a:ext cx="4860776" cy="91598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6" name="object 6"/>
          <p:cNvSpPr/>
          <p:nvPr/>
        </p:nvSpPr>
        <p:spPr>
          <a:xfrm>
            <a:off x="1279525" y="5443115"/>
            <a:ext cx="4444603" cy="93821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7" name="object 7"/>
          <p:cNvSpPr txBox="1"/>
          <p:nvPr/>
        </p:nvSpPr>
        <p:spPr>
          <a:xfrm>
            <a:off x="893763" y="5073229"/>
            <a:ext cx="3966269" cy="318194"/>
          </a:xfrm>
          <a:prstGeom prst="rect">
            <a:avLst/>
          </a:prstGeom>
        </p:spPr>
        <p:txBody>
          <a:bodyPr wrap="square" lIns="0" tIns="10317" rIns="0" bIns="0">
            <a:spAutoFit/>
          </a:bodyPr>
          <a:lstStyle>
            <a:lvl1pPr marL="952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75"/>
              </a:spcBef>
            </a:pPr>
            <a:r>
              <a:rPr lang="zh-CN" altLang="zh-CN" sz="2000" b="1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第三步：去掉重复的列</a:t>
            </a:r>
            <a:endParaRPr lang="zh-CN" altLang="zh-CN" sz="20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290638" y="1960563"/>
            <a:ext cx="4793530" cy="202269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1" name="object 11"/>
          <p:cNvSpPr/>
          <p:nvPr/>
        </p:nvSpPr>
        <p:spPr>
          <a:xfrm>
            <a:off x="1300163" y="2293938"/>
            <a:ext cx="4728171" cy="194617"/>
          </a:xfrm>
          <a:custGeom>
            <a:avLst/>
            <a:gdLst/>
            <a:ahLst/>
            <a:cxnLst/>
            <a:rect l="l" t="t" r="r" b="b"/>
            <a:pathLst>
              <a:path w="5505450" h="218439">
                <a:moveTo>
                  <a:pt x="2753105" y="0"/>
                </a:moveTo>
                <a:lnTo>
                  <a:pt x="2670437" y="48"/>
                </a:lnTo>
                <a:lnTo>
                  <a:pt x="2588374" y="191"/>
                </a:lnTo>
                <a:lnTo>
                  <a:pt x="2506953" y="429"/>
                </a:lnTo>
                <a:lnTo>
                  <a:pt x="2426207" y="759"/>
                </a:lnTo>
                <a:lnTo>
                  <a:pt x="2346169" y="1181"/>
                </a:lnTo>
                <a:lnTo>
                  <a:pt x="2266875" y="1692"/>
                </a:lnTo>
                <a:lnTo>
                  <a:pt x="2188357" y="2292"/>
                </a:lnTo>
                <a:lnTo>
                  <a:pt x="2110651" y="2980"/>
                </a:lnTo>
                <a:lnTo>
                  <a:pt x="2033789" y="3753"/>
                </a:lnTo>
                <a:lnTo>
                  <a:pt x="1957807" y="4612"/>
                </a:lnTo>
                <a:lnTo>
                  <a:pt x="1882737" y="5553"/>
                </a:lnTo>
                <a:lnTo>
                  <a:pt x="1808614" y="6576"/>
                </a:lnTo>
                <a:lnTo>
                  <a:pt x="1735473" y="7680"/>
                </a:lnTo>
                <a:lnTo>
                  <a:pt x="1663346" y="8863"/>
                </a:lnTo>
                <a:lnTo>
                  <a:pt x="1592269" y="10124"/>
                </a:lnTo>
                <a:lnTo>
                  <a:pt x="1522275" y="11462"/>
                </a:lnTo>
                <a:lnTo>
                  <a:pt x="1453398" y="12874"/>
                </a:lnTo>
                <a:lnTo>
                  <a:pt x="1385672" y="14361"/>
                </a:lnTo>
                <a:lnTo>
                  <a:pt x="1319132" y="15920"/>
                </a:lnTo>
                <a:lnTo>
                  <a:pt x="1253810" y="17550"/>
                </a:lnTo>
                <a:lnTo>
                  <a:pt x="1189742" y="19250"/>
                </a:lnTo>
                <a:lnTo>
                  <a:pt x="1126961" y="21019"/>
                </a:lnTo>
                <a:lnTo>
                  <a:pt x="1065501" y="22854"/>
                </a:lnTo>
                <a:lnTo>
                  <a:pt x="1005397" y="24755"/>
                </a:lnTo>
                <a:lnTo>
                  <a:pt x="946682" y="26721"/>
                </a:lnTo>
                <a:lnTo>
                  <a:pt x="889390" y="28750"/>
                </a:lnTo>
                <a:lnTo>
                  <a:pt x="833556" y="30840"/>
                </a:lnTo>
                <a:lnTo>
                  <a:pt x="779213" y="32991"/>
                </a:lnTo>
                <a:lnTo>
                  <a:pt x="726395" y="35201"/>
                </a:lnTo>
                <a:lnTo>
                  <a:pt x="675137" y="37469"/>
                </a:lnTo>
                <a:lnTo>
                  <a:pt x="625472" y="39793"/>
                </a:lnTo>
                <a:lnTo>
                  <a:pt x="577435" y="42171"/>
                </a:lnTo>
                <a:lnTo>
                  <a:pt x="531059" y="44604"/>
                </a:lnTo>
                <a:lnTo>
                  <a:pt x="486378" y="47089"/>
                </a:lnTo>
                <a:lnTo>
                  <a:pt x="443427" y="49625"/>
                </a:lnTo>
                <a:lnTo>
                  <a:pt x="402240" y="52210"/>
                </a:lnTo>
                <a:lnTo>
                  <a:pt x="362850" y="54844"/>
                </a:lnTo>
                <a:lnTo>
                  <a:pt x="289599" y="60250"/>
                </a:lnTo>
                <a:lnTo>
                  <a:pt x="223947" y="65834"/>
                </a:lnTo>
                <a:lnTo>
                  <a:pt x="166165" y="71583"/>
                </a:lnTo>
                <a:lnTo>
                  <a:pt x="116527" y="77488"/>
                </a:lnTo>
                <a:lnTo>
                  <a:pt x="75303" y="83538"/>
                </a:lnTo>
                <a:lnTo>
                  <a:pt x="29840" y="92859"/>
                </a:lnTo>
                <a:lnTo>
                  <a:pt x="0" y="108966"/>
                </a:lnTo>
                <a:lnTo>
                  <a:pt x="1216" y="112237"/>
                </a:lnTo>
                <a:lnTo>
                  <a:pt x="42766" y="128210"/>
                </a:lnTo>
                <a:lnTo>
                  <a:pt x="94846" y="137435"/>
                </a:lnTo>
                <a:lnTo>
                  <a:pt x="140311" y="143414"/>
                </a:lnTo>
                <a:lnTo>
                  <a:pt x="194055" y="149243"/>
                </a:lnTo>
                <a:lnTo>
                  <a:pt x="255807" y="154910"/>
                </a:lnTo>
                <a:lnTo>
                  <a:pt x="325292" y="160407"/>
                </a:lnTo>
                <a:lnTo>
                  <a:pt x="402240" y="165721"/>
                </a:lnTo>
                <a:lnTo>
                  <a:pt x="443427" y="168306"/>
                </a:lnTo>
                <a:lnTo>
                  <a:pt x="486378" y="170842"/>
                </a:lnTo>
                <a:lnTo>
                  <a:pt x="531059" y="173327"/>
                </a:lnTo>
                <a:lnTo>
                  <a:pt x="577435" y="175760"/>
                </a:lnTo>
                <a:lnTo>
                  <a:pt x="625472" y="178138"/>
                </a:lnTo>
                <a:lnTo>
                  <a:pt x="675137" y="180462"/>
                </a:lnTo>
                <a:lnTo>
                  <a:pt x="726395" y="182730"/>
                </a:lnTo>
                <a:lnTo>
                  <a:pt x="779213" y="184940"/>
                </a:lnTo>
                <a:lnTo>
                  <a:pt x="833556" y="187091"/>
                </a:lnTo>
                <a:lnTo>
                  <a:pt x="889390" y="189181"/>
                </a:lnTo>
                <a:lnTo>
                  <a:pt x="946682" y="191210"/>
                </a:lnTo>
                <a:lnTo>
                  <a:pt x="1005397" y="193176"/>
                </a:lnTo>
                <a:lnTo>
                  <a:pt x="1065501" y="195077"/>
                </a:lnTo>
                <a:lnTo>
                  <a:pt x="1126961" y="196912"/>
                </a:lnTo>
                <a:lnTo>
                  <a:pt x="1189742" y="198681"/>
                </a:lnTo>
                <a:lnTo>
                  <a:pt x="1253810" y="200381"/>
                </a:lnTo>
                <a:lnTo>
                  <a:pt x="1319132" y="202011"/>
                </a:lnTo>
                <a:lnTo>
                  <a:pt x="1385672" y="203570"/>
                </a:lnTo>
                <a:lnTo>
                  <a:pt x="1453398" y="205057"/>
                </a:lnTo>
                <a:lnTo>
                  <a:pt x="1522275" y="206469"/>
                </a:lnTo>
                <a:lnTo>
                  <a:pt x="1592269" y="207807"/>
                </a:lnTo>
                <a:lnTo>
                  <a:pt x="1663346" y="209068"/>
                </a:lnTo>
                <a:lnTo>
                  <a:pt x="1735473" y="210251"/>
                </a:lnTo>
                <a:lnTo>
                  <a:pt x="1808614" y="211355"/>
                </a:lnTo>
                <a:lnTo>
                  <a:pt x="1882737" y="212378"/>
                </a:lnTo>
                <a:lnTo>
                  <a:pt x="1957807" y="213319"/>
                </a:lnTo>
                <a:lnTo>
                  <a:pt x="2033789" y="214178"/>
                </a:lnTo>
                <a:lnTo>
                  <a:pt x="2110651" y="214951"/>
                </a:lnTo>
                <a:lnTo>
                  <a:pt x="2188357" y="215639"/>
                </a:lnTo>
                <a:lnTo>
                  <a:pt x="2266875" y="216239"/>
                </a:lnTo>
                <a:lnTo>
                  <a:pt x="2346169" y="216750"/>
                </a:lnTo>
                <a:lnTo>
                  <a:pt x="2426207" y="217172"/>
                </a:lnTo>
                <a:lnTo>
                  <a:pt x="2506953" y="217502"/>
                </a:lnTo>
                <a:lnTo>
                  <a:pt x="2588374" y="217740"/>
                </a:lnTo>
                <a:lnTo>
                  <a:pt x="2670437" y="217883"/>
                </a:lnTo>
                <a:lnTo>
                  <a:pt x="2753105" y="217932"/>
                </a:lnTo>
                <a:lnTo>
                  <a:pt x="2835734" y="217883"/>
                </a:lnTo>
                <a:lnTo>
                  <a:pt x="2917756" y="217740"/>
                </a:lnTo>
                <a:lnTo>
                  <a:pt x="2999140" y="217502"/>
                </a:lnTo>
                <a:lnTo>
                  <a:pt x="3079849" y="217172"/>
                </a:lnTo>
                <a:lnTo>
                  <a:pt x="3159852" y="216750"/>
                </a:lnTo>
                <a:lnTo>
                  <a:pt x="3239112" y="216239"/>
                </a:lnTo>
                <a:lnTo>
                  <a:pt x="3317598" y="215639"/>
                </a:lnTo>
                <a:lnTo>
                  <a:pt x="3395273" y="214951"/>
                </a:lnTo>
                <a:lnTo>
                  <a:pt x="3472105" y="214178"/>
                </a:lnTo>
                <a:lnTo>
                  <a:pt x="3548059" y="213319"/>
                </a:lnTo>
                <a:lnTo>
                  <a:pt x="3623101" y="212378"/>
                </a:lnTo>
                <a:lnTo>
                  <a:pt x="3697197" y="211355"/>
                </a:lnTo>
                <a:lnTo>
                  <a:pt x="3770314" y="210251"/>
                </a:lnTo>
                <a:lnTo>
                  <a:pt x="3842416" y="209068"/>
                </a:lnTo>
                <a:lnTo>
                  <a:pt x="3913471" y="207807"/>
                </a:lnTo>
                <a:lnTo>
                  <a:pt x="3983443" y="206469"/>
                </a:lnTo>
                <a:lnTo>
                  <a:pt x="4052299" y="205057"/>
                </a:lnTo>
                <a:lnTo>
                  <a:pt x="4120006" y="203570"/>
                </a:lnTo>
                <a:lnTo>
                  <a:pt x="4186528" y="202011"/>
                </a:lnTo>
                <a:lnTo>
                  <a:pt x="4251831" y="200381"/>
                </a:lnTo>
                <a:lnTo>
                  <a:pt x="4315883" y="198681"/>
                </a:lnTo>
                <a:lnTo>
                  <a:pt x="4378648" y="196912"/>
                </a:lnTo>
                <a:lnTo>
                  <a:pt x="4440093" y="195077"/>
                </a:lnTo>
                <a:lnTo>
                  <a:pt x="4500183" y="193176"/>
                </a:lnTo>
                <a:lnTo>
                  <a:pt x="4558885" y="191210"/>
                </a:lnTo>
                <a:lnTo>
                  <a:pt x="4616165" y="189181"/>
                </a:lnTo>
                <a:lnTo>
                  <a:pt x="4671988" y="187091"/>
                </a:lnTo>
                <a:lnTo>
                  <a:pt x="4726320" y="184940"/>
                </a:lnTo>
                <a:lnTo>
                  <a:pt x="4779128" y="182730"/>
                </a:lnTo>
                <a:lnTo>
                  <a:pt x="4830377" y="180462"/>
                </a:lnTo>
                <a:lnTo>
                  <a:pt x="4880033" y="178138"/>
                </a:lnTo>
                <a:lnTo>
                  <a:pt x="4928062" y="175760"/>
                </a:lnTo>
                <a:lnTo>
                  <a:pt x="4974431" y="173327"/>
                </a:lnTo>
                <a:lnTo>
                  <a:pt x="5019105" y="170842"/>
                </a:lnTo>
                <a:lnTo>
                  <a:pt x="5062049" y="168306"/>
                </a:lnTo>
                <a:lnTo>
                  <a:pt x="5103231" y="165721"/>
                </a:lnTo>
                <a:lnTo>
                  <a:pt x="5142616" y="163087"/>
                </a:lnTo>
                <a:lnTo>
                  <a:pt x="5215858" y="157681"/>
                </a:lnTo>
                <a:lnTo>
                  <a:pt x="5281504" y="152097"/>
                </a:lnTo>
                <a:lnTo>
                  <a:pt x="5339280" y="146348"/>
                </a:lnTo>
                <a:lnTo>
                  <a:pt x="5388915" y="140443"/>
                </a:lnTo>
                <a:lnTo>
                  <a:pt x="5430137" y="134393"/>
                </a:lnTo>
                <a:lnTo>
                  <a:pt x="5475597" y="125072"/>
                </a:lnTo>
                <a:lnTo>
                  <a:pt x="5505437" y="108966"/>
                </a:lnTo>
                <a:lnTo>
                  <a:pt x="5504221" y="105694"/>
                </a:lnTo>
                <a:lnTo>
                  <a:pt x="5462672" y="89721"/>
                </a:lnTo>
                <a:lnTo>
                  <a:pt x="5410595" y="80496"/>
                </a:lnTo>
                <a:lnTo>
                  <a:pt x="5365133" y="74517"/>
                </a:lnTo>
                <a:lnTo>
                  <a:pt x="5311393" y="68688"/>
                </a:lnTo>
                <a:lnTo>
                  <a:pt x="5249648" y="63021"/>
                </a:lnTo>
                <a:lnTo>
                  <a:pt x="5180170" y="57524"/>
                </a:lnTo>
                <a:lnTo>
                  <a:pt x="5103231" y="52210"/>
                </a:lnTo>
                <a:lnTo>
                  <a:pt x="5062049" y="49625"/>
                </a:lnTo>
                <a:lnTo>
                  <a:pt x="5019105" y="47089"/>
                </a:lnTo>
                <a:lnTo>
                  <a:pt x="4974431" y="44604"/>
                </a:lnTo>
                <a:lnTo>
                  <a:pt x="4928062" y="42171"/>
                </a:lnTo>
                <a:lnTo>
                  <a:pt x="4880033" y="39793"/>
                </a:lnTo>
                <a:lnTo>
                  <a:pt x="4830377" y="37469"/>
                </a:lnTo>
                <a:lnTo>
                  <a:pt x="4779128" y="35201"/>
                </a:lnTo>
                <a:lnTo>
                  <a:pt x="4726320" y="32991"/>
                </a:lnTo>
                <a:lnTo>
                  <a:pt x="4671988" y="30840"/>
                </a:lnTo>
                <a:lnTo>
                  <a:pt x="4616165" y="28750"/>
                </a:lnTo>
                <a:lnTo>
                  <a:pt x="4558885" y="26721"/>
                </a:lnTo>
                <a:lnTo>
                  <a:pt x="4500183" y="24755"/>
                </a:lnTo>
                <a:lnTo>
                  <a:pt x="4440093" y="22854"/>
                </a:lnTo>
                <a:lnTo>
                  <a:pt x="4378648" y="21019"/>
                </a:lnTo>
                <a:lnTo>
                  <a:pt x="4315883" y="19250"/>
                </a:lnTo>
                <a:lnTo>
                  <a:pt x="4251831" y="17550"/>
                </a:lnTo>
                <a:lnTo>
                  <a:pt x="4186528" y="15920"/>
                </a:lnTo>
                <a:lnTo>
                  <a:pt x="4120006" y="14361"/>
                </a:lnTo>
                <a:lnTo>
                  <a:pt x="4052299" y="12874"/>
                </a:lnTo>
                <a:lnTo>
                  <a:pt x="3983443" y="11462"/>
                </a:lnTo>
                <a:lnTo>
                  <a:pt x="3913471" y="10124"/>
                </a:lnTo>
                <a:lnTo>
                  <a:pt x="3842416" y="8863"/>
                </a:lnTo>
                <a:lnTo>
                  <a:pt x="3770314" y="7680"/>
                </a:lnTo>
                <a:lnTo>
                  <a:pt x="3697197" y="6576"/>
                </a:lnTo>
                <a:lnTo>
                  <a:pt x="3623101" y="5553"/>
                </a:lnTo>
                <a:lnTo>
                  <a:pt x="3548059" y="4612"/>
                </a:lnTo>
                <a:lnTo>
                  <a:pt x="3472105" y="3753"/>
                </a:lnTo>
                <a:lnTo>
                  <a:pt x="3395273" y="2980"/>
                </a:lnTo>
                <a:lnTo>
                  <a:pt x="3317598" y="2292"/>
                </a:lnTo>
                <a:lnTo>
                  <a:pt x="3239112" y="1692"/>
                </a:lnTo>
                <a:lnTo>
                  <a:pt x="3159852" y="1181"/>
                </a:lnTo>
                <a:lnTo>
                  <a:pt x="3079849" y="759"/>
                </a:lnTo>
                <a:lnTo>
                  <a:pt x="2999140" y="429"/>
                </a:lnTo>
                <a:lnTo>
                  <a:pt x="2917756" y="191"/>
                </a:lnTo>
                <a:lnTo>
                  <a:pt x="2835734" y="48"/>
                </a:lnTo>
                <a:lnTo>
                  <a:pt x="2753105" y="0"/>
                </a:lnTo>
                <a:close/>
              </a:path>
            </a:pathLst>
          </a:custGeom>
          <a:ln w="31750">
            <a:solidFill>
              <a:srgbClr val="FF00FF"/>
            </a:solidFill>
            <a:prstDash val="dash"/>
          </a:ln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2" name="object 12"/>
          <p:cNvSpPr/>
          <p:nvPr/>
        </p:nvSpPr>
        <p:spPr>
          <a:xfrm>
            <a:off x="1289049" y="3051626"/>
            <a:ext cx="4739331" cy="161350"/>
          </a:xfrm>
          <a:custGeom>
            <a:avLst/>
            <a:gdLst/>
            <a:ahLst/>
            <a:cxnLst/>
            <a:rect l="l" t="t" r="r" b="b"/>
            <a:pathLst>
              <a:path w="5518784" h="180339">
                <a:moveTo>
                  <a:pt x="2759202" y="0"/>
                </a:moveTo>
                <a:lnTo>
                  <a:pt x="2676366" y="39"/>
                </a:lnTo>
                <a:lnTo>
                  <a:pt x="2594138" y="158"/>
                </a:lnTo>
                <a:lnTo>
                  <a:pt x="2512551" y="355"/>
                </a:lnTo>
                <a:lnTo>
                  <a:pt x="2431639" y="628"/>
                </a:lnTo>
                <a:lnTo>
                  <a:pt x="2351436" y="977"/>
                </a:lnTo>
                <a:lnTo>
                  <a:pt x="2271977" y="1401"/>
                </a:lnTo>
                <a:lnTo>
                  <a:pt x="2193296" y="1898"/>
                </a:lnTo>
                <a:lnTo>
                  <a:pt x="2115426" y="2467"/>
                </a:lnTo>
                <a:lnTo>
                  <a:pt x="2038402" y="3107"/>
                </a:lnTo>
                <a:lnTo>
                  <a:pt x="1962258" y="3817"/>
                </a:lnTo>
                <a:lnTo>
                  <a:pt x="1887028" y="4596"/>
                </a:lnTo>
                <a:lnTo>
                  <a:pt x="1812747" y="5443"/>
                </a:lnTo>
                <a:lnTo>
                  <a:pt x="1739448" y="6356"/>
                </a:lnTo>
                <a:lnTo>
                  <a:pt x="1667165" y="7334"/>
                </a:lnTo>
                <a:lnTo>
                  <a:pt x="1595933" y="8377"/>
                </a:lnTo>
                <a:lnTo>
                  <a:pt x="1525786" y="9484"/>
                </a:lnTo>
                <a:lnTo>
                  <a:pt x="1456758" y="10652"/>
                </a:lnTo>
                <a:lnTo>
                  <a:pt x="1388882" y="11881"/>
                </a:lnTo>
                <a:lnTo>
                  <a:pt x="1322194" y="13170"/>
                </a:lnTo>
                <a:lnTo>
                  <a:pt x="1256728" y="14518"/>
                </a:lnTo>
                <a:lnTo>
                  <a:pt x="1192516" y="15923"/>
                </a:lnTo>
                <a:lnTo>
                  <a:pt x="1129594" y="17385"/>
                </a:lnTo>
                <a:lnTo>
                  <a:pt x="1067996" y="18902"/>
                </a:lnTo>
                <a:lnTo>
                  <a:pt x="1007756" y="20474"/>
                </a:lnTo>
                <a:lnTo>
                  <a:pt x="948908" y="22098"/>
                </a:lnTo>
                <a:lnTo>
                  <a:pt x="891485" y="23774"/>
                </a:lnTo>
                <a:lnTo>
                  <a:pt x="835523" y="25501"/>
                </a:lnTo>
                <a:lnTo>
                  <a:pt x="781056" y="27278"/>
                </a:lnTo>
                <a:lnTo>
                  <a:pt x="728116" y="29104"/>
                </a:lnTo>
                <a:lnTo>
                  <a:pt x="676740" y="30976"/>
                </a:lnTo>
                <a:lnTo>
                  <a:pt x="626960" y="32896"/>
                </a:lnTo>
                <a:lnTo>
                  <a:pt x="578811" y="34860"/>
                </a:lnTo>
                <a:lnTo>
                  <a:pt x="532327" y="36868"/>
                </a:lnTo>
                <a:lnTo>
                  <a:pt x="487542" y="38919"/>
                </a:lnTo>
                <a:lnTo>
                  <a:pt x="444490" y="41012"/>
                </a:lnTo>
                <a:lnTo>
                  <a:pt x="403206" y="43146"/>
                </a:lnTo>
                <a:lnTo>
                  <a:pt x="363723" y="45319"/>
                </a:lnTo>
                <a:lnTo>
                  <a:pt x="290298" y="49780"/>
                </a:lnTo>
                <a:lnTo>
                  <a:pt x="224489" y="54385"/>
                </a:lnTo>
                <a:lnTo>
                  <a:pt x="166569" y="59126"/>
                </a:lnTo>
                <a:lnTo>
                  <a:pt x="116810" y="63994"/>
                </a:lnTo>
                <a:lnTo>
                  <a:pt x="75487" y="68979"/>
                </a:lnTo>
                <a:lnTo>
                  <a:pt x="29913" y="76658"/>
                </a:lnTo>
                <a:lnTo>
                  <a:pt x="0" y="89915"/>
                </a:lnTo>
                <a:lnTo>
                  <a:pt x="1219" y="92608"/>
                </a:lnTo>
                <a:lnTo>
                  <a:pt x="42871" y="105758"/>
                </a:lnTo>
                <a:lnTo>
                  <a:pt x="95077" y="113359"/>
                </a:lnTo>
                <a:lnTo>
                  <a:pt x="140653" y="118286"/>
                </a:lnTo>
                <a:lnTo>
                  <a:pt x="194526" y="123092"/>
                </a:lnTo>
                <a:lnTo>
                  <a:pt x="256425" y="127766"/>
                </a:lnTo>
                <a:lnTo>
                  <a:pt x="326076" y="132300"/>
                </a:lnTo>
                <a:lnTo>
                  <a:pt x="403206" y="136685"/>
                </a:lnTo>
                <a:lnTo>
                  <a:pt x="444490" y="138819"/>
                </a:lnTo>
                <a:lnTo>
                  <a:pt x="487542" y="140912"/>
                </a:lnTo>
                <a:lnTo>
                  <a:pt x="532327" y="142963"/>
                </a:lnTo>
                <a:lnTo>
                  <a:pt x="578811" y="144971"/>
                </a:lnTo>
                <a:lnTo>
                  <a:pt x="626960" y="146935"/>
                </a:lnTo>
                <a:lnTo>
                  <a:pt x="676740" y="148855"/>
                </a:lnTo>
                <a:lnTo>
                  <a:pt x="728116" y="150727"/>
                </a:lnTo>
                <a:lnTo>
                  <a:pt x="781056" y="152553"/>
                </a:lnTo>
                <a:lnTo>
                  <a:pt x="835523" y="154330"/>
                </a:lnTo>
                <a:lnTo>
                  <a:pt x="891485" y="156057"/>
                </a:lnTo>
                <a:lnTo>
                  <a:pt x="948908" y="157733"/>
                </a:lnTo>
                <a:lnTo>
                  <a:pt x="1007756" y="159357"/>
                </a:lnTo>
                <a:lnTo>
                  <a:pt x="1067996" y="160929"/>
                </a:lnTo>
                <a:lnTo>
                  <a:pt x="1129594" y="162446"/>
                </a:lnTo>
                <a:lnTo>
                  <a:pt x="1192516" y="163908"/>
                </a:lnTo>
                <a:lnTo>
                  <a:pt x="1256728" y="165313"/>
                </a:lnTo>
                <a:lnTo>
                  <a:pt x="1322194" y="166661"/>
                </a:lnTo>
                <a:lnTo>
                  <a:pt x="1388882" y="167950"/>
                </a:lnTo>
                <a:lnTo>
                  <a:pt x="1456758" y="169179"/>
                </a:lnTo>
                <a:lnTo>
                  <a:pt x="1525786" y="170347"/>
                </a:lnTo>
                <a:lnTo>
                  <a:pt x="1595933" y="171454"/>
                </a:lnTo>
                <a:lnTo>
                  <a:pt x="1667165" y="172497"/>
                </a:lnTo>
                <a:lnTo>
                  <a:pt x="1739448" y="173475"/>
                </a:lnTo>
                <a:lnTo>
                  <a:pt x="1812747" y="174388"/>
                </a:lnTo>
                <a:lnTo>
                  <a:pt x="1887028" y="175235"/>
                </a:lnTo>
                <a:lnTo>
                  <a:pt x="1962258" y="176014"/>
                </a:lnTo>
                <a:lnTo>
                  <a:pt x="2038402" y="176724"/>
                </a:lnTo>
                <a:lnTo>
                  <a:pt x="2115426" y="177364"/>
                </a:lnTo>
                <a:lnTo>
                  <a:pt x="2193296" y="177933"/>
                </a:lnTo>
                <a:lnTo>
                  <a:pt x="2271977" y="178430"/>
                </a:lnTo>
                <a:lnTo>
                  <a:pt x="2351436" y="178854"/>
                </a:lnTo>
                <a:lnTo>
                  <a:pt x="2431639" y="179203"/>
                </a:lnTo>
                <a:lnTo>
                  <a:pt x="2512551" y="179476"/>
                </a:lnTo>
                <a:lnTo>
                  <a:pt x="2594138" y="179673"/>
                </a:lnTo>
                <a:lnTo>
                  <a:pt x="2676366" y="179792"/>
                </a:lnTo>
                <a:lnTo>
                  <a:pt x="2759202" y="179832"/>
                </a:lnTo>
                <a:lnTo>
                  <a:pt x="2842037" y="179792"/>
                </a:lnTo>
                <a:lnTo>
                  <a:pt x="2924265" y="179673"/>
                </a:lnTo>
                <a:lnTo>
                  <a:pt x="3005852" y="179476"/>
                </a:lnTo>
                <a:lnTo>
                  <a:pt x="3086764" y="179203"/>
                </a:lnTo>
                <a:lnTo>
                  <a:pt x="3166966" y="178854"/>
                </a:lnTo>
                <a:lnTo>
                  <a:pt x="3246425" y="178430"/>
                </a:lnTo>
                <a:lnTo>
                  <a:pt x="3325107" y="177933"/>
                </a:lnTo>
                <a:lnTo>
                  <a:pt x="3402976" y="177364"/>
                </a:lnTo>
                <a:lnTo>
                  <a:pt x="3480000" y="176724"/>
                </a:lnTo>
                <a:lnTo>
                  <a:pt x="3556144" y="176014"/>
                </a:lnTo>
                <a:lnTo>
                  <a:pt x="3631373" y="175235"/>
                </a:lnTo>
                <a:lnTo>
                  <a:pt x="3705654" y="174388"/>
                </a:lnTo>
                <a:lnTo>
                  <a:pt x="3778953" y="173475"/>
                </a:lnTo>
                <a:lnTo>
                  <a:pt x="3851236" y="172497"/>
                </a:lnTo>
                <a:lnTo>
                  <a:pt x="3922467" y="171454"/>
                </a:lnTo>
                <a:lnTo>
                  <a:pt x="3992614" y="170347"/>
                </a:lnTo>
                <a:lnTo>
                  <a:pt x="4061642" y="169179"/>
                </a:lnTo>
                <a:lnTo>
                  <a:pt x="4129517" y="167950"/>
                </a:lnTo>
                <a:lnTo>
                  <a:pt x="4196205" y="166661"/>
                </a:lnTo>
                <a:lnTo>
                  <a:pt x="4261672" y="165313"/>
                </a:lnTo>
                <a:lnTo>
                  <a:pt x="4325883" y="163908"/>
                </a:lnTo>
                <a:lnTo>
                  <a:pt x="4388804" y="162446"/>
                </a:lnTo>
                <a:lnTo>
                  <a:pt x="4450402" y="160929"/>
                </a:lnTo>
                <a:lnTo>
                  <a:pt x="4510642" y="159357"/>
                </a:lnTo>
                <a:lnTo>
                  <a:pt x="4569490" y="157733"/>
                </a:lnTo>
                <a:lnTo>
                  <a:pt x="4626912" y="156057"/>
                </a:lnTo>
                <a:lnTo>
                  <a:pt x="4682874" y="154330"/>
                </a:lnTo>
                <a:lnTo>
                  <a:pt x="4737341" y="152553"/>
                </a:lnTo>
                <a:lnTo>
                  <a:pt x="4790280" y="150727"/>
                </a:lnTo>
                <a:lnTo>
                  <a:pt x="4841656" y="148855"/>
                </a:lnTo>
                <a:lnTo>
                  <a:pt x="4891436" y="146935"/>
                </a:lnTo>
                <a:lnTo>
                  <a:pt x="4939584" y="144971"/>
                </a:lnTo>
                <a:lnTo>
                  <a:pt x="4986068" y="142963"/>
                </a:lnTo>
                <a:lnTo>
                  <a:pt x="5030853" y="140912"/>
                </a:lnTo>
                <a:lnTo>
                  <a:pt x="5073904" y="138819"/>
                </a:lnTo>
                <a:lnTo>
                  <a:pt x="5115188" y="136685"/>
                </a:lnTo>
                <a:lnTo>
                  <a:pt x="5154671" y="134512"/>
                </a:lnTo>
                <a:lnTo>
                  <a:pt x="5228095" y="130051"/>
                </a:lnTo>
                <a:lnTo>
                  <a:pt x="5293903" y="125446"/>
                </a:lnTo>
                <a:lnTo>
                  <a:pt x="5351823" y="120705"/>
                </a:lnTo>
                <a:lnTo>
                  <a:pt x="5401581" y="115837"/>
                </a:lnTo>
                <a:lnTo>
                  <a:pt x="5442904" y="110852"/>
                </a:lnTo>
                <a:lnTo>
                  <a:pt x="5488477" y="103173"/>
                </a:lnTo>
                <a:lnTo>
                  <a:pt x="5518391" y="89915"/>
                </a:lnTo>
                <a:lnTo>
                  <a:pt x="5517172" y="87223"/>
                </a:lnTo>
                <a:lnTo>
                  <a:pt x="5475520" y="74073"/>
                </a:lnTo>
                <a:lnTo>
                  <a:pt x="5423314" y="66472"/>
                </a:lnTo>
                <a:lnTo>
                  <a:pt x="5377739" y="61545"/>
                </a:lnTo>
                <a:lnTo>
                  <a:pt x="5323866" y="56739"/>
                </a:lnTo>
                <a:lnTo>
                  <a:pt x="5261968" y="52065"/>
                </a:lnTo>
                <a:lnTo>
                  <a:pt x="5192318" y="47531"/>
                </a:lnTo>
                <a:lnTo>
                  <a:pt x="5115188" y="43146"/>
                </a:lnTo>
                <a:lnTo>
                  <a:pt x="5073904" y="41012"/>
                </a:lnTo>
                <a:lnTo>
                  <a:pt x="5030853" y="38919"/>
                </a:lnTo>
                <a:lnTo>
                  <a:pt x="4986068" y="36868"/>
                </a:lnTo>
                <a:lnTo>
                  <a:pt x="4939584" y="34860"/>
                </a:lnTo>
                <a:lnTo>
                  <a:pt x="4891436" y="32896"/>
                </a:lnTo>
                <a:lnTo>
                  <a:pt x="4841656" y="30976"/>
                </a:lnTo>
                <a:lnTo>
                  <a:pt x="4790280" y="29104"/>
                </a:lnTo>
                <a:lnTo>
                  <a:pt x="4737341" y="27278"/>
                </a:lnTo>
                <a:lnTo>
                  <a:pt x="4682874" y="25501"/>
                </a:lnTo>
                <a:lnTo>
                  <a:pt x="4626912" y="23774"/>
                </a:lnTo>
                <a:lnTo>
                  <a:pt x="4569490" y="22098"/>
                </a:lnTo>
                <a:lnTo>
                  <a:pt x="4510642" y="20474"/>
                </a:lnTo>
                <a:lnTo>
                  <a:pt x="4450402" y="18902"/>
                </a:lnTo>
                <a:lnTo>
                  <a:pt x="4388804" y="17385"/>
                </a:lnTo>
                <a:lnTo>
                  <a:pt x="4325883" y="15923"/>
                </a:lnTo>
                <a:lnTo>
                  <a:pt x="4261672" y="14518"/>
                </a:lnTo>
                <a:lnTo>
                  <a:pt x="4196205" y="13170"/>
                </a:lnTo>
                <a:lnTo>
                  <a:pt x="4129517" y="11881"/>
                </a:lnTo>
                <a:lnTo>
                  <a:pt x="4061642" y="10652"/>
                </a:lnTo>
                <a:lnTo>
                  <a:pt x="3992614" y="9484"/>
                </a:lnTo>
                <a:lnTo>
                  <a:pt x="3922467" y="8377"/>
                </a:lnTo>
                <a:lnTo>
                  <a:pt x="3851236" y="7334"/>
                </a:lnTo>
                <a:lnTo>
                  <a:pt x="3778953" y="6356"/>
                </a:lnTo>
                <a:lnTo>
                  <a:pt x="3705654" y="5443"/>
                </a:lnTo>
                <a:lnTo>
                  <a:pt x="3631373" y="4596"/>
                </a:lnTo>
                <a:lnTo>
                  <a:pt x="3556144" y="3817"/>
                </a:lnTo>
                <a:lnTo>
                  <a:pt x="3480000" y="3107"/>
                </a:lnTo>
                <a:lnTo>
                  <a:pt x="3402976" y="2467"/>
                </a:lnTo>
                <a:lnTo>
                  <a:pt x="3325107" y="1898"/>
                </a:lnTo>
                <a:lnTo>
                  <a:pt x="3246425" y="1401"/>
                </a:lnTo>
                <a:lnTo>
                  <a:pt x="3166966" y="977"/>
                </a:lnTo>
                <a:lnTo>
                  <a:pt x="3086764" y="628"/>
                </a:lnTo>
                <a:lnTo>
                  <a:pt x="3005852" y="355"/>
                </a:lnTo>
                <a:lnTo>
                  <a:pt x="2924265" y="158"/>
                </a:lnTo>
                <a:lnTo>
                  <a:pt x="2842037" y="39"/>
                </a:lnTo>
                <a:lnTo>
                  <a:pt x="2759202" y="0"/>
                </a:lnTo>
                <a:close/>
              </a:path>
            </a:pathLst>
          </a:custGeom>
          <a:ln w="31750">
            <a:solidFill>
              <a:srgbClr val="FF00FF"/>
            </a:solidFill>
            <a:prstDash val="dash"/>
          </a:ln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3" name="object 13"/>
          <p:cNvSpPr/>
          <p:nvPr/>
        </p:nvSpPr>
        <p:spPr>
          <a:xfrm>
            <a:off x="1300163" y="3789040"/>
            <a:ext cx="4728171" cy="161349"/>
          </a:xfrm>
          <a:custGeom>
            <a:avLst/>
            <a:gdLst/>
            <a:ahLst/>
            <a:cxnLst/>
            <a:rect l="l" t="t" r="r" b="b"/>
            <a:pathLst>
              <a:path w="5505450" h="180339">
                <a:moveTo>
                  <a:pt x="2753105" y="0"/>
                </a:moveTo>
                <a:lnTo>
                  <a:pt x="2670437" y="39"/>
                </a:lnTo>
                <a:lnTo>
                  <a:pt x="2588374" y="158"/>
                </a:lnTo>
                <a:lnTo>
                  <a:pt x="2506953" y="355"/>
                </a:lnTo>
                <a:lnTo>
                  <a:pt x="2426207" y="628"/>
                </a:lnTo>
                <a:lnTo>
                  <a:pt x="2346169" y="977"/>
                </a:lnTo>
                <a:lnTo>
                  <a:pt x="2266875" y="1401"/>
                </a:lnTo>
                <a:lnTo>
                  <a:pt x="2188357" y="1898"/>
                </a:lnTo>
                <a:lnTo>
                  <a:pt x="2110651" y="2467"/>
                </a:lnTo>
                <a:lnTo>
                  <a:pt x="2033789" y="3107"/>
                </a:lnTo>
                <a:lnTo>
                  <a:pt x="1957807" y="3817"/>
                </a:lnTo>
                <a:lnTo>
                  <a:pt x="1882737" y="4596"/>
                </a:lnTo>
                <a:lnTo>
                  <a:pt x="1808614" y="5443"/>
                </a:lnTo>
                <a:lnTo>
                  <a:pt x="1735473" y="6356"/>
                </a:lnTo>
                <a:lnTo>
                  <a:pt x="1663346" y="7334"/>
                </a:lnTo>
                <a:lnTo>
                  <a:pt x="1592269" y="8377"/>
                </a:lnTo>
                <a:lnTo>
                  <a:pt x="1522275" y="9484"/>
                </a:lnTo>
                <a:lnTo>
                  <a:pt x="1453398" y="10652"/>
                </a:lnTo>
                <a:lnTo>
                  <a:pt x="1385672" y="11881"/>
                </a:lnTo>
                <a:lnTo>
                  <a:pt x="1319132" y="13170"/>
                </a:lnTo>
                <a:lnTo>
                  <a:pt x="1253810" y="14518"/>
                </a:lnTo>
                <a:lnTo>
                  <a:pt x="1189742" y="15923"/>
                </a:lnTo>
                <a:lnTo>
                  <a:pt x="1126961" y="17385"/>
                </a:lnTo>
                <a:lnTo>
                  <a:pt x="1065501" y="18902"/>
                </a:lnTo>
                <a:lnTo>
                  <a:pt x="1005397" y="20474"/>
                </a:lnTo>
                <a:lnTo>
                  <a:pt x="946682" y="22098"/>
                </a:lnTo>
                <a:lnTo>
                  <a:pt x="889390" y="23774"/>
                </a:lnTo>
                <a:lnTo>
                  <a:pt x="833556" y="25501"/>
                </a:lnTo>
                <a:lnTo>
                  <a:pt x="779213" y="27278"/>
                </a:lnTo>
                <a:lnTo>
                  <a:pt x="726395" y="29104"/>
                </a:lnTo>
                <a:lnTo>
                  <a:pt x="675137" y="30976"/>
                </a:lnTo>
                <a:lnTo>
                  <a:pt x="625472" y="32896"/>
                </a:lnTo>
                <a:lnTo>
                  <a:pt x="577435" y="34860"/>
                </a:lnTo>
                <a:lnTo>
                  <a:pt x="531059" y="36868"/>
                </a:lnTo>
                <a:lnTo>
                  <a:pt x="486378" y="38919"/>
                </a:lnTo>
                <a:lnTo>
                  <a:pt x="443427" y="41012"/>
                </a:lnTo>
                <a:lnTo>
                  <a:pt x="402240" y="43146"/>
                </a:lnTo>
                <a:lnTo>
                  <a:pt x="362850" y="45319"/>
                </a:lnTo>
                <a:lnTo>
                  <a:pt x="289599" y="49780"/>
                </a:lnTo>
                <a:lnTo>
                  <a:pt x="223947" y="54385"/>
                </a:lnTo>
                <a:lnTo>
                  <a:pt x="166165" y="59126"/>
                </a:lnTo>
                <a:lnTo>
                  <a:pt x="116527" y="63994"/>
                </a:lnTo>
                <a:lnTo>
                  <a:pt x="75303" y="68979"/>
                </a:lnTo>
                <a:lnTo>
                  <a:pt x="29840" y="76658"/>
                </a:lnTo>
                <a:lnTo>
                  <a:pt x="0" y="89915"/>
                </a:lnTo>
                <a:lnTo>
                  <a:pt x="1216" y="92608"/>
                </a:lnTo>
                <a:lnTo>
                  <a:pt x="42766" y="105758"/>
                </a:lnTo>
                <a:lnTo>
                  <a:pt x="94846" y="113359"/>
                </a:lnTo>
                <a:lnTo>
                  <a:pt x="140311" y="118286"/>
                </a:lnTo>
                <a:lnTo>
                  <a:pt x="194055" y="123092"/>
                </a:lnTo>
                <a:lnTo>
                  <a:pt x="255807" y="127766"/>
                </a:lnTo>
                <a:lnTo>
                  <a:pt x="325292" y="132300"/>
                </a:lnTo>
                <a:lnTo>
                  <a:pt x="402240" y="136685"/>
                </a:lnTo>
                <a:lnTo>
                  <a:pt x="443427" y="138819"/>
                </a:lnTo>
                <a:lnTo>
                  <a:pt x="486378" y="140912"/>
                </a:lnTo>
                <a:lnTo>
                  <a:pt x="531059" y="142963"/>
                </a:lnTo>
                <a:lnTo>
                  <a:pt x="577435" y="144971"/>
                </a:lnTo>
                <a:lnTo>
                  <a:pt x="625472" y="146935"/>
                </a:lnTo>
                <a:lnTo>
                  <a:pt x="675137" y="148855"/>
                </a:lnTo>
                <a:lnTo>
                  <a:pt x="726395" y="150727"/>
                </a:lnTo>
                <a:lnTo>
                  <a:pt x="779213" y="152553"/>
                </a:lnTo>
                <a:lnTo>
                  <a:pt x="833556" y="154330"/>
                </a:lnTo>
                <a:lnTo>
                  <a:pt x="889390" y="156057"/>
                </a:lnTo>
                <a:lnTo>
                  <a:pt x="946682" y="157733"/>
                </a:lnTo>
                <a:lnTo>
                  <a:pt x="1005397" y="159357"/>
                </a:lnTo>
                <a:lnTo>
                  <a:pt x="1065501" y="160929"/>
                </a:lnTo>
                <a:lnTo>
                  <a:pt x="1126961" y="162446"/>
                </a:lnTo>
                <a:lnTo>
                  <a:pt x="1189742" y="163908"/>
                </a:lnTo>
                <a:lnTo>
                  <a:pt x="1253810" y="165313"/>
                </a:lnTo>
                <a:lnTo>
                  <a:pt x="1319132" y="166661"/>
                </a:lnTo>
                <a:lnTo>
                  <a:pt x="1385672" y="167950"/>
                </a:lnTo>
                <a:lnTo>
                  <a:pt x="1453398" y="169179"/>
                </a:lnTo>
                <a:lnTo>
                  <a:pt x="1522275" y="170347"/>
                </a:lnTo>
                <a:lnTo>
                  <a:pt x="1592269" y="171454"/>
                </a:lnTo>
                <a:lnTo>
                  <a:pt x="1663346" y="172497"/>
                </a:lnTo>
                <a:lnTo>
                  <a:pt x="1735473" y="173475"/>
                </a:lnTo>
                <a:lnTo>
                  <a:pt x="1808614" y="174388"/>
                </a:lnTo>
                <a:lnTo>
                  <a:pt x="1882737" y="175235"/>
                </a:lnTo>
                <a:lnTo>
                  <a:pt x="1957807" y="176014"/>
                </a:lnTo>
                <a:lnTo>
                  <a:pt x="2033789" y="176724"/>
                </a:lnTo>
                <a:lnTo>
                  <a:pt x="2110651" y="177364"/>
                </a:lnTo>
                <a:lnTo>
                  <a:pt x="2188357" y="177933"/>
                </a:lnTo>
                <a:lnTo>
                  <a:pt x="2266875" y="178430"/>
                </a:lnTo>
                <a:lnTo>
                  <a:pt x="2346169" y="178854"/>
                </a:lnTo>
                <a:lnTo>
                  <a:pt x="2426207" y="179203"/>
                </a:lnTo>
                <a:lnTo>
                  <a:pt x="2506953" y="179476"/>
                </a:lnTo>
                <a:lnTo>
                  <a:pt x="2588374" y="179673"/>
                </a:lnTo>
                <a:lnTo>
                  <a:pt x="2670437" y="179792"/>
                </a:lnTo>
                <a:lnTo>
                  <a:pt x="2753105" y="179832"/>
                </a:lnTo>
                <a:lnTo>
                  <a:pt x="2835734" y="179792"/>
                </a:lnTo>
                <a:lnTo>
                  <a:pt x="2917756" y="179673"/>
                </a:lnTo>
                <a:lnTo>
                  <a:pt x="2999140" y="179476"/>
                </a:lnTo>
                <a:lnTo>
                  <a:pt x="3079849" y="179203"/>
                </a:lnTo>
                <a:lnTo>
                  <a:pt x="3159852" y="178854"/>
                </a:lnTo>
                <a:lnTo>
                  <a:pt x="3239112" y="178430"/>
                </a:lnTo>
                <a:lnTo>
                  <a:pt x="3317598" y="177933"/>
                </a:lnTo>
                <a:lnTo>
                  <a:pt x="3395273" y="177364"/>
                </a:lnTo>
                <a:lnTo>
                  <a:pt x="3472105" y="176724"/>
                </a:lnTo>
                <a:lnTo>
                  <a:pt x="3548059" y="176014"/>
                </a:lnTo>
                <a:lnTo>
                  <a:pt x="3623101" y="175235"/>
                </a:lnTo>
                <a:lnTo>
                  <a:pt x="3697197" y="174388"/>
                </a:lnTo>
                <a:lnTo>
                  <a:pt x="3770314" y="173475"/>
                </a:lnTo>
                <a:lnTo>
                  <a:pt x="3842416" y="172497"/>
                </a:lnTo>
                <a:lnTo>
                  <a:pt x="3913471" y="171454"/>
                </a:lnTo>
                <a:lnTo>
                  <a:pt x="3983443" y="170347"/>
                </a:lnTo>
                <a:lnTo>
                  <a:pt x="4052299" y="169179"/>
                </a:lnTo>
                <a:lnTo>
                  <a:pt x="4120006" y="167950"/>
                </a:lnTo>
                <a:lnTo>
                  <a:pt x="4186528" y="166661"/>
                </a:lnTo>
                <a:lnTo>
                  <a:pt x="4251831" y="165313"/>
                </a:lnTo>
                <a:lnTo>
                  <a:pt x="4315883" y="163908"/>
                </a:lnTo>
                <a:lnTo>
                  <a:pt x="4378648" y="162446"/>
                </a:lnTo>
                <a:lnTo>
                  <a:pt x="4440093" y="160929"/>
                </a:lnTo>
                <a:lnTo>
                  <a:pt x="4500183" y="159357"/>
                </a:lnTo>
                <a:lnTo>
                  <a:pt x="4558885" y="157733"/>
                </a:lnTo>
                <a:lnTo>
                  <a:pt x="4616165" y="156057"/>
                </a:lnTo>
                <a:lnTo>
                  <a:pt x="4671988" y="154330"/>
                </a:lnTo>
                <a:lnTo>
                  <a:pt x="4726320" y="152553"/>
                </a:lnTo>
                <a:lnTo>
                  <a:pt x="4779128" y="150727"/>
                </a:lnTo>
                <a:lnTo>
                  <a:pt x="4830377" y="148855"/>
                </a:lnTo>
                <a:lnTo>
                  <a:pt x="4880033" y="146935"/>
                </a:lnTo>
                <a:lnTo>
                  <a:pt x="4928062" y="144971"/>
                </a:lnTo>
                <a:lnTo>
                  <a:pt x="4974431" y="142963"/>
                </a:lnTo>
                <a:lnTo>
                  <a:pt x="5019105" y="140912"/>
                </a:lnTo>
                <a:lnTo>
                  <a:pt x="5062049" y="138819"/>
                </a:lnTo>
                <a:lnTo>
                  <a:pt x="5103231" y="136685"/>
                </a:lnTo>
                <a:lnTo>
                  <a:pt x="5142616" y="134512"/>
                </a:lnTo>
                <a:lnTo>
                  <a:pt x="5215858" y="130051"/>
                </a:lnTo>
                <a:lnTo>
                  <a:pt x="5281504" y="125446"/>
                </a:lnTo>
                <a:lnTo>
                  <a:pt x="5339280" y="120705"/>
                </a:lnTo>
                <a:lnTo>
                  <a:pt x="5388915" y="115837"/>
                </a:lnTo>
                <a:lnTo>
                  <a:pt x="5430137" y="110852"/>
                </a:lnTo>
                <a:lnTo>
                  <a:pt x="5475597" y="103173"/>
                </a:lnTo>
                <a:lnTo>
                  <a:pt x="5505437" y="89915"/>
                </a:lnTo>
                <a:lnTo>
                  <a:pt x="5504221" y="87223"/>
                </a:lnTo>
                <a:lnTo>
                  <a:pt x="5462672" y="74073"/>
                </a:lnTo>
                <a:lnTo>
                  <a:pt x="5410595" y="66472"/>
                </a:lnTo>
                <a:lnTo>
                  <a:pt x="5365133" y="61545"/>
                </a:lnTo>
                <a:lnTo>
                  <a:pt x="5311393" y="56739"/>
                </a:lnTo>
                <a:lnTo>
                  <a:pt x="5249648" y="52065"/>
                </a:lnTo>
                <a:lnTo>
                  <a:pt x="5180170" y="47531"/>
                </a:lnTo>
                <a:lnTo>
                  <a:pt x="5103231" y="43146"/>
                </a:lnTo>
                <a:lnTo>
                  <a:pt x="5062049" y="41012"/>
                </a:lnTo>
                <a:lnTo>
                  <a:pt x="5019105" y="38919"/>
                </a:lnTo>
                <a:lnTo>
                  <a:pt x="4974431" y="36868"/>
                </a:lnTo>
                <a:lnTo>
                  <a:pt x="4928062" y="34860"/>
                </a:lnTo>
                <a:lnTo>
                  <a:pt x="4880033" y="32896"/>
                </a:lnTo>
                <a:lnTo>
                  <a:pt x="4830377" y="30976"/>
                </a:lnTo>
                <a:lnTo>
                  <a:pt x="4779128" y="29104"/>
                </a:lnTo>
                <a:lnTo>
                  <a:pt x="4726320" y="27278"/>
                </a:lnTo>
                <a:lnTo>
                  <a:pt x="4671988" y="25501"/>
                </a:lnTo>
                <a:lnTo>
                  <a:pt x="4616165" y="23774"/>
                </a:lnTo>
                <a:lnTo>
                  <a:pt x="4558885" y="22098"/>
                </a:lnTo>
                <a:lnTo>
                  <a:pt x="4500183" y="20474"/>
                </a:lnTo>
                <a:lnTo>
                  <a:pt x="4440093" y="18902"/>
                </a:lnTo>
                <a:lnTo>
                  <a:pt x="4378648" y="17385"/>
                </a:lnTo>
                <a:lnTo>
                  <a:pt x="4315883" y="15923"/>
                </a:lnTo>
                <a:lnTo>
                  <a:pt x="4251831" y="14518"/>
                </a:lnTo>
                <a:lnTo>
                  <a:pt x="4186528" y="13170"/>
                </a:lnTo>
                <a:lnTo>
                  <a:pt x="4120006" y="11881"/>
                </a:lnTo>
                <a:lnTo>
                  <a:pt x="4052299" y="10652"/>
                </a:lnTo>
                <a:lnTo>
                  <a:pt x="3983443" y="9484"/>
                </a:lnTo>
                <a:lnTo>
                  <a:pt x="3913471" y="8377"/>
                </a:lnTo>
                <a:lnTo>
                  <a:pt x="3842416" y="7334"/>
                </a:lnTo>
                <a:lnTo>
                  <a:pt x="3770314" y="6356"/>
                </a:lnTo>
                <a:lnTo>
                  <a:pt x="3697197" y="5443"/>
                </a:lnTo>
                <a:lnTo>
                  <a:pt x="3623101" y="4596"/>
                </a:lnTo>
                <a:lnTo>
                  <a:pt x="3548059" y="3817"/>
                </a:lnTo>
                <a:lnTo>
                  <a:pt x="3472105" y="3107"/>
                </a:lnTo>
                <a:lnTo>
                  <a:pt x="3395273" y="2467"/>
                </a:lnTo>
                <a:lnTo>
                  <a:pt x="3317598" y="1898"/>
                </a:lnTo>
                <a:lnTo>
                  <a:pt x="3239112" y="1401"/>
                </a:lnTo>
                <a:lnTo>
                  <a:pt x="3159852" y="977"/>
                </a:lnTo>
                <a:lnTo>
                  <a:pt x="3079849" y="628"/>
                </a:lnTo>
                <a:lnTo>
                  <a:pt x="2999140" y="355"/>
                </a:lnTo>
                <a:lnTo>
                  <a:pt x="2917756" y="158"/>
                </a:lnTo>
                <a:lnTo>
                  <a:pt x="2835734" y="39"/>
                </a:lnTo>
                <a:lnTo>
                  <a:pt x="2753105" y="0"/>
                </a:lnTo>
                <a:close/>
              </a:path>
            </a:pathLst>
          </a:custGeom>
          <a:ln w="31750">
            <a:solidFill>
              <a:srgbClr val="FF00FF"/>
            </a:solidFill>
            <a:prstDash val="dash"/>
          </a:ln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4" name="object 14"/>
          <p:cNvSpPr txBox="1"/>
          <p:nvPr/>
        </p:nvSpPr>
        <p:spPr>
          <a:xfrm>
            <a:off x="882650" y="1158875"/>
            <a:ext cx="8081838" cy="802918"/>
          </a:xfrm>
          <a:prstGeom prst="rect">
            <a:avLst/>
          </a:prstGeom>
        </p:spPr>
        <p:txBody>
          <a:bodyPr wrap="square" lIns="0" tIns="96653" rIns="0" bIns="0">
            <a:spAutoFit/>
          </a:bodyPr>
          <a:lstStyle>
            <a:lvl1pPr marL="952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763"/>
              </a:spcBef>
            </a:pPr>
            <a:r>
              <a:rPr lang="zh-CN" altLang="zh-CN" sz="2000" b="1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第一步：对两个表进行广义笛卡尔积</a:t>
            </a:r>
            <a:endParaRPr lang="zh-CN" altLang="zh-CN" sz="20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eaLnBrk="1" hangingPunct="1">
              <a:spcBef>
                <a:spcPts val="675"/>
              </a:spcBef>
            </a:pPr>
            <a:r>
              <a:rPr lang="zh-CN" altLang="zh-CN" sz="2000" b="1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第二步：从广义笛卡尔积中选取在相同列</a:t>
            </a:r>
            <a:r>
              <a:rPr lang="zh-CN" altLang="zh-CN" sz="2000" b="1" dirty="0">
                <a:solidFill>
                  <a:srgbClr val="FF0065"/>
                </a:solidFill>
                <a:cs typeface="Times New Roman" panose="02020603050405020304" pitchFamily="18" charset="0"/>
              </a:rPr>
              <a:t>(C#)</a:t>
            </a:r>
            <a:r>
              <a:rPr lang="zh-CN" altLang="zh-CN" sz="2000" b="1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上值相同的元组</a:t>
            </a:r>
            <a:r>
              <a:rPr lang="en-US" altLang="zh-CN" sz="1300" b="1" dirty="0">
                <a:solidFill>
                  <a:srgbClr val="FF0065"/>
                </a:solidFill>
                <a:latin typeface="宋体" panose="02010600030101010101" pitchFamily="2" charset="-122"/>
              </a:rPr>
              <a:t>                                                         </a:t>
            </a:r>
            <a:endParaRPr lang="zh-CN" altLang="zh-CN" sz="1300" dirty="0">
              <a:latin typeface="宋体" panose="02010600030101010101" pitchFamily="2" charset="-122"/>
            </a:endParaRPr>
          </a:p>
        </p:txBody>
      </p:sp>
      <p:sp>
        <p:nvSpPr>
          <p:cNvPr id="15" name="灯片编号占位符 1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A6568E1-4089-4561-919E-9D2F37D3F2B0}" type="slidenum">
              <a:rPr lang="en-US" altLang="zh-CN" smtClean="0"/>
              <a:pPr>
                <a:defRPr/>
              </a:pPr>
              <a:t>49</a:t>
            </a:fld>
            <a:endParaRPr lang="en-US" altLang="zh-CN" dirty="0"/>
          </a:p>
        </p:txBody>
      </p:sp>
      <p:sp>
        <p:nvSpPr>
          <p:cNvPr id="16" name="标题 1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zh-CN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(4) “</a:t>
            </a:r>
            <a:r>
              <a:rPr lang="zh-CN" altLang="zh-CN" dirty="0">
                <a:solidFill>
                  <a:srgbClr val="F8F8F8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自然</a:t>
            </a:r>
            <a:r>
              <a:rPr lang="zh-CN" altLang="zh-CN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连接</a:t>
            </a:r>
            <a:r>
              <a:rPr lang="zh-CN" altLang="zh-CN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r>
              <a:rPr lang="zh-CN" altLang="zh-CN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操作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E5C0D9C-57A1-82B3-9518-D777D7BA5787}"/>
              </a:ext>
            </a:extLst>
          </p:cNvPr>
          <p:cNvSpPr txBox="1"/>
          <p:nvPr/>
        </p:nvSpPr>
        <p:spPr>
          <a:xfrm flipH="1">
            <a:off x="6084168" y="2226350"/>
            <a:ext cx="57606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600" b="1" dirty="0">
                <a:solidFill>
                  <a:srgbClr val="FF0065"/>
                </a:solidFill>
                <a:latin typeface="宋体" panose="02010600030101010101" pitchFamily="2" charset="-122"/>
              </a:rPr>
              <a:t>√</a:t>
            </a:r>
            <a:endParaRPr lang="zh-CN" altLang="en-US" sz="16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AEC74E3-49F8-1F16-5443-3F2FEE56E6FA}"/>
              </a:ext>
            </a:extLst>
          </p:cNvPr>
          <p:cNvSpPr txBox="1"/>
          <p:nvPr/>
        </p:nvSpPr>
        <p:spPr>
          <a:xfrm flipH="1">
            <a:off x="6084168" y="2946430"/>
            <a:ext cx="57606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600" b="1" dirty="0">
                <a:solidFill>
                  <a:srgbClr val="FF0065"/>
                </a:solidFill>
                <a:latin typeface="宋体" panose="02010600030101010101" pitchFamily="2" charset="-122"/>
              </a:rPr>
              <a:t>√</a:t>
            </a:r>
            <a:endParaRPr lang="zh-CN" altLang="en-US" sz="16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A5F71BB-C7F3-7DC2-65D0-F1C258A0F69E}"/>
              </a:ext>
            </a:extLst>
          </p:cNvPr>
          <p:cNvSpPr txBox="1"/>
          <p:nvPr/>
        </p:nvSpPr>
        <p:spPr>
          <a:xfrm flipH="1">
            <a:off x="6084168" y="3717032"/>
            <a:ext cx="57606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600" b="1" dirty="0">
                <a:solidFill>
                  <a:srgbClr val="FF0065"/>
                </a:solidFill>
                <a:latin typeface="宋体" panose="02010600030101010101" pitchFamily="2" charset="-122"/>
              </a:rPr>
              <a:t>√</a:t>
            </a:r>
            <a:endParaRPr lang="zh-CN" alt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3" grpId="0"/>
      <p:bldP spid="4" grpId="0"/>
      <p:bldP spid="8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893762" y="1385888"/>
            <a:ext cx="7854701" cy="318194"/>
          </a:xfrm>
          <a:prstGeom prst="rect">
            <a:avLst/>
          </a:prstGeom>
        </p:spPr>
        <p:txBody>
          <a:bodyPr wrap="square" lIns="0" tIns="10317" rIns="0" bIns="0">
            <a:spAutoFit/>
          </a:bodyPr>
          <a:lstStyle>
            <a:lvl1pPr marL="952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75"/>
              </a:spcBef>
            </a:pPr>
            <a:r>
              <a:rPr lang="zh-CN" altLang="zh-CN" sz="2000" b="1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第四步：在</a:t>
            </a:r>
            <a:r>
              <a:rPr lang="zh-CN" altLang="zh-CN" sz="2000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(S#, Cname, Score)</a:t>
            </a:r>
            <a:r>
              <a:rPr lang="zh-CN" altLang="zh-CN" sz="2000" b="1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上进行投影操作，得到最终结果</a:t>
            </a:r>
            <a:endParaRPr lang="zh-CN" altLang="zh-CN" sz="20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849438" y="1785938"/>
            <a:ext cx="2650554" cy="90646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8" name="object 8"/>
          <p:cNvSpPr txBox="1"/>
          <p:nvPr/>
        </p:nvSpPr>
        <p:spPr>
          <a:xfrm>
            <a:off x="931863" y="2936875"/>
            <a:ext cx="7960617" cy="318194"/>
          </a:xfrm>
          <a:prstGeom prst="rect">
            <a:avLst/>
          </a:prstGeom>
        </p:spPr>
        <p:txBody>
          <a:bodyPr wrap="square" lIns="0" tIns="10317" rIns="0" bIns="0">
            <a:spAutoFit/>
          </a:bodyPr>
          <a:lstStyle>
            <a:lvl1pPr marL="952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75"/>
              </a:spcBef>
            </a:pPr>
            <a:r>
              <a:rPr lang="zh-CN" altLang="zh-CN" sz="2000" b="1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提问：如果查询所有学生选课的成绩</a:t>
            </a:r>
            <a:r>
              <a:rPr lang="zh-CN" altLang="zh-CN" sz="2000" b="1" dirty="0">
                <a:solidFill>
                  <a:srgbClr val="FF0065"/>
                </a:solidFill>
                <a:cs typeface="Times New Roman" panose="02020603050405020304" pitchFamily="18" charset="0"/>
              </a:rPr>
              <a:t>(</a:t>
            </a:r>
            <a:r>
              <a:rPr lang="zh-CN" altLang="zh-CN" sz="2000" b="1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包括学生姓名，课程名称，成绩</a:t>
            </a:r>
            <a:r>
              <a:rPr lang="zh-CN" altLang="zh-CN" sz="2000" b="1" dirty="0">
                <a:solidFill>
                  <a:srgbClr val="FF0065"/>
                </a:solidFill>
                <a:cs typeface="Times New Roman" panose="02020603050405020304" pitchFamily="18" charset="0"/>
              </a:rPr>
              <a:t>)</a:t>
            </a:r>
            <a:endParaRPr lang="zh-CN" altLang="zh-CN" sz="2000" dirty="0">
              <a:cs typeface="Times New Roman" panose="02020603050405020304" pitchFamily="18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228725" y="3398838"/>
            <a:ext cx="5076825" cy="336550"/>
            <a:chOff x="1228725" y="3398838"/>
            <a:chExt cx="5076825" cy="336550"/>
          </a:xfrm>
        </p:grpSpPr>
        <p:grpSp>
          <p:nvGrpSpPr>
            <p:cNvPr id="2" name="组合 1"/>
            <p:cNvGrpSpPr/>
            <p:nvPr/>
          </p:nvGrpSpPr>
          <p:grpSpPr>
            <a:xfrm>
              <a:off x="1228725" y="3398838"/>
              <a:ext cx="5076825" cy="336550"/>
              <a:chOff x="1228725" y="3398838"/>
              <a:chExt cx="5076825" cy="336550"/>
            </a:xfrm>
          </p:grpSpPr>
          <p:sp>
            <p:nvSpPr>
              <p:cNvPr id="5" name="object 5"/>
              <p:cNvSpPr/>
              <p:nvPr/>
            </p:nvSpPr>
            <p:spPr>
              <a:xfrm>
                <a:off x="3452813" y="3495675"/>
                <a:ext cx="301625" cy="115888"/>
              </a:xfrm>
              <a:custGeom>
                <a:avLst/>
                <a:gdLst/>
                <a:ahLst/>
                <a:cxnLst/>
                <a:rect l="l" t="t" r="r" b="b"/>
                <a:pathLst>
                  <a:path w="351789" h="135254">
                    <a:moveTo>
                      <a:pt x="0" y="134874"/>
                    </a:moveTo>
                    <a:lnTo>
                      <a:pt x="0" y="0"/>
                    </a:lnTo>
                    <a:lnTo>
                      <a:pt x="351282" y="134874"/>
                    </a:lnTo>
                    <a:lnTo>
                      <a:pt x="351282" y="0"/>
                    </a:lnTo>
                    <a:lnTo>
                      <a:pt x="0" y="134874"/>
                    </a:lnTo>
                    <a:close/>
                  </a:path>
                </a:pathLst>
              </a:custGeom>
              <a:ln w="38100">
                <a:solidFill>
                  <a:srgbClr val="000000"/>
                </a:solidFill>
              </a:ln>
            </p:spPr>
            <p:txBody>
              <a:bodyPr lIns="0" tIns="0" rIns="0" bIns="0"/>
              <a:lstStyle/>
              <a:p>
                <a:pPr eaLnBrk="1" hangingPunct="1">
                  <a:defRPr/>
                </a:pPr>
                <a:endParaRPr sz="2052"/>
              </a:p>
            </p:txBody>
          </p:sp>
          <p:sp>
            <p:nvSpPr>
              <p:cNvPr id="9" name="object 9"/>
              <p:cNvSpPr txBox="1"/>
              <p:nvPr/>
            </p:nvSpPr>
            <p:spPr>
              <a:xfrm>
                <a:off x="1228725" y="3409950"/>
                <a:ext cx="1939925" cy="325438"/>
              </a:xfrm>
              <a:prstGeom prst="rect">
                <a:avLst/>
              </a:prstGeom>
            </p:spPr>
            <p:txBody>
              <a:bodyPr lIns="0" tIns="10860" rIns="0" bIns="0">
                <a:spAutoFit/>
              </a:bodyPr>
              <a:lstStyle>
                <a:lvl1pPr marL="9525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ts val="88"/>
                  </a:spcBef>
                </a:pPr>
                <a:r>
                  <a:rPr lang="zh-CN" altLang="zh-CN" sz="3000" b="1" baseline="12000" dirty="0">
                    <a:solidFill>
                      <a:srgbClr val="FF0065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π</a:t>
                </a:r>
                <a:r>
                  <a:rPr lang="zh-CN" altLang="zh-CN" sz="1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Sname, Cname, Score</a:t>
                </a:r>
                <a:r>
                  <a:rPr lang="zh-CN" altLang="zh-CN" sz="2500" b="1" baseline="14000" dirty="0">
                    <a:latin typeface="Arial" panose="020B0604020202020204" pitchFamily="34" charset="0"/>
                    <a:cs typeface="Arial" panose="020B0604020202020204" pitchFamily="34" charset="0"/>
                  </a:rPr>
                  <a:t>(SC</a:t>
                </a:r>
                <a:endParaRPr lang="zh-CN" altLang="zh-CN" sz="2500" baseline="14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" name="object 10"/>
              <p:cNvSpPr txBox="1"/>
              <p:nvPr/>
            </p:nvSpPr>
            <p:spPr>
              <a:xfrm>
                <a:off x="3938588" y="3398838"/>
                <a:ext cx="2366962" cy="273050"/>
              </a:xfrm>
              <a:prstGeom prst="rect">
                <a:avLst/>
              </a:prstGeom>
            </p:spPr>
            <p:txBody>
              <a:bodyPr lIns="0" tIns="10317" rIns="0" bIns="0">
                <a:spAutoFit/>
              </a:bodyPr>
              <a:lstStyle/>
              <a:p>
                <a:pPr marL="10860" eaLnBrk="1" hangingPunct="1">
                  <a:spcBef>
                    <a:spcPts val="81"/>
                  </a:spcBef>
                  <a:tabLst>
                    <a:tab pos="1476929" algn="l"/>
                  </a:tabLst>
                  <a:defRPr/>
                </a:pPr>
                <a:r>
                  <a:rPr sz="1710" b="1" spc="-4" dirty="0">
                    <a:latin typeface="Arial"/>
                    <a:cs typeface="Arial"/>
                  </a:rPr>
                  <a:t>Course	</a:t>
                </a:r>
                <a:r>
                  <a:rPr sz="1710" b="1" spc="-9" dirty="0">
                    <a:latin typeface="Arial"/>
                    <a:cs typeface="Arial"/>
                  </a:rPr>
                  <a:t>Student)</a:t>
                </a:r>
                <a:endParaRPr sz="1710" dirty="0">
                  <a:latin typeface="Arial"/>
                  <a:cs typeface="Arial"/>
                </a:endParaRPr>
              </a:p>
            </p:txBody>
          </p:sp>
        </p:grpSp>
        <p:sp>
          <p:nvSpPr>
            <p:cNvPr id="11" name="object 11"/>
            <p:cNvSpPr/>
            <p:nvPr/>
          </p:nvSpPr>
          <p:spPr>
            <a:xfrm>
              <a:off x="4854575" y="3495675"/>
              <a:ext cx="300038" cy="115888"/>
            </a:xfrm>
            <a:custGeom>
              <a:avLst/>
              <a:gdLst/>
              <a:ahLst/>
              <a:cxnLst/>
              <a:rect l="l" t="t" r="r" b="b"/>
              <a:pathLst>
                <a:path w="351789" h="135254">
                  <a:moveTo>
                    <a:pt x="0" y="134874"/>
                  </a:moveTo>
                  <a:lnTo>
                    <a:pt x="0" y="0"/>
                  </a:lnTo>
                  <a:lnTo>
                    <a:pt x="351282" y="134874"/>
                  </a:lnTo>
                  <a:lnTo>
                    <a:pt x="351282" y="0"/>
                  </a:lnTo>
                  <a:lnTo>
                    <a:pt x="0" y="134874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lIns="0" tIns="0" rIns="0" bIns="0"/>
            <a:lstStyle/>
            <a:p>
              <a:pPr eaLnBrk="1" hangingPunct="1">
                <a:defRPr/>
              </a:pPr>
              <a:endParaRPr sz="2052"/>
            </a:p>
          </p:txBody>
        </p:sp>
      </p:grpSp>
      <p:sp>
        <p:nvSpPr>
          <p:cNvPr id="14" name="object 14"/>
          <p:cNvSpPr/>
          <p:nvPr/>
        </p:nvSpPr>
        <p:spPr>
          <a:xfrm>
            <a:off x="1484313" y="5137150"/>
            <a:ext cx="3670300" cy="124417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5" name="object 15"/>
          <p:cNvSpPr/>
          <p:nvPr/>
        </p:nvSpPr>
        <p:spPr>
          <a:xfrm>
            <a:off x="5784850" y="3916363"/>
            <a:ext cx="1811486" cy="204628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6" name="object 16"/>
          <p:cNvSpPr/>
          <p:nvPr/>
        </p:nvSpPr>
        <p:spPr>
          <a:xfrm>
            <a:off x="1492250" y="3916362"/>
            <a:ext cx="3007742" cy="122078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7" name="灯片编号占位符 1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A6568E1-4089-4561-919E-9D2F37D3F2B0}" type="slidenum">
              <a:rPr lang="en-US" altLang="zh-CN" smtClean="0"/>
              <a:pPr>
                <a:defRPr/>
              </a:pPr>
              <a:t>50</a:t>
            </a:fld>
            <a:endParaRPr lang="en-US" altLang="zh-CN" dirty="0"/>
          </a:p>
        </p:txBody>
      </p:sp>
      <p:sp>
        <p:nvSpPr>
          <p:cNvPr id="18" name="标题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zh-CN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(4) “</a:t>
            </a:r>
            <a:r>
              <a:rPr lang="zh-CN" altLang="zh-CN" dirty="0">
                <a:solidFill>
                  <a:srgbClr val="F8F8F8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自然</a:t>
            </a:r>
            <a:r>
              <a:rPr lang="zh-CN" altLang="zh-CN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连接</a:t>
            </a:r>
            <a:r>
              <a:rPr lang="zh-CN" altLang="zh-CN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r>
              <a:rPr lang="zh-CN" altLang="zh-CN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操作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2071688" y="1363663"/>
            <a:ext cx="1219200" cy="936625"/>
          </a:xfrm>
          <a:custGeom>
            <a:avLst/>
            <a:gdLst/>
            <a:ahLst/>
            <a:cxnLst/>
            <a:rect l="l" t="t" r="r" b="b"/>
            <a:pathLst>
              <a:path w="1426210" h="1096010">
                <a:moveTo>
                  <a:pt x="1425702" y="547877"/>
                </a:moveTo>
                <a:lnTo>
                  <a:pt x="1423750" y="506998"/>
                </a:lnTo>
                <a:lnTo>
                  <a:pt x="1417987" y="466932"/>
                </a:lnTo>
                <a:lnTo>
                  <a:pt x="1408549" y="427787"/>
                </a:lnTo>
                <a:lnTo>
                  <a:pt x="1395574" y="389669"/>
                </a:lnTo>
                <a:lnTo>
                  <a:pt x="1379198" y="352683"/>
                </a:lnTo>
                <a:lnTo>
                  <a:pt x="1359559" y="316937"/>
                </a:lnTo>
                <a:lnTo>
                  <a:pt x="1336792" y="282535"/>
                </a:lnTo>
                <a:lnTo>
                  <a:pt x="1311036" y="249583"/>
                </a:lnTo>
                <a:lnTo>
                  <a:pt x="1282427" y="218189"/>
                </a:lnTo>
                <a:lnTo>
                  <a:pt x="1251103" y="188458"/>
                </a:lnTo>
                <a:lnTo>
                  <a:pt x="1217199" y="160496"/>
                </a:lnTo>
                <a:lnTo>
                  <a:pt x="1180854" y="134409"/>
                </a:lnTo>
                <a:lnTo>
                  <a:pt x="1142204" y="110303"/>
                </a:lnTo>
                <a:lnTo>
                  <a:pt x="1101385" y="88284"/>
                </a:lnTo>
                <a:lnTo>
                  <a:pt x="1058536" y="68458"/>
                </a:lnTo>
                <a:lnTo>
                  <a:pt x="1013793" y="50932"/>
                </a:lnTo>
                <a:lnTo>
                  <a:pt x="967293" y="35811"/>
                </a:lnTo>
                <a:lnTo>
                  <a:pt x="919173" y="23202"/>
                </a:lnTo>
                <a:lnTo>
                  <a:pt x="869570" y="13210"/>
                </a:lnTo>
                <a:lnTo>
                  <a:pt x="818621" y="5941"/>
                </a:lnTo>
                <a:lnTo>
                  <a:pt x="766462" y="1503"/>
                </a:lnTo>
                <a:lnTo>
                  <a:pt x="713232" y="0"/>
                </a:lnTo>
                <a:lnTo>
                  <a:pt x="659856" y="1515"/>
                </a:lnTo>
                <a:lnTo>
                  <a:pt x="607816" y="5943"/>
                </a:lnTo>
                <a:lnTo>
                  <a:pt x="556855" y="13210"/>
                </a:lnTo>
                <a:lnTo>
                  <a:pt x="507224" y="23202"/>
                </a:lnTo>
                <a:lnTo>
                  <a:pt x="459070" y="35811"/>
                </a:lnTo>
                <a:lnTo>
                  <a:pt x="412531" y="50932"/>
                </a:lnTo>
                <a:lnTo>
                  <a:pt x="367744" y="68458"/>
                </a:lnTo>
                <a:lnTo>
                  <a:pt x="324849" y="88284"/>
                </a:lnTo>
                <a:lnTo>
                  <a:pt x="283981" y="110303"/>
                </a:lnTo>
                <a:lnTo>
                  <a:pt x="245280" y="134409"/>
                </a:lnTo>
                <a:lnTo>
                  <a:pt x="208883" y="160496"/>
                </a:lnTo>
                <a:lnTo>
                  <a:pt x="174927" y="188458"/>
                </a:lnTo>
                <a:lnTo>
                  <a:pt x="143552" y="218189"/>
                </a:lnTo>
                <a:lnTo>
                  <a:pt x="114894" y="249583"/>
                </a:lnTo>
                <a:lnTo>
                  <a:pt x="89091" y="282535"/>
                </a:lnTo>
                <a:lnTo>
                  <a:pt x="66281" y="316937"/>
                </a:lnTo>
                <a:lnTo>
                  <a:pt x="46603" y="352683"/>
                </a:lnTo>
                <a:lnTo>
                  <a:pt x="30193" y="389669"/>
                </a:lnTo>
                <a:lnTo>
                  <a:pt x="17190" y="427787"/>
                </a:lnTo>
                <a:lnTo>
                  <a:pt x="7732" y="466932"/>
                </a:lnTo>
                <a:lnTo>
                  <a:pt x="1956" y="506998"/>
                </a:lnTo>
                <a:lnTo>
                  <a:pt x="0" y="547877"/>
                </a:lnTo>
                <a:lnTo>
                  <a:pt x="1956" y="588757"/>
                </a:lnTo>
                <a:lnTo>
                  <a:pt x="7732" y="628823"/>
                </a:lnTo>
                <a:lnTo>
                  <a:pt x="17190" y="667968"/>
                </a:lnTo>
                <a:lnTo>
                  <a:pt x="30193" y="706086"/>
                </a:lnTo>
                <a:lnTo>
                  <a:pt x="46603" y="743072"/>
                </a:lnTo>
                <a:lnTo>
                  <a:pt x="66281" y="778818"/>
                </a:lnTo>
                <a:lnTo>
                  <a:pt x="89091" y="813220"/>
                </a:lnTo>
                <a:lnTo>
                  <a:pt x="114894" y="846172"/>
                </a:lnTo>
                <a:lnTo>
                  <a:pt x="126492" y="858877"/>
                </a:lnTo>
                <a:lnTo>
                  <a:pt x="126492" y="547877"/>
                </a:lnTo>
                <a:lnTo>
                  <a:pt x="128891" y="506933"/>
                </a:lnTo>
                <a:lnTo>
                  <a:pt x="135951" y="467008"/>
                </a:lnTo>
                <a:lnTo>
                  <a:pt x="147464" y="428265"/>
                </a:lnTo>
                <a:lnTo>
                  <a:pt x="163222" y="390862"/>
                </a:lnTo>
                <a:lnTo>
                  <a:pt x="183018" y="354959"/>
                </a:lnTo>
                <a:lnTo>
                  <a:pt x="206643" y="320717"/>
                </a:lnTo>
                <a:lnTo>
                  <a:pt x="233889" y="288295"/>
                </a:lnTo>
                <a:lnTo>
                  <a:pt x="264550" y="257853"/>
                </a:lnTo>
                <a:lnTo>
                  <a:pt x="298418" y="229552"/>
                </a:lnTo>
                <a:lnTo>
                  <a:pt x="335284" y="203551"/>
                </a:lnTo>
                <a:lnTo>
                  <a:pt x="374940" y="180009"/>
                </a:lnTo>
                <a:lnTo>
                  <a:pt x="417180" y="159088"/>
                </a:lnTo>
                <a:lnTo>
                  <a:pt x="461796" y="140947"/>
                </a:lnTo>
                <a:lnTo>
                  <a:pt x="508579" y="125745"/>
                </a:lnTo>
                <a:lnTo>
                  <a:pt x="557321" y="113643"/>
                </a:lnTo>
                <a:lnTo>
                  <a:pt x="607825" y="104800"/>
                </a:lnTo>
                <a:lnTo>
                  <a:pt x="659996" y="99374"/>
                </a:lnTo>
                <a:lnTo>
                  <a:pt x="713232" y="97535"/>
                </a:lnTo>
                <a:lnTo>
                  <a:pt x="766607" y="99379"/>
                </a:lnTo>
                <a:lnTo>
                  <a:pt x="818647" y="104801"/>
                </a:lnTo>
                <a:lnTo>
                  <a:pt x="869142" y="113643"/>
                </a:lnTo>
                <a:lnTo>
                  <a:pt x="917884" y="125745"/>
                </a:lnTo>
                <a:lnTo>
                  <a:pt x="964667" y="140947"/>
                </a:lnTo>
                <a:lnTo>
                  <a:pt x="1009283" y="159088"/>
                </a:lnTo>
                <a:lnTo>
                  <a:pt x="1051523" y="180009"/>
                </a:lnTo>
                <a:lnTo>
                  <a:pt x="1091179" y="203551"/>
                </a:lnTo>
                <a:lnTo>
                  <a:pt x="1128045" y="229552"/>
                </a:lnTo>
                <a:lnTo>
                  <a:pt x="1161913" y="257853"/>
                </a:lnTo>
                <a:lnTo>
                  <a:pt x="1192574" y="288295"/>
                </a:lnTo>
                <a:lnTo>
                  <a:pt x="1219820" y="320717"/>
                </a:lnTo>
                <a:lnTo>
                  <a:pt x="1243445" y="354959"/>
                </a:lnTo>
                <a:lnTo>
                  <a:pt x="1263241" y="390862"/>
                </a:lnTo>
                <a:lnTo>
                  <a:pt x="1278999" y="428265"/>
                </a:lnTo>
                <a:lnTo>
                  <a:pt x="1290512" y="467008"/>
                </a:lnTo>
                <a:lnTo>
                  <a:pt x="1297572" y="506933"/>
                </a:lnTo>
                <a:lnTo>
                  <a:pt x="1299972" y="547877"/>
                </a:lnTo>
                <a:lnTo>
                  <a:pt x="1299972" y="858314"/>
                </a:lnTo>
                <a:lnTo>
                  <a:pt x="1311036" y="846172"/>
                </a:lnTo>
                <a:lnTo>
                  <a:pt x="1336792" y="813220"/>
                </a:lnTo>
                <a:lnTo>
                  <a:pt x="1359559" y="778818"/>
                </a:lnTo>
                <a:lnTo>
                  <a:pt x="1379198" y="743072"/>
                </a:lnTo>
                <a:lnTo>
                  <a:pt x="1395574" y="706086"/>
                </a:lnTo>
                <a:lnTo>
                  <a:pt x="1408549" y="667968"/>
                </a:lnTo>
                <a:lnTo>
                  <a:pt x="1417987" y="628823"/>
                </a:lnTo>
                <a:lnTo>
                  <a:pt x="1423750" y="588757"/>
                </a:lnTo>
                <a:lnTo>
                  <a:pt x="1425702" y="547877"/>
                </a:lnTo>
                <a:close/>
              </a:path>
              <a:path w="1426210" h="1096010">
                <a:moveTo>
                  <a:pt x="1299972" y="858314"/>
                </a:moveTo>
                <a:lnTo>
                  <a:pt x="1299972" y="547877"/>
                </a:lnTo>
                <a:lnTo>
                  <a:pt x="1297572" y="588943"/>
                </a:lnTo>
                <a:lnTo>
                  <a:pt x="1290512" y="628974"/>
                </a:lnTo>
                <a:lnTo>
                  <a:pt x="1278999" y="667811"/>
                </a:lnTo>
                <a:lnTo>
                  <a:pt x="1263241" y="705297"/>
                </a:lnTo>
                <a:lnTo>
                  <a:pt x="1243445" y="741271"/>
                </a:lnTo>
                <a:lnTo>
                  <a:pt x="1219820" y="775574"/>
                </a:lnTo>
                <a:lnTo>
                  <a:pt x="1192574" y="808048"/>
                </a:lnTo>
                <a:lnTo>
                  <a:pt x="1161913" y="838533"/>
                </a:lnTo>
                <a:lnTo>
                  <a:pt x="1128045" y="866870"/>
                </a:lnTo>
                <a:lnTo>
                  <a:pt x="1091179" y="892899"/>
                </a:lnTo>
                <a:lnTo>
                  <a:pt x="1051523" y="916463"/>
                </a:lnTo>
                <a:lnTo>
                  <a:pt x="1009283" y="937401"/>
                </a:lnTo>
                <a:lnTo>
                  <a:pt x="964667" y="955554"/>
                </a:lnTo>
                <a:lnTo>
                  <a:pt x="917884" y="970763"/>
                </a:lnTo>
                <a:lnTo>
                  <a:pt x="869142" y="982870"/>
                </a:lnTo>
                <a:lnTo>
                  <a:pt x="818621" y="991718"/>
                </a:lnTo>
                <a:lnTo>
                  <a:pt x="766462" y="997143"/>
                </a:lnTo>
                <a:lnTo>
                  <a:pt x="713232" y="998982"/>
                </a:lnTo>
                <a:lnTo>
                  <a:pt x="659856" y="997138"/>
                </a:lnTo>
                <a:lnTo>
                  <a:pt x="607816" y="991715"/>
                </a:lnTo>
                <a:lnTo>
                  <a:pt x="557321" y="982870"/>
                </a:lnTo>
                <a:lnTo>
                  <a:pt x="508579" y="970763"/>
                </a:lnTo>
                <a:lnTo>
                  <a:pt x="461796" y="955554"/>
                </a:lnTo>
                <a:lnTo>
                  <a:pt x="417180" y="937401"/>
                </a:lnTo>
                <a:lnTo>
                  <a:pt x="374940" y="916463"/>
                </a:lnTo>
                <a:lnTo>
                  <a:pt x="335284" y="892899"/>
                </a:lnTo>
                <a:lnTo>
                  <a:pt x="298418" y="866870"/>
                </a:lnTo>
                <a:lnTo>
                  <a:pt x="264550" y="838533"/>
                </a:lnTo>
                <a:lnTo>
                  <a:pt x="233889" y="808048"/>
                </a:lnTo>
                <a:lnTo>
                  <a:pt x="206643" y="775574"/>
                </a:lnTo>
                <a:lnTo>
                  <a:pt x="183018" y="741271"/>
                </a:lnTo>
                <a:lnTo>
                  <a:pt x="163222" y="705297"/>
                </a:lnTo>
                <a:lnTo>
                  <a:pt x="147464" y="667811"/>
                </a:lnTo>
                <a:lnTo>
                  <a:pt x="135951" y="628974"/>
                </a:lnTo>
                <a:lnTo>
                  <a:pt x="128891" y="588943"/>
                </a:lnTo>
                <a:lnTo>
                  <a:pt x="126492" y="547877"/>
                </a:lnTo>
                <a:lnTo>
                  <a:pt x="126492" y="858877"/>
                </a:lnTo>
                <a:lnTo>
                  <a:pt x="174927" y="907297"/>
                </a:lnTo>
                <a:lnTo>
                  <a:pt x="208883" y="935259"/>
                </a:lnTo>
                <a:lnTo>
                  <a:pt x="245280" y="961346"/>
                </a:lnTo>
                <a:lnTo>
                  <a:pt x="283981" y="985452"/>
                </a:lnTo>
                <a:lnTo>
                  <a:pt x="324849" y="1007471"/>
                </a:lnTo>
                <a:lnTo>
                  <a:pt x="367744" y="1027297"/>
                </a:lnTo>
                <a:lnTo>
                  <a:pt x="412531" y="1044823"/>
                </a:lnTo>
                <a:lnTo>
                  <a:pt x="459070" y="1059944"/>
                </a:lnTo>
                <a:lnTo>
                  <a:pt x="507224" y="1072553"/>
                </a:lnTo>
                <a:lnTo>
                  <a:pt x="556855" y="1082545"/>
                </a:lnTo>
                <a:lnTo>
                  <a:pt x="607825" y="1089814"/>
                </a:lnTo>
                <a:lnTo>
                  <a:pt x="659996" y="1094252"/>
                </a:lnTo>
                <a:lnTo>
                  <a:pt x="713232" y="1095755"/>
                </a:lnTo>
                <a:lnTo>
                  <a:pt x="766607" y="1094240"/>
                </a:lnTo>
                <a:lnTo>
                  <a:pt x="818647" y="1089810"/>
                </a:lnTo>
                <a:lnTo>
                  <a:pt x="869570" y="1082545"/>
                </a:lnTo>
                <a:lnTo>
                  <a:pt x="919173" y="1072553"/>
                </a:lnTo>
                <a:lnTo>
                  <a:pt x="967293" y="1059944"/>
                </a:lnTo>
                <a:lnTo>
                  <a:pt x="1013793" y="1044823"/>
                </a:lnTo>
                <a:lnTo>
                  <a:pt x="1058536" y="1027297"/>
                </a:lnTo>
                <a:lnTo>
                  <a:pt x="1101385" y="1007471"/>
                </a:lnTo>
                <a:lnTo>
                  <a:pt x="1142204" y="985452"/>
                </a:lnTo>
                <a:lnTo>
                  <a:pt x="1180854" y="961346"/>
                </a:lnTo>
                <a:lnTo>
                  <a:pt x="1217199" y="935259"/>
                </a:lnTo>
                <a:lnTo>
                  <a:pt x="1251103" y="907297"/>
                </a:lnTo>
                <a:lnTo>
                  <a:pt x="1282427" y="877566"/>
                </a:lnTo>
                <a:lnTo>
                  <a:pt x="1299972" y="858314"/>
                </a:lnTo>
                <a:close/>
              </a:path>
            </a:pathLst>
          </a:custGeom>
          <a:solidFill>
            <a:srgbClr val="B90000"/>
          </a:solid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6" name="object 6"/>
          <p:cNvSpPr/>
          <p:nvPr/>
        </p:nvSpPr>
        <p:spPr>
          <a:xfrm>
            <a:off x="2171700" y="1439863"/>
            <a:ext cx="1019175" cy="784225"/>
          </a:xfrm>
          <a:custGeom>
            <a:avLst/>
            <a:gdLst/>
            <a:ahLst/>
            <a:cxnLst/>
            <a:rect l="l" t="t" r="r" b="b"/>
            <a:pathLst>
              <a:path w="1190625" h="916305">
                <a:moveTo>
                  <a:pt x="1190243" y="457962"/>
                </a:moveTo>
                <a:lnTo>
                  <a:pt x="1187809" y="416269"/>
                </a:lnTo>
                <a:lnTo>
                  <a:pt x="1180647" y="375627"/>
                </a:lnTo>
                <a:lnTo>
                  <a:pt x="1168967" y="336197"/>
                </a:lnTo>
                <a:lnTo>
                  <a:pt x="1152982" y="298140"/>
                </a:lnTo>
                <a:lnTo>
                  <a:pt x="1132901" y="261618"/>
                </a:lnTo>
                <a:lnTo>
                  <a:pt x="1108935" y="226793"/>
                </a:lnTo>
                <a:lnTo>
                  <a:pt x="1081296" y="193826"/>
                </a:lnTo>
                <a:lnTo>
                  <a:pt x="1050194" y="162878"/>
                </a:lnTo>
                <a:lnTo>
                  <a:pt x="1015841" y="134112"/>
                </a:lnTo>
                <a:lnTo>
                  <a:pt x="978446" y="107687"/>
                </a:lnTo>
                <a:lnTo>
                  <a:pt x="938222" y="83767"/>
                </a:lnTo>
                <a:lnTo>
                  <a:pt x="895378" y="62512"/>
                </a:lnTo>
                <a:lnTo>
                  <a:pt x="850126" y="44084"/>
                </a:lnTo>
                <a:lnTo>
                  <a:pt x="802676" y="28644"/>
                </a:lnTo>
                <a:lnTo>
                  <a:pt x="753240" y="16354"/>
                </a:lnTo>
                <a:lnTo>
                  <a:pt x="702028" y="7376"/>
                </a:lnTo>
                <a:lnTo>
                  <a:pt x="649252" y="1871"/>
                </a:lnTo>
                <a:lnTo>
                  <a:pt x="595121" y="0"/>
                </a:lnTo>
                <a:lnTo>
                  <a:pt x="540878" y="1871"/>
                </a:lnTo>
                <a:lnTo>
                  <a:pt x="488014" y="7376"/>
                </a:lnTo>
                <a:lnTo>
                  <a:pt x="436738" y="16354"/>
                </a:lnTo>
                <a:lnTo>
                  <a:pt x="387260" y="28644"/>
                </a:lnTo>
                <a:lnTo>
                  <a:pt x="339786" y="44084"/>
                </a:lnTo>
                <a:lnTo>
                  <a:pt x="294527" y="62512"/>
                </a:lnTo>
                <a:lnTo>
                  <a:pt x="251689" y="83767"/>
                </a:lnTo>
                <a:lnTo>
                  <a:pt x="211483" y="107687"/>
                </a:lnTo>
                <a:lnTo>
                  <a:pt x="174116" y="134112"/>
                </a:lnTo>
                <a:lnTo>
                  <a:pt x="139798" y="162878"/>
                </a:lnTo>
                <a:lnTo>
                  <a:pt x="108736" y="193826"/>
                </a:lnTo>
                <a:lnTo>
                  <a:pt x="81138" y="226793"/>
                </a:lnTo>
                <a:lnTo>
                  <a:pt x="57215" y="261618"/>
                </a:lnTo>
                <a:lnTo>
                  <a:pt x="37173" y="298140"/>
                </a:lnTo>
                <a:lnTo>
                  <a:pt x="21223" y="336197"/>
                </a:lnTo>
                <a:lnTo>
                  <a:pt x="9571" y="375627"/>
                </a:lnTo>
                <a:lnTo>
                  <a:pt x="2427" y="416269"/>
                </a:lnTo>
                <a:lnTo>
                  <a:pt x="0" y="457962"/>
                </a:lnTo>
                <a:lnTo>
                  <a:pt x="2427" y="499654"/>
                </a:lnTo>
                <a:lnTo>
                  <a:pt x="9571" y="540296"/>
                </a:lnTo>
                <a:lnTo>
                  <a:pt x="21223" y="579726"/>
                </a:lnTo>
                <a:lnTo>
                  <a:pt x="37173" y="617783"/>
                </a:lnTo>
                <a:lnTo>
                  <a:pt x="57215" y="654305"/>
                </a:lnTo>
                <a:lnTo>
                  <a:pt x="81138" y="689130"/>
                </a:lnTo>
                <a:lnTo>
                  <a:pt x="108736" y="722097"/>
                </a:lnTo>
                <a:lnTo>
                  <a:pt x="139798" y="753045"/>
                </a:lnTo>
                <a:lnTo>
                  <a:pt x="174116" y="781812"/>
                </a:lnTo>
                <a:lnTo>
                  <a:pt x="211483" y="808236"/>
                </a:lnTo>
                <a:lnTo>
                  <a:pt x="251689" y="832156"/>
                </a:lnTo>
                <a:lnTo>
                  <a:pt x="294527" y="853411"/>
                </a:lnTo>
                <a:lnTo>
                  <a:pt x="339786" y="871839"/>
                </a:lnTo>
                <a:lnTo>
                  <a:pt x="387260" y="887279"/>
                </a:lnTo>
                <a:lnTo>
                  <a:pt x="436738" y="899569"/>
                </a:lnTo>
                <a:lnTo>
                  <a:pt x="488014" y="908547"/>
                </a:lnTo>
                <a:lnTo>
                  <a:pt x="540878" y="914052"/>
                </a:lnTo>
                <a:lnTo>
                  <a:pt x="595121" y="915924"/>
                </a:lnTo>
                <a:lnTo>
                  <a:pt x="649252" y="914052"/>
                </a:lnTo>
                <a:lnTo>
                  <a:pt x="702028" y="908547"/>
                </a:lnTo>
                <a:lnTo>
                  <a:pt x="753240" y="899569"/>
                </a:lnTo>
                <a:lnTo>
                  <a:pt x="802676" y="887279"/>
                </a:lnTo>
                <a:lnTo>
                  <a:pt x="850126" y="871839"/>
                </a:lnTo>
                <a:lnTo>
                  <a:pt x="895378" y="853411"/>
                </a:lnTo>
                <a:lnTo>
                  <a:pt x="938222" y="832156"/>
                </a:lnTo>
                <a:lnTo>
                  <a:pt x="978446" y="808236"/>
                </a:lnTo>
                <a:lnTo>
                  <a:pt x="1015841" y="781812"/>
                </a:lnTo>
                <a:lnTo>
                  <a:pt x="1050194" y="753045"/>
                </a:lnTo>
                <a:lnTo>
                  <a:pt x="1081296" y="722097"/>
                </a:lnTo>
                <a:lnTo>
                  <a:pt x="1108935" y="689130"/>
                </a:lnTo>
                <a:lnTo>
                  <a:pt x="1132901" y="654305"/>
                </a:lnTo>
                <a:lnTo>
                  <a:pt x="1152982" y="617783"/>
                </a:lnTo>
                <a:lnTo>
                  <a:pt x="1168967" y="579726"/>
                </a:lnTo>
                <a:lnTo>
                  <a:pt x="1180647" y="540296"/>
                </a:lnTo>
                <a:lnTo>
                  <a:pt x="1187809" y="499654"/>
                </a:lnTo>
                <a:lnTo>
                  <a:pt x="1190243" y="457962"/>
                </a:lnTo>
                <a:close/>
              </a:path>
            </a:pathLst>
          </a:custGeom>
          <a:solidFill>
            <a:srgbClr val="FFFF66"/>
          </a:solid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7" name="object 7"/>
          <p:cNvSpPr/>
          <p:nvPr/>
        </p:nvSpPr>
        <p:spPr>
          <a:xfrm>
            <a:off x="2171700" y="1439863"/>
            <a:ext cx="1019175" cy="784225"/>
          </a:xfrm>
          <a:custGeom>
            <a:avLst/>
            <a:gdLst/>
            <a:ahLst/>
            <a:cxnLst/>
            <a:rect l="l" t="t" r="r" b="b"/>
            <a:pathLst>
              <a:path w="1190625" h="916305">
                <a:moveTo>
                  <a:pt x="595121" y="0"/>
                </a:moveTo>
                <a:lnTo>
                  <a:pt x="540878" y="1871"/>
                </a:lnTo>
                <a:lnTo>
                  <a:pt x="488014" y="7376"/>
                </a:lnTo>
                <a:lnTo>
                  <a:pt x="436738" y="16354"/>
                </a:lnTo>
                <a:lnTo>
                  <a:pt x="387260" y="28644"/>
                </a:lnTo>
                <a:lnTo>
                  <a:pt x="339786" y="44084"/>
                </a:lnTo>
                <a:lnTo>
                  <a:pt x="294527" y="62512"/>
                </a:lnTo>
                <a:lnTo>
                  <a:pt x="251689" y="83767"/>
                </a:lnTo>
                <a:lnTo>
                  <a:pt x="211483" y="107687"/>
                </a:lnTo>
                <a:lnTo>
                  <a:pt x="174116" y="134112"/>
                </a:lnTo>
                <a:lnTo>
                  <a:pt x="139798" y="162878"/>
                </a:lnTo>
                <a:lnTo>
                  <a:pt x="108736" y="193826"/>
                </a:lnTo>
                <a:lnTo>
                  <a:pt x="81138" y="226793"/>
                </a:lnTo>
                <a:lnTo>
                  <a:pt x="57215" y="261618"/>
                </a:lnTo>
                <a:lnTo>
                  <a:pt x="37173" y="298140"/>
                </a:lnTo>
                <a:lnTo>
                  <a:pt x="21223" y="336197"/>
                </a:lnTo>
                <a:lnTo>
                  <a:pt x="9571" y="375627"/>
                </a:lnTo>
                <a:lnTo>
                  <a:pt x="2427" y="416269"/>
                </a:lnTo>
                <a:lnTo>
                  <a:pt x="0" y="457962"/>
                </a:lnTo>
                <a:lnTo>
                  <a:pt x="2427" y="499654"/>
                </a:lnTo>
                <a:lnTo>
                  <a:pt x="9571" y="540296"/>
                </a:lnTo>
                <a:lnTo>
                  <a:pt x="21223" y="579726"/>
                </a:lnTo>
                <a:lnTo>
                  <a:pt x="37173" y="617783"/>
                </a:lnTo>
                <a:lnTo>
                  <a:pt x="57215" y="654305"/>
                </a:lnTo>
                <a:lnTo>
                  <a:pt x="81138" y="689130"/>
                </a:lnTo>
                <a:lnTo>
                  <a:pt x="108736" y="722097"/>
                </a:lnTo>
                <a:lnTo>
                  <a:pt x="139798" y="753045"/>
                </a:lnTo>
                <a:lnTo>
                  <a:pt x="174116" y="781812"/>
                </a:lnTo>
                <a:lnTo>
                  <a:pt x="211483" y="808236"/>
                </a:lnTo>
                <a:lnTo>
                  <a:pt x="251689" y="832156"/>
                </a:lnTo>
                <a:lnTo>
                  <a:pt x="294527" y="853411"/>
                </a:lnTo>
                <a:lnTo>
                  <a:pt x="339786" y="871839"/>
                </a:lnTo>
                <a:lnTo>
                  <a:pt x="387260" y="887279"/>
                </a:lnTo>
                <a:lnTo>
                  <a:pt x="436738" y="899569"/>
                </a:lnTo>
                <a:lnTo>
                  <a:pt x="488014" y="908547"/>
                </a:lnTo>
                <a:lnTo>
                  <a:pt x="540878" y="914052"/>
                </a:lnTo>
                <a:lnTo>
                  <a:pt x="595121" y="915924"/>
                </a:lnTo>
                <a:lnTo>
                  <a:pt x="649252" y="914052"/>
                </a:lnTo>
                <a:lnTo>
                  <a:pt x="702028" y="908547"/>
                </a:lnTo>
                <a:lnTo>
                  <a:pt x="753240" y="899569"/>
                </a:lnTo>
                <a:lnTo>
                  <a:pt x="802676" y="887279"/>
                </a:lnTo>
                <a:lnTo>
                  <a:pt x="850126" y="871839"/>
                </a:lnTo>
                <a:lnTo>
                  <a:pt x="895378" y="853411"/>
                </a:lnTo>
                <a:lnTo>
                  <a:pt x="938222" y="832156"/>
                </a:lnTo>
                <a:lnTo>
                  <a:pt x="978446" y="808236"/>
                </a:lnTo>
                <a:lnTo>
                  <a:pt x="1015841" y="781812"/>
                </a:lnTo>
                <a:lnTo>
                  <a:pt x="1050194" y="753045"/>
                </a:lnTo>
                <a:lnTo>
                  <a:pt x="1081296" y="722097"/>
                </a:lnTo>
                <a:lnTo>
                  <a:pt x="1108935" y="689130"/>
                </a:lnTo>
                <a:lnTo>
                  <a:pt x="1132901" y="654305"/>
                </a:lnTo>
                <a:lnTo>
                  <a:pt x="1152982" y="617783"/>
                </a:lnTo>
                <a:lnTo>
                  <a:pt x="1168967" y="579726"/>
                </a:lnTo>
                <a:lnTo>
                  <a:pt x="1180647" y="540296"/>
                </a:lnTo>
                <a:lnTo>
                  <a:pt x="1187809" y="499654"/>
                </a:lnTo>
                <a:lnTo>
                  <a:pt x="1190243" y="457962"/>
                </a:lnTo>
                <a:lnTo>
                  <a:pt x="1187809" y="416269"/>
                </a:lnTo>
                <a:lnTo>
                  <a:pt x="1180647" y="375627"/>
                </a:lnTo>
                <a:lnTo>
                  <a:pt x="1168967" y="336197"/>
                </a:lnTo>
                <a:lnTo>
                  <a:pt x="1152982" y="298140"/>
                </a:lnTo>
                <a:lnTo>
                  <a:pt x="1132901" y="261618"/>
                </a:lnTo>
                <a:lnTo>
                  <a:pt x="1108935" y="226793"/>
                </a:lnTo>
                <a:lnTo>
                  <a:pt x="1081296" y="193826"/>
                </a:lnTo>
                <a:lnTo>
                  <a:pt x="1050194" y="162878"/>
                </a:lnTo>
                <a:lnTo>
                  <a:pt x="1015841" y="134112"/>
                </a:lnTo>
                <a:lnTo>
                  <a:pt x="978446" y="107687"/>
                </a:lnTo>
                <a:lnTo>
                  <a:pt x="938222" y="83767"/>
                </a:lnTo>
                <a:lnTo>
                  <a:pt x="895378" y="62512"/>
                </a:lnTo>
                <a:lnTo>
                  <a:pt x="850126" y="44084"/>
                </a:lnTo>
                <a:lnTo>
                  <a:pt x="802676" y="28644"/>
                </a:lnTo>
                <a:lnTo>
                  <a:pt x="753240" y="16354"/>
                </a:lnTo>
                <a:lnTo>
                  <a:pt x="702028" y="7376"/>
                </a:lnTo>
                <a:lnTo>
                  <a:pt x="649252" y="1871"/>
                </a:lnTo>
                <a:lnTo>
                  <a:pt x="595121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8" name="object 8"/>
          <p:cNvSpPr txBox="1"/>
          <p:nvPr/>
        </p:nvSpPr>
        <p:spPr>
          <a:xfrm>
            <a:off x="2365375" y="1446213"/>
            <a:ext cx="630238" cy="747712"/>
          </a:xfrm>
          <a:prstGeom prst="rect">
            <a:avLst/>
          </a:prstGeom>
        </p:spPr>
        <p:txBody>
          <a:bodyPr lIns="0" tIns="10860" rIns="0" bIns="0">
            <a:spAutoFit/>
          </a:bodyPr>
          <a:lstStyle>
            <a:lvl1pPr marL="952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88"/>
              </a:spcBef>
            </a:pPr>
            <a:r>
              <a:rPr lang="zh-CN" altLang="zh-CN" sz="2300" b="1">
                <a:solidFill>
                  <a:srgbClr val="3333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关系 代数</a:t>
            </a:r>
            <a:endParaRPr lang="zh-CN" altLang="zh-CN" sz="230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166813" y="2627313"/>
            <a:ext cx="3032125" cy="153828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0" name="object 10"/>
          <p:cNvSpPr/>
          <p:nvPr/>
        </p:nvSpPr>
        <p:spPr>
          <a:xfrm>
            <a:off x="1770063" y="2292350"/>
            <a:ext cx="1741487" cy="276225"/>
          </a:xfrm>
          <a:custGeom>
            <a:avLst/>
            <a:gdLst/>
            <a:ahLst/>
            <a:cxnLst/>
            <a:rect l="l" t="t" r="r" b="b"/>
            <a:pathLst>
              <a:path w="2035810" h="323850">
                <a:moveTo>
                  <a:pt x="2035302" y="323850"/>
                </a:moveTo>
                <a:lnTo>
                  <a:pt x="2029223" y="280927"/>
                </a:lnTo>
                <a:lnTo>
                  <a:pt x="2012075" y="242344"/>
                </a:lnTo>
                <a:lnTo>
                  <a:pt x="1985486" y="209645"/>
                </a:lnTo>
                <a:lnTo>
                  <a:pt x="1951086" y="184375"/>
                </a:lnTo>
                <a:lnTo>
                  <a:pt x="1910506" y="168080"/>
                </a:lnTo>
                <a:lnTo>
                  <a:pt x="1865376" y="162306"/>
                </a:lnTo>
                <a:lnTo>
                  <a:pt x="1229867" y="162306"/>
                </a:lnTo>
                <a:lnTo>
                  <a:pt x="1184793" y="156527"/>
                </a:lnTo>
                <a:lnTo>
                  <a:pt x="1144354" y="140208"/>
                </a:lnTo>
                <a:lnTo>
                  <a:pt x="1110138" y="114871"/>
                </a:lnTo>
                <a:lnTo>
                  <a:pt x="1083733" y="82042"/>
                </a:lnTo>
                <a:lnTo>
                  <a:pt x="1066725" y="43243"/>
                </a:lnTo>
                <a:lnTo>
                  <a:pt x="1060704" y="0"/>
                </a:lnTo>
                <a:lnTo>
                  <a:pt x="1054625" y="43243"/>
                </a:lnTo>
                <a:lnTo>
                  <a:pt x="1037477" y="82042"/>
                </a:lnTo>
                <a:lnTo>
                  <a:pt x="1010888" y="114871"/>
                </a:lnTo>
                <a:lnTo>
                  <a:pt x="976488" y="140208"/>
                </a:lnTo>
                <a:lnTo>
                  <a:pt x="935908" y="156527"/>
                </a:lnTo>
                <a:lnTo>
                  <a:pt x="890777" y="162306"/>
                </a:lnTo>
                <a:lnTo>
                  <a:pt x="169925" y="162306"/>
                </a:lnTo>
                <a:lnTo>
                  <a:pt x="124795" y="168080"/>
                </a:lnTo>
                <a:lnTo>
                  <a:pt x="84215" y="184375"/>
                </a:lnTo>
                <a:lnTo>
                  <a:pt x="49815" y="209645"/>
                </a:lnTo>
                <a:lnTo>
                  <a:pt x="23226" y="242344"/>
                </a:lnTo>
                <a:lnTo>
                  <a:pt x="6078" y="280927"/>
                </a:lnTo>
                <a:lnTo>
                  <a:pt x="0" y="323850"/>
                </a:lnTo>
              </a:path>
            </a:pathLst>
          </a:custGeom>
          <a:ln w="57150">
            <a:solidFill>
              <a:srgbClr val="000000"/>
            </a:solidFill>
          </a:ln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1" name="object 11"/>
          <p:cNvSpPr txBox="1"/>
          <p:nvPr/>
        </p:nvSpPr>
        <p:spPr>
          <a:xfrm>
            <a:off x="1315664" y="2837192"/>
            <a:ext cx="2679700" cy="379413"/>
          </a:xfrm>
          <a:prstGeom prst="rect">
            <a:avLst/>
          </a:prstGeom>
        </p:spPr>
        <p:txBody>
          <a:bodyPr lIns="0" tIns="10860" rIns="0" bIns="0">
            <a:spAutoFit/>
          </a:bodyPr>
          <a:lstStyle>
            <a:lvl1pPr marL="9525">
              <a:tabLst>
                <a:tab pos="1019175" algn="l"/>
                <a:tab pos="2060575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tabLst>
                <a:tab pos="1019175" algn="l"/>
                <a:tab pos="2060575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tabLst>
                <a:tab pos="1019175" algn="l"/>
                <a:tab pos="2060575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tabLst>
                <a:tab pos="1019175" algn="l"/>
                <a:tab pos="2060575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tabLst>
                <a:tab pos="1019175" algn="l"/>
                <a:tab pos="2060575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19175" algn="l"/>
                <a:tab pos="2060575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19175" algn="l"/>
                <a:tab pos="2060575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19175" algn="l"/>
                <a:tab pos="2060575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19175" algn="l"/>
                <a:tab pos="2060575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88"/>
              </a:spcBef>
            </a:pPr>
            <a:r>
              <a:rPr lang="zh-CN" altLang="zh-CN" sz="23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zh-CN" altLang="zh-CN" sz="2300" b="1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并</a:t>
            </a:r>
            <a:r>
              <a:rPr lang="zh-CN" altLang="zh-CN" sz="23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	“</a:t>
            </a:r>
            <a:r>
              <a:rPr lang="zh-CN" altLang="zh-CN" sz="2300" b="1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差</a:t>
            </a:r>
            <a:r>
              <a:rPr lang="zh-CN" altLang="zh-CN" sz="23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	“</a:t>
            </a:r>
            <a:r>
              <a:rPr lang="zh-CN" altLang="zh-CN" sz="2300" b="1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积</a:t>
            </a:r>
            <a:r>
              <a:rPr lang="zh-CN" altLang="zh-CN" sz="23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endParaRPr lang="zh-CN" altLang="zh-CN" sz="2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653088" y="1590675"/>
            <a:ext cx="2371725" cy="15748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5" name="object 15"/>
          <p:cNvSpPr txBox="1"/>
          <p:nvPr/>
        </p:nvSpPr>
        <p:spPr>
          <a:xfrm>
            <a:off x="6831012" y="1808163"/>
            <a:ext cx="713655" cy="318194"/>
          </a:xfrm>
          <a:prstGeom prst="rect">
            <a:avLst/>
          </a:prstGeom>
        </p:spPr>
        <p:txBody>
          <a:bodyPr wrap="square" lIns="0" tIns="10317" rIns="0" bIns="0">
            <a:spAutoFit/>
          </a:bodyPr>
          <a:lstStyle>
            <a:lvl1pPr marL="952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75"/>
              </a:spcBef>
            </a:pPr>
            <a:r>
              <a:rPr lang="zh-CN" altLang="zh-CN" sz="2000" b="1" dirty="0">
                <a:solidFill>
                  <a:srgbClr val="FFFFFF"/>
                </a:solidFill>
                <a:latin typeface="Symbol" panose="05050102010706020507" pitchFamily="18" charset="2"/>
              </a:rPr>
              <a:t></a:t>
            </a:r>
            <a:r>
              <a:rPr lang="zh-CN" altLang="zh-CN" sz="2000" b="1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连接</a:t>
            </a:r>
            <a:endParaRPr lang="zh-CN" altLang="zh-CN" sz="20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304088" y="2471738"/>
            <a:ext cx="457200" cy="536575"/>
          </a:xfrm>
          <a:prstGeom prst="rect">
            <a:avLst/>
          </a:prstGeom>
        </p:spPr>
        <p:txBody>
          <a:bodyPr lIns="0" tIns="10317" rIns="0" bIns="0">
            <a:spAutoFit/>
          </a:bodyPr>
          <a:lstStyle>
            <a:lvl1pPr marL="952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75"/>
              </a:spcBef>
            </a:pPr>
            <a:r>
              <a:rPr lang="zh-CN" altLang="zh-CN" sz="1700" b="1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等值 连接</a:t>
            </a:r>
            <a:endParaRPr lang="zh-CN" altLang="zh-CN" sz="17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765035" y="1816190"/>
            <a:ext cx="969962" cy="364909"/>
          </a:xfrm>
          <a:prstGeom prst="rect">
            <a:avLst/>
          </a:prstGeom>
        </p:spPr>
        <p:txBody>
          <a:bodyPr lIns="0" tIns="10860" rIns="0" bIns="0">
            <a:spAutoFit/>
          </a:bodyPr>
          <a:lstStyle>
            <a:lvl1pPr marL="952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88"/>
              </a:spcBef>
            </a:pPr>
            <a:r>
              <a:rPr lang="zh-CN" altLang="zh-CN" sz="23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zh-CN" altLang="zh-CN" sz="2300" b="1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交</a:t>
            </a:r>
            <a:r>
              <a:rPr lang="zh-CN" altLang="zh-CN" sz="23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endParaRPr lang="zh-CN" altLang="zh-CN" sz="2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425950" y="3035300"/>
            <a:ext cx="536575" cy="439738"/>
          </a:xfrm>
          <a:custGeom>
            <a:avLst/>
            <a:gdLst/>
            <a:ahLst/>
            <a:cxnLst/>
            <a:rect l="l" t="t" r="r" b="b"/>
            <a:pathLst>
              <a:path w="628650" h="514350">
                <a:moveTo>
                  <a:pt x="471677" y="385572"/>
                </a:moveTo>
                <a:lnTo>
                  <a:pt x="471677" y="128778"/>
                </a:lnTo>
                <a:lnTo>
                  <a:pt x="0" y="128778"/>
                </a:lnTo>
                <a:lnTo>
                  <a:pt x="0" y="385572"/>
                </a:lnTo>
                <a:lnTo>
                  <a:pt x="471677" y="385572"/>
                </a:lnTo>
                <a:close/>
              </a:path>
              <a:path w="628650" h="514350">
                <a:moveTo>
                  <a:pt x="628649" y="256794"/>
                </a:moveTo>
                <a:lnTo>
                  <a:pt x="471677" y="0"/>
                </a:lnTo>
                <a:lnTo>
                  <a:pt x="471677" y="514350"/>
                </a:lnTo>
                <a:lnTo>
                  <a:pt x="628649" y="256794"/>
                </a:lnTo>
                <a:close/>
              </a:path>
            </a:pathLst>
          </a:custGeom>
          <a:solidFill>
            <a:srgbClr val="000000"/>
          </a:solid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9" name="object 19"/>
          <p:cNvSpPr/>
          <p:nvPr/>
        </p:nvSpPr>
        <p:spPr>
          <a:xfrm>
            <a:off x="4425950" y="3035300"/>
            <a:ext cx="536575" cy="439738"/>
          </a:xfrm>
          <a:custGeom>
            <a:avLst/>
            <a:gdLst/>
            <a:ahLst/>
            <a:cxnLst/>
            <a:rect l="l" t="t" r="r" b="b"/>
            <a:pathLst>
              <a:path w="628650" h="514350">
                <a:moveTo>
                  <a:pt x="471677" y="0"/>
                </a:moveTo>
                <a:lnTo>
                  <a:pt x="471677" y="128778"/>
                </a:lnTo>
                <a:lnTo>
                  <a:pt x="0" y="128778"/>
                </a:lnTo>
                <a:lnTo>
                  <a:pt x="0" y="385572"/>
                </a:lnTo>
                <a:lnTo>
                  <a:pt x="471677" y="385572"/>
                </a:lnTo>
                <a:lnTo>
                  <a:pt x="471677" y="514350"/>
                </a:lnTo>
                <a:lnTo>
                  <a:pt x="628649" y="256794"/>
                </a:lnTo>
                <a:lnTo>
                  <a:pt x="471677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20" name="object 20"/>
          <p:cNvSpPr/>
          <p:nvPr/>
        </p:nvSpPr>
        <p:spPr>
          <a:xfrm>
            <a:off x="5230813" y="1593850"/>
            <a:ext cx="306387" cy="1490663"/>
          </a:xfrm>
          <a:custGeom>
            <a:avLst/>
            <a:gdLst/>
            <a:ahLst/>
            <a:cxnLst/>
            <a:rect l="l" t="t" r="r" b="b"/>
            <a:pathLst>
              <a:path w="357504" h="1743710">
                <a:moveTo>
                  <a:pt x="357377" y="0"/>
                </a:moveTo>
                <a:lnTo>
                  <a:pt x="310038" y="5224"/>
                </a:lnTo>
                <a:lnTo>
                  <a:pt x="267461" y="19953"/>
                </a:lnTo>
                <a:lnTo>
                  <a:pt x="231362" y="42767"/>
                </a:lnTo>
                <a:lnTo>
                  <a:pt x="203453" y="72248"/>
                </a:lnTo>
                <a:lnTo>
                  <a:pt x="185451" y="106979"/>
                </a:lnTo>
                <a:lnTo>
                  <a:pt x="179069" y="145542"/>
                </a:lnTo>
                <a:lnTo>
                  <a:pt x="179069" y="726948"/>
                </a:lnTo>
                <a:lnTo>
                  <a:pt x="172684" y="765453"/>
                </a:lnTo>
                <a:lnTo>
                  <a:pt x="154657" y="800043"/>
                </a:lnTo>
                <a:lnTo>
                  <a:pt x="126682" y="829341"/>
                </a:lnTo>
                <a:lnTo>
                  <a:pt x="90452" y="851972"/>
                </a:lnTo>
                <a:lnTo>
                  <a:pt x="47660" y="866559"/>
                </a:lnTo>
                <a:lnTo>
                  <a:pt x="0" y="871728"/>
                </a:lnTo>
                <a:lnTo>
                  <a:pt x="47660" y="876952"/>
                </a:lnTo>
                <a:lnTo>
                  <a:pt x="90452" y="891681"/>
                </a:lnTo>
                <a:lnTo>
                  <a:pt x="126682" y="914495"/>
                </a:lnTo>
                <a:lnTo>
                  <a:pt x="154657" y="943976"/>
                </a:lnTo>
                <a:lnTo>
                  <a:pt x="172684" y="978707"/>
                </a:lnTo>
                <a:lnTo>
                  <a:pt x="179069" y="1017269"/>
                </a:lnTo>
                <a:lnTo>
                  <a:pt x="179069" y="1597914"/>
                </a:lnTo>
                <a:lnTo>
                  <a:pt x="185451" y="1636740"/>
                </a:lnTo>
                <a:lnTo>
                  <a:pt x="203453" y="1671545"/>
                </a:lnTo>
                <a:lnTo>
                  <a:pt x="231362" y="1700974"/>
                </a:lnTo>
                <a:lnTo>
                  <a:pt x="267461" y="1723672"/>
                </a:lnTo>
                <a:lnTo>
                  <a:pt x="310038" y="1738284"/>
                </a:lnTo>
                <a:lnTo>
                  <a:pt x="357377" y="1743456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21" name="object 21"/>
          <p:cNvSpPr txBox="1"/>
          <p:nvPr/>
        </p:nvSpPr>
        <p:spPr>
          <a:xfrm>
            <a:off x="1182920" y="3566219"/>
            <a:ext cx="3151187" cy="364909"/>
          </a:xfrm>
          <a:prstGeom prst="rect">
            <a:avLst/>
          </a:prstGeom>
        </p:spPr>
        <p:txBody>
          <a:bodyPr lIns="0" tIns="10860" rIns="0" bIns="0">
            <a:spAutoFit/>
          </a:bodyPr>
          <a:lstStyle>
            <a:lvl1pPr>
              <a:tabLst>
                <a:tab pos="1039813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tabLst>
                <a:tab pos="1039813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tabLst>
                <a:tab pos="1039813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tabLst>
                <a:tab pos="1039813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tabLst>
                <a:tab pos="1039813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39813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39813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39813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39813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ts val="88"/>
              </a:spcBef>
            </a:pPr>
            <a:r>
              <a:rPr lang="zh-CN" altLang="zh-CN" sz="2300" b="1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选择	投影</a:t>
            </a:r>
            <a:endParaRPr lang="zh-CN" altLang="zh-CN" sz="23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2" name="灯片编号占位符 2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A6568E1-4089-4561-919E-9D2F37D3F2B0}" type="slidenum">
              <a:rPr lang="en-US" altLang="zh-CN" smtClean="0"/>
              <a:pPr>
                <a:defRPr/>
              </a:pPr>
              <a:t>51</a:t>
            </a:fld>
            <a:endParaRPr lang="en-US" altLang="zh-CN" dirty="0"/>
          </a:p>
        </p:txBody>
      </p:sp>
      <p:sp>
        <p:nvSpPr>
          <p:cNvPr id="23" name="标题 2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小 结  </a:t>
            </a:r>
          </a:p>
        </p:txBody>
      </p:sp>
      <p:sp>
        <p:nvSpPr>
          <p:cNvPr id="24" name="矩形 23"/>
          <p:cNvSpPr/>
          <p:nvPr/>
        </p:nvSpPr>
        <p:spPr>
          <a:xfrm>
            <a:off x="853207" y="4231943"/>
            <a:ext cx="6691461" cy="2233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zh-CN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关系代数的基本书写思路：</a:t>
            </a:r>
            <a:endParaRPr lang="zh-CN" altLang="zh-CN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eaLnBrk="1" hangingPunct="1">
              <a:spcBef>
                <a:spcPts val="463"/>
              </a:spcBef>
              <a:buSzPct val="95000"/>
              <a:buFont typeface="Wingdings" panose="05000000000000000000" pitchFamily="2" charset="2"/>
              <a:buChar char=""/>
            </a:pPr>
            <a:r>
              <a:rPr lang="zh-CN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选出将用到的关系</a:t>
            </a:r>
            <a:r>
              <a:rPr lang="zh-CN" altLang="zh-CN" b="1" dirty="0">
                <a:cs typeface="Times New Roman" panose="02020603050405020304" pitchFamily="18" charset="0"/>
              </a:rPr>
              <a:t>/</a:t>
            </a:r>
            <a:r>
              <a:rPr lang="zh-CN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表</a:t>
            </a:r>
            <a:endParaRPr lang="zh-CN" altLang="zh-CN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eaLnBrk="1" hangingPunct="1">
              <a:spcBef>
                <a:spcPts val="613"/>
              </a:spcBef>
              <a:buSzPct val="95000"/>
              <a:buFont typeface="Wingdings" panose="05000000000000000000" pitchFamily="2" charset="2"/>
              <a:buChar char=""/>
            </a:pPr>
            <a:r>
              <a:rPr lang="zh-CN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做</a:t>
            </a:r>
            <a:r>
              <a:rPr lang="zh-CN" altLang="zh-CN" b="1" dirty="0">
                <a:cs typeface="Times New Roman" panose="02020603050405020304" pitchFamily="18" charset="0"/>
              </a:rPr>
              <a:t>“</a:t>
            </a:r>
            <a:r>
              <a:rPr lang="zh-CN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积</a:t>
            </a:r>
            <a:r>
              <a:rPr lang="zh-CN" altLang="zh-CN" b="1" dirty="0">
                <a:cs typeface="Times New Roman" panose="02020603050405020304" pitchFamily="18" charset="0"/>
              </a:rPr>
              <a:t>”</a:t>
            </a:r>
            <a:r>
              <a:rPr lang="zh-CN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运算</a:t>
            </a:r>
            <a:r>
              <a:rPr lang="zh-CN" altLang="zh-CN" b="1" dirty="0">
                <a:solidFill>
                  <a:srgbClr val="FF0065"/>
                </a:solidFill>
                <a:cs typeface="Times New Roman" panose="02020603050405020304" pitchFamily="18" charset="0"/>
              </a:rPr>
              <a:t>(</a:t>
            </a:r>
            <a:r>
              <a:rPr lang="zh-CN" altLang="zh-CN" b="1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可用连接运算替换</a:t>
            </a:r>
            <a:r>
              <a:rPr lang="zh-CN" altLang="zh-CN" b="1" dirty="0">
                <a:solidFill>
                  <a:srgbClr val="FF0065"/>
                </a:solidFill>
                <a:cs typeface="Times New Roman" panose="02020603050405020304" pitchFamily="18" charset="0"/>
              </a:rPr>
              <a:t>)</a:t>
            </a:r>
            <a:endParaRPr lang="zh-CN" altLang="zh-CN" dirty="0">
              <a:cs typeface="Times New Roman" panose="02020603050405020304" pitchFamily="18" charset="0"/>
            </a:endParaRPr>
          </a:p>
          <a:p>
            <a:pPr eaLnBrk="1" hangingPunct="1">
              <a:spcBef>
                <a:spcPts val="625"/>
              </a:spcBef>
              <a:buSzPct val="95000"/>
              <a:buFont typeface="Wingdings" panose="05000000000000000000" pitchFamily="2" charset="2"/>
              <a:buChar char=""/>
            </a:pPr>
            <a:r>
              <a:rPr lang="zh-CN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做选择运算保留所需的行</a:t>
            </a:r>
            <a:r>
              <a:rPr lang="zh-CN" altLang="zh-CN" b="1" dirty="0">
                <a:cs typeface="Times New Roman" panose="02020603050405020304" pitchFamily="18" charset="0"/>
              </a:rPr>
              <a:t>/</a:t>
            </a:r>
            <a:r>
              <a:rPr lang="zh-CN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元组</a:t>
            </a:r>
            <a:endParaRPr lang="zh-CN" altLang="zh-CN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eaLnBrk="1" hangingPunct="1">
              <a:spcBef>
                <a:spcPts val="625"/>
              </a:spcBef>
              <a:buSzPct val="95000"/>
              <a:buFont typeface="Wingdings" panose="05000000000000000000" pitchFamily="2" charset="2"/>
              <a:buChar char=""/>
            </a:pPr>
            <a:r>
              <a:rPr lang="zh-CN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做投影运算保留所需的列</a:t>
            </a:r>
            <a:r>
              <a:rPr lang="zh-CN" altLang="zh-CN" b="1" dirty="0">
                <a:cs typeface="Times New Roman" panose="02020603050405020304" pitchFamily="18" charset="0"/>
              </a:rPr>
              <a:t>/</a:t>
            </a:r>
            <a:r>
              <a:rPr lang="zh-CN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属性</a:t>
            </a:r>
            <a:endParaRPr lang="zh-CN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6197159" y="2420888"/>
            <a:ext cx="70529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1800" b="1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自然 连接</a:t>
            </a:r>
            <a:endParaRPr lang="zh-CN" alt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20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3292475" y="1347788"/>
            <a:ext cx="3149600" cy="131762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4" name="object 4"/>
          <p:cNvSpPr/>
          <p:nvPr/>
        </p:nvSpPr>
        <p:spPr>
          <a:xfrm>
            <a:off x="3279775" y="1335088"/>
            <a:ext cx="3175000" cy="1343025"/>
          </a:xfrm>
          <a:custGeom>
            <a:avLst/>
            <a:gdLst/>
            <a:ahLst/>
            <a:cxnLst/>
            <a:rect l="l" t="t" r="r" b="b"/>
            <a:pathLst>
              <a:path w="3712845" h="1570989">
                <a:moveTo>
                  <a:pt x="0" y="1570482"/>
                </a:moveTo>
                <a:lnTo>
                  <a:pt x="0" y="0"/>
                </a:lnTo>
                <a:lnTo>
                  <a:pt x="3712463" y="0"/>
                </a:lnTo>
                <a:lnTo>
                  <a:pt x="3712463" y="1570482"/>
                </a:lnTo>
                <a:lnTo>
                  <a:pt x="0" y="1570482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5" name="object 5"/>
          <p:cNvSpPr/>
          <p:nvPr/>
        </p:nvSpPr>
        <p:spPr>
          <a:xfrm>
            <a:off x="5545138" y="3416300"/>
            <a:ext cx="2768600" cy="114776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6" name="object 6"/>
          <p:cNvSpPr/>
          <p:nvPr/>
        </p:nvSpPr>
        <p:spPr>
          <a:xfrm>
            <a:off x="5532438" y="3403600"/>
            <a:ext cx="2794000" cy="1173163"/>
          </a:xfrm>
          <a:custGeom>
            <a:avLst/>
            <a:gdLst/>
            <a:ahLst/>
            <a:cxnLst/>
            <a:rect l="l" t="t" r="r" b="b"/>
            <a:pathLst>
              <a:path w="3266440" h="1370964">
                <a:moveTo>
                  <a:pt x="0" y="1370838"/>
                </a:moveTo>
                <a:lnTo>
                  <a:pt x="0" y="0"/>
                </a:lnTo>
                <a:lnTo>
                  <a:pt x="3265932" y="0"/>
                </a:lnTo>
                <a:lnTo>
                  <a:pt x="3265932" y="1370838"/>
                </a:lnTo>
                <a:lnTo>
                  <a:pt x="0" y="1370838"/>
                </a:lnTo>
                <a:close/>
              </a:path>
            </a:pathLst>
          </a:custGeom>
          <a:ln w="28574">
            <a:solidFill>
              <a:srgbClr val="000000"/>
            </a:solidFill>
          </a:ln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7" name="object 7"/>
          <p:cNvSpPr/>
          <p:nvPr/>
        </p:nvSpPr>
        <p:spPr>
          <a:xfrm>
            <a:off x="6554788" y="1354138"/>
            <a:ext cx="1752600" cy="197802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8" name="object 8"/>
          <p:cNvSpPr/>
          <p:nvPr/>
        </p:nvSpPr>
        <p:spPr>
          <a:xfrm>
            <a:off x="6543675" y="1343025"/>
            <a:ext cx="1776413" cy="2001838"/>
          </a:xfrm>
          <a:custGeom>
            <a:avLst/>
            <a:gdLst/>
            <a:ahLst/>
            <a:cxnLst/>
            <a:rect l="l" t="t" r="r" b="b"/>
            <a:pathLst>
              <a:path w="2078354" h="2341879">
                <a:moveTo>
                  <a:pt x="0" y="2341626"/>
                </a:moveTo>
                <a:lnTo>
                  <a:pt x="0" y="0"/>
                </a:lnTo>
                <a:lnTo>
                  <a:pt x="2077974" y="0"/>
                </a:lnTo>
                <a:lnTo>
                  <a:pt x="2077974" y="2341626"/>
                </a:lnTo>
                <a:lnTo>
                  <a:pt x="0" y="2341626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9" name="object 9"/>
          <p:cNvSpPr txBox="1"/>
          <p:nvPr/>
        </p:nvSpPr>
        <p:spPr>
          <a:xfrm>
            <a:off x="825722" y="1788749"/>
            <a:ext cx="1584325" cy="754439"/>
          </a:xfrm>
          <a:prstGeom prst="rect">
            <a:avLst/>
          </a:prstGeom>
        </p:spPr>
        <p:txBody>
          <a:bodyPr lIns="0" tIns="10860" rIns="0" bIns="0">
            <a:spAutoFit/>
          </a:bodyPr>
          <a:lstStyle>
            <a:lvl1pPr marL="952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ts val="88"/>
              </a:spcBef>
            </a:pP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查询表达式 </a:t>
            </a:r>
            <a:r>
              <a:rPr lang="zh-CN" altLang="zh-CN" sz="2000" b="1" dirty="0">
                <a:solidFill>
                  <a:srgbClr val="C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组合各种运算</a:t>
            </a:r>
            <a:endParaRPr lang="zh-CN" altLang="zh-CN" sz="2000" dirty="0">
              <a:solidFill>
                <a:srgbClr val="C00000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03288" y="4860925"/>
            <a:ext cx="7053088" cy="273050"/>
          </a:xfrm>
          <a:prstGeom prst="rect">
            <a:avLst/>
          </a:prstGeom>
        </p:spPr>
        <p:txBody>
          <a:bodyPr wrap="square" lIns="0" tIns="10317" rIns="0" bIns="0">
            <a:spAutoFit/>
          </a:bodyPr>
          <a:lstStyle>
            <a:lvl1pPr marL="242888" indent="-231775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75"/>
              </a:spcBef>
              <a:buFont typeface="Wingdings" panose="05000000000000000000" pitchFamily="2" charset="2"/>
              <a:buChar char=""/>
            </a:pPr>
            <a:r>
              <a:rPr lang="zh-CN" altLang="zh-CN" sz="17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查询学习课程名称为数据结构的学生学号、姓名和这门课程的成绩</a:t>
            </a:r>
            <a:endParaRPr lang="zh-CN" altLang="zh-CN" sz="17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032500" y="5940425"/>
            <a:ext cx="300038" cy="115888"/>
          </a:xfrm>
          <a:custGeom>
            <a:avLst/>
            <a:gdLst/>
            <a:ahLst/>
            <a:cxnLst/>
            <a:rect l="l" t="t" r="r" b="b"/>
            <a:pathLst>
              <a:path w="350520" h="135254">
                <a:moveTo>
                  <a:pt x="0" y="134874"/>
                </a:moveTo>
                <a:lnTo>
                  <a:pt x="0" y="0"/>
                </a:lnTo>
                <a:lnTo>
                  <a:pt x="350520" y="134874"/>
                </a:lnTo>
                <a:lnTo>
                  <a:pt x="350520" y="0"/>
                </a:lnTo>
                <a:lnTo>
                  <a:pt x="0" y="134874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2" name="object 12"/>
          <p:cNvSpPr/>
          <p:nvPr/>
        </p:nvSpPr>
        <p:spPr>
          <a:xfrm>
            <a:off x="5089525" y="5940425"/>
            <a:ext cx="300038" cy="115888"/>
          </a:xfrm>
          <a:custGeom>
            <a:avLst/>
            <a:gdLst/>
            <a:ahLst/>
            <a:cxnLst/>
            <a:rect l="l" t="t" r="r" b="b"/>
            <a:pathLst>
              <a:path w="350520" h="135254">
                <a:moveTo>
                  <a:pt x="0" y="134874"/>
                </a:moveTo>
                <a:lnTo>
                  <a:pt x="0" y="0"/>
                </a:lnTo>
                <a:lnTo>
                  <a:pt x="350520" y="134874"/>
                </a:lnTo>
                <a:lnTo>
                  <a:pt x="350520" y="0"/>
                </a:lnTo>
                <a:lnTo>
                  <a:pt x="0" y="134874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3" name="object 13"/>
          <p:cNvSpPr txBox="1"/>
          <p:nvPr/>
        </p:nvSpPr>
        <p:spPr>
          <a:xfrm>
            <a:off x="756469" y="2924198"/>
            <a:ext cx="4486275" cy="266898"/>
          </a:xfrm>
          <a:prstGeom prst="rect">
            <a:avLst/>
          </a:prstGeom>
        </p:spPr>
        <p:txBody>
          <a:bodyPr wrap="square" lIns="0" tIns="10317" rIns="0" bIns="0">
            <a:spAutoFit/>
          </a:bodyPr>
          <a:lstStyle>
            <a:lvl1pPr marL="182563" indent="-171450">
              <a:tabLst>
                <a:tab pos="182563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tabLst>
                <a:tab pos="182563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tabLst>
                <a:tab pos="182563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tabLst>
                <a:tab pos="182563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tabLst>
                <a:tab pos="182563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82563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82563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82563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82563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1988"/>
              </a:lnSpc>
              <a:spcBef>
                <a:spcPts val="75"/>
              </a:spcBef>
              <a:buSzPct val="95000"/>
              <a:buFont typeface="Wingdings" panose="05000000000000000000" pitchFamily="2" charset="2"/>
              <a:buChar char=""/>
            </a:pPr>
            <a:r>
              <a:rPr lang="zh-CN" altLang="zh-CN" sz="18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查询学习课程号为</a:t>
            </a:r>
            <a:r>
              <a:rPr lang="zh-CN" altLang="zh-CN" sz="1800" b="1" dirty="0">
                <a:latin typeface="Arial" panose="020B0604020202020204" pitchFamily="34" charset="0"/>
                <a:cs typeface="Arial" panose="020B0604020202020204" pitchFamily="34" charset="0"/>
              </a:rPr>
              <a:t>002</a:t>
            </a:r>
            <a:r>
              <a:rPr lang="zh-CN" altLang="zh-CN" sz="18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的学生学号和成绩</a:t>
            </a:r>
            <a:endParaRPr lang="zh-CN" altLang="zh-CN" sz="18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56470" y="4246563"/>
            <a:ext cx="1206801" cy="431594"/>
          </a:xfrm>
          <a:prstGeom prst="rect">
            <a:avLst/>
          </a:prstGeom>
        </p:spPr>
        <p:txBody>
          <a:bodyPr wrap="square" lIns="0" tIns="10860" rIns="0" bIns="0">
            <a:spAutoFit/>
          </a:bodyPr>
          <a:lstStyle>
            <a:lvl1pPr marL="952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88"/>
              </a:spcBef>
            </a:pPr>
            <a:r>
              <a:rPr lang="zh-CN" altLang="zh-CN" sz="4100" b="1" baseline="10000" dirty="0">
                <a:solidFill>
                  <a:srgbClr val="FF006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π</a:t>
            </a:r>
            <a:r>
              <a:rPr lang="zh-CN" altLang="zh-CN" sz="1300" b="1" dirty="0">
                <a:latin typeface="Arial" panose="020B0604020202020204" pitchFamily="34" charset="0"/>
                <a:cs typeface="Arial" panose="020B0604020202020204" pitchFamily="34" charset="0"/>
              </a:rPr>
              <a:t>S#,Sname</a:t>
            </a:r>
            <a:r>
              <a:rPr lang="zh-CN" altLang="zh-CN" sz="3000" b="1" baseline="140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endParaRPr lang="zh-CN" altLang="zh-CN" sz="3000" baseline="1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244493" y="4317862"/>
            <a:ext cx="177031" cy="327025"/>
          </a:xfrm>
          <a:prstGeom prst="rect">
            <a:avLst/>
          </a:prstGeom>
        </p:spPr>
        <p:txBody>
          <a:bodyPr wrap="square" lIns="0" tIns="10860" rIns="0" bIns="0">
            <a:spAutoFit/>
          </a:bodyPr>
          <a:lstStyle/>
          <a:p>
            <a:pPr marL="10860" eaLnBrk="1" hangingPunct="1">
              <a:spcBef>
                <a:spcPts val="86"/>
              </a:spcBef>
              <a:defRPr/>
            </a:pPr>
            <a:r>
              <a:rPr sz="3078" b="1" spc="115" baseline="3472" dirty="0">
                <a:latin typeface="Arial"/>
                <a:cs typeface="Arial"/>
              </a:rPr>
              <a:t>)</a:t>
            </a:r>
            <a:endParaRPr sz="3078" baseline="3472" dirty="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010275" y="5295900"/>
            <a:ext cx="300038" cy="115888"/>
          </a:xfrm>
          <a:custGeom>
            <a:avLst/>
            <a:gdLst/>
            <a:ahLst/>
            <a:cxnLst/>
            <a:rect l="l" t="t" r="r" b="b"/>
            <a:pathLst>
              <a:path w="351790" h="135254">
                <a:moveTo>
                  <a:pt x="0" y="134874"/>
                </a:moveTo>
                <a:lnTo>
                  <a:pt x="0" y="0"/>
                </a:lnTo>
                <a:lnTo>
                  <a:pt x="351282" y="134874"/>
                </a:lnTo>
                <a:lnTo>
                  <a:pt x="351282" y="0"/>
                </a:lnTo>
                <a:lnTo>
                  <a:pt x="0" y="134874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8" name="object 18"/>
          <p:cNvSpPr/>
          <p:nvPr/>
        </p:nvSpPr>
        <p:spPr>
          <a:xfrm>
            <a:off x="5065713" y="5305425"/>
            <a:ext cx="301625" cy="115888"/>
          </a:xfrm>
          <a:custGeom>
            <a:avLst/>
            <a:gdLst/>
            <a:ahLst/>
            <a:cxnLst/>
            <a:rect l="l" t="t" r="r" b="b"/>
            <a:pathLst>
              <a:path w="351789" h="135254">
                <a:moveTo>
                  <a:pt x="0" y="134874"/>
                </a:moveTo>
                <a:lnTo>
                  <a:pt x="0" y="0"/>
                </a:lnTo>
                <a:lnTo>
                  <a:pt x="351282" y="134874"/>
                </a:lnTo>
                <a:lnTo>
                  <a:pt x="351282" y="0"/>
                </a:lnTo>
                <a:lnTo>
                  <a:pt x="0" y="134874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9" name="object 19"/>
          <p:cNvSpPr txBox="1"/>
          <p:nvPr/>
        </p:nvSpPr>
        <p:spPr>
          <a:xfrm>
            <a:off x="-1404665" y="5135698"/>
            <a:ext cx="6408713" cy="1111298"/>
          </a:xfrm>
          <a:prstGeom prst="rect">
            <a:avLst/>
          </a:prstGeom>
        </p:spPr>
        <p:txBody>
          <a:bodyPr wrap="square" lIns="0" tIns="74390" rIns="0" bIns="0">
            <a:spAutoFit/>
          </a:bodyPr>
          <a:lstStyle>
            <a:lvl1pPr marL="2687638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588"/>
              </a:spcBef>
            </a:pPr>
            <a:r>
              <a:rPr lang="en-US" altLang="zh-CN" sz="1700" b="1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</a:t>
            </a:r>
            <a:r>
              <a:rPr lang="zh-CN" altLang="zh-CN" sz="1700" b="1" dirty="0">
                <a:latin typeface="Arial" panose="020B0604020202020204" pitchFamily="34" charset="0"/>
                <a:cs typeface="Arial" panose="020B0604020202020204" pitchFamily="34" charset="0"/>
              </a:rPr>
              <a:t>Student</a:t>
            </a:r>
            <a:endParaRPr lang="zh-CN" altLang="zh-CN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 eaLnBrk="1" hangingPunct="1">
              <a:lnSpc>
                <a:spcPct val="105000"/>
              </a:lnSpc>
              <a:spcBef>
                <a:spcPts val="475"/>
              </a:spcBef>
            </a:pPr>
            <a:r>
              <a:rPr lang="zh-CN" altLang="zh-CN" sz="3000" b="1" baseline="12000" dirty="0">
                <a:solidFill>
                  <a:srgbClr val="FF006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σ</a:t>
            </a:r>
            <a:r>
              <a:rPr lang="zh-CN" altLang="zh-CN" sz="1000" b="1" dirty="0">
                <a:latin typeface="Arial" panose="020B0604020202020204" pitchFamily="34" charset="0"/>
                <a:cs typeface="Arial" panose="020B0604020202020204" pitchFamily="34" charset="0"/>
              </a:rPr>
              <a:t>Cname=“</a:t>
            </a:r>
            <a:r>
              <a:rPr lang="zh-CN" altLang="zh-CN" sz="10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数据结构</a:t>
            </a:r>
            <a:r>
              <a:rPr lang="zh-CN" altLang="zh-CN" sz="1000" b="1" dirty="0"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r>
              <a:rPr lang="zh-CN" altLang="zh-CN" sz="2500" b="1" baseline="14000" dirty="0">
                <a:latin typeface="Arial" panose="020B0604020202020204" pitchFamily="34" charset="0"/>
                <a:cs typeface="Arial" panose="020B0604020202020204" pitchFamily="34" charset="0"/>
              </a:rPr>
              <a:t>(Student </a:t>
            </a:r>
            <a:endParaRPr lang="en-US" altLang="zh-CN" sz="2500" b="1" baseline="14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 eaLnBrk="1" hangingPunct="1">
              <a:lnSpc>
                <a:spcPct val="105000"/>
              </a:lnSpc>
              <a:spcBef>
                <a:spcPts val="475"/>
              </a:spcBef>
            </a:pPr>
            <a:r>
              <a:rPr lang="zh-CN" altLang="zh-CN" sz="2500" b="1" baseline="1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zh-CN" altLang="zh-CN" sz="3000" b="1" baseline="12000" dirty="0">
                <a:solidFill>
                  <a:srgbClr val="FF006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π</a:t>
            </a:r>
            <a:r>
              <a:rPr lang="zh-CN" altLang="zh-CN" sz="1000" b="1" dirty="0">
                <a:latin typeface="Arial" panose="020B0604020202020204" pitchFamily="34" charset="0"/>
                <a:cs typeface="Arial" panose="020B0604020202020204" pitchFamily="34" charset="0"/>
              </a:rPr>
              <a:t>S#,Sname, Score</a:t>
            </a:r>
            <a:r>
              <a:rPr lang="zh-CN" altLang="zh-CN" sz="2500" b="1" baseline="140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zh-CN" altLang="zh-CN" sz="3000" b="1" baseline="12000" dirty="0">
                <a:solidFill>
                  <a:srgbClr val="FF006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σ</a:t>
            </a:r>
            <a:r>
              <a:rPr lang="zh-CN" altLang="zh-CN" sz="1000" b="1" dirty="0">
                <a:latin typeface="Arial" panose="020B0604020202020204" pitchFamily="34" charset="0"/>
                <a:cs typeface="Arial" panose="020B0604020202020204" pitchFamily="34" charset="0"/>
              </a:rPr>
              <a:t>Cname=“</a:t>
            </a:r>
            <a:r>
              <a:rPr lang="zh-CN" altLang="zh-CN" sz="10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数据结构</a:t>
            </a:r>
            <a:r>
              <a:rPr lang="zh-CN" altLang="zh-CN" sz="1000" b="1" dirty="0"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r>
              <a:rPr lang="zh-CN" altLang="zh-CN" sz="2500" b="1" baseline="14000" dirty="0">
                <a:latin typeface="Arial" panose="020B0604020202020204" pitchFamily="34" charset="0"/>
                <a:cs typeface="Arial" panose="020B0604020202020204" pitchFamily="34" charset="0"/>
              </a:rPr>
              <a:t>(Student</a:t>
            </a:r>
            <a:endParaRPr lang="zh-CN" altLang="zh-CN" sz="2500" baseline="1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494338" y="5145088"/>
            <a:ext cx="346075" cy="1004887"/>
          </a:xfrm>
          <a:prstGeom prst="rect">
            <a:avLst/>
          </a:prstGeom>
        </p:spPr>
        <p:txBody>
          <a:bodyPr lIns="0" tIns="9774" rIns="0" bIns="0">
            <a:spAutoFit/>
          </a:bodyPr>
          <a:lstStyle>
            <a:lvl1pPr marL="22225" indent="-127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6000"/>
              </a:lnSpc>
              <a:spcBef>
                <a:spcPts val="75"/>
              </a:spcBef>
            </a:pPr>
            <a:r>
              <a:rPr lang="zh-CN" altLang="zh-CN" sz="1700" b="1" dirty="0">
                <a:latin typeface="Arial" panose="020B0604020202020204" pitchFamily="34" charset="0"/>
                <a:cs typeface="Arial" panose="020B0604020202020204" pitchFamily="34" charset="0"/>
              </a:rPr>
              <a:t>SC  SC  SC</a:t>
            </a:r>
            <a:endParaRPr lang="zh-CN" altLang="zh-CN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454775" y="5145088"/>
            <a:ext cx="935038" cy="1004887"/>
          </a:xfrm>
          <a:prstGeom prst="rect">
            <a:avLst/>
          </a:prstGeom>
        </p:spPr>
        <p:txBody>
          <a:bodyPr lIns="0" tIns="9774" rIns="0" bIns="0">
            <a:spAutoFit/>
          </a:bodyPr>
          <a:lstStyle>
            <a:lvl1pPr marL="22225" indent="-11113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6000"/>
              </a:lnSpc>
              <a:spcBef>
                <a:spcPts val="75"/>
              </a:spcBef>
            </a:pPr>
            <a:r>
              <a:rPr lang="zh-CN" altLang="zh-CN" sz="1700" b="1">
                <a:latin typeface="Arial" panose="020B0604020202020204" pitchFamily="34" charset="0"/>
                <a:cs typeface="Arial" panose="020B0604020202020204" pitchFamily="34" charset="0"/>
              </a:rPr>
              <a:t>Course  Course)  Course))</a:t>
            </a:r>
            <a:endParaRPr lang="zh-CN" altLang="zh-CN" sz="17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6021388" y="5613400"/>
            <a:ext cx="300037" cy="114300"/>
          </a:xfrm>
          <a:custGeom>
            <a:avLst/>
            <a:gdLst/>
            <a:ahLst/>
            <a:cxnLst/>
            <a:rect l="l" t="t" r="r" b="b"/>
            <a:pathLst>
              <a:path w="350520" h="135254">
                <a:moveTo>
                  <a:pt x="0" y="134874"/>
                </a:moveTo>
                <a:lnTo>
                  <a:pt x="0" y="0"/>
                </a:lnTo>
                <a:lnTo>
                  <a:pt x="350520" y="134874"/>
                </a:lnTo>
                <a:lnTo>
                  <a:pt x="350520" y="0"/>
                </a:lnTo>
                <a:lnTo>
                  <a:pt x="0" y="134874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23" name="object 23"/>
          <p:cNvSpPr/>
          <p:nvPr/>
        </p:nvSpPr>
        <p:spPr>
          <a:xfrm>
            <a:off x="5078413" y="5624513"/>
            <a:ext cx="300037" cy="114300"/>
          </a:xfrm>
          <a:custGeom>
            <a:avLst/>
            <a:gdLst/>
            <a:ahLst/>
            <a:cxnLst/>
            <a:rect l="l" t="t" r="r" b="b"/>
            <a:pathLst>
              <a:path w="350520" h="135254">
                <a:moveTo>
                  <a:pt x="0" y="134874"/>
                </a:moveTo>
                <a:lnTo>
                  <a:pt x="0" y="0"/>
                </a:lnTo>
                <a:lnTo>
                  <a:pt x="350520" y="134874"/>
                </a:lnTo>
                <a:lnTo>
                  <a:pt x="350520" y="0"/>
                </a:lnTo>
                <a:lnTo>
                  <a:pt x="0" y="134874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24" name="object 24"/>
          <p:cNvSpPr txBox="1"/>
          <p:nvPr/>
        </p:nvSpPr>
        <p:spPr>
          <a:xfrm>
            <a:off x="1236055" y="621081"/>
            <a:ext cx="7262440" cy="556045"/>
          </a:xfrm>
          <a:prstGeom prst="rect">
            <a:avLst/>
          </a:prstGeom>
        </p:spPr>
        <p:txBody>
          <a:bodyPr wrap="square" lIns="0" tIns="62987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500"/>
              </a:spcBef>
            </a:pPr>
            <a:r>
              <a:rPr lang="en-US" altLang="zh-CN" sz="3200" b="1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3.</a:t>
            </a:r>
            <a:r>
              <a:rPr lang="zh-CN" altLang="zh-CN" sz="3200" b="1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关系代数操作</a:t>
            </a:r>
            <a:r>
              <a:rPr lang="en-US" altLang="zh-CN" sz="3200" b="1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zh-CN" sz="3200" b="1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之</a:t>
            </a:r>
            <a:r>
              <a:rPr lang="en-US" altLang="zh-CN" sz="3200" b="1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zh-CN" sz="3200" b="1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组合与应用训练</a:t>
            </a:r>
            <a:endParaRPr lang="zh-CN" altLang="zh-CN" sz="32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5" name="灯片编号占位符 2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02E7998-F56A-45D4-984E-4E67E3C944B8}" type="slidenum">
              <a:rPr lang="en-US" altLang="zh-CN" smtClean="0"/>
              <a:pPr>
                <a:defRPr/>
              </a:pPr>
              <a:t>52</a:t>
            </a:fld>
            <a:endParaRPr lang="en-US" altLang="zh-CN"/>
          </a:p>
        </p:txBody>
      </p:sp>
      <p:sp>
        <p:nvSpPr>
          <p:cNvPr id="26" name="矩形 25"/>
          <p:cNvSpPr/>
          <p:nvPr/>
        </p:nvSpPr>
        <p:spPr>
          <a:xfrm>
            <a:off x="162902" y="1302328"/>
            <a:ext cx="302358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spcBef>
                <a:spcPts val="413"/>
              </a:spcBef>
            </a:pPr>
            <a:r>
              <a:rPr lang="zh-CN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(1)</a:t>
            </a:r>
            <a:r>
              <a:rPr lang="zh-CN" altLang="zh-CN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集合操作思维训练</a:t>
            </a:r>
            <a:endParaRPr lang="zh-CN" altLang="zh-CN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517940" y="3190369"/>
            <a:ext cx="2861681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lnSpc>
                <a:spcPts val="3638"/>
              </a:lnSpc>
            </a:pPr>
            <a:r>
              <a:rPr lang="zh-CN" altLang="zh-CN" sz="3600" b="1" baseline="10000" dirty="0">
                <a:solidFill>
                  <a:srgbClr val="FF006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π</a:t>
            </a:r>
            <a:r>
              <a:rPr lang="zh-CN" altLang="zh-CN" sz="1100" b="1" dirty="0">
                <a:latin typeface="Arial" panose="020B0604020202020204" pitchFamily="34" charset="0"/>
                <a:cs typeface="Arial" panose="020B0604020202020204" pitchFamily="34" charset="0"/>
              </a:rPr>
              <a:t>S#, Score</a:t>
            </a:r>
            <a:r>
              <a:rPr lang="zh-CN" altLang="zh-CN" b="1" baseline="14000" dirty="0">
                <a:latin typeface="Arial" panose="020B0604020202020204" pitchFamily="34" charset="0"/>
                <a:cs typeface="Arial" panose="020B0604020202020204" pitchFamily="34" charset="0"/>
              </a:rPr>
              <a:t>( </a:t>
            </a:r>
            <a:r>
              <a:rPr lang="zh-CN" altLang="zh-CN" sz="4000" b="1" baseline="8000" dirty="0">
                <a:solidFill>
                  <a:srgbClr val="FF0065"/>
                </a:solidFill>
                <a:latin typeface="Symbol" panose="05050102010706020507" pitchFamily="18" charset="2"/>
              </a:rPr>
              <a:t></a:t>
            </a:r>
            <a:r>
              <a:rPr lang="zh-CN" altLang="zh-CN" sz="4000" b="1" baseline="8000" dirty="0">
                <a:solidFill>
                  <a:srgbClr val="FF0065"/>
                </a:solidFill>
                <a:cs typeface="Times New Roman" panose="02020603050405020304" pitchFamily="18" charset="0"/>
              </a:rPr>
              <a:t> </a:t>
            </a:r>
            <a:r>
              <a:rPr lang="zh-CN" altLang="zh-CN" sz="1600" b="1" baseline="-3000" dirty="0">
                <a:latin typeface="Arial" panose="020B0604020202020204" pitchFamily="34" charset="0"/>
                <a:cs typeface="Arial" panose="020B0604020202020204" pitchFamily="34" charset="0"/>
              </a:rPr>
              <a:t>C#=</a:t>
            </a:r>
            <a:r>
              <a:rPr lang="zh-CN" altLang="zh-CN" sz="1600" b="1" baseline="-3000" dirty="0">
                <a:latin typeface="宋体" panose="02010600030101010101" pitchFamily="2" charset="-122"/>
              </a:rPr>
              <a:t>“</a:t>
            </a:r>
            <a:r>
              <a:rPr lang="zh-CN" altLang="zh-CN" sz="1600" b="1" baseline="-3000" dirty="0">
                <a:latin typeface="Arial" panose="020B0604020202020204" pitchFamily="34" charset="0"/>
                <a:cs typeface="Arial" panose="020B0604020202020204" pitchFamily="34" charset="0"/>
              </a:rPr>
              <a:t>002</a:t>
            </a:r>
            <a:r>
              <a:rPr lang="zh-CN" altLang="zh-CN" sz="1600" b="1" baseline="-3000" dirty="0">
                <a:latin typeface="宋体" panose="02010600030101010101" pitchFamily="2" charset="-122"/>
              </a:rPr>
              <a:t>”</a:t>
            </a:r>
            <a:r>
              <a:rPr lang="zh-CN" altLang="zh-CN" b="1" baseline="12000" dirty="0">
                <a:latin typeface="Arial" panose="020B0604020202020204" pitchFamily="34" charset="0"/>
                <a:cs typeface="Arial" panose="020B0604020202020204" pitchFamily="34" charset="0"/>
              </a:rPr>
              <a:t>( </a:t>
            </a:r>
            <a:r>
              <a:rPr lang="zh-CN" altLang="zh-CN" b="1" baseline="5000" dirty="0">
                <a:latin typeface="Arial" panose="020B0604020202020204" pitchFamily="34" charset="0"/>
                <a:cs typeface="Arial" panose="020B0604020202020204" pitchFamily="34" charset="0"/>
              </a:rPr>
              <a:t>SC </a:t>
            </a:r>
            <a:r>
              <a:rPr lang="zh-CN" altLang="zh-CN" b="1" baseline="12000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zh-CN" altLang="zh-CN" b="1" baseline="140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zh-CN" altLang="zh-CN" baseline="1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756469" y="3792577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hangingPunct="1">
              <a:spcBef>
                <a:spcPts val="1213"/>
              </a:spcBef>
              <a:buSzPct val="95000"/>
              <a:buFont typeface="Wingdings" panose="05000000000000000000" pitchFamily="2" charset="2"/>
              <a:buChar char=""/>
            </a:pPr>
            <a:r>
              <a:rPr lang="zh-CN" altLang="zh-CN" sz="1800" b="1" dirty="0">
                <a:latin typeface="+mn-lt"/>
                <a:ea typeface="新宋体" panose="02010609030101010101" pitchFamily="49" charset="-122"/>
              </a:rPr>
              <a:t>查询学习课程号为</a:t>
            </a:r>
            <a:r>
              <a:rPr lang="zh-CN" altLang="zh-CN" sz="1800" b="1" dirty="0">
                <a:latin typeface="+mn-lt"/>
                <a:cs typeface="Arial" panose="020B0604020202020204" pitchFamily="34" charset="0"/>
              </a:rPr>
              <a:t>001</a:t>
            </a:r>
            <a:r>
              <a:rPr lang="zh-CN" altLang="zh-CN" sz="1800" b="1" dirty="0">
                <a:latin typeface="+mn-lt"/>
                <a:ea typeface="新宋体" panose="02010609030101010101" pitchFamily="49" charset="-122"/>
              </a:rPr>
              <a:t>的学生学号、姓名</a:t>
            </a:r>
            <a:endParaRPr lang="zh-CN" altLang="zh-CN" sz="1800" dirty="0">
              <a:latin typeface="+mn-lt"/>
              <a:ea typeface="新宋体" panose="02010609030101010101" pitchFamily="49" charset="-122"/>
            </a:endParaRPr>
          </a:p>
        </p:txBody>
      </p:sp>
      <p:grpSp>
        <p:nvGrpSpPr>
          <p:cNvPr id="30" name="组合 29"/>
          <p:cNvGrpSpPr/>
          <p:nvPr/>
        </p:nvGrpSpPr>
        <p:grpSpPr>
          <a:xfrm>
            <a:off x="3284620" y="4313428"/>
            <a:ext cx="1791621" cy="369332"/>
            <a:chOff x="3284620" y="4313428"/>
            <a:chExt cx="1791621" cy="369332"/>
          </a:xfrm>
        </p:grpSpPr>
        <p:sp>
          <p:nvSpPr>
            <p:cNvPr id="16" name="object 16"/>
            <p:cNvSpPr/>
            <p:nvPr/>
          </p:nvSpPr>
          <p:spPr>
            <a:xfrm>
              <a:off x="4211960" y="4435475"/>
              <a:ext cx="301625" cy="114300"/>
            </a:xfrm>
            <a:custGeom>
              <a:avLst/>
              <a:gdLst/>
              <a:ahLst/>
              <a:cxnLst/>
              <a:rect l="l" t="t" r="r" b="b"/>
              <a:pathLst>
                <a:path w="351789" h="135254">
                  <a:moveTo>
                    <a:pt x="0" y="134874"/>
                  </a:moveTo>
                  <a:lnTo>
                    <a:pt x="0" y="0"/>
                  </a:lnTo>
                  <a:lnTo>
                    <a:pt x="351282" y="134874"/>
                  </a:lnTo>
                  <a:lnTo>
                    <a:pt x="351282" y="0"/>
                  </a:lnTo>
                  <a:lnTo>
                    <a:pt x="0" y="134874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lIns="0" tIns="0" rIns="0" bIns="0"/>
            <a:lstStyle/>
            <a:p>
              <a:pPr eaLnBrk="1" hangingPunct="1">
                <a:defRPr/>
              </a:pPr>
              <a:endParaRPr sz="2052"/>
            </a:p>
          </p:txBody>
        </p:sp>
        <p:sp>
          <p:nvSpPr>
            <p:cNvPr id="28" name="矩形 27"/>
            <p:cNvSpPr/>
            <p:nvPr/>
          </p:nvSpPr>
          <p:spPr>
            <a:xfrm>
              <a:off x="3284620" y="4344206"/>
              <a:ext cx="947695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>
                <a:spcBef>
                  <a:spcPts val="88"/>
                </a:spcBef>
              </a:pPr>
              <a:r>
                <a:rPr lang="zh-CN" altLang="zh-CN" b="1" baseline="10000" dirty="0">
                  <a:latin typeface="Arial" panose="020B0604020202020204" pitchFamily="34" charset="0"/>
                  <a:cs typeface="Arial" panose="020B0604020202020204" pitchFamily="34" charset="0"/>
                </a:rPr>
                <a:t>Student</a:t>
              </a:r>
              <a:endParaRPr lang="zh-CN" altLang="zh-CN" baseline="10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" name="矩形 28"/>
            <p:cNvSpPr/>
            <p:nvPr/>
          </p:nvSpPr>
          <p:spPr>
            <a:xfrm>
              <a:off x="4572000" y="4313428"/>
              <a:ext cx="50424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800" b="1" spc="-4" dirty="0">
                  <a:latin typeface="Arial"/>
                  <a:cs typeface="Arial"/>
                </a:rPr>
                <a:t>SC</a:t>
              </a:r>
              <a:endParaRPr lang="zh-CN" altLang="en-US" sz="1800" dirty="0"/>
            </a:p>
          </p:txBody>
        </p:sp>
      </p:grpSp>
      <p:sp>
        <p:nvSpPr>
          <p:cNvPr id="32" name="object 15"/>
          <p:cNvSpPr txBox="1"/>
          <p:nvPr/>
        </p:nvSpPr>
        <p:spPr>
          <a:xfrm>
            <a:off x="5088941" y="4317862"/>
            <a:ext cx="177031" cy="327025"/>
          </a:xfrm>
          <a:prstGeom prst="rect">
            <a:avLst/>
          </a:prstGeom>
        </p:spPr>
        <p:txBody>
          <a:bodyPr wrap="square" lIns="0" tIns="10860" rIns="0" bIns="0">
            <a:spAutoFit/>
          </a:bodyPr>
          <a:lstStyle/>
          <a:p>
            <a:pPr marL="10860" eaLnBrk="1" hangingPunct="1">
              <a:spcBef>
                <a:spcPts val="86"/>
              </a:spcBef>
              <a:defRPr/>
            </a:pPr>
            <a:r>
              <a:rPr sz="3078" b="1" spc="115" baseline="3472" dirty="0">
                <a:latin typeface="Arial"/>
                <a:cs typeface="Arial"/>
              </a:rPr>
              <a:t>)</a:t>
            </a:r>
            <a:endParaRPr sz="3078" baseline="3472" dirty="0">
              <a:latin typeface="Arial"/>
              <a:cs typeface="Arial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1819879" y="4210119"/>
            <a:ext cx="1415772" cy="50270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spcBef>
                <a:spcPts val="88"/>
              </a:spcBef>
            </a:pPr>
            <a:r>
              <a:rPr lang="zh-CN" altLang="zh-CN" sz="4000" b="1" baseline="9000" dirty="0">
                <a:solidFill>
                  <a:srgbClr val="FF0065"/>
                </a:solidFill>
                <a:latin typeface="Symbol" panose="05050102010706020507" pitchFamily="18" charset="2"/>
              </a:rPr>
              <a:t></a:t>
            </a:r>
            <a:r>
              <a:rPr lang="zh-CN" altLang="zh-CN" sz="20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C#=“001”</a:t>
            </a:r>
            <a:r>
              <a:rPr lang="zh-CN" altLang="zh-CN" sz="2800" b="1" baseline="140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endParaRPr lang="zh-CN" altLang="zh-CN" sz="2800" baseline="1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 animBg="1"/>
      <p:bldP spid="12" grpId="0" animBg="1"/>
      <p:bldP spid="14" grpId="0"/>
      <p:bldP spid="15" grpId="0"/>
      <p:bldP spid="17" grpId="0" animBg="1"/>
      <p:bldP spid="18" grpId="0" animBg="1"/>
      <p:bldP spid="19" grpId="0"/>
      <p:bldP spid="20" grpId="0"/>
      <p:bldP spid="21" grpId="0"/>
      <p:bldP spid="22" grpId="0" animBg="1"/>
      <p:bldP spid="23" grpId="0" animBg="1"/>
      <p:bldP spid="2" grpId="0"/>
      <p:bldP spid="27" grpId="0"/>
      <p:bldP spid="32" grpId="0"/>
      <p:bldP spid="33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3292475" y="1347788"/>
            <a:ext cx="3149600" cy="131762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4" name="object 4"/>
          <p:cNvSpPr/>
          <p:nvPr/>
        </p:nvSpPr>
        <p:spPr>
          <a:xfrm>
            <a:off x="3279775" y="1335088"/>
            <a:ext cx="3175000" cy="1343025"/>
          </a:xfrm>
          <a:custGeom>
            <a:avLst/>
            <a:gdLst/>
            <a:ahLst/>
            <a:cxnLst/>
            <a:rect l="l" t="t" r="r" b="b"/>
            <a:pathLst>
              <a:path w="3712845" h="1570989">
                <a:moveTo>
                  <a:pt x="0" y="1570482"/>
                </a:moveTo>
                <a:lnTo>
                  <a:pt x="0" y="0"/>
                </a:lnTo>
                <a:lnTo>
                  <a:pt x="3712463" y="0"/>
                </a:lnTo>
                <a:lnTo>
                  <a:pt x="3712463" y="1570482"/>
                </a:lnTo>
                <a:lnTo>
                  <a:pt x="0" y="1570482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5" name="object 5"/>
          <p:cNvSpPr/>
          <p:nvPr/>
        </p:nvSpPr>
        <p:spPr>
          <a:xfrm>
            <a:off x="5545138" y="3416300"/>
            <a:ext cx="2768600" cy="114776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6" name="object 6"/>
          <p:cNvSpPr/>
          <p:nvPr/>
        </p:nvSpPr>
        <p:spPr>
          <a:xfrm>
            <a:off x="5532438" y="3403600"/>
            <a:ext cx="2794000" cy="1173163"/>
          </a:xfrm>
          <a:custGeom>
            <a:avLst/>
            <a:gdLst/>
            <a:ahLst/>
            <a:cxnLst/>
            <a:rect l="l" t="t" r="r" b="b"/>
            <a:pathLst>
              <a:path w="3266440" h="1370964">
                <a:moveTo>
                  <a:pt x="0" y="1370838"/>
                </a:moveTo>
                <a:lnTo>
                  <a:pt x="0" y="0"/>
                </a:lnTo>
                <a:lnTo>
                  <a:pt x="3265932" y="0"/>
                </a:lnTo>
                <a:lnTo>
                  <a:pt x="3265932" y="1370838"/>
                </a:lnTo>
                <a:lnTo>
                  <a:pt x="0" y="1370838"/>
                </a:lnTo>
                <a:close/>
              </a:path>
            </a:pathLst>
          </a:custGeom>
          <a:ln w="28574">
            <a:solidFill>
              <a:srgbClr val="000000"/>
            </a:solidFill>
          </a:ln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7" name="object 7"/>
          <p:cNvSpPr/>
          <p:nvPr/>
        </p:nvSpPr>
        <p:spPr>
          <a:xfrm>
            <a:off x="6554788" y="1354138"/>
            <a:ext cx="1752600" cy="197802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8" name="object 8"/>
          <p:cNvSpPr/>
          <p:nvPr/>
        </p:nvSpPr>
        <p:spPr>
          <a:xfrm>
            <a:off x="6543675" y="1343025"/>
            <a:ext cx="1776413" cy="2001838"/>
          </a:xfrm>
          <a:custGeom>
            <a:avLst/>
            <a:gdLst/>
            <a:ahLst/>
            <a:cxnLst/>
            <a:rect l="l" t="t" r="r" b="b"/>
            <a:pathLst>
              <a:path w="2078354" h="2341879">
                <a:moveTo>
                  <a:pt x="0" y="2341626"/>
                </a:moveTo>
                <a:lnTo>
                  <a:pt x="0" y="0"/>
                </a:lnTo>
                <a:lnTo>
                  <a:pt x="2077974" y="0"/>
                </a:lnTo>
                <a:lnTo>
                  <a:pt x="2077974" y="2341626"/>
                </a:lnTo>
                <a:lnTo>
                  <a:pt x="0" y="2341626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9" name="object 9"/>
          <p:cNvSpPr txBox="1"/>
          <p:nvPr/>
        </p:nvSpPr>
        <p:spPr>
          <a:xfrm>
            <a:off x="510077" y="1324445"/>
            <a:ext cx="2366963" cy="825500"/>
          </a:xfrm>
          <a:prstGeom prst="rect">
            <a:avLst/>
          </a:prstGeom>
        </p:spPr>
        <p:txBody>
          <a:bodyPr lIns="0" tIns="103712" rIns="0" bIns="0">
            <a:spAutoFit/>
          </a:bodyPr>
          <a:lstStyle>
            <a:lvl1pPr marL="952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813"/>
              </a:spcBef>
            </a:pP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查询表达式</a:t>
            </a:r>
            <a:endParaRPr lang="zh-CN" altLang="zh-CN" sz="20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eaLnBrk="1" hangingPunct="1">
              <a:spcBef>
                <a:spcPts val="738"/>
              </a:spcBef>
            </a:pPr>
            <a:r>
              <a:rPr lang="zh-CN" altLang="zh-CN" sz="2000" b="1" dirty="0">
                <a:solidFill>
                  <a:srgbClr val="C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注意连接与积的差别</a:t>
            </a:r>
            <a:endParaRPr lang="zh-CN" altLang="zh-CN" sz="2000" dirty="0">
              <a:solidFill>
                <a:srgbClr val="C00000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65707" y="3057561"/>
            <a:ext cx="4886771" cy="318194"/>
          </a:xfrm>
          <a:prstGeom prst="rect">
            <a:avLst/>
          </a:prstGeom>
        </p:spPr>
        <p:txBody>
          <a:bodyPr wrap="square" lIns="0" tIns="10317" rIns="0" bIns="0">
            <a:spAutoFit/>
          </a:bodyPr>
          <a:lstStyle>
            <a:lvl1pPr marL="242888" indent="-231775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75"/>
              </a:spcBef>
              <a:buFont typeface="Wingdings" panose="05000000000000000000" pitchFamily="2" charset="2"/>
              <a:buChar char=""/>
            </a:pP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查询学习课程号为</a:t>
            </a:r>
            <a:r>
              <a:rPr lang="zh-CN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001</a:t>
            </a: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的学生学号、姓名</a:t>
            </a:r>
            <a:endParaRPr lang="zh-CN" altLang="zh-CN" sz="20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36613" y="3810206"/>
            <a:ext cx="3513137" cy="482890"/>
          </a:xfrm>
          <a:prstGeom prst="rect">
            <a:avLst/>
          </a:prstGeom>
        </p:spPr>
        <p:txBody>
          <a:bodyPr wrap="square" lIns="0" tIns="10860" rIns="0" bIns="0">
            <a:spAutoFit/>
          </a:bodyPr>
          <a:lstStyle>
            <a:lvl1pPr marL="952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88"/>
              </a:spcBef>
            </a:pPr>
            <a:r>
              <a:rPr lang="zh-CN" altLang="zh-CN" sz="4100" b="1" baseline="10000" dirty="0">
                <a:solidFill>
                  <a:srgbClr val="FF006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π</a:t>
            </a:r>
            <a:r>
              <a:rPr lang="zh-CN" altLang="zh-CN" sz="1300" b="1" dirty="0">
                <a:latin typeface="Arial" panose="020B0604020202020204" pitchFamily="34" charset="0"/>
                <a:cs typeface="Arial" panose="020B0604020202020204" pitchFamily="34" charset="0"/>
              </a:rPr>
              <a:t>S#,Sname</a:t>
            </a:r>
            <a:r>
              <a:rPr lang="zh-CN" altLang="zh-CN" sz="3000" b="1" baseline="140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zh-CN" altLang="zh-CN" sz="4600" b="1" baseline="9000" dirty="0">
                <a:solidFill>
                  <a:srgbClr val="FF0065"/>
                </a:solidFill>
                <a:latin typeface="Symbol" panose="05050102010706020507" pitchFamily="18" charset="2"/>
              </a:rPr>
              <a:t></a:t>
            </a:r>
            <a:r>
              <a:rPr lang="zh-CN" altLang="zh-CN" sz="4600" baseline="9000" dirty="0">
                <a:solidFill>
                  <a:srgbClr val="FF0065"/>
                </a:solidFill>
                <a:cs typeface="Times New Roman" panose="02020603050405020304" pitchFamily="18" charset="0"/>
              </a:rPr>
              <a:t> </a:t>
            </a:r>
            <a:r>
              <a:rPr lang="zh-CN" altLang="zh-CN" sz="1300" b="1" dirty="0">
                <a:latin typeface="Arial" panose="020B0604020202020204" pitchFamily="34" charset="0"/>
                <a:cs typeface="Arial" panose="020B0604020202020204" pitchFamily="34" charset="0"/>
              </a:rPr>
              <a:t>C#=“001”</a:t>
            </a:r>
            <a:r>
              <a:rPr lang="zh-CN" altLang="zh-CN" sz="3000" b="1" baseline="140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zh-CN" altLang="zh-CN" sz="3000" b="1" baseline="10000" dirty="0">
                <a:latin typeface="Arial" panose="020B0604020202020204" pitchFamily="34" charset="0"/>
                <a:cs typeface="Arial" panose="020B0604020202020204" pitchFamily="34" charset="0"/>
              </a:rPr>
              <a:t>Student</a:t>
            </a:r>
            <a:endParaRPr lang="zh-CN" altLang="zh-CN" sz="3000" baseline="1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765675" y="3910013"/>
            <a:ext cx="606425" cy="327025"/>
          </a:xfrm>
          <a:prstGeom prst="rect">
            <a:avLst/>
          </a:prstGeom>
        </p:spPr>
        <p:txBody>
          <a:bodyPr lIns="0" tIns="10860" rIns="0" bIns="0">
            <a:spAutoFit/>
          </a:bodyPr>
          <a:lstStyle/>
          <a:p>
            <a:pPr marL="10860" eaLnBrk="1" hangingPunct="1">
              <a:spcBef>
                <a:spcPts val="86"/>
              </a:spcBef>
              <a:defRPr/>
            </a:pPr>
            <a:r>
              <a:rPr sz="2052" b="1" spc="-4" dirty="0">
                <a:latin typeface="Arial"/>
                <a:cs typeface="Arial"/>
              </a:rPr>
              <a:t>SC</a:t>
            </a:r>
            <a:r>
              <a:rPr sz="2052" b="1" spc="-398" dirty="0">
                <a:latin typeface="Arial"/>
                <a:cs typeface="Arial"/>
              </a:rPr>
              <a:t> </a:t>
            </a:r>
            <a:r>
              <a:rPr sz="3078" b="1" spc="115" baseline="3472" dirty="0">
                <a:latin typeface="Arial"/>
                <a:cs typeface="Arial"/>
              </a:rPr>
              <a:t>))</a:t>
            </a:r>
            <a:endParaRPr sz="3078" baseline="3472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362450" y="4019550"/>
            <a:ext cx="301625" cy="115888"/>
          </a:xfrm>
          <a:custGeom>
            <a:avLst/>
            <a:gdLst/>
            <a:ahLst/>
            <a:cxnLst/>
            <a:rect l="l" t="t" r="r" b="b"/>
            <a:pathLst>
              <a:path w="351789" h="135254">
                <a:moveTo>
                  <a:pt x="0" y="134874"/>
                </a:moveTo>
                <a:lnTo>
                  <a:pt x="0" y="0"/>
                </a:lnTo>
                <a:lnTo>
                  <a:pt x="351282" y="134874"/>
                </a:lnTo>
                <a:lnTo>
                  <a:pt x="351282" y="0"/>
                </a:lnTo>
                <a:lnTo>
                  <a:pt x="0" y="134874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4" name="object 14"/>
          <p:cNvSpPr txBox="1"/>
          <p:nvPr/>
        </p:nvSpPr>
        <p:spPr>
          <a:xfrm>
            <a:off x="955675" y="4735513"/>
            <a:ext cx="5246688" cy="485775"/>
          </a:xfrm>
          <a:prstGeom prst="rect">
            <a:avLst/>
          </a:prstGeom>
        </p:spPr>
        <p:txBody>
          <a:bodyPr lIns="0" tIns="10860" rIns="0" bIns="0">
            <a:spAutoFit/>
          </a:bodyPr>
          <a:lstStyle>
            <a:lvl1pPr marL="952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88"/>
              </a:spcBef>
            </a:pPr>
            <a:r>
              <a:rPr lang="zh-CN" altLang="zh-CN" sz="4100" b="1" baseline="10000">
                <a:solidFill>
                  <a:srgbClr val="FF006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π</a:t>
            </a:r>
            <a:r>
              <a:rPr lang="zh-CN" altLang="zh-CN" sz="1300" b="1">
                <a:latin typeface="Arial" panose="020B0604020202020204" pitchFamily="34" charset="0"/>
                <a:cs typeface="Arial" panose="020B0604020202020204" pitchFamily="34" charset="0"/>
              </a:rPr>
              <a:t>S#,Sname</a:t>
            </a:r>
            <a:r>
              <a:rPr lang="zh-CN" altLang="zh-CN" sz="3000" b="1" baseline="1400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zh-CN" altLang="zh-CN" sz="4600" b="1" baseline="9000">
                <a:solidFill>
                  <a:srgbClr val="FF0065"/>
                </a:solidFill>
                <a:latin typeface="Symbol" panose="05050102010706020507" pitchFamily="18" charset="2"/>
              </a:rPr>
              <a:t></a:t>
            </a:r>
            <a:r>
              <a:rPr lang="zh-CN" altLang="zh-CN" sz="4600" baseline="9000">
                <a:solidFill>
                  <a:srgbClr val="FF0065"/>
                </a:solidFill>
                <a:cs typeface="Times New Roman" panose="02020603050405020304" pitchFamily="18" charset="0"/>
              </a:rPr>
              <a:t> </a:t>
            </a:r>
            <a:r>
              <a:rPr lang="zh-CN" altLang="zh-CN" sz="1300" b="1">
                <a:latin typeface="Arial" panose="020B0604020202020204" pitchFamily="34" charset="0"/>
                <a:cs typeface="Arial" panose="020B0604020202020204" pitchFamily="34" charset="0"/>
              </a:rPr>
              <a:t>C#=“001” </a:t>
            </a:r>
            <a:r>
              <a:rPr lang="zh-CN" altLang="zh-CN" sz="1300" b="1">
                <a:latin typeface="Symbol" panose="05050102010706020507" pitchFamily="18" charset="2"/>
              </a:rPr>
              <a:t></a:t>
            </a:r>
            <a:r>
              <a:rPr lang="zh-CN" altLang="zh-CN" sz="1300">
                <a:cs typeface="Times New Roman" panose="02020603050405020304" pitchFamily="18" charset="0"/>
              </a:rPr>
              <a:t> </a:t>
            </a:r>
            <a:r>
              <a:rPr lang="zh-CN" altLang="zh-CN" sz="1300" b="1">
                <a:latin typeface="Arial" panose="020B0604020202020204" pitchFamily="34" charset="0"/>
                <a:cs typeface="Arial" panose="020B0604020202020204" pitchFamily="34" charset="0"/>
              </a:rPr>
              <a:t>Student.S# = SC.S#  </a:t>
            </a:r>
            <a:r>
              <a:rPr lang="zh-CN" altLang="zh-CN" sz="3000" b="1" baseline="1400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zh-CN" altLang="zh-CN" sz="3000" b="1" baseline="9000">
                <a:latin typeface="Arial" panose="020B0604020202020204" pitchFamily="34" charset="0"/>
                <a:cs typeface="Arial" panose="020B0604020202020204" pitchFamily="34" charset="0"/>
              </a:rPr>
              <a:t>Student</a:t>
            </a:r>
            <a:endParaRPr lang="zh-CN" altLang="zh-CN" sz="3000" baseline="9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324600" y="4821238"/>
            <a:ext cx="1004888" cy="325437"/>
          </a:xfrm>
          <a:prstGeom prst="rect">
            <a:avLst/>
          </a:prstGeom>
        </p:spPr>
        <p:txBody>
          <a:bodyPr lIns="0" tIns="10860" rIns="0" bIns="0">
            <a:spAutoFit/>
          </a:bodyPr>
          <a:lstStyle/>
          <a:p>
            <a:pPr marL="369774" indent="-358915" eaLnBrk="1" hangingPunct="1">
              <a:spcBef>
                <a:spcPts val="86"/>
              </a:spcBef>
              <a:buFont typeface="Symbol"/>
              <a:buChar char=""/>
              <a:tabLst>
                <a:tab pos="369774" algn="l"/>
                <a:tab pos="370318" algn="l"/>
              </a:tabLst>
              <a:defRPr/>
            </a:pPr>
            <a:r>
              <a:rPr sz="2052" b="1" spc="-4" dirty="0">
                <a:latin typeface="Arial"/>
                <a:cs typeface="Arial"/>
              </a:rPr>
              <a:t>SC</a:t>
            </a:r>
            <a:r>
              <a:rPr sz="2052" b="1" spc="-350" dirty="0">
                <a:latin typeface="Arial"/>
                <a:cs typeface="Arial"/>
              </a:rPr>
              <a:t> </a:t>
            </a:r>
            <a:r>
              <a:rPr sz="3078" b="1" baseline="4629" dirty="0">
                <a:latin typeface="Arial"/>
                <a:cs typeface="Arial"/>
              </a:rPr>
              <a:t>)</a:t>
            </a:r>
            <a:r>
              <a:rPr sz="3078" b="1" spc="-263" baseline="4629" dirty="0">
                <a:latin typeface="Arial"/>
                <a:cs typeface="Arial"/>
              </a:rPr>
              <a:t> </a:t>
            </a:r>
            <a:r>
              <a:rPr sz="3078" b="1" baseline="4629" dirty="0">
                <a:latin typeface="Arial"/>
                <a:cs typeface="Arial"/>
              </a:rPr>
              <a:t>)</a:t>
            </a:r>
            <a:endParaRPr sz="3078" baseline="4629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416300" y="4824413"/>
            <a:ext cx="1624013" cy="469900"/>
          </a:xfrm>
          <a:custGeom>
            <a:avLst/>
            <a:gdLst/>
            <a:ahLst/>
            <a:cxnLst/>
            <a:rect l="l" t="t" r="r" b="b"/>
            <a:pathLst>
              <a:path w="1899285" h="549910">
                <a:moveTo>
                  <a:pt x="91439" y="0"/>
                </a:moveTo>
                <a:lnTo>
                  <a:pt x="55935" y="7215"/>
                </a:lnTo>
                <a:lnTo>
                  <a:pt x="26860" y="26860"/>
                </a:lnTo>
                <a:lnTo>
                  <a:pt x="7215" y="55935"/>
                </a:lnTo>
                <a:lnTo>
                  <a:pt x="0" y="91440"/>
                </a:lnTo>
                <a:lnTo>
                  <a:pt x="0" y="457200"/>
                </a:lnTo>
                <a:lnTo>
                  <a:pt x="7215" y="493144"/>
                </a:lnTo>
                <a:lnTo>
                  <a:pt x="26860" y="522446"/>
                </a:lnTo>
                <a:lnTo>
                  <a:pt x="55935" y="542174"/>
                </a:lnTo>
                <a:lnTo>
                  <a:pt x="91439" y="549402"/>
                </a:lnTo>
                <a:lnTo>
                  <a:pt x="1807464" y="549401"/>
                </a:lnTo>
                <a:lnTo>
                  <a:pt x="1842968" y="542174"/>
                </a:lnTo>
                <a:lnTo>
                  <a:pt x="1872043" y="522446"/>
                </a:lnTo>
                <a:lnTo>
                  <a:pt x="1891688" y="493144"/>
                </a:lnTo>
                <a:lnTo>
                  <a:pt x="1898903" y="457199"/>
                </a:lnTo>
                <a:lnTo>
                  <a:pt x="1898903" y="91439"/>
                </a:lnTo>
                <a:lnTo>
                  <a:pt x="1891688" y="55935"/>
                </a:lnTo>
                <a:lnTo>
                  <a:pt x="1872043" y="26860"/>
                </a:lnTo>
                <a:lnTo>
                  <a:pt x="1842968" y="7215"/>
                </a:lnTo>
                <a:lnTo>
                  <a:pt x="1807464" y="0"/>
                </a:lnTo>
                <a:lnTo>
                  <a:pt x="91439" y="0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7" name="object 17"/>
          <p:cNvSpPr/>
          <p:nvPr/>
        </p:nvSpPr>
        <p:spPr>
          <a:xfrm>
            <a:off x="4235450" y="5305425"/>
            <a:ext cx="1588" cy="241300"/>
          </a:xfrm>
          <a:custGeom>
            <a:avLst/>
            <a:gdLst/>
            <a:ahLst/>
            <a:cxnLst/>
            <a:rect l="l" t="t" r="r" b="b"/>
            <a:pathLst>
              <a:path w="1904" h="281304">
                <a:moveTo>
                  <a:pt x="0" y="0"/>
                </a:moveTo>
                <a:lnTo>
                  <a:pt x="1524" y="281177"/>
                </a:lnTo>
              </a:path>
            </a:pathLst>
          </a:custGeom>
          <a:ln w="9525">
            <a:solidFill>
              <a:srgbClr val="FF0000"/>
            </a:solidFill>
          </a:ln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8" name="object 18"/>
          <p:cNvSpPr txBox="1"/>
          <p:nvPr/>
        </p:nvSpPr>
        <p:spPr>
          <a:xfrm>
            <a:off x="4248150" y="5478463"/>
            <a:ext cx="1063625" cy="327025"/>
          </a:xfrm>
          <a:prstGeom prst="rect">
            <a:avLst/>
          </a:prstGeom>
        </p:spPr>
        <p:txBody>
          <a:bodyPr lIns="0" tIns="10860" rIns="0" bIns="0">
            <a:spAutoFit/>
          </a:bodyPr>
          <a:lstStyle/>
          <a:p>
            <a:pPr marL="10860" eaLnBrk="1" hangingPunct="1">
              <a:spcBef>
                <a:spcPts val="86"/>
              </a:spcBef>
              <a:defRPr/>
            </a:pPr>
            <a:r>
              <a:rPr sz="2052" b="1" spc="-9" dirty="0">
                <a:solidFill>
                  <a:srgbClr val="FF0000"/>
                </a:solidFill>
                <a:latin typeface="SimSun"/>
                <a:cs typeface="SimSun"/>
              </a:rPr>
              <a:t>连接条件</a:t>
            </a:r>
            <a:endParaRPr sz="2052">
              <a:latin typeface="SimSun"/>
              <a:cs typeface="SimSu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109879" y="578676"/>
            <a:ext cx="5196755" cy="556045"/>
          </a:xfrm>
          <a:prstGeom prst="rect">
            <a:avLst/>
          </a:prstGeom>
        </p:spPr>
        <p:txBody>
          <a:bodyPr wrap="square" lIns="0" tIns="62987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13"/>
              </a:spcBef>
            </a:pPr>
            <a:r>
              <a:rPr lang="zh-CN" altLang="zh-CN" sz="32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(1)</a:t>
            </a:r>
            <a:r>
              <a:rPr lang="zh-CN" altLang="zh-CN" sz="3200" b="1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集合操作思维训练</a:t>
            </a:r>
            <a:endParaRPr lang="zh-CN" altLang="zh-CN" sz="32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0" name="灯片编号占位符 1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02E7998-F56A-45D4-984E-4E67E3C944B8}" type="slidenum">
              <a:rPr lang="en-US" altLang="zh-CN" smtClean="0"/>
              <a:pPr>
                <a:defRPr/>
              </a:pPr>
              <a:t>53</a:t>
            </a:fld>
            <a:endParaRPr lang="en-US" altLang="zh-CN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914400" y="2504678"/>
            <a:ext cx="6105872" cy="2207438"/>
          </a:xfrm>
          <a:prstGeom prst="rect">
            <a:avLst/>
          </a:prstGeom>
        </p:spPr>
        <p:txBody>
          <a:bodyPr wrap="square" lIns="0" tIns="128689" rIns="0" bIns="0">
            <a:spAutoFit/>
          </a:bodyPr>
          <a:lstStyle>
            <a:lvl1pPr marL="182563" indent="-171450">
              <a:tabLst>
                <a:tab pos="182563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tabLst>
                <a:tab pos="182563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tabLst>
                <a:tab pos="182563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tabLst>
                <a:tab pos="182563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tabLst>
                <a:tab pos="182563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82563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82563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82563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82563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1013"/>
              </a:spcBef>
              <a:buSzPct val="95000"/>
              <a:buFont typeface="Wingdings" panose="05000000000000000000" pitchFamily="2" charset="2"/>
              <a:buChar char=""/>
            </a:pP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查询学习课程号为</a:t>
            </a:r>
            <a:r>
              <a:rPr lang="zh-CN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001</a:t>
            </a: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或</a:t>
            </a:r>
            <a:r>
              <a:rPr lang="zh-CN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002</a:t>
            </a: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的学生的学号</a:t>
            </a:r>
            <a:endParaRPr lang="zh-CN" altLang="zh-CN" sz="20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eaLnBrk="1" hangingPunct="1">
              <a:spcBef>
                <a:spcPts val="1125"/>
              </a:spcBef>
            </a:pPr>
            <a:r>
              <a:rPr lang="zh-CN" altLang="zh-CN" sz="3000" b="1" baseline="12000" dirty="0">
                <a:solidFill>
                  <a:srgbClr val="FF006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π</a:t>
            </a:r>
            <a:r>
              <a:rPr lang="zh-CN" altLang="zh-CN" sz="1000" b="1" dirty="0">
                <a:latin typeface="Arial" panose="020B0604020202020204" pitchFamily="34" charset="0"/>
                <a:cs typeface="Arial" panose="020B0604020202020204" pitchFamily="34" charset="0"/>
              </a:rPr>
              <a:t>S#</a:t>
            </a:r>
            <a:r>
              <a:rPr lang="zh-CN" altLang="zh-CN" sz="2500" b="1" baseline="140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zh-CN" altLang="zh-CN" sz="3000" b="1" baseline="12000" dirty="0">
                <a:solidFill>
                  <a:srgbClr val="FF006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σ</a:t>
            </a:r>
            <a:r>
              <a:rPr lang="zh-CN" altLang="zh-CN" sz="1000" b="1" dirty="0">
                <a:latin typeface="Arial" panose="020B0604020202020204" pitchFamily="34" charset="0"/>
                <a:cs typeface="Arial" panose="020B0604020202020204" pitchFamily="34" charset="0"/>
              </a:rPr>
              <a:t>C#=“001” </a:t>
            </a:r>
            <a:r>
              <a:rPr lang="zh-CN" altLang="zh-CN" baseline="-9000" dirty="0">
                <a:latin typeface="宋体" panose="02010600030101010101" pitchFamily="2" charset="-122"/>
              </a:rPr>
              <a:t>ν </a:t>
            </a:r>
            <a:r>
              <a:rPr lang="zh-CN" altLang="zh-CN" sz="1000" b="1" dirty="0">
                <a:latin typeface="Arial" panose="020B0604020202020204" pitchFamily="34" charset="0"/>
                <a:cs typeface="Arial" panose="020B0604020202020204" pitchFamily="34" charset="0"/>
              </a:rPr>
              <a:t>C#=“002”</a:t>
            </a:r>
            <a:r>
              <a:rPr lang="zh-CN" altLang="zh-CN" sz="2500" b="1" baseline="14000" dirty="0">
                <a:latin typeface="Arial" panose="020B0604020202020204" pitchFamily="34" charset="0"/>
                <a:cs typeface="Arial" panose="020B0604020202020204" pitchFamily="34" charset="0"/>
              </a:rPr>
              <a:t>(SC))</a:t>
            </a:r>
            <a:endParaRPr lang="zh-CN" altLang="zh-CN" sz="2500" baseline="14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ts val="950"/>
              </a:spcBef>
              <a:buSzPct val="95000"/>
              <a:buFont typeface="Wingdings" panose="05000000000000000000" pitchFamily="2" charset="2"/>
              <a:buChar char=""/>
            </a:pP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查询至少学习课程号为</a:t>
            </a:r>
            <a:r>
              <a:rPr lang="zh-CN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001</a:t>
            </a: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和</a:t>
            </a:r>
            <a:r>
              <a:rPr lang="zh-CN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002</a:t>
            </a: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的学生的学号</a:t>
            </a:r>
            <a:endParaRPr lang="zh-CN" altLang="zh-CN" sz="20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eaLnBrk="1" hangingPunct="1">
              <a:spcBef>
                <a:spcPts val="1025"/>
              </a:spcBef>
            </a:pPr>
            <a:r>
              <a:rPr lang="zh-CN" altLang="zh-CN" sz="1700" dirty="0">
                <a:solidFill>
                  <a:srgbClr val="FF0065"/>
                </a:solidFill>
                <a:latin typeface="Wingdings" panose="05000000000000000000" pitchFamily="2" charset="2"/>
              </a:rPr>
              <a:t></a:t>
            </a:r>
            <a:r>
              <a:rPr lang="zh-CN" altLang="zh-CN" sz="1700" dirty="0">
                <a:solidFill>
                  <a:srgbClr val="FF0065"/>
                </a:solidFill>
                <a:cs typeface="Times New Roman" panose="02020603050405020304" pitchFamily="18" charset="0"/>
              </a:rPr>
              <a:t> </a:t>
            </a:r>
            <a:r>
              <a:rPr lang="zh-CN" altLang="zh-CN" sz="2000" b="1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是否可写成如下形式呢？</a:t>
            </a:r>
            <a:endParaRPr lang="zh-CN" altLang="zh-CN" sz="20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eaLnBrk="1" hangingPunct="1">
              <a:spcBef>
                <a:spcPts val="1075"/>
              </a:spcBef>
            </a:pPr>
            <a:r>
              <a:rPr lang="zh-CN" altLang="zh-CN" sz="3000" b="1" baseline="12000" dirty="0">
                <a:solidFill>
                  <a:srgbClr val="FF006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π</a:t>
            </a:r>
            <a:r>
              <a:rPr lang="zh-CN" altLang="zh-CN" sz="1000" b="1" dirty="0">
                <a:latin typeface="Arial" panose="020B0604020202020204" pitchFamily="34" charset="0"/>
                <a:cs typeface="Arial" panose="020B0604020202020204" pitchFamily="34" charset="0"/>
              </a:rPr>
              <a:t>S#</a:t>
            </a:r>
            <a:r>
              <a:rPr lang="zh-CN" altLang="zh-CN" sz="2500" b="1" baseline="140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zh-CN" altLang="zh-CN" sz="3000" b="1" baseline="12000" dirty="0">
                <a:solidFill>
                  <a:srgbClr val="FF006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σ</a:t>
            </a:r>
            <a:r>
              <a:rPr lang="zh-CN" altLang="zh-CN" sz="1000" b="1" dirty="0">
                <a:latin typeface="Arial" panose="020B0604020202020204" pitchFamily="34" charset="0"/>
                <a:cs typeface="Arial" panose="020B0604020202020204" pitchFamily="34" charset="0"/>
              </a:rPr>
              <a:t>C#=“001” </a:t>
            </a:r>
            <a:r>
              <a:rPr lang="zh-CN" altLang="zh-CN" baseline="-9000" dirty="0">
                <a:latin typeface="Symbol" panose="05050102010706020507" pitchFamily="18" charset="2"/>
              </a:rPr>
              <a:t></a:t>
            </a:r>
            <a:r>
              <a:rPr lang="zh-CN" altLang="zh-CN" baseline="-9000" dirty="0">
                <a:cs typeface="Times New Roman" panose="02020603050405020304" pitchFamily="18" charset="0"/>
              </a:rPr>
              <a:t> </a:t>
            </a:r>
            <a:r>
              <a:rPr lang="zh-CN" altLang="zh-CN" sz="1000" b="1" dirty="0">
                <a:latin typeface="Arial" panose="020B0604020202020204" pitchFamily="34" charset="0"/>
                <a:cs typeface="Arial" panose="020B0604020202020204" pitchFamily="34" charset="0"/>
              </a:rPr>
              <a:t>C#=“002”</a:t>
            </a:r>
            <a:r>
              <a:rPr lang="zh-CN" altLang="zh-CN" sz="2500" b="1" baseline="14000" dirty="0">
                <a:latin typeface="Arial" panose="020B0604020202020204" pitchFamily="34" charset="0"/>
                <a:cs typeface="Arial" panose="020B0604020202020204" pitchFamily="34" charset="0"/>
              </a:rPr>
              <a:t>(SC))</a:t>
            </a:r>
            <a:endParaRPr lang="zh-CN" altLang="zh-CN" sz="2500" baseline="1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043608" y="722385"/>
            <a:ext cx="7258000" cy="556045"/>
          </a:xfrm>
        </p:spPr>
        <p:txBody>
          <a:bodyPr wrap="square" lIns="0" tIns="62987" rIns="0" bIns="0">
            <a:spAutoFit/>
          </a:bodyPr>
          <a:lstStyle/>
          <a:p>
            <a:pPr>
              <a:spcBef>
                <a:spcPts val="413"/>
              </a:spcBef>
            </a:pPr>
            <a:r>
              <a:rPr lang="zh-CN" altLang="zh-CN" sz="3200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关系代数操作之组合与应用训练</a:t>
            </a:r>
            <a:endParaRPr lang="zh-CN" altLang="zh-CN" sz="32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A6568E1-4089-4561-919E-9D2F37D3F2B0}" type="slidenum">
              <a:rPr lang="en-US" altLang="zh-CN" smtClean="0"/>
              <a:pPr>
                <a:defRPr/>
              </a:pPr>
              <a:t>54</a:t>
            </a:fld>
            <a:endParaRPr lang="en-US" altLang="zh-CN" dirty="0"/>
          </a:p>
        </p:txBody>
      </p:sp>
      <p:sp>
        <p:nvSpPr>
          <p:cNvPr id="8" name="矩形 7"/>
          <p:cNvSpPr/>
          <p:nvPr/>
        </p:nvSpPr>
        <p:spPr>
          <a:xfrm>
            <a:off x="395536" y="1484784"/>
            <a:ext cx="842493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dirty="0">
                <a:solidFill>
                  <a:srgbClr val="C00000"/>
                </a:solidFill>
                <a:cs typeface="Arial" panose="020B0604020202020204" pitchFamily="34" charset="0"/>
              </a:rPr>
              <a:t>(2)</a:t>
            </a:r>
            <a:r>
              <a:rPr lang="zh-CN" altLang="zh-CN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注意有可能写错哟，虽然语法看起来是正确的，但语义是错误的</a:t>
            </a:r>
            <a:endParaRPr lang="zh-CN" alt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901700" y="1929185"/>
            <a:ext cx="5758532" cy="318194"/>
          </a:xfrm>
          <a:prstGeom prst="rect">
            <a:avLst/>
          </a:prstGeom>
        </p:spPr>
        <p:txBody>
          <a:bodyPr wrap="square" lIns="0" tIns="10317" rIns="0" bIns="0">
            <a:spAutoFit/>
          </a:bodyPr>
          <a:lstStyle>
            <a:lvl1pPr marL="242888" indent="-231775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75"/>
              </a:spcBef>
              <a:buFont typeface="Wingdings" panose="05000000000000000000" pitchFamily="2" charset="2"/>
              <a:buChar char=""/>
            </a:pP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查询至少学习课程号为</a:t>
            </a:r>
            <a:r>
              <a:rPr lang="zh-CN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001</a:t>
            </a: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和</a:t>
            </a:r>
            <a:r>
              <a:rPr lang="zh-CN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002</a:t>
            </a: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的学生的学号</a:t>
            </a:r>
            <a:endParaRPr lang="zh-CN" altLang="zh-CN" sz="20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65188" y="3215060"/>
            <a:ext cx="8099300" cy="318194"/>
          </a:xfrm>
          <a:prstGeom prst="rect">
            <a:avLst/>
          </a:prstGeom>
        </p:spPr>
        <p:txBody>
          <a:bodyPr wrap="square" lIns="0" tIns="10317" rIns="0" bIns="0">
            <a:spAutoFit/>
          </a:bodyPr>
          <a:lstStyle>
            <a:lvl1pPr marL="952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75"/>
              </a:spcBef>
            </a:pP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请问：上式使用的是等值连接，换成自然连接，写成如下形式是否正确？</a:t>
            </a:r>
            <a:endParaRPr lang="zh-CN" altLang="zh-CN" sz="20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41513" y="2434010"/>
            <a:ext cx="3284537" cy="327025"/>
          </a:xfrm>
          <a:prstGeom prst="rect">
            <a:avLst/>
          </a:prstGeom>
        </p:spPr>
        <p:txBody>
          <a:bodyPr wrap="square" lIns="0" tIns="10860" rIns="0" bIns="0">
            <a:spAutoFit/>
          </a:bodyPr>
          <a:lstStyle>
            <a:lvl1pPr marL="952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88"/>
              </a:spcBef>
            </a:pPr>
            <a:r>
              <a:rPr lang="zh-CN" altLang="zh-CN" sz="3000" b="1" baseline="12000" dirty="0">
                <a:solidFill>
                  <a:srgbClr val="FF006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π</a:t>
            </a:r>
            <a:r>
              <a:rPr lang="zh-CN" altLang="zh-CN" sz="1000" b="1" dirty="0">
                <a:latin typeface="Arial" panose="020B0604020202020204" pitchFamily="34" charset="0"/>
                <a:cs typeface="Arial" panose="020B0604020202020204" pitchFamily="34" charset="0"/>
              </a:rPr>
              <a:t>SC.S# </a:t>
            </a:r>
            <a:r>
              <a:rPr lang="zh-CN" altLang="zh-CN" sz="2500" b="1" baseline="140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zh-CN" altLang="zh-CN" sz="3000" b="1" baseline="12000" dirty="0">
                <a:solidFill>
                  <a:srgbClr val="FF006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σ</a:t>
            </a:r>
            <a:r>
              <a:rPr lang="zh-CN" altLang="zh-CN" sz="1000" b="1" dirty="0">
                <a:latin typeface="Arial" panose="020B0604020202020204" pitchFamily="34" charset="0"/>
                <a:cs typeface="Arial" panose="020B0604020202020204" pitchFamily="34" charset="0"/>
              </a:rPr>
              <a:t>SC.C#=“001” </a:t>
            </a:r>
            <a:r>
              <a:rPr lang="zh-CN" altLang="zh-CN" b="1" baseline="-6000" dirty="0">
                <a:latin typeface="Symbol" panose="05050102010706020507" pitchFamily="18" charset="2"/>
              </a:rPr>
              <a:t></a:t>
            </a:r>
            <a:r>
              <a:rPr lang="zh-CN" altLang="zh-CN" b="1" baseline="-6000" dirty="0">
                <a:cs typeface="Times New Roman" panose="02020603050405020304" pitchFamily="18" charset="0"/>
              </a:rPr>
              <a:t> </a:t>
            </a:r>
            <a:r>
              <a:rPr lang="zh-CN" altLang="zh-CN" sz="1000" b="1" dirty="0">
                <a:latin typeface="Arial" panose="020B0604020202020204" pitchFamily="34" charset="0"/>
                <a:cs typeface="Arial" panose="020B0604020202020204" pitchFamily="34" charset="0"/>
              </a:rPr>
              <a:t>SC1.C#=“002”</a:t>
            </a:r>
            <a:r>
              <a:rPr lang="zh-CN" altLang="zh-CN" sz="2500" b="1" baseline="14000" dirty="0">
                <a:latin typeface="Arial" panose="020B0604020202020204" pitchFamily="34" charset="0"/>
                <a:cs typeface="Arial" panose="020B0604020202020204" pitchFamily="34" charset="0"/>
              </a:rPr>
              <a:t>(SC</a:t>
            </a:r>
            <a:endParaRPr lang="zh-CN" altLang="zh-CN" sz="2500" baseline="1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583238" y="2526085"/>
            <a:ext cx="300037" cy="115887"/>
          </a:xfrm>
          <a:custGeom>
            <a:avLst/>
            <a:gdLst/>
            <a:ahLst/>
            <a:cxnLst/>
            <a:rect l="l" t="t" r="r" b="b"/>
            <a:pathLst>
              <a:path w="350520" h="135255">
                <a:moveTo>
                  <a:pt x="0" y="134874"/>
                </a:moveTo>
                <a:lnTo>
                  <a:pt x="0" y="0"/>
                </a:lnTo>
                <a:lnTo>
                  <a:pt x="350520" y="134874"/>
                </a:lnTo>
                <a:lnTo>
                  <a:pt x="350520" y="0"/>
                </a:lnTo>
                <a:lnTo>
                  <a:pt x="0" y="134874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7" name="object 7"/>
          <p:cNvSpPr txBox="1"/>
          <p:nvPr/>
        </p:nvSpPr>
        <p:spPr>
          <a:xfrm>
            <a:off x="5232400" y="2319710"/>
            <a:ext cx="2073275" cy="523875"/>
          </a:xfrm>
          <a:prstGeom prst="rect">
            <a:avLst/>
          </a:prstGeom>
        </p:spPr>
        <p:txBody>
          <a:bodyPr lIns="0" tIns="11946" rIns="0" bIns="0">
            <a:spAutoFit/>
          </a:bodyPr>
          <a:lstStyle/>
          <a:p>
            <a:pPr marL="940999" eaLnBrk="1" hangingPunct="1">
              <a:lnSpc>
                <a:spcPts val="2929"/>
              </a:lnSpc>
              <a:spcBef>
                <a:spcPts val="94"/>
              </a:spcBef>
              <a:defRPr/>
            </a:pPr>
            <a:r>
              <a:rPr sz="2523" b="1" i="1" spc="-73" dirty="0">
                <a:solidFill>
                  <a:srgbClr val="FF0065"/>
                </a:solidFill>
                <a:latin typeface="Symbol"/>
                <a:cs typeface="Symbol"/>
              </a:rPr>
              <a:t></a:t>
            </a:r>
            <a:r>
              <a:rPr sz="2523" b="1" i="1" spc="-73" dirty="0">
                <a:solidFill>
                  <a:srgbClr val="FF0065"/>
                </a:solidFill>
                <a:latin typeface="Times New Roman"/>
                <a:cs typeface="Times New Roman"/>
              </a:rPr>
              <a:t> </a:t>
            </a:r>
            <a:r>
              <a:rPr sz="1667" b="1" spc="-13" baseline="-12820" dirty="0">
                <a:latin typeface="Tahoma"/>
                <a:cs typeface="Tahoma"/>
              </a:rPr>
              <a:t>SC1</a:t>
            </a:r>
            <a:r>
              <a:rPr sz="1667" b="1" spc="121" baseline="-12820" dirty="0">
                <a:latin typeface="Tahoma"/>
                <a:cs typeface="Tahoma"/>
              </a:rPr>
              <a:t> </a:t>
            </a:r>
            <a:r>
              <a:rPr sz="1710" b="1" spc="-4" dirty="0">
                <a:latin typeface="Arial"/>
                <a:cs typeface="Arial"/>
              </a:rPr>
              <a:t>(</a:t>
            </a:r>
            <a:r>
              <a:rPr sz="1710" b="1" spc="-4" dirty="0">
                <a:latin typeface="Tahoma"/>
                <a:cs typeface="Tahoma"/>
              </a:rPr>
              <a:t>SC))</a:t>
            </a:r>
            <a:endParaRPr sz="1710">
              <a:latin typeface="Tahoma"/>
              <a:cs typeface="Tahoma"/>
            </a:endParaRPr>
          </a:p>
          <a:p>
            <a:pPr marL="10860" eaLnBrk="1" hangingPunct="1">
              <a:lnSpc>
                <a:spcPts val="1133"/>
              </a:lnSpc>
              <a:defRPr/>
            </a:pPr>
            <a:r>
              <a:rPr sz="1026" b="1" spc="-4" dirty="0">
                <a:solidFill>
                  <a:srgbClr val="FF0065"/>
                </a:solidFill>
                <a:latin typeface="Arial"/>
                <a:cs typeface="Arial"/>
              </a:rPr>
              <a:t>SC.S# </a:t>
            </a:r>
            <a:r>
              <a:rPr sz="1026" b="1" dirty="0">
                <a:solidFill>
                  <a:srgbClr val="FF0065"/>
                </a:solidFill>
                <a:latin typeface="Arial"/>
                <a:cs typeface="Arial"/>
              </a:rPr>
              <a:t>=</a:t>
            </a:r>
            <a:r>
              <a:rPr sz="1026" b="1" spc="-4" dirty="0">
                <a:solidFill>
                  <a:srgbClr val="FF0065"/>
                </a:solidFill>
                <a:latin typeface="Arial"/>
                <a:cs typeface="Arial"/>
              </a:rPr>
              <a:t> SC1.S#</a:t>
            </a:r>
            <a:endParaRPr sz="1026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63688" y="3750047"/>
            <a:ext cx="3370287" cy="327025"/>
          </a:xfrm>
          <a:prstGeom prst="rect">
            <a:avLst/>
          </a:prstGeom>
        </p:spPr>
        <p:txBody>
          <a:bodyPr wrap="square" lIns="0" tIns="10860" rIns="0" bIns="0">
            <a:spAutoFit/>
          </a:bodyPr>
          <a:lstStyle>
            <a:lvl1pPr marL="952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88"/>
              </a:spcBef>
            </a:pPr>
            <a:r>
              <a:rPr lang="zh-CN" altLang="zh-CN" sz="3000" b="1" baseline="12000" dirty="0">
                <a:solidFill>
                  <a:srgbClr val="FF006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π</a:t>
            </a:r>
            <a:r>
              <a:rPr lang="zh-CN" altLang="zh-CN" sz="1000" b="1" dirty="0">
                <a:latin typeface="Arial" panose="020B0604020202020204" pitchFamily="34" charset="0"/>
                <a:cs typeface="Arial" panose="020B0604020202020204" pitchFamily="34" charset="0"/>
              </a:rPr>
              <a:t>SC.S# </a:t>
            </a:r>
            <a:r>
              <a:rPr lang="zh-CN" altLang="zh-CN" sz="2500" b="1" baseline="140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zh-CN" altLang="zh-CN" sz="3000" b="1" baseline="12000" dirty="0">
                <a:solidFill>
                  <a:srgbClr val="FF006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σ </a:t>
            </a:r>
            <a:r>
              <a:rPr lang="zh-CN" altLang="zh-CN" sz="1000" b="1" dirty="0">
                <a:latin typeface="Arial" panose="020B0604020202020204" pitchFamily="34" charset="0"/>
                <a:cs typeface="Arial" panose="020B0604020202020204" pitchFamily="34" charset="0"/>
              </a:rPr>
              <a:t>SC.C#=“001” </a:t>
            </a:r>
            <a:r>
              <a:rPr lang="zh-CN" altLang="zh-CN" b="1" baseline="-6000" dirty="0">
                <a:latin typeface="Symbol" panose="05050102010706020507" pitchFamily="18" charset="2"/>
              </a:rPr>
              <a:t></a:t>
            </a:r>
            <a:r>
              <a:rPr lang="zh-CN" altLang="zh-CN" b="1" baseline="-6000" dirty="0">
                <a:cs typeface="Times New Roman" panose="02020603050405020304" pitchFamily="18" charset="0"/>
              </a:rPr>
              <a:t> </a:t>
            </a:r>
            <a:r>
              <a:rPr lang="zh-CN" altLang="zh-CN" sz="1000" b="1" dirty="0">
                <a:latin typeface="Arial" panose="020B0604020202020204" pitchFamily="34" charset="0"/>
                <a:cs typeface="Arial" panose="020B0604020202020204" pitchFamily="34" charset="0"/>
              </a:rPr>
              <a:t>SC1.C#=“002”</a:t>
            </a:r>
            <a:r>
              <a:rPr lang="zh-CN" altLang="zh-CN" sz="2500" b="1" baseline="14000" dirty="0">
                <a:latin typeface="Arial" panose="020B0604020202020204" pitchFamily="34" charset="0"/>
                <a:cs typeface="Arial" panose="020B0604020202020204" pitchFamily="34" charset="0"/>
              </a:rPr>
              <a:t>(SC</a:t>
            </a:r>
            <a:endParaRPr lang="zh-CN" altLang="zh-CN" sz="2500" baseline="1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069013" y="3634160"/>
            <a:ext cx="1144587" cy="401637"/>
          </a:xfrm>
          <a:prstGeom prst="rect">
            <a:avLst/>
          </a:prstGeom>
        </p:spPr>
        <p:txBody>
          <a:bodyPr lIns="0" tIns="11946" rIns="0" bIns="0">
            <a:spAutoFit/>
          </a:bodyPr>
          <a:lstStyle/>
          <a:p>
            <a:pPr marL="10860" eaLnBrk="1" hangingPunct="1">
              <a:spcBef>
                <a:spcPts val="94"/>
              </a:spcBef>
              <a:defRPr/>
            </a:pPr>
            <a:r>
              <a:rPr sz="2523" b="1" i="1" spc="-73" dirty="0">
                <a:solidFill>
                  <a:srgbClr val="FF0065"/>
                </a:solidFill>
                <a:latin typeface="Symbol"/>
                <a:cs typeface="Symbol"/>
              </a:rPr>
              <a:t></a:t>
            </a:r>
            <a:r>
              <a:rPr sz="2523" b="1" i="1" spc="-73" dirty="0">
                <a:solidFill>
                  <a:srgbClr val="FF0065"/>
                </a:solidFill>
                <a:latin typeface="Times New Roman"/>
                <a:cs typeface="Times New Roman"/>
              </a:rPr>
              <a:t> </a:t>
            </a:r>
            <a:r>
              <a:rPr sz="1667" b="1" spc="-13" baseline="-12820" dirty="0">
                <a:latin typeface="Tahoma"/>
                <a:cs typeface="Tahoma"/>
              </a:rPr>
              <a:t>SC1</a:t>
            </a:r>
            <a:r>
              <a:rPr sz="1667" b="1" spc="121" baseline="-12820" dirty="0">
                <a:latin typeface="Tahoma"/>
                <a:cs typeface="Tahoma"/>
              </a:rPr>
              <a:t> </a:t>
            </a:r>
            <a:r>
              <a:rPr sz="1710" b="1" spc="-4" dirty="0">
                <a:latin typeface="Arial"/>
                <a:cs typeface="Arial"/>
              </a:rPr>
              <a:t>(</a:t>
            </a:r>
            <a:r>
              <a:rPr sz="1710" b="1" spc="-4" dirty="0">
                <a:latin typeface="Tahoma"/>
                <a:cs typeface="Tahoma"/>
              </a:rPr>
              <a:t>SC))</a:t>
            </a:r>
            <a:endParaRPr sz="171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465763" y="3831010"/>
            <a:ext cx="300037" cy="115887"/>
          </a:xfrm>
          <a:custGeom>
            <a:avLst/>
            <a:gdLst/>
            <a:ahLst/>
            <a:cxnLst/>
            <a:rect l="l" t="t" r="r" b="b"/>
            <a:pathLst>
              <a:path w="350520" h="135254">
                <a:moveTo>
                  <a:pt x="0" y="134874"/>
                </a:moveTo>
                <a:lnTo>
                  <a:pt x="0" y="0"/>
                </a:lnTo>
                <a:lnTo>
                  <a:pt x="350520" y="134874"/>
                </a:lnTo>
                <a:lnTo>
                  <a:pt x="350520" y="0"/>
                </a:lnTo>
                <a:lnTo>
                  <a:pt x="0" y="134874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02E7998-F56A-45D4-984E-4E67E3C944B8}" type="slidenum">
              <a:rPr lang="en-US" altLang="zh-CN" smtClean="0"/>
              <a:pPr>
                <a:defRPr/>
              </a:pPr>
              <a:t>55</a:t>
            </a:fld>
            <a:endParaRPr lang="en-US" altLang="zh-CN"/>
          </a:p>
        </p:txBody>
      </p:sp>
      <p:sp>
        <p:nvSpPr>
          <p:cNvPr id="2" name="object 7">
            <a:extLst>
              <a:ext uri="{FF2B5EF4-FFF2-40B4-BE49-F238E27FC236}">
                <a16:creationId xmlns:a16="http://schemas.microsoft.com/office/drawing/2014/main" id="{26AB0A1D-744B-067E-9D1C-263A23878AE2}"/>
              </a:ext>
            </a:extLst>
          </p:cNvPr>
          <p:cNvSpPr/>
          <p:nvPr/>
        </p:nvSpPr>
        <p:spPr>
          <a:xfrm>
            <a:off x="6554788" y="4403303"/>
            <a:ext cx="1752600" cy="197802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9" grpId="0"/>
      <p:bldP spid="10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2316163" y="3582541"/>
            <a:ext cx="2017712" cy="327025"/>
          </a:xfrm>
          <a:prstGeom prst="rect">
            <a:avLst/>
          </a:prstGeom>
        </p:spPr>
        <p:txBody>
          <a:bodyPr lIns="0" tIns="10860" rIns="0" bIns="0">
            <a:spAutoFit/>
          </a:bodyPr>
          <a:lstStyle>
            <a:lvl1pPr marL="952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88"/>
              </a:spcBef>
            </a:pPr>
            <a:r>
              <a:rPr lang="zh-CN" altLang="zh-CN" sz="3000" b="1" baseline="12000">
                <a:solidFill>
                  <a:srgbClr val="FF006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π</a:t>
            </a:r>
            <a:r>
              <a:rPr lang="zh-CN" altLang="zh-CN" sz="1000" b="1">
                <a:latin typeface="Arial" panose="020B0604020202020204" pitchFamily="34" charset="0"/>
                <a:cs typeface="Arial" panose="020B0604020202020204" pitchFamily="34" charset="0"/>
              </a:rPr>
              <a:t>Sname, Sage </a:t>
            </a:r>
            <a:r>
              <a:rPr lang="zh-CN" altLang="zh-CN" sz="2500" b="1" baseline="1400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zh-CN" altLang="zh-CN" sz="3000" b="1" baseline="12000">
                <a:solidFill>
                  <a:srgbClr val="FF006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σ</a:t>
            </a:r>
            <a:r>
              <a:rPr lang="zh-CN" altLang="zh-CN" sz="1000" b="1">
                <a:latin typeface="Arial" panose="020B0604020202020204" pitchFamily="34" charset="0"/>
                <a:cs typeface="Arial" panose="020B0604020202020204" pitchFamily="34" charset="0"/>
              </a:rPr>
              <a:t>C# &lt;&gt;“002”</a:t>
            </a:r>
            <a:endParaRPr lang="zh-CN" altLang="zh-CN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21188" y="3573016"/>
            <a:ext cx="238125" cy="273050"/>
          </a:xfrm>
          <a:prstGeom prst="rect">
            <a:avLst/>
          </a:prstGeom>
        </p:spPr>
        <p:txBody>
          <a:bodyPr lIns="0" tIns="10317" rIns="0" bIns="0">
            <a:spAutoFit/>
          </a:bodyPr>
          <a:lstStyle/>
          <a:p>
            <a:pPr marL="10860" eaLnBrk="1" hangingPunct="1">
              <a:spcBef>
                <a:spcPts val="81"/>
              </a:spcBef>
              <a:defRPr/>
            </a:pPr>
            <a:r>
              <a:rPr sz="1710" b="1" spc="-9" dirty="0">
                <a:latin typeface="Arial"/>
                <a:cs typeface="Arial"/>
              </a:rPr>
              <a:t>(S</a:t>
            </a:r>
            <a:endParaRPr sz="171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797425" y="3668266"/>
            <a:ext cx="300038" cy="115888"/>
          </a:xfrm>
          <a:custGeom>
            <a:avLst/>
            <a:gdLst/>
            <a:ahLst/>
            <a:cxnLst/>
            <a:rect l="l" t="t" r="r" b="b"/>
            <a:pathLst>
              <a:path w="350520" h="135889">
                <a:moveTo>
                  <a:pt x="0" y="135636"/>
                </a:moveTo>
                <a:lnTo>
                  <a:pt x="0" y="0"/>
                </a:lnTo>
                <a:lnTo>
                  <a:pt x="350520" y="135636"/>
                </a:lnTo>
                <a:lnTo>
                  <a:pt x="350520" y="0"/>
                </a:lnTo>
                <a:lnTo>
                  <a:pt x="0" y="135636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8" name="object 8"/>
          <p:cNvSpPr txBox="1"/>
          <p:nvPr/>
        </p:nvSpPr>
        <p:spPr>
          <a:xfrm>
            <a:off x="914400" y="1370013"/>
            <a:ext cx="8229600" cy="1985317"/>
          </a:xfrm>
          <a:prstGeom prst="rect">
            <a:avLst/>
          </a:prstGeom>
        </p:spPr>
        <p:txBody>
          <a:bodyPr wrap="square" lIns="0" tIns="10317" rIns="0" bIns="0">
            <a:spAutoFit/>
          </a:bodyPr>
          <a:lstStyle>
            <a:lvl1pPr marL="254000" indent="-231775">
              <a:tabLst>
                <a:tab pos="25400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tabLst>
                <a:tab pos="25400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tabLst>
                <a:tab pos="25400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tabLst>
                <a:tab pos="25400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tabLst>
                <a:tab pos="25400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75"/>
              </a:spcBef>
              <a:buFont typeface="Wingdings" panose="05000000000000000000" pitchFamily="2" charset="2"/>
              <a:buChar char=""/>
            </a:pP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前例我们也可以采用交运算来实现</a:t>
            </a:r>
            <a:endParaRPr lang="zh-CN" altLang="zh-CN" sz="20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eaLnBrk="1" hangingPunct="1">
              <a:spcBef>
                <a:spcPts val="50"/>
              </a:spcBef>
              <a:buFont typeface="Wingdings" panose="05000000000000000000" pitchFamily="2" charset="2"/>
              <a:buChar char=""/>
            </a:pPr>
            <a:endParaRPr lang="zh-CN" altLang="zh-CN" sz="2000" dirty="0">
              <a:cs typeface="Times New Roman" panose="02020603050405020304" pitchFamily="18" charset="0"/>
            </a:endParaRPr>
          </a:p>
          <a:p>
            <a:pPr eaLnBrk="1" hangingPunct="1"/>
            <a:r>
              <a:rPr lang="zh-CN" altLang="zh-CN" sz="3000" b="1" baseline="12000" dirty="0">
                <a:solidFill>
                  <a:srgbClr val="FF006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π</a:t>
            </a:r>
            <a:r>
              <a:rPr lang="zh-CN" altLang="zh-CN" sz="1000" b="1" dirty="0">
                <a:latin typeface="Arial" panose="020B0604020202020204" pitchFamily="34" charset="0"/>
                <a:cs typeface="Arial" panose="020B0604020202020204" pitchFamily="34" charset="0"/>
              </a:rPr>
              <a:t>S#</a:t>
            </a:r>
            <a:r>
              <a:rPr lang="zh-CN" altLang="zh-CN" sz="2500" b="1" baseline="140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zh-CN" altLang="zh-CN" sz="3000" b="1" baseline="12000" dirty="0">
                <a:solidFill>
                  <a:srgbClr val="FF006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σ</a:t>
            </a:r>
            <a:r>
              <a:rPr lang="zh-CN" altLang="zh-CN" sz="1000" b="1" dirty="0">
                <a:latin typeface="Arial" panose="020B0604020202020204" pitchFamily="34" charset="0"/>
                <a:cs typeface="Arial" panose="020B0604020202020204" pitchFamily="34" charset="0"/>
              </a:rPr>
              <a:t>C#=“001” </a:t>
            </a:r>
            <a:r>
              <a:rPr lang="zh-CN" altLang="zh-CN" sz="2500" b="1" baseline="14000" dirty="0">
                <a:latin typeface="Arial" panose="020B0604020202020204" pitchFamily="34" charset="0"/>
                <a:cs typeface="Arial" panose="020B0604020202020204" pitchFamily="34" charset="0"/>
              </a:rPr>
              <a:t>(SC))	</a:t>
            </a:r>
            <a:r>
              <a:rPr lang="zh-CN" altLang="zh-CN" sz="2500" b="1" baseline="14000" dirty="0">
                <a:latin typeface="Symbol" panose="05050102010706020507" pitchFamily="18" charset="2"/>
              </a:rPr>
              <a:t></a:t>
            </a:r>
            <a:r>
              <a:rPr lang="zh-CN" altLang="zh-CN" sz="2500" b="1" baseline="14000" dirty="0">
                <a:cs typeface="Times New Roman" panose="02020603050405020304" pitchFamily="18" charset="0"/>
              </a:rPr>
              <a:t> </a:t>
            </a:r>
            <a:r>
              <a:rPr lang="zh-CN" altLang="zh-CN" sz="3000" b="1" baseline="12000" dirty="0">
                <a:solidFill>
                  <a:srgbClr val="FF006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π</a:t>
            </a:r>
            <a:r>
              <a:rPr lang="zh-CN" altLang="zh-CN" sz="1000" b="1" dirty="0">
                <a:latin typeface="Arial" panose="020B0604020202020204" pitchFamily="34" charset="0"/>
                <a:cs typeface="Arial" panose="020B0604020202020204" pitchFamily="34" charset="0"/>
              </a:rPr>
              <a:t>S#</a:t>
            </a:r>
            <a:r>
              <a:rPr lang="zh-CN" altLang="zh-CN" sz="2500" b="1" baseline="140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zh-CN" altLang="zh-CN" sz="3000" b="1" baseline="12000" dirty="0">
                <a:solidFill>
                  <a:srgbClr val="FF006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σ</a:t>
            </a:r>
            <a:r>
              <a:rPr lang="zh-CN" altLang="zh-CN" sz="1000" b="1" dirty="0">
                <a:latin typeface="Arial" panose="020B0604020202020204" pitchFamily="34" charset="0"/>
                <a:cs typeface="Arial" panose="020B0604020202020204" pitchFamily="34" charset="0"/>
              </a:rPr>
              <a:t>C#=“002” </a:t>
            </a:r>
            <a:r>
              <a:rPr lang="zh-CN" altLang="zh-CN" sz="2500" b="1" baseline="14000" dirty="0">
                <a:latin typeface="Arial" panose="020B0604020202020204" pitchFamily="34" charset="0"/>
                <a:cs typeface="Arial" panose="020B0604020202020204" pitchFamily="34" charset="0"/>
              </a:rPr>
              <a:t>(SC))</a:t>
            </a:r>
            <a:endParaRPr lang="zh-CN" altLang="zh-CN" sz="2500" baseline="14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ts val="2263"/>
              </a:spcBef>
              <a:buFont typeface="Wingdings" panose="05000000000000000000" pitchFamily="2" charset="2"/>
              <a:buChar char=""/>
            </a:pP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再举一个例子：查询不学习课程号为</a:t>
            </a:r>
            <a:r>
              <a:rPr lang="zh-CN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002</a:t>
            </a: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的学生姓名和年龄</a:t>
            </a:r>
            <a:endParaRPr lang="zh-CN" altLang="zh-CN" sz="20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eaLnBrk="1" hangingPunct="1">
              <a:spcBef>
                <a:spcPts val="1025"/>
              </a:spcBef>
              <a:buFont typeface="Wingdings" panose="05000000000000000000" pitchFamily="2" charset="2"/>
              <a:buChar char=""/>
            </a:pP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同学给出了如下的查询表达式</a:t>
            </a:r>
            <a:r>
              <a:rPr lang="zh-CN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这些表达式的结果是什么</a:t>
            </a:r>
            <a:r>
              <a:rPr lang="zh-CN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? </a:t>
            </a: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正确吗</a:t>
            </a:r>
            <a:r>
              <a:rPr lang="zh-CN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zh-CN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123728" y="4046091"/>
            <a:ext cx="2876897" cy="327025"/>
          </a:xfrm>
          <a:prstGeom prst="rect">
            <a:avLst/>
          </a:prstGeom>
        </p:spPr>
        <p:txBody>
          <a:bodyPr wrap="square" lIns="0" tIns="10860" rIns="0" bIns="0">
            <a:spAutoFit/>
          </a:bodyPr>
          <a:lstStyle>
            <a:lvl1pPr marL="9525">
              <a:tabLst>
                <a:tab pos="1609725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tabLst>
                <a:tab pos="1609725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tabLst>
                <a:tab pos="1609725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tabLst>
                <a:tab pos="1609725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tabLst>
                <a:tab pos="1609725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609725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609725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609725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609725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88"/>
              </a:spcBef>
            </a:pPr>
            <a:r>
              <a:rPr lang="zh-CN" altLang="zh-CN" sz="3000" b="1" baseline="12000" dirty="0">
                <a:solidFill>
                  <a:srgbClr val="FF006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π</a:t>
            </a:r>
            <a:r>
              <a:rPr lang="zh-CN" altLang="zh-CN" sz="1000" b="1" dirty="0">
                <a:latin typeface="Arial" panose="020B0604020202020204" pitchFamily="34" charset="0"/>
                <a:cs typeface="Arial" panose="020B0604020202020204" pitchFamily="34" charset="0"/>
              </a:rPr>
              <a:t>Sname, Sage </a:t>
            </a:r>
            <a:r>
              <a:rPr lang="zh-CN" altLang="zh-CN" sz="2500" b="1" baseline="14000" dirty="0">
                <a:latin typeface="Arial" panose="020B0604020202020204" pitchFamily="34" charset="0"/>
                <a:cs typeface="Arial" panose="020B0604020202020204" pitchFamily="34" charset="0"/>
              </a:rPr>
              <a:t>(S </a:t>
            </a:r>
            <a:r>
              <a:rPr lang="zh-CN" altLang="zh-CN" sz="3000" baseline="12000" dirty="0">
                <a:solidFill>
                  <a:srgbClr val="FF0065"/>
                </a:solidFill>
                <a:latin typeface="Symbol" panose="05050102010706020507" pitchFamily="18" charset="2"/>
              </a:rPr>
              <a:t></a:t>
            </a:r>
            <a:r>
              <a:rPr lang="zh-CN" altLang="zh-CN" sz="3000" baseline="12000" dirty="0">
                <a:solidFill>
                  <a:srgbClr val="FF0065"/>
                </a:solidFill>
                <a:cs typeface="Times New Roman" panose="02020603050405020304" pitchFamily="18" charset="0"/>
              </a:rPr>
              <a:t>	</a:t>
            </a:r>
            <a:r>
              <a:rPr lang="zh-CN" altLang="zh-CN" sz="2500" b="1" baseline="140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zh-CN" altLang="zh-CN" sz="3000" b="1" baseline="12000" dirty="0">
                <a:solidFill>
                  <a:srgbClr val="FF006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σ</a:t>
            </a:r>
            <a:r>
              <a:rPr lang="zh-CN" altLang="zh-CN" sz="1000" b="1" dirty="0">
                <a:latin typeface="Arial" panose="020B0604020202020204" pitchFamily="34" charset="0"/>
                <a:cs typeface="Arial" panose="020B0604020202020204" pitchFamily="34" charset="0"/>
              </a:rPr>
              <a:t>C#=“002” </a:t>
            </a:r>
            <a:r>
              <a:rPr lang="zh-CN" altLang="zh-CN" sz="2500" b="1" baseline="14000" dirty="0">
                <a:latin typeface="Arial" panose="020B0604020202020204" pitchFamily="34" charset="0"/>
                <a:cs typeface="Arial" panose="020B0604020202020204" pitchFamily="34" charset="0"/>
              </a:rPr>
              <a:t>(S</a:t>
            </a:r>
            <a:endParaRPr lang="zh-CN" altLang="zh-CN" sz="2500" baseline="1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237163" y="3573016"/>
            <a:ext cx="842962" cy="741363"/>
          </a:xfrm>
          <a:prstGeom prst="rect">
            <a:avLst/>
          </a:prstGeom>
        </p:spPr>
        <p:txBody>
          <a:bodyPr lIns="0" tIns="10317" rIns="0" bIns="0">
            <a:spAutoFit/>
          </a:bodyPr>
          <a:lstStyle/>
          <a:p>
            <a:pPr marL="10860" eaLnBrk="1" hangingPunct="1">
              <a:spcBef>
                <a:spcPts val="81"/>
              </a:spcBef>
              <a:defRPr/>
            </a:pPr>
            <a:r>
              <a:rPr sz="1710" b="1" spc="-9" dirty="0">
                <a:latin typeface="Tahoma"/>
                <a:cs typeface="Tahoma"/>
              </a:rPr>
              <a:t>SC))</a:t>
            </a:r>
            <a:endParaRPr sz="1710">
              <a:latin typeface="Tahoma"/>
              <a:cs typeface="Tahoma"/>
            </a:endParaRPr>
          </a:p>
          <a:p>
            <a:pPr marL="351857" eaLnBrk="1" hangingPunct="1">
              <a:spcBef>
                <a:spcPts val="1603"/>
              </a:spcBef>
              <a:defRPr/>
            </a:pPr>
            <a:r>
              <a:rPr sz="1710" b="1" spc="-4" dirty="0">
                <a:latin typeface="Tahoma"/>
                <a:cs typeface="Tahoma"/>
              </a:rPr>
              <a:t>SC))</a:t>
            </a:r>
            <a:endParaRPr sz="171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157788" y="4133404"/>
            <a:ext cx="257175" cy="114300"/>
          </a:xfrm>
          <a:custGeom>
            <a:avLst/>
            <a:gdLst/>
            <a:ahLst/>
            <a:cxnLst/>
            <a:rect l="l" t="t" r="r" b="b"/>
            <a:pathLst>
              <a:path w="302260" h="135254">
                <a:moveTo>
                  <a:pt x="0" y="134874"/>
                </a:moveTo>
                <a:lnTo>
                  <a:pt x="0" y="0"/>
                </a:lnTo>
                <a:lnTo>
                  <a:pt x="301752" y="134874"/>
                </a:lnTo>
                <a:lnTo>
                  <a:pt x="301752" y="0"/>
                </a:lnTo>
                <a:lnTo>
                  <a:pt x="0" y="134874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4" name="灯片编号占位符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A6568E1-4089-4561-919E-9D2F37D3F2B0}" type="slidenum">
              <a:rPr lang="en-US" altLang="zh-CN" smtClean="0"/>
              <a:pPr>
                <a:defRPr/>
              </a:pPr>
              <a:t>56</a:t>
            </a:fld>
            <a:endParaRPr lang="en-US" altLang="zh-CN" dirty="0"/>
          </a:p>
        </p:txBody>
      </p:sp>
      <p:sp>
        <p:nvSpPr>
          <p:cNvPr id="15" name="标题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755576" y="1595490"/>
            <a:ext cx="7277050" cy="749082"/>
          </a:xfrm>
          <a:prstGeom prst="rect">
            <a:avLst/>
          </a:prstGeom>
        </p:spPr>
        <p:txBody>
          <a:bodyPr wrap="square" lIns="0" tIns="10317" rIns="0" bIns="0">
            <a:spAutoFit/>
          </a:bodyPr>
          <a:lstStyle>
            <a:lvl1pPr marL="242888" indent="-231775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75"/>
              </a:spcBef>
              <a:buFont typeface="Wingdings" panose="05000000000000000000" pitchFamily="2" charset="2"/>
              <a:buChar char=""/>
            </a:pPr>
            <a:r>
              <a:rPr lang="zh-CN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再举一个例子：查询不学习课程号为</a:t>
            </a:r>
            <a:r>
              <a:rPr lang="zh-CN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002</a:t>
            </a:r>
            <a:r>
              <a:rPr lang="zh-CN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的学生姓名和年龄</a:t>
            </a:r>
            <a:r>
              <a:rPr lang="zh-CN" altLang="en-US" b="1" dirty="0">
                <a:latin typeface="新宋体" panose="02010609030101010101" pitchFamily="49" charset="-122"/>
                <a:ea typeface="新宋体" panose="02010609030101010101" pitchFamily="49" charset="-122"/>
              </a:rPr>
              <a:t>（正确表示）</a:t>
            </a:r>
            <a:endParaRPr lang="zh-CN" altLang="zh-CN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63688" y="2525911"/>
            <a:ext cx="4037707" cy="327025"/>
          </a:xfrm>
          <a:prstGeom prst="rect">
            <a:avLst/>
          </a:prstGeom>
        </p:spPr>
        <p:txBody>
          <a:bodyPr wrap="square" lIns="0" tIns="10860" rIns="0" bIns="0">
            <a:spAutoFit/>
          </a:bodyPr>
          <a:lstStyle>
            <a:lvl1pPr marL="952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88"/>
              </a:spcBef>
            </a:pPr>
            <a:r>
              <a:rPr lang="zh-CN" altLang="zh-CN" sz="3000" b="1" baseline="12000" dirty="0">
                <a:solidFill>
                  <a:srgbClr val="FF006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π</a:t>
            </a:r>
            <a:r>
              <a:rPr lang="zh-CN" altLang="zh-CN" sz="1000" b="1" dirty="0">
                <a:latin typeface="Arial" panose="020B0604020202020204" pitchFamily="34" charset="0"/>
                <a:cs typeface="Arial" panose="020B0604020202020204" pitchFamily="34" charset="0"/>
              </a:rPr>
              <a:t>Sname, Sage </a:t>
            </a:r>
            <a:r>
              <a:rPr lang="zh-CN" altLang="zh-CN" sz="2500" b="1" baseline="14000" dirty="0">
                <a:latin typeface="Arial" panose="020B0604020202020204" pitchFamily="34" charset="0"/>
                <a:cs typeface="Arial" panose="020B0604020202020204" pitchFamily="34" charset="0"/>
              </a:rPr>
              <a:t>(S</a:t>
            </a:r>
            <a:r>
              <a:rPr lang="zh-CN" altLang="zh-CN" sz="2500" b="1" baseline="14000" dirty="0">
                <a:latin typeface="Tahoma" panose="020B0604030504040204" pitchFamily="34" charset="0"/>
                <a:cs typeface="Tahoma" panose="020B0604030504040204" pitchFamily="34" charset="0"/>
              </a:rPr>
              <a:t>) </a:t>
            </a:r>
            <a:r>
              <a:rPr lang="zh-CN" altLang="zh-CN" sz="3000" baseline="12000" dirty="0">
                <a:solidFill>
                  <a:srgbClr val="FF0065"/>
                </a:solidFill>
                <a:latin typeface="Symbol" panose="05050102010706020507" pitchFamily="18" charset="2"/>
              </a:rPr>
              <a:t></a:t>
            </a:r>
            <a:r>
              <a:rPr lang="zh-CN" altLang="zh-CN" sz="3000" baseline="12000" dirty="0">
                <a:solidFill>
                  <a:srgbClr val="FF0065"/>
                </a:solidFill>
                <a:cs typeface="Times New Roman" panose="02020603050405020304" pitchFamily="18" charset="0"/>
              </a:rPr>
              <a:t> </a:t>
            </a:r>
            <a:r>
              <a:rPr lang="zh-CN" altLang="zh-CN" sz="3000" b="1" baseline="12000" dirty="0">
                <a:solidFill>
                  <a:srgbClr val="FF006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π</a:t>
            </a:r>
            <a:r>
              <a:rPr lang="zh-CN" altLang="zh-CN" sz="1000" b="1" dirty="0">
                <a:latin typeface="Arial" panose="020B0604020202020204" pitchFamily="34" charset="0"/>
                <a:cs typeface="Arial" panose="020B0604020202020204" pitchFamily="34" charset="0"/>
              </a:rPr>
              <a:t>Sname, Sage </a:t>
            </a:r>
            <a:r>
              <a:rPr lang="zh-CN" altLang="zh-CN" sz="2500" b="1" baseline="140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zh-CN" altLang="zh-CN" sz="3000" b="1" baseline="12000" dirty="0">
                <a:solidFill>
                  <a:srgbClr val="FF006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σ</a:t>
            </a:r>
            <a:r>
              <a:rPr lang="zh-CN" altLang="zh-CN" sz="1000" b="1" dirty="0">
                <a:latin typeface="Arial" panose="020B0604020202020204" pitchFamily="34" charset="0"/>
                <a:cs typeface="Arial" panose="020B0604020202020204" pitchFamily="34" charset="0"/>
              </a:rPr>
              <a:t>C#=“002” </a:t>
            </a:r>
            <a:r>
              <a:rPr lang="zh-CN" altLang="zh-CN" sz="2500" b="1" baseline="14000" dirty="0">
                <a:latin typeface="Arial" panose="020B0604020202020204" pitchFamily="34" charset="0"/>
                <a:cs typeface="Arial" panose="020B0604020202020204" pitchFamily="34" charset="0"/>
              </a:rPr>
              <a:t>(S</a:t>
            </a:r>
            <a:endParaRPr lang="zh-CN" altLang="zh-CN" sz="2500" baseline="1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77658" y="2514798"/>
            <a:ext cx="501650" cy="274638"/>
          </a:xfrm>
          <a:prstGeom prst="rect">
            <a:avLst/>
          </a:prstGeom>
        </p:spPr>
        <p:txBody>
          <a:bodyPr lIns="0" tIns="10317" rIns="0" bIns="0">
            <a:spAutoFit/>
          </a:bodyPr>
          <a:lstStyle/>
          <a:p>
            <a:pPr marL="10860" eaLnBrk="1" hangingPunct="1">
              <a:spcBef>
                <a:spcPts val="81"/>
              </a:spcBef>
              <a:defRPr/>
            </a:pPr>
            <a:r>
              <a:rPr sz="1710" b="1" spc="-9" dirty="0">
                <a:latin typeface="Tahoma"/>
                <a:cs typeface="Tahoma"/>
              </a:rPr>
              <a:t>SC</a:t>
            </a:r>
            <a:r>
              <a:rPr sz="1710" b="1" spc="-4" dirty="0">
                <a:latin typeface="Tahoma"/>
                <a:cs typeface="Tahoma"/>
              </a:rPr>
              <a:t>))</a:t>
            </a:r>
            <a:endParaRPr sz="171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899820" y="2611636"/>
            <a:ext cx="300038" cy="115887"/>
          </a:xfrm>
          <a:custGeom>
            <a:avLst/>
            <a:gdLst/>
            <a:ahLst/>
            <a:cxnLst/>
            <a:rect l="l" t="t" r="r" b="b"/>
            <a:pathLst>
              <a:path w="350520" h="135255">
                <a:moveTo>
                  <a:pt x="0" y="134874"/>
                </a:moveTo>
                <a:lnTo>
                  <a:pt x="0" y="0"/>
                </a:lnTo>
                <a:lnTo>
                  <a:pt x="350520" y="134874"/>
                </a:lnTo>
                <a:lnTo>
                  <a:pt x="350520" y="0"/>
                </a:lnTo>
                <a:lnTo>
                  <a:pt x="0" y="134874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A6568E1-4089-4561-919E-9D2F37D3F2B0}" type="slidenum">
              <a:rPr lang="en-US" altLang="zh-CN" smtClean="0"/>
              <a:pPr>
                <a:defRPr/>
              </a:pPr>
              <a:t>57</a:t>
            </a:fld>
            <a:endParaRPr lang="en-US" altLang="zh-CN" dirty="0"/>
          </a:p>
        </p:txBody>
      </p:sp>
      <p:sp>
        <p:nvSpPr>
          <p:cNvPr id="12" name="标题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zh-CN" sz="28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(3)</a:t>
            </a:r>
            <a:r>
              <a:rPr lang="zh-CN" altLang="zh-CN" sz="2800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要特别注意语义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925513" y="1182688"/>
            <a:ext cx="7072312" cy="4007717"/>
          </a:xfrm>
          <a:prstGeom prst="rect">
            <a:avLst/>
          </a:prstGeom>
        </p:spPr>
        <p:txBody>
          <a:bodyPr lIns="0" tIns="141178" rIns="0" bIns="0">
            <a:spAutoFit/>
          </a:bodyPr>
          <a:lstStyle>
            <a:lvl1pPr marL="242888" indent="-231775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1023938" indent="-230188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1113"/>
              </a:spcBef>
              <a:buFont typeface="Wingdings" panose="05000000000000000000" pitchFamily="2" charset="2"/>
              <a:buChar char=""/>
            </a:pP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书写关系代数表达式的基本思路</a:t>
            </a:r>
            <a:endParaRPr lang="zh-CN" altLang="zh-CN" sz="20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eaLnBrk="1" hangingPunct="1">
              <a:lnSpc>
                <a:spcPct val="105000"/>
              </a:lnSpc>
              <a:spcBef>
                <a:spcPts val="925"/>
              </a:spcBef>
            </a:pPr>
            <a:r>
              <a:rPr lang="zh-CN" altLang="zh-CN" sz="2000" dirty="0">
                <a:latin typeface="Wingdings" panose="05000000000000000000" pitchFamily="2" charset="2"/>
              </a:rPr>
              <a:t></a:t>
            </a:r>
            <a:r>
              <a:rPr lang="zh-CN" altLang="zh-CN" sz="2000" dirty="0">
                <a:cs typeface="Times New Roman" panose="02020603050405020304" pitchFamily="18" charset="0"/>
              </a:rPr>
              <a:t> </a:t>
            </a: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检索是否涉及多个表，如不涉及，则可直接采用并、差、交、选择 与投影，只要注意条件书写正确与否即可</a:t>
            </a:r>
            <a:endParaRPr lang="zh-CN" altLang="zh-CN" sz="20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eaLnBrk="1" hangingPunct="1">
              <a:spcBef>
                <a:spcPts val="925"/>
              </a:spcBef>
            </a:pPr>
            <a:r>
              <a:rPr lang="zh-CN" altLang="zh-CN" sz="2000" dirty="0">
                <a:latin typeface="Wingdings" panose="05000000000000000000" pitchFamily="2" charset="2"/>
              </a:rPr>
              <a:t></a:t>
            </a:r>
            <a:r>
              <a:rPr lang="zh-CN" altLang="zh-CN" sz="2000" dirty="0">
                <a:cs typeface="Times New Roman" panose="02020603050405020304" pitchFamily="18" charset="0"/>
              </a:rPr>
              <a:t> </a:t>
            </a: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如涉及多个表，则检查</a:t>
            </a:r>
            <a:endParaRPr lang="zh-CN" altLang="zh-CN" sz="20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lvl="1" eaLnBrk="1" hangingPunct="1">
              <a:spcBef>
                <a:spcPts val="1025"/>
              </a:spcBef>
              <a:buFont typeface="Wingdings" panose="05000000000000000000" pitchFamily="2" charset="2"/>
              <a:buChar char=""/>
            </a:pP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能否使用自然连接，将多个表连接起来</a:t>
            </a:r>
            <a:r>
              <a:rPr lang="zh-CN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多数情况是这样的</a:t>
            </a:r>
            <a:r>
              <a:rPr lang="zh-CN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zh-CN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eaLnBrk="1" hangingPunct="1">
              <a:spcBef>
                <a:spcPts val="1050"/>
              </a:spcBef>
              <a:buFont typeface="Wingdings" panose="05000000000000000000" pitchFamily="2" charset="2"/>
              <a:buChar char=""/>
            </a:pP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如不能，能否使用等值或不等值连接</a:t>
            </a:r>
            <a:r>
              <a:rPr lang="zh-CN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zh-CN" altLang="zh-CN" sz="2000" b="1" dirty="0">
                <a:solidFill>
                  <a:srgbClr val="FF0065"/>
                </a:solidFill>
                <a:latin typeface="Symbol" panose="05050102010706020507" pitchFamily="18" charset="2"/>
              </a:rPr>
              <a:t></a:t>
            </a:r>
            <a:r>
              <a:rPr lang="zh-CN" altLang="zh-CN" sz="2000" b="1" dirty="0">
                <a:solidFill>
                  <a:srgbClr val="FF0065"/>
                </a:solidFill>
                <a:cs typeface="Times New Roman" panose="02020603050405020304" pitchFamily="18" charset="0"/>
              </a:rPr>
              <a:t>-</a:t>
            </a:r>
            <a:r>
              <a:rPr lang="zh-CN" altLang="zh-CN" sz="2000" b="1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连接</a:t>
            </a:r>
            <a:r>
              <a:rPr lang="zh-CN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zh-CN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eaLnBrk="1" hangingPunct="1">
              <a:spcBef>
                <a:spcPts val="1000"/>
              </a:spcBef>
              <a:buFont typeface="Wingdings" panose="05000000000000000000" pitchFamily="2" charset="2"/>
              <a:buChar char=""/>
            </a:pP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还不能，则使用广义笛卡尔积，注意相关条件的书写</a:t>
            </a:r>
            <a:endParaRPr lang="zh-CN" altLang="zh-CN" sz="20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eaLnBrk="1" hangingPunct="1">
              <a:spcBef>
                <a:spcPts val="1025"/>
              </a:spcBef>
            </a:pPr>
            <a:r>
              <a:rPr lang="zh-CN" altLang="zh-CN" sz="2000" dirty="0">
                <a:latin typeface="Wingdings" panose="05000000000000000000" pitchFamily="2" charset="2"/>
              </a:rPr>
              <a:t></a:t>
            </a:r>
            <a:r>
              <a:rPr lang="zh-CN" altLang="zh-CN" sz="2000" dirty="0">
                <a:cs typeface="Times New Roman" panose="02020603050405020304" pitchFamily="18" charset="0"/>
              </a:rPr>
              <a:t> </a:t>
            </a: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连接完后，可以继续使用选择、投影等运算，即所谓数据库的</a:t>
            </a:r>
            <a:r>
              <a:rPr lang="zh-CN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zh-CN" altLang="zh-CN" sz="2000" b="1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选</a:t>
            </a:r>
            <a:r>
              <a:rPr lang="en-US" altLang="zh-CN" sz="2000" b="1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zh-CN" altLang="zh-CN" sz="2000" b="1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投 联</a:t>
            </a:r>
            <a:r>
              <a:rPr lang="zh-CN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操作</a:t>
            </a:r>
            <a:endParaRPr lang="zh-CN" altLang="zh-CN" sz="20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483768" y="5334223"/>
            <a:ext cx="2627982" cy="318743"/>
          </a:xfrm>
          <a:prstGeom prst="rect">
            <a:avLst/>
          </a:prstGeom>
        </p:spPr>
        <p:txBody>
          <a:bodyPr wrap="square" lIns="0" tIns="10860" rIns="0" bIns="0">
            <a:spAutoFit/>
          </a:bodyPr>
          <a:lstStyle>
            <a:lvl1pPr marL="952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88"/>
              </a:spcBef>
            </a:pPr>
            <a:r>
              <a:rPr lang="zh-CN" altLang="zh-CN" sz="3000" b="1" baseline="12000" dirty="0">
                <a:solidFill>
                  <a:srgbClr val="FF006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π</a:t>
            </a:r>
            <a:r>
              <a:rPr lang="zh-CN" altLang="zh-CN" sz="1000" b="1" dirty="0">
                <a:latin typeface="Arial" panose="020B0604020202020204" pitchFamily="34" charset="0"/>
                <a:cs typeface="Arial" panose="020B0604020202020204" pitchFamily="34" charset="0"/>
              </a:rPr>
              <a:t>Sname, Sage </a:t>
            </a:r>
            <a:r>
              <a:rPr lang="zh-CN" altLang="zh-CN" sz="2500" b="1" baseline="140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zh-CN" altLang="zh-CN" sz="3000" b="1" baseline="12000" dirty="0">
                <a:solidFill>
                  <a:srgbClr val="FF006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σ</a:t>
            </a:r>
            <a:r>
              <a:rPr lang="zh-CN" altLang="zh-CN" sz="1000" b="1" dirty="0">
                <a:latin typeface="Arial" panose="020B0604020202020204" pitchFamily="34" charset="0"/>
                <a:cs typeface="Arial" panose="020B0604020202020204" pitchFamily="34" charset="0"/>
              </a:rPr>
              <a:t>C#=“002” </a:t>
            </a:r>
            <a:r>
              <a:rPr lang="zh-CN" altLang="zh-CN" sz="2500" b="1" baseline="140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CN" sz="2500" b="1" baseline="14000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zh-CN" altLang="zh-CN" sz="2500" b="1" baseline="14000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endParaRPr lang="zh-CN" altLang="zh-CN" sz="2500" baseline="1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569661" y="5324698"/>
            <a:ext cx="621589" cy="273567"/>
          </a:xfrm>
          <a:prstGeom prst="rect">
            <a:avLst/>
          </a:prstGeom>
        </p:spPr>
        <p:txBody>
          <a:bodyPr wrap="square" lIns="0" tIns="10317" rIns="0" bIns="0">
            <a:spAutoFit/>
          </a:bodyPr>
          <a:lstStyle/>
          <a:p>
            <a:pPr marL="10860" eaLnBrk="1" hangingPunct="1">
              <a:spcBef>
                <a:spcPts val="81"/>
              </a:spcBef>
              <a:defRPr/>
            </a:pPr>
            <a:r>
              <a:rPr sz="1710" b="1" spc="-4" dirty="0">
                <a:latin typeface="Tahoma"/>
                <a:cs typeface="Tahoma"/>
              </a:rPr>
              <a:t>SC))</a:t>
            </a:r>
            <a:endParaRPr sz="171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148064" y="5373216"/>
            <a:ext cx="257821" cy="189429"/>
          </a:xfrm>
          <a:custGeom>
            <a:avLst/>
            <a:gdLst/>
            <a:ahLst/>
            <a:cxnLst/>
            <a:rect l="l" t="t" r="r" b="b"/>
            <a:pathLst>
              <a:path w="350520" h="135254">
                <a:moveTo>
                  <a:pt x="0" y="134874"/>
                </a:moveTo>
                <a:lnTo>
                  <a:pt x="0" y="0"/>
                </a:lnTo>
                <a:lnTo>
                  <a:pt x="350520" y="134874"/>
                </a:lnTo>
                <a:lnTo>
                  <a:pt x="350520" y="0"/>
                </a:lnTo>
                <a:lnTo>
                  <a:pt x="0" y="134874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A6568E1-4089-4561-919E-9D2F37D3F2B0}" type="slidenum">
              <a:rPr lang="en-US" altLang="zh-CN" smtClean="0"/>
              <a:pPr>
                <a:defRPr/>
              </a:pPr>
              <a:t>58</a:t>
            </a:fld>
            <a:endParaRPr lang="en-US" altLang="zh-CN" dirty="0"/>
          </a:p>
        </p:txBody>
      </p:sp>
      <p:sp>
        <p:nvSpPr>
          <p:cNvPr id="12" name="标题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zh-CN" sz="28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(4)</a:t>
            </a:r>
            <a:r>
              <a:rPr lang="zh-CN" altLang="zh-CN" sz="2800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书写关系代数的思维</a:t>
            </a:r>
            <a:r>
              <a:rPr lang="zh-CN" altLang="zh-CN" sz="28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395537" y="1387961"/>
            <a:ext cx="8640960" cy="3937134"/>
          </a:xfrm>
          <a:prstGeom prst="rect">
            <a:avLst/>
          </a:prstGeom>
        </p:spPr>
        <p:txBody>
          <a:bodyPr wrap="square" lIns="0" tIns="10317" rIns="0" bIns="0">
            <a:spAutoFit/>
          </a:bodyPr>
          <a:lstStyle>
            <a:lvl1pPr marL="23813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75"/>
              </a:spcBef>
            </a:pPr>
            <a:r>
              <a:rPr lang="zh-CN" altLang="zh-CN" sz="27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除(Division)</a:t>
            </a:r>
            <a:endParaRPr lang="zh-CN" altLang="zh-CN" sz="27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spcBef>
                <a:spcPts val="1400"/>
              </a:spcBef>
              <a:buSzPct val="95000"/>
              <a:buFont typeface="Wingdings" panose="05000000000000000000" pitchFamily="2" charset="2"/>
              <a:buChar char=""/>
            </a:pP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除法运算经常用于求解</a:t>
            </a:r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“查询… 全部的/所有的…”</a:t>
            </a: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问题</a:t>
            </a:r>
            <a:endParaRPr lang="zh-CN" altLang="zh-CN" sz="20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eaLnBrk="1" hangingPunct="1">
              <a:spcBef>
                <a:spcPts val="650"/>
              </a:spcBef>
              <a:buSzPct val="95000"/>
              <a:buFont typeface="Wingdings" panose="05000000000000000000" pitchFamily="2" charset="2"/>
              <a:buChar char=""/>
            </a:pPr>
            <a:r>
              <a:rPr lang="zh-CN" altLang="zh-CN" sz="2000" b="1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前提条件</a:t>
            </a: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：给定关系</a:t>
            </a:r>
            <a:r>
              <a:rPr lang="zh-CN" altLang="zh-CN" sz="1800" b="1" dirty="0">
                <a:latin typeface="Arial" panose="020B0604020202020204" pitchFamily="34" charset="0"/>
                <a:cs typeface="Arial" panose="020B0604020202020204" pitchFamily="34" charset="0"/>
              </a:rPr>
              <a:t>R(</a:t>
            </a:r>
            <a:r>
              <a:rPr lang="zh-CN" altLang="zh-CN" sz="1800" b="1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zh-CN" altLang="zh-CN" sz="1800" b="1" baseline="-19000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zh-CN" altLang="zh-CN" sz="1800" b="1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,A</a:t>
            </a:r>
            <a:r>
              <a:rPr lang="zh-CN" altLang="zh-CN" sz="1800" b="1" baseline="-19000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zh-CN" altLang="zh-CN" sz="1800" b="1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… ,A</a:t>
            </a:r>
            <a:r>
              <a:rPr lang="zh-CN" altLang="zh-CN" sz="1800" b="1" baseline="-19000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zh-CN" altLang="zh-CN" sz="1800" b="1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zh-CN" altLang="zh-CN" sz="2000" b="1" dirty="0">
                <a:solidFill>
                  <a:srgbClr val="3333CC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为</a:t>
            </a:r>
            <a:r>
              <a:rPr lang="zh-CN" altLang="zh-CN" sz="2000" b="1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zh-CN" altLang="zh-CN" sz="2000" b="1" dirty="0">
                <a:solidFill>
                  <a:srgbClr val="3333CC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度关系</a:t>
            </a: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，关系</a:t>
            </a:r>
            <a:r>
              <a:rPr lang="zh-CN" altLang="zh-CN" sz="1800" b="1" dirty="0">
                <a:latin typeface="Arial" panose="020B0604020202020204" pitchFamily="34" charset="0"/>
                <a:cs typeface="Arial" panose="020B0604020202020204" pitchFamily="34" charset="0"/>
              </a:rPr>
              <a:t>S(</a:t>
            </a:r>
            <a:r>
              <a:rPr lang="zh-CN" altLang="zh-CN" sz="1800" b="1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zh-CN" altLang="zh-CN" sz="1800" b="1" baseline="-19000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zh-CN" altLang="zh-CN" sz="1800" b="1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,B</a:t>
            </a:r>
            <a:r>
              <a:rPr lang="zh-CN" altLang="zh-CN" sz="1800" b="1" baseline="-19000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zh-CN" altLang="zh-CN" sz="1800" b="1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… ,B</a:t>
            </a:r>
            <a:r>
              <a:rPr lang="zh-CN" altLang="zh-CN" sz="1800" b="1" baseline="-19000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zh-CN" altLang="zh-CN" sz="1800" b="1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zh-CN" altLang="zh-CN" sz="2000" b="1" dirty="0">
                <a:solidFill>
                  <a:srgbClr val="3333CC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为</a:t>
            </a:r>
            <a:r>
              <a:rPr lang="zh-CN" altLang="zh-CN" sz="2000" b="1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endParaRPr lang="zh-CN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ts val="625"/>
              </a:spcBef>
            </a:pPr>
            <a:r>
              <a:rPr lang="zh-CN" altLang="zh-CN" sz="2000" b="1" dirty="0">
                <a:solidFill>
                  <a:srgbClr val="3333CC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度关系 </a:t>
            </a: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。如果可以进行关系</a:t>
            </a:r>
            <a:r>
              <a:rPr lang="zh-CN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与关系</a:t>
            </a:r>
            <a:r>
              <a:rPr lang="zh-CN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的除运算，当且仅当：</a:t>
            </a:r>
            <a:endParaRPr lang="en-US" altLang="zh-CN" sz="2000" b="1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eaLnBrk="1" hangingPunct="1">
              <a:spcBef>
                <a:spcPts val="625"/>
              </a:spcBef>
            </a:pPr>
            <a:r>
              <a:rPr lang="en-US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     </a:t>
            </a: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属性集</a:t>
            </a:r>
            <a:r>
              <a:rPr lang="zh-CN" altLang="zh-CN" sz="1800" b="1" dirty="0">
                <a:latin typeface="Arial" panose="020B0604020202020204" pitchFamily="34" charset="0"/>
                <a:cs typeface="Arial" panose="020B0604020202020204" pitchFamily="34" charset="0"/>
              </a:rPr>
              <a:t>{ </a:t>
            </a:r>
            <a:r>
              <a:rPr lang="zh-CN" altLang="zh-CN" sz="1800" b="1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zh-CN" altLang="zh-CN" sz="1800" b="1" baseline="-19000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zh-CN" altLang="zh-CN" sz="1800" b="1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,B</a:t>
            </a:r>
            <a:r>
              <a:rPr lang="zh-CN" altLang="zh-CN" sz="1800" b="1" baseline="-19000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zh-CN" altLang="zh-CN" sz="1800" b="1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… , B</a:t>
            </a:r>
            <a:r>
              <a:rPr lang="zh-CN" altLang="zh-CN" sz="1800" b="1" baseline="-19000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 </a:t>
            </a:r>
            <a:r>
              <a:rPr lang="zh-CN" altLang="zh-CN" sz="1800" b="1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是属性集</a:t>
            </a:r>
            <a:r>
              <a:rPr lang="zh-CN" altLang="zh-CN" sz="1800" b="1" dirty="0">
                <a:latin typeface="Arial" panose="020B0604020202020204" pitchFamily="34" charset="0"/>
                <a:cs typeface="Arial" panose="020B0604020202020204" pitchFamily="34" charset="0"/>
              </a:rPr>
              <a:t>{ </a:t>
            </a:r>
            <a:r>
              <a:rPr lang="zh-CN" altLang="zh-CN" sz="1800" b="1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zh-CN" altLang="zh-CN" sz="1800" b="1" baseline="-19000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zh-CN" altLang="zh-CN" sz="1800" b="1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,A</a:t>
            </a:r>
            <a:r>
              <a:rPr lang="zh-CN" altLang="zh-CN" sz="1800" b="1" baseline="-19000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zh-CN" altLang="zh-CN" sz="1800" b="1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… ,A</a:t>
            </a:r>
            <a:r>
              <a:rPr lang="zh-CN" altLang="zh-CN" sz="1800" b="1" baseline="-19000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 </a:t>
            </a:r>
            <a:r>
              <a:rPr lang="zh-CN" altLang="zh-CN" sz="1800" b="1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的真子集，即</a:t>
            </a:r>
            <a:r>
              <a:rPr lang="zh-CN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m &lt; n</a:t>
            </a: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。</a:t>
            </a:r>
            <a:endParaRPr lang="zh-CN" altLang="zh-CN" sz="20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eaLnBrk="1" hangingPunct="1">
              <a:lnSpc>
                <a:spcPts val="2775"/>
              </a:lnSpc>
              <a:spcBef>
                <a:spcPts val="125"/>
              </a:spcBef>
              <a:buClr>
                <a:srgbClr val="000000"/>
              </a:buClr>
              <a:buFont typeface="Wingdings" panose="05000000000000000000" pitchFamily="2" charset="2"/>
              <a:buChar char=""/>
            </a:pPr>
            <a:r>
              <a:rPr lang="zh-CN" altLang="zh-CN" sz="2000" b="1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定义：</a:t>
            </a: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关系</a:t>
            </a:r>
            <a:r>
              <a:rPr lang="zh-CN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R </a:t>
            </a: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和关系</a:t>
            </a:r>
            <a:r>
              <a:rPr lang="zh-CN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的除运算结果也是一个关系，记作</a:t>
            </a:r>
            <a:r>
              <a:rPr lang="zh-CN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R </a:t>
            </a:r>
            <a:r>
              <a:rPr lang="zh-CN" altLang="zh-CN" sz="2000" b="1" dirty="0">
                <a:latin typeface="Symbol" panose="05050102010706020507" pitchFamily="18" charset="2"/>
              </a:rPr>
              <a:t></a:t>
            </a:r>
            <a:r>
              <a:rPr lang="zh-CN" altLang="zh-CN" sz="2000" b="1" dirty="0">
                <a:cs typeface="Times New Roman" panose="02020603050405020304" pitchFamily="18" charset="0"/>
              </a:rPr>
              <a:t> </a:t>
            </a:r>
            <a:r>
              <a:rPr lang="zh-CN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，分两部分来定义。</a:t>
            </a:r>
            <a:endParaRPr lang="zh-CN" altLang="zh-CN" sz="20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eaLnBrk="1" hangingPunct="1">
              <a:spcBef>
                <a:spcPts val="300"/>
              </a:spcBef>
            </a:pPr>
            <a:r>
              <a:rPr lang="zh-CN" altLang="zh-CN" sz="2000" dirty="0">
                <a:solidFill>
                  <a:srgbClr val="6565FF"/>
                </a:solidFill>
                <a:latin typeface="Wingdings" panose="05000000000000000000" pitchFamily="2" charset="2"/>
              </a:rPr>
              <a:t></a:t>
            </a:r>
            <a:r>
              <a:rPr lang="zh-CN" altLang="zh-CN" sz="2000" b="1" dirty="0">
                <a:solidFill>
                  <a:srgbClr val="6565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先定义</a:t>
            </a:r>
            <a:r>
              <a:rPr lang="zh-CN" altLang="zh-CN" sz="2000" b="1" dirty="0">
                <a:solidFill>
                  <a:srgbClr val="6565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zh-CN" altLang="zh-CN" sz="2000" b="1" dirty="0">
                <a:solidFill>
                  <a:srgbClr val="6565FF"/>
                </a:solidFill>
                <a:latin typeface="Symbol" panose="05050102010706020507" pitchFamily="18" charset="2"/>
              </a:rPr>
              <a:t></a:t>
            </a:r>
            <a:r>
              <a:rPr lang="zh-CN" altLang="zh-CN" sz="2000" b="1" dirty="0">
                <a:solidFill>
                  <a:srgbClr val="6565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zh-CN" altLang="zh-CN" sz="2000" b="1" dirty="0">
                <a:solidFill>
                  <a:srgbClr val="6565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结果的属性应有哪些？</a:t>
            </a:r>
            <a:endParaRPr lang="zh-CN" altLang="zh-CN" sz="20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eaLnBrk="1" hangingPunct="1">
              <a:lnSpc>
                <a:spcPts val="2688"/>
              </a:lnSpc>
              <a:spcBef>
                <a:spcPts val="175"/>
              </a:spcBef>
            </a:pPr>
            <a:r>
              <a:rPr lang="en-US" altLang="zh-CN" sz="2000" b="1" dirty="0">
                <a:latin typeface="Wingdings" panose="05000000000000000000" pitchFamily="2" charset="2"/>
                <a:ea typeface="新宋体" panose="02010609030101010101" pitchFamily="49" charset="-122"/>
              </a:rPr>
              <a:t>  </a:t>
            </a: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设属性集</a:t>
            </a:r>
            <a:r>
              <a:rPr lang="zh-CN" altLang="zh-CN" sz="1800" b="1" dirty="0">
                <a:latin typeface="Arial" panose="020B0604020202020204" pitchFamily="34" charset="0"/>
                <a:cs typeface="Arial" panose="020B0604020202020204" pitchFamily="34" charset="0"/>
              </a:rPr>
              <a:t>{</a:t>
            </a:r>
            <a:r>
              <a:rPr lang="zh-CN" altLang="zh-CN" sz="1800" b="1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zh-CN" altLang="zh-CN" sz="1800" b="1" baseline="-19000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zh-CN" altLang="zh-CN" sz="1800" b="1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,C</a:t>
            </a:r>
            <a:r>
              <a:rPr lang="zh-CN" altLang="zh-CN" sz="1800" b="1" baseline="-19000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zh-CN" altLang="zh-CN" sz="1800" b="1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… ,C</a:t>
            </a:r>
            <a:r>
              <a:rPr lang="zh-CN" altLang="zh-CN" sz="1800" b="1" baseline="-19000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 </a:t>
            </a:r>
            <a:r>
              <a:rPr lang="zh-CN" altLang="zh-CN" sz="1800" b="1" dirty="0">
                <a:latin typeface="Arial" panose="020B0604020202020204" pitchFamily="34" charset="0"/>
                <a:cs typeface="Arial" panose="020B0604020202020204" pitchFamily="34" charset="0"/>
              </a:rPr>
              <a:t>} = {</a:t>
            </a:r>
            <a:r>
              <a:rPr lang="zh-CN" altLang="zh-CN" sz="1800" b="1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zh-CN" altLang="zh-CN" sz="1800" b="1" baseline="-19000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zh-CN" altLang="zh-CN" sz="1800" b="1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,A</a:t>
            </a:r>
            <a:r>
              <a:rPr lang="zh-CN" altLang="zh-CN" sz="1800" b="1" baseline="-19000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zh-CN" altLang="zh-CN" sz="1800" b="1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… ,A</a:t>
            </a:r>
            <a:r>
              <a:rPr lang="zh-CN" altLang="zh-CN" sz="1800" b="1" baseline="-19000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 </a:t>
            </a:r>
            <a:r>
              <a:rPr lang="zh-CN" altLang="zh-CN" sz="1800" b="1" dirty="0">
                <a:latin typeface="Arial" panose="020B0604020202020204" pitchFamily="34" charset="0"/>
                <a:cs typeface="Arial" panose="020B0604020202020204" pitchFamily="34" charset="0"/>
              </a:rPr>
              <a:t>} – {</a:t>
            </a:r>
            <a:r>
              <a:rPr lang="zh-CN" altLang="zh-CN" sz="1800" b="1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zh-CN" altLang="zh-CN" sz="1800" b="1" baseline="-19000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zh-CN" altLang="zh-CN" sz="1800" b="1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,B</a:t>
            </a:r>
            <a:r>
              <a:rPr lang="zh-CN" altLang="zh-CN" sz="1800" b="1" baseline="-19000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zh-CN" altLang="zh-CN" sz="1800" b="1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… ,B</a:t>
            </a:r>
            <a:r>
              <a:rPr lang="zh-CN" altLang="zh-CN" sz="1800" b="1" baseline="-19000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 </a:t>
            </a:r>
            <a:r>
              <a:rPr lang="zh-CN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}, </a:t>
            </a: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则有</a:t>
            </a:r>
            <a:r>
              <a:rPr lang="zh-CN" altLang="zh-CN" sz="2000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k=n–m  </a:t>
            </a: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则</a:t>
            </a:r>
            <a:r>
              <a:rPr lang="zh-CN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zh-CN" altLang="zh-CN" sz="2000" b="1" dirty="0">
                <a:latin typeface="Symbol" panose="05050102010706020507" pitchFamily="18" charset="2"/>
              </a:rPr>
              <a:t></a:t>
            </a:r>
            <a:r>
              <a:rPr lang="zh-CN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结果关系是</a:t>
            </a:r>
            <a:r>
              <a:rPr lang="zh-CN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度</a:t>
            </a:r>
            <a:r>
              <a:rPr lang="zh-CN" altLang="zh-CN" sz="2000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(n-m</a:t>
            </a:r>
            <a:r>
              <a:rPr lang="zh-CN" altLang="zh-CN" sz="2000" b="1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度</a:t>
            </a:r>
            <a:r>
              <a:rPr lang="zh-CN" altLang="zh-CN" sz="2000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关系，由</a:t>
            </a:r>
            <a:r>
              <a:rPr lang="zh-CN" altLang="zh-CN" sz="1800" b="1" dirty="0">
                <a:latin typeface="Arial" panose="020B0604020202020204" pitchFamily="34" charset="0"/>
                <a:cs typeface="Arial" panose="020B0604020202020204" pitchFamily="34" charset="0"/>
              </a:rPr>
              <a:t>{</a:t>
            </a:r>
            <a:r>
              <a:rPr lang="zh-CN" altLang="zh-CN" sz="1800" b="1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zh-CN" altLang="zh-CN" sz="1800" b="1" baseline="-19000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zh-CN" altLang="zh-CN" sz="1800" b="1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,C</a:t>
            </a:r>
            <a:r>
              <a:rPr lang="zh-CN" altLang="zh-CN" sz="1800" b="1" baseline="-19000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zh-CN" altLang="zh-CN" sz="1800" b="1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… ,C</a:t>
            </a:r>
            <a:r>
              <a:rPr lang="zh-CN" altLang="zh-CN" sz="1800" b="1" baseline="-19000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 </a:t>
            </a:r>
            <a:r>
              <a:rPr lang="zh-CN" altLang="zh-CN" sz="1800" b="1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属性构成</a:t>
            </a:r>
            <a:endParaRPr lang="zh-CN" altLang="zh-CN" sz="20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745817" y="5391150"/>
            <a:ext cx="892114" cy="77415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7" name="object 7"/>
          <p:cNvSpPr/>
          <p:nvPr/>
        </p:nvSpPr>
        <p:spPr>
          <a:xfrm>
            <a:off x="5220072" y="5429513"/>
            <a:ext cx="576064" cy="116783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8" name="object 8"/>
          <p:cNvSpPr/>
          <p:nvPr/>
        </p:nvSpPr>
        <p:spPr>
          <a:xfrm>
            <a:off x="2198688" y="5325094"/>
            <a:ext cx="1077168" cy="127225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A6568E1-4089-4561-919E-9D2F37D3F2B0}" type="slidenum">
              <a:rPr lang="en-US" altLang="zh-CN" smtClean="0"/>
              <a:pPr>
                <a:defRPr/>
              </a:pPr>
              <a:t>59</a:t>
            </a:fld>
            <a:endParaRPr lang="en-US" altLang="zh-CN" dirty="0"/>
          </a:p>
        </p:txBody>
      </p:sp>
      <p:sp>
        <p:nvSpPr>
          <p:cNvPr id="12" name="标题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 spc="-13" dirty="0"/>
              <a:t>关系代数 之 复杂扩展操作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50825" y="1479139"/>
            <a:ext cx="8569647" cy="3301568"/>
          </a:xfrm>
          <a:prstGeom prst="rect">
            <a:avLst/>
          </a:prstGeom>
        </p:spPr>
        <p:txBody>
          <a:bodyPr wrap="square" lIns="0" tIns="89050" rIns="0" bIns="0">
            <a:spAutoFit/>
          </a:bodyPr>
          <a:lstStyle>
            <a:lvl1pPr marL="4000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700"/>
              </a:spcBef>
            </a:pPr>
            <a:r>
              <a:rPr lang="zh-CN" altLang="zh-CN" sz="1700" dirty="0">
                <a:solidFill>
                  <a:srgbClr val="6565FF"/>
                </a:solidFill>
                <a:latin typeface="Wingdings" panose="05000000000000000000" pitchFamily="2" charset="2"/>
              </a:rPr>
              <a:t></a:t>
            </a:r>
            <a:r>
              <a:rPr lang="zh-CN" altLang="zh-CN" sz="2000" b="1" dirty="0">
                <a:solidFill>
                  <a:srgbClr val="6565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再定义</a:t>
            </a:r>
            <a:r>
              <a:rPr lang="zh-CN" altLang="zh-CN" sz="2000" b="1" dirty="0">
                <a:solidFill>
                  <a:srgbClr val="6565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zh-CN" altLang="zh-CN" sz="2000" b="1" dirty="0">
                <a:solidFill>
                  <a:srgbClr val="6565FF"/>
                </a:solidFill>
                <a:latin typeface="Symbol" panose="05050102010706020507" pitchFamily="18" charset="2"/>
              </a:rPr>
              <a:t></a:t>
            </a:r>
            <a:r>
              <a:rPr lang="zh-CN" altLang="zh-CN" sz="2000" b="1" dirty="0">
                <a:solidFill>
                  <a:srgbClr val="6565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zh-CN" altLang="zh-CN" sz="2000" b="1" dirty="0">
                <a:solidFill>
                  <a:srgbClr val="6565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的元组怎样形成？</a:t>
            </a:r>
            <a:endParaRPr lang="zh-CN" altLang="zh-CN" sz="20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eaLnBrk="1" hangingPunct="1">
              <a:lnSpc>
                <a:spcPct val="129000"/>
              </a:lnSpc>
              <a:spcBef>
                <a:spcPts val="13"/>
              </a:spcBef>
            </a:pPr>
            <a:r>
              <a:rPr lang="en-US" altLang="zh-CN" sz="2000" b="1" dirty="0">
                <a:latin typeface="Wingdings" panose="05000000000000000000" pitchFamily="2" charset="2"/>
                <a:ea typeface="新宋体" panose="02010609030101010101" pitchFamily="49" charset="-122"/>
              </a:rPr>
              <a:t>  </a:t>
            </a: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再设关系</a:t>
            </a:r>
            <a:r>
              <a:rPr lang="zh-CN" altLang="zh-CN" sz="1800" b="1" dirty="0">
                <a:latin typeface="Arial" panose="020B0604020202020204" pitchFamily="34" charset="0"/>
                <a:cs typeface="Arial" panose="020B0604020202020204" pitchFamily="34" charset="0"/>
              </a:rPr>
              <a:t>R (&lt;</a:t>
            </a:r>
            <a:r>
              <a:rPr lang="zh-CN" altLang="zh-CN" sz="1800" b="1" i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zh-CN" altLang="zh-CN" sz="1800" b="1" baseline="-21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zh-CN" altLang="zh-CN" sz="1800" b="1" dirty="0">
                <a:latin typeface="Arial" panose="020B0604020202020204" pitchFamily="34" charset="0"/>
                <a:cs typeface="Arial" panose="020B0604020202020204" pitchFamily="34" charset="0"/>
              </a:rPr>
              <a:t>, …, </a:t>
            </a:r>
            <a:r>
              <a:rPr lang="zh-CN" altLang="zh-CN" sz="1800" b="1" i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zh-CN" altLang="zh-CN" sz="1800" b="1" i="1" baseline="-21000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zh-CN" altLang="zh-CN" sz="1800" b="1" dirty="0">
                <a:latin typeface="Arial" panose="020B0604020202020204" pitchFamily="34" charset="0"/>
                <a:cs typeface="Arial" panose="020B0604020202020204" pitchFamily="34" charset="0"/>
              </a:rPr>
              <a:t>&gt;)</a:t>
            </a: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和关系</a:t>
            </a:r>
            <a:r>
              <a:rPr lang="zh-CN" altLang="zh-CN" sz="1800" b="1" dirty="0">
                <a:latin typeface="Arial" panose="020B0604020202020204" pitchFamily="34" charset="0"/>
                <a:cs typeface="Arial" panose="020B0604020202020204" pitchFamily="34" charset="0"/>
              </a:rPr>
              <a:t>S (&lt;</a:t>
            </a:r>
            <a:r>
              <a:rPr lang="zh-CN" altLang="zh-CN" sz="1800" b="1" i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zh-CN" altLang="zh-CN" sz="1800" b="1" baseline="-21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zh-CN" altLang="zh-CN" sz="1800" b="1" dirty="0">
                <a:latin typeface="Arial" panose="020B0604020202020204" pitchFamily="34" charset="0"/>
                <a:cs typeface="Arial" panose="020B0604020202020204" pitchFamily="34" charset="0"/>
              </a:rPr>
              <a:t>, …, </a:t>
            </a:r>
            <a:r>
              <a:rPr lang="zh-CN" altLang="zh-CN" sz="1800" b="1" i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zh-CN" altLang="zh-CN" sz="1800" b="1" i="1" baseline="-21000" dirty="0">
                <a:latin typeface="Arial" panose="020B0604020202020204" pitchFamily="34" charset="0"/>
                <a:cs typeface="Arial" panose="020B0604020202020204" pitchFamily="34" charset="0"/>
              </a:rPr>
              <a:t>m </a:t>
            </a:r>
            <a:r>
              <a:rPr lang="zh-CN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&gt;), </a:t>
            </a: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那么</a:t>
            </a:r>
            <a:r>
              <a:rPr lang="zh-CN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zh-CN" altLang="zh-CN" sz="2000" b="1" dirty="0">
                <a:latin typeface="Symbol" panose="05050102010706020507" pitchFamily="18" charset="2"/>
              </a:rPr>
              <a:t></a:t>
            </a:r>
            <a:r>
              <a:rPr lang="zh-CN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结果关系为 元组 </a:t>
            </a:r>
            <a:r>
              <a:rPr lang="zh-CN" altLang="zh-CN" sz="1800" b="1" dirty="0"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lang="zh-CN" altLang="zh-CN" sz="1800" b="1" i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zh-CN" altLang="zh-CN" sz="1800" b="1" baseline="-21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zh-CN" altLang="zh-CN" sz="1800" b="1" dirty="0">
                <a:latin typeface="Arial" panose="020B0604020202020204" pitchFamily="34" charset="0"/>
                <a:cs typeface="Arial" panose="020B0604020202020204" pitchFamily="34" charset="0"/>
              </a:rPr>
              <a:t>, …, </a:t>
            </a:r>
            <a:r>
              <a:rPr lang="zh-CN" altLang="zh-CN" sz="1800" b="1" i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zh-CN" altLang="zh-CN" sz="1800" b="1" i="1" baseline="-21000" dirty="0"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zh-CN" altLang="zh-CN" sz="1800" b="1" dirty="0"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的集合，元组 </a:t>
            </a:r>
            <a:r>
              <a:rPr lang="zh-CN" altLang="zh-CN" sz="1800" b="1" dirty="0"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lang="zh-CN" altLang="zh-CN" sz="1800" b="1" i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zh-CN" altLang="zh-CN" sz="1800" b="1" baseline="-21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zh-CN" altLang="zh-CN" sz="1800" b="1" dirty="0">
                <a:latin typeface="Arial" panose="020B0604020202020204" pitchFamily="34" charset="0"/>
                <a:cs typeface="Arial" panose="020B0604020202020204" pitchFamily="34" charset="0"/>
              </a:rPr>
              <a:t>, …, </a:t>
            </a:r>
            <a:r>
              <a:rPr lang="zh-CN" altLang="zh-CN" sz="1800" b="1" i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zh-CN" altLang="zh-CN" sz="1800" b="1" i="1" baseline="-21000" dirty="0"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zh-CN" altLang="zh-CN" sz="1800" b="1" dirty="0"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满足下述条件：</a:t>
            </a:r>
            <a:endParaRPr lang="zh-CN" altLang="zh-CN" sz="20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algn="just" eaLnBrk="1" hangingPunct="1">
              <a:lnSpc>
                <a:spcPct val="130000"/>
              </a:lnSpc>
            </a:pP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它与</a:t>
            </a:r>
            <a:r>
              <a:rPr lang="zh-CN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中</a:t>
            </a:r>
            <a:r>
              <a:rPr lang="zh-CN" altLang="zh-CN" sz="2000" b="1" dirty="0">
                <a:solidFill>
                  <a:srgbClr val="3333CC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每一个</a:t>
            </a: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元组</a:t>
            </a:r>
            <a:r>
              <a:rPr lang="zh-CN" altLang="zh-CN" sz="1800" b="1" dirty="0"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lang="zh-CN" altLang="zh-CN" sz="1800" b="1" i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zh-CN" altLang="zh-CN" sz="1800" b="1" baseline="-21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zh-CN" altLang="zh-CN" sz="1800" b="1" dirty="0">
                <a:latin typeface="Arial" panose="020B0604020202020204" pitchFamily="34" charset="0"/>
                <a:cs typeface="Arial" panose="020B0604020202020204" pitchFamily="34" charset="0"/>
              </a:rPr>
              <a:t>, …, </a:t>
            </a:r>
            <a:r>
              <a:rPr lang="zh-CN" altLang="zh-CN" sz="1800" b="1" i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zh-CN" altLang="zh-CN" sz="1800" b="1" i="1" baseline="-21000" dirty="0">
                <a:latin typeface="Arial" panose="020B0604020202020204" pitchFamily="34" charset="0"/>
                <a:cs typeface="Arial" panose="020B0604020202020204" pitchFamily="34" charset="0"/>
              </a:rPr>
              <a:t>m </a:t>
            </a:r>
            <a:r>
              <a:rPr lang="zh-CN" altLang="zh-CN" sz="1800" b="1" dirty="0"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组合形成的一个新元组都是</a:t>
            </a:r>
            <a:r>
              <a:rPr lang="zh-CN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中的某一个元组</a:t>
            </a:r>
            <a:r>
              <a:rPr lang="zh-CN" altLang="zh-CN" sz="1800" b="1" dirty="0"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lang="zh-CN" altLang="zh-CN" sz="1800" b="1" i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zh-CN" altLang="zh-CN" sz="1800" b="1" baseline="-21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zh-CN" altLang="zh-CN" sz="1800" b="1" dirty="0">
                <a:latin typeface="Arial" panose="020B0604020202020204" pitchFamily="34" charset="0"/>
                <a:cs typeface="Arial" panose="020B0604020202020204" pitchFamily="34" charset="0"/>
              </a:rPr>
              <a:t>, …, </a:t>
            </a:r>
            <a:r>
              <a:rPr lang="zh-CN" altLang="zh-CN" sz="1800" b="1" i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zh-CN" altLang="zh-CN" sz="1800" b="1" i="1" baseline="-21000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zh-CN" altLang="zh-CN" sz="1800" b="1" dirty="0">
                <a:latin typeface="Arial" panose="020B0604020202020204" pitchFamily="34" charset="0"/>
                <a:cs typeface="Arial" panose="020B0604020202020204" pitchFamily="34" charset="0"/>
              </a:rPr>
              <a:t>&gt; </a:t>
            </a:r>
            <a:r>
              <a:rPr lang="zh-CN" altLang="zh-CN" sz="1700" b="1" dirty="0">
                <a:latin typeface="宋体" panose="02010600030101010101" pitchFamily="2" charset="-122"/>
              </a:rPr>
              <a:t>。</a:t>
            </a:r>
            <a:r>
              <a:rPr lang="zh-CN" altLang="zh-CN" sz="1800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zh-CN" altLang="zh-CN" sz="1800" b="1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其中，</a:t>
            </a:r>
            <a:r>
              <a:rPr lang="zh-CN" altLang="zh-CN" sz="1800" b="1" i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zh-CN" altLang="zh-CN" sz="1800" b="1" baseline="-21000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zh-CN" altLang="zh-CN" sz="1800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…, </a:t>
            </a:r>
            <a:r>
              <a:rPr lang="zh-CN" altLang="zh-CN" sz="1800" b="1" i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zh-CN" altLang="zh-CN" sz="1800" b="1" i="1" baseline="-21000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 </a:t>
            </a:r>
            <a:r>
              <a:rPr lang="zh-CN" altLang="zh-CN" sz="1800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zh-CN" altLang="zh-CN" sz="1800" b="1" i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zh-CN" altLang="zh-CN" sz="1800" b="1" baseline="-21000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zh-CN" altLang="zh-CN" sz="1800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…, </a:t>
            </a:r>
            <a:r>
              <a:rPr lang="zh-CN" altLang="zh-CN" sz="1800" b="1" i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zh-CN" altLang="zh-CN" sz="1800" b="1" i="1" baseline="-21000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zh-CN" altLang="zh-CN" sz="1800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zh-CN" altLang="zh-CN" sz="1800" b="1" i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zh-CN" altLang="zh-CN" sz="1800" b="1" baseline="-21000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zh-CN" altLang="zh-CN" sz="1800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…, </a:t>
            </a:r>
            <a:r>
              <a:rPr lang="zh-CN" altLang="zh-CN" sz="1800" b="1" i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zh-CN" altLang="zh-CN" sz="1800" b="1" i="1" baseline="-21000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zh-CN" altLang="zh-CN" sz="1800" b="1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分别是属性 </a:t>
            </a:r>
            <a:r>
              <a:rPr lang="zh-CN" altLang="zh-CN" sz="1800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zh-CN" altLang="zh-CN" sz="1800" b="1" baseline="-19000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zh-CN" altLang="zh-CN" sz="1800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… ,A</a:t>
            </a:r>
            <a:r>
              <a:rPr lang="zh-CN" altLang="zh-CN" sz="1800" b="1" baseline="-19000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zh-CN" altLang="zh-CN" sz="1800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,B</a:t>
            </a:r>
            <a:r>
              <a:rPr lang="zh-CN" altLang="zh-CN" sz="1800" b="1" baseline="-19000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zh-CN" altLang="zh-CN" sz="1800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… ,B</a:t>
            </a:r>
            <a:r>
              <a:rPr lang="zh-CN" altLang="zh-CN" sz="1800" b="1" baseline="-19000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 </a:t>
            </a:r>
            <a:r>
              <a:rPr lang="zh-CN" altLang="zh-CN" sz="1800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zh-CN" altLang="zh-CN" sz="1800" b="1" baseline="-19000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zh-CN" altLang="zh-CN" sz="1800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… ,C</a:t>
            </a:r>
            <a:r>
              <a:rPr lang="zh-CN" altLang="zh-CN" sz="1800" b="1" baseline="-19000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 </a:t>
            </a:r>
            <a:r>
              <a:rPr lang="zh-CN" altLang="zh-CN" sz="1800" b="1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的值</a:t>
            </a:r>
            <a:r>
              <a:rPr lang="zh-CN" altLang="zh-CN" sz="1800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zh-CN" altLang="zh-CN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ts val="838"/>
              </a:spcBef>
              <a:buFont typeface="Wingdings" panose="05000000000000000000" pitchFamily="2" charset="2"/>
              <a:buChar char=""/>
            </a:pPr>
            <a:r>
              <a:rPr lang="zh-CN" altLang="zh-CN" sz="2000" b="1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数学描述</a:t>
            </a: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： </a:t>
            </a:r>
            <a:r>
              <a:rPr lang="zh-CN" altLang="zh-CN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R </a:t>
            </a:r>
            <a:r>
              <a:rPr lang="zh-CN" altLang="zh-CN" sz="2300" b="1" dirty="0">
                <a:solidFill>
                  <a:srgbClr val="FF0065"/>
                </a:solidFill>
                <a:latin typeface="Symbol" panose="05050102010706020507" pitchFamily="18" charset="2"/>
              </a:rPr>
              <a:t></a:t>
            </a:r>
            <a:r>
              <a:rPr lang="zh-CN" altLang="zh-CN" sz="2300" b="1" dirty="0">
                <a:solidFill>
                  <a:srgbClr val="FF0065"/>
                </a:solidFill>
                <a:cs typeface="Times New Roman" panose="02020603050405020304" pitchFamily="18" charset="0"/>
              </a:rPr>
              <a:t> </a:t>
            </a:r>
            <a:r>
              <a:rPr lang="zh-CN" altLang="zh-CN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S </a:t>
            </a:r>
            <a:r>
              <a:rPr lang="zh-CN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= { </a:t>
            </a:r>
            <a:r>
              <a:rPr lang="zh-CN" altLang="zh-CN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zh-CN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zh-CN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zh-CN" altLang="zh-CN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t </a:t>
            </a:r>
            <a:r>
              <a:rPr lang="zh-CN" altLang="zh-CN" sz="2000" b="1" dirty="0">
                <a:latin typeface="Symbol" panose="05050102010706020507" pitchFamily="18" charset="2"/>
              </a:rPr>
              <a:t></a:t>
            </a:r>
            <a:r>
              <a:rPr lang="zh-CN" altLang="zh-CN" sz="2000" b="1" dirty="0">
                <a:cs typeface="Times New Roman" panose="02020603050405020304" pitchFamily="18" charset="0"/>
              </a:rPr>
              <a:t> </a:t>
            </a:r>
            <a:r>
              <a:rPr lang="zh-CN" altLang="zh-CN" sz="2000" b="1" dirty="0">
                <a:latin typeface="Symbol" panose="05050102010706020507" pitchFamily="18" charset="2"/>
              </a:rPr>
              <a:t></a:t>
            </a:r>
            <a:r>
              <a:rPr lang="zh-CN" altLang="zh-CN" sz="2000" b="1" i="1" baseline="-21000" dirty="0">
                <a:latin typeface="Arial" panose="020B0604020202020204" pitchFamily="34" charset="0"/>
                <a:cs typeface="Arial" panose="020B0604020202020204" pitchFamily="34" charset="0"/>
              </a:rPr>
              <a:t>R-S</a:t>
            </a:r>
            <a:r>
              <a:rPr lang="zh-CN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zh-CN" altLang="zh-CN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zh-CN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zh-CN" altLang="zh-CN" sz="2000" b="1" dirty="0">
                <a:latin typeface="Symbol" panose="05050102010706020507" pitchFamily="18" charset="2"/>
              </a:rPr>
              <a:t></a:t>
            </a:r>
            <a:r>
              <a:rPr lang="zh-CN" altLang="zh-CN" sz="2000" b="1" dirty="0">
                <a:cs typeface="Times New Roman" panose="02020603050405020304" pitchFamily="18" charset="0"/>
              </a:rPr>
              <a:t> </a:t>
            </a:r>
            <a:r>
              <a:rPr lang="zh-CN" altLang="zh-CN" sz="2000" b="1" dirty="0">
                <a:latin typeface="Symbol" panose="05050102010706020507" pitchFamily="18" charset="2"/>
              </a:rPr>
              <a:t></a:t>
            </a:r>
            <a:r>
              <a:rPr lang="zh-CN" altLang="zh-CN" sz="2000" b="1" dirty="0">
                <a:cs typeface="Times New Roman" panose="02020603050405020304" pitchFamily="18" charset="0"/>
              </a:rPr>
              <a:t> </a:t>
            </a:r>
            <a:r>
              <a:rPr lang="zh-CN" altLang="zh-CN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u </a:t>
            </a:r>
            <a:r>
              <a:rPr lang="zh-CN" altLang="zh-CN" sz="2000" b="1" dirty="0">
                <a:latin typeface="Symbol" panose="05050102010706020507" pitchFamily="18" charset="2"/>
              </a:rPr>
              <a:t></a:t>
            </a:r>
            <a:r>
              <a:rPr lang="zh-CN" altLang="zh-CN" sz="2000" b="1" dirty="0">
                <a:cs typeface="Times New Roman" panose="02020603050405020304" pitchFamily="18" charset="0"/>
              </a:rPr>
              <a:t> </a:t>
            </a:r>
            <a:r>
              <a:rPr lang="zh-CN" altLang="zh-CN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S </a:t>
            </a:r>
            <a:r>
              <a:rPr lang="zh-CN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( </a:t>
            </a:r>
            <a:r>
              <a:rPr lang="zh-CN" altLang="zh-CN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tu </a:t>
            </a:r>
            <a:r>
              <a:rPr lang="zh-CN" altLang="zh-CN" sz="2000" b="1" dirty="0">
                <a:latin typeface="Symbol" panose="05050102010706020507" pitchFamily="18" charset="2"/>
              </a:rPr>
              <a:t></a:t>
            </a:r>
            <a:r>
              <a:rPr lang="zh-CN" altLang="zh-CN" sz="2000" b="1" dirty="0">
                <a:cs typeface="Times New Roman" panose="02020603050405020304" pitchFamily="18" charset="0"/>
              </a:rPr>
              <a:t> </a:t>
            </a:r>
            <a:r>
              <a:rPr lang="zh-CN" altLang="zh-CN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R </a:t>
            </a:r>
            <a:r>
              <a:rPr lang="zh-CN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) }</a:t>
            </a:r>
            <a:endParaRPr lang="zh-CN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ts val="1638"/>
              </a:spcBef>
            </a:pPr>
            <a:r>
              <a:rPr lang="zh-CN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zh-CN" altLang="zh-CN" sz="2000" b="1" dirty="0">
                <a:latin typeface="Symbol" panose="05050102010706020507" pitchFamily="18" charset="2"/>
              </a:rPr>
              <a:t></a:t>
            </a:r>
            <a:r>
              <a:rPr lang="zh-CN" altLang="zh-CN" sz="2000" b="1" i="1" baseline="-21000" dirty="0">
                <a:latin typeface="Arial" panose="020B0604020202020204" pitchFamily="34" charset="0"/>
                <a:cs typeface="Arial" panose="020B0604020202020204" pitchFamily="34" charset="0"/>
              </a:rPr>
              <a:t>R-S </a:t>
            </a:r>
            <a:r>
              <a:rPr lang="zh-CN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( </a:t>
            </a:r>
            <a:r>
              <a:rPr lang="zh-CN" altLang="zh-CN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R </a:t>
            </a:r>
            <a:r>
              <a:rPr lang="zh-CN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) -	</a:t>
            </a:r>
            <a:r>
              <a:rPr lang="zh-CN" altLang="zh-CN" sz="2000" b="1" dirty="0">
                <a:solidFill>
                  <a:srgbClr val="3333CC"/>
                </a:solidFill>
                <a:latin typeface="Symbol" panose="05050102010706020507" pitchFamily="18" charset="2"/>
              </a:rPr>
              <a:t></a:t>
            </a:r>
            <a:r>
              <a:rPr lang="zh-CN" altLang="zh-CN" sz="2000" b="1" i="1" baseline="-21000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R-S </a:t>
            </a:r>
            <a:r>
              <a:rPr lang="zh-CN" altLang="zh-CN" sz="2000" b="1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 </a:t>
            </a:r>
            <a:r>
              <a:rPr lang="zh-CN" altLang="zh-CN" sz="2000" b="1" i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 </a:t>
            </a:r>
            <a:r>
              <a:rPr lang="zh-CN" altLang="zh-CN" sz="2000" b="1" dirty="0">
                <a:solidFill>
                  <a:srgbClr val="FF0065"/>
                </a:solidFill>
                <a:latin typeface="Symbol" panose="05050102010706020507" pitchFamily="18" charset="2"/>
              </a:rPr>
              <a:t></a:t>
            </a:r>
            <a:r>
              <a:rPr lang="zh-CN" altLang="zh-CN" sz="2000" b="1" i="1" baseline="-21000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R-S </a:t>
            </a:r>
            <a:r>
              <a:rPr lang="zh-CN" altLang="zh-CN" sz="2000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zh-CN" altLang="zh-CN" sz="2000" b="1" i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zh-CN" altLang="zh-CN" sz="2000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zh-CN" altLang="zh-CN" sz="2000" b="1" dirty="0">
                <a:solidFill>
                  <a:srgbClr val="FF0065"/>
                </a:solidFill>
                <a:latin typeface="Symbol" panose="05050102010706020507" pitchFamily="18" charset="2"/>
              </a:rPr>
              <a:t></a:t>
            </a:r>
            <a:r>
              <a:rPr lang="zh-CN" altLang="zh-CN" sz="2000" b="1" dirty="0">
                <a:solidFill>
                  <a:srgbClr val="FF0065"/>
                </a:solidFill>
                <a:cs typeface="Times New Roman" panose="02020603050405020304" pitchFamily="18" charset="0"/>
              </a:rPr>
              <a:t> </a:t>
            </a:r>
            <a:r>
              <a:rPr lang="zh-CN" altLang="zh-CN" sz="2000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 </a:t>
            </a:r>
            <a:r>
              <a:rPr lang="zh-CN" altLang="zh-CN" sz="2000" b="1" i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zh-CN" altLang="zh-CN" sz="2000" b="1" i="1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R </a:t>
            </a:r>
            <a:r>
              <a:rPr lang="zh-CN" altLang="zh-CN" sz="2000" b="1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zh-CN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067944" y="5301208"/>
            <a:ext cx="712911" cy="736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6" name="object 6"/>
          <p:cNvSpPr/>
          <p:nvPr/>
        </p:nvSpPr>
        <p:spPr>
          <a:xfrm>
            <a:off x="5580112" y="5097561"/>
            <a:ext cx="623714" cy="96098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7" name="object 7"/>
          <p:cNvSpPr/>
          <p:nvPr/>
        </p:nvSpPr>
        <p:spPr>
          <a:xfrm>
            <a:off x="2555776" y="5013176"/>
            <a:ext cx="1152128" cy="144015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02E7998-F56A-45D4-984E-4E67E3C944B8}" type="slidenum">
              <a:rPr lang="en-US" altLang="zh-CN" smtClean="0"/>
              <a:pPr>
                <a:defRPr/>
              </a:pPr>
              <a:t>60</a:t>
            </a:fld>
            <a:endParaRPr lang="en-US" altLang="zh-CN"/>
          </a:p>
        </p:txBody>
      </p:sp>
      <p:sp>
        <p:nvSpPr>
          <p:cNvPr id="9" name="矩形 8"/>
          <p:cNvSpPr/>
          <p:nvPr/>
        </p:nvSpPr>
        <p:spPr>
          <a:xfrm>
            <a:off x="1043608" y="620688"/>
            <a:ext cx="285526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spcBef>
                <a:spcPts val="400"/>
              </a:spcBef>
            </a:pPr>
            <a:r>
              <a:rPr lang="zh-CN" altLang="zh-CN" sz="32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(1) “</a:t>
            </a:r>
            <a:r>
              <a:rPr lang="zh-CN" altLang="zh-CN" sz="3200" b="1" dirty="0">
                <a:solidFill>
                  <a:srgbClr val="F8F8F8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除</a:t>
            </a:r>
            <a:r>
              <a:rPr lang="zh-CN" altLang="zh-CN" sz="32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r>
              <a:rPr lang="zh-CN" altLang="zh-CN" sz="3200" b="1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操作</a:t>
            </a:r>
            <a:endParaRPr lang="zh-CN" altLang="zh-CN" sz="32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462756" y="1629063"/>
            <a:ext cx="5011737" cy="379750"/>
          </a:xfrm>
          <a:prstGeom prst="rect">
            <a:avLst/>
          </a:prstGeom>
        </p:spPr>
        <p:txBody>
          <a:bodyPr wrap="square" lIns="0" tIns="10317" rIns="0" bIns="0">
            <a:spAutoFit/>
          </a:bodyPr>
          <a:lstStyle>
            <a:lvl1pPr marL="242888" indent="-231775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75"/>
              </a:spcBef>
              <a:buFont typeface="Wingdings" panose="05000000000000000000" pitchFamily="2" charset="2"/>
              <a:buChar char=""/>
            </a:pPr>
            <a:r>
              <a:rPr lang="zh-CN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除</a:t>
            </a:r>
            <a:r>
              <a:rPr lang="zh-CN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(Division)</a:t>
            </a:r>
            <a:r>
              <a:rPr lang="zh-CN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操作的示例一</a:t>
            </a:r>
            <a:r>
              <a:rPr lang="zh-CN" altLang="zh-CN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zh-CN" altLang="zh-CN" b="1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抽象的</a:t>
            </a:r>
            <a:r>
              <a:rPr lang="zh-CN" altLang="zh-CN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zh-CN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12825" y="2994025"/>
            <a:ext cx="1384300" cy="26463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8" name="object 8"/>
          <p:cNvSpPr/>
          <p:nvPr/>
        </p:nvSpPr>
        <p:spPr>
          <a:xfrm>
            <a:off x="3057525" y="2779713"/>
            <a:ext cx="488950" cy="81438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4" name="object 14"/>
          <p:cNvSpPr/>
          <p:nvPr/>
        </p:nvSpPr>
        <p:spPr>
          <a:xfrm>
            <a:off x="3886200" y="2786063"/>
            <a:ext cx="938213" cy="136842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5" name="object 15"/>
          <p:cNvSpPr/>
          <p:nvPr/>
        </p:nvSpPr>
        <p:spPr>
          <a:xfrm>
            <a:off x="2790825" y="2746375"/>
            <a:ext cx="2303463" cy="1422400"/>
          </a:xfrm>
          <a:custGeom>
            <a:avLst/>
            <a:gdLst/>
            <a:ahLst/>
            <a:cxnLst/>
            <a:rect l="l" t="t" r="r" b="b"/>
            <a:pathLst>
              <a:path w="2692400" h="1663064">
                <a:moveTo>
                  <a:pt x="276606" y="0"/>
                </a:moveTo>
                <a:lnTo>
                  <a:pt x="226781" y="4469"/>
                </a:lnTo>
                <a:lnTo>
                  <a:pt x="179929" y="17355"/>
                </a:lnTo>
                <a:lnTo>
                  <a:pt x="136821" y="37874"/>
                </a:lnTo>
                <a:lnTo>
                  <a:pt x="98229" y="65241"/>
                </a:lnTo>
                <a:lnTo>
                  <a:pt x="64923" y="98673"/>
                </a:lnTo>
                <a:lnTo>
                  <a:pt x="37676" y="137385"/>
                </a:lnTo>
                <a:lnTo>
                  <a:pt x="17259" y="180595"/>
                </a:lnTo>
                <a:lnTo>
                  <a:pt x="4443" y="227517"/>
                </a:lnTo>
                <a:lnTo>
                  <a:pt x="0" y="277368"/>
                </a:lnTo>
                <a:lnTo>
                  <a:pt x="0" y="1385316"/>
                </a:lnTo>
                <a:lnTo>
                  <a:pt x="4443" y="1435166"/>
                </a:lnTo>
                <a:lnTo>
                  <a:pt x="17259" y="1482088"/>
                </a:lnTo>
                <a:lnTo>
                  <a:pt x="37676" y="1525298"/>
                </a:lnTo>
                <a:lnTo>
                  <a:pt x="64923" y="1564010"/>
                </a:lnTo>
                <a:lnTo>
                  <a:pt x="98229" y="1597442"/>
                </a:lnTo>
                <a:lnTo>
                  <a:pt x="136821" y="1624809"/>
                </a:lnTo>
                <a:lnTo>
                  <a:pt x="179929" y="1645328"/>
                </a:lnTo>
                <a:lnTo>
                  <a:pt x="226781" y="1658214"/>
                </a:lnTo>
                <a:lnTo>
                  <a:pt x="276606" y="1662683"/>
                </a:lnTo>
                <a:lnTo>
                  <a:pt x="2414778" y="1662683"/>
                </a:lnTo>
                <a:lnTo>
                  <a:pt x="2464628" y="1658214"/>
                </a:lnTo>
                <a:lnTo>
                  <a:pt x="2511550" y="1645328"/>
                </a:lnTo>
                <a:lnTo>
                  <a:pt x="2554760" y="1624809"/>
                </a:lnTo>
                <a:lnTo>
                  <a:pt x="2593472" y="1597442"/>
                </a:lnTo>
                <a:lnTo>
                  <a:pt x="2626904" y="1564010"/>
                </a:lnTo>
                <a:lnTo>
                  <a:pt x="2654271" y="1525298"/>
                </a:lnTo>
                <a:lnTo>
                  <a:pt x="2674790" y="1482088"/>
                </a:lnTo>
                <a:lnTo>
                  <a:pt x="2687676" y="1435166"/>
                </a:lnTo>
                <a:lnTo>
                  <a:pt x="2692146" y="1385315"/>
                </a:lnTo>
                <a:lnTo>
                  <a:pt x="2692146" y="277367"/>
                </a:lnTo>
                <a:lnTo>
                  <a:pt x="2687676" y="227517"/>
                </a:lnTo>
                <a:lnTo>
                  <a:pt x="2674790" y="180595"/>
                </a:lnTo>
                <a:lnTo>
                  <a:pt x="2654271" y="137385"/>
                </a:lnTo>
                <a:lnTo>
                  <a:pt x="2626904" y="98673"/>
                </a:lnTo>
                <a:lnTo>
                  <a:pt x="2593472" y="65241"/>
                </a:lnTo>
                <a:lnTo>
                  <a:pt x="2554760" y="37874"/>
                </a:lnTo>
                <a:lnTo>
                  <a:pt x="2511550" y="17355"/>
                </a:lnTo>
                <a:lnTo>
                  <a:pt x="2464628" y="4469"/>
                </a:lnTo>
                <a:lnTo>
                  <a:pt x="2414778" y="0"/>
                </a:lnTo>
                <a:lnTo>
                  <a:pt x="276606" y="0"/>
                </a:lnTo>
                <a:close/>
              </a:path>
            </a:pathLst>
          </a:custGeom>
          <a:ln w="9525">
            <a:solidFill>
              <a:srgbClr val="FF0066"/>
            </a:solidFill>
          </a:ln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6" name="object 16"/>
          <p:cNvSpPr txBox="1"/>
          <p:nvPr/>
        </p:nvSpPr>
        <p:spPr>
          <a:xfrm>
            <a:off x="2968625" y="3841750"/>
            <a:ext cx="276225" cy="273050"/>
          </a:xfrm>
          <a:prstGeom prst="rect">
            <a:avLst/>
          </a:prstGeom>
        </p:spPr>
        <p:txBody>
          <a:bodyPr lIns="0" tIns="10317" rIns="0" bIns="0">
            <a:spAutoFit/>
          </a:bodyPr>
          <a:lstStyle/>
          <a:p>
            <a:pPr marL="10860" eaLnBrk="1" hangingPunct="1">
              <a:spcBef>
                <a:spcPts val="81"/>
              </a:spcBef>
              <a:defRPr/>
            </a:pPr>
            <a:r>
              <a:rPr sz="1710" spc="-4" dirty="0">
                <a:latin typeface="Times New Roman"/>
                <a:cs typeface="Times New Roman"/>
              </a:rPr>
              <a:t>(1)</a:t>
            </a:r>
            <a:endParaRPr sz="1710">
              <a:latin typeface="Times New Roman"/>
              <a:cs typeface="Times New Roman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2801938" y="4465638"/>
            <a:ext cx="2314575" cy="1504950"/>
            <a:chOff x="2801938" y="4465638"/>
            <a:chExt cx="2314575" cy="1504950"/>
          </a:xfrm>
        </p:grpSpPr>
        <p:sp>
          <p:nvSpPr>
            <p:cNvPr id="9" name="object 9"/>
            <p:cNvSpPr/>
            <p:nvPr/>
          </p:nvSpPr>
          <p:spPr>
            <a:xfrm>
              <a:off x="3046413" y="4583113"/>
              <a:ext cx="488950" cy="1074737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 eaLnBrk="1" hangingPunct="1">
                <a:defRPr/>
              </a:pPr>
              <a:endParaRPr sz="2052"/>
            </a:p>
          </p:txBody>
        </p:sp>
        <p:sp>
          <p:nvSpPr>
            <p:cNvPr id="13" name="object 13"/>
            <p:cNvSpPr/>
            <p:nvPr/>
          </p:nvSpPr>
          <p:spPr>
            <a:xfrm>
              <a:off x="3940175" y="4559300"/>
              <a:ext cx="938213" cy="1100138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 eaLnBrk="1" hangingPunct="1">
                <a:defRPr/>
              </a:pPr>
              <a:endParaRPr sz="2052"/>
            </a:p>
          </p:txBody>
        </p:sp>
        <p:sp>
          <p:nvSpPr>
            <p:cNvPr id="17" name="object 17"/>
            <p:cNvSpPr/>
            <p:nvPr/>
          </p:nvSpPr>
          <p:spPr>
            <a:xfrm>
              <a:off x="2801938" y="4465638"/>
              <a:ext cx="2314575" cy="1504950"/>
            </a:xfrm>
            <a:custGeom>
              <a:avLst/>
              <a:gdLst/>
              <a:ahLst/>
              <a:cxnLst/>
              <a:rect l="l" t="t" r="r" b="b"/>
              <a:pathLst>
                <a:path w="2707004" h="1760220">
                  <a:moveTo>
                    <a:pt x="293370" y="0"/>
                  </a:moveTo>
                  <a:lnTo>
                    <a:pt x="245900" y="3832"/>
                  </a:lnTo>
                  <a:lnTo>
                    <a:pt x="200826" y="14929"/>
                  </a:lnTo>
                  <a:lnTo>
                    <a:pt x="158761" y="32692"/>
                  </a:lnTo>
                  <a:lnTo>
                    <a:pt x="120316" y="56522"/>
                  </a:lnTo>
                  <a:lnTo>
                    <a:pt x="86106" y="85820"/>
                  </a:lnTo>
                  <a:lnTo>
                    <a:pt x="56741" y="119987"/>
                  </a:lnTo>
                  <a:lnTo>
                    <a:pt x="32836" y="158425"/>
                  </a:lnTo>
                  <a:lnTo>
                    <a:pt x="15002" y="200534"/>
                  </a:lnTo>
                  <a:lnTo>
                    <a:pt x="3852" y="245715"/>
                  </a:lnTo>
                  <a:lnTo>
                    <a:pt x="0" y="293370"/>
                  </a:lnTo>
                  <a:lnTo>
                    <a:pt x="0" y="1466850"/>
                  </a:lnTo>
                  <a:lnTo>
                    <a:pt x="3852" y="1514504"/>
                  </a:lnTo>
                  <a:lnTo>
                    <a:pt x="15002" y="1559685"/>
                  </a:lnTo>
                  <a:lnTo>
                    <a:pt x="32836" y="1601794"/>
                  </a:lnTo>
                  <a:lnTo>
                    <a:pt x="56741" y="1640232"/>
                  </a:lnTo>
                  <a:lnTo>
                    <a:pt x="86106" y="1674399"/>
                  </a:lnTo>
                  <a:lnTo>
                    <a:pt x="120316" y="1703697"/>
                  </a:lnTo>
                  <a:lnTo>
                    <a:pt x="158761" y="1727527"/>
                  </a:lnTo>
                  <a:lnTo>
                    <a:pt x="200826" y="1745290"/>
                  </a:lnTo>
                  <a:lnTo>
                    <a:pt x="245900" y="1756387"/>
                  </a:lnTo>
                  <a:lnTo>
                    <a:pt x="293370" y="1760220"/>
                  </a:lnTo>
                  <a:lnTo>
                    <a:pt x="2413254" y="1760220"/>
                  </a:lnTo>
                  <a:lnTo>
                    <a:pt x="2460908" y="1756387"/>
                  </a:lnTo>
                  <a:lnTo>
                    <a:pt x="2506089" y="1745290"/>
                  </a:lnTo>
                  <a:lnTo>
                    <a:pt x="2548198" y="1727527"/>
                  </a:lnTo>
                  <a:lnTo>
                    <a:pt x="2586636" y="1703697"/>
                  </a:lnTo>
                  <a:lnTo>
                    <a:pt x="2620803" y="1674399"/>
                  </a:lnTo>
                  <a:lnTo>
                    <a:pt x="2650101" y="1640232"/>
                  </a:lnTo>
                  <a:lnTo>
                    <a:pt x="2673931" y="1601794"/>
                  </a:lnTo>
                  <a:lnTo>
                    <a:pt x="2691694" y="1559685"/>
                  </a:lnTo>
                  <a:lnTo>
                    <a:pt x="2702791" y="1514504"/>
                  </a:lnTo>
                  <a:lnTo>
                    <a:pt x="2706624" y="1466849"/>
                  </a:lnTo>
                  <a:lnTo>
                    <a:pt x="2706624" y="293369"/>
                  </a:lnTo>
                  <a:lnTo>
                    <a:pt x="2702791" y="245715"/>
                  </a:lnTo>
                  <a:lnTo>
                    <a:pt x="2691694" y="200534"/>
                  </a:lnTo>
                  <a:lnTo>
                    <a:pt x="2673931" y="158425"/>
                  </a:lnTo>
                  <a:lnTo>
                    <a:pt x="2650101" y="119987"/>
                  </a:lnTo>
                  <a:lnTo>
                    <a:pt x="2620803" y="85820"/>
                  </a:lnTo>
                  <a:lnTo>
                    <a:pt x="2586636" y="56522"/>
                  </a:lnTo>
                  <a:lnTo>
                    <a:pt x="2548198" y="32692"/>
                  </a:lnTo>
                  <a:lnTo>
                    <a:pt x="2506089" y="14929"/>
                  </a:lnTo>
                  <a:lnTo>
                    <a:pt x="2460908" y="3832"/>
                  </a:lnTo>
                  <a:lnTo>
                    <a:pt x="2413254" y="0"/>
                  </a:lnTo>
                  <a:lnTo>
                    <a:pt x="293370" y="0"/>
                  </a:lnTo>
                  <a:close/>
                </a:path>
              </a:pathLst>
            </a:custGeom>
            <a:ln w="9525">
              <a:solidFill>
                <a:srgbClr val="FF0066"/>
              </a:solidFill>
            </a:ln>
          </p:spPr>
          <p:txBody>
            <a:bodyPr lIns="0" tIns="0" rIns="0" bIns="0"/>
            <a:lstStyle/>
            <a:p>
              <a:pPr eaLnBrk="1" hangingPunct="1">
                <a:defRPr/>
              </a:pPr>
              <a:endParaRPr sz="2052"/>
            </a:p>
          </p:txBody>
        </p:sp>
        <p:sp>
          <p:nvSpPr>
            <p:cNvPr id="18" name="object 18"/>
            <p:cNvSpPr txBox="1"/>
            <p:nvPr/>
          </p:nvSpPr>
          <p:spPr>
            <a:xfrm>
              <a:off x="2968625" y="5665788"/>
              <a:ext cx="276225" cy="274637"/>
            </a:xfrm>
            <a:prstGeom prst="rect">
              <a:avLst/>
            </a:prstGeom>
          </p:spPr>
          <p:txBody>
            <a:bodyPr lIns="0" tIns="10317" rIns="0" bIns="0">
              <a:spAutoFit/>
            </a:bodyPr>
            <a:lstStyle/>
            <a:p>
              <a:pPr marL="10860" eaLnBrk="1" hangingPunct="1">
                <a:spcBef>
                  <a:spcPts val="81"/>
                </a:spcBef>
                <a:defRPr/>
              </a:pPr>
              <a:r>
                <a:rPr sz="1710" spc="-4" dirty="0">
                  <a:latin typeface="Times New Roman"/>
                  <a:cs typeface="Times New Roman"/>
                </a:rPr>
                <a:t>(2)</a:t>
              </a:r>
              <a:endParaRPr sz="1710">
                <a:latin typeface="Times New Roman"/>
                <a:cs typeface="Times New Roman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5757863" y="2089150"/>
            <a:ext cx="2041525" cy="2000250"/>
            <a:chOff x="5757863" y="2089150"/>
            <a:chExt cx="2041525" cy="2000250"/>
          </a:xfrm>
        </p:grpSpPr>
        <p:sp>
          <p:nvSpPr>
            <p:cNvPr id="10" name="object 10"/>
            <p:cNvSpPr/>
            <p:nvPr/>
          </p:nvSpPr>
          <p:spPr>
            <a:xfrm>
              <a:off x="5945188" y="2346325"/>
              <a:ext cx="488950" cy="1595438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 eaLnBrk="1" hangingPunct="1">
                <a:defRPr/>
              </a:pPr>
              <a:endParaRPr sz="2052"/>
            </a:p>
          </p:txBody>
        </p:sp>
        <p:sp>
          <p:nvSpPr>
            <p:cNvPr id="11" name="object 11"/>
            <p:cNvSpPr/>
            <p:nvPr/>
          </p:nvSpPr>
          <p:spPr>
            <a:xfrm>
              <a:off x="6764338" y="2365375"/>
              <a:ext cx="936625" cy="839788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 eaLnBrk="1" hangingPunct="1">
                <a:defRPr/>
              </a:pPr>
              <a:endParaRPr sz="2052"/>
            </a:p>
          </p:txBody>
        </p:sp>
        <p:sp>
          <p:nvSpPr>
            <p:cNvPr id="19" name="object 19"/>
            <p:cNvSpPr/>
            <p:nvPr/>
          </p:nvSpPr>
          <p:spPr>
            <a:xfrm>
              <a:off x="5757863" y="2089150"/>
              <a:ext cx="2041525" cy="2000250"/>
            </a:xfrm>
            <a:custGeom>
              <a:avLst/>
              <a:gdLst/>
              <a:ahLst/>
              <a:cxnLst/>
              <a:rect l="l" t="t" r="r" b="b"/>
              <a:pathLst>
                <a:path w="2387600" h="2338704">
                  <a:moveTo>
                    <a:pt x="389381" y="0"/>
                  </a:moveTo>
                  <a:lnTo>
                    <a:pt x="340571" y="3036"/>
                  </a:lnTo>
                  <a:lnTo>
                    <a:pt x="293560" y="11902"/>
                  </a:lnTo>
                  <a:lnTo>
                    <a:pt x="248716" y="26230"/>
                  </a:lnTo>
                  <a:lnTo>
                    <a:pt x="206404" y="45654"/>
                  </a:lnTo>
                  <a:lnTo>
                    <a:pt x="166992" y="69809"/>
                  </a:lnTo>
                  <a:lnTo>
                    <a:pt x="130844" y="98328"/>
                  </a:lnTo>
                  <a:lnTo>
                    <a:pt x="98328" y="130844"/>
                  </a:lnTo>
                  <a:lnTo>
                    <a:pt x="69809" y="166992"/>
                  </a:lnTo>
                  <a:lnTo>
                    <a:pt x="45654" y="206404"/>
                  </a:lnTo>
                  <a:lnTo>
                    <a:pt x="26230" y="248716"/>
                  </a:lnTo>
                  <a:lnTo>
                    <a:pt x="11902" y="293560"/>
                  </a:lnTo>
                  <a:lnTo>
                    <a:pt x="3036" y="340571"/>
                  </a:lnTo>
                  <a:lnTo>
                    <a:pt x="0" y="389382"/>
                  </a:lnTo>
                  <a:lnTo>
                    <a:pt x="0" y="1948433"/>
                  </a:lnTo>
                  <a:lnTo>
                    <a:pt x="3036" y="1997407"/>
                  </a:lnTo>
                  <a:lnTo>
                    <a:pt x="11902" y="2044555"/>
                  </a:lnTo>
                  <a:lnTo>
                    <a:pt x="26230" y="2089514"/>
                  </a:lnTo>
                  <a:lnTo>
                    <a:pt x="45654" y="2131920"/>
                  </a:lnTo>
                  <a:lnTo>
                    <a:pt x="69809" y="2171408"/>
                  </a:lnTo>
                  <a:lnTo>
                    <a:pt x="98328" y="2207614"/>
                  </a:lnTo>
                  <a:lnTo>
                    <a:pt x="130844" y="2240174"/>
                  </a:lnTo>
                  <a:lnTo>
                    <a:pt x="166992" y="2268725"/>
                  </a:lnTo>
                  <a:lnTo>
                    <a:pt x="206404" y="2292901"/>
                  </a:lnTo>
                  <a:lnTo>
                    <a:pt x="248716" y="2312338"/>
                  </a:lnTo>
                  <a:lnTo>
                    <a:pt x="293560" y="2326673"/>
                  </a:lnTo>
                  <a:lnTo>
                    <a:pt x="340571" y="2335541"/>
                  </a:lnTo>
                  <a:lnTo>
                    <a:pt x="389381" y="2338578"/>
                  </a:lnTo>
                  <a:lnTo>
                    <a:pt x="1997964" y="2338578"/>
                  </a:lnTo>
                  <a:lnTo>
                    <a:pt x="2046774" y="2335541"/>
                  </a:lnTo>
                  <a:lnTo>
                    <a:pt x="2093785" y="2326673"/>
                  </a:lnTo>
                  <a:lnTo>
                    <a:pt x="2138629" y="2312338"/>
                  </a:lnTo>
                  <a:lnTo>
                    <a:pt x="2180941" y="2292901"/>
                  </a:lnTo>
                  <a:lnTo>
                    <a:pt x="2220353" y="2268725"/>
                  </a:lnTo>
                  <a:lnTo>
                    <a:pt x="2256501" y="2240174"/>
                  </a:lnTo>
                  <a:lnTo>
                    <a:pt x="2289017" y="2207614"/>
                  </a:lnTo>
                  <a:lnTo>
                    <a:pt x="2317536" y="2171408"/>
                  </a:lnTo>
                  <a:lnTo>
                    <a:pt x="2341691" y="2131920"/>
                  </a:lnTo>
                  <a:lnTo>
                    <a:pt x="2361115" y="2089514"/>
                  </a:lnTo>
                  <a:lnTo>
                    <a:pt x="2375443" y="2044555"/>
                  </a:lnTo>
                  <a:lnTo>
                    <a:pt x="2384309" y="1997407"/>
                  </a:lnTo>
                  <a:lnTo>
                    <a:pt x="2387345" y="1948433"/>
                  </a:lnTo>
                  <a:lnTo>
                    <a:pt x="2387345" y="389381"/>
                  </a:lnTo>
                  <a:lnTo>
                    <a:pt x="2384309" y="340571"/>
                  </a:lnTo>
                  <a:lnTo>
                    <a:pt x="2375443" y="293560"/>
                  </a:lnTo>
                  <a:lnTo>
                    <a:pt x="2361115" y="248716"/>
                  </a:lnTo>
                  <a:lnTo>
                    <a:pt x="2341691" y="206404"/>
                  </a:lnTo>
                  <a:lnTo>
                    <a:pt x="2317536" y="166992"/>
                  </a:lnTo>
                  <a:lnTo>
                    <a:pt x="2289017" y="130844"/>
                  </a:lnTo>
                  <a:lnTo>
                    <a:pt x="2256501" y="98328"/>
                  </a:lnTo>
                  <a:lnTo>
                    <a:pt x="2220353" y="69809"/>
                  </a:lnTo>
                  <a:lnTo>
                    <a:pt x="2180941" y="45654"/>
                  </a:lnTo>
                  <a:lnTo>
                    <a:pt x="2138629" y="26230"/>
                  </a:lnTo>
                  <a:lnTo>
                    <a:pt x="2093785" y="11902"/>
                  </a:lnTo>
                  <a:lnTo>
                    <a:pt x="2046774" y="3036"/>
                  </a:lnTo>
                  <a:lnTo>
                    <a:pt x="1997963" y="0"/>
                  </a:lnTo>
                  <a:lnTo>
                    <a:pt x="389381" y="0"/>
                  </a:lnTo>
                  <a:close/>
                </a:path>
              </a:pathLst>
            </a:custGeom>
            <a:ln w="9525">
              <a:solidFill>
                <a:srgbClr val="FF0066"/>
              </a:solidFill>
            </a:ln>
          </p:spPr>
          <p:txBody>
            <a:bodyPr lIns="0" tIns="0" rIns="0" bIns="0"/>
            <a:lstStyle/>
            <a:p>
              <a:pPr eaLnBrk="1" hangingPunct="1">
                <a:defRPr/>
              </a:pPr>
              <a:endParaRPr sz="2052"/>
            </a:p>
          </p:txBody>
        </p:sp>
        <p:sp>
          <p:nvSpPr>
            <p:cNvPr id="21" name="object 21"/>
            <p:cNvSpPr txBox="1"/>
            <p:nvPr/>
          </p:nvSpPr>
          <p:spPr>
            <a:xfrm>
              <a:off x="7335838" y="3697288"/>
              <a:ext cx="276225" cy="273050"/>
            </a:xfrm>
            <a:prstGeom prst="rect">
              <a:avLst/>
            </a:prstGeom>
          </p:spPr>
          <p:txBody>
            <a:bodyPr lIns="0" tIns="10317" rIns="0" bIns="0">
              <a:spAutoFit/>
            </a:bodyPr>
            <a:lstStyle/>
            <a:p>
              <a:pPr marL="10860" eaLnBrk="1" hangingPunct="1">
                <a:spcBef>
                  <a:spcPts val="81"/>
                </a:spcBef>
                <a:defRPr/>
              </a:pPr>
              <a:r>
                <a:rPr sz="1710" spc="-4" dirty="0">
                  <a:latin typeface="Times New Roman"/>
                  <a:cs typeface="Times New Roman"/>
                </a:rPr>
                <a:t>(3)</a:t>
              </a:r>
              <a:endParaRPr sz="1710">
                <a:latin typeface="Times New Roman"/>
                <a:cs typeface="Times New Roman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5718175" y="4376738"/>
            <a:ext cx="2108200" cy="1597025"/>
            <a:chOff x="5718175" y="4376738"/>
            <a:chExt cx="2108200" cy="1597025"/>
          </a:xfrm>
        </p:grpSpPr>
        <p:sp>
          <p:nvSpPr>
            <p:cNvPr id="7" name="object 7"/>
            <p:cNvSpPr/>
            <p:nvPr/>
          </p:nvSpPr>
          <p:spPr>
            <a:xfrm>
              <a:off x="5915025" y="4572000"/>
              <a:ext cx="920750" cy="814388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 eaLnBrk="1" hangingPunct="1">
                <a:defRPr/>
              </a:pPr>
              <a:endParaRPr sz="2052"/>
            </a:p>
          </p:txBody>
        </p:sp>
        <p:sp>
          <p:nvSpPr>
            <p:cNvPr id="12" name="object 12"/>
            <p:cNvSpPr/>
            <p:nvPr/>
          </p:nvSpPr>
          <p:spPr>
            <a:xfrm>
              <a:off x="7059613" y="4548188"/>
              <a:ext cx="650875" cy="1100137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 eaLnBrk="1" hangingPunct="1">
                <a:defRPr/>
              </a:pPr>
              <a:endParaRPr sz="2052"/>
            </a:p>
          </p:txBody>
        </p:sp>
        <p:sp>
          <p:nvSpPr>
            <p:cNvPr id="20" name="object 20"/>
            <p:cNvSpPr/>
            <p:nvPr/>
          </p:nvSpPr>
          <p:spPr>
            <a:xfrm>
              <a:off x="5718175" y="4376738"/>
              <a:ext cx="2108200" cy="1597025"/>
            </a:xfrm>
            <a:custGeom>
              <a:avLst/>
              <a:gdLst/>
              <a:ahLst/>
              <a:cxnLst/>
              <a:rect l="l" t="t" r="r" b="b"/>
              <a:pathLst>
                <a:path w="2464434" h="1866900">
                  <a:moveTo>
                    <a:pt x="311657" y="0"/>
                  </a:moveTo>
                  <a:lnTo>
                    <a:pt x="265583" y="3377"/>
                  </a:lnTo>
                  <a:lnTo>
                    <a:pt x="221614" y="13188"/>
                  </a:lnTo>
                  <a:lnTo>
                    <a:pt x="180232" y="28951"/>
                  </a:lnTo>
                  <a:lnTo>
                    <a:pt x="141918" y="50187"/>
                  </a:lnTo>
                  <a:lnTo>
                    <a:pt x="107151" y="76414"/>
                  </a:lnTo>
                  <a:lnTo>
                    <a:pt x="76414" y="107151"/>
                  </a:lnTo>
                  <a:lnTo>
                    <a:pt x="50187" y="141918"/>
                  </a:lnTo>
                  <a:lnTo>
                    <a:pt x="28951" y="180232"/>
                  </a:lnTo>
                  <a:lnTo>
                    <a:pt x="13188" y="221614"/>
                  </a:lnTo>
                  <a:lnTo>
                    <a:pt x="3377" y="265583"/>
                  </a:lnTo>
                  <a:lnTo>
                    <a:pt x="0" y="311657"/>
                  </a:lnTo>
                  <a:lnTo>
                    <a:pt x="0" y="1556003"/>
                  </a:lnTo>
                  <a:lnTo>
                    <a:pt x="3377" y="1602060"/>
                  </a:lnTo>
                  <a:lnTo>
                    <a:pt x="13188" y="1645980"/>
                  </a:lnTo>
                  <a:lnTo>
                    <a:pt x="28951" y="1687290"/>
                  </a:lnTo>
                  <a:lnTo>
                    <a:pt x="50187" y="1725514"/>
                  </a:lnTo>
                  <a:lnTo>
                    <a:pt x="76414" y="1760181"/>
                  </a:lnTo>
                  <a:lnTo>
                    <a:pt x="107151" y="1790814"/>
                  </a:lnTo>
                  <a:lnTo>
                    <a:pt x="141918" y="1816941"/>
                  </a:lnTo>
                  <a:lnTo>
                    <a:pt x="180232" y="1838087"/>
                  </a:lnTo>
                  <a:lnTo>
                    <a:pt x="221614" y="1853778"/>
                  </a:lnTo>
                  <a:lnTo>
                    <a:pt x="265583" y="1863540"/>
                  </a:lnTo>
                  <a:lnTo>
                    <a:pt x="311657" y="1866899"/>
                  </a:lnTo>
                  <a:lnTo>
                    <a:pt x="2152649" y="1866899"/>
                  </a:lnTo>
                  <a:lnTo>
                    <a:pt x="2198724" y="1863540"/>
                  </a:lnTo>
                  <a:lnTo>
                    <a:pt x="2242693" y="1853778"/>
                  </a:lnTo>
                  <a:lnTo>
                    <a:pt x="2284075" y="1838087"/>
                  </a:lnTo>
                  <a:lnTo>
                    <a:pt x="2322389" y="1816941"/>
                  </a:lnTo>
                  <a:lnTo>
                    <a:pt x="2357156" y="1790814"/>
                  </a:lnTo>
                  <a:lnTo>
                    <a:pt x="2387893" y="1760181"/>
                  </a:lnTo>
                  <a:lnTo>
                    <a:pt x="2414120" y="1725514"/>
                  </a:lnTo>
                  <a:lnTo>
                    <a:pt x="2435356" y="1687290"/>
                  </a:lnTo>
                  <a:lnTo>
                    <a:pt x="2451119" y="1645980"/>
                  </a:lnTo>
                  <a:lnTo>
                    <a:pt x="2460930" y="1602060"/>
                  </a:lnTo>
                  <a:lnTo>
                    <a:pt x="2464307" y="1556003"/>
                  </a:lnTo>
                  <a:lnTo>
                    <a:pt x="2464307" y="311657"/>
                  </a:lnTo>
                  <a:lnTo>
                    <a:pt x="2460930" y="265583"/>
                  </a:lnTo>
                  <a:lnTo>
                    <a:pt x="2451119" y="221614"/>
                  </a:lnTo>
                  <a:lnTo>
                    <a:pt x="2435356" y="180232"/>
                  </a:lnTo>
                  <a:lnTo>
                    <a:pt x="2414120" y="141918"/>
                  </a:lnTo>
                  <a:lnTo>
                    <a:pt x="2387893" y="107151"/>
                  </a:lnTo>
                  <a:lnTo>
                    <a:pt x="2357156" y="76414"/>
                  </a:lnTo>
                  <a:lnTo>
                    <a:pt x="2322389" y="50187"/>
                  </a:lnTo>
                  <a:lnTo>
                    <a:pt x="2284075" y="28951"/>
                  </a:lnTo>
                  <a:lnTo>
                    <a:pt x="2242693" y="13188"/>
                  </a:lnTo>
                  <a:lnTo>
                    <a:pt x="2198724" y="3377"/>
                  </a:lnTo>
                  <a:lnTo>
                    <a:pt x="2152649" y="0"/>
                  </a:lnTo>
                  <a:lnTo>
                    <a:pt x="311657" y="0"/>
                  </a:lnTo>
                  <a:close/>
                </a:path>
              </a:pathLst>
            </a:custGeom>
            <a:ln w="9525">
              <a:solidFill>
                <a:srgbClr val="FF0066"/>
              </a:solidFill>
            </a:ln>
          </p:spPr>
          <p:txBody>
            <a:bodyPr lIns="0" tIns="0" rIns="0" bIns="0"/>
            <a:lstStyle/>
            <a:p>
              <a:pPr eaLnBrk="1" hangingPunct="1">
                <a:defRPr/>
              </a:pPr>
              <a:endParaRPr sz="2052"/>
            </a:p>
          </p:txBody>
        </p:sp>
        <p:sp>
          <p:nvSpPr>
            <p:cNvPr id="22" name="object 22"/>
            <p:cNvSpPr txBox="1"/>
            <p:nvPr/>
          </p:nvSpPr>
          <p:spPr>
            <a:xfrm>
              <a:off x="7294563" y="5657850"/>
              <a:ext cx="274637" cy="273050"/>
            </a:xfrm>
            <a:prstGeom prst="rect">
              <a:avLst/>
            </a:prstGeom>
          </p:spPr>
          <p:txBody>
            <a:bodyPr lIns="0" tIns="10317" rIns="0" bIns="0">
              <a:spAutoFit/>
            </a:bodyPr>
            <a:lstStyle/>
            <a:p>
              <a:pPr marL="10860" eaLnBrk="1" hangingPunct="1">
                <a:spcBef>
                  <a:spcPts val="81"/>
                </a:spcBef>
                <a:defRPr/>
              </a:pPr>
              <a:r>
                <a:rPr sz="1710" spc="-4" dirty="0">
                  <a:latin typeface="Times New Roman"/>
                  <a:cs typeface="Times New Roman"/>
                </a:rPr>
                <a:t>(4)</a:t>
              </a:r>
              <a:endParaRPr sz="1710">
                <a:latin typeface="Times New Roman"/>
                <a:cs typeface="Times New Roman"/>
              </a:endParaRPr>
            </a:p>
          </p:txBody>
        </p:sp>
      </p:grpSp>
      <p:sp>
        <p:nvSpPr>
          <p:cNvPr id="25" name="灯片编号占位符 2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A6568E1-4089-4561-919E-9D2F37D3F2B0}" type="slidenum">
              <a:rPr lang="en-US" altLang="zh-CN" smtClean="0"/>
              <a:pPr>
                <a:defRPr/>
              </a:pPr>
              <a:t>61</a:t>
            </a:fld>
            <a:endParaRPr lang="en-US" altLang="zh-CN" dirty="0"/>
          </a:p>
        </p:txBody>
      </p:sp>
      <p:sp>
        <p:nvSpPr>
          <p:cNvPr id="26" name="标题 2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zh-CN" sz="3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(1) “</a:t>
            </a:r>
            <a:r>
              <a:rPr lang="zh-CN" altLang="zh-CN" sz="3200" dirty="0">
                <a:solidFill>
                  <a:srgbClr val="F8F8F8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除</a:t>
            </a:r>
            <a:r>
              <a:rPr lang="zh-CN" altLang="zh-CN" sz="3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r>
              <a:rPr lang="zh-CN" altLang="zh-CN" sz="3200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操作</a:t>
            </a:r>
            <a:endParaRPr lang="zh-CN" alt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521975" y="1380619"/>
            <a:ext cx="4933950" cy="379750"/>
          </a:xfrm>
          <a:prstGeom prst="rect">
            <a:avLst/>
          </a:prstGeom>
        </p:spPr>
        <p:txBody>
          <a:bodyPr wrap="square" lIns="0" tIns="10317" rIns="0" bIns="0">
            <a:spAutoFit/>
          </a:bodyPr>
          <a:lstStyle>
            <a:lvl1pPr marL="242888" indent="-231775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75"/>
              </a:spcBef>
              <a:buFont typeface="Wingdings" panose="05000000000000000000" pitchFamily="2" charset="2"/>
              <a:buChar char=""/>
            </a:pPr>
            <a:r>
              <a:rPr lang="zh-CN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除</a:t>
            </a:r>
            <a:r>
              <a:rPr lang="zh-CN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(Division)</a:t>
            </a:r>
            <a:r>
              <a:rPr lang="zh-CN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操作的示例一</a:t>
            </a:r>
            <a:r>
              <a:rPr lang="zh-CN" altLang="zh-CN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zh-CN" altLang="zh-CN" b="1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抽象的</a:t>
            </a:r>
            <a:r>
              <a:rPr lang="zh-CN" altLang="zh-CN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zh-CN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27100" y="1881188"/>
            <a:ext cx="1384300" cy="26463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7" name="object 7"/>
          <p:cNvSpPr/>
          <p:nvPr/>
        </p:nvSpPr>
        <p:spPr>
          <a:xfrm>
            <a:off x="2744788" y="2089150"/>
            <a:ext cx="488950" cy="159702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8" name="object 8"/>
          <p:cNvSpPr/>
          <p:nvPr/>
        </p:nvSpPr>
        <p:spPr>
          <a:xfrm>
            <a:off x="3563938" y="2109788"/>
            <a:ext cx="936625" cy="8382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9" name="object 9"/>
          <p:cNvSpPr/>
          <p:nvPr/>
        </p:nvSpPr>
        <p:spPr>
          <a:xfrm>
            <a:off x="2555875" y="1831975"/>
            <a:ext cx="2043113" cy="2000250"/>
          </a:xfrm>
          <a:custGeom>
            <a:avLst/>
            <a:gdLst/>
            <a:ahLst/>
            <a:cxnLst/>
            <a:rect l="l" t="t" r="r" b="b"/>
            <a:pathLst>
              <a:path w="2388235" h="2338704">
                <a:moveTo>
                  <a:pt x="390144" y="0"/>
                </a:moveTo>
                <a:lnTo>
                  <a:pt x="341170" y="3036"/>
                </a:lnTo>
                <a:lnTo>
                  <a:pt x="294022" y="11904"/>
                </a:lnTo>
                <a:lnTo>
                  <a:pt x="249063" y="26239"/>
                </a:lnTo>
                <a:lnTo>
                  <a:pt x="206657" y="45676"/>
                </a:lnTo>
                <a:lnTo>
                  <a:pt x="167169" y="69852"/>
                </a:lnTo>
                <a:lnTo>
                  <a:pt x="130963" y="98403"/>
                </a:lnTo>
                <a:lnTo>
                  <a:pt x="98403" y="130963"/>
                </a:lnTo>
                <a:lnTo>
                  <a:pt x="69852" y="167169"/>
                </a:lnTo>
                <a:lnTo>
                  <a:pt x="45676" y="206657"/>
                </a:lnTo>
                <a:lnTo>
                  <a:pt x="26239" y="249063"/>
                </a:lnTo>
                <a:lnTo>
                  <a:pt x="11904" y="294022"/>
                </a:lnTo>
                <a:lnTo>
                  <a:pt x="3036" y="341170"/>
                </a:lnTo>
                <a:lnTo>
                  <a:pt x="0" y="390144"/>
                </a:lnTo>
                <a:lnTo>
                  <a:pt x="0" y="1948433"/>
                </a:lnTo>
                <a:lnTo>
                  <a:pt x="3036" y="1997407"/>
                </a:lnTo>
                <a:lnTo>
                  <a:pt x="11904" y="2044555"/>
                </a:lnTo>
                <a:lnTo>
                  <a:pt x="26239" y="2089514"/>
                </a:lnTo>
                <a:lnTo>
                  <a:pt x="45676" y="2131920"/>
                </a:lnTo>
                <a:lnTo>
                  <a:pt x="69852" y="2171408"/>
                </a:lnTo>
                <a:lnTo>
                  <a:pt x="98403" y="2207614"/>
                </a:lnTo>
                <a:lnTo>
                  <a:pt x="130963" y="2240174"/>
                </a:lnTo>
                <a:lnTo>
                  <a:pt x="167169" y="2268725"/>
                </a:lnTo>
                <a:lnTo>
                  <a:pt x="206657" y="2292901"/>
                </a:lnTo>
                <a:lnTo>
                  <a:pt x="249063" y="2312338"/>
                </a:lnTo>
                <a:lnTo>
                  <a:pt x="294022" y="2326673"/>
                </a:lnTo>
                <a:lnTo>
                  <a:pt x="341170" y="2335541"/>
                </a:lnTo>
                <a:lnTo>
                  <a:pt x="390144" y="2338578"/>
                </a:lnTo>
                <a:lnTo>
                  <a:pt x="1997964" y="2338578"/>
                </a:lnTo>
                <a:lnTo>
                  <a:pt x="2046937" y="2335541"/>
                </a:lnTo>
                <a:lnTo>
                  <a:pt x="2094085" y="2326673"/>
                </a:lnTo>
                <a:lnTo>
                  <a:pt x="2139044" y="2312338"/>
                </a:lnTo>
                <a:lnTo>
                  <a:pt x="2181450" y="2292901"/>
                </a:lnTo>
                <a:lnTo>
                  <a:pt x="2220938" y="2268725"/>
                </a:lnTo>
                <a:lnTo>
                  <a:pt x="2257144" y="2240174"/>
                </a:lnTo>
                <a:lnTo>
                  <a:pt x="2289704" y="2207614"/>
                </a:lnTo>
                <a:lnTo>
                  <a:pt x="2318255" y="2171408"/>
                </a:lnTo>
                <a:lnTo>
                  <a:pt x="2342431" y="2131920"/>
                </a:lnTo>
                <a:lnTo>
                  <a:pt x="2361868" y="2089514"/>
                </a:lnTo>
                <a:lnTo>
                  <a:pt x="2376203" y="2044555"/>
                </a:lnTo>
                <a:lnTo>
                  <a:pt x="2385071" y="1997407"/>
                </a:lnTo>
                <a:lnTo>
                  <a:pt x="2388108" y="1948433"/>
                </a:lnTo>
                <a:lnTo>
                  <a:pt x="2388108" y="390143"/>
                </a:lnTo>
                <a:lnTo>
                  <a:pt x="2385071" y="341170"/>
                </a:lnTo>
                <a:lnTo>
                  <a:pt x="2376203" y="294022"/>
                </a:lnTo>
                <a:lnTo>
                  <a:pt x="2361868" y="249063"/>
                </a:lnTo>
                <a:lnTo>
                  <a:pt x="2342431" y="206657"/>
                </a:lnTo>
                <a:lnTo>
                  <a:pt x="2318255" y="167169"/>
                </a:lnTo>
                <a:lnTo>
                  <a:pt x="2289704" y="130963"/>
                </a:lnTo>
                <a:lnTo>
                  <a:pt x="2257144" y="98403"/>
                </a:lnTo>
                <a:lnTo>
                  <a:pt x="2220938" y="69852"/>
                </a:lnTo>
                <a:lnTo>
                  <a:pt x="2181450" y="45676"/>
                </a:lnTo>
                <a:lnTo>
                  <a:pt x="2139044" y="26239"/>
                </a:lnTo>
                <a:lnTo>
                  <a:pt x="2094085" y="11904"/>
                </a:lnTo>
                <a:lnTo>
                  <a:pt x="2046937" y="3036"/>
                </a:lnTo>
                <a:lnTo>
                  <a:pt x="1997964" y="0"/>
                </a:lnTo>
                <a:lnTo>
                  <a:pt x="390144" y="0"/>
                </a:lnTo>
                <a:close/>
              </a:path>
            </a:pathLst>
          </a:custGeom>
          <a:ln w="9525">
            <a:solidFill>
              <a:srgbClr val="FF0066"/>
            </a:solidFill>
          </a:ln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2" name="object 12"/>
          <p:cNvSpPr txBox="1"/>
          <p:nvPr/>
        </p:nvSpPr>
        <p:spPr>
          <a:xfrm>
            <a:off x="2501900" y="3440113"/>
            <a:ext cx="5364163" cy="938212"/>
          </a:xfrm>
          <a:prstGeom prst="rect">
            <a:avLst/>
          </a:prstGeom>
        </p:spPr>
        <p:txBody>
          <a:bodyPr lIns="0" tIns="10317" rIns="0" bIns="0">
            <a:spAutoFit/>
          </a:bodyPr>
          <a:lstStyle/>
          <a:p>
            <a:pPr marL="1643626" eaLnBrk="1" hangingPunct="1">
              <a:spcBef>
                <a:spcPts val="81"/>
              </a:spcBef>
              <a:defRPr/>
            </a:pPr>
            <a:r>
              <a:rPr sz="1710" spc="-4" dirty="0">
                <a:latin typeface="Times New Roman"/>
                <a:cs typeface="Times New Roman"/>
              </a:rPr>
              <a:t>(3)</a:t>
            </a:r>
            <a:endParaRPr sz="1710">
              <a:latin typeface="Times New Roman"/>
              <a:cs typeface="Times New Roman"/>
            </a:endParaRPr>
          </a:p>
          <a:p>
            <a:pPr eaLnBrk="1" hangingPunct="1">
              <a:spcBef>
                <a:spcPts val="4"/>
              </a:spcBef>
              <a:defRPr/>
            </a:pPr>
            <a:endParaRPr sz="1924">
              <a:latin typeface="Times New Roman"/>
              <a:cs typeface="Times New Roman"/>
            </a:endParaRPr>
          </a:p>
          <a:p>
            <a:pPr marL="10860" eaLnBrk="1" hangingPunct="1">
              <a:tabLst>
                <a:tab pos="2351683" algn="l"/>
              </a:tabLst>
              <a:defRPr/>
            </a:pPr>
            <a:r>
              <a:rPr sz="2052" b="1" i="1" spc="-4" dirty="0">
                <a:latin typeface="Arial"/>
                <a:cs typeface="Arial"/>
              </a:rPr>
              <a:t>R </a:t>
            </a:r>
            <a:r>
              <a:rPr sz="2394" b="1" spc="-4" dirty="0">
                <a:solidFill>
                  <a:srgbClr val="FF0065"/>
                </a:solidFill>
                <a:latin typeface="Symbol"/>
                <a:cs typeface="Symbol"/>
              </a:rPr>
              <a:t></a:t>
            </a:r>
            <a:r>
              <a:rPr sz="2394" b="1" spc="-4" dirty="0">
                <a:solidFill>
                  <a:srgbClr val="FF0065"/>
                </a:solidFill>
                <a:latin typeface="Times New Roman"/>
                <a:cs typeface="Times New Roman"/>
              </a:rPr>
              <a:t> </a:t>
            </a:r>
            <a:r>
              <a:rPr sz="2052" b="1" i="1" dirty="0">
                <a:latin typeface="Arial"/>
                <a:cs typeface="Arial"/>
              </a:rPr>
              <a:t>S </a:t>
            </a:r>
            <a:r>
              <a:rPr sz="2052" b="1" dirty="0">
                <a:latin typeface="Arial"/>
                <a:cs typeface="Arial"/>
              </a:rPr>
              <a:t>= </a:t>
            </a:r>
            <a:r>
              <a:rPr sz="2052" b="1" spc="-4" dirty="0">
                <a:latin typeface="Symbol"/>
                <a:cs typeface="Symbol"/>
              </a:rPr>
              <a:t></a:t>
            </a:r>
            <a:r>
              <a:rPr sz="2052" b="1" i="1" spc="-6" baseline="-20833" dirty="0">
                <a:latin typeface="Arial"/>
                <a:cs typeface="Arial"/>
              </a:rPr>
              <a:t>R-S </a:t>
            </a:r>
            <a:r>
              <a:rPr sz="2052" b="1" dirty="0">
                <a:latin typeface="Arial"/>
                <a:cs typeface="Arial"/>
              </a:rPr>
              <a:t>( </a:t>
            </a:r>
            <a:r>
              <a:rPr sz="2052" b="1" i="1" spc="-4" dirty="0">
                <a:latin typeface="Arial"/>
                <a:cs typeface="Arial"/>
              </a:rPr>
              <a:t>R</a:t>
            </a:r>
            <a:r>
              <a:rPr sz="2052" b="1" i="1" spc="-21" dirty="0">
                <a:latin typeface="Arial"/>
                <a:cs typeface="Arial"/>
              </a:rPr>
              <a:t> </a:t>
            </a:r>
            <a:r>
              <a:rPr sz="2052" b="1" dirty="0">
                <a:latin typeface="Arial"/>
                <a:cs typeface="Arial"/>
              </a:rPr>
              <a:t>)</a:t>
            </a:r>
            <a:r>
              <a:rPr sz="2052" b="1" spc="-4" dirty="0">
                <a:latin typeface="Arial"/>
                <a:cs typeface="Arial"/>
              </a:rPr>
              <a:t> </a:t>
            </a:r>
            <a:r>
              <a:rPr sz="2052" b="1" dirty="0">
                <a:latin typeface="Arial"/>
                <a:cs typeface="Arial"/>
              </a:rPr>
              <a:t>-	</a:t>
            </a:r>
            <a:r>
              <a:rPr sz="2052" b="1" spc="-4" dirty="0">
                <a:solidFill>
                  <a:srgbClr val="3333CC"/>
                </a:solidFill>
                <a:latin typeface="Symbol"/>
                <a:cs typeface="Symbol"/>
              </a:rPr>
              <a:t></a:t>
            </a:r>
            <a:r>
              <a:rPr sz="2052" b="1" i="1" spc="-6" baseline="-20833" dirty="0">
                <a:solidFill>
                  <a:srgbClr val="3333CC"/>
                </a:solidFill>
                <a:latin typeface="Arial"/>
                <a:cs typeface="Arial"/>
              </a:rPr>
              <a:t>R-S </a:t>
            </a:r>
            <a:r>
              <a:rPr sz="2052" b="1" dirty="0">
                <a:solidFill>
                  <a:srgbClr val="3333CC"/>
                </a:solidFill>
                <a:latin typeface="Arial"/>
                <a:cs typeface="Arial"/>
              </a:rPr>
              <a:t>( </a:t>
            </a:r>
            <a:r>
              <a:rPr sz="2052" b="1" i="1" dirty="0">
                <a:solidFill>
                  <a:srgbClr val="FF0065"/>
                </a:solidFill>
                <a:latin typeface="Arial"/>
                <a:cs typeface="Arial"/>
              </a:rPr>
              <a:t>( </a:t>
            </a:r>
            <a:r>
              <a:rPr sz="2052" b="1" spc="-4" dirty="0">
                <a:solidFill>
                  <a:srgbClr val="FF0065"/>
                </a:solidFill>
                <a:latin typeface="Symbol"/>
                <a:cs typeface="Symbol"/>
              </a:rPr>
              <a:t></a:t>
            </a:r>
            <a:r>
              <a:rPr sz="2052" b="1" i="1" spc="-6" baseline="-20833" dirty="0">
                <a:solidFill>
                  <a:srgbClr val="FF0065"/>
                </a:solidFill>
                <a:latin typeface="Arial"/>
                <a:cs typeface="Arial"/>
              </a:rPr>
              <a:t>R-S </a:t>
            </a:r>
            <a:r>
              <a:rPr sz="2052" b="1" spc="-4" dirty="0">
                <a:solidFill>
                  <a:srgbClr val="FF0065"/>
                </a:solidFill>
                <a:latin typeface="Arial"/>
                <a:cs typeface="Arial"/>
              </a:rPr>
              <a:t>(</a:t>
            </a:r>
            <a:r>
              <a:rPr sz="2052" b="1" i="1" spc="-4" dirty="0">
                <a:solidFill>
                  <a:srgbClr val="FF0065"/>
                </a:solidFill>
                <a:latin typeface="Arial"/>
                <a:cs typeface="Arial"/>
              </a:rPr>
              <a:t>R</a:t>
            </a:r>
            <a:r>
              <a:rPr sz="2052" b="1" spc="-4" dirty="0">
                <a:solidFill>
                  <a:srgbClr val="FF0065"/>
                </a:solidFill>
                <a:latin typeface="Arial"/>
                <a:cs typeface="Arial"/>
              </a:rPr>
              <a:t>) </a:t>
            </a:r>
            <a:r>
              <a:rPr sz="2052" b="1" spc="-4" dirty="0">
                <a:solidFill>
                  <a:srgbClr val="FF0065"/>
                </a:solidFill>
                <a:latin typeface="Symbol"/>
                <a:cs typeface="Symbol"/>
              </a:rPr>
              <a:t></a:t>
            </a:r>
            <a:r>
              <a:rPr sz="2052" b="1" spc="-4" dirty="0">
                <a:solidFill>
                  <a:srgbClr val="FF0065"/>
                </a:solidFill>
                <a:latin typeface="Times New Roman"/>
                <a:cs typeface="Times New Roman"/>
              </a:rPr>
              <a:t> </a:t>
            </a:r>
            <a:r>
              <a:rPr sz="2052" b="1" dirty="0">
                <a:solidFill>
                  <a:srgbClr val="FF0065"/>
                </a:solidFill>
                <a:latin typeface="Arial"/>
                <a:cs typeface="Arial"/>
              </a:rPr>
              <a:t>S </a:t>
            </a:r>
            <a:r>
              <a:rPr sz="2052" b="1" i="1" dirty="0">
                <a:solidFill>
                  <a:srgbClr val="FF0065"/>
                </a:solidFill>
                <a:latin typeface="Arial"/>
                <a:cs typeface="Arial"/>
              </a:rPr>
              <a:t>) </a:t>
            </a:r>
            <a:r>
              <a:rPr sz="2052" b="1" i="1" dirty="0">
                <a:solidFill>
                  <a:srgbClr val="3333CC"/>
                </a:solidFill>
                <a:latin typeface="Arial"/>
                <a:cs typeface="Arial"/>
              </a:rPr>
              <a:t>- </a:t>
            </a:r>
            <a:r>
              <a:rPr sz="2052" b="1" i="1" spc="-4" dirty="0">
                <a:solidFill>
                  <a:srgbClr val="3333CC"/>
                </a:solidFill>
                <a:latin typeface="Arial"/>
                <a:cs typeface="Arial"/>
              </a:rPr>
              <a:t>R</a:t>
            </a:r>
            <a:r>
              <a:rPr sz="2052" b="1" i="1" spc="-3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2052" b="1" dirty="0">
                <a:solidFill>
                  <a:srgbClr val="3333CC"/>
                </a:solidFill>
                <a:latin typeface="Arial"/>
                <a:cs typeface="Arial"/>
              </a:rPr>
              <a:t>)</a:t>
            </a:r>
            <a:endParaRPr sz="2052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878513" y="1281113"/>
            <a:ext cx="1123950" cy="111442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4" name="object 14"/>
          <p:cNvSpPr/>
          <p:nvPr/>
        </p:nvSpPr>
        <p:spPr>
          <a:xfrm>
            <a:off x="7043738" y="1304925"/>
            <a:ext cx="1068387" cy="26543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5" name="object 15"/>
          <p:cNvSpPr/>
          <p:nvPr/>
        </p:nvSpPr>
        <p:spPr>
          <a:xfrm>
            <a:off x="3233739" y="4640262"/>
            <a:ext cx="1497012" cy="159702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6" name="object 16"/>
          <p:cNvSpPr/>
          <p:nvPr/>
        </p:nvSpPr>
        <p:spPr>
          <a:xfrm>
            <a:off x="4779963" y="4627563"/>
            <a:ext cx="1420812" cy="97313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7" name="object 17"/>
          <p:cNvSpPr/>
          <p:nvPr/>
        </p:nvSpPr>
        <p:spPr>
          <a:xfrm>
            <a:off x="6355407" y="4581128"/>
            <a:ext cx="2105025" cy="1011406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A6568E1-4089-4561-919E-9D2F37D3F2B0}" type="slidenum">
              <a:rPr lang="en-US" altLang="zh-CN" smtClean="0"/>
              <a:pPr>
                <a:defRPr/>
              </a:pPr>
              <a:t>62</a:t>
            </a:fld>
            <a:endParaRPr lang="en-US" altLang="zh-CN" dirty="0"/>
          </a:p>
        </p:txBody>
      </p:sp>
      <p:sp>
        <p:nvSpPr>
          <p:cNvPr id="19" name="标题 1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zh-CN" sz="3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(1) “</a:t>
            </a:r>
            <a:r>
              <a:rPr lang="zh-CN" altLang="zh-CN" sz="3200" dirty="0">
                <a:solidFill>
                  <a:srgbClr val="F8F8F8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除</a:t>
            </a:r>
            <a:r>
              <a:rPr lang="zh-CN" altLang="zh-CN" sz="3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r>
              <a:rPr lang="zh-CN" altLang="zh-CN" sz="3200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操作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047750" y="3468787"/>
            <a:ext cx="1531938" cy="274637"/>
          </a:xfrm>
          <a:prstGeom prst="rect">
            <a:avLst/>
          </a:prstGeom>
        </p:spPr>
        <p:txBody>
          <a:bodyPr lIns="0" tIns="10317" rIns="0" bIns="0">
            <a:spAutoFit/>
          </a:bodyPr>
          <a:lstStyle>
            <a:lvl1pPr marL="952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75"/>
              </a:spcBef>
            </a:pPr>
            <a:r>
              <a:rPr lang="zh-CN" altLang="zh-CN" sz="1700" b="1">
                <a:solidFill>
                  <a:srgbClr val="FF0065"/>
                </a:solidFill>
                <a:cs typeface="Times New Roman" panose="02020603050405020304" pitchFamily="18" charset="0"/>
              </a:rPr>
              <a:t>SC(</a:t>
            </a:r>
            <a:r>
              <a:rPr lang="zh-CN" altLang="zh-CN" sz="1700" b="1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学生选课表</a:t>
            </a:r>
            <a:r>
              <a:rPr lang="zh-CN" altLang="zh-CN" sz="1700" b="1">
                <a:solidFill>
                  <a:srgbClr val="FF0065"/>
                </a:solidFill>
                <a:cs typeface="Times New Roman" panose="02020603050405020304" pitchFamily="18" charset="0"/>
              </a:rPr>
              <a:t>)</a:t>
            </a:r>
            <a:endParaRPr lang="zh-CN" altLang="zh-CN" sz="1700"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97350" y="3468787"/>
            <a:ext cx="1536700" cy="274637"/>
          </a:xfrm>
          <a:prstGeom prst="rect">
            <a:avLst/>
          </a:prstGeom>
        </p:spPr>
        <p:txBody>
          <a:bodyPr lIns="0" tIns="10317" rIns="0" bIns="0">
            <a:spAutoFit/>
          </a:bodyPr>
          <a:lstStyle>
            <a:lvl1pPr marL="952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75"/>
              </a:spcBef>
            </a:pPr>
            <a:r>
              <a:rPr lang="zh-CN" altLang="zh-CN" sz="1700" b="1">
                <a:solidFill>
                  <a:srgbClr val="FF0065"/>
                </a:solidFill>
                <a:cs typeface="Times New Roman" panose="02020603050405020304" pitchFamily="18" charset="0"/>
              </a:rPr>
              <a:t>Course (</a:t>
            </a:r>
            <a:r>
              <a:rPr lang="zh-CN" altLang="zh-CN" sz="1700" b="1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课程表</a:t>
            </a:r>
            <a:r>
              <a:rPr lang="zh-CN" altLang="zh-CN" sz="1700" b="1">
                <a:solidFill>
                  <a:srgbClr val="FF0065"/>
                </a:solidFill>
                <a:cs typeface="Times New Roman" panose="02020603050405020304" pitchFamily="18" charset="0"/>
              </a:rPr>
              <a:t>)</a:t>
            </a:r>
            <a:endParaRPr lang="zh-CN" altLang="zh-CN" sz="1700"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0244" y="1482487"/>
            <a:ext cx="6089650" cy="379750"/>
          </a:xfrm>
          <a:prstGeom prst="rect">
            <a:avLst/>
          </a:prstGeom>
        </p:spPr>
        <p:txBody>
          <a:bodyPr wrap="square" lIns="0" tIns="10317" rIns="0" bIns="0">
            <a:spAutoFit/>
          </a:bodyPr>
          <a:lstStyle>
            <a:lvl1pPr marL="242888" indent="-231775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75"/>
              </a:spcBef>
              <a:buFont typeface="Wingdings" panose="05000000000000000000" pitchFamily="2" charset="2"/>
              <a:buChar char=""/>
            </a:pPr>
            <a:r>
              <a:rPr lang="zh-CN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除</a:t>
            </a:r>
            <a:r>
              <a:rPr lang="zh-CN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(Division)</a:t>
            </a:r>
            <a:r>
              <a:rPr lang="zh-CN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操作的示例二</a:t>
            </a:r>
            <a:r>
              <a:rPr lang="zh-CN" altLang="zh-CN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zh-CN" altLang="zh-CN" b="1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语义的</a:t>
            </a:r>
            <a:r>
              <a:rPr lang="zh-CN" altLang="zh-CN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zh-CN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20808" y="1999556"/>
            <a:ext cx="6654755" cy="348972"/>
          </a:xfrm>
          <a:prstGeom prst="rect">
            <a:avLst/>
          </a:prstGeom>
        </p:spPr>
        <p:txBody>
          <a:bodyPr wrap="square" lIns="0" tIns="10317" rIns="0" bIns="0">
            <a:spAutoFit/>
          </a:bodyPr>
          <a:lstStyle>
            <a:lvl1pPr marL="236538" indent="-225425">
              <a:tabLst>
                <a:tab pos="23653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tabLst>
                <a:tab pos="23653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tabLst>
                <a:tab pos="23653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tabLst>
                <a:tab pos="23653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tabLst>
                <a:tab pos="23653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3653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3653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3653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3653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75"/>
              </a:spcBef>
              <a:buFont typeface="Wingdings" panose="05000000000000000000" pitchFamily="2" charset="2"/>
              <a:buChar char=""/>
            </a:pPr>
            <a:r>
              <a:rPr lang="zh-CN" altLang="zh-CN" sz="22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查询选修了全部课程的学生的学号</a:t>
            </a:r>
            <a:endParaRPr lang="zh-CN" altLang="zh-CN" sz="22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93875" y="2571849"/>
            <a:ext cx="1041400" cy="325438"/>
          </a:xfrm>
          <a:prstGeom prst="rect">
            <a:avLst/>
          </a:prstGeom>
        </p:spPr>
        <p:txBody>
          <a:bodyPr lIns="0" tIns="10860" rIns="0" bIns="0">
            <a:spAutoFit/>
          </a:bodyPr>
          <a:lstStyle>
            <a:lvl1pPr marL="952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88"/>
              </a:spcBef>
            </a:pPr>
            <a:r>
              <a:rPr lang="zh-CN" altLang="zh-CN" sz="2000" b="1" dirty="0">
                <a:solidFill>
                  <a:srgbClr val="FF006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π</a:t>
            </a:r>
            <a:r>
              <a:rPr lang="zh-CN" altLang="zh-CN" sz="1500" b="1" baseline="-23000" dirty="0">
                <a:latin typeface="Arial" panose="020B0604020202020204" pitchFamily="34" charset="0"/>
                <a:cs typeface="Arial" panose="020B0604020202020204" pitchFamily="34" charset="0"/>
              </a:rPr>
              <a:t>S#, C#</a:t>
            </a:r>
            <a:r>
              <a:rPr lang="zh-CN" altLang="zh-CN" sz="1700" b="1" dirty="0">
                <a:latin typeface="Arial" panose="020B0604020202020204" pitchFamily="34" charset="0"/>
                <a:cs typeface="Arial" panose="020B0604020202020204" pitchFamily="34" charset="0"/>
              </a:rPr>
              <a:t>(SC)</a:t>
            </a:r>
            <a:endParaRPr lang="zh-CN" altLang="zh-CN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68625" y="2362299"/>
            <a:ext cx="1643063" cy="579438"/>
          </a:xfrm>
          <a:prstGeom prst="rect">
            <a:avLst/>
          </a:prstGeom>
        </p:spPr>
        <p:txBody>
          <a:bodyPr lIns="0" tIns="13032" rIns="0" bIns="0">
            <a:spAutoFit/>
          </a:bodyPr>
          <a:lstStyle>
            <a:lvl1pPr marL="952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100"/>
              </a:spcBef>
            </a:pPr>
            <a:r>
              <a:rPr lang="zh-CN" altLang="zh-CN" sz="5500" baseline="-5000" dirty="0">
                <a:latin typeface="Symbol" panose="05050102010706020507" pitchFamily="18" charset="2"/>
              </a:rPr>
              <a:t></a:t>
            </a:r>
            <a:r>
              <a:rPr lang="zh-CN" altLang="zh-CN" sz="5500" baseline="-5000" dirty="0">
                <a:cs typeface="Times New Roman" panose="02020603050405020304" pitchFamily="18" charset="0"/>
              </a:rPr>
              <a:t> </a:t>
            </a:r>
            <a:r>
              <a:rPr lang="zh-CN" altLang="zh-CN" sz="2000" b="1" dirty="0">
                <a:solidFill>
                  <a:srgbClr val="FF006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π</a:t>
            </a:r>
            <a:r>
              <a:rPr lang="zh-CN" altLang="zh-CN" sz="1500" b="1" baseline="-23000" dirty="0">
                <a:latin typeface="Arial" panose="020B0604020202020204" pitchFamily="34" charset="0"/>
                <a:cs typeface="Arial" panose="020B0604020202020204" pitchFamily="34" charset="0"/>
              </a:rPr>
              <a:t>C#</a:t>
            </a:r>
            <a:r>
              <a:rPr lang="zh-CN" altLang="zh-CN" sz="1700" b="1" dirty="0">
                <a:latin typeface="Arial" panose="020B0604020202020204" pitchFamily="34" charset="0"/>
                <a:cs typeface="Arial" panose="020B0604020202020204" pitchFamily="34" charset="0"/>
              </a:rPr>
              <a:t>(Course)</a:t>
            </a:r>
            <a:endParaRPr lang="zh-CN" altLang="zh-CN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195763" y="3813274"/>
            <a:ext cx="2908300" cy="7254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0" name="object 10"/>
          <p:cNvSpPr txBox="1"/>
          <p:nvPr/>
        </p:nvSpPr>
        <p:spPr>
          <a:xfrm>
            <a:off x="4175125" y="4743549"/>
            <a:ext cx="2846388" cy="273050"/>
          </a:xfrm>
          <a:prstGeom prst="rect">
            <a:avLst/>
          </a:prstGeom>
        </p:spPr>
        <p:txBody>
          <a:bodyPr lIns="0" tIns="10317" rIns="0" bIns="0">
            <a:spAutoFit/>
          </a:bodyPr>
          <a:lstStyle>
            <a:lvl1pPr marL="952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75"/>
              </a:spcBef>
            </a:pPr>
            <a:r>
              <a:rPr lang="zh-CN" altLang="zh-CN" sz="1700" b="1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选修了全部课程的学生的学号</a:t>
            </a:r>
            <a:endParaRPr lang="zh-CN" altLang="zh-CN" sz="170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069975" y="3840262"/>
            <a:ext cx="1839913" cy="160496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2" name="object 12"/>
          <p:cNvSpPr/>
          <p:nvPr/>
        </p:nvSpPr>
        <p:spPr>
          <a:xfrm>
            <a:off x="4194175" y="5067399"/>
            <a:ext cx="717550" cy="36671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3" name="object 13"/>
          <p:cNvSpPr txBox="1"/>
          <p:nvPr/>
        </p:nvSpPr>
        <p:spPr>
          <a:xfrm>
            <a:off x="931863" y="626334"/>
            <a:ext cx="4122985" cy="555496"/>
          </a:xfrm>
          <a:prstGeom prst="rect">
            <a:avLst/>
          </a:prstGeom>
        </p:spPr>
        <p:txBody>
          <a:bodyPr wrap="square" lIns="0" tIns="62444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</a:pPr>
            <a:r>
              <a:rPr lang="zh-CN" altLang="zh-CN" sz="32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(1) “</a:t>
            </a:r>
            <a:r>
              <a:rPr lang="zh-CN" altLang="zh-CN" sz="3200" b="1" dirty="0">
                <a:solidFill>
                  <a:srgbClr val="F8F8F8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除</a:t>
            </a:r>
            <a:r>
              <a:rPr lang="zh-CN" altLang="zh-CN" sz="32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r>
              <a:rPr lang="zh-CN" altLang="zh-CN" sz="3200" b="1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操作</a:t>
            </a:r>
            <a:endParaRPr lang="zh-CN" altLang="zh-CN" sz="32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4" name="灯片编号占位符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02E7998-F56A-45D4-984E-4E67E3C944B8}" type="slidenum">
              <a:rPr lang="en-US" altLang="zh-CN" smtClean="0"/>
              <a:pPr>
                <a:defRPr/>
              </a:pPr>
              <a:t>63</a:t>
            </a:fld>
            <a:endParaRPr lang="en-US" altLang="zh-CN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624707" y="1493941"/>
            <a:ext cx="7744593" cy="975942"/>
          </a:xfrm>
          <a:prstGeom prst="rect">
            <a:avLst/>
          </a:prstGeom>
        </p:spPr>
        <p:txBody>
          <a:bodyPr wrap="square" lIns="0" tIns="138463" rIns="0" bIns="0">
            <a:spAutoFit/>
          </a:bodyPr>
          <a:lstStyle>
            <a:lvl1pPr marL="242888" indent="-231775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1088"/>
              </a:spcBef>
              <a:buFont typeface="Wingdings" panose="05000000000000000000" pitchFamily="2" charset="2"/>
              <a:buChar char=""/>
            </a:pPr>
            <a:r>
              <a:rPr lang="zh-CN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除</a:t>
            </a:r>
            <a:r>
              <a:rPr lang="zh-CN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(Division)</a:t>
            </a:r>
            <a:r>
              <a:rPr lang="zh-CN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操作的示例三</a:t>
            </a:r>
            <a:r>
              <a:rPr lang="zh-CN" altLang="zh-CN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zh-CN" altLang="zh-CN" b="1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语义的</a:t>
            </a:r>
            <a:r>
              <a:rPr lang="zh-CN" altLang="zh-CN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zh-CN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ts val="1000"/>
              </a:spcBef>
              <a:buFont typeface="Wingdings" panose="05000000000000000000" pitchFamily="2" charset="2"/>
              <a:buChar char=""/>
            </a:pPr>
            <a:r>
              <a:rPr lang="zh-CN" altLang="zh-CN" sz="22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查询选修了学号</a:t>
            </a:r>
            <a:r>
              <a:rPr lang="zh-CN" altLang="zh-CN" sz="2200" b="1" dirty="0">
                <a:cs typeface="Times New Roman" panose="02020603050405020304" pitchFamily="18" charset="0"/>
              </a:rPr>
              <a:t>98030201</a:t>
            </a:r>
            <a:r>
              <a:rPr lang="zh-CN" altLang="zh-CN" sz="22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学生所学全部课程的同学的姓名</a:t>
            </a:r>
            <a:endParaRPr lang="zh-CN" altLang="zh-CN" sz="22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11350" y="2841501"/>
            <a:ext cx="958850" cy="327025"/>
          </a:xfrm>
          <a:prstGeom prst="rect">
            <a:avLst/>
          </a:prstGeom>
        </p:spPr>
        <p:txBody>
          <a:bodyPr lIns="0" tIns="10860" rIns="0" bIns="0">
            <a:spAutoFit/>
          </a:bodyPr>
          <a:lstStyle>
            <a:lvl1pPr marL="952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88"/>
              </a:spcBef>
            </a:pPr>
            <a:r>
              <a:rPr lang="zh-CN" altLang="zh-CN" sz="3000" b="1" baseline="12000">
                <a:solidFill>
                  <a:srgbClr val="FF006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π</a:t>
            </a:r>
            <a:r>
              <a:rPr lang="zh-CN" altLang="zh-CN" sz="1000" b="1">
                <a:latin typeface="Arial" panose="020B0604020202020204" pitchFamily="34" charset="0"/>
                <a:cs typeface="Arial" panose="020B0604020202020204" pitchFamily="34" charset="0"/>
              </a:rPr>
              <a:t>Sname</a:t>
            </a:r>
            <a:r>
              <a:rPr lang="zh-CN" altLang="zh-CN" sz="3000" b="1" baseline="12000">
                <a:latin typeface="Arial" panose="020B0604020202020204" pitchFamily="34" charset="0"/>
                <a:cs typeface="Arial" panose="020B0604020202020204" pitchFamily="34" charset="0"/>
              </a:rPr>
              <a:t>( S</a:t>
            </a:r>
            <a:endParaRPr lang="zh-CN" altLang="zh-CN" sz="3000" baseline="1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495675" y="2633539"/>
            <a:ext cx="4964757" cy="577416"/>
          </a:xfrm>
          <a:prstGeom prst="rect">
            <a:avLst/>
          </a:prstGeom>
        </p:spPr>
        <p:txBody>
          <a:bodyPr wrap="square" lIns="0" tIns="13032" rIns="0" bIns="0">
            <a:spAutoFit/>
          </a:bodyPr>
          <a:lstStyle>
            <a:lvl1pPr marL="952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100"/>
              </a:spcBef>
            </a:pPr>
            <a:r>
              <a:rPr lang="zh-CN" altLang="zh-CN" sz="3000" b="1" baseline="120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zh-CN" altLang="zh-CN" sz="3000" b="1" baseline="12000" dirty="0">
                <a:solidFill>
                  <a:srgbClr val="FF006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π</a:t>
            </a:r>
            <a:r>
              <a:rPr lang="zh-CN" altLang="zh-CN" sz="1000" b="1" dirty="0">
                <a:latin typeface="Arial" panose="020B0604020202020204" pitchFamily="34" charset="0"/>
                <a:cs typeface="Arial" panose="020B0604020202020204" pitchFamily="34" charset="0"/>
              </a:rPr>
              <a:t>S#, C#</a:t>
            </a:r>
            <a:r>
              <a:rPr lang="zh-CN" altLang="zh-CN" sz="2500" b="1" baseline="14000" dirty="0">
                <a:latin typeface="Arial" panose="020B0604020202020204" pitchFamily="34" charset="0"/>
                <a:cs typeface="Arial" panose="020B0604020202020204" pitchFamily="34" charset="0"/>
              </a:rPr>
              <a:t>(SC)</a:t>
            </a:r>
            <a:r>
              <a:rPr lang="en-US" altLang="zh-CN" sz="2500" b="1" baseline="1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zh-CN" altLang="zh-CN" sz="5500" baseline="2000" dirty="0">
                <a:latin typeface="Symbol" panose="05050102010706020507" pitchFamily="18" charset="2"/>
              </a:rPr>
              <a:t></a:t>
            </a:r>
            <a:r>
              <a:rPr lang="en-US" altLang="zh-CN" sz="5500" baseline="2000" dirty="0">
                <a:latin typeface="Symbol" panose="05050102010706020507" pitchFamily="18" charset="2"/>
              </a:rPr>
              <a:t> </a:t>
            </a:r>
            <a:r>
              <a:rPr lang="zh-CN" altLang="zh-CN" sz="3000" b="1" baseline="12000" dirty="0">
                <a:solidFill>
                  <a:srgbClr val="FF006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π</a:t>
            </a:r>
            <a:r>
              <a:rPr lang="zh-CN" altLang="zh-CN" sz="1000" b="1" dirty="0">
                <a:latin typeface="Arial" panose="020B0604020202020204" pitchFamily="34" charset="0"/>
                <a:cs typeface="Arial" panose="020B0604020202020204" pitchFamily="34" charset="0"/>
              </a:rPr>
              <a:t>C# </a:t>
            </a:r>
            <a:r>
              <a:rPr lang="zh-CN" altLang="zh-CN" sz="2500" b="1" baseline="140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CN" sz="2500" b="1" baseline="1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zh-CN" altLang="zh-CN" sz="3000" b="1" baseline="12000" dirty="0">
                <a:solidFill>
                  <a:srgbClr val="FF006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σ</a:t>
            </a:r>
            <a:r>
              <a:rPr lang="zh-CN" altLang="zh-CN" sz="1000" b="1" dirty="0">
                <a:latin typeface="Arial" panose="020B0604020202020204" pitchFamily="34" charset="0"/>
                <a:cs typeface="Arial" panose="020B0604020202020204" pitchFamily="34" charset="0"/>
              </a:rPr>
              <a:t>S#=“98030201”</a:t>
            </a:r>
            <a:r>
              <a:rPr lang="zh-CN" altLang="zh-CN" sz="2500" b="1" baseline="14000" dirty="0">
                <a:latin typeface="Arial" panose="020B0604020202020204" pitchFamily="34" charset="0"/>
                <a:cs typeface="Arial" panose="020B0604020202020204" pitchFamily="34" charset="0"/>
              </a:rPr>
              <a:t>(SC)</a:t>
            </a:r>
            <a:r>
              <a:rPr lang="en-US" altLang="zh-CN" sz="2500" b="1" baseline="1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zh-CN" altLang="zh-CN" sz="2500" b="1" baseline="140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n-US" altLang="zh-CN" sz="2500" b="1" baseline="1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zh-CN" altLang="zh-CN" sz="2500" b="1" baseline="14000" dirty="0">
                <a:latin typeface="Tahoma" panose="020B0604030504040204" pitchFamily="34" charset="0"/>
                <a:cs typeface="Tahoma" panose="020B0604030504040204" pitchFamily="34" charset="0"/>
              </a:rPr>
              <a:t>))</a:t>
            </a:r>
            <a:endParaRPr lang="zh-CN" altLang="zh-CN" sz="2500" baseline="14000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032125" y="2906589"/>
            <a:ext cx="301625" cy="115887"/>
          </a:xfrm>
          <a:custGeom>
            <a:avLst/>
            <a:gdLst/>
            <a:ahLst/>
            <a:cxnLst/>
            <a:rect l="l" t="t" r="r" b="b"/>
            <a:pathLst>
              <a:path w="351789" h="135889">
                <a:moveTo>
                  <a:pt x="0" y="135636"/>
                </a:moveTo>
                <a:lnTo>
                  <a:pt x="0" y="0"/>
                </a:lnTo>
                <a:lnTo>
                  <a:pt x="351282" y="135636"/>
                </a:lnTo>
                <a:lnTo>
                  <a:pt x="351282" y="0"/>
                </a:lnTo>
                <a:lnTo>
                  <a:pt x="0" y="135636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7" name="object 7"/>
          <p:cNvSpPr txBox="1"/>
          <p:nvPr/>
        </p:nvSpPr>
        <p:spPr>
          <a:xfrm>
            <a:off x="1079050" y="626846"/>
            <a:ext cx="3582300" cy="555496"/>
          </a:xfrm>
          <a:prstGeom prst="rect">
            <a:avLst/>
          </a:prstGeom>
        </p:spPr>
        <p:txBody>
          <a:bodyPr wrap="square" lIns="0" tIns="62444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</a:pPr>
            <a:r>
              <a:rPr lang="zh-CN" altLang="zh-CN" sz="32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(1) “</a:t>
            </a:r>
            <a:r>
              <a:rPr lang="zh-CN" altLang="zh-CN" sz="3200" b="1" dirty="0">
                <a:solidFill>
                  <a:srgbClr val="F8F8F8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除</a:t>
            </a:r>
            <a:r>
              <a:rPr lang="zh-CN" altLang="zh-CN" sz="32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r>
              <a:rPr lang="zh-CN" altLang="zh-CN" sz="3200" b="1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操作</a:t>
            </a:r>
            <a:endParaRPr lang="zh-CN" altLang="zh-CN" sz="32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02E7998-F56A-45D4-984E-4E67E3C944B8}" type="slidenum">
              <a:rPr lang="en-US" altLang="zh-CN" smtClean="0"/>
              <a:pPr>
                <a:defRPr/>
              </a:pPr>
              <a:t>64</a:t>
            </a:fld>
            <a:endParaRPr lang="en-US" altLang="zh-CN"/>
          </a:p>
        </p:txBody>
      </p:sp>
      <p:sp>
        <p:nvSpPr>
          <p:cNvPr id="10" name="object 11">
            <a:extLst>
              <a:ext uri="{FF2B5EF4-FFF2-40B4-BE49-F238E27FC236}">
                <a16:creationId xmlns:a16="http://schemas.microsoft.com/office/drawing/2014/main" id="{104BD5F6-4CF2-4E8C-B12D-B1E8DF9A92DA}"/>
              </a:ext>
            </a:extLst>
          </p:cNvPr>
          <p:cNvSpPr/>
          <p:nvPr/>
        </p:nvSpPr>
        <p:spPr>
          <a:xfrm>
            <a:off x="6948264" y="4632326"/>
            <a:ext cx="1839913" cy="16049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611560" y="1484784"/>
            <a:ext cx="7901309" cy="975942"/>
          </a:xfrm>
          <a:prstGeom prst="rect">
            <a:avLst/>
          </a:prstGeom>
        </p:spPr>
        <p:txBody>
          <a:bodyPr wrap="square" lIns="0" tIns="138463" rIns="0" bIns="0">
            <a:spAutoFit/>
          </a:bodyPr>
          <a:lstStyle>
            <a:lvl1pPr marL="242888" indent="-231775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1088"/>
              </a:spcBef>
              <a:buFont typeface="Wingdings" panose="05000000000000000000" pitchFamily="2" charset="2"/>
              <a:buChar char=""/>
            </a:pPr>
            <a:r>
              <a:rPr lang="zh-CN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除</a:t>
            </a:r>
            <a:r>
              <a:rPr lang="zh-CN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(Division)</a:t>
            </a:r>
            <a:r>
              <a:rPr lang="zh-CN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操作的示例三</a:t>
            </a:r>
            <a:r>
              <a:rPr lang="zh-CN" altLang="zh-CN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zh-CN" altLang="zh-CN" b="1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语义的</a:t>
            </a:r>
            <a:r>
              <a:rPr lang="zh-CN" altLang="zh-CN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zh-CN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ts val="1000"/>
              </a:spcBef>
              <a:buFont typeface="Wingdings" panose="05000000000000000000" pitchFamily="2" charset="2"/>
              <a:buChar char=""/>
            </a:pPr>
            <a:r>
              <a:rPr lang="zh-CN" altLang="zh-CN" sz="22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查询选修了学号</a:t>
            </a:r>
            <a:r>
              <a:rPr lang="zh-CN" altLang="zh-CN" sz="2200" b="1" dirty="0">
                <a:cs typeface="Times New Roman" panose="02020603050405020304" pitchFamily="18" charset="0"/>
              </a:rPr>
              <a:t>98030201</a:t>
            </a:r>
            <a:r>
              <a:rPr lang="zh-CN" altLang="zh-CN" sz="22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学生所学全部课程的同学的姓名</a:t>
            </a:r>
            <a:endParaRPr lang="zh-CN" altLang="zh-CN" sz="22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91047" y="2700858"/>
            <a:ext cx="958850" cy="327025"/>
          </a:xfrm>
          <a:prstGeom prst="rect">
            <a:avLst/>
          </a:prstGeom>
        </p:spPr>
        <p:txBody>
          <a:bodyPr lIns="0" tIns="10860" rIns="0" bIns="0">
            <a:spAutoFit/>
          </a:bodyPr>
          <a:lstStyle>
            <a:lvl1pPr marL="952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88"/>
              </a:spcBef>
            </a:pPr>
            <a:r>
              <a:rPr lang="zh-CN" altLang="zh-CN" sz="3000" b="1" baseline="12000">
                <a:solidFill>
                  <a:srgbClr val="FF006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π</a:t>
            </a:r>
            <a:r>
              <a:rPr lang="zh-CN" altLang="zh-CN" sz="1000" b="1">
                <a:latin typeface="Arial" panose="020B0604020202020204" pitchFamily="34" charset="0"/>
                <a:cs typeface="Arial" panose="020B0604020202020204" pitchFamily="34" charset="0"/>
              </a:rPr>
              <a:t>Sname</a:t>
            </a:r>
            <a:r>
              <a:rPr lang="zh-CN" altLang="zh-CN" sz="3000" b="1" baseline="12000">
                <a:latin typeface="Arial" panose="020B0604020202020204" pitchFamily="34" charset="0"/>
                <a:cs typeface="Arial" panose="020B0604020202020204" pitchFamily="34" charset="0"/>
              </a:rPr>
              <a:t>( S</a:t>
            </a:r>
            <a:endParaRPr lang="zh-CN" altLang="zh-CN" sz="3000" baseline="1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175372" y="2492896"/>
            <a:ext cx="3700463" cy="577850"/>
          </a:xfrm>
          <a:prstGeom prst="rect">
            <a:avLst/>
          </a:prstGeom>
        </p:spPr>
        <p:txBody>
          <a:bodyPr lIns="0" tIns="13032" rIns="0" bIns="0">
            <a:spAutoFit/>
          </a:bodyPr>
          <a:lstStyle>
            <a:lvl1pPr marL="952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100"/>
              </a:spcBef>
            </a:pPr>
            <a:r>
              <a:rPr lang="zh-CN" altLang="zh-CN" sz="3000" b="1" baseline="1200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zh-CN" altLang="zh-CN" sz="3000" b="1" baseline="12000">
                <a:solidFill>
                  <a:srgbClr val="FF006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π</a:t>
            </a:r>
            <a:r>
              <a:rPr lang="zh-CN" altLang="zh-CN" sz="1000" b="1">
                <a:latin typeface="Arial" panose="020B0604020202020204" pitchFamily="34" charset="0"/>
                <a:cs typeface="Arial" panose="020B0604020202020204" pitchFamily="34" charset="0"/>
              </a:rPr>
              <a:t>S#, C#</a:t>
            </a:r>
            <a:r>
              <a:rPr lang="zh-CN" altLang="zh-CN" sz="2500" b="1" baseline="14000">
                <a:latin typeface="Arial" panose="020B0604020202020204" pitchFamily="34" charset="0"/>
                <a:cs typeface="Arial" panose="020B0604020202020204" pitchFamily="34" charset="0"/>
              </a:rPr>
              <a:t>(SC)</a:t>
            </a:r>
            <a:r>
              <a:rPr lang="zh-CN" altLang="zh-CN" sz="5500" baseline="2000">
                <a:latin typeface="Symbol" panose="05050102010706020507" pitchFamily="18" charset="2"/>
              </a:rPr>
              <a:t></a:t>
            </a:r>
            <a:r>
              <a:rPr lang="zh-CN" altLang="zh-CN" sz="3000" b="1" baseline="12000">
                <a:solidFill>
                  <a:srgbClr val="FF006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π</a:t>
            </a:r>
            <a:r>
              <a:rPr lang="zh-CN" altLang="zh-CN" sz="1000" b="1">
                <a:latin typeface="Arial" panose="020B0604020202020204" pitchFamily="34" charset="0"/>
                <a:cs typeface="Arial" panose="020B0604020202020204" pitchFamily="34" charset="0"/>
              </a:rPr>
              <a:t>C# </a:t>
            </a:r>
            <a:r>
              <a:rPr lang="zh-CN" altLang="zh-CN" sz="2500" b="1" baseline="1400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zh-CN" altLang="zh-CN" sz="3000" b="1" baseline="12000">
                <a:solidFill>
                  <a:srgbClr val="FF006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σ</a:t>
            </a:r>
            <a:r>
              <a:rPr lang="zh-CN" altLang="zh-CN" sz="1000" b="1">
                <a:latin typeface="Arial" panose="020B0604020202020204" pitchFamily="34" charset="0"/>
                <a:cs typeface="Arial" panose="020B0604020202020204" pitchFamily="34" charset="0"/>
              </a:rPr>
              <a:t>S#=“98030201”</a:t>
            </a:r>
            <a:r>
              <a:rPr lang="zh-CN" altLang="zh-CN" sz="2500" b="1" baseline="14000">
                <a:latin typeface="Arial" panose="020B0604020202020204" pitchFamily="34" charset="0"/>
                <a:cs typeface="Arial" panose="020B0604020202020204" pitchFamily="34" charset="0"/>
              </a:rPr>
              <a:t>(SC))</a:t>
            </a:r>
            <a:r>
              <a:rPr lang="zh-CN" altLang="zh-CN" sz="2500" b="1" baseline="14000">
                <a:latin typeface="Tahoma" panose="020B0604030504040204" pitchFamily="34" charset="0"/>
                <a:cs typeface="Tahoma" panose="020B0604030504040204" pitchFamily="34" charset="0"/>
              </a:rPr>
              <a:t>))</a:t>
            </a:r>
            <a:endParaRPr lang="zh-CN" altLang="zh-CN" sz="2500" baseline="1400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713410" y="2765946"/>
            <a:ext cx="300037" cy="115887"/>
          </a:xfrm>
          <a:custGeom>
            <a:avLst/>
            <a:gdLst/>
            <a:ahLst/>
            <a:cxnLst/>
            <a:rect l="l" t="t" r="r" b="b"/>
            <a:pathLst>
              <a:path w="350520" h="135255">
                <a:moveTo>
                  <a:pt x="0" y="134874"/>
                </a:moveTo>
                <a:lnTo>
                  <a:pt x="0" y="0"/>
                </a:lnTo>
                <a:lnTo>
                  <a:pt x="350520" y="134874"/>
                </a:lnTo>
                <a:lnTo>
                  <a:pt x="350520" y="0"/>
                </a:lnTo>
                <a:lnTo>
                  <a:pt x="0" y="134874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7" name="object 7"/>
          <p:cNvSpPr txBox="1"/>
          <p:nvPr/>
        </p:nvSpPr>
        <p:spPr>
          <a:xfrm>
            <a:off x="1605335" y="3851200"/>
            <a:ext cx="957262" cy="327025"/>
          </a:xfrm>
          <a:prstGeom prst="rect">
            <a:avLst/>
          </a:prstGeom>
        </p:spPr>
        <p:txBody>
          <a:bodyPr lIns="0" tIns="10860" rIns="0" bIns="0">
            <a:spAutoFit/>
          </a:bodyPr>
          <a:lstStyle>
            <a:lvl1pPr marL="952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88"/>
              </a:spcBef>
            </a:pPr>
            <a:r>
              <a:rPr lang="zh-CN" altLang="zh-CN" sz="3000" b="1" baseline="12000">
                <a:solidFill>
                  <a:srgbClr val="FF006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π</a:t>
            </a:r>
            <a:r>
              <a:rPr lang="zh-CN" altLang="zh-CN" sz="1000" b="1">
                <a:latin typeface="Arial" panose="020B0604020202020204" pitchFamily="34" charset="0"/>
                <a:cs typeface="Arial" panose="020B0604020202020204" pitchFamily="34" charset="0"/>
              </a:rPr>
              <a:t>Sname</a:t>
            </a:r>
            <a:r>
              <a:rPr lang="zh-CN" altLang="zh-CN" sz="3000" b="1" baseline="12000">
                <a:latin typeface="Arial" panose="020B0604020202020204" pitchFamily="34" charset="0"/>
                <a:cs typeface="Arial" panose="020B0604020202020204" pitchFamily="34" charset="0"/>
              </a:rPr>
              <a:t>( S</a:t>
            </a:r>
            <a:endParaRPr lang="zh-CN" altLang="zh-CN" sz="3000" baseline="1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189660" y="3643238"/>
            <a:ext cx="2981325" cy="577850"/>
          </a:xfrm>
          <a:prstGeom prst="rect">
            <a:avLst/>
          </a:prstGeom>
        </p:spPr>
        <p:txBody>
          <a:bodyPr lIns="0" tIns="13032" rIns="0" bIns="0">
            <a:spAutoFit/>
          </a:bodyPr>
          <a:lstStyle>
            <a:lvl1pPr marL="952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100"/>
              </a:spcBef>
            </a:pPr>
            <a:r>
              <a:rPr lang="zh-CN" altLang="zh-CN" sz="3000" b="1" baseline="1200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zh-CN" altLang="zh-CN" sz="2500" b="1" baseline="14000">
                <a:latin typeface="Arial" panose="020B0604020202020204" pitchFamily="34" charset="0"/>
                <a:cs typeface="Arial" panose="020B0604020202020204" pitchFamily="34" charset="0"/>
              </a:rPr>
              <a:t>SC</a:t>
            </a:r>
            <a:r>
              <a:rPr lang="zh-CN" altLang="zh-CN" sz="5500" baseline="2000">
                <a:latin typeface="Symbol" panose="05050102010706020507" pitchFamily="18" charset="2"/>
              </a:rPr>
              <a:t></a:t>
            </a:r>
            <a:r>
              <a:rPr lang="zh-CN" altLang="zh-CN" sz="3000" b="1" baseline="12000">
                <a:solidFill>
                  <a:srgbClr val="FF006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π</a:t>
            </a:r>
            <a:r>
              <a:rPr lang="zh-CN" altLang="zh-CN" sz="1000" b="1">
                <a:latin typeface="Arial" panose="020B0604020202020204" pitchFamily="34" charset="0"/>
                <a:cs typeface="Arial" panose="020B0604020202020204" pitchFamily="34" charset="0"/>
              </a:rPr>
              <a:t>C# </a:t>
            </a:r>
            <a:r>
              <a:rPr lang="zh-CN" altLang="zh-CN" sz="2500" b="1" baseline="1400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zh-CN" altLang="zh-CN" sz="3000" b="1" baseline="12000">
                <a:solidFill>
                  <a:srgbClr val="FF006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σ</a:t>
            </a:r>
            <a:r>
              <a:rPr lang="zh-CN" altLang="zh-CN" sz="1000" b="1">
                <a:latin typeface="Arial" panose="020B0604020202020204" pitchFamily="34" charset="0"/>
                <a:cs typeface="Arial" panose="020B0604020202020204" pitchFamily="34" charset="0"/>
              </a:rPr>
              <a:t>S#=“98030201”</a:t>
            </a:r>
            <a:r>
              <a:rPr lang="zh-CN" altLang="zh-CN" sz="2500" b="1" baseline="14000">
                <a:latin typeface="Arial" panose="020B0604020202020204" pitchFamily="34" charset="0"/>
                <a:cs typeface="Arial" panose="020B0604020202020204" pitchFamily="34" charset="0"/>
              </a:rPr>
              <a:t>(SC))</a:t>
            </a:r>
            <a:r>
              <a:rPr lang="zh-CN" altLang="zh-CN" sz="2500" b="1" baseline="14000">
                <a:latin typeface="Tahoma" panose="020B0604030504040204" pitchFamily="34" charset="0"/>
                <a:cs typeface="Tahoma" panose="020B0604030504040204" pitchFamily="34" charset="0"/>
              </a:rPr>
              <a:t>))</a:t>
            </a:r>
            <a:endParaRPr lang="zh-CN" altLang="zh-CN" sz="2500" baseline="1400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726110" y="3916288"/>
            <a:ext cx="300037" cy="115887"/>
          </a:xfrm>
          <a:custGeom>
            <a:avLst/>
            <a:gdLst/>
            <a:ahLst/>
            <a:cxnLst/>
            <a:rect l="l" t="t" r="r" b="b"/>
            <a:pathLst>
              <a:path w="350520" h="135254">
                <a:moveTo>
                  <a:pt x="0" y="134874"/>
                </a:moveTo>
                <a:lnTo>
                  <a:pt x="0" y="0"/>
                </a:lnTo>
                <a:lnTo>
                  <a:pt x="350520" y="134874"/>
                </a:lnTo>
                <a:lnTo>
                  <a:pt x="350520" y="0"/>
                </a:lnTo>
                <a:lnTo>
                  <a:pt x="0" y="134874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0" name="object 10"/>
          <p:cNvSpPr txBox="1"/>
          <p:nvPr/>
        </p:nvSpPr>
        <p:spPr>
          <a:xfrm>
            <a:off x="767829" y="3333103"/>
            <a:ext cx="7745040" cy="348972"/>
          </a:xfrm>
          <a:prstGeom prst="rect">
            <a:avLst/>
          </a:prstGeom>
        </p:spPr>
        <p:txBody>
          <a:bodyPr wrap="square" lIns="0" tIns="10317" rIns="0" bIns="0">
            <a:spAutoFit/>
          </a:bodyPr>
          <a:lstStyle>
            <a:lvl1pPr marL="236538" indent="-225425">
              <a:tabLst>
                <a:tab pos="23653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tabLst>
                <a:tab pos="23653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tabLst>
                <a:tab pos="23653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tabLst>
                <a:tab pos="23653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tabLst>
                <a:tab pos="23653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3653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3653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3653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3653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75"/>
              </a:spcBef>
              <a:buFont typeface="Wingdings" panose="05000000000000000000" pitchFamily="2" charset="2"/>
              <a:buChar char=""/>
            </a:pPr>
            <a:r>
              <a:rPr lang="zh-CN" altLang="zh-CN" sz="22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请问下述写法与上有何不同</a:t>
            </a:r>
            <a:r>
              <a:rPr lang="zh-CN" altLang="zh-CN" sz="2200" b="1" dirty="0">
                <a:cs typeface="Times New Roman" panose="02020603050405020304" pitchFamily="18" charset="0"/>
              </a:rPr>
              <a:t>? </a:t>
            </a:r>
            <a:r>
              <a:rPr lang="zh-CN" altLang="zh-CN" sz="22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结果是否一样</a:t>
            </a:r>
            <a:endParaRPr lang="zh-CN" altLang="zh-CN" sz="22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20229" y="577979"/>
            <a:ext cx="4627041" cy="555496"/>
          </a:xfrm>
          <a:prstGeom prst="rect">
            <a:avLst/>
          </a:prstGeom>
        </p:spPr>
        <p:txBody>
          <a:bodyPr wrap="square" lIns="0" tIns="62444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</a:pPr>
            <a:r>
              <a:rPr lang="zh-CN" altLang="zh-CN" sz="32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(1) “</a:t>
            </a:r>
            <a:r>
              <a:rPr lang="zh-CN" altLang="zh-CN" sz="3200" b="1" dirty="0">
                <a:solidFill>
                  <a:srgbClr val="F8F8F8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除</a:t>
            </a:r>
            <a:r>
              <a:rPr lang="zh-CN" altLang="zh-CN" sz="32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r>
              <a:rPr lang="zh-CN" altLang="zh-CN" sz="3200" b="1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操作</a:t>
            </a:r>
            <a:endParaRPr lang="zh-CN" altLang="zh-CN" sz="32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02E7998-F56A-45D4-984E-4E67E3C944B8}" type="slidenum">
              <a:rPr lang="en-US" altLang="zh-CN" smtClean="0"/>
              <a:pPr>
                <a:defRPr/>
              </a:pPr>
              <a:t>65</a:t>
            </a:fld>
            <a:endParaRPr lang="en-US" altLang="zh-CN"/>
          </a:p>
        </p:txBody>
      </p:sp>
      <p:sp>
        <p:nvSpPr>
          <p:cNvPr id="15" name="object 11">
            <a:extLst>
              <a:ext uri="{FF2B5EF4-FFF2-40B4-BE49-F238E27FC236}">
                <a16:creationId xmlns:a16="http://schemas.microsoft.com/office/drawing/2014/main" id="{26961ACF-9FC5-4230-8A11-D0396CABCF19}"/>
              </a:ext>
            </a:extLst>
          </p:cNvPr>
          <p:cNvSpPr/>
          <p:nvPr/>
        </p:nvSpPr>
        <p:spPr>
          <a:xfrm>
            <a:off x="6948264" y="4632326"/>
            <a:ext cx="1839913" cy="160496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2900363" y="5347990"/>
            <a:ext cx="254000" cy="161925"/>
          </a:xfrm>
          <a:custGeom>
            <a:avLst/>
            <a:gdLst/>
            <a:ahLst/>
            <a:cxnLst/>
            <a:rect l="l" t="t" r="r" b="b"/>
            <a:pathLst>
              <a:path w="295910" h="189229">
                <a:moveTo>
                  <a:pt x="0" y="188975"/>
                </a:moveTo>
                <a:lnTo>
                  <a:pt x="0" y="0"/>
                </a:lnTo>
                <a:lnTo>
                  <a:pt x="295656" y="188975"/>
                </a:lnTo>
                <a:lnTo>
                  <a:pt x="295656" y="0"/>
                </a:lnTo>
                <a:lnTo>
                  <a:pt x="0" y="188975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4" name="object 4"/>
          <p:cNvSpPr txBox="1"/>
          <p:nvPr/>
        </p:nvSpPr>
        <p:spPr>
          <a:xfrm>
            <a:off x="6118225" y="5182890"/>
            <a:ext cx="412750" cy="484187"/>
          </a:xfrm>
          <a:prstGeom prst="rect">
            <a:avLst/>
          </a:prstGeom>
        </p:spPr>
        <p:txBody>
          <a:bodyPr lIns="0" tIns="10860" rIns="0" bIns="0">
            <a:spAutoFit/>
          </a:bodyPr>
          <a:lstStyle>
            <a:lvl1pPr marL="952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88"/>
              </a:spcBef>
            </a:pPr>
            <a:r>
              <a:rPr lang="zh-CN" altLang="zh-CN" sz="3000">
                <a:latin typeface="新宋体" panose="02010609030101010101" pitchFamily="49" charset="-122"/>
                <a:ea typeface="新宋体" panose="02010609030101010101" pitchFamily="49" charset="-122"/>
              </a:rPr>
              <a:t>＝</a:t>
            </a:r>
          </a:p>
        </p:txBody>
      </p:sp>
      <p:sp>
        <p:nvSpPr>
          <p:cNvPr id="5" name="object 5"/>
          <p:cNvSpPr/>
          <p:nvPr/>
        </p:nvSpPr>
        <p:spPr>
          <a:xfrm>
            <a:off x="1079500" y="4984452"/>
            <a:ext cx="1685925" cy="10191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6" name="object 6"/>
          <p:cNvSpPr/>
          <p:nvPr/>
        </p:nvSpPr>
        <p:spPr>
          <a:xfrm>
            <a:off x="3263900" y="4984452"/>
            <a:ext cx="1108075" cy="85566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7" name="object 7"/>
          <p:cNvSpPr/>
          <p:nvPr/>
        </p:nvSpPr>
        <p:spPr>
          <a:xfrm>
            <a:off x="5424488" y="5881390"/>
            <a:ext cx="2841625" cy="71596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8" name="object 8"/>
          <p:cNvSpPr txBox="1"/>
          <p:nvPr/>
        </p:nvSpPr>
        <p:spPr>
          <a:xfrm>
            <a:off x="611560" y="1377950"/>
            <a:ext cx="6048672" cy="1267172"/>
          </a:xfrm>
          <a:prstGeom prst="rect">
            <a:avLst/>
          </a:prstGeom>
        </p:spPr>
        <p:txBody>
          <a:bodyPr wrap="square" lIns="0" tIns="10317" rIns="0" bIns="0">
            <a:spAutoFit/>
          </a:bodyPr>
          <a:lstStyle>
            <a:lvl1pPr marL="77788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75"/>
              </a:spcBef>
            </a:pPr>
            <a:r>
              <a:rPr lang="zh-CN" altLang="zh-CN" sz="27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外连接(Outer-Join)</a:t>
            </a:r>
            <a:endParaRPr lang="zh-CN" altLang="zh-CN" sz="27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spcBef>
                <a:spcPts val="1450"/>
              </a:spcBef>
              <a:buSzPct val="95000"/>
              <a:buFont typeface="Wingdings" panose="05000000000000000000" pitchFamily="2" charset="2"/>
              <a:buChar char=""/>
            </a:pPr>
            <a:r>
              <a:rPr lang="zh-CN" altLang="zh-CN" sz="2000" b="1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外连接问题的提出</a:t>
            </a:r>
            <a:r>
              <a:rPr lang="zh-CN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示例</a:t>
            </a:r>
            <a:r>
              <a:rPr lang="zh-CN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zh-CN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ts val="538"/>
              </a:spcBef>
            </a:pPr>
            <a:r>
              <a:rPr lang="zh-CN" altLang="zh-CN" sz="1800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Teacher</a:t>
            </a:r>
            <a:r>
              <a:rPr lang="zh-CN" altLang="zh-CN" sz="1800" b="1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(T#, Tname, Salary),	</a:t>
            </a:r>
            <a:r>
              <a:rPr lang="zh-CN" altLang="zh-CN" sz="1800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Course</a:t>
            </a:r>
            <a:r>
              <a:rPr lang="zh-CN" altLang="zh-CN" sz="1800" b="1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(C#, Cname),</a:t>
            </a:r>
            <a:endParaRPr lang="zh-CN" altLang="zh-CN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666529" y="2347435"/>
            <a:ext cx="2647578" cy="287965"/>
          </a:xfrm>
          <a:prstGeom prst="rect">
            <a:avLst/>
          </a:prstGeom>
        </p:spPr>
        <p:txBody>
          <a:bodyPr wrap="square" lIns="0" tIns="10860" rIns="0" bIns="0">
            <a:spAutoFit/>
          </a:bodyPr>
          <a:lstStyle/>
          <a:p>
            <a:pPr marL="10860" eaLnBrk="1" hangingPunct="1">
              <a:spcBef>
                <a:spcPts val="86"/>
              </a:spcBef>
              <a:defRPr/>
            </a:pPr>
            <a:r>
              <a:rPr sz="1800" b="1" spc="-4" dirty="0">
                <a:solidFill>
                  <a:srgbClr val="FF0065"/>
                </a:solidFill>
                <a:latin typeface="Arial"/>
                <a:cs typeface="Arial"/>
              </a:rPr>
              <a:t>Teach</a:t>
            </a:r>
            <a:r>
              <a:rPr sz="1800" b="1" spc="-4" dirty="0">
                <a:solidFill>
                  <a:srgbClr val="3333CC"/>
                </a:solidFill>
                <a:latin typeface="Arial"/>
                <a:cs typeface="Arial"/>
              </a:rPr>
              <a:t>(T#,</a:t>
            </a:r>
            <a:r>
              <a:rPr sz="1800" b="1" spc="-6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1800" b="1" spc="-4" dirty="0">
                <a:solidFill>
                  <a:srgbClr val="3333CC"/>
                </a:solidFill>
                <a:latin typeface="Arial"/>
                <a:cs typeface="Arial"/>
              </a:rPr>
              <a:t>C#)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55576" y="2606675"/>
            <a:ext cx="6370712" cy="287417"/>
          </a:xfrm>
          <a:prstGeom prst="rect">
            <a:avLst/>
          </a:prstGeom>
        </p:spPr>
        <p:txBody>
          <a:bodyPr wrap="square" lIns="0" tIns="10317" rIns="0" bIns="0">
            <a:spAutoFit/>
          </a:bodyPr>
          <a:lstStyle>
            <a:lvl1pPr marL="952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75"/>
              </a:spcBef>
            </a:pPr>
            <a:r>
              <a:rPr lang="zh-CN" altLang="zh-CN" sz="18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请列出</a:t>
            </a:r>
            <a:r>
              <a:rPr lang="zh-CN" altLang="zh-CN" sz="1800" b="1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所有</a:t>
            </a:r>
            <a:r>
              <a:rPr lang="zh-CN" altLang="zh-CN" sz="18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老师的有关信息，包括姓名，工资，所教课程等。</a:t>
            </a:r>
            <a:endParaRPr lang="zh-CN" altLang="zh-CN" sz="18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71601" y="3683078"/>
            <a:ext cx="7704856" cy="1118962"/>
          </a:xfrm>
          <a:prstGeom prst="rect">
            <a:avLst/>
          </a:prstGeom>
        </p:spPr>
        <p:txBody>
          <a:bodyPr wrap="square" lIns="0" tIns="10860" rIns="0" bIns="0">
            <a:spAutoFit/>
          </a:bodyPr>
          <a:lstStyle>
            <a:lvl1pPr marL="952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ts val="88"/>
              </a:spcBef>
            </a:pPr>
            <a:r>
              <a:rPr lang="zh-CN" altLang="zh-CN" sz="1800" dirty="0">
                <a:latin typeface="新宋体" panose="02010609030101010101" pitchFamily="49" charset="-122"/>
                <a:ea typeface="新宋体" panose="02010609030101010101" pitchFamily="49" charset="-122"/>
              </a:rPr>
              <a:t>按上式连接的结果，</a:t>
            </a:r>
            <a:r>
              <a:rPr lang="zh-CN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003</a:t>
            </a:r>
            <a:r>
              <a:rPr lang="zh-CN" altLang="zh-CN" sz="1800" dirty="0">
                <a:latin typeface="新宋体" panose="02010609030101010101" pitchFamily="49" charset="-122"/>
                <a:ea typeface="新宋体" panose="02010609030101010101" pitchFamily="49" charset="-122"/>
              </a:rPr>
              <a:t>号教师的姓名和工资信息丢失了。因为在</a:t>
            </a:r>
            <a:r>
              <a:rPr lang="zh-CN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Teach</a:t>
            </a:r>
            <a:r>
              <a:rPr lang="zh-CN" altLang="zh-CN" sz="1800" dirty="0">
                <a:latin typeface="新宋体" panose="02010609030101010101" pitchFamily="49" charset="-122"/>
                <a:ea typeface="新宋体" panose="02010609030101010101" pitchFamily="49" charset="-122"/>
              </a:rPr>
              <a:t>表中没有和</a:t>
            </a:r>
            <a:r>
              <a:rPr lang="zh-CN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003</a:t>
            </a:r>
            <a:r>
              <a:rPr lang="zh-CN" altLang="zh-CN" sz="1800" dirty="0">
                <a:latin typeface="新宋体" panose="02010609030101010101" pitchFamily="49" charset="-122"/>
                <a:ea typeface="新宋体" panose="02010609030101010101" pitchFamily="49" charset="-122"/>
              </a:rPr>
              <a:t>号教师相匹 配的元组，元组</a:t>
            </a:r>
            <a:r>
              <a:rPr lang="zh-CN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003</a:t>
            </a:r>
            <a:r>
              <a:rPr lang="zh-CN" altLang="zh-CN" sz="1800" dirty="0">
                <a:latin typeface="新宋体" panose="02010609030101010101" pitchFamily="49" charset="-122"/>
                <a:ea typeface="新宋体" panose="02010609030101010101" pitchFamily="49" charset="-122"/>
              </a:rPr>
              <a:t>号教师</a:t>
            </a:r>
            <a:r>
              <a:rPr lang="zh-CN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zh-CN" altLang="zh-CN" sz="1800" dirty="0">
                <a:latin typeface="新宋体" panose="02010609030101010101" pitchFamily="49" charset="-122"/>
                <a:ea typeface="新宋体" panose="02010609030101010101" pitchFamily="49" charset="-122"/>
              </a:rPr>
              <a:t>又称为失配元组</a:t>
            </a:r>
            <a:r>
              <a:rPr lang="zh-CN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zh-CN" altLang="zh-CN" sz="1800" dirty="0">
                <a:latin typeface="新宋体" panose="02010609030101010101" pitchFamily="49" charset="-122"/>
                <a:ea typeface="新宋体" panose="02010609030101010101" pitchFamily="49" charset="-122"/>
              </a:rPr>
              <a:t>不能和其他表的元组形成连接元组。怎样保证使</a:t>
            </a:r>
            <a:r>
              <a:rPr lang="zh-CN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003</a:t>
            </a:r>
            <a:r>
              <a:rPr lang="zh-CN" altLang="zh-CN" sz="1800" dirty="0">
                <a:latin typeface="新宋体" panose="02010609030101010101" pitchFamily="49" charset="-122"/>
                <a:ea typeface="新宋体" panose="02010609030101010101" pitchFamily="49" charset="-122"/>
              </a:rPr>
              <a:t>号 教师信息仍旧出现在结果关系中呢？</a:t>
            </a:r>
            <a:r>
              <a:rPr lang="zh-CN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----</a:t>
            </a:r>
            <a:r>
              <a:rPr lang="zh-CN" altLang="zh-CN" sz="1800" dirty="0">
                <a:latin typeface="新宋体" panose="02010609030101010101" pitchFamily="49" charset="-122"/>
                <a:ea typeface="新宋体" panose="02010609030101010101" pitchFamily="49" charset="-122"/>
              </a:rPr>
              <a:t>这就需要外连接</a:t>
            </a:r>
          </a:p>
        </p:txBody>
      </p:sp>
      <p:sp>
        <p:nvSpPr>
          <p:cNvPr id="12" name="object 12"/>
          <p:cNvSpPr/>
          <p:nvPr/>
        </p:nvSpPr>
        <p:spPr>
          <a:xfrm>
            <a:off x="4470400" y="5347990"/>
            <a:ext cx="252413" cy="161925"/>
          </a:xfrm>
          <a:custGeom>
            <a:avLst/>
            <a:gdLst/>
            <a:ahLst/>
            <a:cxnLst/>
            <a:rect l="l" t="t" r="r" b="b"/>
            <a:pathLst>
              <a:path w="295275" h="189229">
                <a:moveTo>
                  <a:pt x="0" y="188975"/>
                </a:moveTo>
                <a:lnTo>
                  <a:pt x="0" y="0"/>
                </a:lnTo>
                <a:lnTo>
                  <a:pt x="294894" y="188975"/>
                </a:lnTo>
                <a:lnTo>
                  <a:pt x="294894" y="0"/>
                </a:lnTo>
                <a:lnTo>
                  <a:pt x="0" y="188975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3" name="object 13"/>
          <p:cNvSpPr txBox="1"/>
          <p:nvPr/>
        </p:nvSpPr>
        <p:spPr>
          <a:xfrm>
            <a:off x="4887912" y="3074196"/>
            <a:ext cx="2564408" cy="287965"/>
          </a:xfrm>
          <a:prstGeom prst="rect">
            <a:avLst/>
          </a:prstGeom>
        </p:spPr>
        <p:txBody>
          <a:bodyPr wrap="square" lIns="0" tIns="10860" rIns="0" bIns="0">
            <a:spAutoFit/>
          </a:bodyPr>
          <a:lstStyle/>
          <a:p>
            <a:pPr marL="10860" eaLnBrk="1" hangingPunct="1">
              <a:spcBef>
                <a:spcPts val="86"/>
              </a:spcBef>
              <a:tabLst>
                <a:tab pos="902990" algn="l"/>
              </a:tabLst>
              <a:defRPr/>
            </a:pPr>
            <a:r>
              <a:rPr sz="1800" b="1" dirty="0">
                <a:latin typeface="Arial"/>
                <a:cs typeface="Arial"/>
              </a:rPr>
              <a:t>Teach	</a:t>
            </a:r>
            <a:r>
              <a:rPr lang="en-US" sz="1800" b="1" dirty="0">
                <a:latin typeface="Arial"/>
                <a:cs typeface="Arial"/>
              </a:rPr>
              <a:t>   </a:t>
            </a:r>
            <a:r>
              <a:rPr sz="1800" b="1" dirty="0">
                <a:latin typeface="Arial"/>
                <a:cs typeface="Arial"/>
              </a:rPr>
              <a:t>Course)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50882" y="2884311"/>
            <a:ext cx="3150443" cy="565512"/>
          </a:xfrm>
          <a:prstGeom prst="rect">
            <a:avLst/>
          </a:prstGeom>
        </p:spPr>
        <p:txBody>
          <a:bodyPr wrap="square" lIns="0" tIns="11403" rIns="0" bIns="0">
            <a:spAutoFit/>
          </a:bodyPr>
          <a:lstStyle/>
          <a:p>
            <a:pPr marL="10860" eaLnBrk="1" hangingPunct="1">
              <a:spcBef>
                <a:spcPts val="90"/>
              </a:spcBef>
              <a:defRPr/>
            </a:pPr>
            <a:r>
              <a:rPr sz="3600" i="1" spc="-94" dirty="0">
                <a:solidFill>
                  <a:srgbClr val="FF0065"/>
                </a:solidFill>
                <a:latin typeface="Symbol"/>
                <a:cs typeface="Symbol"/>
              </a:rPr>
              <a:t></a:t>
            </a:r>
            <a:r>
              <a:rPr sz="3600" i="1" spc="-620" dirty="0">
                <a:solidFill>
                  <a:srgbClr val="FF0065"/>
                </a:solidFill>
                <a:latin typeface="Times New Roman"/>
                <a:cs typeface="Times New Roman"/>
              </a:rPr>
              <a:t> </a:t>
            </a:r>
            <a:r>
              <a:rPr sz="941" b="1" spc="-4" dirty="0">
                <a:latin typeface="Arial"/>
                <a:cs typeface="Arial"/>
              </a:rPr>
              <a:t>T#, Tname, Salary, C#, CName </a:t>
            </a:r>
            <a:r>
              <a:rPr b="1" baseline="13888" dirty="0">
                <a:latin typeface="Arial"/>
                <a:cs typeface="Arial"/>
              </a:rPr>
              <a:t>(Teacher</a:t>
            </a:r>
            <a:endParaRPr baseline="13888" dirty="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394200" y="3112373"/>
            <a:ext cx="355600" cy="176212"/>
          </a:xfrm>
          <a:custGeom>
            <a:avLst/>
            <a:gdLst/>
            <a:ahLst/>
            <a:cxnLst/>
            <a:rect l="l" t="t" r="r" b="b"/>
            <a:pathLst>
              <a:path w="186054" h="113029">
                <a:moveTo>
                  <a:pt x="0" y="112775"/>
                </a:moveTo>
                <a:lnTo>
                  <a:pt x="0" y="0"/>
                </a:lnTo>
                <a:lnTo>
                  <a:pt x="185928" y="112775"/>
                </a:lnTo>
                <a:lnTo>
                  <a:pt x="185928" y="0"/>
                </a:lnTo>
                <a:lnTo>
                  <a:pt x="0" y="112775"/>
                </a:lnTo>
                <a:close/>
              </a:path>
            </a:pathLst>
          </a:custGeom>
          <a:ln w="25400">
            <a:solidFill>
              <a:srgbClr val="CC0000"/>
            </a:solidFill>
          </a:ln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6" name="object 16"/>
          <p:cNvSpPr/>
          <p:nvPr/>
        </p:nvSpPr>
        <p:spPr>
          <a:xfrm>
            <a:off x="5658991" y="3068960"/>
            <a:ext cx="281161" cy="215185"/>
          </a:xfrm>
          <a:custGeom>
            <a:avLst/>
            <a:gdLst/>
            <a:ahLst/>
            <a:cxnLst/>
            <a:rect l="l" t="t" r="r" b="b"/>
            <a:pathLst>
              <a:path w="186054" h="113029">
                <a:moveTo>
                  <a:pt x="0" y="112775"/>
                </a:moveTo>
                <a:lnTo>
                  <a:pt x="0" y="0"/>
                </a:lnTo>
                <a:lnTo>
                  <a:pt x="185928" y="112775"/>
                </a:lnTo>
                <a:lnTo>
                  <a:pt x="185928" y="0"/>
                </a:lnTo>
                <a:lnTo>
                  <a:pt x="0" y="112775"/>
                </a:lnTo>
                <a:close/>
              </a:path>
            </a:pathLst>
          </a:custGeom>
          <a:ln w="25400">
            <a:solidFill>
              <a:srgbClr val="CC0000"/>
            </a:solidFill>
          </a:ln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7" name="object 17"/>
          <p:cNvSpPr txBox="1"/>
          <p:nvPr/>
        </p:nvSpPr>
        <p:spPr>
          <a:xfrm>
            <a:off x="893862" y="611542"/>
            <a:ext cx="4267001" cy="555496"/>
          </a:xfrm>
          <a:prstGeom prst="rect">
            <a:avLst/>
          </a:prstGeom>
        </p:spPr>
        <p:txBody>
          <a:bodyPr wrap="square" lIns="0" tIns="62444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</a:pPr>
            <a:r>
              <a:rPr lang="zh-CN" altLang="zh-CN" sz="32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(2) “</a:t>
            </a:r>
            <a:r>
              <a:rPr lang="zh-CN" altLang="zh-CN" sz="3200" b="1" dirty="0">
                <a:solidFill>
                  <a:srgbClr val="F8F8F8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外连接</a:t>
            </a:r>
            <a:r>
              <a:rPr lang="zh-CN" altLang="zh-CN" sz="32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r>
              <a:rPr lang="zh-CN" altLang="zh-CN" sz="3200" b="1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操作</a:t>
            </a:r>
            <a:endParaRPr lang="zh-CN" altLang="zh-CN" sz="32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845050" y="4981277"/>
            <a:ext cx="1131888" cy="8636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9" name="灯片编号占位符 1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02E7998-F56A-45D4-984E-4E67E3C944B8}" type="slidenum">
              <a:rPr lang="en-US" altLang="zh-CN" smtClean="0"/>
              <a:pPr>
                <a:defRPr/>
              </a:pPr>
              <a:t>66</a:t>
            </a:fld>
            <a:endParaRPr lang="en-US" altLang="zh-CN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1204912" y="3626073"/>
            <a:ext cx="7039495" cy="246722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6" name="object 6"/>
          <p:cNvSpPr txBox="1"/>
          <p:nvPr/>
        </p:nvSpPr>
        <p:spPr>
          <a:xfrm>
            <a:off x="573212" y="1579205"/>
            <a:ext cx="8103244" cy="1771448"/>
          </a:xfrm>
          <a:prstGeom prst="rect">
            <a:avLst/>
          </a:prstGeom>
        </p:spPr>
        <p:txBody>
          <a:bodyPr wrap="square" lIns="0" tIns="10860" rIns="0" bIns="0">
            <a:spAutoFit/>
          </a:bodyPr>
          <a:lstStyle>
            <a:lvl1pPr marL="9525">
              <a:tabLst>
                <a:tab pos="182563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tabLst>
                <a:tab pos="182563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tabLst>
                <a:tab pos="182563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tabLst>
                <a:tab pos="182563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tabLst>
                <a:tab pos="182563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82563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82563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82563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82563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ts val="88"/>
              </a:spcBef>
              <a:buSzPct val="95000"/>
              <a:buFont typeface="Wingdings" panose="05000000000000000000" pitchFamily="2" charset="2"/>
              <a:buChar char=""/>
            </a:pPr>
            <a:r>
              <a:rPr lang="zh-CN" altLang="zh-CN" sz="2200" b="1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定义</a:t>
            </a:r>
            <a:r>
              <a:rPr lang="zh-CN" altLang="zh-CN" sz="22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：两个关系</a:t>
            </a:r>
            <a:r>
              <a:rPr lang="zh-CN" altLang="zh-CN" sz="2200" b="1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zh-CN" altLang="zh-CN" sz="22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与</a:t>
            </a:r>
            <a:r>
              <a:rPr lang="zh-CN" altLang="zh-CN" sz="2200" b="1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zh-CN" altLang="zh-CN" sz="22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进行连接时，如果关系</a:t>
            </a:r>
            <a:r>
              <a:rPr lang="zh-CN" altLang="zh-CN" sz="2200" b="1" dirty="0">
                <a:latin typeface="Arial" panose="020B0604020202020204" pitchFamily="34" charset="0"/>
                <a:cs typeface="Arial" panose="020B0604020202020204" pitchFamily="34" charset="0"/>
              </a:rPr>
              <a:t>R(</a:t>
            </a:r>
            <a:r>
              <a:rPr lang="zh-CN" altLang="zh-CN" sz="2200" b="1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或</a:t>
            </a:r>
            <a:r>
              <a:rPr lang="zh-CN" altLang="zh-CN" sz="2200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zh-CN" altLang="zh-CN" sz="220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zh-CN" altLang="zh-CN" sz="22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中的元组在</a:t>
            </a:r>
            <a:r>
              <a:rPr lang="zh-CN" altLang="zh-CN" sz="2200" b="1" dirty="0">
                <a:latin typeface="Arial" panose="020B0604020202020204" pitchFamily="34" charset="0"/>
                <a:cs typeface="Arial" panose="020B0604020202020204" pitchFamily="34" charset="0"/>
              </a:rPr>
              <a:t>S(</a:t>
            </a:r>
            <a:r>
              <a:rPr lang="zh-CN" altLang="zh-CN" sz="2200" b="1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或</a:t>
            </a:r>
            <a:r>
              <a:rPr lang="zh-CN" altLang="zh-CN" sz="2200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zh-CN" altLang="zh-CN" sz="220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zh-CN" altLang="zh-CN" sz="22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中找不到相匹配的元组，则为了避免该元组信息丢失，从而将该元组与</a:t>
            </a:r>
            <a:r>
              <a:rPr lang="zh-CN" altLang="zh-CN" sz="2200" b="1" dirty="0">
                <a:latin typeface="Arial" panose="020B0604020202020204" pitchFamily="34" charset="0"/>
                <a:cs typeface="Arial" panose="020B0604020202020204" pitchFamily="34" charset="0"/>
              </a:rPr>
              <a:t>S(</a:t>
            </a:r>
            <a:r>
              <a:rPr lang="zh-CN" altLang="zh-CN" sz="2200" b="1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或</a:t>
            </a:r>
            <a:r>
              <a:rPr lang="zh-CN" altLang="zh-CN" sz="2200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zh-CN" altLang="zh-CN" sz="220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zh-CN" altLang="zh-CN" sz="22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中假定存在的全为空值的元组形成连接，放置在结果关系中，这种连接称之为 </a:t>
            </a:r>
            <a:r>
              <a:rPr lang="zh-CN" altLang="zh-CN" sz="2200" b="1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外连接</a:t>
            </a:r>
            <a:r>
              <a:rPr lang="zh-CN" altLang="zh-CN" sz="2200" b="1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(Outer Join)</a:t>
            </a:r>
            <a:r>
              <a:rPr lang="zh-CN" altLang="zh-CN" sz="22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。</a:t>
            </a:r>
            <a:endParaRPr lang="zh-CN" altLang="zh-CN" sz="22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A6568E1-4089-4561-919E-9D2F37D3F2B0}" type="slidenum">
              <a:rPr lang="en-US" altLang="zh-CN" smtClean="0"/>
              <a:pPr>
                <a:defRPr/>
              </a:pPr>
              <a:t>67</a:t>
            </a:fld>
            <a:endParaRPr lang="en-US" altLang="zh-CN" dirty="0"/>
          </a:p>
        </p:txBody>
      </p:sp>
      <p:sp>
        <p:nvSpPr>
          <p:cNvPr id="11" name="object 17"/>
          <p:cNvSpPr txBox="1"/>
          <p:nvPr/>
        </p:nvSpPr>
        <p:spPr>
          <a:xfrm>
            <a:off x="893862" y="611542"/>
            <a:ext cx="4267001" cy="555496"/>
          </a:xfrm>
          <a:prstGeom prst="rect">
            <a:avLst/>
          </a:prstGeom>
        </p:spPr>
        <p:txBody>
          <a:bodyPr wrap="square" lIns="0" tIns="62444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</a:pPr>
            <a:r>
              <a:rPr lang="zh-CN" altLang="zh-CN" sz="32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(2) “</a:t>
            </a:r>
            <a:r>
              <a:rPr lang="zh-CN" altLang="zh-CN" sz="3200" b="1" dirty="0">
                <a:solidFill>
                  <a:srgbClr val="F8F8F8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外连接</a:t>
            </a:r>
            <a:r>
              <a:rPr lang="zh-CN" altLang="zh-CN" sz="32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r>
              <a:rPr lang="zh-CN" altLang="zh-CN" sz="3200" b="1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操作</a:t>
            </a:r>
            <a:endParaRPr lang="zh-CN" altLang="zh-CN" sz="32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510763" y="1452948"/>
            <a:ext cx="8237701" cy="2429571"/>
          </a:xfrm>
          <a:prstGeom prst="rect">
            <a:avLst/>
          </a:prstGeom>
        </p:spPr>
        <p:txBody>
          <a:bodyPr wrap="square" lIns="0" tIns="89594" rIns="0" bIns="0">
            <a:spAutoFit/>
          </a:bodyPr>
          <a:lstStyle>
            <a:lvl1pPr marL="242888" indent="-231775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700"/>
              </a:spcBef>
              <a:buFont typeface="Wingdings" panose="05000000000000000000" pitchFamily="2" charset="2"/>
              <a:buChar char=""/>
            </a:pPr>
            <a:r>
              <a:rPr lang="zh-CN" altLang="zh-CN" sz="22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外连接 </a:t>
            </a:r>
            <a:r>
              <a:rPr lang="zh-CN" altLang="zh-CN" sz="2200" b="1" dirty="0"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zh-CN" altLang="zh-CN" sz="22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自然连接 </a:t>
            </a:r>
            <a:r>
              <a:rPr lang="zh-CN" altLang="zh-CN" sz="2200" b="1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zh-CN" altLang="zh-CN" sz="22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或</a:t>
            </a:r>
            <a:r>
              <a:rPr lang="zh-CN" altLang="zh-CN" sz="2200" b="1" dirty="0">
                <a:latin typeface="Symbol" panose="05050102010706020507" pitchFamily="18" charset="2"/>
              </a:rPr>
              <a:t></a:t>
            </a:r>
            <a:r>
              <a:rPr lang="zh-CN" altLang="zh-CN" sz="22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连接</a:t>
            </a:r>
            <a:r>
              <a:rPr lang="zh-CN" altLang="zh-CN" sz="2200" b="1" dirty="0">
                <a:latin typeface="Arial" panose="020B0604020202020204" pitchFamily="34" charset="0"/>
                <a:cs typeface="Arial" panose="020B0604020202020204" pitchFamily="34" charset="0"/>
              </a:rPr>
              <a:t>) + </a:t>
            </a:r>
            <a:r>
              <a:rPr lang="zh-CN" altLang="zh-CN" sz="22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失配的元组</a:t>
            </a:r>
            <a:r>
              <a:rPr lang="zh-CN" altLang="zh-CN" sz="2200" b="1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zh-CN" altLang="zh-CN" sz="22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与全空元组形成的连接</a:t>
            </a:r>
            <a:r>
              <a:rPr lang="zh-CN" altLang="zh-CN" sz="220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zh-CN" altLang="zh-CN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ts val="625"/>
              </a:spcBef>
              <a:buFont typeface="Wingdings" panose="05000000000000000000" pitchFamily="2" charset="2"/>
              <a:buChar char=""/>
            </a:pPr>
            <a:r>
              <a:rPr lang="zh-CN" altLang="zh-CN" sz="22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外连接的形式：左外连接、右外连接、全外连接</a:t>
            </a:r>
            <a:endParaRPr lang="zh-CN" altLang="zh-CN" sz="22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eaLnBrk="1" hangingPunct="1">
              <a:spcBef>
                <a:spcPts val="613"/>
              </a:spcBef>
            </a:pPr>
            <a:r>
              <a:rPr lang="zh-CN" altLang="zh-CN" sz="2200" dirty="0">
                <a:latin typeface="Wingdings" panose="05000000000000000000" pitchFamily="2" charset="2"/>
              </a:rPr>
              <a:t></a:t>
            </a:r>
            <a:r>
              <a:rPr lang="zh-CN" altLang="zh-CN" sz="2200" dirty="0">
                <a:cs typeface="Times New Roman" panose="02020603050405020304" pitchFamily="18" charset="0"/>
              </a:rPr>
              <a:t> </a:t>
            </a:r>
            <a:r>
              <a:rPr lang="zh-CN" altLang="zh-CN" sz="22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左外连接 </a:t>
            </a:r>
            <a:r>
              <a:rPr lang="zh-CN" altLang="zh-CN" sz="2200" b="1" dirty="0"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zh-CN" altLang="zh-CN" sz="22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自然连接</a:t>
            </a:r>
            <a:r>
              <a:rPr lang="zh-CN" altLang="zh-CN" sz="2200" b="1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zh-CN" altLang="zh-CN" sz="22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或</a:t>
            </a:r>
            <a:r>
              <a:rPr lang="zh-CN" altLang="zh-CN" sz="2200" b="1" dirty="0">
                <a:latin typeface="Symbol" panose="05050102010706020507" pitchFamily="18" charset="2"/>
              </a:rPr>
              <a:t></a:t>
            </a:r>
            <a:r>
              <a:rPr lang="zh-CN" altLang="zh-CN" sz="22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连接</a:t>
            </a:r>
            <a:r>
              <a:rPr lang="zh-CN" altLang="zh-CN" sz="2200" b="1" dirty="0">
                <a:latin typeface="Arial" panose="020B0604020202020204" pitchFamily="34" charset="0"/>
                <a:cs typeface="Arial" panose="020B0604020202020204" pitchFamily="34" charset="0"/>
              </a:rPr>
              <a:t>) + </a:t>
            </a:r>
            <a:r>
              <a:rPr lang="zh-CN" altLang="zh-CN" sz="22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左侧表中失配的元组</a:t>
            </a:r>
            <a:endParaRPr lang="zh-CN" altLang="zh-CN" sz="22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eaLnBrk="1" hangingPunct="1">
              <a:spcBef>
                <a:spcPts val="625"/>
              </a:spcBef>
            </a:pPr>
            <a:r>
              <a:rPr lang="zh-CN" altLang="zh-CN" sz="2200" dirty="0">
                <a:latin typeface="Wingdings" panose="05000000000000000000" pitchFamily="2" charset="2"/>
              </a:rPr>
              <a:t></a:t>
            </a:r>
            <a:r>
              <a:rPr lang="zh-CN" altLang="zh-CN" sz="2200" dirty="0">
                <a:cs typeface="Times New Roman" panose="02020603050405020304" pitchFamily="18" charset="0"/>
              </a:rPr>
              <a:t> </a:t>
            </a:r>
            <a:r>
              <a:rPr lang="zh-CN" altLang="zh-CN" sz="22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右外连接 </a:t>
            </a:r>
            <a:r>
              <a:rPr lang="zh-CN" altLang="zh-CN" sz="2200" b="1" dirty="0"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zh-CN" altLang="zh-CN" sz="22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自然连接</a:t>
            </a:r>
            <a:r>
              <a:rPr lang="zh-CN" altLang="zh-CN" sz="2200" b="1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zh-CN" altLang="zh-CN" sz="22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或</a:t>
            </a:r>
            <a:r>
              <a:rPr lang="zh-CN" altLang="zh-CN" sz="2200" b="1" dirty="0">
                <a:latin typeface="Symbol" panose="05050102010706020507" pitchFamily="18" charset="2"/>
              </a:rPr>
              <a:t></a:t>
            </a:r>
            <a:r>
              <a:rPr lang="zh-CN" altLang="zh-CN" sz="22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连接</a:t>
            </a:r>
            <a:r>
              <a:rPr lang="zh-CN" altLang="zh-CN" sz="2200" b="1" dirty="0">
                <a:latin typeface="Arial" panose="020B0604020202020204" pitchFamily="34" charset="0"/>
                <a:cs typeface="Arial" panose="020B0604020202020204" pitchFamily="34" charset="0"/>
              </a:rPr>
              <a:t>) + </a:t>
            </a:r>
            <a:r>
              <a:rPr lang="zh-CN" altLang="zh-CN" sz="22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右侧表中失配的元组</a:t>
            </a:r>
            <a:endParaRPr lang="zh-CN" altLang="zh-CN" sz="22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eaLnBrk="1" hangingPunct="1">
              <a:spcBef>
                <a:spcPts val="625"/>
              </a:spcBef>
            </a:pPr>
            <a:r>
              <a:rPr lang="zh-CN" altLang="zh-CN" sz="2200" dirty="0">
                <a:latin typeface="Wingdings" panose="05000000000000000000" pitchFamily="2" charset="2"/>
              </a:rPr>
              <a:t></a:t>
            </a:r>
            <a:r>
              <a:rPr lang="zh-CN" altLang="zh-CN" sz="2200" dirty="0">
                <a:cs typeface="Times New Roman" panose="02020603050405020304" pitchFamily="18" charset="0"/>
              </a:rPr>
              <a:t> </a:t>
            </a:r>
            <a:r>
              <a:rPr lang="zh-CN" altLang="zh-CN" sz="22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全外连接 </a:t>
            </a:r>
            <a:r>
              <a:rPr lang="zh-CN" altLang="zh-CN" sz="2200" b="1" dirty="0"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zh-CN" altLang="zh-CN" sz="22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自然连接</a:t>
            </a:r>
            <a:r>
              <a:rPr lang="zh-CN" altLang="zh-CN" sz="2200" b="1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zh-CN" altLang="zh-CN" sz="22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或</a:t>
            </a:r>
            <a:r>
              <a:rPr lang="zh-CN" altLang="zh-CN" sz="2200" b="1" dirty="0">
                <a:latin typeface="Symbol" panose="05050102010706020507" pitchFamily="18" charset="2"/>
              </a:rPr>
              <a:t></a:t>
            </a:r>
            <a:r>
              <a:rPr lang="zh-CN" altLang="zh-CN" sz="22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连接</a:t>
            </a:r>
            <a:r>
              <a:rPr lang="zh-CN" altLang="zh-CN" sz="2200" b="1" dirty="0">
                <a:latin typeface="Arial" panose="020B0604020202020204" pitchFamily="34" charset="0"/>
                <a:cs typeface="Arial" panose="020B0604020202020204" pitchFamily="34" charset="0"/>
              </a:rPr>
              <a:t>) + </a:t>
            </a:r>
            <a:r>
              <a:rPr lang="zh-CN" altLang="zh-CN" sz="22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两侧表中失配的元组</a:t>
            </a:r>
            <a:endParaRPr lang="zh-CN" altLang="zh-CN" sz="22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918199" y="4430365"/>
            <a:ext cx="206375" cy="206375"/>
          </a:xfrm>
          <a:custGeom>
            <a:avLst/>
            <a:gdLst/>
            <a:ahLst/>
            <a:cxnLst/>
            <a:rect l="l" t="t" r="r" b="b"/>
            <a:pathLst>
              <a:path w="241935" h="241935">
                <a:moveTo>
                  <a:pt x="0" y="241553"/>
                </a:moveTo>
                <a:lnTo>
                  <a:pt x="0" y="0"/>
                </a:lnTo>
                <a:lnTo>
                  <a:pt x="241554" y="241553"/>
                </a:lnTo>
                <a:lnTo>
                  <a:pt x="241554" y="0"/>
                </a:lnTo>
                <a:lnTo>
                  <a:pt x="0" y="241553"/>
                </a:lnTo>
                <a:close/>
              </a:path>
            </a:pathLst>
          </a:custGeom>
          <a:ln w="25400">
            <a:solidFill>
              <a:srgbClr val="3333CC"/>
            </a:solidFill>
          </a:ln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7" name="object 7"/>
          <p:cNvSpPr/>
          <p:nvPr/>
        </p:nvSpPr>
        <p:spPr>
          <a:xfrm>
            <a:off x="4788024" y="4441478"/>
            <a:ext cx="130175" cy="0"/>
          </a:xfrm>
          <a:custGeom>
            <a:avLst/>
            <a:gdLst/>
            <a:ahLst/>
            <a:cxnLst/>
            <a:rect l="l" t="t" r="r" b="b"/>
            <a:pathLst>
              <a:path w="152400">
                <a:moveTo>
                  <a:pt x="152400" y="0"/>
                </a:moveTo>
                <a:lnTo>
                  <a:pt x="0" y="0"/>
                </a:lnTo>
              </a:path>
            </a:pathLst>
          </a:custGeom>
          <a:ln w="25400">
            <a:solidFill>
              <a:srgbClr val="3333CC"/>
            </a:solidFill>
          </a:ln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8" name="object 8"/>
          <p:cNvSpPr/>
          <p:nvPr/>
        </p:nvSpPr>
        <p:spPr>
          <a:xfrm>
            <a:off x="4788024" y="4636740"/>
            <a:ext cx="130175" cy="0"/>
          </a:xfrm>
          <a:custGeom>
            <a:avLst/>
            <a:gdLst/>
            <a:ahLst/>
            <a:cxnLst/>
            <a:rect l="l" t="t" r="r" b="b"/>
            <a:pathLst>
              <a:path w="152400">
                <a:moveTo>
                  <a:pt x="152400" y="0"/>
                </a:moveTo>
                <a:lnTo>
                  <a:pt x="0" y="0"/>
                </a:lnTo>
              </a:path>
            </a:pathLst>
          </a:custGeom>
          <a:ln w="25400">
            <a:solidFill>
              <a:srgbClr val="3333CC"/>
            </a:solidFill>
          </a:ln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9" name="object 9"/>
          <p:cNvSpPr/>
          <p:nvPr/>
        </p:nvSpPr>
        <p:spPr>
          <a:xfrm>
            <a:off x="4924474" y="4873278"/>
            <a:ext cx="336550" cy="2174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0" name="object 10"/>
          <p:cNvSpPr/>
          <p:nvPr/>
        </p:nvSpPr>
        <p:spPr>
          <a:xfrm>
            <a:off x="5000674" y="5332065"/>
            <a:ext cx="196850" cy="195263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0" y="0"/>
                </a:lnTo>
                <a:lnTo>
                  <a:pt x="228600" y="228600"/>
                </a:lnTo>
                <a:lnTo>
                  <a:pt x="228600" y="0"/>
                </a:lnTo>
                <a:lnTo>
                  <a:pt x="0" y="228600"/>
                </a:lnTo>
                <a:close/>
              </a:path>
            </a:pathLst>
          </a:custGeom>
          <a:ln w="25400">
            <a:solidFill>
              <a:srgbClr val="3333CC"/>
            </a:solidFill>
          </a:ln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1" name="object 11"/>
          <p:cNvSpPr/>
          <p:nvPr/>
        </p:nvSpPr>
        <p:spPr>
          <a:xfrm>
            <a:off x="5197524" y="5332065"/>
            <a:ext cx="130175" cy="0"/>
          </a:xfrm>
          <a:custGeom>
            <a:avLst/>
            <a:gdLst/>
            <a:ahLst/>
            <a:cxnLst/>
            <a:rect l="l" t="t" r="r" b="b"/>
            <a:pathLst>
              <a:path w="152400">
                <a:moveTo>
                  <a:pt x="152400" y="0"/>
                </a:moveTo>
                <a:lnTo>
                  <a:pt x="0" y="0"/>
                </a:lnTo>
              </a:path>
            </a:pathLst>
          </a:custGeom>
          <a:ln w="25400">
            <a:solidFill>
              <a:srgbClr val="3333CC"/>
            </a:solidFill>
          </a:ln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2" name="object 12"/>
          <p:cNvSpPr/>
          <p:nvPr/>
        </p:nvSpPr>
        <p:spPr>
          <a:xfrm>
            <a:off x="5197524" y="5527328"/>
            <a:ext cx="130175" cy="0"/>
          </a:xfrm>
          <a:custGeom>
            <a:avLst/>
            <a:gdLst/>
            <a:ahLst/>
            <a:cxnLst/>
            <a:rect l="l" t="t" r="r" b="b"/>
            <a:pathLst>
              <a:path w="152400">
                <a:moveTo>
                  <a:pt x="152400" y="0"/>
                </a:moveTo>
                <a:lnTo>
                  <a:pt x="0" y="0"/>
                </a:lnTo>
              </a:path>
            </a:pathLst>
          </a:custGeom>
          <a:ln w="25400">
            <a:solidFill>
              <a:srgbClr val="3333CC"/>
            </a:solidFill>
          </a:ln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3" name="object 13"/>
          <p:cNvSpPr/>
          <p:nvPr/>
        </p:nvSpPr>
        <p:spPr>
          <a:xfrm>
            <a:off x="4870499" y="5332065"/>
            <a:ext cx="130175" cy="0"/>
          </a:xfrm>
          <a:custGeom>
            <a:avLst/>
            <a:gdLst/>
            <a:ahLst/>
            <a:cxnLst/>
            <a:rect l="l" t="t" r="r" b="b"/>
            <a:pathLst>
              <a:path w="152400">
                <a:moveTo>
                  <a:pt x="152400" y="0"/>
                </a:moveTo>
                <a:lnTo>
                  <a:pt x="0" y="0"/>
                </a:lnTo>
              </a:path>
            </a:pathLst>
          </a:custGeom>
          <a:ln w="25400">
            <a:solidFill>
              <a:srgbClr val="3333CC"/>
            </a:solidFill>
          </a:ln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4" name="object 14"/>
          <p:cNvSpPr/>
          <p:nvPr/>
        </p:nvSpPr>
        <p:spPr>
          <a:xfrm>
            <a:off x="4870499" y="5527328"/>
            <a:ext cx="130175" cy="0"/>
          </a:xfrm>
          <a:custGeom>
            <a:avLst/>
            <a:gdLst/>
            <a:ahLst/>
            <a:cxnLst/>
            <a:rect l="l" t="t" r="r" b="b"/>
            <a:pathLst>
              <a:path w="152400">
                <a:moveTo>
                  <a:pt x="152400" y="0"/>
                </a:moveTo>
                <a:lnTo>
                  <a:pt x="0" y="0"/>
                </a:lnTo>
              </a:path>
            </a:pathLst>
          </a:custGeom>
          <a:ln w="25400">
            <a:solidFill>
              <a:srgbClr val="3333CC"/>
            </a:solidFill>
          </a:ln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5" name="object 15"/>
          <p:cNvSpPr txBox="1"/>
          <p:nvPr/>
        </p:nvSpPr>
        <p:spPr>
          <a:xfrm>
            <a:off x="250825" y="4304953"/>
            <a:ext cx="4578400" cy="1278643"/>
          </a:xfrm>
          <a:prstGeom prst="rect">
            <a:avLst/>
          </a:prstGeom>
        </p:spPr>
        <p:txBody>
          <a:bodyPr wrap="square" lIns="0" tIns="115657" rIns="0" bIns="0">
            <a:spAutoFit/>
          </a:bodyPr>
          <a:lstStyle>
            <a:lvl1pPr marL="242888" indent="-231775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913"/>
              </a:spcBef>
              <a:buFont typeface="Wingdings" panose="05000000000000000000" pitchFamily="2" charset="2"/>
              <a:buChar char=""/>
            </a:pP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左外连接</a:t>
            </a:r>
            <a:r>
              <a:rPr lang="zh-CN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(Left Outer Join)</a:t>
            </a: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记为： </a:t>
            </a:r>
            <a:r>
              <a:rPr lang="zh-CN" altLang="zh-CN" sz="3000" baseline="10000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endParaRPr lang="zh-CN" altLang="zh-CN" sz="3000" baseline="10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ts val="825"/>
              </a:spcBef>
              <a:buFont typeface="Wingdings" panose="05000000000000000000" pitchFamily="2" charset="2"/>
              <a:buChar char=""/>
            </a:pP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右外连接</a:t>
            </a:r>
            <a:r>
              <a:rPr lang="zh-CN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(Right Outer Join)</a:t>
            </a: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记为：</a:t>
            </a:r>
            <a:r>
              <a:rPr lang="en-US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zh-CN" altLang="zh-CN" sz="3000" baseline="5000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endParaRPr lang="zh-CN" altLang="zh-CN" sz="3000" baseline="5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ts val="900"/>
              </a:spcBef>
              <a:buSzPct val="80000"/>
              <a:buFont typeface="Wingdings" panose="05000000000000000000" pitchFamily="2" charset="2"/>
              <a:buChar char=""/>
            </a:pPr>
            <a:r>
              <a:rPr lang="zh-CN" altLang="zh-CN" sz="3200" b="1" baseline="3000" dirty="0">
                <a:latin typeface="新宋体" panose="02010609030101010101" pitchFamily="49" charset="-122"/>
                <a:ea typeface="新宋体" panose="02010609030101010101" pitchFamily="49" charset="-122"/>
              </a:rPr>
              <a:t>全外连接</a:t>
            </a:r>
            <a:r>
              <a:rPr lang="zh-CN" altLang="zh-CN" sz="3200" b="1" baseline="3000" dirty="0">
                <a:latin typeface="Arial" panose="020B0604020202020204" pitchFamily="34" charset="0"/>
                <a:cs typeface="Arial" panose="020B0604020202020204" pitchFamily="34" charset="0"/>
              </a:rPr>
              <a:t>(Full Outer Join)</a:t>
            </a:r>
            <a:r>
              <a:rPr lang="zh-CN" altLang="zh-CN" sz="3200" b="1" baseline="3000" dirty="0">
                <a:latin typeface="新宋体" panose="02010609030101010101" pitchFamily="49" charset="-122"/>
                <a:ea typeface="新宋体" panose="02010609030101010101" pitchFamily="49" charset="-122"/>
              </a:rPr>
              <a:t>记为：</a:t>
            </a:r>
            <a:r>
              <a:rPr lang="zh-CN" altLang="zh-CN" sz="2000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endParaRPr lang="zh-CN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381674" y="4284047"/>
            <a:ext cx="198438" cy="1366837"/>
          </a:xfrm>
          <a:prstGeom prst="rect">
            <a:avLst/>
          </a:prstGeom>
        </p:spPr>
        <p:txBody>
          <a:bodyPr lIns="0" tIns="10860" rIns="0" bIns="0">
            <a:spAutoFit/>
          </a:bodyPr>
          <a:lstStyle>
            <a:lvl1pPr marL="952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43000"/>
              </a:lnSpc>
              <a:spcBef>
                <a:spcPts val="88"/>
              </a:spcBef>
            </a:pPr>
            <a:r>
              <a:rPr lang="zh-CN" altLang="zh-CN" sz="2000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  S  S</a:t>
            </a:r>
            <a:endParaRPr lang="zh-CN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灯片编号占位符 1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A6568E1-4089-4561-919E-9D2F37D3F2B0}" type="slidenum">
              <a:rPr lang="en-US" altLang="zh-CN" smtClean="0"/>
              <a:pPr>
                <a:defRPr/>
              </a:pPr>
              <a:t>68</a:t>
            </a:fld>
            <a:endParaRPr lang="en-US" altLang="zh-CN" dirty="0"/>
          </a:p>
        </p:txBody>
      </p:sp>
      <p:sp>
        <p:nvSpPr>
          <p:cNvPr id="21" name="object 17"/>
          <p:cNvSpPr txBox="1"/>
          <p:nvPr/>
        </p:nvSpPr>
        <p:spPr>
          <a:xfrm>
            <a:off x="893862" y="611542"/>
            <a:ext cx="4267001" cy="555496"/>
          </a:xfrm>
          <a:prstGeom prst="rect">
            <a:avLst/>
          </a:prstGeom>
        </p:spPr>
        <p:txBody>
          <a:bodyPr wrap="square" lIns="0" tIns="62444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</a:pPr>
            <a:r>
              <a:rPr lang="zh-CN" altLang="zh-CN" sz="32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(2) “</a:t>
            </a:r>
            <a:r>
              <a:rPr lang="zh-CN" altLang="zh-CN" sz="3200" b="1" dirty="0">
                <a:solidFill>
                  <a:srgbClr val="F8F8F8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外连接</a:t>
            </a:r>
            <a:r>
              <a:rPr lang="zh-CN" altLang="zh-CN" sz="32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r>
              <a:rPr lang="zh-CN" altLang="zh-CN" sz="3200" b="1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操作</a:t>
            </a:r>
            <a:endParaRPr lang="zh-CN" altLang="zh-CN" sz="32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395536" y="1543338"/>
            <a:ext cx="2870274" cy="379750"/>
          </a:xfrm>
          <a:prstGeom prst="rect">
            <a:avLst/>
          </a:prstGeom>
        </p:spPr>
        <p:txBody>
          <a:bodyPr wrap="square" lIns="0" tIns="10317" rIns="0" bIns="0">
            <a:spAutoFit/>
          </a:bodyPr>
          <a:lstStyle>
            <a:lvl1pPr marL="242888" indent="-231775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75"/>
              </a:spcBef>
              <a:buFont typeface="Wingdings" panose="05000000000000000000" pitchFamily="2" charset="2"/>
              <a:buChar char=""/>
            </a:pPr>
            <a:r>
              <a:rPr lang="zh-CN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外连接操作示例</a:t>
            </a:r>
            <a:endParaRPr lang="zh-CN" altLang="zh-CN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533525" y="2360613"/>
            <a:ext cx="5984875" cy="13350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7" name="object 7"/>
          <p:cNvSpPr/>
          <p:nvPr/>
        </p:nvSpPr>
        <p:spPr>
          <a:xfrm>
            <a:off x="1517650" y="4191000"/>
            <a:ext cx="5981700" cy="133508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0" name="object 10"/>
          <p:cNvSpPr/>
          <p:nvPr/>
        </p:nvSpPr>
        <p:spPr>
          <a:xfrm>
            <a:off x="5349875" y="2066925"/>
            <a:ext cx="206375" cy="206375"/>
          </a:xfrm>
          <a:custGeom>
            <a:avLst/>
            <a:gdLst/>
            <a:ahLst/>
            <a:cxnLst/>
            <a:rect l="l" t="t" r="r" b="b"/>
            <a:pathLst>
              <a:path w="241300" h="241300">
                <a:moveTo>
                  <a:pt x="0" y="240791"/>
                </a:moveTo>
                <a:lnTo>
                  <a:pt x="0" y="0"/>
                </a:lnTo>
                <a:lnTo>
                  <a:pt x="240792" y="240791"/>
                </a:lnTo>
                <a:lnTo>
                  <a:pt x="240792" y="0"/>
                </a:lnTo>
                <a:lnTo>
                  <a:pt x="0" y="240791"/>
                </a:lnTo>
                <a:close/>
              </a:path>
            </a:pathLst>
          </a:custGeom>
          <a:ln w="25400">
            <a:solidFill>
              <a:srgbClr val="3333CC"/>
            </a:solidFill>
          </a:ln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1" name="object 11"/>
          <p:cNvSpPr/>
          <p:nvPr/>
        </p:nvSpPr>
        <p:spPr>
          <a:xfrm>
            <a:off x="5219700" y="2078038"/>
            <a:ext cx="130175" cy="0"/>
          </a:xfrm>
          <a:custGeom>
            <a:avLst/>
            <a:gdLst/>
            <a:ahLst/>
            <a:cxnLst/>
            <a:rect l="l" t="t" r="r" b="b"/>
            <a:pathLst>
              <a:path w="152400">
                <a:moveTo>
                  <a:pt x="152400" y="0"/>
                </a:moveTo>
                <a:lnTo>
                  <a:pt x="0" y="0"/>
                </a:lnTo>
              </a:path>
            </a:pathLst>
          </a:custGeom>
          <a:ln w="25400">
            <a:solidFill>
              <a:srgbClr val="3333CC"/>
            </a:solidFill>
          </a:ln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2" name="object 12"/>
          <p:cNvSpPr/>
          <p:nvPr/>
        </p:nvSpPr>
        <p:spPr>
          <a:xfrm>
            <a:off x="5219700" y="2273300"/>
            <a:ext cx="130175" cy="0"/>
          </a:xfrm>
          <a:custGeom>
            <a:avLst/>
            <a:gdLst/>
            <a:ahLst/>
            <a:cxnLst/>
            <a:rect l="l" t="t" r="r" b="b"/>
            <a:pathLst>
              <a:path w="152400">
                <a:moveTo>
                  <a:pt x="152400" y="0"/>
                </a:moveTo>
                <a:lnTo>
                  <a:pt x="0" y="0"/>
                </a:lnTo>
              </a:path>
            </a:pathLst>
          </a:custGeom>
          <a:ln w="25400">
            <a:solidFill>
              <a:srgbClr val="3333CC"/>
            </a:solidFill>
          </a:ln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3" name="object 13"/>
          <p:cNvSpPr txBox="1"/>
          <p:nvPr/>
        </p:nvSpPr>
        <p:spPr>
          <a:xfrm>
            <a:off x="4906963" y="1995488"/>
            <a:ext cx="211137" cy="327025"/>
          </a:xfrm>
          <a:prstGeom prst="rect">
            <a:avLst/>
          </a:prstGeom>
        </p:spPr>
        <p:txBody>
          <a:bodyPr lIns="0" tIns="10860" rIns="0" bIns="0">
            <a:spAutoFit/>
          </a:bodyPr>
          <a:lstStyle/>
          <a:p>
            <a:pPr marL="10860" eaLnBrk="1" hangingPunct="1">
              <a:spcBef>
                <a:spcPts val="86"/>
              </a:spcBef>
              <a:defRPr/>
            </a:pPr>
            <a:r>
              <a:rPr sz="2052" spc="-4" dirty="0">
                <a:solidFill>
                  <a:srgbClr val="FF0065"/>
                </a:solidFill>
                <a:latin typeface="Arial"/>
                <a:cs typeface="Arial"/>
              </a:rPr>
              <a:t>R</a:t>
            </a:r>
            <a:endParaRPr sz="2052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672138" y="1995488"/>
            <a:ext cx="196850" cy="327025"/>
          </a:xfrm>
          <a:prstGeom prst="rect">
            <a:avLst/>
          </a:prstGeom>
        </p:spPr>
        <p:txBody>
          <a:bodyPr lIns="0" tIns="10860" rIns="0" bIns="0">
            <a:spAutoFit/>
          </a:bodyPr>
          <a:lstStyle/>
          <a:p>
            <a:pPr marL="10860" eaLnBrk="1" hangingPunct="1">
              <a:spcBef>
                <a:spcPts val="86"/>
              </a:spcBef>
              <a:defRPr/>
            </a:pPr>
            <a:r>
              <a:rPr sz="2052" dirty="0">
                <a:solidFill>
                  <a:srgbClr val="FF0065"/>
                </a:solidFill>
                <a:latin typeface="Arial"/>
                <a:cs typeface="Arial"/>
              </a:rPr>
              <a:t>S</a:t>
            </a:r>
            <a:endParaRPr sz="2052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251450" y="3917950"/>
            <a:ext cx="336550" cy="21748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6" name="object 16"/>
          <p:cNvSpPr txBox="1"/>
          <p:nvPr/>
        </p:nvSpPr>
        <p:spPr>
          <a:xfrm>
            <a:off x="4945063" y="3849688"/>
            <a:ext cx="211137" cy="327025"/>
          </a:xfrm>
          <a:prstGeom prst="rect">
            <a:avLst/>
          </a:prstGeom>
        </p:spPr>
        <p:txBody>
          <a:bodyPr lIns="0" tIns="10860" rIns="0" bIns="0">
            <a:spAutoFit/>
          </a:bodyPr>
          <a:lstStyle/>
          <a:p>
            <a:pPr marL="10860" eaLnBrk="1" hangingPunct="1">
              <a:spcBef>
                <a:spcPts val="86"/>
              </a:spcBef>
              <a:defRPr/>
            </a:pPr>
            <a:r>
              <a:rPr sz="2052" spc="-4" dirty="0">
                <a:solidFill>
                  <a:srgbClr val="FF0065"/>
                </a:solidFill>
                <a:latin typeface="Arial"/>
                <a:cs typeface="Arial"/>
              </a:rPr>
              <a:t>R</a:t>
            </a:r>
            <a:endParaRPr sz="2052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710238" y="3849688"/>
            <a:ext cx="196850" cy="327025"/>
          </a:xfrm>
          <a:prstGeom prst="rect">
            <a:avLst/>
          </a:prstGeom>
        </p:spPr>
        <p:txBody>
          <a:bodyPr lIns="0" tIns="10860" rIns="0" bIns="0">
            <a:spAutoFit/>
          </a:bodyPr>
          <a:lstStyle/>
          <a:p>
            <a:pPr marL="10860" eaLnBrk="1" hangingPunct="1">
              <a:spcBef>
                <a:spcPts val="86"/>
              </a:spcBef>
              <a:defRPr/>
            </a:pPr>
            <a:r>
              <a:rPr sz="2052" dirty="0">
                <a:solidFill>
                  <a:srgbClr val="FF0065"/>
                </a:solidFill>
                <a:latin typeface="Arial"/>
                <a:cs typeface="Arial"/>
              </a:rPr>
              <a:t>S</a:t>
            </a:r>
            <a:endParaRPr sz="2052">
              <a:latin typeface="Arial"/>
              <a:cs typeface="Arial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A6568E1-4089-4561-919E-9D2F37D3F2B0}" type="slidenum">
              <a:rPr lang="en-US" altLang="zh-CN" smtClean="0"/>
              <a:pPr>
                <a:defRPr/>
              </a:pPr>
              <a:t>69</a:t>
            </a:fld>
            <a:endParaRPr lang="en-US" altLang="zh-CN" dirty="0"/>
          </a:p>
        </p:txBody>
      </p:sp>
      <p:sp>
        <p:nvSpPr>
          <p:cNvPr id="19" name="标题 1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zh-CN" sz="3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(2) “</a:t>
            </a:r>
            <a:r>
              <a:rPr lang="zh-CN" altLang="zh-CN" sz="3200" dirty="0">
                <a:solidFill>
                  <a:srgbClr val="F8F8F8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外连接</a:t>
            </a:r>
            <a:r>
              <a:rPr lang="zh-CN" altLang="zh-CN" sz="3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r>
              <a:rPr lang="zh-CN" altLang="zh-CN" sz="3200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操作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922338" y="1479550"/>
            <a:ext cx="2641550" cy="379750"/>
          </a:xfrm>
          <a:prstGeom prst="rect">
            <a:avLst/>
          </a:prstGeom>
        </p:spPr>
        <p:txBody>
          <a:bodyPr wrap="square" lIns="0" tIns="10317" rIns="0" bIns="0">
            <a:spAutoFit/>
          </a:bodyPr>
          <a:lstStyle>
            <a:lvl1pPr marL="242888" indent="-231775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75"/>
              </a:spcBef>
              <a:buFont typeface="Wingdings" panose="05000000000000000000" pitchFamily="2" charset="2"/>
              <a:buChar char=""/>
            </a:pPr>
            <a:r>
              <a:rPr lang="zh-CN" altLang="zh-CN" b="1">
                <a:latin typeface="新宋体" panose="02010609030101010101" pitchFamily="49" charset="-122"/>
                <a:ea typeface="新宋体" panose="02010609030101010101" pitchFamily="49" charset="-122"/>
              </a:rPr>
              <a:t>外连接操作示例</a:t>
            </a:r>
            <a:endParaRPr lang="zh-CN" altLang="zh-CN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557338" y="2181225"/>
            <a:ext cx="5981700" cy="184943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7" name="object 7"/>
          <p:cNvSpPr/>
          <p:nvPr/>
        </p:nvSpPr>
        <p:spPr>
          <a:xfrm>
            <a:off x="1533525" y="4660900"/>
            <a:ext cx="5976938" cy="13398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0" name="object 10"/>
          <p:cNvSpPr/>
          <p:nvPr/>
        </p:nvSpPr>
        <p:spPr>
          <a:xfrm>
            <a:off x="5391150" y="1893888"/>
            <a:ext cx="195263" cy="195262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0" y="0"/>
                </a:lnTo>
                <a:lnTo>
                  <a:pt x="228600" y="228600"/>
                </a:lnTo>
                <a:lnTo>
                  <a:pt x="228600" y="0"/>
                </a:lnTo>
                <a:lnTo>
                  <a:pt x="0" y="228600"/>
                </a:lnTo>
                <a:close/>
              </a:path>
            </a:pathLst>
          </a:custGeom>
          <a:ln w="25400">
            <a:solidFill>
              <a:srgbClr val="3333CC"/>
            </a:solidFill>
          </a:ln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1" name="object 11"/>
          <p:cNvSpPr/>
          <p:nvPr/>
        </p:nvSpPr>
        <p:spPr>
          <a:xfrm>
            <a:off x="5586413" y="1893888"/>
            <a:ext cx="130175" cy="0"/>
          </a:xfrm>
          <a:custGeom>
            <a:avLst/>
            <a:gdLst/>
            <a:ahLst/>
            <a:cxnLst/>
            <a:rect l="l" t="t" r="r" b="b"/>
            <a:pathLst>
              <a:path w="152400">
                <a:moveTo>
                  <a:pt x="152400" y="0"/>
                </a:moveTo>
                <a:lnTo>
                  <a:pt x="0" y="0"/>
                </a:lnTo>
              </a:path>
            </a:pathLst>
          </a:custGeom>
          <a:ln w="25400">
            <a:solidFill>
              <a:srgbClr val="3333CC"/>
            </a:solidFill>
          </a:ln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2" name="object 12"/>
          <p:cNvSpPr/>
          <p:nvPr/>
        </p:nvSpPr>
        <p:spPr>
          <a:xfrm>
            <a:off x="5586413" y="2089150"/>
            <a:ext cx="130175" cy="0"/>
          </a:xfrm>
          <a:custGeom>
            <a:avLst/>
            <a:gdLst/>
            <a:ahLst/>
            <a:cxnLst/>
            <a:rect l="l" t="t" r="r" b="b"/>
            <a:pathLst>
              <a:path w="152400">
                <a:moveTo>
                  <a:pt x="152400" y="0"/>
                </a:moveTo>
                <a:lnTo>
                  <a:pt x="0" y="0"/>
                </a:lnTo>
              </a:path>
            </a:pathLst>
          </a:custGeom>
          <a:ln w="25400">
            <a:solidFill>
              <a:srgbClr val="3333CC"/>
            </a:solidFill>
          </a:ln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3" name="object 13"/>
          <p:cNvSpPr/>
          <p:nvPr/>
        </p:nvSpPr>
        <p:spPr>
          <a:xfrm>
            <a:off x="5260975" y="1893888"/>
            <a:ext cx="130175" cy="0"/>
          </a:xfrm>
          <a:custGeom>
            <a:avLst/>
            <a:gdLst/>
            <a:ahLst/>
            <a:cxnLst/>
            <a:rect l="l" t="t" r="r" b="b"/>
            <a:pathLst>
              <a:path w="152400">
                <a:moveTo>
                  <a:pt x="152400" y="0"/>
                </a:moveTo>
                <a:lnTo>
                  <a:pt x="0" y="0"/>
                </a:lnTo>
              </a:path>
            </a:pathLst>
          </a:custGeom>
          <a:ln w="25400">
            <a:solidFill>
              <a:srgbClr val="3333CC"/>
            </a:solidFill>
          </a:ln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4" name="object 14"/>
          <p:cNvSpPr/>
          <p:nvPr/>
        </p:nvSpPr>
        <p:spPr>
          <a:xfrm>
            <a:off x="5260975" y="2089150"/>
            <a:ext cx="130175" cy="0"/>
          </a:xfrm>
          <a:custGeom>
            <a:avLst/>
            <a:gdLst/>
            <a:ahLst/>
            <a:cxnLst/>
            <a:rect l="l" t="t" r="r" b="b"/>
            <a:pathLst>
              <a:path w="152400">
                <a:moveTo>
                  <a:pt x="152400" y="0"/>
                </a:moveTo>
                <a:lnTo>
                  <a:pt x="0" y="0"/>
                </a:lnTo>
              </a:path>
            </a:pathLst>
          </a:custGeom>
          <a:ln w="25400">
            <a:solidFill>
              <a:srgbClr val="3333CC"/>
            </a:solidFill>
          </a:ln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5" name="object 15"/>
          <p:cNvSpPr txBox="1"/>
          <p:nvPr/>
        </p:nvSpPr>
        <p:spPr>
          <a:xfrm>
            <a:off x="5006975" y="1816100"/>
            <a:ext cx="211138" cy="327025"/>
          </a:xfrm>
          <a:prstGeom prst="rect">
            <a:avLst/>
          </a:prstGeom>
        </p:spPr>
        <p:txBody>
          <a:bodyPr lIns="0" tIns="10860" rIns="0" bIns="0">
            <a:spAutoFit/>
          </a:bodyPr>
          <a:lstStyle/>
          <a:p>
            <a:pPr marL="10860" eaLnBrk="1" hangingPunct="1">
              <a:spcBef>
                <a:spcPts val="86"/>
              </a:spcBef>
              <a:defRPr/>
            </a:pPr>
            <a:r>
              <a:rPr sz="2052" spc="-4" dirty="0">
                <a:solidFill>
                  <a:srgbClr val="FF0065"/>
                </a:solidFill>
                <a:latin typeface="Arial"/>
                <a:cs typeface="Arial"/>
              </a:rPr>
              <a:t>R</a:t>
            </a:r>
            <a:endParaRPr sz="2052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772150" y="1816100"/>
            <a:ext cx="196850" cy="327025"/>
          </a:xfrm>
          <a:prstGeom prst="rect">
            <a:avLst/>
          </a:prstGeom>
        </p:spPr>
        <p:txBody>
          <a:bodyPr lIns="0" tIns="10860" rIns="0" bIns="0">
            <a:spAutoFit/>
          </a:bodyPr>
          <a:lstStyle/>
          <a:p>
            <a:pPr marL="10860" eaLnBrk="1" hangingPunct="1">
              <a:spcBef>
                <a:spcPts val="86"/>
              </a:spcBef>
              <a:defRPr/>
            </a:pPr>
            <a:r>
              <a:rPr sz="2052" dirty="0">
                <a:solidFill>
                  <a:srgbClr val="FF0065"/>
                </a:solidFill>
                <a:latin typeface="Arial"/>
                <a:cs typeface="Arial"/>
              </a:rPr>
              <a:t>S</a:t>
            </a:r>
            <a:endParaRPr sz="2052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391150" y="4327525"/>
            <a:ext cx="274638" cy="239713"/>
          </a:xfrm>
          <a:custGeom>
            <a:avLst/>
            <a:gdLst/>
            <a:ahLst/>
            <a:cxnLst/>
            <a:rect l="l" t="t" r="r" b="b"/>
            <a:pathLst>
              <a:path w="322579" h="281304">
                <a:moveTo>
                  <a:pt x="0" y="281177"/>
                </a:moveTo>
                <a:lnTo>
                  <a:pt x="0" y="0"/>
                </a:lnTo>
                <a:lnTo>
                  <a:pt x="322326" y="281177"/>
                </a:lnTo>
                <a:lnTo>
                  <a:pt x="322326" y="0"/>
                </a:lnTo>
                <a:lnTo>
                  <a:pt x="0" y="281177"/>
                </a:lnTo>
                <a:close/>
              </a:path>
            </a:pathLst>
          </a:custGeom>
          <a:ln w="38099">
            <a:solidFill>
              <a:srgbClr val="3333CC"/>
            </a:solidFill>
          </a:ln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8" name="object 18"/>
          <p:cNvSpPr txBox="1"/>
          <p:nvPr/>
        </p:nvSpPr>
        <p:spPr>
          <a:xfrm>
            <a:off x="5030788" y="4283075"/>
            <a:ext cx="211137" cy="327025"/>
          </a:xfrm>
          <a:prstGeom prst="rect">
            <a:avLst/>
          </a:prstGeom>
        </p:spPr>
        <p:txBody>
          <a:bodyPr lIns="0" tIns="10860" rIns="0" bIns="0">
            <a:spAutoFit/>
          </a:bodyPr>
          <a:lstStyle/>
          <a:p>
            <a:pPr marL="10860" eaLnBrk="1" hangingPunct="1">
              <a:spcBef>
                <a:spcPts val="86"/>
              </a:spcBef>
              <a:defRPr/>
            </a:pPr>
            <a:r>
              <a:rPr sz="2052" spc="-4" dirty="0">
                <a:solidFill>
                  <a:srgbClr val="FF0065"/>
                </a:solidFill>
                <a:latin typeface="Arial"/>
                <a:cs typeface="Arial"/>
              </a:rPr>
              <a:t>R</a:t>
            </a:r>
            <a:endParaRPr sz="2052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795963" y="4283075"/>
            <a:ext cx="196850" cy="327025"/>
          </a:xfrm>
          <a:prstGeom prst="rect">
            <a:avLst/>
          </a:prstGeom>
        </p:spPr>
        <p:txBody>
          <a:bodyPr lIns="0" tIns="10860" rIns="0" bIns="0">
            <a:spAutoFit/>
          </a:bodyPr>
          <a:lstStyle/>
          <a:p>
            <a:pPr marL="10860" eaLnBrk="1" hangingPunct="1">
              <a:spcBef>
                <a:spcPts val="86"/>
              </a:spcBef>
              <a:defRPr/>
            </a:pPr>
            <a:r>
              <a:rPr sz="2052" dirty="0">
                <a:solidFill>
                  <a:srgbClr val="FF0065"/>
                </a:solidFill>
                <a:latin typeface="Arial"/>
                <a:cs typeface="Arial"/>
              </a:rPr>
              <a:t>S</a:t>
            </a:r>
            <a:endParaRPr sz="2052">
              <a:latin typeface="Arial"/>
              <a:cs typeface="Arial"/>
            </a:endParaRPr>
          </a:p>
        </p:txBody>
      </p:sp>
      <p:sp>
        <p:nvSpPr>
          <p:cNvPr id="20" name="灯片编号占位符 1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A6568E1-4089-4561-919E-9D2F37D3F2B0}" type="slidenum">
              <a:rPr lang="en-US" altLang="zh-CN" smtClean="0"/>
              <a:pPr>
                <a:defRPr/>
              </a:pPr>
              <a:t>70</a:t>
            </a:fld>
            <a:endParaRPr lang="en-US" altLang="zh-CN" dirty="0"/>
          </a:p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zh-CN" sz="3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(2) “</a:t>
            </a:r>
            <a:r>
              <a:rPr lang="zh-CN" altLang="zh-CN" sz="3200" dirty="0">
                <a:solidFill>
                  <a:srgbClr val="F8F8F8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外连接</a:t>
            </a:r>
            <a:r>
              <a:rPr lang="zh-CN" altLang="zh-CN" sz="3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r>
              <a:rPr lang="zh-CN" altLang="zh-CN" sz="3200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操作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683418" y="1417638"/>
            <a:ext cx="6768901" cy="964568"/>
          </a:xfrm>
          <a:prstGeom prst="rect">
            <a:avLst/>
          </a:prstGeom>
        </p:spPr>
        <p:txBody>
          <a:bodyPr wrap="square" lIns="0" tIns="144979" rIns="0" bIns="0">
            <a:spAutoFit/>
          </a:bodyPr>
          <a:lstStyle>
            <a:lvl1pPr marL="952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1138"/>
              </a:spcBef>
            </a:pPr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外连接(Outer-Join)操作的示例</a:t>
            </a:r>
            <a:endParaRPr lang="zh-CN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spcBef>
                <a:spcPts val="1050"/>
              </a:spcBef>
              <a:buFont typeface="Wingdings" panose="05000000000000000000" pitchFamily="2" charset="2"/>
              <a:buChar char=""/>
            </a:pPr>
            <a:r>
              <a:rPr lang="zh-CN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前面问题例子的解决方案：查询所有老师的信息</a:t>
            </a:r>
            <a:endParaRPr lang="zh-CN" altLang="zh-CN" sz="20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486025" y="5335588"/>
            <a:ext cx="412750" cy="484187"/>
          </a:xfrm>
          <a:prstGeom prst="rect">
            <a:avLst/>
          </a:prstGeom>
        </p:spPr>
        <p:txBody>
          <a:bodyPr lIns="0" tIns="10860" rIns="0" bIns="0">
            <a:spAutoFit/>
          </a:bodyPr>
          <a:lstStyle>
            <a:lvl1pPr marL="952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88"/>
              </a:spcBef>
            </a:pPr>
            <a:r>
              <a:rPr lang="zh-CN" altLang="zh-CN" sz="3000">
                <a:latin typeface="新宋体" panose="02010609030101010101" pitchFamily="49" charset="-122"/>
                <a:ea typeface="新宋体" panose="02010609030101010101" pitchFamily="49" charset="-122"/>
              </a:rPr>
              <a:t>＝</a:t>
            </a:r>
          </a:p>
        </p:txBody>
      </p:sp>
      <p:sp>
        <p:nvSpPr>
          <p:cNvPr id="5" name="object 5"/>
          <p:cNvSpPr/>
          <p:nvPr/>
        </p:nvSpPr>
        <p:spPr>
          <a:xfrm>
            <a:off x="1404938" y="3813175"/>
            <a:ext cx="1685925" cy="10175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6" name="object 6"/>
          <p:cNvSpPr/>
          <p:nvPr/>
        </p:nvSpPr>
        <p:spPr>
          <a:xfrm>
            <a:off x="3449638" y="4229100"/>
            <a:ext cx="285750" cy="260350"/>
          </a:xfrm>
          <a:custGeom>
            <a:avLst/>
            <a:gdLst/>
            <a:ahLst/>
            <a:cxnLst/>
            <a:rect l="l" t="t" r="r" b="b"/>
            <a:pathLst>
              <a:path w="335279" h="304800">
                <a:moveTo>
                  <a:pt x="0" y="304800"/>
                </a:moveTo>
                <a:lnTo>
                  <a:pt x="0" y="0"/>
                </a:lnTo>
                <a:lnTo>
                  <a:pt x="335280" y="304800"/>
                </a:lnTo>
                <a:lnTo>
                  <a:pt x="335280" y="0"/>
                </a:lnTo>
                <a:lnTo>
                  <a:pt x="0" y="30480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7" name="object 7"/>
          <p:cNvSpPr/>
          <p:nvPr/>
        </p:nvSpPr>
        <p:spPr>
          <a:xfrm>
            <a:off x="3268663" y="4243388"/>
            <a:ext cx="180975" cy="0"/>
          </a:xfrm>
          <a:custGeom>
            <a:avLst/>
            <a:gdLst/>
            <a:ahLst/>
            <a:cxnLst/>
            <a:rect l="l" t="t" r="r" b="b"/>
            <a:pathLst>
              <a:path w="211454">
                <a:moveTo>
                  <a:pt x="211074" y="0"/>
                </a:moveTo>
                <a:lnTo>
                  <a:pt x="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8" name="object 8"/>
          <p:cNvSpPr/>
          <p:nvPr/>
        </p:nvSpPr>
        <p:spPr>
          <a:xfrm>
            <a:off x="3268663" y="4489450"/>
            <a:ext cx="180975" cy="0"/>
          </a:xfrm>
          <a:custGeom>
            <a:avLst/>
            <a:gdLst/>
            <a:ahLst/>
            <a:cxnLst/>
            <a:rect l="l" t="t" r="r" b="b"/>
            <a:pathLst>
              <a:path w="211454">
                <a:moveTo>
                  <a:pt x="211074" y="0"/>
                </a:moveTo>
                <a:lnTo>
                  <a:pt x="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9" name="object 9"/>
          <p:cNvSpPr/>
          <p:nvPr/>
        </p:nvSpPr>
        <p:spPr>
          <a:xfrm>
            <a:off x="4102100" y="3800475"/>
            <a:ext cx="1108075" cy="85566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0" name="object 10"/>
          <p:cNvSpPr/>
          <p:nvPr/>
        </p:nvSpPr>
        <p:spPr>
          <a:xfrm>
            <a:off x="3162300" y="5084763"/>
            <a:ext cx="2841625" cy="89693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grpSp>
        <p:nvGrpSpPr>
          <p:cNvPr id="2" name="组合 1"/>
          <p:cNvGrpSpPr/>
          <p:nvPr/>
        </p:nvGrpSpPr>
        <p:grpSpPr>
          <a:xfrm>
            <a:off x="1900238" y="2556197"/>
            <a:ext cx="5192042" cy="511523"/>
            <a:chOff x="1900238" y="2556197"/>
            <a:chExt cx="5192042" cy="511523"/>
          </a:xfrm>
        </p:grpSpPr>
        <p:sp>
          <p:nvSpPr>
            <p:cNvPr id="11" name="object 11"/>
            <p:cNvSpPr/>
            <p:nvPr/>
          </p:nvSpPr>
          <p:spPr>
            <a:xfrm>
              <a:off x="4745038" y="2795910"/>
              <a:ext cx="330316" cy="229053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 eaLnBrk="1" hangingPunct="1">
                <a:defRPr/>
              </a:pPr>
              <a:endParaRPr sz="2052"/>
            </a:p>
          </p:txBody>
        </p:sp>
        <p:sp>
          <p:nvSpPr>
            <p:cNvPr id="12" name="object 12"/>
            <p:cNvSpPr txBox="1"/>
            <p:nvPr/>
          </p:nvSpPr>
          <p:spPr>
            <a:xfrm>
              <a:off x="5081588" y="2751460"/>
              <a:ext cx="679098" cy="257187"/>
            </a:xfrm>
            <a:prstGeom prst="rect">
              <a:avLst/>
            </a:prstGeom>
          </p:spPr>
          <p:txBody>
            <a:bodyPr wrap="square" lIns="0" tIns="10860" rIns="0" bIns="0">
              <a:spAutoFit/>
            </a:bodyPr>
            <a:lstStyle/>
            <a:p>
              <a:pPr marL="10860" eaLnBrk="1" hangingPunct="1">
                <a:spcBef>
                  <a:spcPts val="86"/>
                </a:spcBef>
                <a:defRPr/>
              </a:pPr>
              <a:r>
                <a:rPr sz="1600" b="1" dirty="0">
                  <a:latin typeface="Arial"/>
                  <a:cs typeface="Arial"/>
                </a:rPr>
                <a:t>Teach</a:t>
              </a:r>
              <a:endParaRPr sz="1600" dirty="0">
                <a:latin typeface="Arial"/>
                <a:cs typeface="Arial"/>
              </a:endParaRPr>
            </a:p>
          </p:txBody>
        </p:sp>
        <p:sp>
          <p:nvSpPr>
            <p:cNvPr id="13" name="object 13"/>
            <p:cNvSpPr txBox="1"/>
            <p:nvPr/>
          </p:nvSpPr>
          <p:spPr>
            <a:xfrm>
              <a:off x="6214170" y="2751460"/>
              <a:ext cx="878110" cy="257187"/>
            </a:xfrm>
            <a:prstGeom prst="rect">
              <a:avLst/>
            </a:prstGeom>
          </p:spPr>
          <p:txBody>
            <a:bodyPr wrap="square" lIns="0" tIns="10860" rIns="0" bIns="0">
              <a:spAutoFit/>
            </a:bodyPr>
            <a:lstStyle/>
            <a:p>
              <a:pPr marL="10860" eaLnBrk="1" hangingPunct="1">
                <a:spcBef>
                  <a:spcPts val="86"/>
                </a:spcBef>
                <a:defRPr/>
              </a:pPr>
              <a:r>
                <a:rPr sz="1600" b="1" dirty="0">
                  <a:latin typeface="Arial"/>
                  <a:cs typeface="Arial"/>
                </a:rPr>
                <a:t>Course)</a:t>
              </a:r>
              <a:endParaRPr sz="1600" dirty="0">
                <a:latin typeface="Arial"/>
                <a:cs typeface="Arial"/>
              </a:endParaRPr>
            </a:p>
          </p:txBody>
        </p:sp>
        <p:sp>
          <p:nvSpPr>
            <p:cNvPr id="14" name="object 14"/>
            <p:cNvSpPr txBox="1"/>
            <p:nvPr/>
          </p:nvSpPr>
          <p:spPr>
            <a:xfrm>
              <a:off x="1900238" y="2556197"/>
              <a:ext cx="3573990" cy="511523"/>
            </a:xfrm>
            <a:prstGeom prst="rect">
              <a:avLst/>
            </a:prstGeom>
          </p:spPr>
          <p:txBody>
            <a:bodyPr wrap="square" lIns="0" tIns="11403" rIns="0" bIns="0">
              <a:spAutoFit/>
            </a:bodyPr>
            <a:lstStyle/>
            <a:p>
              <a:pPr marL="10860" eaLnBrk="1" hangingPunct="1">
                <a:spcBef>
                  <a:spcPts val="90"/>
                </a:spcBef>
                <a:defRPr/>
              </a:pPr>
              <a:r>
                <a:rPr sz="3249" i="1" spc="-94" dirty="0">
                  <a:solidFill>
                    <a:srgbClr val="FF0065"/>
                  </a:solidFill>
                  <a:latin typeface="Symbol"/>
                  <a:cs typeface="Symbol"/>
                </a:rPr>
                <a:t></a:t>
              </a:r>
              <a:r>
                <a:rPr sz="3249" i="1" spc="-620" dirty="0">
                  <a:solidFill>
                    <a:srgbClr val="FF0065"/>
                  </a:solidFill>
                  <a:latin typeface="Times New Roman"/>
                  <a:cs typeface="Times New Roman"/>
                </a:rPr>
                <a:t> </a:t>
              </a:r>
              <a:r>
                <a:rPr sz="941" b="1" spc="-4" dirty="0">
                  <a:latin typeface="Arial"/>
                  <a:cs typeface="Arial"/>
                </a:rPr>
                <a:t>T#, Tname, Salary, C#, CName </a:t>
              </a:r>
              <a:r>
                <a:rPr sz="2052" b="1" baseline="13888" dirty="0">
                  <a:latin typeface="Arial"/>
                  <a:cs typeface="Arial"/>
                </a:rPr>
                <a:t>(</a:t>
              </a:r>
              <a:r>
                <a:rPr sz="2200" b="1" baseline="13888" dirty="0">
                  <a:latin typeface="Arial"/>
                  <a:cs typeface="Arial"/>
                </a:rPr>
                <a:t>Teacher</a:t>
              </a:r>
              <a:endParaRPr sz="2200" baseline="13888" dirty="0">
                <a:latin typeface="Arial"/>
                <a:cs typeface="Arial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5757416" y="2797497"/>
              <a:ext cx="332369" cy="229054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 eaLnBrk="1" hangingPunct="1">
                <a:defRPr/>
              </a:pPr>
              <a:endParaRPr sz="2052"/>
            </a:p>
          </p:txBody>
        </p:sp>
      </p:grpSp>
      <p:sp>
        <p:nvSpPr>
          <p:cNvPr id="16" name="object 16"/>
          <p:cNvSpPr/>
          <p:nvPr/>
        </p:nvSpPr>
        <p:spPr>
          <a:xfrm>
            <a:off x="5857875" y="4229100"/>
            <a:ext cx="285750" cy="260350"/>
          </a:xfrm>
          <a:custGeom>
            <a:avLst/>
            <a:gdLst/>
            <a:ahLst/>
            <a:cxnLst/>
            <a:rect l="l" t="t" r="r" b="b"/>
            <a:pathLst>
              <a:path w="334645" h="304800">
                <a:moveTo>
                  <a:pt x="0" y="304800"/>
                </a:moveTo>
                <a:lnTo>
                  <a:pt x="0" y="0"/>
                </a:lnTo>
                <a:lnTo>
                  <a:pt x="334518" y="304800"/>
                </a:lnTo>
                <a:lnTo>
                  <a:pt x="334518" y="0"/>
                </a:lnTo>
                <a:lnTo>
                  <a:pt x="0" y="30480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7" name="object 17"/>
          <p:cNvSpPr/>
          <p:nvPr/>
        </p:nvSpPr>
        <p:spPr>
          <a:xfrm>
            <a:off x="5676900" y="4243388"/>
            <a:ext cx="180975" cy="0"/>
          </a:xfrm>
          <a:custGeom>
            <a:avLst/>
            <a:gdLst/>
            <a:ahLst/>
            <a:cxnLst/>
            <a:rect l="l" t="t" r="r" b="b"/>
            <a:pathLst>
              <a:path w="211454">
                <a:moveTo>
                  <a:pt x="211074" y="0"/>
                </a:moveTo>
                <a:lnTo>
                  <a:pt x="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8" name="object 18"/>
          <p:cNvSpPr/>
          <p:nvPr/>
        </p:nvSpPr>
        <p:spPr>
          <a:xfrm>
            <a:off x="5676900" y="4489450"/>
            <a:ext cx="180975" cy="0"/>
          </a:xfrm>
          <a:custGeom>
            <a:avLst/>
            <a:gdLst/>
            <a:ahLst/>
            <a:cxnLst/>
            <a:rect l="l" t="t" r="r" b="b"/>
            <a:pathLst>
              <a:path w="211454">
                <a:moveTo>
                  <a:pt x="211074" y="0"/>
                </a:moveTo>
                <a:lnTo>
                  <a:pt x="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20" name="object 20"/>
          <p:cNvSpPr/>
          <p:nvPr/>
        </p:nvSpPr>
        <p:spPr>
          <a:xfrm>
            <a:off x="6432550" y="3792538"/>
            <a:ext cx="1133475" cy="8636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21" name="灯片编号占位符 20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02E7998-F56A-45D4-984E-4E67E3C944B8}" type="slidenum">
              <a:rPr lang="en-US" altLang="zh-CN" smtClean="0"/>
              <a:pPr>
                <a:defRPr/>
              </a:pPr>
              <a:t>71</a:t>
            </a:fld>
            <a:endParaRPr lang="en-US" altLang="zh-CN"/>
          </a:p>
        </p:txBody>
      </p:sp>
      <p:sp>
        <p:nvSpPr>
          <p:cNvPr id="22" name="矩形 21"/>
          <p:cNvSpPr/>
          <p:nvPr/>
        </p:nvSpPr>
        <p:spPr>
          <a:xfrm>
            <a:off x="971600" y="663873"/>
            <a:ext cx="280878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spcBef>
                <a:spcPts val="75"/>
              </a:spcBef>
            </a:pPr>
            <a:r>
              <a:rPr lang="zh-CN" altLang="zh-CN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(2) “</a:t>
            </a:r>
            <a:r>
              <a:rPr lang="zh-CN" altLang="zh-CN" b="1" dirty="0">
                <a:solidFill>
                  <a:srgbClr val="F8F8F8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外连接</a:t>
            </a:r>
            <a:r>
              <a:rPr lang="zh-CN" altLang="zh-CN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r>
              <a:rPr lang="zh-CN" altLang="zh-CN" b="1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操作</a:t>
            </a:r>
            <a:endParaRPr lang="zh-CN" altLang="zh-CN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animBg="1"/>
      <p:bldP spid="7" grpId="0" animBg="1"/>
      <p:bldP spid="8" grpId="0" animBg="1"/>
      <p:bldP spid="10" grpId="0" animBg="1"/>
      <p:bldP spid="16" grpId="0" animBg="1"/>
      <p:bldP spid="17" grpId="0" animBg="1"/>
      <p:bldP spid="18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486025" y="5248275"/>
            <a:ext cx="412750" cy="484188"/>
          </a:xfrm>
          <a:prstGeom prst="rect">
            <a:avLst/>
          </a:prstGeom>
        </p:spPr>
        <p:txBody>
          <a:bodyPr lIns="0" tIns="10860" rIns="0" bIns="0">
            <a:spAutoFit/>
          </a:bodyPr>
          <a:lstStyle>
            <a:lvl1pPr marL="952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88"/>
              </a:spcBef>
            </a:pPr>
            <a:r>
              <a:rPr lang="zh-CN" altLang="zh-CN" sz="3000">
                <a:latin typeface="新宋体" panose="02010609030101010101" pitchFamily="49" charset="-122"/>
                <a:ea typeface="新宋体" panose="02010609030101010101" pitchFamily="49" charset="-122"/>
              </a:rPr>
              <a:t>＝</a:t>
            </a:r>
          </a:p>
        </p:txBody>
      </p:sp>
      <p:sp>
        <p:nvSpPr>
          <p:cNvPr id="4" name="object 4"/>
          <p:cNvSpPr/>
          <p:nvPr/>
        </p:nvSpPr>
        <p:spPr>
          <a:xfrm>
            <a:off x="1315834" y="3818731"/>
            <a:ext cx="1685925" cy="10175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5" name="object 5"/>
          <p:cNvSpPr/>
          <p:nvPr/>
        </p:nvSpPr>
        <p:spPr>
          <a:xfrm>
            <a:off x="5626100" y="4327525"/>
            <a:ext cx="246063" cy="239713"/>
          </a:xfrm>
          <a:custGeom>
            <a:avLst/>
            <a:gdLst/>
            <a:ahLst/>
            <a:cxnLst/>
            <a:rect l="l" t="t" r="r" b="b"/>
            <a:pathLst>
              <a:path w="288925" h="280035">
                <a:moveTo>
                  <a:pt x="0" y="279654"/>
                </a:moveTo>
                <a:lnTo>
                  <a:pt x="0" y="0"/>
                </a:lnTo>
                <a:lnTo>
                  <a:pt x="288798" y="279654"/>
                </a:lnTo>
                <a:lnTo>
                  <a:pt x="288798" y="0"/>
                </a:lnTo>
                <a:lnTo>
                  <a:pt x="0" y="279654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6" name="object 6"/>
          <p:cNvSpPr/>
          <p:nvPr/>
        </p:nvSpPr>
        <p:spPr>
          <a:xfrm>
            <a:off x="5872163" y="4327525"/>
            <a:ext cx="166687" cy="0"/>
          </a:xfrm>
          <a:custGeom>
            <a:avLst/>
            <a:gdLst/>
            <a:ahLst/>
            <a:cxnLst/>
            <a:rect l="l" t="t" r="r" b="b"/>
            <a:pathLst>
              <a:path w="193675">
                <a:moveTo>
                  <a:pt x="193548" y="0"/>
                </a:moveTo>
                <a:lnTo>
                  <a:pt x="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7" name="object 7"/>
          <p:cNvSpPr/>
          <p:nvPr/>
        </p:nvSpPr>
        <p:spPr>
          <a:xfrm>
            <a:off x="5872163" y="4565650"/>
            <a:ext cx="166687" cy="0"/>
          </a:xfrm>
          <a:custGeom>
            <a:avLst/>
            <a:gdLst/>
            <a:ahLst/>
            <a:cxnLst/>
            <a:rect l="l" t="t" r="r" b="b"/>
            <a:pathLst>
              <a:path w="193675">
                <a:moveTo>
                  <a:pt x="193548" y="0"/>
                </a:moveTo>
                <a:lnTo>
                  <a:pt x="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8" name="object 8"/>
          <p:cNvSpPr/>
          <p:nvPr/>
        </p:nvSpPr>
        <p:spPr>
          <a:xfrm>
            <a:off x="4127500" y="3867150"/>
            <a:ext cx="1108075" cy="85566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9" name="object 9"/>
          <p:cNvSpPr/>
          <p:nvPr/>
        </p:nvSpPr>
        <p:spPr>
          <a:xfrm>
            <a:off x="3182938" y="5030788"/>
            <a:ext cx="2843212" cy="8953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0" name="object 10"/>
          <p:cNvSpPr txBox="1"/>
          <p:nvPr/>
        </p:nvSpPr>
        <p:spPr>
          <a:xfrm>
            <a:off x="838994" y="1181903"/>
            <a:ext cx="5424488" cy="995345"/>
          </a:xfrm>
          <a:prstGeom prst="rect">
            <a:avLst/>
          </a:prstGeom>
        </p:spPr>
        <p:txBody>
          <a:bodyPr wrap="square" lIns="0" tIns="144979" rIns="0" bIns="0">
            <a:spAutoFit/>
          </a:bodyPr>
          <a:lstStyle>
            <a:lvl1pPr marL="74613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1138"/>
              </a:spcBef>
            </a:pPr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外连接(Outer-Join)操作示例</a:t>
            </a:r>
            <a:endParaRPr lang="zh-CN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spcBef>
                <a:spcPts val="1050"/>
              </a:spcBef>
              <a:buFont typeface="Wingdings" panose="05000000000000000000" pitchFamily="2" charset="2"/>
              <a:buChar char=""/>
            </a:pPr>
            <a:r>
              <a:rPr lang="zh-CN" altLang="zh-CN" sz="22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查询所有课程的信息</a:t>
            </a:r>
            <a:endParaRPr lang="zh-CN" altLang="zh-CN" sz="22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810682" y="2485102"/>
            <a:ext cx="5560081" cy="511523"/>
            <a:chOff x="1763689" y="2155825"/>
            <a:chExt cx="5560081" cy="511523"/>
          </a:xfrm>
        </p:grpSpPr>
        <p:sp>
          <p:nvSpPr>
            <p:cNvPr id="11" name="object 11"/>
            <p:cNvSpPr/>
            <p:nvPr/>
          </p:nvSpPr>
          <p:spPr>
            <a:xfrm>
              <a:off x="5958681" y="2348880"/>
              <a:ext cx="200025" cy="13970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 eaLnBrk="1" hangingPunct="1">
                <a:defRPr/>
              </a:pPr>
              <a:endParaRPr sz="2052"/>
            </a:p>
          </p:txBody>
        </p:sp>
        <p:sp>
          <p:nvSpPr>
            <p:cNvPr id="12" name="object 12"/>
            <p:cNvSpPr txBox="1"/>
            <p:nvPr/>
          </p:nvSpPr>
          <p:spPr>
            <a:xfrm>
              <a:off x="5155042" y="2276872"/>
              <a:ext cx="722678" cy="287965"/>
            </a:xfrm>
            <a:prstGeom prst="rect">
              <a:avLst/>
            </a:prstGeom>
          </p:spPr>
          <p:txBody>
            <a:bodyPr wrap="square" lIns="0" tIns="10860" rIns="0" bIns="0">
              <a:spAutoFit/>
            </a:bodyPr>
            <a:lstStyle/>
            <a:p>
              <a:pPr marL="10860" eaLnBrk="1" hangingPunct="1">
                <a:spcBef>
                  <a:spcPts val="86"/>
                </a:spcBef>
                <a:defRPr/>
              </a:pPr>
              <a:r>
                <a:rPr sz="1800" b="1" spc="-4" dirty="0">
                  <a:latin typeface="Arial"/>
                  <a:cs typeface="Arial"/>
                </a:rPr>
                <a:t>Teach</a:t>
              </a:r>
              <a:endParaRPr sz="1800" dirty="0">
                <a:latin typeface="Arial"/>
                <a:cs typeface="Arial"/>
              </a:endParaRPr>
            </a:p>
          </p:txBody>
        </p:sp>
        <p:sp>
          <p:nvSpPr>
            <p:cNvPr id="13" name="object 13"/>
            <p:cNvSpPr txBox="1"/>
            <p:nvPr/>
          </p:nvSpPr>
          <p:spPr>
            <a:xfrm>
              <a:off x="6284280" y="2289279"/>
              <a:ext cx="1039490" cy="257187"/>
            </a:xfrm>
            <a:prstGeom prst="rect">
              <a:avLst/>
            </a:prstGeom>
          </p:spPr>
          <p:txBody>
            <a:bodyPr wrap="square" lIns="0" tIns="10860" rIns="0" bIns="0">
              <a:spAutoFit/>
            </a:bodyPr>
            <a:lstStyle/>
            <a:p>
              <a:pPr marL="10860" eaLnBrk="1" hangingPunct="1">
                <a:spcBef>
                  <a:spcPts val="86"/>
                </a:spcBef>
                <a:defRPr/>
              </a:pPr>
              <a:r>
                <a:rPr sz="1600" b="1" spc="-4" dirty="0">
                  <a:latin typeface="Arial"/>
                  <a:cs typeface="Arial"/>
                </a:rPr>
                <a:t>Course)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14" name="object 14"/>
            <p:cNvSpPr txBox="1"/>
            <p:nvPr/>
          </p:nvSpPr>
          <p:spPr>
            <a:xfrm>
              <a:off x="1763689" y="2155825"/>
              <a:ext cx="3017862" cy="511523"/>
            </a:xfrm>
            <a:prstGeom prst="rect">
              <a:avLst/>
            </a:prstGeom>
          </p:spPr>
          <p:txBody>
            <a:bodyPr wrap="square" lIns="0" tIns="11403" rIns="0" bIns="0">
              <a:spAutoFit/>
            </a:bodyPr>
            <a:lstStyle/>
            <a:p>
              <a:pPr marL="10860" eaLnBrk="1" hangingPunct="1">
                <a:spcBef>
                  <a:spcPts val="90"/>
                </a:spcBef>
                <a:defRPr/>
              </a:pPr>
              <a:r>
                <a:rPr sz="3249" i="1" spc="-94" dirty="0">
                  <a:solidFill>
                    <a:srgbClr val="FF0065"/>
                  </a:solidFill>
                  <a:latin typeface="Symbol"/>
                  <a:cs typeface="Symbol"/>
                </a:rPr>
                <a:t></a:t>
              </a:r>
              <a:r>
                <a:rPr sz="3249" i="1" spc="-94" dirty="0">
                  <a:solidFill>
                    <a:srgbClr val="FF0065"/>
                  </a:solidFill>
                  <a:latin typeface="Times New Roman"/>
                  <a:cs typeface="Times New Roman"/>
                </a:rPr>
                <a:t> </a:t>
              </a:r>
              <a:r>
                <a:rPr sz="941" b="1" spc="-4" dirty="0">
                  <a:latin typeface="Arial"/>
                  <a:cs typeface="Arial"/>
                </a:rPr>
                <a:t>T#, Tname, Salary, C#, CName </a:t>
              </a:r>
              <a:r>
                <a:rPr sz="2052" b="1" baseline="13888" dirty="0">
                  <a:latin typeface="Arial"/>
                  <a:cs typeface="Arial"/>
                </a:rPr>
                <a:t>(</a:t>
              </a:r>
              <a:r>
                <a:rPr sz="2052" b="1" spc="-391" baseline="13888" dirty="0">
                  <a:latin typeface="Arial"/>
                  <a:cs typeface="Arial"/>
                </a:rPr>
                <a:t> </a:t>
              </a:r>
              <a:r>
                <a:rPr sz="2800" b="1" spc="-6" baseline="13888" dirty="0">
                  <a:latin typeface="Arial"/>
                  <a:cs typeface="Arial"/>
                </a:rPr>
                <a:t>Teacher</a:t>
              </a:r>
              <a:endParaRPr sz="2800" baseline="13888" dirty="0">
                <a:latin typeface="Arial"/>
                <a:cs typeface="Arial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4915328" y="2375507"/>
              <a:ext cx="201613" cy="13970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 eaLnBrk="1" hangingPunct="1">
                <a:defRPr/>
              </a:pPr>
              <a:endParaRPr sz="2052"/>
            </a:p>
          </p:txBody>
        </p:sp>
      </p:grpSp>
      <p:sp>
        <p:nvSpPr>
          <p:cNvPr id="16" name="object 16"/>
          <p:cNvSpPr/>
          <p:nvPr/>
        </p:nvSpPr>
        <p:spPr>
          <a:xfrm>
            <a:off x="3427413" y="4316413"/>
            <a:ext cx="247650" cy="239712"/>
          </a:xfrm>
          <a:custGeom>
            <a:avLst/>
            <a:gdLst/>
            <a:ahLst/>
            <a:cxnLst/>
            <a:rect l="l" t="t" r="r" b="b"/>
            <a:pathLst>
              <a:path w="288925" h="279400">
                <a:moveTo>
                  <a:pt x="0" y="278891"/>
                </a:moveTo>
                <a:lnTo>
                  <a:pt x="0" y="0"/>
                </a:lnTo>
                <a:lnTo>
                  <a:pt x="288798" y="278891"/>
                </a:lnTo>
                <a:lnTo>
                  <a:pt x="288798" y="0"/>
                </a:lnTo>
                <a:lnTo>
                  <a:pt x="0" y="278891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7" name="object 17"/>
          <p:cNvSpPr/>
          <p:nvPr/>
        </p:nvSpPr>
        <p:spPr>
          <a:xfrm>
            <a:off x="3675063" y="4316413"/>
            <a:ext cx="165100" cy="0"/>
          </a:xfrm>
          <a:custGeom>
            <a:avLst/>
            <a:gdLst/>
            <a:ahLst/>
            <a:cxnLst/>
            <a:rect l="l" t="t" r="r" b="b"/>
            <a:pathLst>
              <a:path w="193675">
                <a:moveTo>
                  <a:pt x="193548" y="0"/>
                </a:moveTo>
                <a:lnTo>
                  <a:pt x="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8" name="object 18"/>
          <p:cNvSpPr/>
          <p:nvPr/>
        </p:nvSpPr>
        <p:spPr>
          <a:xfrm>
            <a:off x="3675063" y="4554538"/>
            <a:ext cx="165100" cy="0"/>
          </a:xfrm>
          <a:custGeom>
            <a:avLst/>
            <a:gdLst/>
            <a:ahLst/>
            <a:cxnLst/>
            <a:rect l="l" t="t" r="r" b="b"/>
            <a:pathLst>
              <a:path w="193675">
                <a:moveTo>
                  <a:pt x="193548" y="0"/>
                </a:moveTo>
                <a:lnTo>
                  <a:pt x="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20" name="object 20"/>
          <p:cNvSpPr/>
          <p:nvPr/>
        </p:nvSpPr>
        <p:spPr>
          <a:xfrm>
            <a:off x="6237288" y="3849688"/>
            <a:ext cx="1133475" cy="8636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21" name="灯片编号占位符 20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02E7998-F56A-45D4-984E-4E67E3C944B8}" type="slidenum">
              <a:rPr lang="en-US" altLang="zh-CN" smtClean="0"/>
              <a:pPr>
                <a:defRPr/>
              </a:pPr>
              <a:t>72</a:t>
            </a:fld>
            <a:endParaRPr lang="en-US" altLang="zh-CN"/>
          </a:p>
        </p:txBody>
      </p:sp>
      <p:sp>
        <p:nvSpPr>
          <p:cNvPr id="22" name="矩形 21"/>
          <p:cNvSpPr/>
          <p:nvPr/>
        </p:nvSpPr>
        <p:spPr>
          <a:xfrm>
            <a:off x="948831" y="703796"/>
            <a:ext cx="280878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spcBef>
                <a:spcPts val="75"/>
              </a:spcBef>
            </a:pPr>
            <a:r>
              <a:rPr lang="zh-CN" altLang="zh-CN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(2) “</a:t>
            </a:r>
            <a:r>
              <a:rPr lang="zh-CN" altLang="zh-CN" b="1" dirty="0">
                <a:solidFill>
                  <a:srgbClr val="F8F8F8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外连接</a:t>
            </a:r>
            <a:r>
              <a:rPr lang="zh-CN" altLang="zh-CN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r>
              <a:rPr lang="zh-CN" altLang="zh-CN" b="1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操作</a:t>
            </a:r>
            <a:endParaRPr lang="zh-CN" altLang="zh-CN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 animBg="1"/>
      <p:bldP spid="6" grpId="0" animBg="1"/>
      <p:bldP spid="7" grpId="0" animBg="1"/>
      <p:bldP spid="9" grpId="0" animBg="1"/>
      <p:bldP spid="16" grpId="0" animBg="1"/>
      <p:bldP spid="17" grpId="0" animBg="1"/>
      <p:bldP spid="18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638425" y="5062538"/>
            <a:ext cx="412750" cy="485775"/>
          </a:xfrm>
          <a:prstGeom prst="rect">
            <a:avLst/>
          </a:prstGeom>
        </p:spPr>
        <p:txBody>
          <a:bodyPr lIns="0" tIns="10860" rIns="0" bIns="0">
            <a:spAutoFit/>
          </a:bodyPr>
          <a:lstStyle>
            <a:lvl1pPr marL="952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88"/>
              </a:spcBef>
            </a:pPr>
            <a:r>
              <a:rPr lang="zh-CN" altLang="zh-CN" sz="3000">
                <a:latin typeface="新宋体" panose="02010609030101010101" pitchFamily="49" charset="-122"/>
                <a:ea typeface="新宋体" panose="02010609030101010101" pitchFamily="49" charset="-122"/>
              </a:rPr>
              <a:t>＝</a:t>
            </a:r>
          </a:p>
        </p:txBody>
      </p:sp>
      <p:sp>
        <p:nvSpPr>
          <p:cNvPr id="4" name="object 4"/>
          <p:cNvSpPr/>
          <p:nvPr/>
        </p:nvSpPr>
        <p:spPr>
          <a:xfrm>
            <a:off x="1392238" y="3654425"/>
            <a:ext cx="1687512" cy="10175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5" name="object 5"/>
          <p:cNvSpPr/>
          <p:nvPr/>
        </p:nvSpPr>
        <p:spPr>
          <a:xfrm>
            <a:off x="5689600" y="4092575"/>
            <a:ext cx="195263" cy="195263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0" y="0"/>
                </a:lnTo>
                <a:lnTo>
                  <a:pt x="228600" y="228600"/>
                </a:lnTo>
                <a:lnTo>
                  <a:pt x="228600" y="0"/>
                </a:lnTo>
                <a:lnTo>
                  <a:pt x="0" y="22860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6" name="object 6"/>
          <p:cNvSpPr/>
          <p:nvPr/>
        </p:nvSpPr>
        <p:spPr>
          <a:xfrm>
            <a:off x="5884863" y="4092575"/>
            <a:ext cx="130175" cy="0"/>
          </a:xfrm>
          <a:custGeom>
            <a:avLst/>
            <a:gdLst/>
            <a:ahLst/>
            <a:cxnLst/>
            <a:rect l="l" t="t" r="r" b="b"/>
            <a:pathLst>
              <a:path w="152400">
                <a:moveTo>
                  <a:pt x="152400" y="0"/>
                </a:moveTo>
                <a:lnTo>
                  <a:pt x="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7" name="object 7"/>
          <p:cNvSpPr/>
          <p:nvPr/>
        </p:nvSpPr>
        <p:spPr>
          <a:xfrm>
            <a:off x="5884863" y="4287838"/>
            <a:ext cx="130175" cy="0"/>
          </a:xfrm>
          <a:custGeom>
            <a:avLst/>
            <a:gdLst/>
            <a:ahLst/>
            <a:cxnLst/>
            <a:rect l="l" t="t" r="r" b="b"/>
            <a:pathLst>
              <a:path w="152400">
                <a:moveTo>
                  <a:pt x="152400" y="0"/>
                </a:moveTo>
                <a:lnTo>
                  <a:pt x="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8" name="object 8"/>
          <p:cNvSpPr/>
          <p:nvPr/>
        </p:nvSpPr>
        <p:spPr>
          <a:xfrm>
            <a:off x="5559425" y="4092575"/>
            <a:ext cx="130175" cy="0"/>
          </a:xfrm>
          <a:custGeom>
            <a:avLst/>
            <a:gdLst/>
            <a:ahLst/>
            <a:cxnLst/>
            <a:rect l="l" t="t" r="r" b="b"/>
            <a:pathLst>
              <a:path w="152400">
                <a:moveTo>
                  <a:pt x="152400" y="0"/>
                </a:moveTo>
                <a:lnTo>
                  <a:pt x="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9" name="object 9"/>
          <p:cNvSpPr/>
          <p:nvPr/>
        </p:nvSpPr>
        <p:spPr>
          <a:xfrm>
            <a:off x="5559425" y="4287838"/>
            <a:ext cx="130175" cy="0"/>
          </a:xfrm>
          <a:custGeom>
            <a:avLst/>
            <a:gdLst/>
            <a:ahLst/>
            <a:cxnLst/>
            <a:rect l="l" t="t" r="r" b="b"/>
            <a:pathLst>
              <a:path w="152400">
                <a:moveTo>
                  <a:pt x="152400" y="0"/>
                </a:moveTo>
                <a:lnTo>
                  <a:pt x="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0" name="object 10"/>
          <p:cNvSpPr/>
          <p:nvPr/>
        </p:nvSpPr>
        <p:spPr>
          <a:xfrm>
            <a:off x="3529013" y="4092575"/>
            <a:ext cx="195262" cy="195263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0" y="0"/>
                </a:lnTo>
                <a:lnTo>
                  <a:pt x="228600" y="228600"/>
                </a:lnTo>
                <a:lnTo>
                  <a:pt x="228600" y="0"/>
                </a:lnTo>
                <a:lnTo>
                  <a:pt x="0" y="22860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1" name="object 11"/>
          <p:cNvSpPr/>
          <p:nvPr/>
        </p:nvSpPr>
        <p:spPr>
          <a:xfrm>
            <a:off x="3724275" y="4092575"/>
            <a:ext cx="130175" cy="0"/>
          </a:xfrm>
          <a:custGeom>
            <a:avLst/>
            <a:gdLst/>
            <a:ahLst/>
            <a:cxnLst/>
            <a:rect l="l" t="t" r="r" b="b"/>
            <a:pathLst>
              <a:path w="152400">
                <a:moveTo>
                  <a:pt x="152400" y="0"/>
                </a:moveTo>
                <a:lnTo>
                  <a:pt x="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2" name="object 12"/>
          <p:cNvSpPr/>
          <p:nvPr/>
        </p:nvSpPr>
        <p:spPr>
          <a:xfrm>
            <a:off x="3724275" y="4287838"/>
            <a:ext cx="130175" cy="0"/>
          </a:xfrm>
          <a:custGeom>
            <a:avLst/>
            <a:gdLst/>
            <a:ahLst/>
            <a:cxnLst/>
            <a:rect l="l" t="t" r="r" b="b"/>
            <a:pathLst>
              <a:path w="152400">
                <a:moveTo>
                  <a:pt x="152400" y="0"/>
                </a:moveTo>
                <a:lnTo>
                  <a:pt x="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3" name="object 13"/>
          <p:cNvSpPr/>
          <p:nvPr/>
        </p:nvSpPr>
        <p:spPr>
          <a:xfrm>
            <a:off x="3397250" y="4092575"/>
            <a:ext cx="131763" cy="0"/>
          </a:xfrm>
          <a:custGeom>
            <a:avLst/>
            <a:gdLst/>
            <a:ahLst/>
            <a:cxnLst/>
            <a:rect l="l" t="t" r="r" b="b"/>
            <a:pathLst>
              <a:path w="152400">
                <a:moveTo>
                  <a:pt x="152400" y="0"/>
                </a:moveTo>
                <a:lnTo>
                  <a:pt x="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4" name="object 14"/>
          <p:cNvSpPr/>
          <p:nvPr/>
        </p:nvSpPr>
        <p:spPr>
          <a:xfrm>
            <a:off x="3397250" y="4287838"/>
            <a:ext cx="131763" cy="0"/>
          </a:xfrm>
          <a:custGeom>
            <a:avLst/>
            <a:gdLst/>
            <a:ahLst/>
            <a:cxnLst/>
            <a:rect l="l" t="t" r="r" b="b"/>
            <a:pathLst>
              <a:path w="152400">
                <a:moveTo>
                  <a:pt x="152400" y="0"/>
                </a:moveTo>
                <a:lnTo>
                  <a:pt x="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5" name="object 15"/>
          <p:cNvSpPr/>
          <p:nvPr/>
        </p:nvSpPr>
        <p:spPr>
          <a:xfrm>
            <a:off x="4114800" y="3654425"/>
            <a:ext cx="1108075" cy="8540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6" name="object 16"/>
          <p:cNvSpPr/>
          <p:nvPr/>
        </p:nvSpPr>
        <p:spPr>
          <a:xfrm>
            <a:off x="3236913" y="4803775"/>
            <a:ext cx="2843212" cy="10668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grpSp>
        <p:nvGrpSpPr>
          <p:cNvPr id="2" name="组合 1"/>
          <p:cNvGrpSpPr/>
          <p:nvPr/>
        </p:nvGrpSpPr>
        <p:grpSpPr>
          <a:xfrm>
            <a:off x="1392238" y="2413769"/>
            <a:ext cx="5556025" cy="511523"/>
            <a:chOff x="1392238" y="2413769"/>
            <a:chExt cx="5556025" cy="511523"/>
          </a:xfrm>
        </p:grpSpPr>
        <p:sp>
          <p:nvSpPr>
            <p:cNvPr id="17" name="object 17"/>
            <p:cNvSpPr txBox="1"/>
            <p:nvPr/>
          </p:nvSpPr>
          <p:spPr>
            <a:xfrm>
              <a:off x="4787734" y="2563259"/>
              <a:ext cx="684064" cy="287965"/>
            </a:xfrm>
            <a:prstGeom prst="rect">
              <a:avLst/>
            </a:prstGeom>
          </p:spPr>
          <p:txBody>
            <a:bodyPr wrap="square" lIns="0" tIns="10860" rIns="0" bIns="0">
              <a:spAutoFit/>
            </a:bodyPr>
            <a:lstStyle/>
            <a:p>
              <a:pPr marL="10860" eaLnBrk="1" hangingPunct="1">
                <a:spcBef>
                  <a:spcPts val="86"/>
                </a:spcBef>
                <a:defRPr/>
              </a:pPr>
              <a:r>
                <a:rPr sz="1800" b="1" dirty="0">
                  <a:latin typeface="Arial"/>
                  <a:cs typeface="Arial"/>
                </a:rPr>
                <a:t>Teach</a:t>
              </a:r>
              <a:endParaRPr sz="1800" dirty="0">
                <a:latin typeface="Arial"/>
                <a:cs typeface="Arial"/>
              </a:endParaRPr>
            </a:p>
          </p:txBody>
        </p:sp>
        <p:sp>
          <p:nvSpPr>
            <p:cNvPr id="18" name="object 18"/>
            <p:cNvSpPr txBox="1"/>
            <p:nvPr/>
          </p:nvSpPr>
          <p:spPr>
            <a:xfrm>
              <a:off x="5858696" y="2577007"/>
              <a:ext cx="1089567" cy="287965"/>
            </a:xfrm>
            <a:prstGeom prst="rect">
              <a:avLst/>
            </a:prstGeom>
          </p:spPr>
          <p:txBody>
            <a:bodyPr wrap="square" lIns="0" tIns="10860" rIns="0" bIns="0">
              <a:spAutoFit/>
            </a:bodyPr>
            <a:lstStyle/>
            <a:p>
              <a:pPr marL="10860" eaLnBrk="1" hangingPunct="1">
                <a:spcBef>
                  <a:spcPts val="86"/>
                </a:spcBef>
                <a:defRPr/>
              </a:pPr>
              <a:r>
                <a:rPr sz="1800" b="1" dirty="0">
                  <a:latin typeface="Arial"/>
                  <a:cs typeface="Arial"/>
                </a:rPr>
                <a:t>Course)</a:t>
              </a:r>
              <a:endParaRPr sz="1800" dirty="0">
                <a:latin typeface="Arial"/>
                <a:cs typeface="Arial"/>
              </a:endParaRPr>
            </a:p>
          </p:txBody>
        </p:sp>
        <p:sp>
          <p:nvSpPr>
            <p:cNvPr id="19" name="object 19"/>
            <p:cNvSpPr txBox="1"/>
            <p:nvPr/>
          </p:nvSpPr>
          <p:spPr>
            <a:xfrm>
              <a:off x="1392238" y="2413769"/>
              <a:ext cx="3136875" cy="511523"/>
            </a:xfrm>
            <a:prstGeom prst="rect">
              <a:avLst/>
            </a:prstGeom>
          </p:spPr>
          <p:txBody>
            <a:bodyPr wrap="square" lIns="0" tIns="11403" rIns="0" bIns="0">
              <a:spAutoFit/>
            </a:bodyPr>
            <a:lstStyle/>
            <a:p>
              <a:pPr marL="10860" eaLnBrk="1" hangingPunct="1">
                <a:spcBef>
                  <a:spcPts val="90"/>
                </a:spcBef>
                <a:defRPr/>
              </a:pPr>
              <a:r>
                <a:rPr sz="3249" i="1" spc="-94" dirty="0">
                  <a:solidFill>
                    <a:srgbClr val="FF0065"/>
                  </a:solidFill>
                  <a:latin typeface="Symbol"/>
                  <a:cs typeface="Symbol"/>
                </a:rPr>
                <a:t></a:t>
              </a:r>
              <a:r>
                <a:rPr sz="3249" i="1" spc="-620" dirty="0">
                  <a:solidFill>
                    <a:srgbClr val="FF0065"/>
                  </a:solidFill>
                  <a:latin typeface="Times New Roman"/>
                  <a:cs typeface="Times New Roman"/>
                </a:rPr>
                <a:t> </a:t>
              </a:r>
              <a:r>
                <a:rPr sz="941" b="1" spc="-4" dirty="0">
                  <a:latin typeface="Arial"/>
                  <a:cs typeface="Arial"/>
                </a:rPr>
                <a:t>T#, Tname, Salary, C#, CName </a:t>
              </a:r>
              <a:r>
                <a:rPr sz="2052" b="1" baseline="13888" dirty="0">
                  <a:latin typeface="Arial"/>
                  <a:cs typeface="Arial"/>
                </a:rPr>
                <a:t>(</a:t>
              </a:r>
              <a:r>
                <a:rPr b="1" baseline="13888" dirty="0">
                  <a:latin typeface="Arial"/>
                  <a:cs typeface="Arial"/>
                </a:rPr>
                <a:t>Teacher</a:t>
              </a:r>
              <a:endParaRPr baseline="13888" dirty="0">
                <a:latin typeface="Arial"/>
                <a:cs typeface="Arial"/>
              </a:endParaRPr>
            </a:p>
          </p:txBody>
        </p:sp>
        <p:sp>
          <p:nvSpPr>
            <p:cNvPr id="20" name="object 20"/>
            <p:cNvSpPr/>
            <p:nvPr/>
          </p:nvSpPr>
          <p:spPr>
            <a:xfrm>
              <a:off x="4352900" y="2624507"/>
              <a:ext cx="274638" cy="17145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 eaLnBrk="1" hangingPunct="1">
                <a:defRPr/>
              </a:pPr>
              <a:endParaRPr sz="2052"/>
            </a:p>
          </p:txBody>
        </p:sp>
        <p:sp>
          <p:nvSpPr>
            <p:cNvPr id="21" name="object 21"/>
            <p:cNvSpPr/>
            <p:nvPr/>
          </p:nvSpPr>
          <p:spPr>
            <a:xfrm>
              <a:off x="5500663" y="2647131"/>
              <a:ext cx="274637" cy="17145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 eaLnBrk="1" hangingPunct="1">
                <a:defRPr/>
              </a:pPr>
              <a:endParaRPr sz="2052"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947274" y="605917"/>
            <a:ext cx="4808537" cy="555496"/>
          </a:xfrm>
          <a:prstGeom prst="rect">
            <a:avLst/>
          </a:prstGeom>
        </p:spPr>
        <p:txBody>
          <a:bodyPr wrap="square" lIns="0" tIns="62444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</a:pPr>
            <a:r>
              <a:rPr lang="zh-CN" altLang="zh-CN" sz="32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(2) “</a:t>
            </a:r>
            <a:r>
              <a:rPr lang="zh-CN" altLang="zh-CN" sz="3200" b="1" dirty="0">
                <a:solidFill>
                  <a:srgbClr val="F8F8F8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外连接</a:t>
            </a:r>
            <a:r>
              <a:rPr lang="zh-CN" altLang="zh-CN" sz="32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r>
              <a:rPr lang="zh-CN" altLang="zh-CN" sz="3200" b="1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操作</a:t>
            </a:r>
            <a:endParaRPr lang="zh-CN" altLang="zh-CN" sz="32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34162" y="1378585"/>
            <a:ext cx="6198078" cy="995345"/>
          </a:xfrm>
          <a:prstGeom prst="rect">
            <a:avLst/>
          </a:prstGeom>
        </p:spPr>
        <p:txBody>
          <a:bodyPr wrap="square" lIns="0" tIns="144979" rIns="0" bIns="0">
            <a:spAutoFit/>
          </a:bodyPr>
          <a:lstStyle>
            <a:lvl1pPr marL="74613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1138"/>
              </a:spcBef>
            </a:pPr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外连接(Outer-Join)操作示例</a:t>
            </a:r>
            <a:endParaRPr lang="zh-CN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spcBef>
                <a:spcPts val="1050"/>
              </a:spcBef>
              <a:buFont typeface="Wingdings" panose="05000000000000000000" pitchFamily="2" charset="2"/>
              <a:buChar char=""/>
            </a:pPr>
            <a:r>
              <a:rPr lang="zh-CN" altLang="zh-CN" sz="22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查询所有老师和所有课程的信息</a:t>
            </a:r>
            <a:endParaRPr lang="zh-CN" altLang="zh-CN" sz="22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6213475" y="3638550"/>
            <a:ext cx="1131888" cy="86201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25" name="灯片编号占位符 2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02E7998-F56A-45D4-984E-4E67E3C944B8}" type="slidenum">
              <a:rPr lang="en-US" altLang="zh-CN" smtClean="0"/>
              <a:pPr>
                <a:defRPr/>
              </a:pPr>
              <a:t>73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6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2071688" y="1363663"/>
            <a:ext cx="1219200" cy="936625"/>
          </a:xfrm>
          <a:custGeom>
            <a:avLst/>
            <a:gdLst/>
            <a:ahLst/>
            <a:cxnLst/>
            <a:rect l="l" t="t" r="r" b="b"/>
            <a:pathLst>
              <a:path w="1426210" h="1096010">
                <a:moveTo>
                  <a:pt x="1425702" y="547877"/>
                </a:moveTo>
                <a:lnTo>
                  <a:pt x="1423750" y="506998"/>
                </a:lnTo>
                <a:lnTo>
                  <a:pt x="1417987" y="466932"/>
                </a:lnTo>
                <a:lnTo>
                  <a:pt x="1408549" y="427787"/>
                </a:lnTo>
                <a:lnTo>
                  <a:pt x="1395574" y="389669"/>
                </a:lnTo>
                <a:lnTo>
                  <a:pt x="1379198" y="352683"/>
                </a:lnTo>
                <a:lnTo>
                  <a:pt x="1359559" y="316937"/>
                </a:lnTo>
                <a:lnTo>
                  <a:pt x="1336792" y="282535"/>
                </a:lnTo>
                <a:lnTo>
                  <a:pt x="1311036" y="249583"/>
                </a:lnTo>
                <a:lnTo>
                  <a:pt x="1282427" y="218189"/>
                </a:lnTo>
                <a:lnTo>
                  <a:pt x="1251103" y="188458"/>
                </a:lnTo>
                <a:lnTo>
                  <a:pt x="1217199" y="160496"/>
                </a:lnTo>
                <a:lnTo>
                  <a:pt x="1180854" y="134409"/>
                </a:lnTo>
                <a:lnTo>
                  <a:pt x="1142204" y="110303"/>
                </a:lnTo>
                <a:lnTo>
                  <a:pt x="1101385" y="88284"/>
                </a:lnTo>
                <a:lnTo>
                  <a:pt x="1058536" y="68458"/>
                </a:lnTo>
                <a:lnTo>
                  <a:pt x="1013793" y="50932"/>
                </a:lnTo>
                <a:lnTo>
                  <a:pt x="967293" y="35811"/>
                </a:lnTo>
                <a:lnTo>
                  <a:pt x="919173" y="23202"/>
                </a:lnTo>
                <a:lnTo>
                  <a:pt x="869570" y="13210"/>
                </a:lnTo>
                <a:lnTo>
                  <a:pt x="818621" y="5941"/>
                </a:lnTo>
                <a:lnTo>
                  <a:pt x="766462" y="1503"/>
                </a:lnTo>
                <a:lnTo>
                  <a:pt x="713232" y="0"/>
                </a:lnTo>
                <a:lnTo>
                  <a:pt x="659856" y="1515"/>
                </a:lnTo>
                <a:lnTo>
                  <a:pt x="607816" y="5943"/>
                </a:lnTo>
                <a:lnTo>
                  <a:pt x="556855" y="13210"/>
                </a:lnTo>
                <a:lnTo>
                  <a:pt x="507224" y="23202"/>
                </a:lnTo>
                <a:lnTo>
                  <a:pt x="459070" y="35811"/>
                </a:lnTo>
                <a:lnTo>
                  <a:pt x="412531" y="50932"/>
                </a:lnTo>
                <a:lnTo>
                  <a:pt x="367744" y="68458"/>
                </a:lnTo>
                <a:lnTo>
                  <a:pt x="324849" y="88284"/>
                </a:lnTo>
                <a:lnTo>
                  <a:pt x="283981" y="110303"/>
                </a:lnTo>
                <a:lnTo>
                  <a:pt x="245280" y="134409"/>
                </a:lnTo>
                <a:lnTo>
                  <a:pt x="208883" y="160496"/>
                </a:lnTo>
                <a:lnTo>
                  <a:pt x="174927" y="188458"/>
                </a:lnTo>
                <a:lnTo>
                  <a:pt x="143552" y="218189"/>
                </a:lnTo>
                <a:lnTo>
                  <a:pt x="114894" y="249583"/>
                </a:lnTo>
                <a:lnTo>
                  <a:pt x="89091" y="282535"/>
                </a:lnTo>
                <a:lnTo>
                  <a:pt x="66281" y="316937"/>
                </a:lnTo>
                <a:lnTo>
                  <a:pt x="46603" y="352683"/>
                </a:lnTo>
                <a:lnTo>
                  <a:pt x="30193" y="389669"/>
                </a:lnTo>
                <a:lnTo>
                  <a:pt x="17190" y="427787"/>
                </a:lnTo>
                <a:lnTo>
                  <a:pt x="7732" y="466932"/>
                </a:lnTo>
                <a:lnTo>
                  <a:pt x="1956" y="506998"/>
                </a:lnTo>
                <a:lnTo>
                  <a:pt x="0" y="547877"/>
                </a:lnTo>
                <a:lnTo>
                  <a:pt x="1956" y="588757"/>
                </a:lnTo>
                <a:lnTo>
                  <a:pt x="7732" y="628823"/>
                </a:lnTo>
                <a:lnTo>
                  <a:pt x="17190" y="667968"/>
                </a:lnTo>
                <a:lnTo>
                  <a:pt x="30193" y="706086"/>
                </a:lnTo>
                <a:lnTo>
                  <a:pt x="46603" y="743072"/>
                </a:lnTo>
                <a:lnTo>
                  <a:pt x="66281" y="778818"/>
                </a:lnTo>
                <a:lnTo>
                  <a:pt x="89091" y="813220"/>
                </a:lnTo>
                <a:lnTo>
                  <a:pt x="114894" y="846172"/>
                </a:lnTo>
                <a:lnTo>
                  <a:pt x="126492" y="858877"/>
                </a:lnTo>
                <a:lnTo>
                  <a:pt x="126492" y="547877"/>
                </a:lnTo>
                <a:lnTo>
                  <a:pt x="128891" y="506933"/>
                </a:lnTo>
                <a:lnTo>
                  <a:pt x="135951" y="467008"/>
                </a:lnTo>
                <a:lnTo>
                  <a:pt x="147464" y="428265"/>
                </a:lnTo>
                <a:lnTo>
                  <a:pt x="163222" y="390862"/>
                </a:lnTo>
                <a:lnTo>
                  <a:pt x="183018" y="354959"/>
                </a:lnTo>
                <a:lnTo>
                  <a:pt x="206643" y="320717"/>
                </a:lnTo>
                <a:lnTo>
                  <a:pt x="233889" y="288295"/>
                </a:lnTo>
                <a:lnTo>
                  <a:pt x="264550" y="257853"/>
                </a:lnTo>
                <a:lnTo>
                  <a:pt x="298418" y="229552"/>
                </a:lnTo>
                <a:lnTo>
                  <a:pt x="335284" y="203551"/>
                </a:lnTo>
                <a:lnTo>
                  <a:pt x="374940" y="180009"/>
                </a:lnTo>
                <a:lnTo>
                  <a:pt x="417180" y="159088"/>
                </a:lnTo>
                <a:lnTo>
                  <a:pt x="461796" y="140947"/>
                </a:lnTo>
                <a:lnTo>
                  <a:pt x="508579" y="125745"/>
                </a:lnTo>
                <a:lnTo>
                  <a:pt x="557321" y="113643"/>
                </a:lnTo>
                <a:lnTo>
                  <a:pt x="607825" y="104800"/>
                </a:lnTo>
                <a:lnTo>
                  <a:pt x="659996" y="99374"/>
                </a:lnTo>
                <a:lnTo>
                  <a:pt x="713232" y="97535"/>
                </a:lnTo>
                <a:lnTo>
                  <a:pt x="766607" y="99379"/>
                </a:lnTo>
                <a:lnTo>
                  <a:pt x="818647" y="104801"/>
                </a:lnTo>
                <a:lnTo>
                  <a:pt x="869142" y="113643"/>
                </a:lnTo>
                <a:lnTo>
                  <a:pt x="917884" y="125745"/>
                </a:lnTo>
                <a:lnTo>
                  <a:pt x="964667" y="140947"/>
                </a:lnTo>
                <a:lnTo>
                  <a:pt x="1009283" y="159088"/>
                </a:lnTo>
                <a:lnTo>
                  <a:pt x="1051523" y="180009"/>
                </a:lnTo>
                <a:lnTo>
                  <a:pt x="1091179" y="203551"/>
                </a:lnTo>
                <a:lnTo>
                  <a:pt x="1128045" y="229552"/>
                </a:lnTo>
                <a:lnTo>
                  <a:pt x="1161913" y="257853"/>
                </a:lnTo>
                <a:lnTo>
                  <a:pt x="1192574" y="288295"/>
                </a:lnTo>
                <a:lnTo>
                  <a:pt x="1219820" y="320717"/>
                </a:lnTo>
                <a:lnTo>
                  <a:pt x="1243445" y="354959"/>
                </a:lnTo>
                <a:lnTo>
                  <a:pt x="1263241" y="390862"/>
                </a:lnTo>
                <a:lnTo>
                  <a:pt x="1278999" y="428265"/>
                </a:lnTo>
                <a:lnTo>
                  <a:pt x="1290512" y="467008"/>
                </a:lnTo>
                <a:lnTo>
                  <a:pt x="1297572" y="506933"/>
                </a:lnTo>
                <a:lnTo>
                  <a:pt x="1299972" y="547877"/>
                </a:lnTo>
                <a:lnTo>
                  <a:pt x="1299972" y="858314"/>
                </a:lnTo>
                <a:lnTo>
                  <a:pt x="1311036" y="846172"/>
                </a:lnTo>
                <a:lnTo>
                  <a:pt x="1336792" y="813220"/>
                </a:lnTo>
                <a:lnTo>
                  <a:pt x="1359559" y="778818"/>
                </a:lnTo>
                <a:lnTo>
                  <a:pt x="1379198" y="743072"/>
                </a:lnTo>
                <a:lnTo>
                  <a:pt x="1395574" y="706086"/>
                </a:lnTo>
                <a:lnTo>
                  <a:pt x="1408549" y="667968"/>
                </a:lnTo>
                <a:lnTo>
                  <a:pt x="1417987" y="628823"/>
                </a:lnTo>
                <a:lnTo>
                  <a:pt x="1423750" y="588757"/>
                </a:lnTo>
                <a:lnTo>
                  <a:pt x="1425702" y="547877"/>
                </a:lnTo>
                <a:close/>
              </a:path>
              <a:path w="1426210" h="1096010">
                <a:moveTo>
                  <a:pt x="1299972" y="858314"/>
                </a:moveTo>
                <a:lnTo>
                  <a:pt x="1299972" y="547877"/>
                </a:lnTo>
                <a:lnTo>
                  <a:pt x="1297572" y="588943"/>
                </a:lnTo>
                <a:lnTo>
                  <a:pt x="1290512" y="628974"/>
                </a:lnTo>
                <a:lnTo>
                  <a:pt x="1278999" y="667811"/>
                </a:lnTo>
                <a:lnTo>
                  <a:pt x="1263241" y="705297"/>
                </a:lnTo>
                <a:lnTo>
                  <a:pt x="1243445" y="741271"/>
                </a:lnTo>
                <a:lnTo>
                  <a:pt x="1219820" y="775574"/>
                </a:lnTo>
                <a:lnTo>
                  <a:pt x="1192574" y="808048"/>
                </a:lnTo>
                <a:lnTo>
                  <a:pt x="1161913" y="838533"/>
                </a:lnTo>
                <a:lnTo>
                  <a:pt x="1128045" y="866870"/>
                </a:lnTo>
                <a:lnTo>
                  <a:pt x="1091179" y="892899"/>
                </a:lnTo>
                <a:lnTo>
                  <a:pt x="1051523" y="916463"/>
                </a:lnTo>
                <a:lnTo>
                  <a:pt x="1009283" y="937401"/>
                </a:lnTo>
                <a:lnTo>
                  <a:pt x="964667" y="955554"/>
                </a:lnTo>
                <a:lnTo>
                  <a:pt x="917884" y="970763"/>
                </a:lnTo>
                <a:lnTo>
                  <a:pt x="869142" y="982870"/>
                </a:lnTo>
                <a:lnTo>
                  <a:pt x="818621" y="991718"/>
                </a:lnTo>
                <a:lnTo>
                  <a:pt x="766462" y="997143"/>
                </a:lnTo>
                <a:lnTo>
                  <a:pt x="713232" y="998982"/>
                </a:lnTo>
                <a:lnTo>
                  <a:pt x="659856" y="997138"/>
                </a:lnTo>
                <a:lnTo>
                  <a:pt x="607816" y="991715"/>
                </a:lnTo>
                <a:lnTo>
                  <a:pt x="557321" y="982870"/>
                </a:lnTo>
                <a:lnTo>
                  <a:pt x="508579" y="970763"/>
                </a:lnTo>
                <a:lnTo>
                  <a:pt x="461796" y="955554"/>
                </a:lnTo>
                <a:lnTo>
                  <a:pt x="417180" y="937401"/>
                </a:lnTo>
                <a:lnTo>
                  <a:pt x="374940" y="916463"/>
                </a:lnTo>
                <a:lnTo>
                  <a:pt x="335284" y="892899"/>
                </a:lnTo>
                <a:lnTo>
                  <a:pt x="298418" y="866870"/>
                </a:lnTo>
                <a:lnTo>
                  <a:pt x="264550" y="838533"/>
                </a:lnTo>
                <a:lnTo>
                  <a:pt x="233889" y="808048"/>
                </a:lnTo>
                <a:lnTo>
                  <a:pt x="206643" y="775574"/>
                </a:lnTo>
                <a:lnTo>
                  <a:pt x="183018" y="741271"/>
                </a:lnTo>
                <a:lnTo>
                  <a:pt x="163222" y="705297"/>
                </a:lnTo>
                <a:lnTo>
                  <a:pt x="147464" y="667811"/>
                </a:lnTo>
                <a:lnTo>
                  <a:pt x="135951" y="628974"/>
                </a:lnTo>
                <a:lnTo>
                  <a:pt x="128891" y="588943"/>
                </a:lnTo>
                <a:lnTo>
                  <a:pt x="126492" y="547877"/>
                </a:lnTo>
                <a:lnTo>
                  <a:pt x="126492" y="858877"/>
                </a:lnTo>
                <a:lnTo>
                  <a:pt x="174927" y="907297"/>
                </a:lnTo>
                <a:lnTo>
                  <a:pt x="208883" y="935259"/>
                </a:lnTo>
                <a:lnTo>
                  <a:pt x="245280" y="961346"/>
                </a:lnTo>
                <a:lnTo>
                  <a:pt x="283981" y="985452"/>
                </a:lnTo>
                <a:lnTo>
                  <a:pt x="324849" y="1007471"/>
                </a:lnTo>
                <a:lnTo>
                  <a:pt x="367744" y="1027297"/>
                </a:lnTo>
                <a:lnTo>
                  <a:pt x="412531" y="1044823"/>
                </a:lnTo>
                <a:lnTo>
                  <a:pt x="459070" y="1059944"/>
                </a:lnTo>
                <a:lnTo>
                  <a:pt x="507224" y="1072553"/>
                </a:lnTo>
                <a:lnTo>
                  <a:pt x="556855" y="1082545"/>
                </a:lnTo>
                <a:lnTo>
                  <a:pt x="607825" y="1089814"/>
                </a:lnTo>
                <a:lnTo>
                  <a:pt x="659996" y="1094252"/>
                </a:lnTo>
                <a:lnTo>
                  <a:pt x="713232" y="1095755"/>
                </a:lnTo>
                <a:lnTo>
                  <a:pt x="766607" y="1094240"/>
                </a:lnTo>
                <a:lnTo>
                  <a:pt x="818647" y="1089810"/>
                </a:lnTo>
                <a:lnTo>
                  <a:pt x="869570" y="1082545"/>
                </a:lnTo>
                <a:lnTo>
                  <a:pt x="919173" y="1072553"/>
                </a:lnTo>
                <a:lnTo>
                  <a:pt x="967293" y="1059944"/>
                </a:lnTo>
                <a:lnTo>
                  <a:pt x="1013793" y="1044823"/>
                </a:lnTo>
                <a:lnTo>
                  <a:pt x="1058536" y="1027297"/>
                </a:lnTo>
                <a:lnTo>
                  <a:pt x="1101385" y="1007471"/>
                </a:lnTo>
                <a:lnTo>
                  <a:pt x="1142204" y="985452"/>
                </a:lnTo>
                <a:lnTo>
                  <a:pt x="1180854" y="961346"/>
                </a:lnTo>
                <a:lnTo>
                  <a:pt x="1217199" y="935259"/>
                </a:lnTo>
                <a:lnTo>
                  <a:pt x="1251103" y="907297"/>
                </a:lnTo>
                <a:lnTo>
                  <a:pt x="1282427" y="877566"/>
                </a:lnTo>
                <a:lnTo>
                  <a:pt x="1299972" y="858314"/>
                </a:lnTo>
                <a:close/>
              </a:path>
            </a:pathLst>
          </a:custGeom>
          <a:solidFill>
            <a:srgbClr val="B90000"/>
          </a:solid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6" name="object 6"/>
          <p:cNvSpPr/>
          <p:nvPr/>
        </p:nvSpPr>
        <p:spPr>
          <a:xfrm>
            <a:off x="2171700" y="1439863"/>
            <a:ext cx="1019175" cy="784225"/>
          </a:xfrm>
          <a:custGeom>
            <a:avLst/>
            <a:gdLst/>
            <a:ahLst/>
            <a:cxnLst/>
            <a:rect l="l" t="t" r="r" b="b"/>
            <a:pathLst>
              <a:path w="1190625" h="916305">
                <a:moveTo>
                  <a:pt x="1190243" y="457962"/>
                </a:moveTo>
                <a:lnTo>
                  <a:pt x="1187809" y="416269"/>
                </a:lnTo>
                <a:lnTo>
                  <a:pt x="1180647" y="375627"/>
                </a:lnTo>
                <a:lnTo>
                  <a:pt x="1168967" y="336197"/>
                </a:lnTo>
                <a:lnTo>
                  <a:pt x="1152982" y="298140"/>
                </a:lnTo>
                <a:lnTo>
                  <a:pt x="1132901" y="261618"/>
                </a:lnTo>
                <a:lnTo>
                  <a:pt x="1108935" y="226793"/>
                </a:lnTo>
                <a:lnTo>
                  <a:pt x="1081296" y="193826"/>
                </a:lnTo>
                <a:lnTo>
                  <a:pt x="1050194" y="162878"/>
                </a:lnTo>
                <a:lnTo>
                  <a:pt x="1015841" y="134112"/>
                </a:lnTo>
                <a:lnTo>
                  <a:pt x="978446" y="107687"/>
                </a:lnTo>
                <a:lnTo>
                  <a:pt x="938222" y="83767"/>
                </a:lnTo>
                <a:lnTo>
                  <a:pt x="895378" y="62512"/>
                </a:lnTo>
                <a:lnTo>
                  <a:pt x="850126" y="44084"/>
                </a:lnTo>
                <a:lnTo>
                  <a:pt x="802676" y="28644"/>
                </a:lnTo>
                <a:lnTo>
                  <a:pt x="753240" y="16354"/>
                </a:lnTo>
                <a:lnTo>
                  <a:pt x="702028" y="7376"/>
                </a:lnTo>
                <a:lnTo>
                  <a:pt x="649252" y="1871"/>
                </a:lnTo>
                <a:lnTo>
                  <a:pt x="595121" y="0"/>
                </a:lnTo>
                <a:lnTo>
                  <a:pt x="540878" y="1871"/>
                </a:lnTo>
                <a:lnTo>
                  <a:pt x="488014" y="7376"/>
                </a:lnTo>
                <a:lnTo>
                  <a:pt x="436738" y="16354"/>
                </a:lnTo>
                <a:lnTo>
                  <a:pt x="387260" y="28644"/>
                </a:lnTo>
                <a:lnTo>
                  <a:pt x="339786" y="44084"/>
                </a:lnTo>
                <a:lnTo>
                  <a:pt x="294527" y="62512"/>
                </a:lnTo>
                <a:lnTo>
                  <a:pt x="251689" y="83767"/>
                </a:lnTo>
                <a:lnTo>
                  <a:pt x="211483" y="107687"/>
                </a:lnTo>
                <a:lnTo>
                  <a:pt x="174116" y="134112"/>
                </a:lnTo>
                <a:lnTo>
                  <a:pt x="139798" y="162878"/>
                </a:lnTo>
                <a:lnTo>
                  <a:pt x="108736" y="193826"/>
                </a:lnTo>
                <a:lnTo>
                  <a:pt x="81138" y="226793"/>
                </a:lnTo>
                <a:lnTo>
                  <a:pt x="57215" y="261618"/>
                </a:lnTo>
                <a:lnTo>
                  <a:pt x="37173" y="298140"/>
                </a:lnTo>
                <a:lnTo>
                  <a:pt x="21223" y="336197"/>
                </a:lnTo>
                <a:lnTo>
                  <a:pt x="9571" y="375627"/>
                </a:lnTo>
                <a:lnTo>
                  <a:pt x="2427" y="416269"/>
                </a:lnTo>
                <a:lnTo>
                  <a:pt x="0" y="457962"/>
                </a:lnTo>
                <a:lnTo>
                  <a:pt x="2427" y="499654"/>
                </a:lnTo>
                <a:lnTo>
                  <a:pt x="9571" y="540296"/>
                </a:lnTo>
                <a:lnTo>
                  <a:pt x="21223" y="579726"/>
                </a:lnTo>
                <a:lnTo>
                  <a:pt x="37173" y="617783"/>
                </a:lnTo>
                <a:lnTo>
                  <a:pt x="57215" y="654305"/>
                </a:lnTo>
                <a:lnTo>
                  <a:pt x="81138" y="689130"/>
                </a:lnTo>
                <a:lnTo>
                  <a:pt x="108736" y="722097"/>
                </a:lnTo>
                <a:lnTo>
                  <a:pt x="139798" y="753045"/>
                </a:lnTo>
                <a:lnTo>
                  <a:pt x="174116" y="781812"/>
                </a:lnTo>
                <a:lnTo>
                  <a:pt x="211483" y="808236"/>
                </a:lnTo>
                <a:lnTo>
                  <a:pt x="251689" y="832156"/>
                </a:lnTo>
                <a:lnTo>
                  <a:pt x="294527" y="853411"/>
                </a:lnTo>
                <a:lnTo>
                  <a:pt x="339786" y="871839"/>
                </a:lnTo>
                <a:lnTo>
                  <a:pt x="387260" y="887279"/>
                </a:lnTo>
                <a:lnTo>
                  <a:pt x="436738" y="899569"/>
                </a:lnTo>
                <a:lnTo>
                  <a:pt x="488014" y="908547"/>
                </a:lnTo>
                <a:lnTo>
                  <a:pt x="540878" y="914052"/>
                </a:lnTo>
                <a:lnTo>
                  <a:pt x="595121" y="915924"/>
                </a:lnTo>
                <a:lnTo>
                  <a:pt x="649252" y="914052"/>
                </a:lnTo>
                <a:lnTo>
                  <a:pt x="702028" y="908547"/>
                </a:lnTo>
                <a:lnTo>
                  <a:pt x="753240" y="899569"/>
                </a:lnTo>
                <a:lnTo>
                  <a:pt x="802676" y="887279"/>
                </a:lnTo>
                <a:lnTo>
                  <a:pt x="850126" y="871839"/>
                </a:lnTo>
                <a:lnTo>
                  <a:pt x="895378" y="853411"/>
                </a:lnTo>
                <a:lnTo>
                  <a:pt x="938222" y="832156"/>
                </a:lnTo>
                <a:lnTo>
                  <a:pt x="978446" y="808236"/>
                </a:lnTo>
                <a:lnTo>
                  <a:pt x="1015841" y="781812"/>
                </a:lnTo>
                <a:lnTo>
                  <a:pt x="1050194" y="753045"/>
                </a:lnTo>
                <a:lnTo>
                  <a:pt x="1081296" y="722097"/>
                </a:lnTo>
                <a:lnTo>
                  <a:pt x="1108935" y="689130"/>
                </a:lnTo>
                <a:lnTo>
                  <a:pt x="1132901" y="654305"/>
                </a:lnTo>
                <a:lnTo>
                  <a:pt x="1152982" y="617783"/>
                </a:lnTo>
                <a:lnTo>
                  <a:pt x="1168967" y="579726"/>
                </a:lnTo>
                <a:lnTo>
                  <a:pt x="1180647" y="540296"/>
                </a:lnTo>
                <a:lnTo>
                  <a:pt x="1187809" y="499654"/>
                </a:lnTo>
                <a:lnTo>
                  <a:pt x="1190243" y="457962"/>
                </a:lnTo>
                <a:close/>
              </a:path>
            </a:pathLst>
          </a:custGeom>
          <a:solidFill>
            <a:srgbClr val="FFFF66"/>
          </a:solid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7" name="object 7"/>
          <p:cNvSpPr/>
          <p:nvPr/>
        </p:nvSpPr>
        <p:spPr>
          <a:xfrm>
            <a:off x="2171700" y="1439863"/>
            <a:ext cx="1019175" cy="784225"/>
          </a:xfrm>
          <a:custGeom>
            <a:avLst/>
            <a:gdLst/>
            <a:ahLst/>
            <a:cxnLst/>
            <a:rect l="l" t="t" r="r" b="b"/>
            <a:pathLst>
              <a:path w="1190625" h="916305">
                <a:moveTo>
                  <a:pt x="595121" y="0"/>
                </a:moveTo>
                <a:lnTo>
                  <a:pt x="540878" y="1871"/>
                </a:lnTo>
                <a:lnTo>
                  <a:pt x="488014" y="7376"/>
                </a:lnTo>
                <a:lnTo>
                  <a:pt x="436738" y="16354"/>
                </a:lnTo>
                <a:lnTo>
                  <a:pt x="387260" y="28644"/>
                </a:lnTo>
                <a:lnTo>
                  <a:pt x="339786" y="44084"/>
                </a:lnTo>
                <a:lnTo>
                  <a:pt x="294527" y="62512"/>
                </a:lnTo>
                <a:lnTo>
                  <a:pt x="251689" y="83767"/>
                </a:lnTo>
                <a:lnTo>
                  <a:pt x="211483" y="107687"/>
                </a:lnTo>
                <a:lnTo>
                  <a:pt x="174116" y="134112"/>
                </a:lnTo>
                <a:lnTo>
                  <a:pt x="139798" y="162878"/>
                </a:lnTo>
                <a:lnTo>
                  <a:pt x="108736" y="193826"/>
                </a:lnTo>
                <a:lnTo>
                  <a:pt x="81138" y="226793"/>
                </a:lnTo>
                <a:lnTo>
                  <a:pt x="57215" y="261618"/>
                </a:lnTo>
                <a:lnTo>
                  <a:pt x="37173" y="298140"/>
                </a:lnTo>
                <a:lnTo>
                  <a:pt x="21223" y="336197"/>
                </a:lnTo>
                <a:lnTo>
                  <a:pt x="9571" y="375627"/>
                </a:lnTo>
                <a:lnTo>
                  <a:pt x="2427" y="416269"/>
                </a:lnTo>
                <a:lnTo>
                  <a:pt x="0" y="457962"/>
                </a:lnTo>
                <a:lnTo>
                  <a:pt x="2427" y="499654"/>
                </a:lnTo>
                <a:lnTo>
                  <a:pt x="9571" y="540296"/>
                </a:lnTo>
                <a:lnTo>
                  <a:pt x="21223" y="579726"/>
                </a:lnTo>
                <a:lnTo>
                  <a:pt x="37173" y="617783"/>
                </a:lnTo>
                <a:lnTo>
                  <a:pt x="57215" y="654305"/>
                </a:lnTo>
                <a:lnTo>
                  <a:pt x="81138" y="689130"/>
                </a:lnTo>
                <a:lnTo>
                  <a:pt x="108736" y="722097"/>
                </a:lnTo>
                <a:lnTo>
                  <a:pt x="139798" y="753045"/>
                </a:lnTo>
                <a:lnTo>
                  <a:pt x="174116" y="781812"/>
                </a:lnTo>
                <a:lnTo>
                  <a:pt x="211483" y="808236"/>
                </a:lnTo>
                <a:lnTo>
                  <a:pt x="251689" y="832156"/>
                </a:lnTo>
                <a:lnTo>
                  <a:pt x="294527" y="853411"/>
                </a:lnTo>
                <a:lnTo>
                  <a:pt x="339786" y="871839"/>
                </a:lnTo>
                <a:lnTo>
                  <a:pt x="387260" y="887279"/>
                </a:lnTo>
                <a:lnTo>
                  <a:pt x="436738" y="899569"/>
                </a:lnTo>
                <a:lnTo>
                  <a:pt x="488014" y="908547"/>
                </a:lnTo>
                <a:lnTo>
                  <a:pt x="540878" y="914052"/>
                </a:lnTo>
                <a:lnTo>
                  <a:pt x="595121" y="915924"/>
                </a:lnTo>
                <a:lnTo>
                  <a:pt x="649252" y="914052"/>
                </a:lnTo>
                <a:lnTo>
                  <a:pt x="702028" y="908547"/>
                </a:lnTo>
                <a:lnTo>
                  <a:pt x="753240" y="899569"/>
                </a:lnTo>
                <a:lnTo>
                  <a:pt x="802676" y="887279"/>
                </a:lnTo>
                <a:lnTo>
                  <a:pt x="850126" y="871839"/>
                </a:lnTo>
                <a:lnTo>
                  <a:pt x="895378" y="853411"/>
                </a:lnTo>
                <a:lnTo>
                  <a:pt x="938222" y="832156"/>
                </a:lnTo>
                <a:lnTo>
                  <a:pt x="978446" y="808236"/>
                </a:lnTo>
                <a:lnTo>
                  <a:pt x="1015841" y="781812"/>
                </a:lnTo>
                <a:lnTo>
                  <a:pt x="1050194" y="753045"/>
                </a:lnTo>
                <a:lnTo>
                  <a:pt x="1081296" y="722097"/>
                </a:lnTo>
                <a:lnTo>
                  <a:pt x="1108935" y="689130"/>
                </a:lnTo>
                <a:lnTo>
                  <a:pt x="1132901" y="654305"/>
                </a:lnTo>
                <a:lnTo>
                  <a:pt x="1152982" y="617783"/>
                </a:lnTo>
                <a:lnTo>
                  <a:pt x="1168967" y="579726"/>
                </a:lnTo>
                <a:lnTo>
                  <a:pt x="1180647" y="540296"/>
                </a:lnTo>
                <a:lnTo>
                  <a:pt x="1187809" y="499654"/>
                </a:lnTo>
                <a:lnTo>
                  <a:pt x="1190243" y="457962"/>
                </a:lnTo>
                <a:lnTo>
                  <a:pt x="1187809" y="416269"/>
                </a:lnTo>
                <a:lnTo>
                  <a:pt x="1180647" y="375627"/>
                </a:lnTo>
                <a:lnTo>
                  <a:pt x="1168967" y="336197"/>
                </a:lnTo>
                <a:lnTo>
                  <a:pt x="1152982" y="298140"/>
                </a:lnTo>
                <a:lnTo>
                  <a:pt x="1132901" y="261618"/>
                </a:lnTo>
                <a:lnTo>
                  <a:pt x="1108935" y="226793"/>
                </a:lnTo>
                <a:lnTo>
                  <a:pt x="1081296" y="193826"/>
                </a:lnTo>
                <a:lnTo>
                  <a:pt x="1050194" y="162878"/>
                </a:lnTo>
                <a:lnTo>
                  <a:pt x="1015841" y="134112"/>
                </a:lnTo>
                <a:lnTo>
                  <a:pt x="978446" y="107687"/>
                </a:lnTo>
                <a:lnTo>
                  <a:pt x="938222" y="83767"/>
                </a:lnTo>
                <a:lnTo>
                  <a:pt x="895378" y="62512"/>
                </a:lnTo>
                <a:lnTo>
                  <a:pt x="850126" y="44084"/>
                </a:lnTo>
                <a:lnTo>
                  <a:pt x="802676" y="28644"/>
                </a:lnTo>
                <a:lnTo>
                  <a:pt x="753240" y="16354"/>
                </a:lnTo>
                <a:lnTo>
                  <a:pt x="702028" y="7376"/>
                </a:lnTo>
                <a:lnTo>
                  <a:pt x="649252" y="1871"/>
                </a:lnTo>
                <a:lnTo>
                  <a:pt x="595121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8" name="object 8"/>
          <p:cNvSpPr txBox="1"/>
          <p:nvPr/>
        </p:nvSpPr>
        <p:spPr>
          <a:xfrm>
            <a:off x="2365375" y="1446213"/>
            <a:ext cx="630238" cy="747712"/>
          </a:xfrm>
          <a:prstGeom prst="rect">
            <a:avLst/>
          </a:prstGeom>
        </p:spPr>
        <p:txBody>
          <a:bodyPr lIns="0" tIns="10860" rIns="0" bIns="0">
            <a:spAutoFit/>
          </a:bodyPr>
          <a:lstStyle>
            <a:lvl1pPr marL="952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88"/>
              </a:spcBef>
            </a:pPr>
            <a:r>
              <a:rPr lang="zh-CN" altLang="zh-CN" sz="2300" b="1">
                <a:solidFill>
                  <a:srgbClr val="3333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关系 代数</a:t>
            </a:r>
            <a:endParaRPr lang="zh-CN" altLang="zh-CN" sz="230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166813" y="2627313"/>
            <a:ext cx="3032125" cy="15382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0" name="object 10"/>
          <p:cNvSpPr/>
          <p:nvPr/>
        </p:nvSpPr>
        <p:spPr>
          <a:xfrm>
            <a:off x="1770063" y="2292350"/>
            <a:ext cx="1741487" cy="276225"/>
          </a:xfrm>
          <a:custGeom>
            <a:avLst/>
            <a:gdLst/>
            <a:ahLst/>
            <a:cxnLst/>
            <a:rect l="l" t="t" r="r" b="b"/>
            <a:pathLst>
              <a:path w="2035810" h="323850">
                <a:moveTo>
                  <a:pt x="2035302" y="323850"/>
                </a:moveTo>
                <a:lnTo>
                  <a:pt x="2029223" y="280927"/>
                </a:lnTo>
                <a:lnTo>
                  <a:pt x="2012075" y="242344"/>
                </a:lnTo>
                <a:lnTo>
                  <a:pt x="1985486" y="209645"/>
                </a:lnTo>
                <a:lnTo>
                  <a:pt x="1951086" y="184375"/>
                </a:lnTo>
                <a:lnTo>
                  <a:pt x="1910506" y="168080"/>
                </a:lnTo>
                <a:lnTo>
                  <a:pt x="1865376" y="162306"/>
                </a:lnTo>
                <a:lnTo>
                  <a:pt x="1229867" y="162306"/>
                </a:lnTo>
                <a:lnTo>
                  <a:pt x="1184793" y="156527"/>
                </a:lnTo>
                <a:lnTo>
                  <a:pt x="1144354" y="140208"/>
                </a:lnTo>
                <a:lnTo>
                  <a:pt x="1110138" y="114871"/>
                </a:lnTo>
                <a:lnTo>
                  <a:pt x="1083733" y="82042"/>
                </a:lnTo>
                <a:lnTo>
                  <a:pt x="1066725" y="43243"/>
                </a:lnTo>
                <a:lnTo>
                  <a:pt x="1060704" y="0"/>
                </a:lnTo>
                <a:lnTo>
                  <a:pt x="1054625" y="43243"/>
                </a:lnTo>
                <a:lnTo>
                  <a:pt x="1037477" y="82042"/>
                </a:lnTo>
                <a:lnTo>
                  <a:pt x="1010888" y="114871"/>
                </a:lnTo>
                <a:lnTo>
                  <a:pt x="976488" y="140208"/>
                </a:lnTo>
                <a:lnTo>
                  <a:pt x="935908" y="156527"/>
                </a:lnTo>
                <a:lnTo>
                  <a:pt x="890777" y="162306"/>
                </a:lnTo>
                <a:lnTo>
                  <a:pt x="169925" y="162306"/>
                </a:lnTo>
                <a:lnTo>
                  <a:pt x="124795" y="168080"/>
                </a:lnTo>
                <a:lnTo>
                  <a:pt x="84215" y="184375"/>
                </a:lnTo>
                <a:lnTo>
                  <a:pt x="49815" y="209645"/>
                </a:lnTo>
                <a:lnTo>
                  <a:pt x="23226" y="242344"/>
                </a:lnTo>
                <a:lnTo>
                  <a:pt x="6078" y="280927"/>
                </a:lnTo>
                <a:lnTo>
                  <a:pt x="0" y="323850"/>
                </a:lnTo>
              </a:path>
            </a:pathLst>
          </a:custGeom>
          <a:ln w="57150">
            <a:solidFill>
              <a:srgbClr val="000000"/>
            </a:solidFill>
          </a:ln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1" name="object 11"/>
          <p:cNvSpPr txBox="1"/>
          <p:nvPr/>
        </p:nvSpPr>
        <p:spPr>
          <a:xfrm>
            <a:off x="1343025" y="2838450"/>
            <a:ext cx="2679700" cy="379413"/>
          </a:xfrm>
          <a:prstGeom prst="rect">
            <a:avLst/>
          </a:prstGeom>
        </p:spPr>
        <p:txBody>
          <a:bodyPr lIns="0" tIns="10860" rIns="0" bIns="0">
            <a:spAutoFit/>
          </a:bodyPr>
          <a:lstStyle>
            <a:lvl1pPr marL="9525">
              <a:tabLst>
                <a:tab pos="1019175" algn="l"/>
                <a:tab pos="2060575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tabLst>
                <a:tab pos="1019175" algn="l"/>
                <a:tab pos="2060575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tabLst>
                <a:tab pos="1019175" algn="l"/>
                <a:tab pos="2060575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tabLst>
                <a:tab pos="1019175" algn="l"/>
                <a:tab pos="2060575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tabLst>
                <a:tab pos="1019175" algn="l"/>
                <a:tab pos="2060575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19175" algn="l"/>
                <a:tab pos="2060575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19175" algn="l"/>
                <a:tab pos="2060575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19175" algn="l"/>
                <a:tab pos="2060575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19175" algn="l"/>
                <a:tab pos="2060575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88"/>
              </a:spcBef>
            </a:pPr>
            <a:r>
              <a:rPr lang="zh-CN" altLang="zh-CN" sz="23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zh-CN" altLang="zh-CN" sz="2300" b="1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并</a:t>
            </a:r>
            <a:r>
              <a:rPr lang="zh-CN" altLang="zh-CN" sz="23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	“</a:t>
            </a:r>
            <a:r>
              <a:rPr lang="zh-CN" altLang="zh-CN" sz="2300" b="1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差</a:t>
            </a:r>
            <a:r>
              <a:rPr lang="zh-CN" altLang="zh-CN" sz="23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	“</a:t>
            </a:r>
            <a:r>
              <a:rPr lang="zh-CN" altLang="zh-CN" sz="2300" b="1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积</a:t>
            </a:r>
            <a:r>
              <a:rPr lang="zh-CN" altLang="zh-CN" sz="23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endParaRPr lang="zh-CN" altLang="zh-CN" sz="23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653088" y="1590675"/>
            <a:ext cx="2371725" cy="1574800"/>
            <a:chOff x="5653088" y="1590675"/>
            <a:chExt cx="2371725" cy="1574800"/>
          </a:xfrm>
        </p:grpSpPr>
        <p:sp>
          <p:nvSpPr>
            <p:cNvPr id="12" name="object 12"/>
            <p:cNvSpPr/>
            <p:nvPr/>
          </p:nvSpPr>
          <p:spPr>
            <a:xfrm>
              <a:off x="5653088" y="1590675"/>
              <a:ext cx="2371725" cy="15748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 eaLnBrk="1" hangingPunct="1">
                <a:defRPr/>
              </a:pPr>
              <a:endParaRPr sz="2052"/>
            </a:p>
          </p:txBody>
        </p:sp>
        <p:sp>
          <p:nvSpPr>
            <p:cNvPr id="13" name="object 13"/>
            <p:cNvSpPr txBox="1"/>
            <p:nvPr/>
          </p:nvSpPr>
          <p:spPr>
            <a:xfrm>
              <a:off x="6831013" y="1808163"/>
              <a:ext cx="569912" cy="273050"/>
            </a:xfrm>
            <a:prstGeom prst="rect">
              <a:avLst/>
            </a:prstGeom>
          </p:spPr>
          <p:txBody>
            <a:bodyPr lIns="0" tIns="10317" rIns="0" bIns="0">
              <a:spAutoFit/>
            </a:bodyPr>
            <a:lstStyle>
              <a:lvl1pPr marL="9525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ts val="75"/>
                </a:spcBef>
              </a:pPr>
              <a:r>
                <a:rPr lang="zh-CN" altLang="zh-CN" sz="1700" b="1">
                  <a:solidFill>
                    <a:srgbClr val="FFFFFF"/>
                  </a:solidFill>
                  <a:latin typeface="Symbol" panose="05050102010706020507" pitchFamily="18" charset="2"/>
                </a:rPr>
                <a:t></a:t>
              </a:r>
              <a:r>
                <a:rPr lang="zh-CN" altLang="zh-CN" sz="1700" b="1">
                  <a:solidFill>
                    <a:srgbClr val="FFFFFF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连接</a:t>
              </a:r>
              <a:endParaRPr lang="zh-CN" altLang="zh-CN" sz="170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14" name="object 14"/>
            <p:cNvSpPr txBox="1"/>
            <p:nvPr/>
          </p:nvSpPr>
          <p:spPr>
            <a:xfrm>
              <a:off x="7304088" y="2471738"/>
              <a:ext cx="457200" cy="536575"/>
            </a:xfrm>
            <a:prstGeom prst="rect">
              <a:avLst/>
            </a:prstGeom>
          </p:spPr>
          <p:txBody>
            <a:bodyPr lIns="0" tIns="10317" rIns="0" bIns="0">
              <a:spAutoFit/>
            </a:bodyPr>
            <a:lstStyle>
              <a:lvl1pPr marL="9525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ts val="75"/>
                </a:spcBef>
              </a:pPr>
              <a:r>
                <a:rPr lang="zh-CN" altLang="zh-CN" sz="1700" b="1">
                  <a:solidFill>
                    <a:srgbClr val="FFFFFF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等值 连接</a:t>
              </a:r>
              <a:endParaRPr lang="zh-CN" altLang="zh-CN" sz="170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15" name="object 15"/>
            <p:cNvSpPr txBox="1"/>
            <p:nvPr/>
          </p:nvSpPr>
          <p:spPr>
            <a:xfrm>
              <a:off x="5761831" y="1808163"/>
              <a:ext cx="1210469" cy="1174750"/>
            </a:xfrm>
            <a:prstGeom prst="rect">
              <a:avLst/>
            </a:prstGeom>
          </p:spPr>
          <p:txBody>
            <a:bodyPr wrap="square" lIns="0" tIns="10860" rIns="0" bIns="0">
              <a:spAutoFit/>
            </a:bodyPr>
            <a:lstStyle>
              <a:lvl1pPr marL="9525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ts val="88"/>
                </a:spcBef>
              </a:pPr>
              <a:r>
                <a:rPr lang="zh-CN" altLang="zh-CN" sz="2300" b="1" dirty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“</a:t>
              </a:r>
              <a:r>
                <a:rPr lang="zh-CN" altLang="zh-CN" sz="2300" b="1" dirty="0">
                  <a:solidFill>
                    <a:srgbClr val="FFFFFF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交</a:t>
              </a:r>
              <a:r>
                <a:rPr lang="zh-CN" altLang="zh-CN" sz="2300" b="1" dirty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”</a:t>
              </a:r>
              <a:endParaRPr lang="zh-CN" altLang="zh-CN" sz="23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eaLnBrk="1" hangingPunct="1">
                <a:spcBef>
                  <a:spcPts val="2125"/>
                </a:spcBef>
              </a:pPr>
              <a:r>
                <a:rPr lang="en-US" altLang="zh-CN" sz="1700" b="1" dirty="0">
                  <a:solidFill>
                    <a:srgbClr val="FFFFFF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        </a:t>
              </a:r>
              <a:r>
                <a:rPr lang="zh-CN" altLang="zh-CN" sz="1700" b="1" dirty="0">
                  <a:solidFill>
                    <a:srgbClr val="FFFFFF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自然 </a:t>
              </a:r>
              <a:br>
                <a:rPr lang="en-US" altLang="zh-CN" sz="1700" b="1" dirty="0">
                  <a:solidFill>
                    <a:srgbClr val="FFFFFF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</a:br>
              <a:r>
                <a:rPr lang="en-US" altLang="zh-CN" sz="1700" b="1" dirty="0">
                  <a:solidFill>
                    <a:srgbClr val="FFFFFF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        </a:t>
              </a:r>
              <a:r>
                <a:rPr lang="zh-CN" altLang="zh-CN" sz="1700" b="1" dirty="0">
                  <a:solidFill>
                    <a:srgbClr val="FFFFFF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连接</a:t>
              </a:r>
              <a:endParaRPr lang="zh-CN" altLang="zh-CN" sz="17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</p:grpSp>
      <p:sp>
        <p:nvSpPr>
          <p:cNvPr id="16" name="object 16"/>
          <p:cNvSpPr/>
          <p:nvPr/>
        </p:nvSpPr>
        <p:spPr>
          <a:xfrm>
            <a:off x="5681663" y="3473450"/>
            <a:ext cx="2373312" cy="228441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7" name="object 17"/>
          <p:cNvSpPr txBox="1"/>
          <p:nvPr/>
        </p:nvSpPr>
        <p:spPr>
          <a:xfrm>
            <a:off x="5761831" y="3704431"/>
            <a:ext cx="630238" cy="379413"/>
          </a:xfrm>
          <a:prstGeom prst="rect">
            <a:avLst/>
          </a:prstGeom>
        </p:spPr>
        <p:txBody>
          <a:bodyPr lIns="0" tIns="10860" rIns="0" bIns="0">
            <a:spAutoFit/>
          </a:bodyPr>
          <a:lstStyle>
            <a:lvl1pPr marL="952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88"/>
              </a:spcBef>
            </a:pPr>
            <a:r>
              <a:rPr lang="zh-CN" altLang="zh-CN" sz="23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zh-CN" altLang="zh-CN" sz="2300" b="1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除</a:t>
            </a:r>
            <a:r>
              <a:rPr lang="zh-CN" altLang="zh-CN" sz="23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endParaRPr lang="zh-CN" altLang="zh-CN" sz="2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808788" y="3686175"/>
            <a:ext cx="674687" cy="274638"/>
          </a:xfrm>
          <a:prstGeom prst="rect">
            <a:avLst/>
          </a:prstGeom>
        </p:spPr>
        <p:txBody>
          <a:bodyPr lIns="0" tIns="10317" rIns="0" bIns="0">
            <a:spAutoFit/>
          </a:bodyPr>
          <a:lstStyle>
            <a:lvl1pPr marL="952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75"/>
              </a:spcBef>
            </a:pPr>
            <a:r>
              <a:rPr lang="zh-CN" altLang="zh-CN" sz="1700" b="1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外连接</a:t>
            </a:r>
            <a:endParaRPr lang="zh-CN" altLang="zh-CN" sz="170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334250" y="4352925"/>
            <a:ext cx="457200" cy="536575"/>
          </a:xfrm>
          <a:prstGeom prst="rect">
            <a:avLst/>
          </a:prstGeom>
        </p:spPr>
        <p:txBody>
          <a:bodyPr lIns="0" tIns="10317" rIns="0" bIns="0">
            <a:spAutoFit/>
          </a:bodyPr>
          <a:lstStyle>
            <a:lvl1pPr marL="952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75"/>
              </a:spcBef>
            </a:pPr>
            <a:r>
              <a:rPr lang="zh-CN" altLang="zh-CN" sz="1700" b="1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右外 连接</a:t>
            </a:r>
            <a:endParaRPr lang="zh-CN" altLang="zh-CN" sz="170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370638" y="4354513"/>
            <a:ext cx="457200" cy="536575"/>
          </a:xfrm>
          <a:prstGeom prst="rect">
            <a:avLst/>
          </a:prstGeom>
        </p:spPr>
        <p:txBody>
          <a:bodyPr lIns="0" tIns="10317" rIns="0" bIns="0">
            <a:spAutoFit/>
          </a:bodyPr>
          <a:lstStyle>
            <a:lvl1pPr marL="952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75"/>
              </a:spcBef>
            </a:pPr>
            <a:r>
              <a:rPr lang="zh-CN" altLang="zh-CN" sz="1700" b="1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左外 连接</a:t>
            </a:r>
            <a:endParaRPr lang="zh-CN" altLang="zh-CN" sz="170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872288" y="5065713"/>
            <a:ext cx="457200" cy="536575"/>
          </a:xfrm>
          <a:prstGeom prst="rect">
            <a:avLst/>
          </a:prstGeom>
        </p:spPr>
        <p:txBody>
          <a:bodyPr lIns="0" tIns="10317" rIns="0" bIns="0">
            <a:spAutoFit/>
          </a:bodyPr>
          <a:lstStyle>
            <a:lvl1pPr marL="952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75"/>
              </a:spcBef>
            </a:pPr>
            <a:r>
              <a:rPr lang="zh-CN" altLang="zh-CN" sz="1700" b="1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全外 连接</a:t>
            </a:r>
            <a:endParaRPr lang="zh-CN" altLang="zh-CN" sz="170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425950" y="3035300"/>
            <a:ext cx="536575" cy="439738"/>
          </a:xfrm>
          <a:custGeom>
            <a:avLst/>
            <a:gdLst/>
            <a:ahLst/>
            <a:cxnLst/>
            <a:rect l="l" t="t" r="r" b="b"/>
            <a:pathLst>
              <a:path w="628650" h="514350">
                <a:moveTo>
                  <a:pt x="471677" y="385572"/>
                </a:moveTo>
                <a:lnTo>
                  <a:pt x="471677" y="128778"/>
                </a:lnTo>
                <a:lnTo>
                  <a:pt x="0" y="128778"/>
                </a:lnTo>
                <a:lnTo>
                  <a:pt x="0" y="385572"/>
                </a:lnTo>
                <a:lnTo>
                  <a:pt x="471677" y="385572"/>
                </a:lnTo>
                <a:close/>
              </a:path>
              <a:path w="628650" h="514350">
                <a:moveTo>
                  <a:pt x="628649" y="256794"/>
                </a:moveTo>
                <a:lnTo>
                  <a:pt x="471677" y="0"/>
                </a:lnTo>
                <a:lnTo>
                  <a:pt x="471677" y="514350"/>
                </a:lnTo>
                <a:lnTo>
                  <a:pt x="628649" y="256794"/>
                </a:lnTo>
                <a:close/>
              </a:path>
            </a:pathLst>
          </a:custGeom>
          <a:solidFill>
            <a:srgbClr val="000000"/>
          </a:solid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23" name="object 23"/>
          <p:cNvSpPr/>
          <p:nvPr/>
        </p:nvSpPr>
        <p:spPr>
          <a:xfrm>
            <a:off x="4425950" y="3035300"/>
            <a:ext cx="536575" cy="439738"/>
          </a:xfrm>
          <a:custGeom>
            <a:avLst/>
            <a:gdLst/>
            <a:ahLst/>
            <a:cxnLst/>
            <a:rect l="l" t="t" r="r" b="b"/>
            <a:pathLst>
              <a:path w="628650" h="514350">
                <a:moveTo>
                  <a:pt x="471677" y="0"/>
                </a:moveTo>
                <a:lnTo>
                  <a:pt x="471677" y="128778"/>
                </a:lnTo>
                <a:lnTo>
                  <a:pt x="0" y="128778"/>
                </a:lnTo>
                <a:lnTo>
                  <a:pt x="0" y="385572"/>
                </a:lnTo>
                <a:lnTo>
                  <a:pt x="471677" y="385572"/>
                </a:lnTo>
                <a:lnTo>
                  <a:pt x="471677" y="514350"/>
                </a:lnTo>
                <a:lnTo>
                  <a:pt x="628649" y="256794"/>
                </a:lnTo>
                <a:lnTo>
                  <a:pt x="471677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24" name="object 24"/>
          <p:cNvSpPr/>
          <p:nvPr/>
        </p:nvSpPr>
        <p:spPr>
          <a:xfrm>
            <a:off x="5345733" y="1593850"/>
            <a:ext cx="306387" cy="1490663"/>
          </a:xfrm>
          <a:custGeom>
            <a:avLst/>
            <a:gdLst/>
            <a:ahLst/>
            <a:cxnLst/>
            <a:rect l="l" t="t" r="r" b="b"/>
            <a:pathLst>
              <a:path w="357504" h="1743710">
                <a:moveTo>
                  <a:pt x="357377" y="0"/>
                </a:moveTo>
                <a:lnTo>
                  <a:pt x="310038" y="5224"/>
                </a:lnTo>
                <a:lnTo>
                  <a:pt x="267461" y="19953"/>
                </a:lnTo>
                <a:lnTo>
                  <a:pt x="231362" y="42767"/>
                </a:lnTo>
                <a:lnTo>
                  <a:pt x="203453" y="72248"/>
                </a:lnTo>
                <a:lnTo>
                  <a:pt x="185451" y="106979"/>
                </a:lnTo>
                <a:lnTo>
                  <a:pt x="179069" y="145542"/>
                </a:lnTo>
                <a:lnTo>
                  <a:pt x="179069" y="726948"/>
                </a:lnTo>
                <a:lnTo>
                  <a:pt x="172684" y="765453"/>
                </a:lnTo>
                <a:lnTo>
                  <a:pt x="154657" y="800043"/>
                </a:lnTo>
                <a:lnTo>
                  <a:pt x="126682" y="829341"/>
                </a:lnTo>
                <a:lnTo>
                  <a:pt x="90452" y="851972"/>
                </a:lnTo>
                <a:lnTo>
                  <a:pt x="47660" y="866559"/>
                </a:lnTo>
                <a:lnTo>
                  <a:pt x="0" y="871728"/>
                </a:lnTo>
                <a:lnTo>
                  <a:pt x="47660" y="876952"/>
                </a:lnTo>
                <a:lnTo>
                  <a:pt x="90452" y="891681"/>
                </a:lnTo>
                <a:lnTo>
                  <a:pt x="126682" y="914495"/>
                </a:lnTo>
                <a:lnTo>
                  <a:pt x="154657" y="943976"/>
                </a:lnTo>
                <a:lnTo>
                  <a:pt x="172684" y="978707"/>
                </a:lnTo>
                <a:lnTo>
                  <a:pt x="179069" y="1017269"/>
                </a:lnTo>
                <a:lnTo>
                  <a:pt x="179069" y="1597914"/>
                </a:lnTo>
                <a:lnTo>
                  <a:pt x="185451" y="1636740"/>
                </a:lnTo>
                <a:lnTo>
                  <a:pt x="203453" y="1671545"/>
                </a:lnTo>
                <a:lnTo>
                  <a:pt x="231362" y="1700974"/>
                </a:lnTo>
                <a:lnTo>
                  <a:pt x="267461" y="1723672"/>
                </a:lnTo>
                <a:lnTo>
                  <a:pt x="310038" y="1738284"/>
                </a:lnTo>
                <a:lnTo>
                  <a:pt x="357377" y="1743456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25" name="object 25"/>
          <p:cNvSpPr/>
          <p:nvPr/>
        </p:nvSpPr>
        <p:spPr>
          <a:xfrm>
            <a:off x="5406628" y="3536950"/>
            <a:ext cx="317500" cy="2114550"/>
          </a:xfrm>
          <a:custGeom>
            <a:avLst/>
            <a:gdLst/>
            <a:ahLst/>
            <a:cxnLst/>
            <a:rect l="l" t="t" r="r" b="b"/>
            <a:pathLst>
              <a:path w="371475" h="2472054">
                <a:moveTo>
                  <a:pt x="371093" y="0"/>
                </a:moveTo>
                <a:lnTo>
                  <a:pt x="328686" y="5438"/>
                </a:lnTo>
                <a:lnTo>
                  <a:pt x="289731" y="20927"/>
                </a:lnTo>
                <a:lnTo>
                  <a:pt x="255347" y="45226"/>
                </a:lnTo>
                <a:lnTo>
                  <a:pt x="226656" y="77097"/>
                </a:lnTo>
                <a:lnTo>
                  <a:pt x="204775" y="115299"/>
                </a:lnTo>
                <a:lnTo>
                  <a:pt x="190826" y="158593"/>
                </a:lnTo>
                <a:lnTo>
                  <a:pt x="185927" y="205740"/>
                </a:lnTo>
                <a:lnTo>
                  <a:pt x="185927" y="1029462"/>
                </a:lnTo>
                <a:lnTo>
                  <a:pt x="180987" y="1076890"/>
                </a:lnTo>
                <a:lnTo>
                  <a:pt x="166929" y="1120386"/>
                </a:lnTo>
                <a:lnTo>
                  <a:pt x="144899" y="1158724"/>
                </a:lnTo>
                <a:lnTo>
                  <a:pt x="116046" y="1190677"/>
                </a:lnTo>
                <a:lnTo>
                  <a:pt x="81514" y="1215018"/>
                </a:lnTo>
                <a:lnTo>
                  <a:pt x="42449" y="1230523"/>
                </a:lnTo>
                <a:lnTo>
                  <a:pt x="0" y="1235964"/>
                </a:lnTo>
                <a:lnTo>
                  <a:pt x="42449" y="1241402"/>
                </a:lnTo>
                <a:lnTo>
                  <a:pt x="81514" y="1256891"/>
                </a:lnTo>
                <a:lnTo>
                  <a:pt x="116046" y="1281190"/>
                </a:lnTo>
                <a:lnTo>
                  <a:pt x="144899" y="1313061"/>
                </a:lnTo>
                <a:lnTo>
                  <a:pt x="166929" y="1351263"/>
                </a:lnTo>
                <a:lnTo>
                  <a:pt x="180987" y="1394557"/>
                </a:lnTo>
                <a:lnTo>
                  <a:pt x="185927" y="1441704"/>
                </a:lnTo>
                <a:lnTo>
                  <a:pt x="185927" y="2265426"/>
                </a:lnTo>
                <a:lnTo>
                  <a:pt x="190826" y="2312854"/>
                </a:lnTo>
                <a:lnTo>
                  <a:pt x="204775" y="2356350"/>
                </a:lnTo>
                <a:lnTo>
                  <a:pt x="226656" y="2394688"/>
                </a:lnTo>
                <a:lnTo>
                  <a:pt x="255347" y="2426641"/>
                </a:lnTo>
                <a:lnTo>
                  <a:pt x="289731" y="2450982"/>
                </a:lnTo>
                <a:lnTo>
                  <a:pt x="328686" y="2466487"/>
                </a:lnTo>
                <a:lnTo>
                  <a:pt x="371093" y="2471928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26" name="object 26"/>
          <p:cNvSpPr txBox="1"/>
          <p:nvPr/>
        </p:nvSpPr>
        <p:spPr>
          <a:xfrm>
            <a:off x="1115616" y="3548063"/>
            <a:ext cx="3151187" cy="364909"/>
          </a:xfrm>
          <a:prstGeom prst="rect">
            <a:avLst/>
          </a:prstGeom>
        </p:spPr>
        <p:txBody>
          <a:bodyPr lIns="0" tIns="10860" rIns="0" bIns="0">
            <a:spAutoFit/>
          </a:bodyPr>
          <a:lstStyle>
            <a:lvl1pPr>
              <a:tabLst>
                <a:tab pos="1039813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tabLst>
                <a:tab pos="1039813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tabLst>
                <a:tab pos="1039813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tabLst>
                <a:tab pos="1039813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tabLst>
                <a:tab pos="1039813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39813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39813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39813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39813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ts val="88"/>
              </a:spcBef>
            </a:pPr>
            <a:r>
              <a:rPr lang="zh-CN" altLang="zh-CN" sz="2300" b="1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选择	投影</a:t>
            </a:r>
            <a:endParaRPr lang="zh-CN" altLang="zh-CN" sz="23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title"/>
          </p:nvPr>
        </p:nvSpPr>
        <p:spPr>
          <a:xfrm>
            <a:off x="2774950" y="479426"/>
            <a:ext cx="3302000" cy="852488"/>
          </a:xfrm>
        </p:spPr>
        <p:txBody>
          <a:bodyPr lIns="0" tIns="10317" rIns="0" bIns="0">
            <a:spAutoFit/>
          </a:bodyPr>
          <a:lstStyle/>
          <a:p>
            <a:pPr>
              <a:spcBef>
                <a:spcPts val="75"/>
              </a:spcBef>
            </a:pPr>
            <a:r>
              <a:rPr lang="zh-CN" altLang="zh-CN" sz="2700" dirty="0">
                <a:solidFill>
                  <a:srgbClr val="FFFF6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回顾本讲学习了什么?</a:t>
            </a:r>
            <a:endParaRPr lang="zh-CN" altLang="zh-CN" sz="27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灯片编号占位符 2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A6568E1-4089-4561-919E-9D2F37D3F2B0}" type="slidenum">
              <a:rPr lang="en-US" altLang="zh-CN" smtClean="0"/>
              <a:pPr>
                <a:defRPr/>
              </a:pPr>
              <a:t>74</a:t>
            </a:fld>
            <a:endParaRPr lang="en-US" altLang="zh-CN" dirty="0"/>
          </a:p>
        </p:txBody>
      </p:sp>
      <p:sp>
        <p:nvSpPr>
          <p:cNvPr id="29" name="矩形 28"/>
          <p:cNvSpPr/>
          <p:nvPr/>
        </p:nvSpPr>
        <p:spPr>
          <a:xfrm>
            <a:off x="609770" y="4165600"/>
            <a:ext cx="5019675" cy="2233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zh-CN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关系代数的基本书写思路：</a:t>
            </a:r>
            <a:endParaRPr lang="zh-CN" altLang="zh-CN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eaLnBrk="1" hangingPunct="1">
              <a:spcBef>
                <a:spcPts val="463"/>
              </a:spcBef>
              <a:buSzPct val="95000"/>
              <a:buFont typeface="Wingdings" panose="05000000000000000000" pitchFamily="2" charset="2"/>
              <a:buChar char=""/>
            </a:pPr>
            <a:r>
              <a:rPr lang="zh-CN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选出将用到的关系</a:t>
            </a:r>
            <a:r>
              <a:rPr lang="zh-CN" altLang="zh-CN" b="1" dirty="0">
                <a:cs typeface="Times New Roman" panose="02020603050405020304" pitchFamily="18" charset="0"/>
              </a:rPr>
              <a:t>/</a:t>
            </a:r>
            <a:r>
              <a:rPr lang="zh-CN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表</a:t>
            </a:r>
            <a:endParaRPr lang="zh-CN" altLang="zh-CN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eaLnBrk="1" hangingPunct="1">
              <a:spcBef>
                <a:spcPts val="613"/>
              </a:spcBef>
              <a:buSzPct val="95000"/>
              <a:buFont typeface="Wingdings" panose="05000000000000000000" pitchFamily="2" charset="2"/>
              <a:buChar char=""/>
            </a:pPr>
            <a:r>
              <a:rPr lang="zh-CN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做</a:t>
            </a:r>
            <a:r>
              <a:rPr lang="zh-CN" altLang="zh-CN" b="1" dirty="0">
                <a:cs typeface="Times New Roman" panose="02020603050405020304" pitchFamily="18" charset="0"/>
              </a:rPr>
              <a:t>“</a:t>
            </a:r>
            <a:r>
              <a:rPr lang="zh-CN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积</a:t>
            </a:r>
            <a:r>
              <a:rPr lang="zh-CN" altLang="zh-CN" b="1" dirty="0">
                <a:cs typeface="Times New Roman" panose="02020603050405020304" pitchFamily="18" charset="0"/>
              </a:rPr>
              <a:t>”</a:t>
            </a:r>
            <a:r>
              <a:rPr lang="zh-CN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运算</a:t>
            </a:r>
            <a:r>
              <a:rPr lang="zh-CN" altLang="zh-CN" b="1" dirty="0">
                <a:cs typeface="Times New Roman" panose="02020603050405020304" pitchFamily="18" charset="0"/>
              </a:rPr>
              <a:t>(</a:t>
            </a:r>
            <a:r>
              <a:rPr lang="zh-CN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可用连接运算替换</a:t>
            </a:r>
            <a:r>
              <a:rPr lang="zh-CN" altLang="zh-CN" b="1" dirty="0">
                <a:cs typeface="Times New Roman" panose="02020603050405020304" pitchFamily="18" charset="0"/>
              </a:rPr>
              <a:t>)</a:t>
            </a:r>
            <a:endParaRPr lang="zh-CN" altLang="zh-CN" dirty="0">
              <a:cs typeface="Times New Roman" panose="02020603050405020304" pitchFamily="18" charset="0"/>
            </a:endParaRPr>
          </a:p>
          <a:p>
            <a:pPr eaLnBrk="1" hangingPunct="1">
              <a:spcBef>
                <a:spcPts val="625"/>
              </a:spcBef>
              <a:buSzPct val="95000"/>
              <a:buFont typeface="Wingdings" panose="05000000000000000000" pitchFamily="2" charset="2"/>
              <a:buChar char=""/>
            </a:pPr>
            <a:r>
              <a:rPr lang="zh-CN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做选择运算保留所需的行</a:t>
            </a:r>
            <a:r>
              <a:rPr lang="zh-CN" altLang="zh-CN" b="1" dirty="0">
                <a:cs typeface="Times New Roman" panose="02020603050405020304" pitchFamily="18" charset="0"/>
              </a:rPr>
              <a:t>/</a:t>
            </a:r>
            <a:r>
              <a:rPr lang="zh-CN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元组</a:t>
            </a:r>
            <a:endParaRPr lang="zh-CN" altLang="zh-CN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eaLnBrk="1" hangingPunct="1">
              <a:spcBef>
                <a:spcPts val="625"/>
              </a:spcBef>
              <a:buSzPct val="95000"/>
              <a:buFont typeface="Wingdings" panose="05000000000000000000" pitchFamily="2" charset="2"/>
              <a:buChar char=""/>
            </a:pPr>
            <a:r>
              <a:rPr lang="zh-CN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做投影运算保留所需的列</a:t>
            </a:r>
            <a:r>
              <a:rPr lang="zh-CN" altLang="zh-CN" b="1" dirty="0">
                <a:cs typeface="Times New Roman" panose="02020603050405020304" pitchFamily="18" charset="0"/>
              </a:rPr>
              <a:t>/</a:t>
            </a:r>
            <a:r>
              <a:rPr lang="zh-CN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属性</a:t>
            </a:r>
            <a:endParaRPr lang="zh-CN" altLang="zh-CN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819150" y="2611438"/>
            <a:ext cx="7515225" cy="2438400"/>
          </a:xfrm>
          <a:custGeom>
            <a:avLst/>
            <a:gdLst/>
            <a:ahLst/>
            <a:cxnLst/>
            <a:rect l="l" t="t" r="r" b="b"/>
            <a:pathLst>
              <a:path w="8788400" h="2851785">
                <a:moveTo>
                  <a:pt x="0" y="0"/>
                </a:moveTo>
                <a:lnTo>
                  <a:pt x="0" y="2851404"/>
                </a:lnTo>
                <a:lnTo>
                  <a:pt x="8788146" y="2851404"/>
                </a:lnTo>
                <a:lnTo>
                  <a:pt x="8788146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6" name="object 6"/>
          <p:cNvSpPr/>
          <p:nvPr/>
        </p:nvSpPr>
        <p:spPr>
          <a:xfrm>
            <a:off x="777875" y="3032124"/>
            <a:ext cx="7826573" cy="2519703"/>
          </a:xfrm>
          <a:custGeom>
            <a:avLst/>
            <a:gdLst/>
            <a:ahLst/>
            <a:cxnLst/>
            <a:rect l="l" t="t" r="r" b="b"/>
            <a:pathLst>
              <a:path w="8788400" h="2851785">
                <a:moveTo>
                  <a:pt x="0" y="0"/>
                </a:moveTo>
                <a:lnTo>
                  <a:pt x="0" y="2851404"/>
                </a:lnTo>
                <a:lnTo>
                  <a:pt x="8788146" y="2851404"/>
                </a:lnTo>
                <a:lnTo>
                  <a:pt x="878814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9525">
            <a:solidFill>
              <a:srgbClr val="B2B2B2"/>
            </a:solidFill>
          </a:ln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7" name="object 7"/>
          <p:cNvSpPr txBox="1"/>
          <p:nvPr/>
        </p:nvSpPr>
        <p:spPr>
          <a:xfrm>
            <a:off x="2242027" y="3498574"/>
            <a:ext cx="1335115" cy="858838"/>
          </a:xfrm>
          <a:prstGeom prst="rect">
            <a:avLst/>
          </a:prstGeom>
        </p:spPr>
        <p:txBody>
          <a:bodyPr wrap="square" lIns="0" tIns="9774" rIns="0" bIns="0">
            <a:spAutoFit/>
          </a:bodyPr>
          <a:lstStyle>
            <a:lvl1pPr marL="952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9000"/>
              </a:lnSpc>
              <a:spcBef>
                <a:spcPts val="75"/>
              </a:spcBef>
            </a:pPr>
            <a:r>
              <a:rPr lang="zh-CN" altLang="zh-CN" sz="2100" b="1" i="1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Select  From</a:t>
            </a:r>
            <a:endParaRPr lang="zh-CN" altLang="zh-CN" sz="2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244473" y="3443287"/>
            <a:ext cx="2428875" cy="868363"/>
          </a:xfrm>
          <a:prstGeom prst="rect">
            <a:avLst/>
          </a:prstGeom>
        </p:spPr>
        <p:txBody>
          <a:bodyPr lIns="0" tIns="119458" rIns="0" bIns="0">
            <a:spAutoFit/>
          </a:bodyPr>
          <a:lstStyle>
            <a:lvl1pPr marL="30163">
              <a:tabLst>
                <a:tab pos="784225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tabLst>
                <a:tab pos="784225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tabLst>
                <a:tab pos="784225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tabLst>
                <a:tab pos="784225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tabLst>
                <a:tab pos="784225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84225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84225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84225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84225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ts val="938"/>
              </a:spcBef>
            </a:pPr>
            <a:r>
              <a:rPr lang="zh-CN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列名	[[, 列名] … ]</a:t>
            </a:r>
            <a:endParaRPr lang="zh-CN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spcBef>
                <a:spcPts val="863"/>
              </a:spcBef>
            </a:pPr>
            <a:r>
              <a:rPr lang="zh-CN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表名1 [[, 表名2], …]</a:t>
            </a:r>
            <a:endParaRPr lang="zh-CN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123728" y="4365518"/>
            <a:ext cx="1336630" cy="344487"/>
          </a:xfrm>
          <a:prstGeom prst="rect">
            <a:avLst/>
          </a:prstGeom>
        </p:spPr>
        <p:txBody>
          <a:bodyPr wrap="square" lIns="0" tIns="14661" rIns="0" bIns="0">
            <a:spAutoFit/>
          </a:bodyPr>
          <a:lstStyle>
            <a:lvl1pPr marL="952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113"/>
              </a:spcBef>
            </a:pPr>
            <a:r>
              <a:rPr lang="zh-CN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[ </a:t>
            </a:r>
            <a:r>
              <a:rPr lang="zh-CN" altLang="zh-CN" sz="2100" b="1" i="1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Where</a:t>
            </a:r>
            <a:endParaRPr lang="zh-CN" altLang="zh-CN" sz="2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302313" y="4357412"/>
            <a:ext cx="1395412" cy="327025"/>
          </a:xfrm>
          <a:prstGeom prst="rect">
            <a:avLst/>
          </a:prstGeom>
        </p:spPr>
        <p:txBody>
          <a:bodyPr lIns="0" tIns="10860" rIns="0" bIns="0">
            <a:spAutoFit/>
          </a:bodyPr>
          <a:lstStyle>
            <a:lvl1pPr marL="952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88"/>
              </a:spcBef>
            </a:pPr>
            <a:r>
              <a:rPr lang="zh-CN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检索条件 ] ;</a:t>
            </a:r>
            <a:endParaRPr lang="zh-CN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body" idx="1"/>
          </p:nvPr>
        </p:nvSpPr>
        <p:spPr>
          <a:xfrm>
            <a:off x="434180" y="1451769"/>
            <a:ext cx="8458299" cy="2166493"/>
          </a:xfrm>
        </p:spPr>
        <p:txBody>
          <a:bodyPr wrap="square" lIns="0" tIns="90680" rIns="0" bIns="0">
            <a:spAutoFit/>
          </a:bodyPr>
          <a:lstStyle/>
          <a:p>
            <a:pPr marL="31750">
              <a:spcBef>
                <a:spcPts val="713"/>
              </a:spcBef>
            </a:pPr>
            <a:r>
              <a:rPr lang="zh-CN" altLang="zh-CN" dirty="0"/>
              <a:t>关系代数</a:t>
            </a:r>
          </a:p>
          <a:p>
            <a:pPr marL="0" indent="0">
              <a:spcBef>
                <a:spcPts val="638"/>
              </a:spcBef>
              <a:buNone/>
            </a:pPr>
            <a:r>
              <a:rPr lang="en-US" altLang="zh-CN" dirty="0">
                <a:solidFill>
                  <a:srgbClr val="000000"/>
                </a:solidFill>
                <a:latin typeface="Symbol" panose="05050102010706020507" pitchFamily="18" charset="2"/>
              </a:rPr>
              <a:t>   </a:t>
            </a:r>
            <a:r>
              <a:rPr lang="zh-CN" altLang="zh-CN" dirty="0">
                <a:solidFill>
                  <a:srgbClr val="000000"/>
                </a:solidFill>
                <a:latin typeface="Symbol" panose="05050102010706020507" pitchFamily="18" charset="2"/>
              </a:rPr>
              <a:t></a:t>
            </a:r>
            <a:r>
              <a:rPr lang="zh-CN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zh-CN" sz="2000" baseline="-21000" dirty="0">
                <a:solidFill>
                  <a:srgbClr val="000000"/>
                </a:solidFill>
              </a:rPr>
              <a:t>列名, … , 列名</a:t>
            </a:r>
            <a:r>
              <a:rPr lang="zh-CN" altLang="zh-CN" sz="2000" dirty="0">
                <a:solidFill>
                  <a:srgbClr val="000000"/>
                </a:solidFill>
              </a:rPr>
              <a:t>(</a:t>
            </a:r>
            <a:r>
              <a:rPr lang="zh-CN" altLang="zh-CN" sz="2000" dirty="0">
                <a:solidFill>
                  <a:srgbClr val="000000"/>
                </a:solidFill>
                <a:latin typeface="Symbol" panose="05050102010706020507" pitchFamily="18" charset="2"/>
              </a:rPr>
              <a:t></a:t>
            </a:r>
            <a:r>
              <a:rPr lang="zh-CN" altLang="zh-C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zh-CN" sz="2000" baseline="-24000" dirty="0">
                <a:solidFill>
                  <a:srgbClr val="000000"/>
                </a:solidFill>
              </a:rPr>
              <a:t>检索条件 </a:t>
            </a:r>
            <a:r>
              <a:rPr lang="zh-CN" altLang="zh-CN" sz="2000" dirty="0">
                <a:solidFill>
                  <a:srgbClr val="000000"/>
                </a:solidFill>
              </a:rPr>
              <a:t>(表名1 </a:t>
            </a:r>
            <a:r>
              <a:rPr lang="zh-CN" altLang="zh-CN" sz="2000" dirty="0">
                <a:solidFill>
                  <a:srgbClr val="000000"/>
                </a:solidFill>
                <a:latin typeface="Symbol" panose="05050102010706020507" pitchFamily="18" charset="2"/>
              </a:rPr>
              <a:t></a:t>
            </a:r>
            <a:r>
              <a:rPr lang="zh-CN" altLang="zh-C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zh-CN" sz="2000" dirty="0">
                <a:solidFill>
                  <a:srgbClr val="000000"/>
                </a:solidFill>
              </a:rPr>
              <a:t>表名2 </a:t>
            </a:r>
            <a:r>
              <a:rPr lang="zh-CN" altLang="zh-CN" sz="2000" dirty="0">
                <a:solidFill>
                  <a:srgbClr val="000000"/>
                </a:solidFill>
                <a:latin typeface="Symbol" panose="05050102010706020507" pitchFamily="18" charset="2"/>
              </a:rPr>
              <a:t></a:t>
            </a:r>
            <a:r>
              <a:rPr lang="zh-CN" altLang="zh-C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zh-CN" sz="2000" dirty="0">
                <a:solidFill>
                  <a:srgbClr val="000000"/>
                </a:solidFill>
              </a:rPr>
              <a:t>…))</a:t>
            </a:r>
            <a:endParaRPr lang="zh-CN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975"/>
              </a:spcBef>
              <a:buNone/>
            </a:pPr>
            <a:r>
              <a:rPr lang="en-US" altLang="zh-CN" sz="3000" baseline="12000" dirty="0">
                <a:solidFill>
                  <a:srgbClr val="FF006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  </a:t>
            </a:r>
            <a:r>
              <a:rPr lang="zh-CN" altLang="zh-CN" sz="3000" baseline="12000" dirty="0">
                <a:solidFill>
                  <a:srgbClr val="FF006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π</a:t>
            </a:r>
            <a:r>
              <a:rPr lang="zh-CN" altLang="zh-CN" sz="1000" dirty="0">
                <a:solidFill>
                  <a:srgbClr val="000000"/>
                </a:solidFill>
                <a:cs typeface="Arial" panose="020B0604020202020204" pitchFamily="34" charset="0"/>
              </a:rPr>
              <a:t>S#,Sname, Score</a:t>
            </a:r>
            <a:r>
              <a:rPr lang="zh-CN" altLang="zh-CN" sz="2500" baseline="14000" dirty="0">
                <a:solidFill>
                  <a:srgbClr val="000000"/>
                </a:solidFill>
                <a:cs typeface="Arial" panose="020B0604020202020204" pitchFamily="34" charset="0"/>
              </a:rPr>
              <a:t>(</a:t>
            </a:r>
            <a:r>
              <a:rPr lang="zh-CN" altLang="zh-CN" sz="3000" baseline="12000" dirty="0">
                <a:solidFill>
                  <a:srgbClr val="FF006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σ</a:t>
            </a:r>
            <a:r>
              <a:rPr lang="zh-CN" altLang="zh-CN" sz="1000" dirty="0">
                <a:solidFill>
                  <a:srgbClr val="000000"/>
                </a:solidFill>
                <a:cs typeface="Arial" panose="020B0604020202020204" pitchFamily="34" charset="0"/>
              </a:rPr>
              <a:t>Cname=“</a:t>
            </a:r>
            <a:r>
              <a:rPr lang="zh-CN" altLang="zh-CN" sz="1000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数据结构</a:t>
            </a:r>
            <a:r>
              <a:rPr lang="zh-CN" altLang="zh-CN" sz="1000" dirty="0">
                <a:solidFill>
                  <a:srgbClr val="000000"/>
                </a:solidFill>
                <a:cs typeface="Arial" panose="020B0604020202020204" pitchFamily="34" charset="0"/>
              </a:rPr>
              <a:t>” </a:t>
            </a:r>
            <a:r>
              <a:rPr lang="zh-CN" altLang="zh-CN" sz="1000" dirty="0">
                <a:solidFill>
                  <a:srgbClr val="000000"/>
                </a:solidFill>
                <a:latin typeface="Symbol" panose="05050102010706020507" pitchFamily="18" charset="2"/>
              </a:rPr>
              <a:t></a:t>
            </a:r>
            <a:r>
              <a:rPr lang="zh-CN" altLang="zh-CN" sz="1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zh-CN" sz="1000" dirty="0">
                <a:solidFill>
                  <a:srgbClr val="000000"/>
                </a:solidFill>
                <a:cs typeface="Arial" panose="020B0604020202020204" pitchFamily="34" charset="0"/>
              </a:rPr>
              <a:t>Student.S#=SC.S# </a:t>
            </a:r>
            <a:r>
              <a:rPr lang="zh-CN" altLang="zh-CN" sz="1000" dirty="0">
                <a:solidFill>
                  <a:srgbClr val="000000"/>
                </a:solidFill>
                <a:latin typeface="Symbol" panose="05050102010706020507" pitchFamily="18" charset="2"/>
              </a:rPr>
              <a:t></a:t>
            </a:r>
            <a:r>
              <a:rPr lang="zh-CN" altLang="zh-CN" sz="1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zh-CN" sz="1000" dirty="0">
                <a:solidFill>
                  <a:srgbClr val="000000"/>
                </a:solidFill>
                <a:cs typeface="Arial" panose="020B0604020202020204" pitchFamily="34" charset="0"/>
              </a:rPr>
              <a:t>Course.C#=SC.C#</a:t>
            </a:r>
            <a:r>
              <a:rPr lang="zh-CN" altLang="zh-CN" sz="2500" baseline="14000" dirty="0">
                <a:solidFill>
                  <a:srgbClr val="000000"/>
                </a:solidFill>
                <a:cs typeface="Arial" panose="020B0604020202020204" pitchFamily="34" charset="0"/>
              </a:rPr>
              <a:t>(Student</a:t>
            </a:r>
            <a:r>
              <a:rPr lang="zh-CN" altLang="zh-CN" sz="3000" baseline="12000" dirty="0">
                <a:solidFill>
                  <a:srgbClr val="000000"/>
                </a:solidFill>
                <a:latin typeface="Symbol" panose="05050102010706020507" pitchFamily="18" charset="2"/>
              </a:rPr>
              <a:t></a:t>
            </a:r>
            <a:r>
              <a:rPr lang="zh-CN" altLang="zh-CN" sz="2500" baseline="14000" dirty="0">
                <a:solidFill>
                  <a:srgbClr val="000000"/>
                </a:solidFill>
                <a:cs typeface="Arial" panose="020B0604020202020204" pitchFamily="34" charset="0"/>
              </a:rPr>
              <a:t>SC</a:t>
            </a:r>
            <a:r>
              <a:rPr lang="zh-CN" altLang="zh-CN" sz="2500" baseline="14000" dirty="0">
                <a:solidFill>
                  <a:srgbClr val="000000"/>
                </a:solidFill>
                <a:latin typeface="Symbol" panose="05050102010706020507" pitchFamily="18" charset="2"/>
              </a:rPr>
              <a:t></a:t>
            </a:r>
            <a:r>
              <a:rPr lang="zh-CN" altLang="zh-CN" sz="2500" baseline="14000" dirty="0">
                <a:solidFill>
                  <a:srgbClr val="000000"/>
                </a:solidFill>
                <a:cs typeface="Arial" panose="020B0604020202020204" pitchFamily="34" charset="0"/>
              </a:rPr>
              <a:t>Course))</a:t>
            </a:r>
            <a:endParaRPr lang="zh-CN" altLang="zh-CN" sz="2500" baseline="14000" dirty="0">
              <a:cs typeface="Arial" panose="020B0604020202020204" pitchFamily="34" charset="0"/>
            </a:endParaRPr>
          </a:p>
          <a:p>
            <a:pPr marL="31750">
              <a:spcBef>
                <a:spcPts val="2063"/>
              </a:spcBef>
            </a:pPr>
            <a:r>
              <a:rPr lang="zh-CN" altLang="zh-CN" dirty="0"/>
              <a:t>数据库语言SQL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041400" y="4813639"/>
            <a:ext cx="7324725" cy="1714500"/>
          </a:xfrm>
          <a:prstGeom prst="rect">
            <a:avLst/>
          </a:prstGeom>
        </p:spPr>
        <p:txBody>
          <a:bodyPr lIns="0" tIns="10860" rIns="0" bIns="0">
            <a:spAutoFit/>
          </a:bodyPr>
          <a:lstStyle>
            <a:lvl1pPr marL="952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ts val="88"/>
              </a:spcBef>
            </a:pPr>
            <a:r>
              <a:rPr lang="zh-CN" altLang="zh-CN" sz="17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语义：将From后面的所有表串接起来，检索出满足“检索条件”的元组，并 按给定的列名及顺序进行投影显示。</a:t>
            </a:r>
            <a:endParaRPr lang="zh-CN" altLang="zh-CN" sz="17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spcBef>
                <a:spcPts val="1825"/>
              </a:spcBef>
            </a:pPr>
            <a:r>
              <a:rPr lang="zh-CN" altLang="zh-CN" sz="17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Select </a:t>
            </a:r>
            <a:r>
              <a:rPr lang="zh-CN" altLang="zh-CN" sz="1700" b="1" dirty="0">
                <a:latin typeface="Arial" panose="020B0604020202020204" pitchFamily="34" charset="0"/>
                <a:cs typeface="Arial" panose="020B0604020202020204" pitchFamily="34" charset="0"/>
              </a:rPr>
              <a:t>S#, Sname, Score</a:t>
            </a:r>
            <a:endParaRPr lang="zh-CN" altLang="zh-CN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r>
              <a:rPr lang="zh-CN" altLang="zh-CN" sz="17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From </a:t>
            </a:r>
            <a:r>
              <a:rPr lang="zh-CN" altLang="zh-CN" sz="1700" b="1" dirty="0">
                <a:latin typeface="Arial" panose="020B0604020202020204" pitchFamily="34" charset="0"/>
                <a:cs typeface="Arial" panose="020B0604020202020204" pitchFamily="34" charset="0"/>
              </a:rPr>
              <a:t>Student, SC, Course</a:t>
            </a:r>
            <a:endParaRPr lang="zh-CN" altLang="zh-CN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r>
              <a:rPr lang="zh-CN" altLang="zh-CN" sz="17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Where </a:t>
            </a:r>
            <a:r>
              <a:rPr lang="zh-CN" altLang="zh-CN" sz="1500" b="1" dirty="0">
                <a:latin typeface="Arial" panose="020B0604020202020204" pitchFamily="34" charset="0"/>
                <a:cs typeface="Arial" panose="020B0604020202020204" pitchFamily="34" charset="0"/>
              </a:rPr>
              <a:t>Cname=</a:t>
            </a:r>
            <a:r>
              <a:rPr lang="zh-CN" altLang="zh-CN" sz="1500" b="1" dirty="0">
                <a:latin typeface="宋体" panose="02010600030101010101" pitchFamily="2" charset="-122"/>
              </a:rPr>
              <a:t>‘数据结构’</a:t>
            </a:r>
            <a:r>
              <a:rPr lang="zh-CN" altLang="zh-CN" sz="17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zh-CN" altLang="zh-CN" sz="1500" b="1" dirty="0">
                <a:latin typeface="Arial" panose="020B0604020202020204" pitchFamily="34" charset="0"/>
                <a:cs typeface="Arial" panose="020B0604020202020204" pitchFamily="34" charset="0"/>
              </a:rPr>
              <a:t>Student.S#=SC.S# </a:t>
            </a:r>
            <a:r>
              <a:rPr lang="zh-CN" altLang="zh-CN" sz="17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zh-CN" altLang="zh-CN" sz="1500" b="1" dirty="0">
                <a:latin typeface="Arial" panose="020B0604020202020204" pitchFamily="34" charset="0"/>
                <a:cs typeface="Arial" panose="020B0604020202020204" pitchFamily="34" charset="0"/>
              </a:rPr>
              <a:t>Course.C#=SC.C#;</a:t>
            </a:r>
            <a:endParaRPr lang="zh-CN" altLang="zh-CN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3052763" y="496097"/>
            <a:ext cx="3302000" cy="852488"/>
          </a:xfrm>
        </p:spPr>
        <p:txBody>
          <a:bodyPr lIns="0" tIns="10317" rIns="0" bIns="0">
            <a:spAutoFit/>
          </a:bodyPr>
          <a:lstStyle/>
          <a:p>
            <a:pPr>
              <a:spcBef>
                <a:spcPts val="75"/>
              </a:spcBef>
            </a:pPr>
            <a:r>
              <a:rPr lang="zh-CN" altLang="zh-CN" sz="2700" dirty="0">
                <a:solidFill>
                  <a:srgbClr val="FFFF6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回顾本讲学习了什么?</a:t>
            </a:r>
            <a:endParaRPr lang="zh-CN" altLang="zh-CN" sz="27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灯片编号占位符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A6568E1-4089-4561-919E-9D2F37D3F2B0}" type="slidenum">
              <a:rPr lang="en-US" altLang="zh-CN" smtClean="0"/>
              <a:pPr>
                <a:defRPr/>
              </a:pPr>
              <a:t>75</a:t>
            </a:fld>
            <a:endParaRPr lang="en-US" altLang="zh-CN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1589088" y="3852863"/>
            <a:ext cx="717550" cy="222250"/>
          </a:xfrm>
          <a:prstGeom prst="rect">
            <a:avLst/>
          </a:prstGeom>
        </p:spPr>
        <p:txBody>
          <a:bodyPr lIns="0" tIns="10860" rIns="0" bIns="0">
            <a:spAutoFit/>
          </a:bodyPr>
          <a:lstStyle/>
          <a:p>
            <a:pPr marL="10860" eaLnBrk="1" hangingPunct="1">
              <a:spcBef>
                <a:spcPts val="86"/>
              </a:spcBef>
              <a:defRPr/>
            </a:pPr>
            <a:r>
              <a:rPr sz="1368" b="1" spc="-9" dirty="0">
                <a:solidFill>
                  <a:srgbClr val="FF0000"/>
                </a:solidFill>
                <a:latin typeface="SimSun"/>
                <a:cs typeface="SimSun"/>
              </a:rPr>
              <a:t>基本动作</a:t>
            </a:r>
            <a:endParaRPr sz="1368">
              <a:latin typeface="SimSun"/>
              <a:cs typeface="SimSu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14613" y="3821113"/>
            <a:ext cx="1076325" cy="495300"/>
          </a:xfrm>
          <a:prstGeom prst="rect">
            <a:avLst/>
          </a:prstGeom>
        </p:spPr>
        <p:txBody>
          <a:bodyPr lIns="0" tIns="10860" rIns="0" bIns="0">
            <a:spAutoFit/>
          </a:bodyPr>
          <a:lstStyle>
            <a:lvl1pPr marL="9525" indent="11113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ts val="88"/>
              </a:spcBef>
            </a:pPr>
            <a:r>
              <a:rPr lang="zh-CN" altLang="zh-CN" sz="1300" b="1">
                <a:solidFill>
                  <a:srgbClr val="FF0000"/>
                </a:solidFill>
                <a:latin typeface="宋体" panose="02010600030101010101" pitchFamily="2" charset="-122"/>
              </a:rPr>
              <a:t>对基本动作的 抽象与控制</a:t>
            </a:r>
            <a:endParaRPr lang="zh-CN" altLang="zh-CN" sz="1300">
              <a:latin typeface="宋体" panose="02010600030101010101" pitchFamily="2" charset="-122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89088" y="4546600"/>
            <a:ext cx="1387475" cy="1222375"/>
          </a:xfrm>
          <a:prstGeom prst="rect">
            <a:avLst/>
          </a:prstGeom>
        </p:spPr>
        <p:txBody>
          <a:bodyPr lIns="0" tIns="41810" rIns="0" bIns="0">
            <a:spAutoFit/>
          </a:bodyPr>
          <a:lstStyle/>
          <a:p>
            <a:pPr marL="10860" eaLnBrk="1" hangingPunct="1">
              <a:spcBef>
                <a:spcPts val="329"/>
              </a:spcBef>
              <a:tabLst>
                <a:tab pos="1242901" algn="l"/>
              </a:tabLst>
              <a:defRPr/>
            </a:pPr>
            <a:r>
              <a:rPr sz="1368" b="1" spc="-4" dirty="0">
                <a:solidFill>
                  <a:srgbClr val="FF0000"/>
                </a:solidFill>
                <a:latin typeface="Arial"/>
                <a:cs typeface="Arial"/>
              </a:rPr>
              <a:t>“</a:t>
            </a:r>
            <a:r>
              <a:rPr sz="1368" b="1" spc="-4" dirty="0">
                <a:solidFill>
                  <a:srgbClr val="FF0000"/>
                </a:solidFill>
                <a:latin typeface="SimSun"/>
                <a:cs typeface="SimSun"/>
              </a:rPr>
              <a:t>并</a:t>
            </a:r>
            <a:r>
              <a:rPr sz="1368" b="1" spc="-4" dirty="0">
                <a:solidFill>
                  <a:srgbClr val="FF0000"/>
                </a:solidFill>
                <a:latin typeface="Arial"/>
                <a:cs typeface="Arial"/>
              </a:rPr>
              <a:t>”</a:t>
            </a:r>
            <a:r>
              <a:rPr sz="1368" b="1" spc="-4" dirty="0">
                <a:solidFill>
                  <a:srgbClr val="FF0000"/>
                </a:solidFill>
                <a:latin typeface="SimSun"/>
                <a:cs typeface="SimSun"/>
              </a:rPr>
              <a:t>动作</a:t>
            </a:r>
            <a:r>
              <a:rPr sz="1368" b="1" dirty="0">
                <a:solidFill>
                  <a:srgbClr val="FF0000"/>
                </a:solidFill>
                <a:latin typeface="SimSun"/>
                <a:cs typeface="SimSun"/>
              </a:rPr>
              <a:t>	</a:t>
            </a:r>
            <a:r>
              <a:rPr sz="1368" b="1" dirty="0">
                <a:solidFill>
                  <a:srgbClr val="FF0000"/>
                </a:solidFill>
                <a:latin typeface="Symbol"/>
                <a:cs typeface="Symbol"/>
              </a:rPr>
              <a:t></a:t>
            </a:r>
            <a:endParaRPr sz="1368">
              <a:latin typeface="Symbol"/>
              <a:cs typeface="Symbol"/>
            </a:endParaRPr>
          </a:p>
          <a:p>
            <a:pPr marL="10860" eaLnBrk="1" hangingPunct="1">
              <a:spcBef>
                <a:spcPts val="248"/>
              </a:spcBef>
              <a:tabLst>
                <a:tab pos="1242901" algn="l"/>
              </a:tabLst>
              <a:defRPr/>
            </a:pPr>
            <a:r>
              <a:rPr sz="1368" b="1" spc="-4" dirty="0">
                <a:solidFill>
                  <a:srgbClr val="FF0000"/>
                </a:solidFill>
                <a:latin typeface="Arial"/>
                <a:cs typeface="Arial"/>
              </a:rPr>
              <a:t>“</a:t>
            </a:r>
            <a:r>
              <a:rPr sz="1368" b="1" spc="-4" dirty="0">
                <a:solidFill>
                  <a:srgbClr val="FF0000"/>
                </a:solidFill>
                <a:latin typeface="SimSun"/>
                <a:cs typeface="SimSun"/>
              </a:rPr>
              <a:t>差</a:t>
            </a:r>
            <a:r>
              <a:rPr sz="1368" b="1" spc="-4" dirty="0">
                <a:solidFill>
                  <a:srgbClr val="FF0000"/>
                </a:solidFill>
                <a:latin typeface="Arial"/>
                <a:cs typeface="Arial"/>
              </a:rPr>
              <a:t>”</a:t>
            </a:r>
            <a:r>
              <a:rPr sz="1368" b="1" spc="-4" dirty="0">
                <a:solidFill>
                  <a:srgbClr val="FF0000"/>
                </a:solidFill>
                <a:latin typeface="SimSun"/>
                <a:cs typeface="SimSun"/>
              </a:rPr>
              <a:t>动作	</a:t>
            </a:r>
            <a:r>
              <a:rPr sz="1368" b="1" dirty="0">
                <a:solidFill>
                  <a:srgbClr val="FF0000"/>
                </a:solidFill>
                <a:latin typeface="Symbol"/>
                <a:cs typeface="Symbol"/>
              </a:rPr>
              <a:t></a:t>
            </a:r>
            <a:endParaRPr sz="1368">
              <a:latin typeface="Symbol"/>
              <a:cs typeface="Symbol"/>
            </a:endParaRPr>
          </a:p>
          <a:p>
            <a:pPr marL="10860" eaLnBrk="1" hangingPunct="1">
              <a:spcBef>
                <a:spcPts val="252"/>
              </a:spcBef>
              <a:tabLst>
                <a:tab pos="1242901" algn="l"/>
              </a:tabLst>
              <a:defRPr/>
            </a:pPr>
            <a:r>
              <a:rPr sz="1368" b="1" spc="-4" dirty="0">
                <a:solidFill>
                  <a:srgbClr val="FF0000"/>
                </a:solidFill>
                <a:latin typeface="Arial"/>
                <a:cs typeface="Arial"/>
              </a:rPr>
              <a:t>“</a:t>
            </a:r>
            <a:r>
              <a:rPr sz="1368" b="1" spc="-4" dirty="0">
                <a:solidFill>
                  <a:srgbClr val="FF0000"/>
                </a:solidFill>
                <a:latin typeface="SimSun"/>
                <a:cs typeface="SimSun"/>
              </a:rPr>
              <a:t>积</a:t>
            </a:r>
            <a:r>
              <a:rPr sz="1368" b="1" spc="-4" dirty="0">
                <a:solidFill>
                  <a:srgbClr val="FF0000"/>
                </a:solidFill>
                <a:latin typeface="Arial"/>
                <a:cs typeface="Arial"/>
              </a:rPr>
              <a:t>”</a:t>
            </a:r>
            <a:r>
              <a:rPr sz="1368" b="1" spc="-4" dirty="0">
                <a:solidFill>
                  <a:srgbClr val="FF0000"/>
                </a:solidFill>
                <a:latin typeface="SimSun"/>
                <a:cs typeface="SimSun"/>
              </a:rPr>
              <a:t>动作	</a:t>
            </a:r>
            <a:r>
              <a:rPr sz="1368" b="1" dirty="0">
                <a:solidFill>
                  <a:srgbClr val="FF0000"/>
                </a:solidFill>
                <a:latin typeface="Symbol"/>
                <a:cs typeface="Symbol"/>
              </a:rPr>
              <a:t></a:t>
            </a:r>
            <a:endParaRPr sz="1368">
              <a:latin typeface="Symbol"/>
              <a:cs typeface="Symbol"/>
            </a:endParaRPr>
          </a:p>
          <a:p>
            <a:pPr marL="10860" eaLnBrk="1" hangingPunct="1">
              <a:spcBef>
                <a:spcPts val="248"/>
              </a:spcBef>
              <a:tabLst>
                <a:tab pos="1220638" algn="l"/>
              </a:tabLst>
              <a:defRPr/>
            </a:pPr>
            <a:r>
              <a:rPr sz="1368" b="1" spc="-4" dirty="0">
                <a:solidFill>
                  <a:srgbClr val="FF0000"/>
                </a:solidFill>
                <a:latin typeface="Arial"/>
                <a:cs typeface="Arial"/>
              </a:rPr>
              <a:t>“</a:t>
            </a:r>
            <a:r>
              <a:rPr sz="1368" b="1" spc="-4" dirty="0">
                <a:solidFill>
                  <a:srgbClr val="FF0000"/>
                </a:solidFill>
                <a:latin typeface="SimSun"/>
                <a:cs typeface="SimSun"/>
              </a:rPr>
              <a:t>选择</a:t>
            </a:r>
            <a:r>
              <a:rPr sz="1368" b="1" spc="-4" dirty="0">
                <a:solidFill>
                  <a:srgbClr val="FF0000"/>
                </a:solidFill>
                <a:latin typeface="Arial"/>
                <a:cs typeface="Arial"/>
              </a:rPr>
              <a:t>”</a:t>
            </a:r>
            <a:r>
              <a:rPr sz="1368" b="1" spc="-4" dirty="0">
                <a:solidFill>
                  <a:srgbClr val="FF0000"/>
                </a:solidFill>
                <a:latin typeface="SimSun"/>
                <a:cs typeface="SimSun"/>
              </a:rPr>
              <a:t>动作	</a:t>
            </a:r>
            <a:r>
              <a:rPr sz="1368" b="1" dirty="0">
                <a:solidFill>
                  <a:srgbClr val="FF0000"/>
                </a:solidFill>
                <a:latin typeface="Symbol"/>
                <a:cs typeface="Symbol"/>
              </a:rPr>
              <a:t></a:t>
            </a:r>
            <a:endParaRPr sz="1368">
              <a:latin typeface="Symbol"/>
              <a:cs typeface="Symbol"/>
            </a:endParaRPr>
          </a:p>
          <a:p>
            <a:pPr marL="10860" eaLnBrk="1" hangingPunct="1">
              <a:spcBef>
                <a:spcPts val="252"/>
              </a:spcBef>
              <a:tabLst>
                <a:tab pos="1220638" algn="l"/>
              </a:tabLst>
              <a:defRPr/>
            </a:pPr>
            <a:r>
              <a:rPr sz="1368" b="1" spc="-4" dirty="0">
                <a:solidFill>
                  <a:srgbClr val="FF0000"/>
                </a:solidFill>
                <a:latin typeface="Arial"/>
                <a:cs typeface="Arial"/>
              </a:rPr>
              <a:t>“</a:t>
            </a:r>
            <a:r>
              <a:rPr sz="1368" b="1" spc="-4" dirty="0">
                <a:solidFill>
                  <a:srgbClr val="FF0000"/>
                </a:solidFill>
                <a:latin typeface="SimSun"/>
                <a:cs typeface="SimSun"/>
              </a:rPr>
              <a:t>投影</a:t>
            </a:r>
            <a:r>
              <a:rPr sz="1368" b="1" spc="-4" dirty="0">
                <a:solidFill>
                  <a:srgbClr val="FF0000"/>
                </a:solidFill>
                <a:latin typeface="Arial"/>
                <a:cs typeface="Arial"/>
              </a:rPr>
              <a:t>”</a:t>
            </a:r>
            <a:r>
              <a:rPr sz="1368" b="1" spc="-4" dirty="0">
                <a:solidFill>
                  <a:srgbClr val="FF0000"/>
                </a:solidFill>
                <a:latin typeface="SimSun"/>
                <a:cs typeface="SimSun"/>
              </a:rPr>
              <a:t>动作	</a:t>
            </a:r>
            <a:r>
              <a:rPr sz="1368" b="1" dirty="0">
                <a:solidFill>
                  <a:srgbClr val="FF0000"/>
                </a:solidFill>
                <a:latin typeface="Symbol"/>
                <a:cs typeface="Symbol"/>
              </a:rPr>
              <a:t></a:t>
            </a:r>
            <a:endParaRPr sz="1368">
              <a:latin typeface="Symbol"/>
              <a:cs typeface="Symbo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308725" y="3673475"/>
            <a:ext cx="73025" cy="1101725"/>
          </a:xfrm>
          <a:custGeom>
            <a:avLst/>
            <a:gdLst/>
            <a:ahLst/>
            <a:cxnLst/>
            <a:rect l="l" t="t" r="r" b="b"/>
            <a:pathLst>
              <a:path w="85725" h="1289685">
                <a:moveTo>
                  <a:pt x="85331" y="1203197"/>
                </a:moveTo>
                <a:lnTo>
                  <a:pt x="0" y="1203197"/>
                </a:lnTo>
                <a:lnTo>
                  <a:pt x="28194" y="1260089"/>
                </a:lnTo>
                <a:lnTo>
                  <a:pt x="28194" y="1217676"/>
                </a:lnTo>
                <a:lnTo>
                  <a:pt x="57150" y="1217676"/>
                </a:lnTo>
                <a:lnTo>
                  <a:pt x="57150" y="1260080"/>
                </a:lnTo>
                <a:lnTo>
                  <a:pt x="85331" y="1203197"/>
                </a:lnTo>
                <a:close/>
              </a:path>
              <a:path w="85725" h="1289685">
                <a:moveTo>
                  <a:pt x="57150" y="1203197"/>
                </a:moveTo>
                <a:lnTo>
                  <a:pt x="57150" y="0"/>
                </a:lnTo>
                <a:lnTo>
                  <a:pt x="28194" y="0"/>
                </a:lnTo>
                <a:lnTo>
                  <a:pt x="28194" y="1203197"/>
                </a:lnTo>
                <a:lnTo>
                  <a:pt x="57150" y="1203197"/>
                </a:lnTo>
                <a:close/>
              </a:path>
              <a:path w="85725" h="1289685">
                <a:moveTo>
                  <a:pt x="57150" y="1260080"/>
                </a:moveTo>
                <a:lnTo>
                  <a:pt x="57150" y="1217676"/>
                </a:lnTo>
                <a:lnTo>
                  <a:pt x="28194" y="1217676"/>
                </a:lnTo>
                <a:lnTo>
                  <a:pt x="28194" y="1260089"/>
                </a:lnTo>
                <a:lnTo>
                  <a:pt x="42672" y="1289303"/>
                </a:lnTo>
                <a:lnTo>
                  <a:pt x="57150" y="1260080"/>
                </a:lnTo>
                <a:close/>
              </a:path>
            </a:pathLst>
          </a:custGeom>
          <a:solidFill>
            <a:srgbClr val="FF0000"/>
          </a:solid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9" name="object 9"/>
          <p:cNvSpPr/>
          <p:nvPr/>
        </p:nvSpPr>
        <p:spPr>
          <a:xfrm>
            <a:off x="5543550" y="4765675"/>
            <a:ext cx="1619250" cy="730250"/>
          </a:xfrm>
          <a:custGeom>
            <a:avLst/>
            <a:gdLst/>
            <a:ahLst/>
            <a:cxnLst/>
            <a:rect l="l" t="t" r="r" b="b"/>
            <a:pathLst>
              <a:path w="1892300" h="854710">
                <a:moveTo>
                  <a:pt x="0" y="0"/>
                </a:moveTo>
                <a:lnTo>
                  <a:pt x="0" y="854201"/>
                </a:lnTo>
                <a:lnTo>
                  <a:pt x="1892045" y="854201"/>
                </a:lnTo>
                <a:lnTo>
                  <a:pt x="1892045" y="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FF0000"/>
            </a:solidFill>
          </a:ln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0" name="object 10"/>
          <p:cNvSpPr txBox="1"/>
          <p:nvPr/>
        </p:nvSpPr>
        <p:spPr>
          <a:xfrm>
            <a:off x="5624513" y="4802188"/>
            <a:ext cx="1411287" cy="650875"/>
          </a:xfrm>
          <a:prstGeom prst="rect">
            <a:avLst/>
          </a:prstGeom>
        </p:spPr>
        <p:txBody>
          <a:bodyPr lIns="0" tIns="5973" rIns="0" bIns="0">
            <a:spAutoFit/>
          </a:bodyPr>
          <a:lstStyle>
            <a:lvl1pPr marL="952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2000"/>
              </a:lnSpc>
              <a:spcBef>
                <a:spcPts val="50"/>
              </a:spcBef>
            </a:pPr>
            <a:r>
              <a:rPr lang="zh-CN" altLang="zh-CN" sz="1300" b="1">
                <a:solidFill>
                  <a:srgbClr val="FF0000"/>
                </a:solidFill>
                <a:latin typeface="宋体" panose="02010600030101010101" pitchFamily="2" charset="-122"/>
              </a:rPr>
              <a:t>解释这种组合</a:t>
            </a:r>
            <a:r>
              <a:rPr lang="zh-CN" altLang="zh-CN" sz="13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zh-CN" altLang="zh-CN" sz="1300" b="1">
                <a:solidFill>
                  <a:srgbClr val="FF0000"/>
                </a:solidFill>
                <a:latin typeface="宋体" panose="02010600030101010101" pitchFamily="2" charset="-122"/>
              </a:rPr>
              <a:t>并 按次序调用基本动 作予以执行</a:t>
            </a:r>
            <a:endParaRPr lang="zh-CN" altLang="zh-CN" sz="1300">
              <a:latin typeface="宋体" panose="02010600030101010101" pitchFamily="2" charset="-122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411288" y="4438650"/>
            <a:ext cx="2398712" cy="0"/>
          </a:xfrm>
          <a:custGeom>
            <a:avLst/>
            <a:gdLst/>
            <a:ahLst/>
            <a:cxnLst/>
            <a:rect l="l" t="t" r="r" b="b"/>
            <a:pathLst>
              <a:path w="2803525">
                <a:moveTo>
                  <a:pt x="0" y="0"/>
                </a:moveTo>
                <a:lnTo>
                  <a:pt x="2803398" y="0"/>
                </a:lnTo>
              </a:path>
            </a:pathLst>
          </a:custGeom>
          <a:ln w="28575">
            <a:solidFill>
              <a:srgbClr val="3333CC"/>
            </a:solidFill>
          </a:ln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2" name="object 12"/>
          <p:cNvSpPr/>
          <p:nvPr/>
        </p:nvSpPr>
        <p:spPr>
          <a:xfrm>
            <a:off x="2527300" y="3938588"/>
            <a:ext cx="12700" cy="1836737"/>
          </a:xfrm>
          <a:custGeom>
            <a:avLst/>
            <a:gdLst/>
            <a:ahLst/>
            <a:cxnLst/>
            <a:rect l="l" t="t" r="r" b="b"/>
            <a:pathLst>
              <a:path w="14605" h="2146934">
                <a:moveTo>
                  <a:pt x="0" y="0"/>
                </a:moveTo>
                <a:lnTo>
                  <a:pt x="14478" y="2146554"/>
                </a:lnTo>
              </a:path>
            </a:pathLst>
          </a:custGeom>
          <a:ln w="28575">
            <a:solidFill>
              <a:srgbClr val="3333CC"/>
            </a:solidFill>
          </a:ln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3" name="object 13"/>
          <p:cNvSpPr/>
          <p:nvPr/>
        </p:nvSpPr>
        <p:spPr>
          <a:xfrm>
            <a:off x="4122738" y="5062538"/>
            <a:ext cx="1416050" cy="74612"/>
          </a:xfrm>
          <a:custGeom>
            <a:avLst/>
            <a:gdLst/>
            <a:ahLst/>
            <a:cxnLst/>
            <a:rect l="l" t="t" r="r" b="b"/>
            <a:pathLst>
              <a:path w="1656079" h="86360">
                <a:moveTo>
                  <a:pt x="86106" y="28956"/>
                </a:moveTo>
                <a:lnTo>
                  <a:pt x="86106" y="0"/>
                </a:lnTo>
                <a:lnTo>
                  <a:pt x="0" y="43434"/>
                </a:lnTo>
                <a:lnTo>
                  <a:pt x="71627" y="78931"/>
                </a:lnTo>
                <a:lnTo>
                  <a:pt x="71627" y="28956"/>
                </a:lnTo>
                <a:lnTo>
                  <a:pt x="86106" y="28956"/>
                </a:lnTo>
                <a:close/>
              </a:path>
              <a:path w="1656079" h="86360">
                <a:moveTo>
                  <a:pt x="1655826" y="57150"/>
                </a:moveTo>
                <a:lnTo>
                  <a:pt x="1655826" y="28955"/>
                </a:lnTo>
                <a:lnTo>
                  <a:pt x="71627" y="28956"/>
                </a:lnTo>
                <a:lnTo>
                  <a:pt x="71627" y="57150"/>
                </a:lnTo>
                <a:lnTo>
                  <a:pt x="1655826" y="57150"/>
                </a:lnTo>
                <a:close/>
              </a:path>
              <a:path w="1656079" h="86360">
                <a:moveTo>
                  <a:pt x="86106" y="86106"/>
                </a:moveTo>
                <a:lnTo>
                  <a:pt x="86106" y="57150"/>
                </a:lnTo>
                <a:lnTo>
                  <a:pt x="71627" y="57150"/>
                </a:lnTo>
                <a:lnTo>
                  <a:pt x="71627" y="78931"/>
                </a:lnTo>
                <a:lnTo>
                  <a:pt x="86106" y="86106"/>
                </a:lnTo>
                <a:close/>
              </a:path>
            </a:pathLst>
          </a:custGeom>
          <a:solidFill>
            <a:srgbClr val="FF0000"/>
          </a:solid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4" name="object 14"/>
          <p:cNvSpPr/>
          <p:nvPr/>
        </p:nvSpPr>
        <p:spPr>
          <a:xfrm>
            <a:off x="1071563" y="1457325"/>
            <a:ext cx="7107237" cy="4627563"/>
          </a:xfrm>
          <a:custGeom>
            <a:avLst/>
            <a:gdLst/>
            <a:ahLst/>
            <a:cxnLst/>
            <a:rect l="l" t="t" r="r" b="b"/>
            <a:pathLst>
              <a:path w="8312150" h="5412105">
                <a:moveTo>
                  <a:pt x="0" y="0"/>
                </a:moveTo>
                <a:lnTo>
                  <a:pt x="0" y="5411724"/>
                </a:lnTo>
                <a:lnTo>
                  <a:pt x="8311896" y="5411724"/>
                </a:lnTo>
                <a:lnTo>
                  <a:pt x="8311896" y="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FF0000"/>
            </a:solidFill>
          </a:ln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15" name="object 15"/>
          <p:cNvSpPr txBox="1"/>
          <p:nvPr/>
        </p:nvSpPr>
        <p:spPr>
          <a:xfrm>
            <a:off x="7335838" y="4648200"/>
            <a:ext cx="542925" cy="958850"/>
          </a:xfrm>
          <a:prstGeom prst="rect">
            <a:avLst/>
          </a:prstGeom>
        </p:spPr>
        <p:txBody>
          <a:bodyPr lIns="0" tIns="10860" rIns="0" bIns="0">
            <a:spAutoFit/>
          </a:bodyPr>
          <a:lstStyle>
            <a:lvl1pPr marL="952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ts val="88"/>
              </a:spcBef>
            </a:pPr>
            <a:r>
              <a:rPr lang="zh-CN" altLang="zh-CN" sz="2000" b="1">
                <a:latin typeface="宋体" panose="02010600030101010101" pitchFamily="2" charset="-122"/>
              </a:rPr>
              <a:t>程序 执行 机构</a:t>
            </a:r>
            <a:endParaRPr lang="zh-CN" altLang="zh-CN" sz="2000">
              <a:latin typeface="宋体" panose="02010600030101010101" pitchFamily="2" charset="-122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268663" y="2335213"/>
            <a:ext cx="542925" cy="327025"/>
          </a:xfrm>
          <a:prstGeom prst="rect">
            <a:avLst/>
          </a:prstGeom>
        </p:spPr>
        <p:txBody>
          <a:bodyPr lIns="0" tIns="10860" rIns="0" bIns="0">
            <a:spAutoFit/>
          </a:bodyPr>
          <a:lstStyle/>
          <a:p>
            <a:pPr marL="10860" eaLnBrk="1" hangingPunct="1">
              <a:spcBef>
                <a:spcPts val="86"/>
              </a:spcBef>
              <a:defRPr/>
            </a:pPr>
            <a:r>
              <a:rPr sz="2052" b="1" spc="-9" dirty="0">
                <a:latin typeface="SimSun"/>
                <a:cs typeface="SimSun"/>
              </a:rPr>
              <a:t>程序</a:t>
            </a:r>
            <a:endParaRPr sz="2052">
              <a:latin typeface="SimSun"/>
              <a:cs typeface="SimSu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268663" y="4911725"/>
            <a:ext cx="542925" cy="327025"/>
          </a:xfrm>
          <a:prstGeom prst="rect">
            <a:avLst/>
          </a:prstGeom>
        </p:spPr>
        <p:txBody>
          <a:bodyPr lIns="0" tIns="10860" rIns="0" bIns="0">
            <a:spAutoFit/>
          </a:bodyPr>
          <a:lstStyle/>
          <a:p>
            <a:pPr marL="10860" eaLnBrk="1" hangingPunct="1">
              <a:spcBef>
                <a:spcPts val="86"/>
              </a:spcBef>
              <a:defRPr/>
            </a:pPr>
            <a:r>
              <a:rPr sz="2052" b="1" spc="-9" dirty="0">
                <a:latin typeface="SimSun"/>
                <a:cs typeface="SimSun"/>
              </a:rPr>
              <a:t>指令</a:t>
            </a:r>
            <a:endParaRPr sz="2052">
              <a:latin typeface="SimSun"/>
              <a:cs typeface="SimSu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217613" y="3886200"/>
            <a:ext cx="188912" cy="1047750"/>
          </a:xfrm>
          <a:prstGeom prst="rect">
            <a:avLst/>
          </a:prstGeom>
        </p:spPr>
        <p:txBody>
          <a:bodyPr vert="eaVert" lIns="0" tIns="0" rIns="0" bIns="0">
            <a:spAutoFit/>
          </a:bodyPr>
          <a:lstStyle/>
          <a:p>
            <a:pPr marL="10860" eaLnBrk="1" hangingPunct="1">
              <a:lnSpc>
                <a:spcPct val="60000"/>
              </a:lnSpc>
              <a:defRPr/>
            </a:pPr>
            <a:r>
              <a:rPr sz="2052" b="1" spc="-43" dirty="0">
                <a:latin typeface="SimSun"/>
                <a:cs typeface="SimSun"/>
              </a:rPr>
              <a:t>基本动</a:t>
            </a:r>
            <a:r>
              <a:rPr sz="2052" b="1" dirty="0">
                <a:latin typeface="SimSun"/>
                <a:cs typeface="SimSun"/>
              </a:rPr>
              <a:t>作</a:t>
            </a:r>
            <a:endParaRPr sz="2052">
              <a:latin typeface="SimSun"/>
              <a:cs typeface="SimSu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808413" y="1744663"/>
            <a:ext cx="4157662" cy="431800"/>
          </a:xfrm>
          <a:prstGeom prst="rect">
            <a:avLst/>
          </a:prstGeom>
        </p:spPr>
        <p:txBody>
          <a:bodyPr lIns="0" tIns="10860" rIns="0" bIns="0">
            <a:spAutoFit/>
          </a:bodyPr>
          <a:lstStyle/>
          <a:p>
            <a:pPr marL="10860" eaLnBrk="1" hangingPunct="1">
              <a:spcBef>
                <a:spcPts val="86"/>
              </a:spcBef>
              <a:tabLst>
                <a:tab pos="716745" algn="l"/>
                <a:tab pos="1432404" algn="l"/>
              </a:tabLst>
              <a:defRPr/>
            </a:pPr>
            <a:r>
              <a:rPr sz="1368" b="1" dirty="0">
                <a:solidFill>
                  <a:srgbClr val="3333CC"/>
                </a:solidFill>
                <a:latin typeface="Arial"/>
                <a:cs typeface="Arial"/>
              </a:rPr>
              <a:t>Select	</a:t>
            </a:r>
            <a:r>
              <a:rPr sz="1368" b="1" spc="-4" dirty="0">
                <a:solidFill>
                  <a:srgbClr val="FF0065"/>
                </a:solidFill>
                <a:latin typeface="Arial"/>
                <a:cs typeface="Arial"/>
              </a:rPr>
              <a:t>Sname	</a:t>
            </a:r>
            <a:r>
              <a:rPr sz="1368" b="1" dirty="0">
                <a:solidFill>
                  <a:srgbClr val="3333CC"/>
                </a:solidFill>
                <a:latin typeface="Arial"/>
                <a:cs typeface="Arial"/>
              </a:rPr>
              <a:t>From </a:t>
            </a:r>
            <a:r>
              <a:rPr sz="1368" b="1" spc="-4" dirty="0">
                <a:solidFill>
                  <a:srgbClr val="FF0065"/>
                </a:solidFill>
                <a:latin typeface="Arial"/>
                <a:cs typeface="Arial"/>
              </a:rPr>
              <a:t>Student, </a:t>
            </a:r>
            <a:r>
              <a:rPr sz="1368" b="1" dirty="0">
                <a:solidFill>
                  <a:srgbClr val="FF0065"/>
                </a:solidFill>
                <a:latin typeface="Arial"/>
                <a:cs typeface="Arial"/>
              </a:rPr>
              <a:t>SC</a:t>
            </a:r>
            <a:endParaRPr sz="1368">
              <a:latin typeface="Arial"/>
              <a:cs typeface="Arial"/>
            </a:endParaRPr>
          </a:p>
          <a:p>
            <a:pPr marL="10860" eaLnBrk="1" hangingPunct="1">
              <a:tabLst>
                <a:tab pos="687423" algn="l"/>
              </a:tabLst>
              <a:defRPr/>
            </a:pPr>
            <a:r>
              <a:rPr sz="1368" b="1" spc="-4" dirty="0">
                <a:solidFill>
                  <a:srgbClr val="3333CC"/>
                </a:solidFill>
                <a:latin typeface="Arial"/>
                <a:cs typeface="Arial"/>
              </a:rPr>
              <a:t>Where	</a:t>
            </a:r>
            <a:r>
              <a:rPr sz="1368" b="1" u="sng" dirty="0">
                <a:solidFill>
                  <a:srgbClr val="FF0065"/>
                </a:solidFill>
                <a:uFill>
                  <a:solidFill>
                    <a:srgbClr val="FF0065"/>
                  </a:solidFill>
                </a:uFill>
                <a:latin typeface="Arial"/>
                <a:cs typeface="Arial"/>
              </a:rPr>
              <a:t>Student.S# = SC.S#</a:t>
            </a:r>
            <a:r>
              <a:rPr sz="1368" b="1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1368" b="1" spc="-4" dirty="0">
                <a:solidFill>
                  <a:srgbClr val="FF0065"/>
                </a:solidFill>
                <a:latin typeface="Arial"/>
                <a:cs typeface="Arial"/>
              </a:rPr>
              <a:t>and SC.C# </a:t>
            </a:r>
            <a:r>
              <a:rPr sz="1368" b="1" dirty="0">
                <a:solidFill>
                  <a:srgbClr val="FF0065"/>
                </a:solidFill>
                <a:latin typeface="Arial"/>
                <a:cs typeface="Arial"/>
              </a:rPr>
              <a:t>=</a:t>
            </a:r>
            <a:r>
              <a:rPr sz="1368" b="1" spc="-64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1368" b="1" spc="-4" dirty="0">
                <a:solidFill>
                  <a:srgbClr val="FF0065"/>
                </a:solidFill>
                <a:latin typeface="SimSun"/>
                <a:cs typeface="SimSun"/>
              </a:rPr>
              <a:t>‘</a:t>
            </a:r>
            <a:r>
              <a:rPr sz="1368" b="1" spc="-4" dirty="0">
                <a:solidFill>
                  <a:srgbClr val="FF0065"/>
                </a:solidFill>
                <a:latin typeface="Arial"/>
                <a:cs typeface="Arial"/>
              </a:rPr>
              <a:t>001</a:t>
            </a:r>
            <a:r>
              <a:rPr sz="1368" b="1" spc="-4" dirty="0">
                <a:solidFill>
                  <a:srgbClr val="FF0065"/>
                </a:solidFill>
                <a:latin typeface="SimSun"/>
                <a:cs typeface="SimSun"/>
              </a:rPr>
              <a:t>’</a:t>
            </a:r>
            <a:endParaRPr sz="1368">
              <a:latin typeface="SimSun"/>
              <a:cs typeface="SimSu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808413" y="2162175"/>
            <a:ext cx="1982787" cy="222250"/>
          </a:xfrm>
          <a:prstGeom prst="rect">
            <a:avLst/>
          </a:prstGeom>
        </p:spPr>
        <p:txBody>
          <a:bodyPr lIns="0" tIns="10860" rIns="0" bIns="0">
            <a:spAutoFit/>
          </a:bodyPr>
          <a:lstStyle/>
          <a:p>
            <a:pPr marL="10860" eaLnBrk="1" hangingPunct="1">
              <a:spcBef>
                <a:spcPts val="86"/>
              </a:spcBef>
              <a:defRPr/>
            </a:pPr>
            <a:r>
              <a:rPr sz="1368" b="1" dirty="0">
                <a:solidFill>
                  <a:srgbClr val="3333CC"/>
                </a:solidFill>
                <a:latin typeface="Arial"/>
                <a:cs typeface="Arial"/>
              </a:rPr>
              <a:t>Order By </a:t>
            </a:r>
            <a:r>
              <a:rPr sz="1368" b="1" spc="-4" dirty="0">
                <a:solidFill>
                  <a:srgbClr val="FF0065"/>
                </a:solidFill>
                <a:latin typeface="Arial"/>
                <a:cs typeface="Arial"/>
              </a:rPr>
              <a:t>Score</a:t>
            </a:r>
            <a:r>
              <a:rPr sz="1368" b="1" spc="329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1368" b="1" spc="-4" dirty="0">
                <a:solidFill>
                  <a:srgbClr val="3333CC"/>
                </a:solidFill>
                <a:latin typeface="Arial"/>
                <a:cs typeface="Arial"/>
              </a:rPr>
              <a:t>DESC</a:t>
            </a:r>
            <a:r>
              <a:rPr sz="1368" b="1" spc="-4" dirty="0">
                <a:latin typeface="Arial"/>
                <a:cs typeface="Arial"/>
              </a:rPr>
              <a:t>;</a:t>
            </a:r>
            <a:endParaRPr sz="1368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3841750" y="2514600"/>
            <a:ext cx="4137025" cy="0"/>
          </a:xfrm>
          <a:custGeom>
            <a:avLst/>
            <a:gdLst/>
            <a:ahLst/>
            <a:cxnLst/>
            <a:rect l="l" t="t" r="r" b="b"/>
            <a:pathLst>
              <a:path w="4837430">
                <a:moveTo>
                  <a:pt x="0" y="0"/>
                </a:moveTo>
                <a:lnTo>
                  <a:pt x="4837176" y="0"/>
                </a:lnTo>
              </a:path>
            </a:pathLst>
          </a:custGeom>
          <a:ln w="38100">
            <a:solidFill>
              <a:srgbClr val="3333CC"/>
            </a:solidFill>
          </a:ln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22" name="object 22"/>
          <p:cNvSpPr txBox="1"/>
          <p:nvPr/>
        </p:nvSpPr>
        <p:spPr>
          <a:xfrm>
            <a:off x="3221038" y="5468938"/>
            <a:ext cx="1246187" cy="679450"/>
          </a:xfrm>
          <a:prstGeom prst="rect">
            <a:avLst/>
          </a:prstGeom>
          <a:solidFill>
            <a:srgbClr val="000000"/>
          </a:solidFill>
        </p:spPr>
        <p:txBody>
          <a:bodyPr lIns="0" tIns="47240" rIns="0" bIns="0">
            <a:spAutoFit/>
          </a:bodyPr>
          <a:lstStyle>
            <a:lvl1pPr marL="77788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375"/>
              </a:spcBef>
            </a:pPr>
            <a:r>
              <a:rPr lang="zh-CN" altLang="zh-CN" sz="2000" b="1">
                <a:solidFill>
                  <a:srgbClr val="FFFFFF"/>
                </a:solidFill>
                <a:latin typeface="宋体" panose="02010600030101010101" pitchFamily="2" charset="-122"/>
              </a:rPr>
              <a:t>关系模型 基本运算</a:t>
            </a:r>
            <a:endParaRPr lang="zh-CN" altLang="zh-CN" sz="2000">
              <a:latin typeface="宋体" panose="02010600030101010101" pitchFamily="2" charset="-122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513263" y="3375025"/>
            <a:ext cx="3625850" cy="361950"/>
          </a:xfrm>
          <a:prstGeom prst="rect">
            <a:avLst/>
          </a:prstGeom>
          <a:solidFill>
            <a:srgbClr val="000000"/>
          </a:solidFill>
        </p:spPr>
        <p:txBody>
          <a:bodyPr lIns="0" tIns="46697" rIns="0" bIns="0">
            <a:spAutoFit/>
          </a:bodyPr>
          <a:lstStyle/>
          <a:p>
            <a:pPr marL="78733" eaLnBrk="1" hangingPunct="1">
              <a:spcBef>
                <a:spcPts val="368"/>
              </a:spcBef>
              <a:defRPr/>
            </a:pPr>
            <a:r>
              <a:rPr sz="2052" b="1" spc="-9" dirty="0">
                <a:solidFill>
                  <a:srgbClr val="FFFFFF"/>
                </a:solidFill>
                <a:latin typeface="SimSun"/>
                <a:cs typeface="SimSun"/>
              </a:rPr>
              <a:t>关系模型基本运算的各种组合</a:t>
            </a:r>
            <a:endParaRPr sz="2052">
              <a:latin typeface="SimSun"/>
              <a:cs typeface="SimSu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926263" y="1546225"/>
            <a:ext cx="1216025" cy="346075"/>
          </a:xfrm>
          <a:prstGeom prst="rect">
            <a:avLst/>
          </a:prstGeom>
          <a:solidFill>
            <a:srgbClr val="000000"/>
          </a:solidFill>
        </p:spPr>
        <p:txBody>
          <a:bodyPr lIns="0" tIns="30408" rIns="0" bIns="0">
            <a:spAutoFit/>
          </a:bodyPr>
          <a:lstStyle/>
          <a:p>
            <a:pPr marL="77647" eaLnBrk="1" hangingPunct="1">
              <a:spcBef>
                <a:spcPts val="239"/>
              </a:spcBef>
              <a:defRPr/>
            </a:pPr>
            <a:r>
              <a:rPr sz="2052" b="1" spc="-4" dirty="0">
                <a:solidFill>
                  <a:srgbClr val="FFFFFF"/>
                </a:solidFill>
                <a:latin typeface="Arial"/>
                <a:cs typeface="Arial"/>
              </a:rPr>
              <a:t>SQL</a:t>
            </a:r>
            <a:r>
              <a:rPr sz="2052" b="1" spc="-9" dirty="0">
                <a:solidFill>
                  <a:srgbClr val="FFFFFF"/>
                </a:solidFill>
                <a:latin typeface="SimSun"/>
                <a:cs typeface="SimSun"/>
              </a:rPr>
              <a:t>语言</a:t>
            </a:r>
            <a:endParaRPr sz="2052">
              <a:latin typeface="SimSun"/>
              <a:cs typeface="SimSu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5908675" y="5468938"/>
            <a:ext cx="1292225" cy="703262"/>
          </a:xfrm>
          <a:custGeom>
            <a:avLst/>
            <a:gdLst/>
            <a:ahLst/>
            <a:cxnLst/>
            <a:rect l="l" t="t" r="r" b="b"/>
            <a:pathLst>
              <a:path w="1511300" h="822959">
                <a:moveTo>
                  <a:pt x="0" y="0"/>
                </a:moveTo>
                <a:lnTo>
                  <a:pt x="0" y="822960"/>
                </a:lnTo>
                <a:lnTo>
                  <a:pt x="1511046" y="822960"/>
                </a:lnTo>
                <a:lnTo>
                  <a:pt x="1511046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26" name="object 26"/>
          <p:cNvSpPr txBox="1"/>
          <p:nvPr/>
        </p:nvSpPr>
        <p:spPr>
          <a:xfrm>
            <a:off x="6022975" y="5505450"/>
            <a:ext cx="1065213" cy="642938"/>
          </a:xfrm>
          <a:prstGeom prst="rect">
            <a:avLst/>
          </a:prstGeom>
        </p:spPr>
        <p:txBody>
          <a:bodyPr lIns="0" tIns="10860" rIns="0" bIns="0">
            <a:spAutoFit/>
          </a:bodyPr>
          <a:lstStyle>
            <a:lvl1pPr marL="139700" indent="-1301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88"/>
              </a:spcBef>
            </a:pPr>
            <a:r>
              <a:rPr lang="zh-CN" altLang="zh-CN" sz="2000" b="1">
                <a:solidFill>
                  <a:srgbClr val="FFFFFF"/>
                </a:solidFill>
                <a:latin typeface="宋体" panose="02010600030101010101" pitchFamily="2" charset="-122"/>
              </a:rPr>
              <a:t>数据库管 理系统</a:t>
            </a:r>
            <a:endParaRPr lang="zh-CN" altLang="zh-CN" sz="2000">
              <a:latin typeface="宋体" panose="02010600030101010101" pitchFamily="2" charset="-122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808413" y="2541588"/>
            <a:ext cx="4333875" cy="784225"/>
          </a:xfrm>
          <a:prstGeom prst="rect">
            <a:avLst/>
          </a:prstGeom>
        </p:spPr>
        <p:txBody>
          <a:bodyPr lIns="0" tIns="114571" rIns="0" bIns="0">
            <a:spAutoFit/>
          </a:bodyPr>
          <a:lstStyle/>
          <a:p>
            <a:pPr marL="10860" eaLnBrk="1" hangingPunct="1">
              <a:spcBef>
                <a:spcPts val="902"/>
              </a:spcBef>
              <a:defRPr/>
            </a:pPr>
            <a:r>
              <a:rPr sz="3078" b="1" spc="-6" baseline="13888" dirty="0">
                <a:solidFill>
                  <a:srgbClr val="FF0000"/>
                </a:solidFill>
                <a:latin typeface="Symbol"/>
                <a:cs typeface="Symbol"/>
              </a:rPr>
              <a:t></a:t>
            </a:r>
            <a:r>
              <a:rPr sz="1368" b="1" spc="-4" dirty="0">
                <a:solidFill>
                  <a:srgbClr val="FF0000"/>
                </a:solidFill>
                <a:latin typeface="Arial"/>
                <a:cs typeface="Arial"/>
              </a:rPr>
              <a:t>Sname</a:t>
            </a:r>
            <a:r>
              <a:rPr sz="3078" b="1" spc="-6" baseline="13888" dirty="0">
                <a:solidFill>
                  <a:srgbClr val="FF0000"/>
                </a:solidFill>
                <a:latin typeface="Arial"/>
                <a:cs typeface="Arial"/>
              </a:rPr>
              <a:t>(</a:t>
            </a:r>
            <a:r>
              <a:rPr sz="3078" b="1" spc="-6" baseline="13888" dirty="0">
                <a:solidFill>
                  <a:srgbClr val="FF0000"/>
                </a:solidFill>
                <a:latin typeface="Symbol"/>
                <a:cs typeface="Symbol"/>
              </a:rPr>
              <a:t></a:t>
            </a:r>
            <a:r>
              <a:rPr sz="1368" b="1" spc="-4" dirty="0">
                <a:solidFill>
                  <a:srgbClr val="FF0000"/>
                </a:solidFill>
                <a:latin typeface="Arial"/>
                <a:cs typeface="Arial"/>
              </a:rPr>
              <a:t>student.s#=sc.s#</a:t>
            </a:r>
            <a:r>
              <a:rPr sz="3078" b="1" spc="-6" baseline="13888" dirty="0">
                <a:solidFill>
                  <a:srgbClr val="FF0000"/>
                </a:solidFill>
                <a:latin typeface="Arial"/>
                <a:cs typeface="Arial"/>
              </a:rPr>
              <a:t>(Student </a:t>
            </a:r>
            <a:r>
              <a:rPr sz="3078" b="1" spc="-6" baseline="13888" dirty="0">
                <a:solidFill>
                  <a:srgbClr val="FF0000"/>
                </a:solidFill>
                <a:latin typeface="Symbol"/>
                <a:cs typeface="Symbol"/>
              </a:rPr>
              <a:t></a:t>
            </a:r>
            <a:r>
              <a:rPr sz="3078" b="1" spc="13" baseline="13888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78" b="1" spc="-6" baseline="13888" dirty="0">
                <a:solidFill>
                  <a:srgbClr val="FF0000"/>
                </a:solidFill>
                <a:latin typeface="Arial"/>
                <a:cs typeface="Arial"/>
              </a:rPr>
              <a:t>SC))</a:t>
            </a:r>
            <a:endParaRPr sz="3078" baseline="13888">
              <a:latin typeface="Arial"/>
              <a:cs typeface="Arial"/>
            </a:endParaRPr>
          </a:p>
          <a:p>
            <a:pPr marL="178643" eaLnBrk="1" hangingPunct="1">
              <a:spcBef>
                <a:spcPts val="684"/>
              </a:spcBef>
              <a:defRPr/>
            </a:pPr>
            <a:r>
              <a:rPr sz="1710" b="1" spc="-9" dirty="0">
                <a:solidFill>
                  <a:srgbClr val="FF0000"/>
                </a:solidFill>
                <a:latin typeface="SimSun"/>
                <a:cs typeface="SimSun"/>
              </a:rPr>
              <a:t>复杂动作</a:t>
            </a:r>
            <a:r>
              <a:rPr sz="1710" b="1" spc="-398" dirty="0">
                <a:solidFill>
                  <a:srgbClr val="FF0000"/>
                </a:solidFill>
                <a:latin typeface="SimSun"/>
                <a:cs typeface="SimSun"/>
              </a:rPr>
              <a:t> </a:t>
            </a:r>
            <a:r>
              <a:rPr sz="1710" b="1" spc="-4" dirty="0">
                <a:solidFill>
                  <a:srgbClr val="FF0000"/>
                </a:solidFill>
                <a:latin typeface="Arial"/>
                <a:cs typeface="Arial"/>
              </a:rPr>
              <a:t>=</a:t>
            </a:r>
            <a:r>
              <a:rPr sz="1710" b="1" spc="-21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710" b="1" spc="-9" dirty="0">
                <a:solidFill>
                  <a:srgbClr val="FF0000"/>
                </a:solidFill>
                <a:latin typeface="SimSun"/>
                <a:cs typeface="SimSun"/>
              </a:rPr>
              <a:t>基本动作的各种方式的组合</a:t>
            </a:r>
            <a:endParaRPr sz="1710">
              <a:latin typeface="SimSun"/>
              <a:cs typeface="SimSun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090613" y="1490663"/>
            <a:ext cx="2066925" cy="1235075"/>
          </a:xfrm>
          <a:custGeom>
            <a:avLst/>
            <a:gdLst/>
            <a:ahLst/>
            <a:cxnLst/>
            <a:rect l="l" t="t" r="r" b="b"/>
            <a:pathLst>
              <a:path w="2417445" h="1443989">
                <a:moveTo>
                  <a:pt x="0" y="0"/>
                </a:moveTo>
                <a:lnTo>
                  <a:pt x="0" y="1443990"/>
                </a:lnTo>
                <a:lnTo>
                  <a:pt x="2417064" y="1443990"/>
                </a:lnTo>
                <a:lnTo>
                  <a:pt x="2417064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29" name="object 29"/>
          <p:cNvSpPr txBox="1"/>
          <p:nvPr/>
        </p:nvSpPr>
        <p:spPr>
          <a:xfrm>
            <a:off x="1262063" y="1957388"/>
            <a:ext cx="236537" cy="103187"/>
          </a:xfrm>
          <a:prstGeom prst="rect">
            <a:avLst/>
          </a:prstGeom>
        </p:spPr>
        <p:txBody>
          <a:bodyPr lIns="0" tIns="11403" rIns="0" bIns="0">
            <a:spAutoFit/>
          </a:bodyPr>
          <a:lstStyle/>
          <a:p>
            <a:pPr marL="10860" eaLnBrk="1" hangingPunct="1">
              <a:spcBef>
                <a:spcPts val="90"/>
              </a:spcBef>
              <a:defRPr/>
            </a:pPr>
            <a:r>
              <a:rPr sz="599" b="1" spc="-184" dirty="0">
                <a:latin typeface="SimSun"/>
                <a:cs typeface="SimSun"/>
              </a:rPr>
              <a:t>基本动作</a:t>
            </a:r>
            <a:endParaRPr sz="599">
              <a:latin typeface="SimSun"/>
              <a:cs typeface="SimSun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2547938" y="1943100"/>
            <a:ext cx="22225" cy="273050"/>
          </a:xfrm>
          <a:custGeom>
            <a:avLst/>
            <a:gdLst/>
            <a:ahLst/>
            <a:cxnLst/>
            <a:rect l="l" t="t" r="r" b="b"/>
            <a:pathLst>
              <a:path w="26669" h="319405">
                <a:moveTo>
                  <a:pt x="26669" y="281178"/>
                </a:moveTo>
                <a:lnTo>
                  <a:pt x="0" y="281178"/>
                </a:lnTo>
                <a:lnTo>
                  <a:pt x="9143" y="306578"/>
                </a:lnTo>
                <a:lnTo>
                  <a:pt x="9143" y="287274"/>
                </a:lnTo>
                <a:lnTo>
                  <a:pt x="17525" y="287274"/>
                </a:lnTo>
                <a:lnTo>
                  <a:pt x="17525" y="308072"/>
                </a:lnTo>
                <a:lnTo>
                  <a:pt x="26669" y="281178"/>
                </a:lnTo>
                <a:close/>
              </a:path>
              <a:path w="26669" h="319405">
                <a:moveTo>
                  <a:pt x="17525" y="281178"/>
                </a:moveTo>
                <a:lnTo>
                  <a:pt x="17525" y="0"/>
                </a:lnTo>
                <a:lnTo>
                  <a:pt x="9143" y="0"/>
                </a:lnTo>
                <a:lnTo>
                  <a:pt x="9143" y="281178"/>
                </a:lnTo>
                <a:lnTo>
                  <a:pt x="17525" y="281178"/>
                </a:lnTo>
                <a:close/>
              </a:path>
              <a:path w="26669" h="319405">
                <a:moveTo>
                  <a:pt x="17525" y="308072"/>
                </a:moveTo>
                <a:lnTo>
                  <a:pt x="17525" y="287274"/>
                </a:lnTo>
                <a:lnTo>
                  <a:pt x="9143" y="287274"/>
                </a:lnTo>
                <a:lnTo>
                  <a:pt x="9143" y="306578"/>
                </a:lnTo>
                <a:lnTo>
                  <a:pt x="13715" y="319278"/>
                </a:lnTo>
                <a:lnTo>
                  <a:pt x="17525" y="308072"/>
                </a:lnTo>
                <a:close/>
              </a:path>
            </a:pathLst>
          </a:custGeom>
          <a:solidFill>
            <a:srgbClr val="000000"/>
          </a:solid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31" name="object 31"/>
          <p:cNvSpPr txBox="1"/>
          <p:nvPr/>
        </p:nvSpPr>
        <p:spPr>
          <a:xfrm>
            <a:off x="2312988" y="2216150"/>
            <a:ext cx="498475" cy="306388"/>
          </a:xfrm>
          <a:prstGeom prst="rect">
            <a:avLst/>
          </a:prstGeom>
          <a:solidFill>
            <a:srgbClr val="FFFFFF"/>
          </a:solidFill>
          <a:ln w="8801">
            <a:solidFill>
              <a:srgbClr val="000000"/>
            </a:solidFill>
          </a:ln>
        </p:spPr>
        <p:txBody>
          <a:bodyPr lIns="0" tIns="18462" rIns="0" bIns="0">
            <a:spAutoFit/>
          </a:bodyPr>
          <a:lstStyle>
            <a:lvl1pPr marL="26988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4000"/>
              </a:lnSpc>
              <a:spcBef>
                <a:spcPts val="150"/>
              </a:spcBef>
            </a:pPr>
            <a:r>
              <a:rPr lang="zh-CN" altLang="zh-CN" sz="500" b="1">
                <a:latin typeface="宋体" panose="02010600030101010101" pitchFamily="2" charset="-122"/>
              </a:rPr>
              <a:t>解释这种组合</a:t>
            </a:r>
            <a:r>
              <a:rPr lang="zh-CN" altLang="zh-CN" sz="500" b="1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zh-CN" altLang="zh-CN" sz="500" b="1">
                <a:latin typeface="宋体" panose="02010600030101010101" pitchFamily="2" charset="-122"/>
              </a:rPr>
              <a:t>并 按次序调用基本 动作予以执行</a:t>
            </a:r>
            <a:endParaRPr lang="zh-CN" altLang="zh-CN" sz="500">
              <a:latin typeface="宋体" panose="02010600030101010101" pitchFamily="2" charset="-122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1212850" y="2219325"/>
            <a:ext cx="798513" cy="0"/>
          </a:xfrm>
          <a:custGeom>
            <a:avLst/>
            <a:gdLst/>
            <a:ahLst/>
            <a:cxnLst/>
            <a:rect l="l" t="t" r="r" b="b"/>
            <a:pathLst>
              <a:path w="932814">
                <a:moveTo>
                  <a:pt x="0" y="0"/>
                </a:moveTo>
                <a:lnTo>
                  <a:pt x="932688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33" name="object 33"/>
          <p:cNvSpPr/>
          <p:nvPr/>
        </p:nvSpPr>
        <p:spPr>
          <a:xfrm>
            <a:off x="1558925" y="1998663"/>
            <a:ext cx="0" cy="582612"/>
          </a:xfrm>
          <a:custGeom>
            <a:avLst/>
            <a:gdLst/>
            <a:ahLst/>
            <a:cxnLst/>
            <a:rect l="l" t="t" r="r" b="b"/>
            <a:pathLst>
              <a:path h="681355">
                <a:moveTo>
                  <a:pt x="0" y="0"/>
                </a:moveTo>
                <a:lnTo>
                  <a:pt x="0" y="681228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34" name="object 34"/>
          <p:cNvSpPr/>
          <p:nvPr/>
        </p:nvSpPr>
        <p:spPr>
          <a:xfrm>
            <a:off x="1874838" y="2347913"/>
            <a:ext cx="436562" cy="31750"/>
          </a:xfrm>
          <a:custGeom>
            <a:avLst/>
            <a:gdLst/>
            <a:ahLst/>
            <a:cxnLst/>
            <a:rect l="l" t="t" r="r" b="b"/>
            <a:pathLst>
              <a:path w="509905" h="38100">
                <a:moveTo>
                  <a:pt x="25908" y="12953"/>
                </a:moveTo>
                <a:lnTo>
                  <a:pt x="25908" y="0"/>
                </a:lnTo>
                <a:lnTo>
                  <a:pt x="0" y="19050"/>
                </a:lnTo>
                <a:lnTo>
                  <a:pt x="22098" y="35298"/>
                </a:lnTo>
                <a:lnTo>
                  <a:pt x="22098" y="12953"/>
                </a:lnTo>
                <a:lnTo>
                  <a:pt x="25908" y="12953"/>
                </a:lnTo>
                <a:close/>
              </a:path>
              <a:path w="509905" h="38100">
                <a:moveTo>
                  <a:pt x="509778" y="25146"/>
                </a:moveTo>
                <a:lnTo>
                  <a:pt x="509778" y="12953"/>
                </a:lnTo>
                <a:lnTo>
                  <a:pt x="22098" y="12953"/>
                </a:lnTo>
                <a:lnTo>
                  <a:pt x="22098" y="25146"/>
                </a:lnTo>
                <a:lnTo>
                  <a:pt x="509778" y="25146"/>
                </a:lnTo>
                <a:close/>
              </a:path>
              <a:path w="509905" h="38100">
                <a:moveTo>
                  <a:pt x="25908" y="38100"/>
                </a:moveTo>
                <a:lnTo>
                  <a:pt x="25908" y="25146"/>
                </a:lnTo>
                <a:lnTo>
                  <a:pt x="22098" y="25146"/>
                </a:lnTo>
                <a:lnTo>
                  <a:pt x="22098" y="35298"/>
                </a:lnTo>
                <a:lnTo>
                  <a:pt x="25908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35" name="object 35"/>
          <p:cNvSpPr/>
          <p:nvPr/>
        </p:nvSpPr>
        <p:spPr>
          <a:xfrm>
            <a:off x="1119188" y="1533525"/>
            <a:ext cx="2008187" cy="1163638"/>
          </a:xfrm>
          <a:custGeom>
            <a:avLst/>
            <a:gdLst/>
            <a:ahLst/>
            <a:cxnLst/>
            <a:rect l="l" t="t" r="r" b="b"/>
            <a:pathLst>
              <a:path w="2349500" h="1359535">
                <a:moveTo>
                  <a:pt x="0" y="0"/>
                </a:moveTo>
                <a:lnTo>
                  <a:pt x="0" y="1359408"/>
                </a:lnTo>
                <a:lnTo>
                  <a:pt x="2349245" y="1359407"/>
                </a:lnTo>
                <a:lnTo>
                  <a:pt x="2349245" y="0"/>
                </a:lnTo>
                <a:lnTo>
                  <a:pt x="0" y="0"/>
                </a:lnTo>
                <a:close/>
              </a:path>
            </a:pathLst>
          </a:custGeom>
          <a:ln w="8801">
            <a:solidFill>
              <a:srgbClr val="000000"/>
            </a:solidFill>
          </a:ln>
        </p:spPr>
        <p:txBody>
          <a:bodyPr lIns="0" tIns="0" rIns="0" bIns="0"/>
          <a:lstStyle/>
          <a:p>
            <a:pPr eaLnBrk="1" hangingPunct="1">
              <a:defRPr/>
            </a:pPr>
            <a:endParaRPr sz="2052"/>
          </a:p>
        </p:txBody>
      </p:sp>
      <p:sp>
        <p:nvSpPr>
          <p:cNvPr id="36" name="object 36"/>
          <p:cNvSpPr txBox="1"/>
          <p:nvPr/>
        </p:nvSpPr>
        <p:spPr>
          <a:xfrm>
            <a:off x="2824163" y="2146300"/>
            <a:ext cx="180975" cy="847725"/>
          </a:xfrm>
          <a:prstGeom prst="rect">
            <a:avLst/>
          </a:prstGeom>
        </p:spPr>
        <p:txBody>
          <a:bodyPr lIns="0" tIns="10317" rIns="0" bIns="0">
            <a:spAutoFit/>
          </a:bodyPr>
          <a:lstStyle>
            <a:lvl1pPr marL="952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01000"/>
              </a:lnSpc>
              <a:spcBef>
                <a:spcPts val="75"/>
              </a:spcBef>
            </a:pPr>
            <a:r>
              <a:rPr lang="zh-CN" altLang="zh-CN" sz="800" b="1">
                <a:latin typeface="宋体" panose="02010600030101010101" pitchFamily="2" charset="-122"/>
              </a:rPr>
              <a:t>程序 执行 机构</a:t>
            </a:r>
            <a:endParaRPr lang="zh-CN" altLang="zh-CN" sz="800">
              <a:latin typeface="宋体" panose="02010600030101010101" pitchFamily="2" charset="-122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262063" y="2262188"/>
            <a:ext cx="717550" cy="349250"/>
          </a:xfrm>
          <a:prstGeom prst="rect">
            <a:avLst/>
          </a:prstGeom>
        </p:spPr>
        <p:txBody>
          <a:bodyPr lIns="0" tIns="26064" rIns="0" bIns="0">
            <a:spAutoFit/>
          </a:bodyPr>
          <a:lstStyle/>
          <a:p>
            <a:pPr marL="10860" eaLnBrk="1" hangingPunct="1">
              <a:spcBef>
                <a:spcPts val="205"/>
              </a:spcBef>
              <a:tabLst>
                <a:tab pos="374662" algn="l"/>
              </a:tabLst>
              <a:defRPr/>
            </a:pPr>
            <a:r>
              <a:rPr sz="599" b="1" spc="-90" dirty="0">
                <a:latin typeface="Arial"/>
                <a:cs typeface="Arial"/>
              </a:rPr>
              <a:t>“</a:t>
            </a:r>
            <a:r>
              <a:rPr sz="599" b="1" spc="-184" dirty="0">
                <a:latin typeface="SimSun"/>
                <a:cs typeface="SimSun"/>
              </a:rPr>
              <a:t>与</a:t>
            </a:r>
            <a:r>
              <a:rPr sz="599" b="1" spc="-90" dirty="0">
                <a:latin typeface="Arial"/>
                <a:cs typeface="Arial"/>
              </a:rPr>
              <a:t>”</a:t>
            </a:r>
            <a:r>
              <a:rPr sz="599" b="1" spc="-184" dirty="0">
                <a:latin typeface="SimSun"/>
                <a:cs typeface="SimSun"/>
              </a:rPr>
              <a:t>动作	</a:t>
            </a:r>
            <a:r>
              <a:rPr sz="599" b="1" spc="-137" dirty="0">
                <a:latin typeface="Arial"/>
                <a:cs typeface="Arial"/>
              </a:rPr>
              <a:t>AND</a:t>
            </a:r>
            <a:endParaRPr sz="599">
              <a:latin typeface="Arial"/>
              <a:cs typeface="Arial"/>
            </a:endParaRPr>
          </a:p>
          <a:p>
            <a:pPr marL="10860" eaLnBrk="1" hangingPunct="1">
              <a:lnSpc>
                <a:spcPts val="667"/>
              </a:lnSpc>
              <a:spcBef>
                <a:spcPts val="124"/>
              </a:spcBef>
              <a:tabLst>
                <a:tab pos="389866" algn="l"/>
              </a:tabLst>
              <a:defRPr/>
            </a:pPr>
            <a:r>
              <a:rPr sz="599" b="1" spc="-90" dirty="0">
                <a:latin typeface="Arial"/>
                <a:cs typeface="Arial"/>
              </a:rPr>
              <a:t>“</a:t>
            </a:r>
            <a:r>
              <a:rPr sz="599" b="1" spc="-184" dirty="0">
                <a:latin typeface="SimSun"/>
                <a:cs typeface="SimSun"/>
              </a:rPr>
              <a:t>或</a:t>
            </a:r>
            <a:r>
              <a:rPr sz="599" b="1" spc="-90" dirty="0">
                <a:latin typeface="Arial"/>
                <a:cs typeface="Arial"/>
              </a:rPr>
              <a:t>”</a:t>
            </a:r>
            <a:r>
              <a:rPr sz="599" b="1" spc="-184" dirty="0">
                <a:latin typeface="SimSun"/>
                <a:cs typeface="SimSun"/>
              </a:rPr>
              <a:t>动作	</a:t>
            </a:r>
            <a:r>
              <a:rPr sz="599" b="1" spc="-141" dirty="0">
                <a:latin typeface="Arial"/>
                <a:cs typeface="Arial"/>
              </a:rPr>
              <a:t>OR</a:t>
            </a:r>
            <a:endParaRPr sz="599">
              <a:latin typeface="Arial"/>
              <a:cs typeface="Arial"/>
            </a:endParaRPr>
          </a:p>
          <a:p>
            <a:pPr marL="10860" eaLnBrk="1" hangingPunct="1">
              <a:lnSpc>
                <a:spcPts val="1026"/>
              </a:lnSpc>
              <a:tabLst>
                <a:tab pos="374119" algn="l"/>
              </a:tabLst>
              <a:defRPr/>
            </a:pPr>
            <a:r>
              <a:rPr sz="898" b="1" spc="-134" baseline="7936" dirty="0">
                <a:latin typeface="Arial"/>
                <a:cs typeface="Arial"/>
              </a:rPr>
              <a:t>“</a:t>
            </a:r>
            <a:r>
              <a:rPr sz="898" b="1" spc="-275" baseline="7936" dirty="0">
                <a:latin typeface="SimSun"/>
                <a:cs typeface="SimSun"/>
              </a:rPr>
              <a:t>非</a:t>
            </a:r>
            <a:r>
              <a:rPr sz="898" b="1" spc="-134" baseline="7936" dirty="0">
                <a:latin typeface="Arial"/>
                <a:cs typeface="Arial"/>
              </a:rPr>
              <a:t>”</a:t>
            </a:r>
            <a:r>
              <a:rPr sz="898" b="1" spc="-275" baseline="7936" dirty="0">
                <a:latin typeface="SimSun"/>
                <a:cs typeface="SimSun"/>
              </a:rPr>
              <a:t>动作	</a:t>
            </a:r>
            <a:r>
              <a:rPr sz="898" b="1" spc="-192" baseline="7936" dirty="0">
                <a:latin typeface="Arial"/>
                <a:cs typeface="Arial"/>
              </a:rPr>
              <a:t>NOT</a:t>
            </a:r>
            <a:r>
              <a:rPr sz="898" b="1" spc="-147" baseline="7936" dirty="0">
                <a:latin typeface="Arial"/>
                <a:cs typeface="Arial"/>
              </a:rPr>
              <a:t> </a:t>
            </a:r>
            <a:r>
              <a:rPr sz="898" b="1" spc="-278" dirty="0">
                <a:latin typeface="SimSun"/>
                <a:cs typeface="SimSun"/>
              </a:rPr>
              <a:t>指 令</a:t>
            </a:r>
            <a:endParaRPr sz="898">
              <a:latin typeface="SimSun"/>
              <a:cs typeface="SimSu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069975" y="1978025"/>
            <a:ext cx="179388" cy="441325"/>
          </a:xfrm>
          <a:prstGeom prst="rect">
            <a:avLst/>
          </a:prstGeom>
        </p:spPr>
        <p:txBody>
          <a:bodyPr vert="eaVert" lIns="0" tIns="0" rIns="0" bIns="0">
            <a:spAutoFit/>
          </a:bodyPr>
          <a:lstStyle/>
          <a:p>
            <a:pPr marL="10860" eaLnBrk="1" hangingPunct="1">
              <a:lnSpc>
                <a:spcPct val="65000"/>
              </a:lnSpc>
              <a:defRPr/>
            </a:pPr>
            <a:r>
              <a:rPr sz="898" b="1" dirty="0">
                <a:latin typeface="SimSun"/>
                <a:cs typeface="SimSun"/>
              </a:rPr>
              <a:t>基</a:t>
            </a:r>
            <a:r>
              <a:rPr sz="898" b="1" spc="-192" dirty="0">
                <a:latin typeface="SimSun"/>
                <a:cs typeface="SimSun"/>
              </a:rPr>
              <a:t> </a:t>
            </a:r>
            <a:r>
              <a:rPr sz="898" b="1" dirty="0">
                <a:latin typeface="SimSun"/>
                <a:cs typeface="SimSun"/>
              </a:rPr>
              <a:t>本</a:t>
            </a:r>
            <a:r>
              <a:rPr sz="898" b="1" spc="-196" dirty="0">
                <a:latin typeface="SimSun"/>
                <a:cs typeface="SimSun"/>
              </a:rPr>
              <a:t> </a:t>
            </a:r>
            <a:r>
              <a:rPr sz="898" b="1" dirty="0">
                <a:latin typeface="SimSun"/>
                <a:cs typeface="SimSun"/>
              </a:rPr>
              <a:t>动</a:t>
            </a:r>
            <a:r>
              <a:rPr sz="898" b="1" spc="-196" dirty="0">
                <a:latin typeface="SimSun"/>
                <a:cs typeface="SimSun"/>
              </a:rPr>
              <a:t> </a:t>
            </a:r>
            <a:r>
              <a:rPr sz="898" b="1" dirty="0">
                <a:latin typeface="SimSun"/>
                <a:cs typeface="SimSun"/>
              </a:rPr>
              <a:t>作</a:t>
            </a:r>
            <a:endParaRPr sz="898">
              <a:latin typeface="SimSun"/>
              <a:cs typeface="SimSu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577975" y="1782763"/>
            <a:ext cx="476250" cy="387350"/>
          </a:xfrm>
          <a:prstGeom prst="rect">
            <a:avLst/>
          </a:prstGeom>
        </p:spPr>
        <p:txBody>
          <a:bodyPr lIns="0" tIns="52669" rIns="0" bIns="0">
            <a:spAutoFit/>
          </a:bodyPr>
          <a:lstStyle>
            <a:lvl1pPr marL="328613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13"/>
              </a:spcBef>
            </a:pPr>
            <a:r>
              <a:rPr lang="zh-CN" altLang="zh-CN" sz="500" b="1">
                <a:latin typeface="Arial" panose="020B0604020202020204" pitchFamily="34" charset="0"/>
                <a:cs typeface="Arial" panose="020B0604020202020204" pitchFamily="34" charset="0"/>
              </a:rPr>
              <a:t>…… </a:t>
            </a:r>
            <a:endParaRPr lang="zh-CN" altLang="zh-CN" sz="5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lnSpc>
                <a:spcPct val="117000"/>
              </a:lnSpc>
              <a:spcBef>
                <a:spcPts val="213"/>
              </a:spcBef>
            </a:pPr>
            <a:r>
              <a:rPr lang="zh-CN" altLang="zh-CN" sz="500" b="1">
                <a:latin typeface="宋体" panose="02010600030101010101" pitchFamily="2" charset="-122"/>
              </a:rPr>
              <a:t>对基本动作的 抽象与控制</a:t>
            </a:r>
            <a:endParaRPr lang="zh-CN" altLang="zh-CN" sz="500">
              <a:latin typeface="宋体" panose="02010600030101010101" pitchFamily="2" charset="-122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682750" y="1546225"/>
            <a:ext cx="1152525" cy="215900"/>
          </a:xfrm>
          <a:prstGeom prst="rect">
            <a:avLst/>
          </a:prstGeom>
        </p:spPr>
        <p:txBody>
          <a:bodyPr lIns="0" tIns="11403" rIns="0" bIns="0">
            <a:spAutoFit/>
          </a:bodyPr>
          <a:lstStyle/>
          <a:p>
            <a:pPr marL="224254" eaLnBrk="1" hangingPunct="1">
              <a:lnSpc>
                <a:spcPts val="633"/>
              </a:lnSpc>
              <a:spcBef>
                <a:spcPts val="90"/>
              </a:spcBef>
              <a:defRPr/>
            </a:pPr>
            <a:r>
              <a:rPr sz="599" b="1" spc="-184" dirty="0">
                <a:latin typeface="SimSun"/>
                <a:cs typeface="SimSun"/>
              </a:rPr>
              <a:t>复杂动作</a:t>
            </a:r>
            <a:r>
              <a:rPr sz="599" b="1" spc="-201" dirty="0">
                <a:latin typeface="SimSun"/>
                <a:cs typeface="SimSun"/>
              </a:rPr>
              <a:t> </a:t>
            </a:r>
            <a:r>
              <a:rPr sz="599" b="1" spc="-107" dirty="0">
                <a:latin typeface="Arial"/>
                <a:cs typeface="Arial"/>
              </a:rPr>
              <a:t>=</a:t>
            </a:r>
            <a:r>
              <a:rPr sz="599" b="1" spc="-64" dirty="0">
                <a:latin typeface="Arial"/>
                <a:cs typeface="Arial"/>
              </a:rPr>
              <a:t> </a:t>
            </a:r>
            <a:r>
              <a:rPr sz="599" b="1" spc="-184" dirty="0">
                <a:latin typeface="SimSun"/>
                <a:cs typeface="SimSun"/>
              </a:rPr>
              <a:t>基本</a:t>
            </a:r>
            <a:r>
              <a:rPr sz="599" b="1" spc="-180" dirty="0">
                <a:latin typeface="SimSun"/>
                <a:cs typeface="SimSun"/>
              </a:rPr>
              <a:t>动</a:t>
            </a:r>
            <a:r>
              <a:rPr sz="599" b="1" spc="-188" dirty="0">
                <a:latin typeface="SimSun"/>
                <a:cs typeface="SimSun"/>
              </a:rPr>
              <a:t>作</a:t>
            </a:r>
            <a:r>
              <a:rPr sz="599" b="1" spc="-184" dirty="0">
                <a:latin typeface="SimSun"/>
                <a:cs typeface="SimSun"/>
              </a:rPr>
              <a:t>的</a:t>
            </a:r>
            <a:r>
              <a:rPr sz="599" b="1" spc="-180" dirty="0">
                <a:latin typeface="SimSun"/>
                <a:cs typeface="SimSun"/>
              </a:rPr>
              <a:t>各</a:t>
            </a:r>
            <a:r>
              <a:rPr sz="599" b="1" spc="-184" dirty="0">
                <a:latin typeface="SimSun"/>
                <a:cs typeface="SimSun"/>
              </a:rPr>
              <a:t>种方</a:t>
            </a:r>
            <a:r>
              <a:rPr sz="599" b="1" spc="-188" dirty="0">
                <a:latin typeface="SimSun"/>
                <a:cs typeface="SimSun"/>
              </a:rPr>
              <a:t>式</a:t>
            </a:r>
            <a:r>
              <a:rPr sz="599" b="1" spc="-180" dirty="0">
                <a:latin typeface="SimSun"/>
                <a:cs typeface="SimSun"/>
              </a:rPr>
              <a:t>的</a:t>
            </a:r>
            <a:r>
              <a:rPr sz="599" b="1" spc="-184" dirty="0">
                <a:latin typeface="SimSun"/>
                <a:cs typeface="SimSun"/>
              </a:rPr>
              <a:t>组合</a:t>
            </a:r>
            <a:endParaRPr sz="599">
              <a:latin typeface="SimSun"/>
              <a:cs typeface="SimSun"/>
            </a:endParaRPr>
          </a:p>
          <a:p>
            <a:pPr marL="10860" eaLnBrk="1" hangingPunct="1">
              <a:lnSpc>
                <a:spcPts val="992"/>
              </a:lnSpc>
              <a:defRPr/>
            </a:pPr>
            <a:r>
              <a:rPr sz="1347" b="1" spc="-416" baseline="2645" dirty="0">
                <a:latin typeface="SimSun"/>
                <a:cs typeface="SimSun"/>
              </a:rPr>
              <a:t>程 </a:t>
            </a:r>
            <a:r>
              <a:rPr sz="1347" b="1" spc="-410" baseline="2645" dirty="0">
                <a:latin typeface="SimSun"/>
                <a:cs typeface="SimSun"/>
              </a:rPr>
              <a:t>序 </a:t>
            </a:r>
            <a:r>
              <a:rPr sz="599" b="1" spc="-77" dirty="0">
                <a:latin typeface="Arial"/>
                <a:cs typeface="Arial"/>
              </a:rPr>
              <a:t>(A</a:t>
            </a:r>
            <a:r>
              <a:rPr sz="577" b="1" spc="-115" baseline="-18518" dirty="0">
                <a:latin typeface="Arial"/>
                <a:cs typeface="Arial"/>
              </a:rPr>
              <a:t>i </a:t>
            </a:r>
            <a:r>
              <a:rPr sz="599" b="1" spc="-133" dirty="0">
                <a:latin typeface="Arial"/>
                <a:cs typeface="Arial"/>
              </a:rPr>
              <a:t>XOR </a:t>
            </a:r>
            <a:r>
              <a:rPr sz="599" b="1" spc="-77" dirty="0">
                <a:latin typeface="Arial"/>
                <a:cs typeface="Arial"/>
              </a:rPr>
              <a:t>B</a:t>
            </a:r>
            <a:r>
              <a:rPr sz="577" b="1" spc="-115" baseline="-18518" dirty="0">
                <a:latin typeface="Arial"/>
                <a:cs typeface="Arial"/>
              </a:rPr>
              <a:t>i</a:t>
            </a:r>
            <a:r>
              <a:rPr sz="599" b="1" spc="-77" dirty="0">
                <a:latin typeface="Arial"/>
                <a:cs typeface="Arial"/>
              </a:rPr>
              <a:t>) </a:t>
            </a:r>
            <a:r>
              <a:rPr sz="599" b="1" spc="-133" dirty="0">
                <a:latin typeface="Arial"/>
                <a:cs typeface="Arial"/>
              </a:rPr>
              <a:t>XOR</a:t>
            </a:r>
            <a:r>
              <a:rPr sz="599" b="1" spc="-107" dirty="0">
                <a:latin typeface="Arial"/>
                <a:cs typeface="Arial"/>
              </a:rPr>
              <a:t> </a:t>
            </a:r>
            <a:r>
              <a:rPr sz="599" b="1" spc="-81" dirty="0">
                <a:latin typeface="Arial"/>
                <a:cs typeface="Arial"/>
              </a:rPr>
              <a:t>C</a:t>
            </a:r>
            <a:r>
              <a:rPr sz="577" b="1" spc="-121" baseline="-18518" dirty="0">
                <a:latin typeface="Arial"/>
                <a:cs typeface="Arial"/>
              </a:rPr>
              <a:t>i</a:t>
            </a:r>
            <a:endParaRPr sz="577" baseline="-18518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971675" y="1789113"/>
            <a:ext cx="822325" cy="74612"/>
          </a:xfrm>
          <a:prstGeom prst="rect">
            <a:avLst/>
          </a:prstGeom>
        </p:spPr>
        <p:txBody>
          <a:bodyPr lIns="0" tIns="15204" rIns="0" bIns="0">
            <a:spAutoFit/>
          </a:bodyPr>
          <a:lstStyle/>
          <a:p>
            <a:pPr marL="10860" eaLnBrk="1" hangingPunct="1">
              <a:spcBef>
                <a:spcPts val="120"/>
              </a:spcBef>
              <a:tabLst>
                <a:tab pos="200363" algn="l"/>
                <a:tab pos="412128" algn="l"/>
                <a:tab pos="605975" algn="l"/>
                <a:tab pos="800908" algn="l"/>
              </a:tabLst>
              <a:defRPr/>
            </a:pPr>
            <a:r>
              <a:rPr sz="385" b="1" spc="-30" dirty="0">
                <a:latin typeface="Arial"/>
                <a:cs typeface="Arial"/>
              </a:rPr>
              <a:t>i	i	i	i	i</a:t>
            </a:r>
            <a:endParaRPr sz="385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898650" y="1746250"/>
            <a:ext cx="914400" cy="104775"/>
          </a:xfrm>
          <a:prstGeom prst="rect">
            <a:avLst/>
          </a:prstGeom>
        </p:spPr>
        <p:txBody>
          <a:bodyPr lIns="0" tIns="11403" rIns="0" bIns="0">
            <a:spAutoFit/>
          </a:bodyPr>
          <a:lstStyle/>
          <a:p>
            <a:pPr marL="10860" eaLnBrk="1" hangingPunct="1">
              <a:spcBef>
                <a:spcPts val="90"/>
              </a:spcBef>
              <a:defRPr/>
            </a:pPr>
            <a:r>
              <a:rPr sz="599" b="1" spc="-86" dirty="0">
                <a:latin typeface="Arial"/>
                <a:cs typeface="Arial"/>
              </a:rPr>
              <a:t>((A </a:t>
            </a:r>
            <a:r>
              <a:rPr sz="599" b="1" spc="-133" dirty="0">
                <a:latin typeface="Arial"/>
                <a:cs typeface="Arial"/>
              </a:rPr>
              <a:t>XOR B </a:t>
            </a:r>
            <a:r>
              <a:rPr sz="599" b="1" spc="-60" dirty="0">
                <a:latin typeface="Arial"/>
                <a:cs typeface="Arial"/>
              </a:rPr>
              <a:t>) </a:t>
            </a:r>
            <a:r>
              <a:rPr sz="599" b="1" spc="-137" dirty="0">
                <a:latin typeface="Arial"/>
                <a:cs typeface="Arial"/>
              </a:rPr>
              <a:t>AND </a:t>
            </a:r>
            <a:r>
              <a:rPr sz="599" b="1" spc="-133" dirty="0">
                <a:latin typeface="Arial"/>
                <a:cs typeface="Arial"/>
              </a:rPr>
              <a:t>C </a:t>
            </a:r>
            <a:r>
              <a:rPr sz="599" b="1" spc="-60" dirty="0">
                <a:latin typeface="Arial"/>
                <a:cs typeface="Arial"/>
              </a:rPr>
              <a:t>) </a:t>
            </a:r>
            <a:r>
              <a:rPr sz="599" b="1" spc="-137" dirty="0">
                <a:latin typeface="Arial"/>
                <a:cs typeface="Arial"/>
              </a:rPr>
              <a:t>OR </a:t>
            </a:r>
            <a:r>
              <a:rPr sz="599" b="1" spc="-97" dirty="0">
                <a:latin typeface="Arial"/>
                <a:cs typeface="Arial"/>
              </a:rPr>
              <a:t>(A </a:t>
            </a:r>
            <a:r>
              <a:rPr sz="599" b="1" spc="-133" dirty="0">
                <a:latin typeface="Arial"/>
                <a:cs typeface="Arial"/>
              </a:rPr>
              <a:t>AND B</a:t>
            </a:r>
            <a:r>
              <a:rPr sz="599" b="1" spc="-128" dirty="0">
                <a:latin typeface="Arial"/>
                <a:cs typeface="Arial"/>
              </a:rPr>
              <a:t> </a:t>
            </a:r>
            <a:r>
              <a:rPr sz="599" b="1" spc="-60" dirty="0">
                <a:latin typeface="Arial"/>
                <a:cs typeface="Arial"/>
              </a:rPr>
              <a:t>)</a:t>
            </a:r>
            <a:endParaRPr sz="599">
              <a:latin typeface="Arial"/>
              <a:cs typeface="Arial"/>
            </a:endParaRPr>
          </a:p>
        </p:txBody>
      </p:sp>
      <p:sp>
        <p:nvSpPr>
          <p:cNvPr id="43" name="object 43"/>
          <p:cNvSpPr txBox="1">
            <a:spLocks noGrp="1"/>
          </p:cNvSpPr>
          <p:nvPr>
            <p:ph type="title"/>
          </p:nvPr>
        </p:nvSpPr>
        <p:spPr>
          <a:xfrm>
            <a:off x="2985821" y="570620"/>
            <a:ext cx="3302000" cy="852488"/>
          </a:xfrm>
        </p:spPr>
        <p:txBody>
          <a:bodyPr lIns="0" tIns="10317" rIns="0" bIns="0">
            <a:spAutoFit/>
          </a:bodyPr>
          <a:lstStyle/>
          <a:p>
            <a:pPr>
              <a:spcBef>
                <a:spcPts val="75"/>
              </a:spcBef>
            </a:pPr>
            <a:r>
              <a:rPr lang="zh-CN" altLang="zh-CN" sz="2700" dirty="0">
                <a:solidFill>
                  <a:srgbClr val="FFFF6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回顾本讲学习了什么?</a:t>
            </a:r>
            <a:endParaRPr lang="zh-CN" altLang="zh-CN" sz="27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灯片编号占位符 4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A6568E1-4089-4561-919E-9D2F37D3F2B0}" type="slidenum">
              <a:rPr lang="en-US" altLang="zh-CN" smtClean="0"/>
              <a:pPr>
                <a:defRPr/>
              </a:pPr>
              <a:t>76</a:t>
            </a:fld>
            <a:endParaRPr lang="en-US" altLang="zh-C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商务模板系列34">
  <a:themeElements>
    <a:clrScheme name="1_商务模板系列34 1">
      <a:dk1>
        <a:srgbClr val="000000"/>
      </a:dk1>
      <a:lt1>
        <a:srgbClr val="FFFFFF"/>
      </a:lt1>
      <a:dk2>
        <a:srgbClr val="233DA9"/>
      </a:dk2>
      <a:lt2>
        <a:srgbClr val="DDDDDD"/>
      </a:lt2>
      <a:accent1>
        <a:srgbClr val="65AAE9"/>
      </a:accent1>
      <a:accent2>
        <a:srgbClr val="B2B2B2"/>
      </a:accent2>
      <a:accent3>
        <a:srgbClr val="FFFFFF"/>
      </a:accent3>
      <a:accent4>
        <a:srgbClr val="000000"/>
      </a:accent4>
      <a:accent5>
        <a:srgbClr val="B8D2F2"/>
      </a:accent5>
      <a:accent6>
        <a:srgbClr val="A1A1A1"/>
      </a:accent6>
      <a:hlink>
        <a:srgbClr val="7DA0D3"/>
      </a:hlink>
      <a:folHlink>
        <a:srgbClr val="B2E385"/>
      </a:folHlink>
    </a:clrScheme>
    <a:fontScheme name="1_商务模板系列34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FFFFFF"/>
            </a:gs>
            <a:gs pos="100000">
              <a:srgbClr val="FFFFFF">
                <a:gamma/>
                <a:shade val="73333"/>
                <a:invGamma/>
              </a:srgbClr>
            </a:gs>
          </a:gsLst>
          <a:lin ang="5400000" scaled="1"/>
        </a:gra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342900" marR="0" indent="-34290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FFFFFF"/>
            </a:gs>
            <a:gs pos="100000">
              <a:srgbClr val="FFFFFF">
                <a:gamma/>
                <a:shade val="73333"/>
                <a:invGamma/>
              </a:srgbClr>
            </a:gs>
          </a:gsLst>
          <a:lin ang="5400000" scaled="1"/>
        </a:gra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342900" marR="0" indent="-34290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1_商务模板系列34 1">
        <a:dk1>
          <a:srgbClr val="000000"/>
        </a:dk1>
        <a:lt1>
          <a:srgbClr val="FFFFFF"/>
        </a:lt1>
        <a:dk2>
          <a:srgbClr val="233DA9"/>
        </a:dk2>
        <a:lt2>
          <a:srgbClr val="DDDDDD"/>
        </a:lt2>
        <a:accent1>
          <a:srgbClr val="65AAE9"/>
        </a:accent1>
        <a:accent2>
          <a:srgbClr val="B2B2B2"/>
        </a:accent2>
        <a:accent3>
          <a:srgbClr val="FFFFFF"/>
        </a:accent3>
        <a:accent4>
          <a:srgbClr val="000000"/>
        </a:accent4>
        <a:accent5>
          <a:srgbClr val="B8D2F2"/>
        </a:accent5>
        <a:accent6>
          <a:srgbClr val="A1A1A1"/>
        </a:accent6>
        <a:hlink>
          <a:srgbClr val="7DA0D3"/>
        </a:hlink>
        <a:folHlink>
          <a:srgbClr val="B2E385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商务模板系列34 2">
        <a:dk1>
          <a:srgbClr val="000000"/>
        </a:dk1>
        <a:lt1>
          <a:srgbClr val="FFFFFF"/>
        </a:lt1>
        <a:dk2>
          <a:srgbClr val="632769"/>
        </a:dk2>
        <a:lt2>
          <a:srgbClr val="DDDDDD"/>
        </a:lt2>
        <a:accent1>
          <a:srgbClr val="8B8DE1"/>
        </a:accent1>
        <a:accent2>
          <a:srgbClr val="FF997D"/>
        </a:accent2>
        <a:accent3>
          <a:srgbClr val="FFFFFF"/>
        </a:accent3>
        <a:accent4>
          <a:srgbClr val="000000"/>
        </a:accent4>
        <a:accent5>
          <a:srgbClr val="C4C5EE"/>
        </a:accent5>
        <a:accent6>
          <a:srgbClr val="E78A71"/>
        </a:accent6>
        <a:hlink>
          <a:srgbClr val="58AFD2"/>
        </a:hlink>
        <a:folHlink>
          <a:srgbClr val="BFDF6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商务模板系列34 3">
        <a:dk1>
          <a:srgbClr val="000000"/>
        </a:dk1>
        <a:lt1>
          <a:srgbClr val="FFFFFF"/>
        </a:lt1>
        <a:dk2>
          <a:srgbClr val="37737F"/>
        </a:dk2>
        <a:lt2>
          <a:srgbClr val="DDDDDD"/>
        </a:lt2>
        <a:accent1>
          <a:srgbClr val="52BCB2"/>
        </a:accent1>
        <a:accent2>
          <a:srgbClr val="E0A56A"/>
        </a:accent2>
        <a:accent3>
          <a:srgbClr val="FFFFFF"/>
        </a:accent3>
        <a:accent4>
          <a:srgbClr val="000000"/>
        </a:accent4>
        <a:accent5>
          <a:srgbClr val="B3DAD5"/>
        </a:accent5>
        <a:accent6>
          <a:srgbClr val="CB955F"/>
        </a:accent6>
        <a:hlink>
          <a:srgbClr val="A0C264"/>
        </a:hlink>
        <a:folHlink>
          <a:srgbClr val="DCDC2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15610</TotalTime>
  <Words>7288</Words>
  <Application>Microsoft Office PowerPoint</Application>
  <PresentationFormat>全屏显示(4:3)</PresentationFormat>
  <Paragraphs>745</Paragraphs>
  <Slides>76</Slides>
  <Notes>20</Notes>
  <HiddenSlides>0</HiddenSlides>
  <MMClips>0</MMClips>
  <ScaleCrop>false</ScaleCrop>
  <HeadingPairs>
    <vt:vector size="8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76</vt:i4>
      </vt:variant>
    </vt:vector>
  </HeadingPairs>
  <TitlesOfParts>
    <vt:vector size="95" baseType="lpstr">
      <vt:lpstr>Microsoft JhengHei</vt:lpstr>
      <vt:lpstr>SimHei</vt:lpstr>
      <vt:lpstr>华文琥珀</vt:lpstr>
      <vt:lpstr>华文新魏</vt:lpstr>
      <vt:lpstr>华文行楷</vt:lpstr>
      <vt:lpstr>STZhongsong</vt:lpstr>
      <vt:lpstr>STZhongsong</vt:lpstr>
      <vt:lpstr>SimSun</vt:lpstr>
      <vt:lpstr>SimSun</vt:lpstr>
      <vt:lpstr>微软雅黑</vt:lpstr>
      <vt:lpstr>新宋体</vt:lpstr>
      <vt:lpstr>Arial</vt:lpstr>
      <vt:lpstr>Arial Black</vt:lpstr>
      <vt:lpstr>Symbol</vt:lpstr>
      <vt:lpstr>Tahoma</vt:lpstr>
      <vt:lpstr>Times New Roman</vt:lpstr>
      <vt:lpstr>Wingdings</vt:lpstr>
      <vt:lpstr>1_商务模板系列34</vt:lpstr>
      <vt:lpstr>Image</vt:lpstr>
      <vt:lpstr>第二章  关系模型 之 关系代数</vt:lpstr>
      <vt:lpstr>本讲学习什么?</vt:lpstr>
      <vt:lpstr>1.关系代数概述</vt:lpstr>
      <vt:lpstr>(2)关系代数运算的基本操作</vt:lpstr>
      <vt:lpstr>(3)为什么要提出关系代数</vt:lpstr>
      <vt:lpstr>(3)为什么要提出关系代数</vt:lpstr>
      <vt:lpstr>关系代数之基本操作</vt:lpstr>
      <vt:lpstr>(0)关系代数运算的约束</vt:lpstr>
      <vt:lpstr>PowerPoint 演示文稿</vt:lpstr>
      <vt:lpstr>PowerPoint 演示文稿</vt:lpstr>
      <vt:lpstr>(1) “并”操作</vt:lpstr>
      <vt:lpstr>(1) “并”操作</vt:lpstr>
      <vt:lpstr>(2) “差”操作</vt:lpstr>
      <vt:lpstr>(2) “差”操作</vt:lpstr>
      <vt:lpstr>(2) “差”操作</vt:lpstr>
      <vt:lpstr>(2) “差”操作</vt:lpstr>
      <vt:lpstr>PowerPoint 演示文稿</vt:lpstr>
      <vt:lpstr>(3) “笛卡尔积”操作</vt:lpstr>
      <vt:lpstr>(3) “笛卡尔积”操作</vt:lpstr>
      <vt:lpstr>(3) “笛卡尔积”操作</vt:lpstr>
      <vt:lpstr>(3) “笛卡尔积”操作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(5) “投影”操作</vt:lpstr>
      <vt:lpstr>(5) “投影”操作</vt:lpstr>
      <vt:lpstr>(5) “投影”操作</vt:lpstr>
      <vt:lpstr>小 结</vt:lpstr>
      <vt:lpstr>PowerPoint 演示文稿</vt:lpstr>
      <vt:lpstr>(1) “交”操作</vt:lpstr>
      <vt:lpstr>(1) “交”操作</vt:lpstr>
      <vt:lpstr>(1) “交”操作</vt:lpstr>
      <vt:lpstr>(2) “-连接”操作</vt:lpstr>
      <vt:lpstr>(2) “-连接”操作</vt:lpstr>
      <vt:lpstr>(2) “-连接”操作</vt:lpstr>
      <vt:lpstr>(2) “-连接”操作</vt:lpstr>
      <vt:lpstr>PowerPoint 演示文稿</vt:lpstr>
      <vt:lpstr>(2) “-连接”操作</vt:lpstr>
      <vt:lpstr>(3) “等值-连接”操作</vt:lpstr>
      <vt:lpstr>(3) “等值-连接”操作</vt:lpstr>
      <vt:lpstr>(3) “等值-连接”操作</vt:lpstr>
      <vt:lpstr>(3) “等值-连接”操作</vt:lpstr>
      <vt:lpstr>(4) “自然连接”操作</vt:lpstr>
      <vt:lpstr>(4) “自然连接”操作</vt:lpstr>
      <vt:lpstr>(4) “自然连接”操作</vt:lpstr>
      <vt:lpstr>(4) “自然连接”操作</vt:lpstr>
      <vt:lpstr>(4) “自然连接”操作</vt:lpstr>
      <vt:lpstr>小 结  </vt:lpstr>
      <vt:lpstr>PowerPoint 演示文稿</vt:lpstr>
      <vt:lpstr>PowerPoint 演示文稿</vt:lpstr>
      <vt:lpstr>关系代数操作之组合与应用训练</vt:lpstr>
      <vt:lpstr>PowerPoint 演示文稿</vt:lpstr>
      <vt:lpstr>PowerPoint 演示文稿</vt:lpstr>
      <vt:lpstr>(3)要特别注意语义</vt:lpstr>
      <vt:lpstr>(4)书写关系代数的思维…</vt:lpstr>
      <vt:lpstr>关系代数 之 复杂扩展操作</vt:lpstr>
      <vt:lpstr>PowerPoint 演示文稿</vt:lpstr>
      <vt:lpstr>(1) “除”操作</vt:lpstr>
      <vt:lpstr>(1) “除”操作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(2) “外连接”操作</vt:lpstr>
      <vt:lpstr>(2) “外连接”操作</vt:lpstr>
      <vt:lpstr>PowerPoint 演示文稿</vt:lpstr>
      <vt:lpstr>PowerPoint 演示文稿</vt:lpstr>
      <vt:lpstr>PowerPoint 演示文稿</vt:lpstr>
      <vt:lpstr>回顾本讲学习了什么?</vt:lpstr>
      <vt:lpstr>回顾本讲学习了什么?</vt:lpstr>
      <vt:lpstr>回顾本讲学习了什么?</vt:lpstr>
    </vt:vector>
  </TitlesOfParts>
  <Company>idke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课程名称：数据库系统概论</dc:title>
  <dc:creator>RUC IDKE</dc:creator>
  <cp:lastModifiedBy>huiying</cp:lastModifiedBy>
  <cp:revision>619</cp:revision>
  <dcterms:created xsi:type="dcterms:W3CDTF">2000-08-09T08:19:19Z</dcterms:created>
  <dcterms:modified xsi:type="dcterms:W3CDTF">2025-10-14T11:46:10Z</dcterms:modified>
</cp:coreProperties>
</file>