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notesMasterIdLst>
    <p:notesMasterId r:id="rId98"/>
  </p:notesMasterIdLst>
  <p:handoutMasterIdLst>
    <p:handoutMasterId r:id="rId99"/>
  </p:handoutMasterIdLst>
  <p:sldIdLst>
    <p:sldId id="256" r:id="rId2"/>
    <p:sldId id="265" r:id="rId3"/>
    <p:sldId id="257" r:id="rId4"/>
    <p:sldId id="258" r:id="rId5"/>
    <p:sldId id="260" r:id="rId6"/>
    <p:sldId id="266" r:id="rId7"/>
    <p:sldId id="267" r:id="rId8"/>
    <p:sldId id="268" r:id="rId9"/>
    <p:sldId id="269" r:id="rId10"/>
    <p:sldId id="270" r:id="rId11"/>
    <p:sldId id="272" r:id="rId12"/>
    <p:sldId id="271" r:id="rId13"/>
    <p:sldId id="259" r:id="rId14"/>
    <p:sldId id="273" r:id="rId15"/>
    <p:sldId id="263" r:id="rId16"/>
    <p:sldId id="264" r:id="rId17"/>
    <p:sldId id="262" r:id="rId18"/>
    <p:sldId id="274" r:id="rId19"/>
    <p:sldId id="275" r:id="rId20"/>
    <p:sldId id="295" r:id="rId21"/>
    <p:sldId id="294" r:id="rId22"/>
    <p:sldId id="296" r:id="rId23"/>
    <p:sldId id="276" r:id="rId24"/>
    <p:sldId id="277" r:id="rId25"/>
    <p:sldId id="278" r:id="rId26"/>
    <p:sldId id="279" r:id="rId27"/>
    <p:sldId id="297" r:id="rId28"/>
    <p:sldId id="299" r:id="rId29"/>
    <p:sldId id="298" r:id="rId30"/>
    <p:sldId id="280" r:id="rId31"/>
    <p:sldId id="281" r:id="rId32"/>
    <p:sldId id="282" r:id="rId33"/>
    <p:sldId id="300" r:id="rId34"/>
    <p:sldId id="302" r:id="rId35"/>
    <p:sldId id="301" r:id="rId36"/>
    <p:sldId id="283" r:id="rId37"/>
    <p:sldId id="284" r:id="rId38"/>
    <p:sldId id="285" r:id="rId39"/>
    <p:sldId id="286" r:id="rId40"/>
    <p:sldId id="287" r:id="rId41"/>
    <p:sldId id="289" r:id="rId42"/>
    <p:sldId id="290" r:id="rId43"/>
    <p:sldId id="291" r:id="rId44"/>
    <p:sldId id="292" r:id="rId45"/>
    <p:sldId id="293" r:id="rId46"/>
    <p:sldId id="303" r:id="rId47"/>
    <p:sldId id="314" r:id="rId48"/>
    <p:sldId id="348" r:id="rId49"/>
    <p:sldId id="304" r:id="rId50"/>
    <p:sldId id="316" r:id="rId51"/>
    <p:sldId id="315" r:id="rId52"/>
    <p:sldId id="305" r:id="rId53"/>
    <p:sldId id="349" r:id="rId54"/>
    <p:sldId id="339" r:id="rId55"/>
    <p:sldId id="341" r:id="rId56"/>
    <p:sldId id="342" r:id="rId57"/>
    <p:sldId id="343" r:id="rId58"/>
    <p:sldId id="340" r:id="rId59"/>
    <p:sldId id="344" r:id="rId60"/>
    <p:sldId id="353" r:id="rId61"/>
    <p:sldId id="345" r:id="rId62"/>
    <p:sldId id="347" r:id="rId63"/>
    <p:sldId id="346" r:id="rId64"/>
    <p:sldId id="358" r:id="rId65"/>
    <p:sldId id="307" r:id="rId66"/>
    <p:sldId id="318" r:id="rId67"/>
    <p:sldId id="317" r:id="rId68"/>
    <p:sldId id="319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52" r:id="rId80"/>
    <p:sldId id="308" r:id="rId81"/>
    <p:sldId id="309" r:id="rId82"/>
    <p:sldId id="328" r:id="rId83"/>
    <p:sldId id="320" r:id="rId84"/>
    <p:sldId id="322" r:id="rId85"/>
    <p:sldId id="321" r:id="rId86"/>
    <p:sldId id="325" r:id="rId87"/>
    <p:sldId id="323" r:id="rId88"/>
    <p:sldId id="324" r:id="rId89"/>
    <p:sldId id="326" r:id="rId90"/>
    <p:sldId id="327" r:id="rId91"/>
    <p:sldId id="350" r:id="rId92"/>
    <p:sldId id="351" r:id="rId93"/>
    <p:sldId id="355" r:id="rId94"/>
    <p:sldId id="354" r:id="rId95"/>
    <p:sldId id="356" r:id="rId96"/>
    <p:sldId id="357" r:id="rId9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u xz" initials="zx" lastIdx="1" clrIdx="0">
    <p:extLst>
      <p:ext uri="{19B8F6BF-5375-455C-9EA6-DF929625EA0E}">
        <p15:presenceInfo xmlns:p15="http://schemas.microsoft.com/office/powerpoint/2012/main" userId="12d063e133522c3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3AD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94674" autoAdjust="0"/>
  </p:normalViewPr>
  <p:slideViewPr>
    <p:cSldViewPr>
      <p:cViewPr varScale="1">
        <p:scale>
          <a:sx n="135" d="100"/>
          <a:sy n="135" d="100"/>
        </p:scale>
        <p:origin x="324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60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handoutMaster" Target="handoutMasters/handoutMaster1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45C1093-C777-47CD-A151-85670E63B502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F09E280-B44C-48ED-B969-DD8B5BBB6BB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147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056B119-21A7-4808-8BE6-0A5380A68BCD}" type="datetimeFigureOut">
              <a:rPr lang="zh-CN" altLang="en-US"/>
              <a:pPr>
                <a:defRPr/>
              </a:pPr>
              <a:t>2024/11/25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D23362C-C742-4180-8E94-200DD6941BF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4563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069B9EF-6252-4996-AC5E-39AFB3DF3E90}" type="slidenum">
              <a:rPr lang="zh-CN" altLang="en-US"/>
              <a:pPr eaLnBrk="1" hangingPunct="1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59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931F960-4C63-41C9-8050-29B361387DE7}" type="slidenum">
              <a:rPr lang="zh-CN" altLang="en-US"/>
              <a:pPr eaLnBrk="1" hangingPunct="1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137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8BFBBA9-0545-4D27-B57B-415EF34FA0F0}" type="slidenum">
              <a:rPr lang="zh-CN" altLang="en-US"/>
              <a:pPr eaLnBrk="1" hangingPunct="1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978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C7232A-E1B5-4D62-A505-BC1610D95F0E}" type="slidenum">
              <a:rPr lang="zh-CN" altLang="en-US"/>
              <a:pPr eaLnBrk="1" hangingPunct="1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407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0767BE2-ABAA-4786-8D15-77F5FC2150C4}" type="slidenum">
              <a:rPr lang="zh-CN" altLang="en-US"/>
              <a:pPr eaLnBrk="1" hangingPunct="1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247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5A1E23-FE7C-44ED-BEA6-DF0F43356AA6}" type="slidenum">
              <a:rPr lang="zh-CN" altLang="en-US"/>
              <a:pPr eaLnBrk="1" hangingPunct="1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273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1D9BAA-CFD9-4D85-8B1F-DC30E5963C32}" type="slidenum">
              <a:rPr lang="zh-CN" altLang="en-US"/>
              <a:pPr eaLnBrk="1" hangingPunct="1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023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362C-C742-4180-8E94-200DD6941BFB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312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362C-C742-4180-8E94-200DD6941BFB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659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362C-C742-4180-8E94-200DD6941BFB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31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/>
              <a:t>ITERATE:</a:t>
            </a:r>
            <a:r>
              <a:rPr lang="zh-CN" altLang="en-US" sz="1200" b="1" dirty="0"/>
              <a:t>迭代，反复</a:t>
            </a:r>
            <a:endParaRPr lang="en-US" altLang="zh-CN" sz="12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362C-C742-4180-8E94-200DD6941BFB}" type="slidenum">
              <a:rPr lang="zh-CN" altLang="en-US" smtClean="0"/>
              <a:pPr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338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Freeform 2"/>
          <p:cNvSpPr>
            <a:spLocks/>
          </p:cNvSpPr>
          <p:nvPr/>
        </p:nvSpPr>
        <p:spPr bwMode="gray">
          <a:xfrm>
            <a:off x="-9525" y="1447800"/>
            <a:ext cx="9164638" cy="3832225"/>
          </a:xfrm>
          <a:custGeom>
            <a:avLst/>
            <a:gdLst>
              <a:gd name="T0" fmla="*/ 12 w 5773"/>
              <a:gd name="T1" fmla="*/ 124 h 2414"/>
              <a:gd name="T2" fmla="*/ 1381 w 5773"/>
              <a:gd name="T3" fmla="*/ 12 h 2414"/>
              <a:gd name="T4" fmla="*/ 4064 w 5773"/>
              <a:gd name="T5" fmla="*/ 581 h 2414"/>
              <a:gd name="T6" fmla="*/ 5773 w 5773"/>
              <a:gd name="T7" fmla="*/ 118 h 2414"/>
              <a:gd name="T8" fmla="*/ 5766 w 5773"/>
              <a:gd name="T9" fmla="*/ 2151 h 2414"/>
              <a:gd name="T10" fmla="*/ 3966 w 5773"/>
              <a:gd name="T11" fmla="*/ 2263 h 2414"/>
              <a:gd name="T12" fmla="*/ 1963 w 5773"/>
              <a:gd name="T13" fmla="*/ 1897 h 2414"/>
              <a:gd name="T14" fmla="*/ 6 w 5773"/>
              <a:gd name="T15" fmla="*/ 2407 h 2414"/>
              <a:gd name="T16" fmla="*/ 12 w 5773"/>
              <a:gd name="T17" fmla="*/ 124 h 24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8867" name="Freeform 3"/>
          <p:cNvSpPr>
            <a:spLocks/>
          </p:cNvSpPr>
          <p:nvPr/>
        </p:nvSpPr>
        <p:spPr bwMode="gray">
          <a:xfrm>
            <a:off x="-9525" y="1730375"/>
            <a:ext cx="9150350" cy="3265488"/>
          </a:xfrm>
          <a:custGeom>
            <a:avLst/>
            <a:gdLst>
              <a:gd name="T0" fmla="*/ 6 w 5764"/>
              <a:gd name="T1" fmla="*/ 272 h 2057"/>
              <a:gd name="T2" fmla="*/ 1453 w 5764"/>
              <a:gd name="T3" fmla="*/ 10 h 2057"/>
              <a:gd name="T4" fmla="*/ 4182 w 5764"/>
              <a:gd name="T5" fmla="*/ 482 h 2057"/>
              <a:gd name="T6" fmla="*/ 5764 w 5764"/>
              <a:gd name="T7" fmla="*/ 154 h 2057"/>
              <a:gd name="T8" fmla="*/ 5764 w 5764"/>
              <a:gd name="T9" fmla="*/ 1806 h 2057"/>
              <a:gd name="T10" fmla="*/ 4005 w 5764"/>
              <a:gd name="T11" fmla="*/ 1994 h 2057"/>
              <a:gd name="T12" fmla="*/ 1891 w 5764"/>
              <a:gd name="T13" fmla="*/ 1522 h 2057"/>
              <a:gd name="T14" fmla="*/ 6 w 5764"/>
              <a:gd name="T15" fmla="*/ 1967 h 2057"/>
              <a:gd name="T16" fmla="*/ 6 w 5764"/>
              <a:gd name="T17" fmla="*/ 272 h 20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48868" name="Group 4"/>
          <p:cNvGrpSpPr>
            <a:grpSpLocks/>
          </p:cNvGrpSpPr>
          <p:nvPr/>
        </p:nvGrpSpPr>
        <p:grpSpPr bwMode="auto">
          <a:xfrm>
            <a:off x="7086600" y="1947863"/>
            <a:ext cx="533400" cy="533400"/>
            <a:chOff x="4752" y="1200"/>
            <a:chExt cx="288" cy="288"/>
          </a:xfrm>
        </p:grpSpPr>
        <p:sp>
          <p:nvSpPr>
            <p:cNvPr id="548869" name="Oval 5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8870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8871" name="Group 7"/>
          <p:cNvGrpSpPr>
            <a:grpSpLocks/>
          </p:cNvGrpSpPr>
          <p:nvPr/>
        </p:nvGrpSpPr>
        <p:grpSpPr bwMode="auto">
          <a:xfrm>
            <a:off x="7620000" y="1371600"/>
            <a:ext cx="914400" cy="914400"/>
            <a:chOff x="4992" y="816"/>
            <a:chExt cx="576" cy="576"/>
          </a:xfrm>
        </p:grpSpPr>
        <p:sp>
          <p:nvSpPr>
            <p:cNvPr id="548872" name="Oval 8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8873" name="Oval 9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8874" name="Group 10"/>
          <p:cNvGrpSpPr>
            <a:grpSpLocks/>
          </p:cNvGrpSpPr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548875" name="Oval 11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8876" name="Oval 12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8877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548878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5364163" y="6381750"/>
            <a:ext cx="3529012" cy="287338"/>
          </a:xfrm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548879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1143000" y="2590800"/>
            <a:ext cx="7086600" cy="1012825"/>
          </a:xfrm>
          <a:effectLst>
            <a:outerShdw dist="53882" dir="2700000" algn="ctr" rotWithShape="0">
              <a:schemeClr val="tx1"/>
            </a:outerShdw>
          </a:effectLst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48880" name="Rectangle 16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95400" y="3581400"/>
            <a:ext cx="6705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pic>
        <p:nvPicPr>
          <p:cNvPr id="548881" name="Picture 17" descr="zjnu校标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863600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96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0A86F4-9E37-467E-9BD2-C09862DA54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887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688815-74D9-4E20-8352-67A578FA65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20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E83CA-5872-4D5A-8182-B4AF93E476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73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48E60A-B7CF-4966-AC0B-5F82D6518C2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590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FB4A79-74DF-4AE4-A8F1-2B177D0AFD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455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863A81-74F6-4769-BB7D-0E12D7659F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876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D4C81E-B2E5-4C67-9C02-922E780B07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177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B60188-2FD3-46AB-B434-4B47FFB8923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0115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E47680-137C-4A7A-9A43-22A8792CE5B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8854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5800"/>
            <a:ext cx="20574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EC5E95-9724-4F8A-8C6B-F6DA8B7CB5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7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00113" y="63087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250825" y="6237288"/>
            <a:ext cx="585788" cy="457200"/>
          </a:xfrm>
        </p:spPr>
        <p:txBody>
          <a:bodyPr/>
          <a:lstStyle>
            <a:lvl1pPr>
              <a:defRPr/>
            </a:lvl1pPr>
          </a:lstStyle>
          <a:p>
            <a:fld id="{C4C516AB-B13E-423E-A782-5455CC3F71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9516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7842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Image" r:id="rId15" imgW="9561905" imgH="1600000" progId="Photoshop.Image.6">
                  <p:embed/>
                </p:oleObj>
              </mc:Choice>
              <mc:Fallback>
                <p:oleObj name="Image" r:id="rId15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7843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6 w 5767"/>
              <a:gd name="T1" fmla="*/ 109 h 1021"/>
              <a:gd name="T2" fmla="*/ 1427 w 5767"/>
              <a:gd name="T3" fmla="*/ 46 h 1021"/>
              <a:gd name="T4" fmla="*/ 4032 w 5767"/>
              <a:gd name="T5" fmla="*/ 255 h 1021"/>
              <a:gd name="T6" fmla="*/ 5767 w 5767"/>
              <a:gd name="T7" fmla="*/ 0 h 1021"/>
              <a:gd name="T8" fmla="*/ 5767 w 5767"/>
              <a:gd name="T9" fmla="*/ 776 h 1021"/>
              <a:gd name="T10" fmla="*/ 4065 w 5767"/>
              <a:gd name="T11" fmla="*/ 831 h 1021"/>
              <a:gd name="T12" fmla="*/ 1984 w 5767"/>
              <a:gd name="T13" fmla="*/ 674 h 1021"/>
              <a:gd name="T14" fmla="*/ 14 w 5767"/>
              <a:gd name="T15" fmla="*/ 995 h 1021"/>
              <a:gd name="T16" fmla="*/ 6 w 5767"/>
              <a:gd name="T17" fmla="*/ 109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7844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0 w 5771"/>
              <a:gd name="T1" fmla="*/ 109 h 634"/>
              <a:gd name="T2" fmla="*/ 1442 w 5771"/>
              <a:gd name="T3" fmla="*/ 3 h 634"/>
              <a:gd name="T4" fmla="*/ 4150 w 5771"/>
              <a:gd name="T5" fmla="*/ 148 h 634"/>
              <a:gd name="T6" fmla="*/ 5771 w 5771"/>
              <a:gd name="T7" fmla="*/ 37 h 634"/>
              <a:gd name="T8" fmla="*/ 5771 w 5771"/>
              <a:gd name="T9" fmla="*/ 557 h 634"/>
              <a:gd name="T10" fmla="*/ 3942 w 5771"/>
              <a:gd name="T11" fmla="*/ 592 h 634"/>
              <a:gd name="T12" fmla="*/ 1839 w 5771"/>
              <a:gd name="T13" fmla="*/ 456 h 634"/>
              <a:gd name="T14" fmla="*/ 6 w 5771"/>
              <a:gd name="T15" fmla="*/ 620 h 634"/>
              <a:gd name="T16" fmla="*/ 20 w 5771"/>
              <a:gd name="T17" fmla="*/ 109 h 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47845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547846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7847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7848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547849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7850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7851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547852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7853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7854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47855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0113" y="63087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547856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03628"/>
                </a:solidFill>
                <a:latin typeface="+mn-lt"/>
              </a:defRPr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547857" name="Rectangle 17"/>
          <p:cNvSpPr>
            <a:spLocks noGrp="1" noChangeArrowheads="1"/>
          </p:cNvSpPr>
          <p:nvPr>
            <p:ph type="title"/>
          </p:nvPr>
        </p:nvSpPr>
        <p:spPr bwMode="white">
          <a:xfrm>
            <a:off x="914400" y="6858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547858" name="Picture 18" descr="zjnu校标2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7859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0825" y="6237288"/>
            <a:ext cx="585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fld id="{FE94E069-BD3A-45F9-A0F9-4826A819DA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46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672" y="2564904"/>
            <a:ext cx="6222504" cy="10128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MySQL</a:t>
            </a:r>
            <a:r>
              <a:rPr lang="zh-CN" altLang="en-US" dirty="0"/>
              <a:t>运算符和函数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MySQL</a:t>
            </a:r>
            <a:r>
              <a:rPr lang="zh-CN" altLang="en-US" dirty="0"/>
              <a:t>运算符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14400" y="1916832"/>
            <a:ext cx="7415213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算术运算符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比较运算符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逻辑运算符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位运算符</a:t>
            </a:r>
            <a:endParaRPr lang="en-US" altLang="zh-CN" sz="3200" dirty="0"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790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14400" y="495300"/>
            <a:ext cx="7113984" cy="9080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使用</a:t>
            </a:r>
            <a:r>
              <a:rPr lang="en-US" altLang="zh-CN" dirty="0"/>
              <a:t>MySQL</a:t>
            </a:r>
            <a:r>
              <a:rPr lang="zh-CN" altLang="en-US" dirty="0"/>
              <a:t>运算符</a:t>
            </a:r>
            <a:endParaRPr lang="zh-CN" alt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4" name="矩形 7"/>
          <p:cNvSpPr>
            <a:spLocks noChangeArrowheads="1"/>
          </p:cNvSpPr>
          <p:nvPr/>
        </p:nvSpPr>
        <p:spPr bwMode="auto">
          <a:xfrm>
            <a:off x="3203848" y="1517650"/>
            <a:ext cx="4103862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【</a:t>
            </a:r>
            <a:r>
              <a:rPr lang="zh-CN" altLang="en-US" sz="2000" b="1" dirty="0"/>
              <a:t>例</a:t>
            </a:r>
            <a:r>
              <a:rPr lang="en-US" altLang="zh-CN" sz="2000" b="1" dirty="0"/>
              <a:t>1】SELECT 6+4 </a:t>
            </a:r>
            <a:r>
              <a:rPr lang="zh-CN" altLang="en-US" sz="2000" b="1" dirty="0"/>
              <a:t>加法操作</a:t>
            </a:r>
            <a:r>
              <a:rPr lang="en-US" altLang="zh-CN" sz="2000" b="1" dirty="0"/>
              <a:t>,</a:t>
            </a:r>
          </a:p>
          <a:p>
            <a:pPr eaLnBrk="1" hangingPunct="1"/>
            <a:r>
              <a:rPr lang="zh-CN" altLang="en-US" sz="2000" b="1" dirty="0"/>
              <a:t>       </a:t>
            </a:r>
            <a:r>
              <a:rPr lang="en-US" altLang="zh-CN" sz="2000" b="1" dirty="0"/>
              <a:t>6-4 </a:t>
            </a:r>
            <a:r>
              <a:rPr lang="zh-CN" altLang="en-US" sz="2000" b="1" dirty="0"/>
              <a:t>减法操作</a:t>
            </a:r>
            <a:r>
              <a:rPr lang="en-US" altLang="zh-CN" sz="2000" b="1" dirty="0"/>
              <a:t>,</a:t>
            </a:r>
            <a:endParaRPr lang="zh-CN" altLang="en-US" sz="2000" b="1" dirty="0"/>
          </a:p>
          <a:p>
            <a:pPr eaLnBrk="1" hangingPunct="1"/>
            <a:r>
              <a:rPr lang="zh-CN" altLang="en-US" sz="2000" b="1" dirty="0"/>
              <a:t>    </a:t>
            </a:r>
            <a:r>
              <a:rPr lang="en-US" altLang="zh-CN" sz="2000" b="1" dirty="0"/>
              <a:t>6*4 </a:t>
            </a:r>
            <a:r>
              <a:rPr lang="zh-CN" altLang="en-US" sz="2000" b="1" dirty="0"/>
              <a:t>乘法操作</a:t>
            </a:r>
            <a:r>
              <a:rPr lang="en-US" altLang="zh-CN" sz="2000" b="1" dirty="0"/>
              <a:t>,</a:t>
            </a:r>
            <a:endParaRPr lang="zh-CN" altLang="en-US" sz="2000" b="1" dirty="0"/>
          </a:p>
          <a:p>
            <a:pPr eaLnBrk="1" hangingPunct="1"/>
            <a:r>
              <a:rPr lang="zh-CN" altLang="en-US" sz="2000" b="1" dirty="0"/>
              <a:t>    </a:t>
            </a:r>
            <a:r>
              <a:rPr lang="en-US" altLang="zh-CN" sz="2000" b="1" dirty="0"/>
              <a:t>6/2 </a:t>
            </a:r>
            <a:r>
              <a:rPr lang="zh-CN" altLang="en-US" sz="2000" b="1" dirty="0"/>
              <a:t>除法操作</a:t>
            </a:r>
            <a:r>
              <a:rPr lang="en-US" altLang="zh-CN" sz="2000" b="1" dirty="0"/>
              <a:t>,</a:t>
            </a:r>
            <a:endParaRPr lang="zh-CN" altLang="en-US" sz="2000" b="1" dirty="0"/>
          </a:p>
          <a:p>
            <a:pPr eaLnBrk="1" hangingPunct="1"/>
            <a:r>
              <a:rPr lang="zh-CN" altLang="en-US" sz="2000" b="1" dirty="0"/>
              <a:t>    </a:t>
            </a:r>
            <a:r>
              <a:rPr lang="en-US" altLang="zh-CN" sz="2000" b="1" dirty="0"/>
              <a:t>6 DIV 2 </a:t>
            </a:r>
            <a:r>
              <a:rPr lang="zh-CN" altLang="en-US" sz="2000" b="1" dirty="0"/>
              <a:t>除法操作</a:t>
            </a:r>
            <a:r>
              <a:rPr lang="en-US" altLang="zh-CN" sz="2000" b="1" dirty="0"/>
              <a:t>,</a:t>
            </a:r>
            <a:endParaRPr lang="zh-CN" altLang="en-US" sz="2000" b="1" dirty="0"/>
          </a:p>
          <a:p>
            <a:pPr eaLnBrk="1" hangingPunct="1"/>
            <a:r>
              <a:rPr lang="zh-CN" altLang="en-US" sz="2000" b="1" dirty="0"/>
              <a:t>    </a:t>
            </a:r>
            <a:r>
              <a:rPr lang="en-US" altLang="zh-CN" sz="2000" b="1" dirty="0"/>
              <a:t>6%4 </a:t>
            </a:r>
            <a:r>
              <a:rPr lang="zh-CN" altLang="en-US" sz="2000" b="1" dirty="0"/>
              <a:t>求模操作</a:t>
            </a:r>
            <a:r>
              <a:rPr lang="en-US" altLang="zh-CN" sz="2000" b="1" dirty="0"/>
              <a:t>,</a:t>
            </a:r>
            <a:endParaRPr lang="zh-CN" altLang="en-US" sz="2000" b="1" dirty="0"/>
          </a:p>
          <a:p>
            <a:pPr eaLnBrk="1" hangingPunct="1"/>
            <a:r>
              <a:rPr lang="zh-CN" altLang="en-US" sz="2000" b="1" dirty="0"/>
              <a:t>    </a:t>
            </a:r>
            <a:r>
              <a:rPr lang="en-US" altLang="zh-CN" sz="2000" b="1" dirty="0"/>
              <a:t>6 MOD 4 </a:t>
            </a:r>
            <a:r>
              <a:rPr lang="zh-CN" altLang="en-US" sz="2000" b="1" dirty="0"/>
              <a:t>求模操作</a:t>
            </a:r>
            <a:r>
              <a:rPr lang="en-US" altLang="zh-CN" sz="2800" dirty="0"/>
              <a:t>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9552" y="1535440"/>
            <a:ext cx="2664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2"/>
                </a:solidFill>
              </a:rPr>
              <a:t>1.</a:t>
            </a:r>
            <a:r>
              <a:rPr lang="zh-CN" altLang="en-US" sz="2800" b="1" dirty="0">
                <a:solidFill>
                  <a:schemeClr val="tx2"/>
                </a:solidFill>
              </a:rPr>
              <a:t>算术运算符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887530"/>
            <a:ext cx="8366222" cy="288032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14400" y="26035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使用</a:t>
            </a:r>
            <a:r>
              <a:rPr lang="en-US" altLang="zh-CN" dirty="0"/>
              <a:t>MySQL</a:t>
            </a:r>
            <a:r>
              <a:rPr lang="zh-CN" altLang="en-US" dirty="0"/>
              <a:t>运算符</a:t>
            </a:r>
            <a:endParaRPr lang="zh-CN" alt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48" name="矩形 7"/>
          <p:cNvSpPr>
            <a:spLocks noChangeArrowheads="1"/>
          </p:cNvSpPr>
          <p:nvPr/>
        </p:nvSpPr>
        <p:spPr bwMode="auto">
          <a:xfrm>
            <a:off x="107504" y="1556792"/>
            <a:ext cx="85689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/>
              <a:t>【</a:t>
            </a:r>
            <a:r>
              <a:rPr lang="zh-CN" altLang="en-US" sz="2000" dirty="0"/>
              <a:t>例</a:t>
            </a:r>
            <a:r>
              <a:rPr lang="en-US" altLang="zh-CN" sz="2000" dirty="0"/>
              <a:t>2】SELECT </a:t>
            </a:r>
            <a:r>
              <a:rPr lang="en-US" altLang="zh-CN" sz="2000" dirty="0" err="1"/>
              <a:t>ename</a:t>
            </a:r>
            <a:r>
              <a:rPr lang="en-US" altLang="zh-CN" sz="2000" dirty="0"/>
              <a:t> </a:t>
            </a:r>
            <a:r>
              <a:rPr lang="zh-CN" altLang="en-US" sz="2000" dirty="0"/>
              <a:t>雇员</a:t>
            </a:r>
            <a:r>
              <a:rPr lang="en-US" altLang="zh-CN" sz="2000" dirty="0"/>
              <a:t>,</a:t>
            </a:r>
            <a:r>
              <a:rPr lang="en-US" altLang="zh-CN" sz="2000" dirty="0" err="1"/>
              <a:t>sal</a:t>
            </a:r>
            <a:r>
              <a:rPr lang="en-US" altLang="zh-CN" sz="2000" dirty="0"/>
              <a:t>  </a:t>
            </a:r>
            <a:r>
              <a:rPr lang="zh-CN" altLang="en-US" sz="2000" dirty="0"/>
              <a:t>月工资</a:t>
            </a:r>
            <a:r>
              <a:rPr lang="en-US" altLang="zh-CN" sz="2000" dirty="0"/>
              <a:t>,</a:t>
            </a:r>
            <a:r>
              <a:rPr lang="en-US" altLang="zh-CN" sz="2000" dirty="0" err="1"/>
              <a:t>sal</a:t>
            </a:r>
            <a:r>
              <a:rPr lang="en-US" altLang="zh-CN" sz="2000" dirty="0"/>
              <a:t>*12 </a:t>
            </a:r>
            <a:r>
              <a:rPr lang="zh-CN" altLang="en-US" sz="2000" dirty="0"/>
              <a:t>年薪    </a:t>
            </a:r>
            <a:r>
              <a:rPr lang="en-US" altLang="zh-CN" sz="2000" dirty="0"/>
              <a:t>FROM </a:t>
            </a:r>
            <a:r>
              <a:rPr lang="en-US" altLang="zh-CN" sz="2000" dirty="0" err="1"/>
              <a:t>t_employee</a:t>
            </a:r>
            <a:r>
              <a:rPr lang="en-US" altLang="zh-CN" sz="2000" dirty="0"/>
              <a:t>;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3140968"/>
            <a:ext cx="6642833" cy="3175954"/>
          </a:xfrm>
          <a:prstGeom prst="rect">
            <a:avLst/>
          </a:prstGeom>
        </p:spPr>
      </p:pic>
      <p:sp>
        <p:nvSpPr>
          <p:cNvPr id="6" name="矩形 7"/>
          <p:cNvSpPr>
            <a:spLocks noChangeArrowheads="1"/>
          </p:cNvSpPr>
          <p:nvPr/>
        </p:nvSpPr>
        <p:spPr bwMode="auto">
          <a:xfrm>
            <a:off x="107504" y="2085986"/>
            <a:ext cx="338437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/>
              <a:t>【</a:t>
            </a:r>
            <a:r>
              <a:rPr lang="zh-CN" altLang="en-US" sz="2000" dirty="0"/>
              <a:t>例</a:t>
            </a:r>
            <a:r>
              <a:rPr lang="en-US" altLang="zh-CN" sz="2000" dirty="0"/>
              <a:t>3】SELECT 6/0 </a:t>
            </a:r>
            <a:r>
              <a:rPr lang="zh-CN" altLang="en-US" sz="2000" dirty="0"/>
              <a:t>除法操作</a:t>
            </a:r>
            <a:r>
              <a:rPr lang="en-US" altLang="zh-CN" sz="2000" dirty="0"/>
              <a:t>,</a:t>
            </a:r>
          </a:p>
          <a:p>
            <a:pPr eaLnBrk="1" hangingPunct="1"/>
            <a:r>
              <a:rPr lang="en-US" altLang="zh-CN" sz="2000" dirty="0"/>
              <a:t>    6 DIV 0 </a:t>
            </a:r>
            <a:r>
              <a:rPr lang="zh-CN" altLang="en-US" sz="2000" dirty="0"/>
              <a:t>除法操作</a:t>
            </a:r>
            <a:r>
              <a:rPr lang="en-US" altLang="zh-CN" sz="2000" dirty="0"/>
              <a:t>,</a:t>
            </a:r>
          </a:p>
          <a:p>
            <a:pPr eaLnBrk="1" hangingPunct="1"/>
            <a:r>
              <a:rPr lang="en-US" altLang="zh-CN" sz="2000" dirty="0"/>
              <a:t>    6%0 </a:t>
            </a:r>
            <a:r>
              <a:rPr lang="zh-CN" altLang="en-US" sz="2000" dirty="0"/>
              <a:t>求模操作</a:t>
            </a:r>
            <a:r>
              <a:rPr lang="en-US" altLang="zh-CN" sz="2000" dirty="0"/>
              <a:t>,</a:t>
            </a:r>
          </a:p>
          <a:p>
            <a:pPr eaLnBrk="1" hangingPunct="1"/>
            <a:r>
              <a:rPr lang="en-US" altLang="zh-CN" sz="2000" dirty="0"/>
              <a:t>    6 MOD 0 </a:t>
            </a:r>
            <a:r>
              <a:rPr lang="zh-CN" altLang="en-US" sz="2000" dirty="0"/>
              <a:t>求模操作</a:t>
            </a:r>
            <a:r>
              <a:rPr lang="en-US" altLang="zh-CN" sz="2000" dirty="0"/>
              <a:t>;</a:t>
            </a:r>
            <a:endParaRPr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11560" y="443160"/>
            <a:ext cx="509776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使用</a:t>
            </a:r>
            <a:r>
              <a:rPr lang="en-US" altLang="zh-CN" dirty="0"/>
              <a:t>MySQL</a:t>
            </a:r>
            <a:r>
              <a:rPr lang="zh-CN" altLang="en-US" dirty="0"/>
              <a:t>运算符</a:t>
            </a:r>
            <a:endParaRPr lang="zh-CN" alt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8163" y="1403350"/>
            <a:ext cx="2629297" cy="504403"/>
          </a:xfrm>
          <a:ln>
            <a:miter lim="800000"/>
            <a:headEnd/>
            <a:tailEnd/>
          </a:ln>
        </p:spPr>
        <p:txBody>
          <a:bodyPr rtlCol="0">
            <a:normAutofit lnSpcReduction="10000"/>
          </a:bodyPr>
          <a:lstStyle/>
          <a:p>
            <a:pPr marL="0" indent="0" eaLnBrk="1" fontAlgn="auto" hangingPunct="1">
              <a:spcBef>
                <a:spcPct val="0"/>
              </a:spcBef>
              <a:spcAft>
                <a:spcPts val="0"/>
              </a:spcAft>
              <a:buFont typeface="Cambria"/>
              <a:buNone/>
              <a:defRPr/>
            </a:pPr>
            <a:r>
              <a:rPr lang="en-US" altLang="zh-CN" b="1" dirty="0">
                <a:solidFill>
                  <a:schemeClr val="tx2"/>
                </a:solidFill>
              </a:rPr>
              <a:t>3 </a:t>
            </a:r>
            <a:r>
              <a:rPr lang="zh-CN" altLang="en-US" b="1" dirty="0">
                <a:solidFill>
                  <a:schemeClr val="tx2"/>
                </a:solidFill>
              </a:rPr>
              <a:t>比较运算符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7172" name="矩形 7"/>
          <p:cNvSpPr>
            <a:spLocks noChangeArrowheads="1"/>
          </p:cNvSpPr>
          <p:nvPr/>
        </p:nvSpPr>
        <p:spPr bwMode="auto">
          <a:xfrm>
            <a:off x="3995936" y="1609635"/>
            <a:ext cx="468052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/>
              <a:t>【</a:t>
            </a:r>
            <a:r>
              <a:rPr lang="zh-CN" altLang="en-US" sz="2200" dirty="0"/>
              <a:t>例</a:t>
            </a:r>
            <a:r>
              <a:rPr lang="en-US" altLang="zh-CN" sz="2200" dirty="0"/>
              <a:t>】SELECT 1=1   </a:t>
            </a:r>
            <a:r>
              <a:rPr lang="zh-CN" altLang="en-US" sz="2200" dirty="0"/>
              <a:t>数值比较</a:t>
            </a:r>
            <a:r>
              <a:rPr lang="en-US" altLang="zh-CN" sz="2200" dirty="0"/>
              <a:t>,</a:t>
            </a:r>
          </a:p>
          <a:p>
            <a:pPr eaLnBrk="1" hangingPunct="1"/>
            <a:r>
              <a:rPr lang="zh-CN" altLang="en-US" sz="2200" dirty="0"/>
              <a:t>    </a:t>
            </a:r>
            <a:r>
              <a:rPr lang="en-US" altLang="zh-CN" sz="2200" dirty="0"/>
              <a:t>'</a:t>
            </a:r>
            <a:r>
              <a:rPr lang="en-US" altLang="zh-CN" sz="2200" dirty="0" err="1"/>
              <a:t>cjgong</a:t>
            </a:r>
            <a:r>
              <a:rPr lang="en-US" altLang="zh-CN" sz="2200" dirty="0"/>
              <a:t>'='</a:t>
            </a:r>
            <a:r>
              <a:rPr lang="en-US" altLang="zh-CN" sz="2200" dirty="0" err="1"/>
              <a:t>cjgong</a:t>
            </a:r>
            <a:r>
              <a:rPr lang="en-US" altLang="zh-CN" sz="2200" dirty="0"/>
              <a:t>' </a:t>
            </a:r>
            <a:r>
              <a:rPr lang="zh-CN" altLang="en-US" sz="2200" dirty="0"/>
              <a:t>字符串比较</a:t>
            </a:r>
            <a:r>
              <a:rPr lang="en-US" altLang="zh-CN" sz="2200" dirty="0"/>
              <a:t>,</a:t>
            </a:r>
            <a:endParaRPr lang="zh-CN" altLang="en-US" sz="2200" dirty="0"/>
          </a:p>
          <a:p>
            <a:pPr eaLnBrk="1" hangingPunct="1"/>
            <a:r>
              <a:rPr lang="zh-CN" altLang="en-US" sz="2200" dirty="0"/>
              <a:t>    </a:t>
            </a:r>
            <a:r>
              <a:rPr lang="en-US" altLang="zh-CN" sz="2200" dirty="0"/>
              <a:t>1+2=3+3 </a:t>
            </a:r>
            <a:r>
              <a:rPr lang="zh-CN" altLang="en-US" sz="2200" dirty="0"/>
              <a:t>表达式比较</a:t>
            </a:r>
            <a:r>
              <a:rPr lang="en-US" altLang="zh-CN" sz="2200" dirty="0"/>
              <a:t>,</a:t>
            </a:r>
            <a:endParaRPr lang="zh-CN" altLang="en-US" sz="2200" dirty="0"/>
          </a:p>
          <a:p>
            <a:pPr eaLnBrk="1" hangingPunct="1"/>
            <a:r>
              <a:rPr lang="zh-CN" altLang="en-US" sz="2200" dirty="0"/>
              <a:t>    </a:t>
            </a:r>
            <a:r>
              <a:rPr lang="en-US" altLang="zh-CN" sz="2200" dirty="0"/>
              <a:t>1&lt;=&gt;1   </a:t>
            </a:r>
            <a:r>
              <a:rPr lang="zh-CN" altLang="en-US" sz="2200" dirty="0"/>
              <a:t>数值比较</a:t>
            </a:r>
            <a:r>
              <a:rPr lang="en-US" altLang="zh-CN" sz="2200" dirty="0"/>
              <a:t>,</a:t>
            </a:r>
            <a:endParaRPr lang="zh-CN" altLang="en-US" sz="2200" dirty="0"/>
          </a:p>
          <a:p>
            <a:pPr eaLnBrk="1" hangingPunct="1"/>
            <a:r>
              <a:rPr lang="zh-CN" altLang="en-US" sz="2200" dirty="0"/>
              <a:t>    </a:t>
            </a:r>
            <a:r>
              <a:rPr lang="en-US" altLang="zh-CN" sz="2200" dirty="0"/>
              <a:t>'</a:t>
            </a:r>
            <a:r>
              <a:rPr lang="en-US" altLang="zh-CN" sz="2200" dirty="0" err="1"/>
              <a:t>cjgong</a:t>
            </a:r>
            <a:r>
              <a:rPr lang="en-US" altLang="zh-CN" sz="2200" dirty="0"/>
              <a:t>'&lt;=&gt;'</a:t>
            </a:r>
            <a:r>
              <a:rPr lang="en-US" altLang="zh-CN" sz="2200" dirty="0" err="1"/>
              <a:t>cjgong</a:t>
            </a:r>
            <a:r>
              <a:rPr lang="en-US" altLang="zh-CN" sz="2200" dirty="0"/>
              <a:t>' </a:t>
            </a:r>
            <a:r>
              <a:rPr lang="zh-CN" altLang="en-US" sz="2200" dirty="0"/>
              <a:t>字符串比较</a:t>
            </a:r>
            <a:r>
              <a:rPr lang="en-US" altLang="zh-CN" sz="2200" dirty="0"/>
              <a:t>,</a:t>
            </a:r>
            <a:endParaRPr lang="zh-CN" altLang="en-US" sz="2200" dirty="0"/>
          </a:p>
          <a:p>
            <a:pPr eaLnBrk="1" hangingPunct="1"/>
            <a:r>
              <a:rPr lang="zh-CN" altLang="en-US" sz="2200" dirty="0"/>
              <a:t>    </a:t>
            </a:r>
            <a:r>
              <a:rPr lang="en-US" altLang="zh-CN" sz="2200" dirty="0"/>
              <a:t>1+2&lt;=&gt;3+3 </a:t>
            </a:r>
            <a:r>
              <a:rPr lang="zh-CN" altLang="en-US" sz="2200" dirty="0"/>
              <a:t>表达式比较</a:t>
            </a:r>
            <a:r>
              <a:rPr lang="en-US" altLang="zh-CN" sz="2200" dirty="0"/>
              <a:t>;</a:t>
            </a:r>
            <a:endParaRPr lang="zh-CN" altLang="en-US" sz="2200" dirty="0"/>
          </a:p>
          <a:p>
            <a:pPr eaLnBrk="1" hangingPunct="1"/>
            <a:endParaRPr lang="zh-CN" altLang="en-US" sz="2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933056"/>
            <a:ext cx="8604592" cy="280831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7544" y="2132856"/>
            <a:ext cx="2736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</a:rPr>
              <a:t>等于：</a:t>
            </a:r>
            <a:r>
              <a:rPr lang="en-US" altLang="zh-CN" sz="2000" dirty="0">
                <a:solidFill>
                  <a:schemeClr val="tx2"/>
                </a:solidFill>
              </a:rPr>
              <a:t>=</a:t>
            </a:r>
            <a:r>
              <a:rPr lang="zh-CN" altLang="en-US" sz="2000" dirty="0">
                <a:solidFill>
                  <a:schemeClr val="tx2"/>
                </a:solidFill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</a:rPr>
              <a:t>&lt;=&gt;</a:t>
            </a:r>
          </a:p>
          <a:p>
            <a:r>
              <a:rPr lang="zh-CN" altLang="en-US" sz="2000" dirty="0">
                <a:solidFill>
                  <a:schemeClr val="tx2"/>
                </a:solidFill>
              </a:rPr>
              <a:t>不等于：</a:t>
            </a:r>
            <a:r>
              <a:rPr lang="en-US" altLang="zh-CN" sz="2000" dirty="0">
                <a:solidFill>
                  <a:schemeClr val="tx2"/>
                </a:solidFill>
              </a:rPr>
              <a:t>!=</a:t>
            </a:r>
            <a:r>
              <a:rPr lang="zh-CN" altLang="en-US" sz="2000" dirty="0">
                <a:solidFill>
                  <a:schemeClr val="tx2"/>
                </a:solidFill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</a:rPr>
              <a:t>&lt;&gt;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6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356992"/>
            <a:ext cx="5720449" cy="25202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6707" y="1700808"/>
            <a:ext cx="57516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】SELECT NULL=NULL   '=</a:t>
            </a:r>
            <a:r>
              <a:rPr lang="zh-CN" altLang="en-US" sz="2200" b="1" dirty="0"/>
              <a:t>符号效果</a:t>
            </a:r>
            <a:r>
              <a:rPr lang="en-US" altLang="zh-CN" sz="2200" b="1" dirty="0"/>
              <a:t>',</a:t>
            </a:r>
          </a:p>
          <a:p>
            <a:r>
              <a:rPr lang="en-US" altLang="zh-CN" sz="2200" b="1" dirty="0"/>
              <a:t>               NULL&lt;=&gt;NULL   ‘&lt;=&gt;</a:t>
            </a:r>
            <a:r>
              <a:rPr lang="zh-CN" altLang="en-US" sz="2200" b="1" dirty="0"/>
              <a:t>符号效果</a:t>
            </a:r>
            <a:r>
              <a:rPr lang="en-US" altLang="zh-CN" sz="2200" b="1" dirty="0"/>
              <a:t>’</a:t>
            </a:r>
            <a:r>
              <a:rPr lang="zh-CN" altLang="en-US" sz="2200" b="1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894610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43608" y="764704"/>
            <a:ext cx="6408712" cy="50440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ct val="0"/>
              </a:spcBef>
              <a:spcAft>
                <a:spcPts val="0"/>
              </a:spcAft>
              <a:buFont typeface="Cambria"/>
              <a:buNone/>
              <a:defRPr/>
            </a:pPr>
            <a:r>
              <a:rPr lang="zh-CN" altLang="en-US" sz="2600" b="1" dirty="0">
                <a:solidFill>
                  <a:schemeClr val="bg1"/>
                </a:solidFill>
              </a:rPr>
              <a:t>实现特殊功能比较运算符</a:t>
            </a:r>
            <a:r>
              <a:rPr lang="en-US" altLang="zh-CN" sz="2600" b="1" dirty="0">
                <a:solidFill>
                  <a:schemeClr val="bg1"/>
                </a:solidFill>
              </a:rPr>
              <a:t>REGEXP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306114"/>
              </p:ext>
            </p:extLst>
          </p:nvPr>
        </p:nvGraphicFramePr>
        <p:xfrm>
          <a:off x="862187" y="1628800"/>
          <a:ext cx="7742261" cy="405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模式字符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^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匹配字符串的开始部分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$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匹配字符串的结束部分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.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匹配字符串中任意一个字符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[ </a:t>
                      </a:r>
                      <a:r>
                        <a:rPr lang="zh-CN" altLang="en-US" b="1" dirty="0"/>
                        <a:t>字符集合 </a:t>
                      </a:r>
                      <a:r>
                        <a:rPr lang="en-US" altLang="zh-CN" b="1" dirty="0"/>
                        <a:t>]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匹配字符集合中任意一个字符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[ ^</a:t>
                      </a:r>
                      <a:r>
                        <a:rPr lang="zh-CN" altLang="en-US" b="1" dirty="0"/>
                        <a:t>字符集合 </a:t>
                      </a:r>
                      <a:r>
                        <a:rPr lang="en-US" altLang="zh-CN" b="1" dirty="0"/>
                        <a:t>]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匹配字符集合外任意一个字符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str1 | str2 |str3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匹配</a:t>
                      </a:r>
                      <a:r>
                        <a:rPr lang="en-US" altLang="zh-CN" b="1" dirty="0"/>
                        <a:t>str1 </a:t>
                      </a:r>
                      <a:r>
                        <a:rPr lang="zh-CN" altLang="en-US" b="1" dirty="0"/>
                        <a:t>、</a:t>
                      </a:r>
                      <a:r>
                        <a:rPr lang="en-US" altLang="zh-CN" b="1" dirty="0"/>
                        <a:t>str2</a:t>
                      </a:r>
                      <a:r>
                        <a:rPr lang="zh-CN" altLang="en-US" b="1" dirty="0"/>
                        <a:t>、</a:t>
                      </a:r>
                      <a:r>
                        <a:rPr lang="en-US" altLang="zh-CN" b="1" dirty="0"/>
                        <a:t>str3</a:t>
                      </a:r>
                      <a:r>
                        <a:rPr lang="zh-CN" altLang="en-US" b="1" dirty="0"/>
                        <a:t>中任意一个字符串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*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匹配字符，包含</a:t>
                      </a:r>
                      <a:r>
                        <a:rPr lang="en-US" altLang="zh-CN" b="1" dirty="0"/>
                        <a:t>0</a:t>
                      </a:r>
                      <a:r>
                        <a:rPr lang="zh-CN" altLang="en-US" b="1" dirty="0"/>
                        <a:t>个和</a:t>
                      </a:r>
                      <a:r>
                        <a:rPr lang="en-US" altLang="zh-CN" b="1" dirty="0"/>
                        <a:t>1</a:t>
                      </a:r>
                      <a:r>
                        <a:rPr lang="zh-CN" altLang="en-US" b="1" dirty="0"/>
                        <a:t>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+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匹配字符，包含</a:t>
                      </a:r>
                      <a:r>
                        <a:rPr lang="en-US" altLang="zh-CN" b="1" dirty="0"/>
                        <a:t>1</a:t>
                      </a:r>
                      <a:r>
                        <a:rPr lang="zh-CN" altLang="en-US" b="1" dirty="0"/>
                        <a:t>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字符串</a:t>
                      </a:r>
                      <a:r>
                        <a:rPr lang="en-US" altLang="zh-CN" b="1" dirty="0"/>
                        <a:t>{N}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字符串出现</a:t>
                      </a:r>
                      <a:r>
                        <a:rPr lang="en-US" altLang="zh-CN" b="1" dirty="0"/>
                        <a:t>N</a:t>
                      </a:r>
                      <a:r>
                        <a:rPr lang="zh-CN" altLang="en-US" b="1" dirty="0"/>
                        <a:t>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字符串</a:t>
                      </a:r>
                      <a:r>
                        <a:rPr lang="en-US" altLang="zh-CN" b="1" dirty="0"/>
                        <a:t>(M,N)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字符串出现至少</a:t>
                      </a:r>
                      <a:r>
                        <a:rPr lang="en-US" altLang="zh-CN" b="1" dirty="0"/>
                        <a:t>M</a:t>
                      </a:r>
                      <a:r>
                        <a:rPr lang="zh-CN" altLang="en-US" b="1" dirty="0"/>
                        <a:t>次，最多</a:t>
                      </a:r>
                      <a:r>
                        <a:rPr lang="en-US" altLang="zh-CN" b="1" dirty="0"/>
                        <a:t>N</a:t>
                      </a:r>
                      <a:r>
                        <a:rPr lang="zh-CN" altLang="en-US" b="1" dirty="0"/>
                        <a:t>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207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18964" y="1765980"/>
            <a:ext cx="67915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】SELECT ‘hello’  REGEXP ‘^h’ </a:t>
            </a:r>
            <a:r>
              <a:rPr lang="zh-CN" altLang="en-US" sz="2200" b="1" dirty="0"/>
              <a:t>特定字符开头</a:t>
            </a:r>
            <a:r>
              <a:rPr lang="en-US" altLang="zh-CN" sz="2200" b="1" dirty="0"/>
              <a:t>,</a:t>
            </a:r>
          </a:p>
          <a:p>
            <a:r>
              <a:rPr lang="en-US" altLang="zh-CN" sz="2200" b="1" dirty="0"/>
              <a:t>               ‘hello’  REGEXP ‘^</a:t>
            </a:r>
            <a:r>
              <a:rPr lang="en-US" altLang="zh-CN" sz="2200" b="1" dirty="0" err="1"/>
              <a:t>hel</a:t>
            </a:r>
            <a:r>
              <a:rPr lang="en-US" altLang="zh-CN" sz="2200" b="1" dirty="0"/>
              <a:t>’ </a:t>
            </a:r>
            <a:r>
              <a:rPr lang="zh-CN" altLang="en-US" sz="2200" b="1" dirty="0"/>
              <a:t>特定字符串开头</a:t>
            </a:r>
            <a:r>
              <a:rPr lang="en-US" altLang="zh-CN" sz="2200" b="1" dirty="0"/>
              <a:t>,</a:t>
            </a:r>
          </a:p>
          <a:p>
            <a:r>
              <a:rPr lang="en-US" altLang="zh-CN" sz="2200" b="1" dirty="0"/>
              <a:t>               ‘hello’  REGEXP ‘o$’ </a:t>
            </a:r>
            <a:r>
              <a:rPr lang="zh-CN" altLang="en-US" sz="2200" b="1" dirty="0"/>
              <a:t>特定字符结尾</a:t>
            </a:r>
            <a:r>
              <a:rPr lang="en-US" altLang="zh-CN" sz="2200" b="1" dirty="0"/>
              <a:t>,</a:t>
            </a:r>
          </a:p>
          <a:p>
            <a:r>
              <a:rPr lang="zh-CN" altLang="en-US" sz="2200" b="1" dirty="0"/>
              <a:t>               </a:t>
            </a:r>
            <a:r>
              <a:rPr lang="en-US" altLang="zh-CN" sz="2200" b="1" dirty="0"/>
              <a:t>‘hello’  REGEXP ‘</a:t>
            </a:r>
            <a:r>
              <a:rPr lang="en-US" altLang="zh-CN" sz="2200" b="1" dirty="0" err="1"/>
              <a:t>llo</a:t>
            </a:r>
            <a:r>
              <a:rPr lang="en-US" altLang="zh-CN" sz="2200" b="1" dirty="0"/>
              <a:t>$’ </a:t>
            </a:r>
            <a:r>
              <a:rPr lang="zh-CN" altLang="en-US" sz="2200" b="1" dirty="0"/>
              <a:t>特定字符串结尾；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356992"/>
            <a:ext cx="9078690" cy="2880296"/>
          </a:xfrm>
          <a:prstGeom prst="rect">
            <a:avLst/>
          </a:prstGeom>
        </p:spPr>
      </p:pic>
      <p:sp>
        <p:nvSpPr>
          <p:cNvPr id="6" name="内容占位符 2"/>
          <p:cNvSpPr txBox="1">
            <a:spLocks/>
          </p:cNvSpPr>
          <p:nvPr/>
        </p:nvSpPr>
        <p:spPr bwMode="auto">
          <a:xfrm>
            <a:off x="1043608" y="764704"/>
            <a:ext cx="6408712" cy="50440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ct val="0"/>
              </a:spcBef>
              <a:spcAft>
                <a:spcPts val="0"/>
              </a:spcAft>
              <a:buFont typeface="Cambria"/>
              <a:buNone/>
              <a:defRPr/>
            </a:pPr>
            <a:r>
              <a:rPr lang="zh-CN" altLang="en-US" sz="2600" b="1" dirty="0">
                <a:solidFill>
                  <a:schemeClr val="bg1"/>
                </a:solidFill>
              </a:rPr>
              <a:t>实现特殊功能比较运算符</a:t>
            </a:r>
            <a:r>
              <a:rPr lang="en-US" altLang="zh-CN" sz="2600" b="1" dirty="0">
                <a:solidFill>
                  <a:schemeClr val="bg1"/>
                </a:solidFill>
              </a:rPr>
              <a:t>REGEXP</a:t>
            </a:r>
          </a:p>
        </p:txBody>
      </p:sp>
    </p:spTree>
    <p:extLst>
      <p:ext uri="{BB962C8B-B14F-4D97-AF65-F5344CB8AC3E}">
        <p14:creationId xmlns:p14="http://schemas.microsoft.com/office/powerpoint/2010/main" val="2881556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43608" y="764704"/>
            <a:ext cx="6408712" cy="50440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ct val="0"/>
              </a:spcBef>
              <a:spcAft>
                <a:spcPts val="0"/>
              </a:spcAft>
              <a:buFont typeface="Cambria"/>
              <a:buNone/>
              <a:defRPr/>
            </a:pPr>
            <a:r>
              <a:rPr lang="zh-CN" altLang="en-US" sz="2600" b="1" dirty="0">
                <a:solidFill>
                  <a:schemeClr val="bg1"/>
                </a:solidFill>
              </a:rPr>
              <a:t>实现特殊功能比较运算符</a:t>
            </a:r>
            <a:r>
              <a:rPr lang="en-US" altLang="zh-CN" sz="2600" b="1" dirty="0">
                <a:solidFill>
                  <a:schemeClr val="bg1"/>
                </a:solidFill>
              </a:rPr>
              <a:t>REGEXP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1" y="3767287"/>
            <a:ext cx="9038729" cy="244827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3719" y="1625645"/>
            <a:ext cx="815749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】SELECT 'hello'  REGEXP '^h...o$' </a:t>
            </a:r>
            <a:r>
              <a:rPr lang="zh-CN" altLang="en-US" sz="2200" b="1" dirty="0"/>
              <a:t>匹配</a:t>
            </a:r>
            <a:r>
              <a:rPr lang="en-US" altLang="zh-CN" sz="2200" b="1" dirty="0"/>
              <a:t>3</a:t>
            </a:r>
            <a:r>
              <a:rPr lang="zh-CN" altLang="en-US" sz="2200" b="1" dirty="0"/>
              <a:t>个任意字符</a:t>
            </a:r>
            <a:r>
              <a:rPr lang="en-US" altLang="zh-CN" sz="2200" b="1" dirty="0"/>
              <a:t>,</a:t>
            </a:r>
          </a:p>
          <a:p>
            <a:r>
              <a:rPr lang="en-US" altLang="zh-CN" sz="2200" b="1" dirty="0"/>
              <a:t>'hello'  REGEXP '[</a:t>
            </a:r>
            <a:r>
              <a:rPr lang="en-US" altLang="zh-CN" sz="2200" b="1" dirty="0" err="1"/>
              <a:t>abc</a:t>
            </a:r>
            <a:r>
              <a:rPr lang="en-US" altLang="zh-CN" sz="2200" b="1" dirty="0"/>
              <a:t>]' </a:t>
            </a:r>
            <a:r>
              <a:rPr lang="zh-CN" altLang="en-US" sz="2200" b="1" dirty="0"/>
              <a:t>指定字符中字符</a:t>
            </a:r>
            <a:r>
              <a:rPr lang="en-US" altLang="zh-CN" sz="2200" b="1" dirty="0"/>
              <a:t>,</a:t>
            </a:r>
          </a:p>
          <a:p>
            <a:r>
              <a:rPr lang="en-US" altLang="zh-CN" sz="2200" b="1" dirty="0"/>
              <a:t> 'hello'  REGEXP '[a-</a:t>
            </a:r>
            <a:r>
              <a:rPr lang="en-US" altLang="zh-CN" sz="2200" b="1" dirty="0" err="1"/>
              <a:t>zA</a:t>
            </a:r>
            <a:r>
              <a:rPr lang="en-US" altLang="zh-CN" sz="2200" b="1" dirty="0"/>
              <a:t>-Z]' </a:t>
            </a:r>
            <a:r>
              <a:rPr lang="zh-CN" altLang="en-US" sz="2200" b="1" dirty="0"/>
              <a:t>指定字符中的集合区间</a:t>
            </a:r>
            <a:r>
              <a:rPr lang="en-US" altLang="zh-CN" sz="2200" b="1" dirty="0"/>
              <a:t>,</a:t>
            </a:r>
          </a:p>
          <a:p>
            <a:r>
              <a:rPr lang="en-US" altLang="zh-CN" sz="2200" b="1" dirty="0"/>
              <a:t> 'hello'  REGEXP '[^</a:t>
            </a:r>
            <a:r>
              <a:rPr lang="en-US" altLang="zh-CN" sz="2200" b="1" dirty="0" err="1"/>
              <a:t>abc</a:t>
            </a:r>
            <a:r>
              <a:rPr lang="en-US" altLang="zh-CN" sz="2200" b="1" dirty="0"/>
              <a:t>]' </a:t>
            </a:r>
            <a:r>
              <a:rPr lang="zh-CN" altLang="en-US" sz="2200" b="1" dirty="0"/>
              <a:t>指定字符外字符</a:t>
            </a:r>
            <a:r>
              <a:rPr lang="en-US" altLang="zh-CN" sz="2200" b="1" dirty="0"/>
              <a:t>,</a:t>
            </a:r>
          </a:p>
          <a:p>
            <a:r>
              <a:rPr lang="en-US" altLang="zh-CN" sz="2200" b="1" dirty="0"/>
              <a:t> 'hello'  REGEXP '[^a-zA-Z0-9]' </a:t>
            </a:r>
            <a:r>
              <a:rPr lang="zh-CN" altLang="en-US" sz="2200" b="1" dirty="0"/>
              <a:t>指定字符外集合区间</a:t>
            </a:r>
            <a:r>
              <a:rPr lang="en-US" altLang="zh-CN" sz="2200" b="1" dirty="0"/>
              <a:t>;</a:t>
            </a:r>
            <a:endParaRPr lang="zh-CN" altLang="en-US" sz="2200" b="1" dirty="0"/>
          </a:p>
        </p:txBody>
      </p:sp>
      <p:sp>
        <p:nvSpPr>
          <p:cNvPr id="7" name="椭圆 6"/>
          <p:cNvSpPr/>
          <p:nvPr/>
        </p:nvSpPr>
        <p:spPr bwMode="auto">
          <a:xfrm>
            <a:off x="2483768" y="2302173"/>
            <a:ext cx="1080120" cy="432048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55776" y="2975251"/>
            <a:ext cx="1656184" cy="432048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27984" y="3407299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不用逗号</a:t>
            </a:r>
            <a:r>
              <a:rPr lang="en-US" altLang="zh-CN" dirty="0"/>
              <a:t>(</a:t>
            </a:r>
            <a:r>
              <a:rPr lang="zh-CN" altLang="en-US" dirty="0"/>
              <a:t>，</a:t>
            </a:r>
            <a:r>
              <a:rPr lang="en-US" altLang="zh-CN" dirty="0"/>
              <a:t>)</a:t>
            </a:r>
            <a:r>
              <a:rPr lang="zh-CN" altLang="en-US" dirty="0"/>
              <a:t>分隔</a:t>
            </a:r>
          </a:p>
        </p:txBody>
      </p:sp>
    </p:spTree>
    <p:extLst>
      <p:ext uri="{BB962C8B-B14F-4D97-AF65-F5344CB8AC3E}">
        <p14:creationId xmlns:p14="http://schemas.microsoft.com/office/powerpoint/2010/main" val="3414411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10</a:t>
            </a:fld>
            <a:endParaRPr lang="en-US" altLang="zh-CN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43608" y="764704"/>
            <a:ext cx="6408712" cy="50440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ct val="0"/>
              </a:spcBef>
              <a:spcAft>
                <a:spcPts val="0"/>
              </a:spcAft>
              <a:buFont typeface="Cambria"/>
              <a:buNone/>
              <a:defRPr/>
            </a:pPr>
            <a:r>
              <a:rPr lang="zh-CN" altLang="en-US" sz="2600" b="1" dirty="0">
                <a:solidFill>
                  <a:schemeClr val="bg1"/>
                </a:solidFill>
              </a:rPr>
              <a:t>实现特殊功能比较运算符</a:t>
            </a:r>
            <a:r>
              <a:rPr lang="en-US" altLang="zh-CN" sz="2600" b="1" dirty="0">
                <a:solidFill>
                  <a:schemeClr val="bg1"/>
                </a:solidFill>
              </a:rPr>
              <a:t>REGEXP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14" y="2969109"/>
            <a:ext cx="7729915" cy="203074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0825" y="1881566"/>
            <a:ext cx="764342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</a:t>
            </a:r>
            <a:r>
              <a:rPr lang="zh-CN" altLang="en-US" sz="2200" b="1" dirty="0"/>
              <a:t>SELECT 'hello'  REGEXP 'a*l' 匹配是否包含多个字符a,</a:t>
            </a:r>
          </a:p>
          <a:p>
            <a:r>
              <a:rPr lang="zh-CN" altLang="en-US" sz="2200" b="1" dirty="0"/>
              <a:t>'hello'  REGEXP 'a+l' 匹配是否包含多个字符a</a:t>
            </a:r>
          </a:p>
        </p:txBody>
      </p:sp>
    </p:spTree>
    <p:extLst>
      <p:ext uri="{BB962C8B-B14F-4D97-AF65-F5344CB8AC3E}">
        <p14:creationId xmlns:p14="http://schemas.microsoft.com/office/powerpoint/2010/main" val="3561745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43608" y="764704"/>
            <a:ext cx="6408712" cy="50440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ct val="0"/>
              </a:spcBef>
              <a:spcAft>
                <a:spcPts val="0"/>
              </a:spcAft>
              <a:buFont typeface="Cambria"/>
              <a:buNone/>
              <a:defRPr/>
            </a:pPr>
            <a:r>
              <a:rPr lang="zh-CN" altLang="en-US" sz="2600" b="1" dirty="0">
                <a:solidFill>
                  <a:schemeClr val="bg1"/>
                </a:solidFill>
              </a:rPr>
              <a:t>实现特殊功能比较运算符</a:t>
            </a:r>
            <a:r>
              <a:rPr lang="en-US" altLang="zh-CN" sz="2600" b="1" dirty="0">
                <a:solidFill>
                  <a:schemeClr val="bg1"/>
                </a:solidFill>
              </a:rPr>
              <a:t>REGEXP</a:t>
            </a:r>
          </a:p>
        </p:txBody>
      </p:sp>
      <p:sp>
        <p:nvSpPr>
          <p:cNvPr id="6" name="矩形 5"/>
          <p:cNvSpPr/>
          <p:nvPr/>
        </p:nvSpPr>
        <p:spPr>
          <a:xfrm>
            <a:off x="250825" y="1881566"/>
            <a:ext cx="764342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】SELECT 'hello'  REGEXP 'he' </a:t>
            </a:r>
            <a:r>
              <a:rPr lang="zh-CN" altLang="en-US" sz="2200" b="1" dirty="0"/>
              <a:t>匹配指定单个字符串</a:t>
            </a:r>
            <a:r>
              <a:rPr lang="en-US" altLang="zh-CN" sz="2200" b="1" dirty="0"/>
              <a:t>,</a:t>
            </a:r>
          </a:p>
          <a:p>
            <a:r>
              <a:rPr lang="en-US" altLang="zh-CN" sz="2200" b="1" dirty="0"/>
              <a:t>‘hello’  REGEXP ‘</a:t>
            </a:r>
            <a:r>
              <a:rPr lang="en-US" altLang="zh-CN" sz="2200" b="1" dirty="0" err="1"/>
              <a:t>heo|helo</a:t>
            </a:r>
            <a:r>
              <a:rPr lang="en-US" altLang="zh-CN" sz="2200" b="1" dirty="0"/>
              <a:t>’ </a:t>
            </a:r>
            <a:r>
              <a:rPr lang="zh-CN" altLang="en-US" sz="2200" b="1" dirty="0"/>
              <a:t>匹配指定多个字符串；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996952"/>
            <a:ext cx="7624727" cy="237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86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43608" y="764704"/>
            <a:ext cx="6408712" cy="50440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ct val="0"/>
              </a:spcBef>
              <a:spcAft>
                <a:spcPts val="0"/>
              </a:spcAft>
              <a:buFont typeface="Cambria"/>
              <a:buNone/>
              <a:defRPr/>
            </a:pPr>
            <a:r>
              <a:rPr lang="zh-CN" altLang="en-US" sz="2600" b="1" dirty="0">
                <a:solidFill>
                  <a:schemeClr val="bg1"/>
                </a:solidFill>
              </a:rPr>
              <a:t>实现特殊功能比较运算符</a:t>
            </a:r>
            <a:r>
              <a:rPr lang="en-US" altLang="zh-CN" sz="2600" b="1" dirty="0">
                <a:solidFill>
                  <a:schemeClr val="bg1"/>
                </a:solidFill>
              </a:rPr>
              <a:t>REGEXP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356992"/>
            <a:ext cx="7913690" cy="259614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11560" y="1697720"/>
            <a:ext cx="764342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】SELECT '</a:t>
            </a:r>
            <a:r>
              <a:rPr lang="en-US" altLang="zh-CN" sz="2200" b="1" dirty="0" err="1"/>
              <a:t>hellohello</a:t>
            </a:r>
            <a:r>
              <a:rPr lang="en-US" altLang="zh-CN" sz="2200" b="1" dirty="0"/>
              <a:t>'  REGEXP 'l{4}'    </a:t>
            </a:r>
            <a:r>
              <a:rPr lang="zh-CN" altLang="en-US" sz="2200" b="1" dirty="0"/>
              <a:t>匹配</a:t>
            </a:r>
            <a:r>
              <a:rPr lang="en-US" altLang="zh-CN" sz="2200" b="1" dirty="0"/>
              <a:t>4</a:t>
            </a:r>
            <a:r>
              <a:rPr lang="zh-CN" altLang="en-US" sz="2200" b="1" dirty="0"/>
              <a:t>个字符</a:t>
            </a:r>
            <a:r>
              <a:rPr lang="en-US" altLang="zh-CN" sz="2200" b="1" dirty="0"/>
              <a:t>l,</a:t>
            </a:r>
          </a:p>
          <a:p>
            <a:r>
              <a:rPr lang="en-US" altLang="zh-CN" sz="2200" b="1" dirty="0"/>
              <a:t>      '</a:t>
            </a:r>
            <a:r>
              <a:rPr lang="en-US" altLang="zh-CN" sz="2200" b="1" dirty="0" err="1"/>
              <a:t>hellohello</a:t>
            </a:r>
            <a:r>
              <a:rPr lang="en-US" altLang="zh-CN" sz="2200" b="1" dirty="0"/>
              <a:t>'  REGEXP 'l{2}‘   </a:t>
            </a:r>
            <a:r>
              <a:rPr lang="zh-CN" altLang="en-US" sz="2200" b="1" dirty="0"/>
              <a:t>匹配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个字符</a:t>
            </a:r>
            <a:r>
              <a:rPr lang="en-US" altLang="zh-CN" sz="2200" b="1" dirty="0"/>
              <a:t>l,</a:t>
            </a:r>
          </a:p>
          <a:p>
            <a:r>
              <a:rPr lang="en-US" altLang="zh-CN" sz="2200" b="1" dirty="0"/>
              <a:t>      '</a:t>
            </a:r>
            <a:r>
              <a:rPr lang="en-US" altLang="zh-CN" sz="2200" b="1" dirty="0" err="1"/>
              <a:t>hellohello</a:t>
            </a:r>
            <a:r>
              <a:rPr lang="en-US" altLang="zh-CN" sz="2200" b="1" dirty="0"/>
              <a:t>'  REGEXP 'he{1,2}'     </a:t>
            </a:r>
            <a:r>
              <a:rPr lang="zh-CN" altLang="en-US" sz="2200" b="1" dirty="0"/>
              <a:t>至少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个，最多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个；</a:t>
            </a:r>
          </a:p>
        </p:txBody>
      </p:sp>
    </p:spTree>
    <p:extLst>
      <p:ext uri="{BB962C8B-B14F-4D97-AF65-F5344CB8AC3E}">
        <p14:creationId xmlns:p14="http://schemas.microsoft.com/office/powerpoint/2010/main" val="428402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31726" y="512316"/>
            <a:ext cx="4305672" cy="86439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200" dirty="0"/>
              <a:t>使用</a:t>
            </a:r>
            <a:r>
              <a:rPr lang="en-US" altLang="zh-CN" sz="3200" dirty="0"/>
              <a:t>MySQL</a:t>
            </a:r>
            <a:r>
              <a:rPr lang="zh-CN" altLang="en-US" sz="3200" dirty="0"/>
              <a:t>运算符</a:t>
            </a:r>
            <a:endParaRPr lang="zh-CN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7544" y="1385441"/>
            <a:ext cx="2845321" cy="2052290"/>
          </a:xfrm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 marL="514350" indent="-514350" eaLnBrk="1" fontAlgn="auto" hangingPunct="1">
              <a:spcBef>
                <a:spcPct val="0"/>
              </a:spcBef>
              <a:spcAft>
                <a:spcPts val="0"/>
              </a:spcAft>
              <a:buFont typeface="Cambria"/>
              <a:buAutoNum type="arabicPlain" startAt="4"/>
              <a:defRPr/>
            </a:pPr>
            <a:r>
              <a:rPr lang="zh-CN" altLang="en-US" b="1" dirty="0">
                <a:solidFill>
                  <a:schemeClr val="tx2"/>
                </a:solidFill>
              </a:rPr>
              <a:t>逻辑运算符</a:t>
            </a:r>
            <a:endParaRPr lang="en-US" altLang="zh-CN" b="1" dirty="0">
              <a:solidFill>
                <a:schemeClr val="tx2"/>
              </a:solidFill>
            </a:endParaRPr>
          </a:p>
          <a:p>
            <a:pPr marL="0" indent="0" eaLnBrk="1" fontAlgn="auto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</a:rPr>
              <a:t>与 </a:t>
            </a:r>
            <a:r>
              <a:rPr lang="en-US" altLang="zh-CN" sz="2400" b="1" dirty="0">
                <a:solidFill>
                  <a:schemeClr val="tx2"/>
                </a:solidFill>
              </a:rPr>
              <a:t>AND(&amp;&amp;)</a:t>
            </a:r>
          </a:p>
          <a:p>
            <a:pPr marL="0" indent="0" eaLnBrk="1" fontAlgn="auto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</a:rPr>
              <a:t>或 </a:t>
            </a:r>
            <a:r>
              <a:rPr lang="en-US" altLang="zh-CN" sz="2400" b="1" dirty="0">
                <a:solidFill>
                  <a:schemeClr val="tx2"/>
                </a:solidFill>
              </a:rPr>
              <a:t>OR(||)</a:t>
            </a:r>
          </a:p>
          <a:p>
            <a:pPr marL="0" indent="0" eaLnBrk="1" fontAlgn="auto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</a:rPr>
              <a:t>非</a:t>
            </a:r>
            <a:r>
              <a:rPr lang="en-US" altLang="zh-CN" sz="2400" b="1" dirty="0">
                <a:solidFill>
                  <a:schemeClr val="tx2"/>
                </a:solidFill>
              </a:rPr>
              <a:t>NOT(!)</a:t>
            </a:r>
          </a:p>
          <a:p>
            <a:pPr marL="0" indent="0" eaLnBrk="1" fontAlgn="auto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</a:rPr>
              <a:t>异或 </a:t>
            </a:r>
            <a:r>
              <a:rPr lang="en-US" altLang="zh-CN" sz="2400" b="1" dirty="0">
                <a:solidFill>
                  <a:schemeClr val="tx2"/>
                </a:solidFill>
              </a:rPr>
              <a:t>XOR</a:t>
            </a:r>
          </a:p>
        </p:txBody>
      </p:sp>
      <p:sp>
        <p:nvSpPr>
          <p:cNvPr id="8196" name="矩形 7"/>
          <p:cNvSpPr>
            <a:spLocks noChangeArrowheads="1"/>
          </p:cNvSpPr>
          <p:nvPr/>
        </p:nvSpPr>
        <p:spPr bwMode="auto">
          <a:xfrm>
            <a:off x="4937398" y="1106746"/>
            <a:ext cx="3168352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【</a:t>
            </a:r>
            <a:r>
              <a:rPr lang="zh-CN" altLang="en-US" sz="2000" b="1" dirty="0"/>
              <a:t>例</a:t>
            </a:r>
            <a:r>
              <a:rPr lang="en-US" altLang="zh-CN" sz="2000" b="1" dirty="0"/>
              <a:t>】SELECT 3 AND 4,</a:t>
            </a:r>
          </a:p>
          <a:p>
            <a:pPr eaLnBrk="1" hangingPunct="1"/>
            <a:r>
              <a:rPr lang="en-US" altLang="zh-CN" sz="2000" b="1" dirty="0"/>
              <a:t>    0 AND 4,</a:t>
            </a:r>
          </a:p>
          <a:p>
            <a:pPr eaLnBrk="1" hangingPunct="1"/>
            <a:r>
              <a:rPr lang="en-US" altLang="zh-CN" sz="2000" b="1" dirty="0"/>
              <a:t>    0 AND NULL,</a:t>
            </a:r>
          </a:p>
          <a:p>
            <a:pPr eaLnBrk="1" hangingPunct="1"/>
            <a:r>
              <a:rPr lang="en-US" altLang="zh-CN" sz="2000" b="1" dirty="0"/>
              <a:t>    3 AND NULL,</a:t>
            </a:r>
          </a:p>
          <a:p>
            <a:pPr eaLnBrk="1" hangingPunct="1"/>
            <a:r>
              <a:rPr lang="en-US" altLang="zh-CN" sz="2000" b="1" dirty="0"/>
              <a:t>    3 &amp;&amp; 4,</a:t>
            </a:r>
          </a:p>
          <a:p>
            <a:pPr eaLnBrk="1" hangingPunct="1"/>
            <a:r>
              <a:rPr lang="en-US" altLang="zh-CN" sz="2000" b="1" dirty="0"/>
              <a:t>    0 &amp;&amp; 4,</a:t>
            </a:r>
          </a:p>
          <a:p>
            <a:pPr eaLnBrk="1" hangingPunct="1"/>
            <a:r>
              <a:rPr lang="en-US" altLang="zh-CN" sz="2000" b="1" dirty="0"/>
              <a:t>    0 &amp;&amp; NULL,</a:t>
            </a:r>
          </a:p>
          <a:p>
            <a:pPr eaLnBrk="1" hangingPunct="1"/>
            <a:r>
              <a:rPr lang="en-US" altLang="zh-CN" sz="2000" b="1" dirty="0"/>
              <a:t>    3 &amp;&amp; NULL;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70022"/>
            <a:ext cx="9089856" cy="3024336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20130" y="1556792"/>
            <a:ext cx="7992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2"/>
                </a:solidFill>
              </a:rPr>
              <a:t>异或 </a:t>
            </a:r>
            <a:r>
              <a:rPr lang="en-US" altLang="zh-CN" sz="2400" b="1" dirty="0">
                <a:solidFill>
                  <a:schemeClr val="tx2"/>
                </a:solidFill>
              </a:rPr>
              <a:t>XOR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fontAlgn="auto"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2"/>
                </a:solidFill>
              </a:rPr>
              <a:t>        如果操作数中含有</a:t>
            </a:r>
            <a:r>
              <a:rPr lang="en-US" altLang="zh-CN" sz="2400" b="1" dirty="0">
                <a:solidFill>
                  <a:schemeClr val="tx2"/>
                </a:solidFill>
              </a:rPr>
              <a:t>NULL</a:t>
            </a:r>
            <a:r>
              <a:rPr lang="zh-CN" altLang="en-US" sz="2400" b="1" dirty="0">
                <a:solidFill>
                  <a:schemeClr val="tx2"/>
                </a:solidFill>
              </a:rPr>
              <a:t>（空值），结果返回</a:t>
            </a:r>
            <a:r>
              <a:rPr lang="en-US" altLang="zh-CN" sz="2400" b="1" dirty="0">
                <a:solidFill>
                  <a:schemeClr val="tx2"/>
                </a:solidFill>
              </a:rPr>
              <a:t>NULL</a:t>
            </a:r>
            <a:r>
              <a:rPr lang="zh-CN" altLang="en-US" sz="2400" b="1" dirty="0">
                <a:solidFill>
                  <a:schemeClr val="tx2"/>
                </a:solidFill>
              </a:rPr>
              <a:t>；如果操作数同为</a:t>
            </a: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r>
              <a:rPr lang="zh-CN" altLang="en-US" sz="2400" b="1" dirty="0">
                <a:solidFill>
                  <a:schemeClr val="tx2"/>
                </a:solidFill>
              </a:rPr>
              <a:t>或者同为非</a:t>
            </a: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r>
              <a:rPr lang="zh-CN" altLang="en-US" sz="2400" b="1" dirty="0">
                <a:solidFill>
                  <a:schemeClr val="tx2"/>
                </a:solidFill>
              </a:rPr>
              <a:t>数字，结果返回</a:t>
            </a: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r>
              <a:rPr lang="zh-CN" altLang="en-US" sz="2400" b="1" dirty="0">
                <a:solidFill>
                  <a:schemeClr val="tx2"/>
                </a:solidFill>
              </a:rPr>
              <a:t>；如果一个操作数为</a:t>
            </a: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r>
              <a:rPr lang="zh-CN" altLang="en-US" sz="2400" b="1" dirty="0">
                <a:solidFill>
                  <a:schemeClr val="tx2"/>
                </a:solidFill>
              </a:rPr>
              <a:t>而另一个操作数不为</a:t>
            </a: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r>
              <a:rPr lang="zh-CN" altLang="en-US" sz="2400" b="1" dirty="0">
                <a:solidFill>
                  <a:schemeClr val="tx2"/>
                </a:solidFill>
              </a:rPr>
              <a:t>，结果返回</a:t>
            </a:r>
            <a:r>
              <a:rPr lang="en-US" altLang="zh-CN" sz="2400" b="1" dirty="0">
                <a:solidFill>
                  <a:schemeClr val="tx2"/>
                </a:solidFill>
              </a:rPr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261188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矩形 7"/>
          <p:cNvSpPr>
            <a:spLocks noChangeArrowheads="1"/>
          </p:cNvSpPr>
          <p:nvPr/>
        </p:nvSpPr>
        <p:spPr bwMode="auto">
          <a:xfrm>
            <a:off x="543719" y="1556792"/>
            <a:ext cx="3236193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/>
              <a:t>【</a:t>
            </a:r>
            <a:r>
              <a:rPr lang="zh-CN" altLang="en-US" sz="2200" dirty="0"/>
              <a:t>例</a:t>
            </a:r>
            <a:r>
              <a:rPr lang="en-US" altLang="zh-CN" sz="2200" dirty="0"/>
              <a:t>】SELECT 3 XOR 4,</a:t>
            </a:r>
          </a:p>
          <a:p>
            <a:pPr eaLnBrk="1" hangingPunct="1"/>
            <a:r>
              <a:rPr lang="en-US" altLang="zh-CN" sz="2200" dirty="0"/>
              <a:t>    0 XOR 0,</a:t>
            </a:r>
          </a:p>
          <a:p>
            <a:pPr eaLnBrk="1" hangingPunct="1"/>
            <a:r>
              <a:rPr lang="en-US" altLang="zh-CN" sz="2200" dirty="0"/>
              <a:t>    NULL XOR NULL,</a:t>
            </a:r>
          </a:p>
          <a:p>
            <a:pPr eaLnBrk="1" hangingPunct="1"/>
            <a:r>
              <a:rPr lang="en-US" altLang="zh-CN" sz="2200" dirty="0"/>
              <a:t>    0 XOR 4,</a:t>
            </a:r>
          </a:p>
          <a:p>
            <a:pPr eaLnBrk="1" hangingPunct="1"/>
            <a:r>
              <a:rPr lang="en-US" altLang="zh-CN" sz="2200" dirty="0"/>
              <a:t>    0 XOR NULL,</a:t>
            </a:r>
          </a:p>
          <a:p>
            <a:pPr eaLnBrk="1" hangingPunct="1"/>
            <a:r>
              <a:rPr lang="en-US" altLang="zh-CN" sz="2200" dirty="0"/>
              <a:t>    3 XOR NULL;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15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3429000"/>
            <a:ext cx="6660232" cy="326548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43608" y="836712"/>
            <a:ext cx="1413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2"/>
                </a:solidFill>
              </a:rPr>
              <a:t>异或 </a:t>
            </a:r>
            <a:r>
              <a:rPr lang="en-US" altLang="zh-CN" sz="2400" b="1" dirty="0">
                <a:solidFill>
                  <a:schemeClr val="tx2"/>
                </a:solidFill>
              </a:rPr>
              <a:t>XOR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14400" y="476672"/>
            <a:ext cx="6393904" cy="92667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使用</a:t>
            </a:r>
            <a:r>
              <a:rPr lang="en-US" altLang="zh-CN" dirty="0"/>
              <a:t>MySQL</a:t>
            </a:r>
            <a:r>
              <a:rPr lang="zh-CN" altLang="en-US" dirty="0"/>
              <a:t>运算符</a:t>
            </a:r>
            <a:endParaRPr lang="zh-CN" alt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55650" y="1400969"/>
            <a:ext cx="2917329" cy="562297"/>
          </a:xfrm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 marL="0" indent="0" eaLnBrk="1" fontAlgn="auto" hangingPunct="1">
              <a:spcBef>
                <a:spcPct val="0"/>
              </a:spcBef>
              <a:spcAft>
                <a:spcPts val="0"/>
              </a:spcAft>
              <a:buFont typeface="Cambria"/>
              <a:buNone/>
              <a:defRPr/>
            </a:pPr>
            <a:r>
              <a:rPr lang="en-US" altLang="zh-CN" b="1" dirty="0">
                <a:solidFill>
                  <a:schemeClr val="tx2">
                    <a:lumMod val="75000"/>
                  </a:schemeClr>
                </a:solidFill>
              </a:rPr>
              <a:t>5 </a:t>
            </a: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位运算符</a:t>
            </a:r>
            <a:endParaRPr lang="en-US" altLang="zh-CN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220" name="矩形 7"/>
          <p:cNvSpPr>
            <a:spLocks noChangeArrowheads="1"/>
          </p:cNvSpPr>
          <p:nvPr/>
        </p:nvSpPr>
        <p:spPr bwMode="auto">
          <a:xfrm>
            <a:off x="971600" y="1963266"/>
            <a:ext cx="280831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按位与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&amp;</a:t>
            </a:r>
          </a:p>
          <a:p>
            <a:pPr eaLnBrk="1" hangingPunct="1"/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按位或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|</a:t>
            </a:r>
          </a:p>
          <a:p>
            <a:pPr eaLnBrk="1" hangingPunct="1"/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按位取反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~</a:t>
            </a:r>
          </a:p>
          <a:p>
            <a:pPr eaLnBrk="1" hangingPunct="1"/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按位异或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^</a:t>
            </a:r>
          </a:p>
          <a:p>
            <a:pPr eaLnBrk="1" hangingPunct="1"/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按位左移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&lt;&lt;</a:t>
            </a:r>
          </a:p>
          <a:p>
            <a:pPr eaLnBrk="1" hangingPunct="1"/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按位右移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&gt;&gt;</a:t>
            </a:r>
          </a:p>
        </p:txBody>
      </p:sp>
      <p:sp>
        <p:nvSpPr>
          <p:cNvPr id="5" name="矩形 7"/>
          <p:cNvSpPr>
            <a:spLocks noChangeArrowheads="1"/>
          </p:cNvSpPr>
          <p:nvPr/>
        </p:nvSpPr>
        <p:spPr bwMode="auto">
          <a:xfrm>
            <a:off x="3272358" y="3056096"/>
            <a:ext cx="560640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100" b="1" dirty="0"/>
              <a:t>【</a:t>
            </a:r>
            <a:r>
              <a:rPr lang="zh-CN" altLang="en-US" sz="2100" b="1" dirty="0"/>
              <a:t>例</a:t>
            </a:r>
            <a:r>
              <a:rPr lang="en-US" altLang="zh-CN" sz="2100" b="1" dirty="0"/>
              <a:t>】SELECT 5&amp;6, BIN(5&amp;6) </a:t>
            </a:r>
            <a:r>
              <a:rPr lang="zh-CN" altLang="en-US" sz="2100" b="1" dirty="0"/>
              <a:t>二进制数</a:t>
            </a:r>
            <a:r>
              <a:rPr lang="en-US" altLang="zh-CN" sz="2100" b="1" dirty="0"/>
              <a:t>,</a:t>
            </a:r>
          </a:p>
          <a:p>
            <a:pPr eaLnBrk="1" hangingPunct="1"/>
            <a:r>
              <a:rPr lang="en-US" altLang="zh-CN" sz="2100" b="1" dirty="0"/>
              <a:t> 5|6, BIN(5|6) </a:t>
            </a:r>
            <a:r>
              <a:rPr lang="zh-CN" altLang="en-US" sz="2100" b="1" dirty="0"/>
              <a:t>二进制数</a:t>
            </a:r>
            <a:r>
              <a:rPr lang="en-US" altLang="zh-CN" sz="2100" b="1" dirty="0"/>
              <a:t>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16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4077072"/>
            <a:ext cx="5616624" cy="25438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14400" y="260350"/>
            <a:ext cx="617788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200" dirty="0"/>
              <a:t>使用</a:t>
            </a:r>
            <a:r>
              <a:rPr lang="en-US" altLang="zh-CN" sz="3200" dirty="0"/>
              <a:t>MySQL</a:t>
            </a:r>
            <a:r>
              <a:rPr lang="zh-CN" altLang="en-US" sz="3200" dirty="0"/>
              <a:t>运算符</a:t>
            </a:r>
            <a:endParaRPr lang="zh-CN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292" name="矩形 7"/>
          <p:cNvSpPr>
            <a:spLocks noChangeArrowheads="1"/>
          </p:cNvSpPr>
          <p:nvPr/>
        </p:nvSpPr>
        <p:spPr bwMode="auto">
          <a:xfrm>
            <a:off x="543719" y="1403350"/>
            <a:ext cx="7488238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】SELECT  BIN(5)</a:t>
            </a:r>
            <a:r>
              <a:rPr lang="zh-CN" altLang="en-US" sz="2200" b="1" dirty="0"/>
              <a:t>二进制数</a:t>
            </a:r>
            <a:r>
              <a:rPr lang="en-US" altLang="zh-CN" sz="2200" b="1" dirty="0"/>
              <a:t>,</a:t>
            </a:r>
          </a:p>
          <a:p>
            <a:pPr eaLnBrk="1" hangingPunct="1"/>
            <a:r>
              <a:rPr lang="zh-CN" altLang="en-US" sz="2200" b="1" dirty="0"/>
              <a:t>    </a:t>
            </a:r>
            <a:r>
              <a:rPr lang="en-US" altLang="zh-CN" sz="2200" b="1" dirty="0"/>
              <a:t>5&lt;&lt;4,BIN(5&lt;&lt;4) </a:t>
            </a:r>
            <a:r>
              <a:rPr lang="zh-CN" altLang="en-US" sz="2200" b="1" dirty="0"/>
              <a:t>二进制数</a:t>
            </a:r>
            <a:r>
              <a:rPr lang="en-US" altLang="zh-CN" sz="2200" b="1" dirty="0"/>
              <a:t>,</a:t>
            </a:r>
            <a:endParaRPr lang="zh-CN" altLang="en-US" sz="2200" b="1" dirty="0"/>
          </a:p>
          <a:p>
            <a:pPr eaLnBrk="1" hangingPunct="1"/>
            <a:r>
              <a:rPr lang="zh-CN" altLang="en-US" sz="2200" b="1" dirty="0"/>
              <a:t>    </a:t>
            </a:r>
            <a:r>
              <a:rPr lang="en-US" altLang="zh-CN" sz="2200" b="1" dirty="0"/>
              <a:t>5&gt;&gt;1,BIN(5&gt;&gt;1) </a:t>
            </a:r>
            <a:r>
              <a:rPr lang="zh-CN" altLang="en-US" sz="2200" b="1" dirty="0"/>
              <a:t>二进制数</a:t>
            </a:r>
            <a:r>
              <a:rPr lang="en-US" altLang="zh-CN" sz="2200" b="1" dirty="0"/>
              <a:t>;</a:t>
            </a:r>
            <a:endParaRPr lang="zh-CN" altLang="en-US" sz="22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17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5" y="2636912"/>
            <a:ext cx="8582867" cy="34563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000" dirty="0"/>
              <a:t>使用</a:t>
            </a:r>
            <a:r>
              <a:rPr lang="en-US" sz="4000" dirty="0"/>
              <a:t>MySQL</a:t>
            </a:r>
            <a:r>
              <a:rPr lang="zh-CN" altLang="en-US" sz="4000" dirty="0"/>
              <a:t>常用函数</a:t>
            </a:r>
            <a:endParaRPr lang="en-US" altLang="zh-CN" sz="4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1187624" y="1844824"/>
            <a:ext cx="6477000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使用字符串函数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使用数值函数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使用日期和时间函数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使用系统信息函数</a:t>
            </a:r>
            <a:endParaRPr lang="en-US" altLang="zh-CN" sz="3200" dirty="0">
              <a:ea typeface="华文行楷" panose="020108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endParaRPr lang="en-US" altLang="zh-CN" sz="3200" dirty="0">
              <a:ea typeface="华文行楷" panose="02010800040101010101" pitchFamily="2" charset="-122"/>
            </a:endParaRP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3347864" y="4725144"/>
            <a:ext cx="5349602" cy="7200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>
              <a:solidFill>
                <a:schemeClr val="accent3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773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1.</a:t>
            </a:r>
            <a:r>
              <a:rPr lang="zh-CN" altLang="en-US" dirty="0"/>
              <a:t>使用字符串函数</a:t>
            </a:r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5" name="矩形 4"/>
          <p:cNvSpPr>
            <a:spLocks noChangeArrowheads="1"/>
          </p:cNvSpPr>
          <p:nvPr/>
        </p:nvSpPr>
        <p:spPr bwMode="auto">
          <a:xfrm>
            <a:off x="611560" y="1396816"/>
            <a:ext cx="8352928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arabicPlain"/>
            </a:pP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合并字符串函数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CONCAT()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和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CONCAT_WS()</a:t>
            </a:r>
          </a:p>
          <a:p>
            <a:pPr eaLnBrk="1" hangingPunct="1">
              <a:buFontTx/>
              <a:buAutoNum type="arabicPlain"/>
            </a:pPr>
            <a:endParaRPr lang="en-US" altLang="zh-CN" sz="800" b="1" dirty="0">
              <a:solidFill>
                <a:schemeClr val="tx2">
                  <a:lumMod val="75000"/>
                </a:schemeClr>
              </a:solidFill>
            </a:endParaRPr>
          </a:p>
          <a:p>
            <a:pPr eaLnBrk="1" hangingPunct="1"/>
            <a:r>
              <a:rPr lang="en-US" altLang="zh-CN" b="1" dirty="0"/>
              <a:t>【</a:t>
            </a:r>
            <a:r>
              <a:rPr lang="zh-CN" altLang="en-US" b="1" dirty="0"/>
              <a:t>例</a:t>
            </a:r>
            <a:r>
              <a:rPr lang="en-US" altLang="zh-CN" b="1" dirty="0"/>
              <a:t>】</a:t>
            </a:r>
            <a:r>
              <a:rPr lang="en-US" altLang="zh-CN" sz="2200" b="1" dirty="0"/>
              <a:t>SELECT CONCAT('</a:t>
            </a:r>
            <a:r>
              <a:rPr lang="en-US" altLang="zh-CN" sz="2200" b="1" dirty="0" err="1"/>
              <a:t>My','S','QL</a:t>
            </a:r>
            <a:r>
              <a:rPr lang="en-US" altLang="zh-CN" sz="2200" b="1" dirty="0"/>
              <a:t>') </a:t>
            </a:r>
            <a:r>
              <a:rPr lang="zh-CN" altLang="en-US" sz="2200" b="1" dirty="0"/>
              <a:t>合并后字符串</a:t>
            </a:r>
            <a:r>
              <a:rPr lang="en-US" altLang="zh-CN" sz="2200" b="1" dirty="0"/>
              <a:t>;</a:t>
            </a:r>
          </a:p>
          <a:p>
            <a:pPr eaLnBrk="1" hangingPunct="1"/>
            <a:r>
              <a:rPr lang="en-US" altLang="zh-CN" sz="2200" b="1" dirty="0"/>
              <a:t>SELECT CONCAT(CURDATE(),12.34) </a:t>
            </a:r>
            <a:r>
              <a:rPr lang="zh-CN" altLang="en-US" sz="2200" b="1" dirty="0"/>
              <a:t>合并后字符串</a:t>
            </a:r>
            <a:r>
              <a:rPr lang="en-US" altLang="zh-CN" sz="2200" b="1" dirty="0"/>
              <a:t>;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806154"/>
            <a:ext cx="6408712" cy="3870196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244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3156" y="1268760"/>
            <a:ext cx="8437512" cy="3816424"/>
          </a:xfrm>
        </p:spPr>
        <p:txBody>
          <a:bodyPr/>
          <a:lstStyle/>
          <a:p>
            <a:pPr eaLnBrk="1" hangingPunct="1"/>
            <a:r>
              <a:rPr lang="en-US" altLang="zh-CN" sz="2400" b="1" dirty="0"/>
              <a:t>CONCAT_WS()</a:t>
            </a:r>
            <a:r>
              <a:rPr lang="zh-CN" altLang="en-US" sz="2400" b="1" dirty="0"/>
              <a:t>函数全程为</a:t>
            </a:r>
            <a:r>
              <a:rPr lang="en-US" altLang="zh-CN" sz="2400" b="1" dirty="0"/>
              <a:t>CONCAT With Separator</a:t>
            </a:r>
            <a:r>
              <a:rPr lang="zh-CN" altLang="en-US" sz="2400" b="1" dirty="0"/>
              <a:t>，是</a:t>
            </a:r>
            <a:r>
              <a:rPr lang="en-US" altLang="zh-CN" sz="2400" b="1" dirty="0"/>
              <a:t>CONCAT()</a:t>
            </a:r>
            <a:r>
              <a:rPr lang="zh-CN" altLang="en-US" sz="2400" b="1" dirty="0"/>
              <a:t>函数的特殊形式。函数</a:t>
            </a:r>
            <a:r>
              <a:rPr lang="en-US" altLang="zh-CN" sz="2400" b="1" dirty="0"/>
              <a:t>CONCAT_WS()</a:t>
            </a:r>
            <a:r>
              <a:rPr lang="zh-CN" altLang="en-US" sz="2400" b="1" dirty="0"/>
              <a:t>的定义如下：</a:t>
            </a:r>
          </a:p>
          <a:p>
            <a:pPr marL="0" indent="0" eaLnBrk="1" hangingPunct="1">
              <a:buNone/>
            </a:pPr>
            <a:r>
              <a:rPr lang="en-US" altLang="zh-CN" sz="2400" b="1" dirty="0"/>
              <a:t>           CONCAT_WS(SEP,S1,S2,…SN)</a:t>
            </a:r>
          </a:p>
          <a:p>
            <a:pPr lvl="1"/>
            <a:r>
              <a:rPr lang="zh-CN" altLang="en-US" sz="2000" b="1" dirty="0"/>
              <a:t>上述函数与</a:t>
            </a:r>
            <a:r>
              <a:rPr lang="en-US" altLang="zh-CN" sz="2000" b="1" dirty="0"/>
              <a:t>CONCAT()</a:t>
            </a:r>
            <a:r>
              <a:rPr lang="zh-CN" altLang="en-US" sz="2000" b="1" dirty="0"/>
              <a:t>相比，</a:t>
            </a:r>
            <a:r>
              <a:rPr lang="zh-CN" altLang="en-US" sz="2000" b="1" dirty="0">
                <a:solidFill>
                  <a:srgbClr val="FF0000"/>
                </a:solidFill>
              </a:rPr>
              <a:t>多了一个表示分割符的</a:t>
            </a:r>
            <a:r>
              <a:rPr lang="en-US" altLang="zh-CN" sz="2000" b="1" dirty="0">
                <a:solidFill>
                  <a:srgbClr val="FF0000"/>
                </a:solidFill>
              </a:rPr>
              <a:t>SEP</a:t>
            </a:r>
            <a:r>
              <a:rPr lang="zh-CN" altLang="en-US" sz="2000" b="1" dirty="0">
                <a:solidFill>
                  <a:srgbClr val="FF0000"/>
                </a:solidFill>
              </a:rPr>
              <a:t>参数</a:t>
            </a:r>
            <a:r>
              <a:rPr lang="zh-CN" altLang="en-US" sz="2000" b="1" dirty="0"/>
              <a:t>，即不仅将传入的其他参数连接起来，而且还会通过分割符将各个字符串分割开。分隔符可以是一个字符串，也可以是其他参数。如果分隔符为</a:t>
            </a:r>
            <a:r>
              <a:rPr lang="en-US" altLang="zh-CN" sz="2000" b="1" dirty="0"/>
              <a:t>NULL</a:t>
            </a:r>
            <a:r>
              <a:rPr lang="zh-CN" altLang="en-US" sz="2000" b="1" dirty="0"/>
              <a:t>，则返回结果为</a:t>
            </a:r>
            <a:r>
              <a:rPr lang="en-US" altLang="zh-CN" sz="2000" b="1" dirty="0"/>
              <a:t>NULL</a:t>
            </a:r>
            <a:r>
              <a:rPr lang="zh-CN" altLang="en-US" sz="2000" b="1" dirty="0"/>
              <a:t>。函数会忽略任何分隔符参数后的</a:t>
            </a:r>
            <a:r>
              <a:rPr lang="en-US" altLang="zh-CN" sz="2000" b="1" dirty="0"/>
              <a:t>NULL</a:t>
            </a:r>
            <a:r>
              <a:rPr lang="zh-CN" altLang="en-US" sz="2000" b="1" dirty="0"/>
              <a:t>值。</a:t>
            </a:r>
          </a:p>
          <a:p>
            <a:pPr eaLnBrk="1" hangingPunct="1"/>
            <a:r>
              <a:rPr lang="en-US" altLang="zh-CN" sz="2000" b="1" dirty="0"/>
              <a:t>【</a:t>
            </a:r>
            <a:r>
              <a:rPr lang="zh-CN" altLang="en-US" sz="2000" b="1" dirty="0"/>
              <a:t>例</a:t>
            </a:r>
            <a:r>
              <a:rPr lang="en-US" altLang="zh-CN" sz="2000" b="1" dirty="0"/>
              <a:t>】SELECT CONCAT_WS('-','029',88461234) </a:t>
            </a:r>
            <a:r>
              <a:rPr lang="zh-CN" altLang="en-US" sz="2000" b="1" dirty="0"/>
              <a:t>合并后字符串</a:t>
            </a:r>
            <a:endParaRPr lang="en-US" altLang="zh-CN" sz="20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4894587"/>
            <a:ext cx="6903739" cy="182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18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556792"/>
            <a:ext cx="8229600" cy="1656184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400" b="1" dirty="0"/>
              <a:t>执行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函数</a:t>
            </a:r>
            <a:r>
              <a:rPr lang="en-US" altLang="zh-CN" sz="2400" b="1" dirty="0"/>
              <a:t>CONCAT_WS()</a:t>
            </a:r>
            <a:r>
              <a:rPr lang="zh-CN" altLang="en-US" sz="2400" b="1" dirty="0"/>
              <a:t>，当</a:t>
            </a:r>
            <a:r>
              <a:rPr lang="zh-CN" altLang="en-US" sz="2400" b="1" dirty="0">
                <a:solidFill>
                  <a:srgbClr val="FF0000"/>
                </a:solidFill>
              </a:rPr>
              <a:t>分割符参数的值为</a:t>
            </a:r>
            <a:r>
              <a:rPr lang="en-US" altLang="zh-CN" sz="2400" b="1" dirty="0">
                <a:solidFill>
                  <a:srgbClr val="FF0000"/>
                </a:solidFill>
              </a:rPr>
              <a:t>NULL</a:t>
            </a:r>
            <a:r>
              <a:rPr lang="zh-CN" altLang="en-US" sz="2400" b="1" dirty="0"/>
              <a:t>时，具体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语句如下：</a:t>
            </a:r>
          </a:p>
          <a:p>
            <a:pPr marL="0" indent="0" eaLnBrk="1" hangingPunct="1">
              <a:buNone/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】SELECT CONCAT_WS(NULL,'029',88461234) </a:t>
            </a:r>
            <a:r>
              <a:rPr lang="zh-CN" altLang="en-US" sz="2200" b="1" dirty="0"/>
              <a:t>合并后字符串</a:t>
            </a:r>
            <a:r>
              <a:rPr lang="en-US" altLang="zh-CN" sz="2200" b="1" dirty="0"/>
              <a:t>;</a:t>
            </a:r>
            <a:endParaRPr lang="zh-CN" altLang="en-US" sz="2200" b="1" dirty="0"/>
          </a:p>
          <a:p>
            <a:pPr marL="0" indent="0" eaLnBrk="1" hangingPunct="1">
              <a:buNone/>
            </a:pPr>
            <a:endParaRPr lang="zh-CN" altLang="en-US" sz="2200" b="1" dirty="0"/>
          </a:p>
          <a:p>
            <a:pPr marL="0" indent="0">
              <a:buNone/>
            </a:pPr>
            <a:endParaRPr lang="zh-CN" altLang="en-US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21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901452" y="5373216"/>
            <a:ext cx="76839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zh-CN" altLang="en-US" b="1" dirty="0"/>
              <a:t>执行结果显示，当所传入的第一个参数值为</a:t>
            </a:r>
            <a:r>
              <a:rPr lang="en-US" altLang="zh-CN" b="1" dirty="0"/>
              <a:t>NULL</a:t>
            </a:r>
            <a:r>
              <a:rPr lang="zh-CN" altLang="en-US" b="1" dirty="0"/>
              <a:t>，返回的结果值将为</a:t>
            </a:r>
            <a:r>
              <a:rPr lang="en-US" altLang="zh-CN" b="1" dirty="0"/>
              <a:t>NULL</a:t>
            </a:r>
            <a:r>
              <a:rPr lang="zh-CN" altLang="en-US" b="1" dirty="0"/>
              <a:t>，因此返回结果为</a:t>
            </a:r>
            <a:r>
              <a:rPr lang="en-US" altLang="zh-CN" b="1" dirty="0"/>
              <a:t>NULL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3208622"/>
            <a:ext cx="7179890" cy="187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25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174421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400" b="1" dirty="0"/>
              <a:t>执行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函数</a:t>
            </a:r>
            <a:r>
              <a:rPr lang="en-US" altLang="zh-CN" sz="2400" b="1" dirty="0"/>
              <a:t>CONCAT_WS()</a:t>
            </a:r>
            <a:r>
              <a:rPr lang="zh-CN" altLang="en-US" sz="2400" b="1" dirty="0"/>
              <a:t>，当分割符参数后值存在</a:t>
            </a:r>
            <a:r>
              <a:rPr lang="en-US" altLang="zh-CN" sz="2400" b="1" dirty="0"/>
              <a:t>NULL</a:t>
            </a:r>
            <a:r>
              <a:rPr lang="zh-CN" altLang="en-US" sz="2400" b="1" dirty="0"/>
              <a:t>时，具体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语句如下：</a:t>
            </a:r>
          </a:p>
          <a:p>
            <a:pPr marL="0" indent="0" eaLnBrk="1" hangingPunct="1">
              <a:buNone/>
            </a:pPr>
            <a:r>
              <a:rPr lang="en-US" altLang="zh-CN" sz="2200" b="1" dirty="0"/>
              <a:t>   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】SELECT CONCAT_WS('-','029',NULL,88461234) </a:t>
            </a:r>
            <a:r>
              <a:rPr lang="zh-CN" altLang="en-US" sz="2200" b="1" dirty="0"/>
              <a:t>合并后字符串</a:t>
            </a:r>
            <a:r>
              <a:rPr lang="en-US" altLang="zh-CN" sz="2200" b="1" dirty="0"/>
              <a:t>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22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1305025" y="5517232"/>
            <a:ext cx="7416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zh-CN" altLang="en-US" b="1" dirty="0"/>
              <a:t>执行结果显示，当所传入的参数（除第一个参数外）值中有</a:t>
            </a:r>
            <a:r>
              <a:rPr lang="en-US" altLang="zh-CN" b="1" dirty="0"/>
              <a:t>NULL</a:t>
            </a:r>
            <a:r>
              <a:rPr lang="zh-CN" altLang="en-US" b="1" dirty="0"/>
              <a:t>，返回的结果值将忽略</a:t>
            </a:r>
            <a:r>
              <a:rPr lang="en-US" altLang="zh-CN" b="1" dirty="0"/>
              <a:t>NULL</a:t>
            </a:r>
            <a:r>
              <a:rPr lang="zh-CN" altLang="en-US" b="1" dirty="0"/>
              <a:t>，因此返回结果为</a:t>
            </a:r>
            <a:r>
              <a:rPr lang="en-US" altLang="zh-CN" b="1" dirty="0"/>
              <a:t>029-88461234</a:t>
            </a:r>
            <a:r>
              <a:rPr lang="zh-CN" altLang="en-US" b="1" dirty="0"/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461372"/>
            <a:ext cx="7500872" cy="183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98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67543" y="1556792"/>
            <a:ext cx="8670379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lain" startAt="2"/>
              <a:defRPr/>
            </a:pP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比较字符串大小函数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STRCMP()</a:t>
            </a:r>
            <a:endParaRPr lang="en-US" sz="2400" b="1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defRPr/>
            </a:pPr>
            <a:endParaRPr lang="en-US" altLang="zh-CN" sz="1000" dirty="0"/>
          </a:p>
          <a:p>
            <a:pPr marL="342900" indent="-342900">
              <a:defRPr/>
            </a:pPr>
            <a:r>
              <a:rPr lang="zh-CN" altLang="en-US" sz="2200" b="1" dirty="0"/>
              <a:t>          比较所传入的字符串对象。</a:t>
            </a:r>
            <a:endParaRPr lang="en-US" altLang="zh-CN" sz="2200" b="1" dirty="0"/>
          </a:p>
          <a:p>
            <a:pPr marL="342900" indent="-342900">
              <a:defRPr/>
            </a:pPr>
            <a:r>
              <a:rPr lang="en-US" altLang="zh-CN" sz="2200" b="1" dirty="0"/>
              <a:t> </a:t>
            </a:r>
            <a:r>
              <a:rPr lang="zh-CN" altLang="en-US" sz="2400" b="1" dirty="0"/>
              <a:t>函数</a:t>
            </a:r>
            <a:r>
              <a:rPr lang="en-US" sz="2400" b="1" dirty="0"/>
              <a:t>STRCMP()</a:t>
            </a:r>
            <a:r>
              <a:rPr lang="zh-CN" altLang="en-US" sz="2400" b="1" dirty="0"/>
              <a:t>的定义如下：</a:t>
            </a:r>
          </a:p>
          <a:p>
            <a:pPr>
              <a:defRPr/>
            </a:pPr>
            <a:r>
              <a:rPr lang="en-US" sz="2400" b="1" dirty="0"/>
              <a:t>               STRCMP(str1,str2)</a:t>
            </a:r>
            <a:endParaRPr lang="zh-CN" altLang="en-US" sz="2400" b="1" dirty="0"/>
          </a:p>
          <a:p>
            <a:pPr>
              <a:defRPr/>
            </a:pPr>
            <a:r>
              <a:rPr lang="zh-CN" altLang="en-US" sz="2200" b="1" dirty="0"/>
              <a:t>      如果参数</a:t>
            </a:r>
            <a:r>
              <a:rPr lang="en-US" sz="2200" b="1" dirty="0"/>
              <a:t>str1</a:t>
            </a:r>
            <a:r>
              <a:rPr lang="zh-CN" altLang="en-US" sz="2200" b="1" dirty="0"/>
              <a:t>大于</a:t>
            </a:r>
            <a:r>
              <a:rPr lang="en-US" sz="2200" b="1" dirty="0"/>
              <a:t>str2</a:t>
            </a:r>
            <a:r>
              <a:rPr lang="zh-CN" altLang="en-US" sz="2200" b="1" dirty="0"/>
              <a:t>，则返回结果</a:t>
            </a:r>
            <a:r>
              <a:rPr lang="en-US" sz="2200" b="1" dirty="0"/>
              <a:t>1</a:t>
            </a:r>
            <a:r>
              <a:rPr lang="zh-CN" altLang="en-US" sz="2200" b="1" dirty="0"/>
              <a:t>；如果参数</a:t>
            </a:r>
            <a:r>
              <a:rPr lang="en-US" sz="2200" b="1" dirty="0"/>
              <a:t>str1</a:t>
            </a:r>
            <a:r>
              <a:rPr lang="zh-CN" altLang="en-US" sz="2200" b="1" dirty="0"/>
              <a:t>小于</a:t>
            </a:r>
            <a:r>
              <a:rPr lang="en-US" sz="2200" b="1" dirty="0"/>
              <a:t>str2</a:t>
            </a:r>
            <a:r>
              <a:rPr lang="zh-CN" altLang="en-US" sz="2200" b="1" dirty="0"/>
              <a:t>，则返回结果</a:t>
            </a:r>
            <a:r>
              <a:rPr lang="en-US" sz="2200" b="1" dirty="0"/>
              <a:t>-1</a:t>
            </a:r>
            <a:r>
              <a:rPr lang="zh-CN" altLang="en-US" sz="2200" b="1" dirty="0"/>
              <a:t>；如果参数</a:t>
            </a:r>
            <a:r>
              <a:rPr lang="en-US" sz="2200" b="1" dirty="0"/>
              <a:t>str1</a:t>
            </a:r>
            <a:r>
              <a:rPr lang="zh-CN" altLang="en-US" sz="2200" b="1" dirty="0"/>
              <a:t>等于</a:t>
            </a:r>
            <a:r>
              <a:rPr lang="en-US" sz="2200" b="1" dirty="0"/>
              <a:t>str2</a:t>
            </a:r>
            <a:r>
              <a:rPr lang="zh-CN" altLang="en-US" sz="2200" b="1" dirty="0"/>
              <a:t>，则返回结果</a:t>
            </a:r>
            <a:r>
              <a:rPr lang="en-US" sz="2200" b="1" dirty="0"/>
              <a:t>0</a:t>
            </a:r>
            <a:r>
              <a:rPr lang="zh-CN" altLang="en-US" sz="2200" b="1" dirty="0"/>
              <a:t>。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pPr>
              <a:defRPr/>
            </a:pPr>
            <a:r>
              <a:rPr lang="en-US" altLang="zh-CN" sz="3200" dirty="0"/>
              <a:t>1.</a:t>
            </a:r>
            <a:r>
              <a:rPr lang="zh-CN" altLang="en-US" sz="3200" dirty="0"/>
              <a:t>使用字符串函数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476" y="4999108"/>
            <a:ext cx="6728896" cy="183967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11560" y="391675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dirty="0"/>
              <a:t>【</a:t>
            </a:r>
            <a:r>
              <a:rPr lang="zh-CN" altLang="en-US" sz="2000" b="1" dirty="0"/>
              <a:t>例</a:t>
            </a:r>
            <a:r>
              <a:rPr lang="en-US" altLang="zh-CN" sz="2000" b="1" dirty="0"/>
              <a:t>】SELECT STRCMP('</a:t>
            </a:r>
            <a:r>
              <a:rPr lang="en-US" altLang="zh-CN" sz="2000" b="1" dirty="0" err="1"/>
              <a:t>abc</a:t>
            </a:r>
            <a:r>
              <a:rPr lang="en-US" altLang="zh-CN" sz="2000" b="1" dirty="0"/>
              <a:t>','</a:t>
            </a:r>
            <a:r>
              <a:rPr lang="en-US" altLang="zh-CN" sz="2000" b="1" dirty="0" err="1"/>
              <a:t>abd</a:t>
            </a:r>
            <a:r>
              <a:rPr lang="en-US" altLang="zh-CN" sz="2000" b="1" dirty="0"/>
              <a:t>'),</a:t>
            </a:r>
            <a:endParaRPr lang="zh-CN" altLang="en-US" sz="2000" b="1" dirty="0"/>
          </a:p>
          <a:p>
            <a:pPr>
              <a:defRPr/>
            </a:pPr>
            <a:r>
              <a:rPr lang="en-US" altLang="zh-CN" sz="2000" b="1" dirty="0"/>
              <a:t>	STRCMP('</a:t>
            </a:r>
            <a:r>
              <a:rPr lang="en-US" altLang="zh-CN" sz="2000" b="1" dirty="0" err="1"/>
              <a:t>abc</a:t>
            </a:r>
            <a:r>
              <a:rPr lang="en-US" altLang="zh-CN" sz="2000" b="1" dirty="0"/>
              <a:t>','</a:t>
            </a:r>
            <a:r>
              <a:rPr lang="en-US" altLang="zh-CN" sz="2000" b="1" dirty="0" err="1"/>
              <a:t>abc</a:t>
            </a:r>
            <a:r>
              <a:rPr lang="en-US" altLang="zh-CN" sz="2000" b="1" dirty="0"/>
              <a:t>'),</a:t>
            </a:r>
            <a:endParaRPr lang="zh-CN" altLang="en-US" sz="2000" b="1" dirty="0"/>
          </a:p>
          <a:p>
            <a:pPr>
              <a:defRPr/>
            </a:pPr>
            <a:r>
              <a:rPr lang="en-US" altLang="zh-CN" sz="2000" b="1" dirty="0"/>
              <a:t>	STRCMP('</a:t>
            </a:r>
            <a:r>
              <a:rPr lang="en-US" altLang="zh-CN" sz="2000" b="1" dirty="0" err="1"/>
              <a:t>abc</a:t>
            </a:r>
            <a:r>
              <a:rPr lang="en-US" altLang="zh-CN" sz="2000" b="1" dirty="0"/>
              <a:t>','</a:t>
            </a:r>
            <a:r>
              <a:rPr lang="en-US" altLang="zh-CN" sz="2000" b="1" dirty="0" err="1"/>
              <a:t>abb</a:t>
            </a:r>
            <a:r>
              <a:rPr lang="en-US" altLang="zh-CN" sz="2000" b="1" dirty="0"/>
              <a:t>');</a:t>
            </a:r>
            <a:endParaRPr lang="zh-CN" altLang="en-US" sz="2000" b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2196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Cambria" panose="02040503050406030204" pitchFamily="18" charset="0"/>
              <a:buNone/>
            </a:pPr>
            <a:r>
              <a:rPr lang="en-US" altLang="zh-CN" sz="3200" dirty="0"/>
              <a:t>1.</a:t>
            </a:r>
            <a:r>
              <a:rPr lang="zh-CN" altLang="en-US" sz="3200" dirty="0"/>
              <a:t>使用字符串函数</a:t>
            </a:r>
          </a:p>
        </p:txBody>
      </p: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1520" y="1484784"/>
            <a:ext cx="8352928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 startAt="3"/>
              <a:defRPr/>
            </a:pP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获取字符串长度函数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LENGTH()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和字符数函数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CHAR_LENGTH()</a:t>
            </a:r>
          </a:p>
          <a:p>
            <a:pPr marL="342900" indent="-342900">
              <a:lnSpc>
                <a:spcPct val="150000"/>
              </a:lnSpc>
              <a:defRPr/>
            </a:pPr>
            <a:r>
              <a:rPr lang="en-US" altLang="zh-CN" sz="800" b="1" dirty="0"/>
              <a:t> </a:t>
            </a:r>
          </a:p>
          <a:p>
            <a:pPr>
              <a:defRPr/>
            </a:pPr>
            <a:r>
              <a:rPr lang="zh-CN" altLang="en-US" sz="2000" b="1" dirty="0"/>
              <a:t>    </a:t>
            </a:r>
            <a:r>
              <a:rPr lang="zh-CN" altLang="en-US" sz="2200" b="1" dirty="0"/>
              <a:t>功能：获取字符串的长度。</a:t>
            </a:r>
            <a:endParaRPr lang="en-US" altLang="zh-CN" sz="2200" b="1" dirty="0"/>
          </a:p>
          <a:p>
            <a:pPr>
              <a:defRPr/>
            </a:pPr>
            <a:r>
              <a:rPr lang="zh-CN" altLang="en-US" sz="2200" b="1" dirty="0"/>
              <a:t>    函数</a:t>
            </a:r>
            <a:r>
              <a:rPr lang="en-US" sz="2200" b="1" dirty="0"/>
              <a:t>LENGTH()</a:t>
            </a:r>
            <a:r>
              <a:rPr lang="zh-CN" altLang="en-US" sz="2200" b="1" dirty="0"/>
              <a:t>的定义如下：</a:t>
            </a:r>
          </a:p>
          <a:p>
            <a:pPr>
              <a:defRPr/>
            </a:pPr>
            <a:r>
              <a:rPr lang="en-US" sz="2200" b="1" dirty="0"/>
              <a:t>                 LENGTH(</a:t>
            </a:r>
            <a:r>
              <a:rPr lang="en-US" sz="2200" b="1" dirty="0" err="1"/>
              <a:t>str</a:t>
            </a:r>
            <a:r>
              <a:rPr lang="en-US" sz="2200" b="1" dirty="0"/>
              <a:t>)</a:t>
            </a:r>
            <a:endParaRPr lang="zh-CN" altLang="en-US" sz="2200" b="1" dirty="0"/>
          </a:p>
          <a:p>
            <a:pPr>
              <a:defRPr/>
            </a:pPr>
            <a:r>
              <a:rPr lang="zh-CN" altLang="en-US" sz="2200" b="1" dirty="0"/>
              <a:t>    函数</a:t>
            </a:r>
            <a:r>
              <a:rPr lang="en-US" sz="2200" b="1" dirty="0"/>
              <a:t>CHAR_LENGTH()</a:t>
            </a:r>
            <a:r>
              <a:rPr lang="zh-CN" altLang="en-US" sz="2200" b="1" dirty="0"/>
              <a:t>的定义如下：</a:t>
            </a:r>
          </a:p>
          <a:p>
            <a:pPr>
              <a:defRPr/>
            </a:pPr>
            <a:r>
              <a:rPr lang="en-US" sz="2200" b="1" dirty="0"/>
              <a:t>                CHAR_LENGTH(</a:t>
            </a:r>
            <a:r>
              <a:rPr lang="en-US" sz="2200" b="1" dirty="0" err="1"/>
              <a:t>str</a:t>
            </a:r>
            <a:r>
              <a:rPr lang="en-US" sz="2200" b="1" dirty="0"/>
              <a:t>)</a:t>
            </a:r>
            <a:endParaRPr lang="zh-CN" altLang="en-US" sz="2200" b="1" dirty="0"/>
          </a:p>
          <a:p>
            <a:pPr marL="342900" indent="-342900">
              <a:lnSpc>
                <a:spcPct val="150000"/>
              </a:lnSpc>
              <a:defRPr/>
            </a:pPr>
            <a:endParaRPr lang="zh-CN" altLang="en-US" sz="20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221088"/>
            <a:ext cx="8758280" cy="2165960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4756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Cambria" panose="02040503050406030204" pitchFamily="18" charset="0"/>
              <a:buNone/>
            </a:pPr>
            <a:r>
              <a:rPr lang="en-US" altLang="zh-CN" sz="3200" dirty="0"/>
              <a:t>1.</a:t>
            </a:r>
            <a:r>
              <a:rPr lang="zh-CN" altLang="en-US" sz="3200" dirty="0"/>
              <a:t>使用字符串函数</a:t>
            </a:r>
          </a:p>
        </p:txBody>
      </p:sp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05644" y="1412776"/>
            <a:ext cx="8208912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 startAt="4"/>
              <a:defRPr/>
            </a:pP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实现字母大小写转换函数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UPPER()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和字符数函数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LOWER()</a:t>
            </a:r>
          </a:p>
          <a:p>
            <a:pPr>
              <a:defRPr/>
            </a:pPr>
            <a:r>
              <a:rPr lang="zh-CN" altLang="en-US" sz="2400" b="1" dirty="0"/>
              <a:t>    功能：将字符串的所有字母转变成大写字母。</a:t>
            </a:r>
            <a:endParaRPr lang="en-US" altLang="zh-CN" sz="2400" b="1" dirty="0"/>
          </a:p>
          <a:p>
            <a:pPr>
              <a:defRPr/>
            </a:pPr>
            <a:r>
              <a:rPr lang="zh-CN" altLang="en-US" sz="2400" b="1" dirty="0"/>
              <a:t>    定义：</a:t>
            </a:r>
          </a:p>
          <a:p>
            <a:pPr>
              <a:defRPr/>
            </a:pPr>
            <a:r>
              <a:rPr lang="en-US" sz="2400" b="1" dirty="0"/>
              <a:t>                 UPPER(S)  </a:t>
            </a:r>
            <a:r>
              <a:rPr lang="zh-CN" altLang="en-US" sz="2400" b="1" dirty="0"/>
              <a:t>或   </a:t>
            </a:r>
            <a:r>
              <a:rPr lang="en-US" altLang="zh-CN" sz="2400" b="1" dirty="0"/>
              <a:t>UCASE(S)</a:t>
            </a:r>
            <a:endParaRPr lang="zh-CN" altLang="en-US" sz="2400" b="1" dirty="0"/>
          </a:p>
          <a:p>
            <a:pPr>
              <a:defRPr/>
            </a:pPr>
            <a:endParaRPr lang="en-US" altLang="zh-CN" sz="2400" b="1" dirty="0"/>
          </a:p>
          <a:p>
            <a:pPr>
              <a:defRPr/>
            </a:pPr>
            <a:r>
              <a:rPr lang="zh-CN" altLang="en-US" sz="2400" b="1" dirty="0"/>
              <a:t>    功能：将字符串的所有字母转变成小写字母。</a:t>
            </a:r>
            <a:endParaRPr lang="en-US" altLang="zh-CN" sz="2400" b="1" dirty="0"/>
          </a:p>
          <a:p>
            <a:pPr>
              <a:defRPr/>
            </a:pPr>
            <a:r>
              <a:rPr lang="zh-CN" altLang="en-US" sz="2400" b="1" dirty="0"/>
              <a:t>     定义：</a:t>
            </a:r>
          </a:p>
          <a:p>
            <a:pPr>
              <a:defRPr/>
            </a:pPr>
            <a:r>
              <a:rPr lang="zh-CN" altLang="en-US" sz="2400" b="1" dirty="0"/>
              <a:t>                 </a:t>
            </a:r>
            <a:r>
              <a:rPr lang="en-US" altLang="zh-CN" sz="2400" b="1" dirty="0"/>
              <a:t>LOWER(S)  </a:t>
            </a:r>
            <a:r>
              <a:rPr lang="zh-CN" altLang="en-US" sz="2400" b="1" dirty="0"/>
              <a:t>或    </a:t>
            </a:r>
            <a:r>
              <a:rPr lang="en-US" altLang="zh-CN" sz="2400" b="1" dirty="0"/>
              <a:t>LCASE(S)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14" y="4812382"/>
            <a:ext cx="7367087" cy="1928986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0526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l"/>
            <a:r>
              <a:rPr lang="en-US" altLang="zh-CN" sz="3200" dirty="0"/>
              <a:t>1.</a:t>
            </a:r>
            <a:r>
              <a:rPr lang="zh-CN" altLang="en-US" sz="3200" dirty="0"/>
              <a:t>使用字符串函数</a:t>
            </a:r>
            <a:r>
              <a:rPr lang="en-US" altLang="zh-CN" sz="3200" dirty="0"/>
              <a:t>—</a:t>
            </a:r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</a:rPr>
              <a:t>查找字符串</a:t>
            </a:r>
            <a:endParaRPr lang="zh-CN" altLang="en-US" sz="3200" dirty="0"/>
          </a:p>
        </p:txBody>
      </p:sp>
      <p:sp>
        <p:nvSpPr>
          <p:cNvPr id="922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" name="矩形 4"/>
          <p:cNvSpPr>
            <a:spLocks noChangeArrowheads="1"/>
          </p:cNvSpPr>
          <p:nvPr/>
        </p:nvSpPr>
        <p:spPr bwMode="auto">
          <a:xfrm>
            <a:off x="467544" y="1109620"/>
            <a:ext cx="8572500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200" b="1" dirty="0">
                <a:solidFill>
                  <a:srgbClr val="FF0000"/>
                </a:solidFill>
              </a:rPr>
              <a:t>1</a:t>
            </a:r>
            <a:r>
              <a:rPr lang="zh-CN" altLang="en-US" sz="2200" b="1" dirty="0">
                <a:solidFill>
                  <a:srgbClr val="FF0000"/>
                </a:solidFill>
              </a:rPr>
              <a:t>．返回字符串位置的函数</a:t>
            </a:r>
            <a:r>
              <a:rPr lang="en-US" altLang="zh-CN" sz="2200" b="1" dirty="0">
                <a:solidFill>
                  <a:srgbClr val="FF0000"/>
                </a:solidFill>
              </a:rPr>
              <a:t>FIND_IN_SET()   </a:t>
            </a:r>
          </a:p>
          <a:p>
            <a:pPr eaLnBrk="1" hangingPunct="1"/>
            <a:r>
              <a:rPr lang="zh-CN" altLang="en-US" sz="2200" b="1" dirty="0"/>
              <a:t>        获取相匹配字符串的位置。函数</a:t>
            </a:r>
            <a:r>
              <a:rPr lang="en-US" altLang="zh-CN" sz="2200" b="1" dirty="0"/>
              <a:t>FIND_IN_SET()</a:t>
            </a:r>
            <a:r>
              <a:rPr lang="zh-CN" altLang="en-US" sz="2200" b="1" dirty="0"/>
              <a:t>的定义如下：</a:t>
            </a:r>
          </a:p>
          <a:p>
            <a:pPr eaLnBrk="1" hangingPunct="1"/>
            <a:r>
              <a:rPr lang="en-US" altLang="zh-CN" sz="2200" b="1" dirty="0"/>
              <a:t>             FIND_IN_SET(str1,str2) 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200" b="1" dirty="0">
                <a:solidFill>
                  <a:srgbClr val="FF0000"/>
                </a:solidFill>
              </a:rPr>
              <a:t>2</a:t>
            </a:r>
            <a:r>
              <a:rPr lang="zh-CN" altLang="en-US" sz="2200" b="1" dirty="0">
                <a:solidFill>
                  <a:srgbClr val="FF0000"/>
                </a:solidFill>
              </a:rPr>
              <a:t>．返回指定字符串位置的函数</a:t>
            </a:r>
            <a:r>
              <a:rPr lang="en-US" altLang="zh-CN" sz="2200" b="1" dirty="0">
                <a:solidFill>
                  <a:srgbClr val="FF0000"/>
                </a:solidFill>
              </a:rPr>
              <a:t>FIELD()</a:t>
            </a:r>
          </a:p>
          <a:p>
            <a:pPr eaLnBrk="1" hangingPunct="1"/>
            <a:r>
              <a:rPr lang="zh-CN" altLang="en-US" sz="2200" b="1" dirty="0"/>
              <a:t>在</a:t>
            </a:r>
            <a:r>
              <a:rPr lang="en-US" altLang="zh-CN" sz="2200" b="1" dirty="0"/>
              <a:t>MySQL</a:t>
            </a:r>
            <a:r>
              <a:rPr lang="zh-CN" altLang="en-US" sz="2200" b="1" dirty="0"/>
              <a:t>软件中可以通过函数</a:t>
            </a:r>
            <a:r>
              <a:rPr lang="en-US" altLang="zh-CN" sz="2200" b="1" dirty="0"/>
              <a:t>FIELD()</a:t>
            </a:r>
            <a:r>
              <a:rPr lang="zh-CN" altLang="en-US" sz="2200" b="1" dirty="0"/>
              <a:t>获取相匹配字符串的位置。</a:t>
            </a:r>
            <a:endParaRPr lang="en-US" altLang="zh-CN" sz="2200" b="1" dirty="0"/>
          </a:p>
          <a:p>
            <a:pPr eaLnBrk="1" hangingPunct="1"/>
            <a:r>
              <a:rPr lang="en-US" altLang="zh-CN" sz="2200" b="1" dirty="0"/>
              <a:t>     </a:t>
            </a:r>
            <a:r>
              <a:rPr lang="zh-CN" altLang="en-US" sz="2200" b="1" dirty="0"/>
              <a:t>函数</a:t>
            </a:r>
            <a:r>
              <a:rPr lang="en-US" altLang="zh-CN" sz="2200" b="1" dirty="0"/>
              <a:t>FIELD()</a:t>
            </a:r>
            <a:r>
              <a:rPr lang="zh-CN" altLang="en-US" sz="2200" b="1" dirty="0"/>
              <a:t>的定义如下：</a:t>
            </a:r>
          </a:p>
          <a:p>
            <a:pPr eaLnBrk="1" hangingPunct="1"/>
            <a:r>
              <a:rPr lang="en-US" altLang="zh-CN" sz="2200" b="1" dirty="0"/>
              <a:t>                FIELD(str,str1,str2…)  </a:t>
            </a:r>
          </a:p>
          <a:p>
            <a:pPr eaLnBrk="1" hangingPunct="1"/>
            <a:r>
              <a:rPr lang="en-US" altLang="zh-CN" sz="2200" b="1" dirty="0"/>
              <a:t>  </a:t>
            </a:r>
            <a:r>
              <a:rPr lang="zh-CN" altLang="en-US" sz="2200" b="1" dirty="0"/>
              <a:t>上述函数将会返回第一个与字符串</a:t>
            </a:r>
            <a:r>
              <a:rPr lang="en-US" altLang="zh-CN" sz="2200" b="1" dirty="0" err="1"/>
              <a:t>str</a:t>
            </a:r>
            <a:r>
              <a:rPr lang="zh-CN" altLang="en-US" sz="2200" b="1" dirty="0"/>
              <a:t>匹配的字符串的位置。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789" y="3991534"/>
            <a:ext cx="5894421" cy="2895763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6006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2800" dirty="0"/>
              <a:t>1.</a:t>
            </a:r>
            <a:r>
              <a:rPr lang="zh-CN" altLang="en-US" sz="2800" dirty="0"/>
              <a:t>使用字符串函数</a:t>
            </a:r>
            <a:r>
              <a:rPr lang="en-US" altLang="zh-CN" sz="2800" dirty="0"/>
              <a:t>—</a:t>
            </a:r>
            <a:r>
              <a:rPr lang="zh-CN" altLang="en-US" sz="2800" dirty="0">
                <a:solidFill>
                  <a:schemeClr val="tx2">
                    <a:lumMod val="75000"/>
                  </a:schemeClr>
                </a:solidFill>
              </a:rPr>
              <a:t>查找字符串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5565"/>
            <a:ext cx="8229600" cy="2232247"/>
          </a:xfrm>
        </p:spPr>
        <p:txBody>
          <a:bodyPr/>
          <a:lstStyle/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FF0000"/>
                </a:solidFill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</a:rPr>
              <a:t>．返回子字符串相匹配的开始位置</a:t>
            </a:r>
          </a:p>
          <a:p>
            <a:pPr marL="0" indent="0" eaLnBrk="1" hangingPunct="1">
              <a:buNone/>
            </a:pPr>
            <a:r>
              <a:rPr lang="zh-CN" altLang="en-US" sz="2000" b="1" dirty="0"/>
              <a:t>        在</a:t>
            </a:r>
            <a:r>
              <a:rPr lang="en-US" altLang="zh-CN" sz="2000" b="1" dirty="0"/>
              <a:t>MySQL</a:t>
            </a:r>
            <a:r>
              <a:rPr lang="zh-CN" altLang="en-US" sz="2000" b="1" dirty="0"/>
              <a:t>软件中可以通过三个函数获取子字符串相匹配的开始位置，它们分别为函数</a:t>
            </a:r>
            <a:r>
              <a:rPr lang="en-US" altLang="zh-CN" sz="2000" b="1" dirty="0">
                <a:solidFill>
                  <a:srgbClr val="FF0000"/>
                </a:solidFill>
              </a:rPr>
              <a:t>LOCATE()</a:t>
            </a:r>
            <a:r>
              <a:rPr lang="zh-CN" altLang="en-US" sz="2000" b="1" dirty="0"/>
              <a:t>、</a:t>
            </a:r>
            <a:r>
              <a:rPr lang="en-US" altLang="zh-CN" sz="2000" b="1" dirty="0">
                <a:solidFill>
                  <a:srgbClr val="FF0000"/>
                </a:solidFill>
              </a:rPr>
              <a:t>POSITION()</a:t>
            </a:r>
            <a:r>
              <a:rPr lang="zh-CN" altLang="en-US" sz="2000" b="1" dirty="0"/>
              <a:t>和</a:t>
            </a:r>
            <a:r>
              <a:rPr lang="en-US" altLang="zh-CN" sz="2000" b="1" dirty="0">
                <a:solidFill>
                  <a:srgbClr val="FF0000"/>
                </a:solidFill>
              </a:rPr>
              <a:t>INSTR()</a:t>
            </a:r>
            <a:r>
              <a:rPr lang="zh-CN" altLang="en-US" sz="2000" b="1" dirty="0"/>
              <a:t>。</a:t>
            </a:r>
            <a:endParaRPr lang="en-US" altLang="zh-CN" sz="2000" b="1" dirty="0"/>
          </a:p>
          <a:p>
            <a:pPr marL="0" indent="0" eaLnBrk="1" hangingPunct="1">
              <a:buNone/>
            </a:pPr>
            <a:r>
              <a:rPr lang="en-US" altLang="zh-CN" sz="2000" b="1" dirty="0"/>
              <a:t>    </a:t>
            </a:r>
            <a:r>
              <a:rPr lang="zh-CN" altLang="en-US" sz="2000" b="1" dirty="0"/>
              <a:t>函数的定义如下：</a:t>
            </a:r>
          </a:p>
          <a:p>
            <a:pPr marL="0" indent="0">
              <a:buNone/>
            </a:pPr>
            <a:r>
              <a:rPr lang="en-US" altLang="zh-CN" sz="2000" b="1" dirty="0"/>
              <a:t>               LOCATE(str1,str) 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POSITION(str1 IN </a:t>
            </a:r>
            <a:r>
              <a:rPr lang="en-US" altLang="zh-CN" sz="2000" b="1" dirty="0" err="1"/>
              <a:t>str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 INSTR(str,str1)</a:t>
            </a:r>
          </a:p>
          <a:p>
            <a:pPr marL="0" indent="0" eaLnBrk="1" hangingPunct="1">
              <a:buNone/>
            </a:pPr>
            <a:r>
              <a:rPr lang="zh-CN" altLang="en-US" sz="2000" b="1" dirty="0"/>
              <a:t>上述函数将会返回参数</a:t>
            </a:r>
            <a:r>
              <a:rPr lang="en-US" altLang="zh-CN" sz="2000" b="1" dirty="0" err="1"/>
              <a:t>str</a:t>
            </a:r>
            <a:r>
              <a:rPr lang="zh-CN" altLang="en-US" sz="2000" b="1" dirty="0"/>
              <a:t>中字符串</a:t>
            </a:r>
            <a:r>
              <a:rPr lang="en-US" altLang="zh-CN" sz="2000" b="1" dirty="0"/>
              <a:t>str1</a:t>
            </a:r>
            <a:r>
              <a:rPr lang="zh-CN" altLang="en-US" sz="2000" b="1" dirty="0"/>
              <a:t>的开始位置。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27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547442"/>
            <a:ext cx="6408712" cy="295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518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9" y="1484784"/>
            <a:ext cx="8229600" cy="1728192"/>
          </a:xfrm>
        </p:spPr>
        <p:txBody>
          <a:bodyPr/>
          <a:lstStyle/>
          <a:p>
            <a:pPr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FF0000"/>
                </a:solidFill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</a:rPr>
              <a:t>．返回指定位置的字符串的函数</a:t>
            </a:r>
            <a:r>
              <a:rPr lang="en-US" altLang="zh-CN" sz="2400" b="1" dirty="0">
                <a:solidFill>
                  <a:srgbClr val="FF0000"/>
                </a:solidFill>
              </a:rPr>
              <a:t>ELT()</a:t>
            </a:r>
          </a:p>
          <a:p>
            <a:pPr marL="0" indent="0" eaLnBrk="1" hangingPunct="1">
              <a:buNone/>
            </a:pPr>
            <a:r>
              <a:rPr lang="zh-CN" altLang="en-US" sz="2200" b="1" dirty="0"/>
              <a:t>   获取指定位置的字符串。</a:t>
            </a:r>
            <a:endParaRPr lang="en-US" altLang="zh-CN" sz="2200" b="1" dirty="0"/>
          </a:p>
          <a:p>
            <a:pPr marL="0" indent="0" eaLnBrk="1" hangingPunct="1">
              <a:buNone/>
            </a:pPr>
            <a:r>
              <a:rPr lang="en-US" altLang="zh-CN" sz="2200" b="1" dirty="0"/>
              <a:t>     </a:t>
            </a:r>
            <a:r>
              <a:rPr lang="zh-CN" altLang="en-US" sz="2200" b="1" dirty="0"/>
              <a:t>函数</a:t>
            </a:r>
            <a:r>
              <a:rPr lang="en-US" altLang="zh-CN" sz="2200" b="1" dirty="0"/>
              <a:t>ELT()</a:t>
            </a:r>
            <a:r>
              <a:rPr lang="zh-CN" altLang="en-US" sz="2200" b="1" dirty="0"/>
              <a:t>的定义如下：</a:t>
            </a:r>
            <a:r>
              <a:rPr lang="en-US" altLang="zh-CN" sz="2200" b="1" dirty="0"/>
              <a:t>ELT(n,str1,str2…)</a:t>
            </a:r>
          </a:p>
          <a:p>
            <a:pPr marL="0" indent="0" eaLnBrk="1" hangingPunct="1">
              <a:buNone/>
            </a:pPr>
            <a:r>
              <a:rPr lang="en-US" altLang="zh-CN" sz="2200" b="1" dirty="0"/>
              <a:t>        </a:t>
            </a:r>
            <a:r>
              <a:rPr lang="zh-CN" altLang="en-US" sz="2200" b="1" dirty="0"/>
              <a:t>上述函数将会返回第</a:t>
            </a:r>
            <a:r>
              <a:rPr lang="en-US" altLang="zh-CN" sz="2200" b="1" dirty="0"/>
              <a:t>n</a:t>
            </a:r>
            <a:r>
              <a:rPr lang="zh-CN" altLang="en-US" sz="2200" b="1" dirty="0"/>
              <a:t>个字符串。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3448397"/>
            <a:ext cx="8901644" cy="221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275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12776"/>
            <a:ext cx="8229600" cy="2664296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FF0000"/>
                </a:solidFill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</a:rPr>
              <a:t>．选择字符串的函数</a:t>
            </a:r>
            <a:r>
              <a:rPr lang="en-US" altLang="zh-CN" sz="2400" b="1" dirty="0">
                <a:solidFill>
                  <a:srgbClr val="FF0000"/>
                </a:solidFill>
              </a:rPr>
              <a:t>MAKE_SET()</a:t>
            </a:r>
          </a:p>
          <a:p>
            <a:pPr marL="0" indent="0" eaLnBrk="1" hangingPunct="1">
              <a:buNone/>
            </a:pPr>
            <a:r>
              <a:rPr lang="zh-CN" altLang="en-US" sz="2200" b="1" dirty="0"/>
              <a:t>   函数</a:t>
            </a:r>
            <a:r>
              <a:rPr lang="en-US" altLang="zh-CN" sz="2200" b="1" dirty="0"/>
              <a:t>MAKE_SET()</a:t>
            </a:r>
            <a:r>
              <a:rPr lang="zh-CN" altLang="en-US" sz="2200" b="1" dirty="0"/>
              <a:t>的定义如下：                 </a:t>
            </a:r>
            <a:endParaRPr lang="en-US" altLang="zh-CN" sz="2200" b="1" dirty="0"/>
          </a:p>
          <a:p>
            <a:pPr marL="0" indent="0" eaLnBrk="1" hangingPunct="1">
              <a:buNone/>
            </a:pPr>
            <a:r>
              <a:rPr lang="en-US" altLang="zh-CN" sz="2200" b="1" dirty="0"/>
              <a:t>                MAKE_SET(num,str1,str2…</a:t>
            </a:r>
            <a:r>
              <a:rPr lang="en-US" altLang="zh-CN" sz="2200" b="1" dirty="0" err="1"/>
              <a:t>strn</a:t>
            </a:r>
            <a:r>
              <a:rPr lang="en-US" altLang="zh-CN" sz="2200" b="1" dirty="0"/>
              <a:t>)</a:t>
            </a:r>
          </a:p>
          <a:p>
            <a:pPr marL="400050" lvl="1" indent="0">
              <a:buNone/>
            </a:pPr>
            <a:r>
              <a:rPr lang="zh-CN" altLang="en-US" sz="2000" b="1" dirty="0"/>
              <a:t>上述函数首先会将数值</a:t>
            </a:r>
            <a:r>
              <a:rPr lang="en-US" altLang="zh-CN" sz="2000" b="1" dirty="0" err="1"/>
              <a:t>num</a:t>
            </a:r>
            <a:r>
              <a:rPr lang="zh-CN" altLang="en-US" sz="2000" b="1" dirty="0"/>
              <a:t>转换成二进制数，然后按照二进制数从参数</a:t>
            </a:r>
            <a:r>
              <a:rPr lang="en-US" altLang="zh-CN" sz="2000" b="1" dirty="0"/>
              <a:t>str1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str2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……</a:t>
            </a:r>
            <a:r>
              <a:rPr lang="zh-CN" altLang="en-US" sz="2000" b="1" dirty="0"/>
              <a:t>，</a:t>
            </a:r>
            <a:r>
              <a:rPr lang="en-US" altLang="zh-CN" sz="2000" b="1" dirty="0" err="1"/>
              <a:t>strn</a:t>
            </a:r>
            <a:r>
              <a:rPr lang="zh-CN" altLang="en-US" sz="2000" b="1" dirty="0"/>
              <a:t>中选取相应的字符串。在通过二进制数来选择字符串时，会从右到左的顺序读取该值，如果值为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值选择该字符串，否则将不选择该字符串。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29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438" y="4797153"/>
            <a:ext cx="4543768" cy="190073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95536" y="4010769"/>
            <a:ext cx="64087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【</a:t>
            </a:r>
            <a:r>
              <a:rPr lang="zh-CN" altLang="en-US" sz="2000" b="1" dirty="0"/>
              <a:t>例</a:t>
            </a:r>
            <a:r>
              <a:rPr lang="en-US" altLang="zh-CN" sz="2000" b="1" dirty="0"/>
              <a:t>】</a:t>
            </a:r>
            <a:r>
              <a:rPr lang="zh-CN" altLang="en-US" sz="2000" b="1" dirty="0"/>
              <a:t>SELECT BIN(5) 二进制数, MAKE_SET(5,'MySQL','Oracle','SQL Server','PostgreSQL') 选取后的字符串；</a:t>
            </a:r>
          </a:p>
        </p:txBody>
      </p:sp>
    </p:spTree>
    <p:extLst>
      <p:ext uri="{BB962C8B-B14F-4D97-AF65-F5344CB8AC3E}">
        <p14:creationId xmlns:p14="http://schemas.microsoft.com/office/powerpoint/2010/main" val="2987679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l">
              <a:buFont typeface="Cambria" panose="02040503050406030204" pitchFamily="18" charset="0"/>
              <a:buNone/>
            </a:pPr>
            <a:r>
              <a:rPr lang="en-US" altLang="zh-CN" sz="3200" dirty="0"/>
              <a:t>1.</a:t>
            </a:r>
            <a:r>
              <a:rPr lang="zh-CN" altLang="en-US" sz="3200" dirty="0"/>
              <a:t>使用字符串函数</a:t>
            </a: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5" name="矩形 4"/>
          <p:cNvSpPr>
            <a:spLocks noChangeArrowheads="1"/>
          </p:cNvSpPr>
          <p:nvPr/>
        </p:nvSpPr>
        <p:spPr bwMode="auto">
          <a:xfrm>
            <a:off x="323528" y="1484784"/>
            <a:ext cx="8280920" cy="3716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500" b="1" dirty="0">
                <a:solidFill>
                  <a:schemeClr val="tx2">
                    <a:lumMod val="75000"/>
                  </a:schemeClr>
                </a:solidFill>
              </a:rPr>
              <a:t>6  </a:t>
            </a:r>
            <a:r>
              <a:rPr lang="zh-CN" altLang="en-US" sz="2500" b="1" dirty="0">
                <a:solidFill>
                  <a:schemeClr val="tx2">
                    <a:lumMod val="75000"/>
                  </a:schemeClr>
                </a:solidFill>
              </a:rPr>
              <a:t>从现有字符串中截取子字符串</a:t>
            </a:r>
            <a:br>
              <a:rPr lang="en-US" altLang="zh-CN" sz="1400" dirty="0"/>
            </a:br>
            <a:r>
              <a:rPr lang="en-US" altLang="zh-CN" sz="1400" dirty="0"/>
              <a:t>  </a:t>
            </a:r>
            <a:r>
              <a:rPr lang="zh-CN" altLang="en-US" sz="2200" b="1" dirty="0"/>
              <a:t>在</a:t>
            </a:r>
            <a:r>
              <a:rPr lang="en-US" altLang="zh-CN" sz="2200" b="1" dirty="0"/>
              <a:t>MySQL</a:t>
            </a:r>
            <a:r>
              <a:rPr lang="zh-CN" altLang="en-US" sz="2200" b="1" dirty="0"/>
              <a:t>软件中提供了丰富函数去实现截取子字符串功能，分别为</a:t>
            </a:r>
            <a:r>
              <a:rPr lang="zh-CN" altLang="en-US" sz="2200" b="1" dirty="0">
                <a:solidFill>
                  <a:srgbClr val="FF0000"/>
                </a:solidFill>
              </a:rPr>
              <a:t>函数</a:t>
            </a:r>
            <a:r>
              <a:rPr lang="en-US" altLang="zh-CN" sz="2200" b="1" dirty="0">
                <a:solidFill>
                  <a:srgbClr val="FF0000"/>
                </a:solidFill>
              </a:rPr>
              <a:t>LEFT()</a:t>
            </a:r>
            <a:r>
              <a:rPr lang="zh-CN" altLang="en-US" sz="2200" b="1" dirty="0"/>
              <a:t>、</a:t>
            </a:r>
            <a:r>
              <a:rPr lang="zh-CN" altLang="en-US" sz="2200" b="1" dirty="0">
                <a:solidFill>
                  <a:srgbClr val="FF0000"/>
                </a:solidFill>
              </a:rPr>
              <a:t>函数</a:t>
            </a:r>
            <a:r>
              <a:rPr lang="en-US" altLang="zh-CN" sz="2200" b="1" dirty="0">
                <a:solidFill>
                  <a:srgbClr val="FF0000"/>
                </a:solidFill>
              </a:rPr>
              <a:t>RIGHT()</a:t>
            </a:r>
            <a:r>
              <a:rPr lang="zh-CN" altLang="en-US" sz="2200" b="1" dirty="0"/>
              <a:t>、</a:t>
            </a:r>
            <a:r>
              <a:rPr lang="zh-CN" altLang="en-US" sz="2200" b="1" dirty="0">
                <a:solidFill>
                  <a:srgbClr val="FF0000"/>
                </a:solidFill>
              </a:rPr>
              <a:t>函数</a:t>
            </a:r>
            <a:r>
              <a:rPr lang="en-US" altLang="zh-CN" sz="2200" b="1" dirty="0">
                <a:solidFill>
                  <a:srgbClr val="FF0000"/>
                </a:solidFill>
              </a:rPr>
              <a:t>SUBSTRING()</a:t>
            </a:r>
            <a:r>
              <a:rPr lang="zh-CN" altLang="en-US" sz="2200" b="1" dirty="0"/>
              <a:t>和</a:t>
            </a:r>
            <a:r>
              <a:rPr lang="zh-CN" altLang="en-US" sz="2200" b="1" dirty="0">
                <a:solidFill>
                  <a:srgbClr val="FF0000"/>
                </a:solidFill>
              </a:rPr>
              <a:t>函数</a:t>
            </a:r>
            <a:r>
              <a:rPr lang="en-US" altLang="zh-CN" sz="2200" b="1" dirty="0">
                <a:solidFill>
                  <a:srgbClr val="FF0000"/>
                </a:solidFill>
              </a:rPr>
              <a:t>MID()</a:t>
            </a:r>
            <a:r>
              <a:rPr lang="zh-CN" altLang="en-US" sz="2200" b="1" dirty="0"/>
              <a:t>。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200" b="1" dirty="0">
                <a:solidFill>
                  <a:srgbClr val="C00000"/>
                </a:solidFill>
              </a:rPr>
              <a:t>1</a:t>
            </a:r>
            <a:r>
              <a:rPr lang="zh-CN" altLang="en-US" sz="2200" b="1" dirty="0">
                <a:solidFill>
                  <a:srgbClr val="C00000"/>
                </a:solidFill>
              </a:rPr>
              <a:t>．从左边或右边截取子字符串</a:t>
            </a:r>
          </a:p>
          <a:p>
            <a:pPr eaLnBrk="1" hangingPunct="1"/>
            <a:r>
              <a:rPr lang="en-US" altLang="zh-CN" sz="2200" b="1" dirty="0"/>
              <a:t>            LEFT(</a:t>
            </a:r>
            <a:r>
              <a:rPr lang="en-US" altLang="zh-CN" sz="2200" b="1" dirty="0" err="1"/>
              <a:t>str,num</a:t>
            </a:r>
            <a:r>
              <a:rPr lang="en-US" altLang="zh-CN" sz="2200" b="1" dirty="0"/>
              <a:t>)</a:t>
            </a:r>
            <a:endParaRPr lang="zh-CN" altLang="en-US" sz="2200" b="1" dirty="0"/>
          </a:p>
          <a:p>
            <a:pPr eaLnBrk="1" hangingPunct="1"/>
            <a:r>
              <a:rPr lang="en-US" altLang="zh-CN" sz="2200" b="1" dirty="0"/>
              <a:t>            RIGHT(</a:t>
            </a:r>
            <a:r>
              <a:rPr lang="en-US" altLang="zh-CN" sz="2200" b="1" dirty="0" err="1"/>
              <a:t>str,num</a:t>
            </a:r>
            <a:r>
              <a:rPr lang="en-US" altLang="zh-CN" sz="2200" b="1" dirty="0"/>
              <a:t>)</a:t>
            </a:r>
            <a:endParaRPr lang="zh-CN" altLang="en-US" sz="2200" b="1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200" b="1" dirty="0">
                <a:solidFill>
                  <a:srgbClr val="C00000"/>
                </a:solidFill>
              </a:rPr>
              <a:t>2</a:t>
            </a:r>
            <a:r>
              <a:rPr lang="zh-CN" altLang="en-US" sz="2200" b="1" dirty="0">
                <a:solidFill>
                  <a:srgbClr val="C00000"/>
                </a:solidFill>
              </a:rPr>
              <a:t>．截取指定位置和长度子字符串</a:t>
            </a:r>
          </a:p>
          <a:p>
            <a:pPr eaLnBrk="1" hangingPunct="1"/>
            <a:r>
              <a:rPr lang="en-US" altLang="zh-CN" sz="2200" b="1" dirty="0"/>
              <a:t>               SUBSTRING(</a:t>
            </a:r>
            <a:r>
              <a:rPr lang="en-US" altLang="zh-CN" sz="2200" b="1" dirty="0" err="1"/>
              <a:t>str,num,len</a:t>
            </a:r>
            <a:r>
              <a:rPr lang="en-US" altLang="zh-CN" sz="2200" b="1" dirty="0"/>
              <a:t>)</a:t>
            </a:r>
            <a:endParaRPr lang="zh-CN" altLang="en-US" sz="2200" b="1" dirty="0"/>
          </a:p>
          <a:p>
            <a:pPr eaLnBrk="1" hangingPunct="1"/>
            <a:r>
              <a:rPr lang="en-US" altLang="zh-CN" sz="2200" b="1" dirty="0"/>
              <a:t>               MID(</a:t>
            </a:r>
            <a:r>
              <a:rPr lang="en-US" altLang="zh-CN" sz="2200" b="1" dirty="0" err="1"/>
              <a:t>str,num,len</a:t>
            </a:r>
            <a:r>
              <a:rPr lang="en-US" altLang="zh-CN" sz="2200" b="1" dirty="0"/>
              <a:t>)</a:t>
            </a:r>
            <a:endParaRPr lang="zh-CN" altLang="en-US" sz="22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4686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Cambria" panose="02040503050406030204" pitchFamily="18" charset="0"/>
              <a:buNone/>
            </a:pPr>
            <a:r>
              <a:rPr lang="en-US" altLang="zh-CN" sz="3200" dirty="0"/>
              <a:t>1.</a:t>
            </a:r>
            <a:r>
              <a:rPr lang="zh-CN" altLang="en-US" sz="3200" dirty="0"/>
              <a:t>使用字符串函数</a:t>
            </a:r>
          </a:p>
        </p:txBody>
      </p:sp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39552" y="1484784"/>
            <a:ext cx="7848872" cy="3885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 startAt="7"/>
              <a:defRPr/>
            </a:pPr>
            <a:r>
              <a:rPr lang="zh-CN" altLang="en-US" sz="2500" b="1" dirty="0">
                <a:solidFill>
                  <a:schemeClr val="tx2">
                    <a:lumMod val="75000"/>
                  </a:schemeClr>
                </a:solidFill>
              </a:rPr>
              <a:t>去除字符串的首尾空格</a:t>
            </a:r>
            <a:endParaRPr lang="en-US" altLang="zh-CN" sz="25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/>
            </a:pPr>
            <a:r>
              <a:rPr lang="zh-CN" altLang="en-US" sz="2200" b="1" dirty="0"/>
              <a:t>在</a:t>
            </a:r>
            <a:r>
              <a:rPr lang="en-US" sz="2200" b="1" dirty="0" err="1"/>
              <a:t>MySQL</a:t>
            </a:r>
            <a:r>
              <a:rPr lang="zh-CN" altLang="en-US" sz="2200" b="1" dirty="0"/>
              <a:t>软件中提供了丰富函数去实现去除字符串空格功能，分别为</a:t>
            </a:r>
            <a:r>
              <a:rPr lang="zh-CN" altLang="en-US" sz="2200" b="1" dirty="0">
                <a:solidFill>
                  <a:srgbClr val="FF0000"/>
                </a:solidFill>
              </a:rPr>
              <a:t>函数</a:t>
            </a:r>
            <a:r>
              <a:rPr lang="en-US" sz="2200" b="1" dirty="0">
                <a:solidFill>
                  <a:srgbClr val="FF0000"/>
                </a:solidFill>
              </a:rPr>
              <a:t>LTRIM()</a:t>
            </a:r>
            <a:r>
              <a:rPr lang="zh-CN" altLang="en-US" sz="2200" b="1" dirty="0"/>
              <a:t>、</a:t>
            </a:r>
            <a:r>
              <a:rPr lang="zh-CN" altLang="en-US" sz="2200" b="1" dirty="0">
                <a:solidFill>
                  <a:srgbClr val="FF0000"/>
                </a:solidFill>
              </a:rPr>
              <a:t>函数</a:t>
            </a:r>
            <a:r>
              <a:rPr lang="en-US" sz="2200" b="1" dirty="0">
                <a:solidFill>
                  <a:srgbClr val="FF0000"/>
                </a:solidFill>
              </a:rPr>
              <a:t>RTRIM()</a:t>
            </a:r>
            <a:r>
              <a:rPr lang="zh-CN" altLang="en-US" sz="2200" b="1" dirty="0"/>
              <a:t>和</a:t>
            </a:r>
            <a:r>
              <a:rPr lang="zh-CN" altLang="en-US" sz="2200" b="1" dirty="0">
                <a:solidFill>
                  <a:srgbClr val="FF0000"/>
                </a:solidFill>
              </a:rPr>
              <a:t>函数</a:t>
            </a:r>
            <a:r>
              <a:rPr lang="en-US" sz="2200" b="1" dirty="0">
                <a:solidFill>
                  <a:srgbClr val="FF0000"/>
                </a:solidFill>
              </a:rPr>
              <a:t>TRIM()</a:t>
            </a:r>
            <a:r>
              <a:rPr lang="zh-CN" altLang="en-US" sz="2200" b="1" dirty="0"/>
              <a:t>。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rgbClr val="C00000"/>
                </a:solidFill>
              </a:rPr>
              <a:t>1</a:t>
            </a:r>
            <a:r>
              <a:rPr lang="zh-CN" altLang="en-US" sz="2200" b="1" dirty="0">
                <a:solidFill>
                  <a:srgbClr val="C00000"/>
                </a:solidFill>
              </a:rPr>
              <a:t>．去除字符串开始处空格</a:t>
            </a:r>
          </a:p>
          <a:p>
            <a:pPr>
              <a:defRPr/>
            </a:pPr>
            <a:r>
              <a:rPr lang="en-US" sz="2200" b="1" dirty="0"/>
              <a:t>                     LTRIM(</a:t>
            </a:r>
            <a:r>
              <a:rPr lang="en-US" sz="2200" b="1" dirty="0" err="1"/>
              <a:t>str</a:t>
            </a:r>
            <a:r>
              <a:rPr lang="en-US" sz="2200" b="1" dirty="0"/>
              <a:t>) </a:t>
            </a:r>
            <a:endParaRPr lang="zh-CN" altLang="en-US" sz="2200" b="1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rgbClr val="C00000"/>
                </a:solidFill>
              </a:rPr>
              <a:t>2</a:t>
            </a:r>
            <a:r>
              <a:rPr lang="zh-CN" altLang="en-US" sz="2200" b="1" dirty="0">
                <a:solidFill>
                  <a:srgbClr val="C00000"/>
                </a:solidFill>
              </a:rPr>
              <a:t>．去除字符串结束处空格</a:t>
            </a:r>
          </a:p>
          <a:p>
            <a:pPr>
              <a:defRPr/>
            </a:pPr>
            <a:r>
              <a:rPr lang="en-US" sz="2200" b="1" dirty="0"/>
              <a:t>                     RTRIM(</a:t>
            </a:r>
            <a:r>
              <a:rPr lang="en-US" sz="2200" b="1" dirty="0" err="1"/>
              <a:t>str</a:t>
            </a:r>
            <a:r>
              <a:rPr lang="en-US" sz="2200" b="1" dirty="0"/>
              <a:t>)</a:t>
            </a:r>
            <a:endParaRPr lang="zh-CN" altLang="en-US" sz="2200" b="1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rgbClr val="C00000"/>
                </a:solidFill>
              </a:rPr>
              <a:t>3</a:t>
            </a:r>
            <a:r>
              <a:rPr lang="zh-CN" altLang="en-US" sz="2200" b="1" dirty="0">
                <a:solidFill>
                  <a:srgbClr val="C00000"/>
                </a:solidFill>
              </a:rPr>
              <a:t>．去除字符串首尾空格</a:t>
            </a:r>
          </a:p>
          <a:p>
            <a:pPr>
              <a:defRPr/>
            </a:pPr>
            <a:r>
              <a:rPr lang="en-US" sz="2200" b="1" dirty="0"/>
              <a:t>                      TRIM(</a:t>
            </a:r>
            <a:r>
              <a:rPr lang="en-US" sz="2200" b="1" dirty="0" err="1"/>
              <a:t>str</a:t>
            </a:r>
            <a:r>
              <a:rPr lang="en-US" sz="2200" b="1" dirty="0"/>
              <a:t>)</a:t>
            </a:r>
            <a:endParaRPr lang="zh-CN" altLang="en-US" sz="2200" b="1" dirty="0"/>
          </a:p>
          <a:p>
            <a:pPr marL="342900" indent="-342900">
              <a:lnSpc>
                <a:spcPct val="150000"/>
              </a:lnSpc>
              <a:defRPr/>
            </a:pPr>
            <a:endParaRPr lang="zh-CN" altLang="en-US" sz="22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908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3568" y="1556792"/>
            <a:ext cx="828092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 startAt="8"/>
              <a:defRPr/>
            </a:pPr>
            <a:r>
              <a:rPr lang="zh-CN" altLang="en-US" sz="2600" b="1" dirty="0">
                <a:solidFill>
                  <a:schemeClr val="tx2">
                    <a:lumMod val="75000"/>
                  </a:schemeClr>
                </a:solidFill>
              </a:rPr>
              <a:t>替换字符串</a:t>
            </a:r>
            <a:endParaRPr lang="en-US" altLang="zh-CN" sz="2200" b="1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rgbClr val="FF0000"/>
                </a:solidFill>
              </a:rPr>
              <a:t>1</a:t>
            </a:r>
            <a:r>
              <a:rPr lang="zh-CN" altLang="en-US" sz="2200" b="1" dirty="0">
                <a:solidFill>
                  <a:srgbClr val="FF0000"/>
                </a:solidFill>
              </a:rPr>
              <a:t>．使用</a:t>
            </a:r>
            <a:r>
              <a:rPr lang="en-US" sz="2200" b="1" dirty="0">
                <a:solidFill>
                  <a:srgbClr val="FF0000"/>
                </a:solidFill>
              </a:rPr>
              <a:t>INSERT()</a:t>
            </a:r>
            <a:r>
              <a:rPr lang="zh-CN" altLang="en-US" sz="2200" b="1" dirty="0">
                <a:solidFill>
                  <a:srgbClr val="FF0000"/>
                </a:solidFill>
              </a:rPr>
              <a:t>函数</a:t>
            </a:r>
          </a:p>
          <a:p>
            <a:pPr>
              <a:defRPr/>
            </a:pPr>
            <a:r>
              <a:rPr lang="en-US" sz="2200" b="1" dirty="0"/>
              <a:t>          INSERT(</a:t>
            </a:r>
            <a:r>
              <a:rPr lang="en-US" sz="2200" b="1" dirty="0" err="1"/>
              <a:t>str,pos,len,newstr</a:t>
            </a:r>
            <a:r>
              <a:rPr lang="en-US" sz="2200" b="1" dirty="0"/>
              <a:t>))</a:t>
            </a:r>
          </a:p>
          <a:p>
            <a:pPr>
              <a:defRPr/>
            </a:pPr>
            <a:r>
              <a:rPr lang="zh-CN" altLang="en-US" sz="2200" b="1" dirty="0"/>
              <a:t>将字符串</a:t>
            </a:r>
            <a:r>
              <a:rPr lang="en-US" altLang="zh-CN" sz="2200" b="1" dirty="0" err="1"/>
              <a:t>str</a:t>
            </a:r>
            <a:r>
              <a:rPr lang="zh-CN" altLang="en-US" sz="2200" b="1" dirty="0"/>
              <a:t>中的</a:t>
            </a:r>
            <a:r>
              <a:rPr lang="en-US" altLang="zh-CN" sz="2200" b="1" dirty="0" err="1"/>
              <a:t>pos</a:t>
            </a:r>
            <a:r>
              <a:rPr lang="zh-CN" altLang="en-US" sz="2200" b="1" dirty="0"/>
              <a:t>位置开始长度为</a:t>
            </a:r>
            <a:r>
              <a:rPr lang="en-US" altLang="zh-CN" sz="2200" b="1" dirty="0" err="1"/>
              <a:t>len</a:t>
            </a:r>
            <a:r>
              <a:rPr lang="zh-CN" altLang="en-US" sz="2200" b="1" dirty="0"/>
              <a:t>的字符串用</a:t>
            </a:r>
            <a:r>
              <a:rPr lang="en-US" altLang="zh-CN" sz="2200" b="1" dirty="0" err="1"/>
              <a:t>newstr</a:t>
            </a:r>
            <a:r>
              <a:rPr lang="zh-CN" altLang="en-US" sz="2200" b="1" dirty="0"/>
              <a:t>来替换。</a:t>
            </a: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pPr marL="514350" indent="-514350">
              <a:buFont typeface="Cambria" panose="02040503050406030204" pitchFamily="18" charset="0"/>
              <a:buNone/>
            </a:pPr>
            <a:r>
              <a:rPr lang="en-US" altLang="zh-CN" sz="3200" dirty="0"/>
              <a:t>1.</a:t>
            </a:r>
            <a:r>
              <a:rPr lang="zh-CN" altLang="en-US" sz="3200" dirty="0"/>
              <a:t>使用字符串函数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27" y="3572381"/>
            <a:ext cx="8981977" cy="2297567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2683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33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543719" y="1628800"/>
            <a:ext cx="813759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  <a:defRPr/>
            </a:pPr>
            <a:r>
              <a:rPr lang="zh-CN" altLang="en-US" sz="2200" b="1" dirty="0">
                <a:solidFill>
                  <a:srgbClr val="FF0000"/>
                </a:solidFill>
              </a:rPr>
              <a:t>当替换的起始位置大于字符串长度，返回原字符串。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71" y="2204864"/>
            <a:ext cx="8630676" cy="32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443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34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67544" y="1700808"/>
            <a:ext cx="820474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  <a:defRPr/>
            </a:pPr>
            <a:r>
              <a:rPr lang="zh-CN" altLang="en-US" sz="2300" b="1" dirty="0">
                <a:solidFill>
                  <a:srgbClr val="FF0000"/>
                </a:solidFill>
              </a:rPr>
              <a:t>当所要替换的长度大于原来字符串中所剩字符串的长度，则从起始位置开始进行全部替换。</a:t>
            </a:r>
            <a:endParaRPr lang="en-US" altLang="zh-CN" sz="23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780928"/>
            <a:ext cx="8710805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31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556792"/>
            <a:ext cx="8640960" cy="252028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</a:rPr>
              <a:t>2</a:t>
            </a:r>
            <a:r>
              <a:rPr lang="zh-CN" altLang="en-US" sz="2600" b="1" dirty="0">
                <a:solidFill>
                  <a:schemeClr val="tx2">
                    <a:lumMod val="75000"/>
                  </a:schemeClr>
                </a:solidFill>
              </a:rPr>
              <a:t>．使用</a:t>
            </a:r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</a:rPr>
              <a:t>REPLACE()</a:t>
            </a:r>
            <a:r>
              <a:rPr lang="zh-CN" altLang="en-US" sz="2600" b="1" dirty="0">
                <a:solidFill>
                  <a:schemeClr val="tx2">
                    <a:lumMod val="75000"/>
                  </a:schemeClr>
                </a:solidFill>
              </a:rPr>
              <a:t>函数</a:t>
            </a:r>
          </a:p>
          <a:p>
            <a:pPr marL="0" indent="0">
              <a:buNone/>
              <a:defRPr/>
            </a:pPr>
            <a:r>
              <a:rPr lang="en-US" altLang="zh-CN" sz="2600" b="1" dirty="0"/>
              <a:t>      REPLACE(</a:t>
            </a:r>
            <a:r>
              <a:rPr lang="en-US" altLang="zh-CN" sz="2600" b="1" dirty="0" err="1"/>
              <a:t>str,substr,newstr</a:t>
            </a:r>
            <a:r>
              <a:rPr lang="en-US" altLang="zh-CN" sz="2600" b="1" dirty="0"/>
              <a:t>))</a:t>
            </a:r>
          </a:p>
          <a:p>
            <a:pPr marL="0" indent="0">
              <a:buNone/>
              <a:defRPr/>
            </a:pPr>
            <a:r>
              <a:rPr lang="zh-CN" altLang="en-US" sz="2400" b="1" dirty="0"/>
              <a:t>将字符串</a:t>
            </a:r>
            <a:r>
              <a:rPr lang="en-US" altLang="zh-CN" sz="2400" b="1" dirty="0" err="1"/>
              <a:t>str</a:t>
            </a:r>
            <a:r>
              <a:rPr lang="zh-CN" altLang="en-US" sz="2400" b="1" dirty="0"/>
              <a:t>中的子字符串</a:t>
            </a:r>
            <a:r>
              <a:rPr lang="en-US" altLang="zh-CN" sz="2400" b="1" dirty="0" err="1"/>
              <a:t>substr</a:t>
            </a:r>
            <a:r>
              <a:rPr lang="zh-CN" altLang="en-US" sz="2400" b="1" dirty="0"/>
              <a:t>用字符串</a:t>
            </a:r>
            <a:r>
              <a:rPr lang="en-US" altLang="zh-CN" sz="2400" b="1" dirty="0" err="1"/>
              <a:t>newstr</a:t>
            </a:r>
            <a:r>
              <a:rPr lang="zh-CN" altLang="en-US" sz="2400" b="1" dirty="0"/>
              <a:t>来替换。</a:t>
            </a:r>
          </a:p>
          <a:p>
            <a:pPr marL="0" indent="0">
              <a:buNone/>
              <a:defRPr/>
            </a:pPr>
            <a:endParaRPr lang="en-US" altLang="zh-CN" sz="400" b="1" dirty="0"/>
          </a:p>
          <a:p>
            <a:pPr marL="0" indent="0">
              <a:buNone/>
              <a:defRPr/>
            </a:pPr>
            <a:r>
              <a:rPr lang="en-US" altLang="zh-CN" sz="2000" b="1" dirty="0"/>
              <a:t>【</a:t>
            </a:r>
            <a:r>
              <a:rPr lang="zh-CN" altLang="en-US" sz="2000" b="1" dirty="0"/>
              <a:t>例</a:t>
            </a:r>
            <a:r>
              <a:rPr lang="en-US" altLang="zh-CN" sz="2000" b="1" dirty="0"/>
              <a:t>】SELECT '</a:t>
            </a:r>
            <a:r>
              <a:rPr lang="zh-CN" altLang="en-US" sz="2000" b="1" dirty="0"/>
              <a:t>这是</a:t>
            </a:r>
            <a:r>
              <a:rPr lang="en-US" altLang="zh-CN" sz="2000" b="1" dirty="0"/>
              <a:t>MySQL</a:t>
            </a:r>
            <a:r>
              <a:rPr lang="zh-CN" altLang="en-US" sz="2000" b="1" dirty="0"/>
              <a:t>数据库管理系统</a:t>
            </a:r>
            <a:r>
              <a:rPr lang="en-US" altLang="zh-CN" sz="2000" b="1" dirty="0"/>
              <a:t>' </a:t>
            </a:r>
            <a:r>
              <a:rPr lang="zh-CN" altLang="en-US" sz="2000" b="1" dirty="0"/>
              <a:t>原字符串</a:t>
            </a:r>
            <a:r>
              <a:rPr lang="en-US" altLang="zh-CN" sz="2000" b="1" dirty="0"/>
              <a:t>,</a:t>
            </a:r>
            <a:endParaRPr lang="zh-CN" altLang="en-US" sz="2000" b="1" dirty="0"/>
          </a:p>
          <a:p>
            <a:pPr marL="0" indent="0">
              <a:buNone/>
              <a:defRPr/>
            </a:pPr>
            <a:r>
              <a:rPr lang="en-US" altLang="zh-CN" sz="2000" b="1" dirty="0"/>
              <a:t>	REPLACE('</a:t>
            </a:r>
            <a:r>
              <a:rPr lang="zh-CN" altLang="en-US" sz="2000" b="1" dirty="0"/>
              <a:t>这是</a:t>
            </a:r>
            <a:r>
              <a:rPr lang="en-US" altLang="zh-CN" sz="2000" b="1" dirty="0"/>
              <a:t>MySQL</a:t>
            </a:r>
            <a:r>
              <a:rPr lang="zh-CN" altLang="en-US" sz="2000" b="1" dirty="0"/>
              <a:t>数据库管理系统</a:t>
            </a:r>
            <a:r>
              <a:rPr lang="en-US" altLang="zh-CN" sz="2000" b="1" dirty="0"/>
              <a:t>',  'MySQL', ' Oracle') </a:t>
            </a:r>
            <a:r>
              <a:rPr lang="zh-CN" altLang="en-US" sz="2000" b="1" dirty="0"/>
              <a:t>替换后字符串</a:t>
            </a:r>
            <a:r>
              <a:rPr lang="en-US" altLang="zh-CN" sz="2000" b="1" dirty="0"/>
              <a:t>;</a:t>
            </a:r>
            <a:endParaRPr lang="zh-CN" altLang="en-US" sz="20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88" y="4173561"/>
            <a:ext cx="7940055" cy="1967237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Cambria" panose="02040503050406030204" pitchFamily="18" charset="0"/>
              <a:buNone/>
            </a:pPr>
            <a:r>
              <a:rPr lang="en-US" altLang="zh-CN" sz="3200" dirty="0"/>
              <a:t>1.</a:t>
            </a:r>
            <a:r>
              <a:rPr lang="zh-CN" altLang="en-US" sz="3200" dirty="0"/>
              <a:t>使用字符串函数</a:t>
            </a:r>
          </a:p>
        </p:txBody>
      </p:sp>
    </p:spTree>
    <p:extLst>
      <p:ext uri="{BB962C8B-B14F-4D97-AF65-F5344CB8AC3E}">
        <p14:creationId xmlns:p14="http://schemas.microsoft.com/office/powerpoint/2010/main" val="12607369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Cambria" panose="02040503050406030204" pitchFamily="18" charset="0"/>
              <a:buNone/>
            </a:pPr>
            <a:r>
              <a:rPr lang="en-US" altLang="zh-CN" dirty="0"/>
              <a:t>2.</a:t>
            </a:r>
            <a:r>
              <a:rPr lang="zh-CN" altLang="en-US" dirty="0"/>
              <a:t>使用数值函数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7" name="矩形 4"/>
          <p:cNvSpPr>
            <a:spLocks noChangeArrowheads="1"/>
          </p:cNvSpPr>
          <p:nvPr/>
        </p:nvSpPr>
        <p:spPr bwMode="auto">
          <a:xfrm>
            <a:off x="433636" y="1556792"/>
            <a:ext cx="835292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arabicPlain"/>
            </a:pPr>
            <a:r>
              <a:rPr lang="zh-CN" altLang="en-US" sz="2600" b="1" dirty="0">
                <a:solidFill>
                  <a:schemeClr val="tx2">
                    <a:lumMod val="75000"/>
                  </a:schemeClr>
                </a:solidFill>
              </a:rPr>
              <a:t>获取随机数</a:t>
            </a:r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</a:rPr>
              <a:t>RAND(),RAND(X)</a:t>
            </a:r>
          </a:p>
          <a:p>
            <a:pPr marL="0" indent="0" eaLnBrk="1" hangingPunct="1">
              <a:lnSpc>
                <a:spcPct val="150000"/>
              </a:lnSpc>
            </a:pPr>
            <a:r>
              <a:rPr lang="zh-CN" altLang="en-US" sz="2400" b="1" dirty="0"/>
              <a:t>功能：返回</a:t>
            </a:r>
            <a:r>
              <a:rPr lang="en-US" altLang="zh-CN" sz="2400" b="1" dirty="0"/>
              <a:t>0~1</a:t>
            </a:r>
            <a:r>
              <a:rPr lang="zh-CN" altLang="en-US" sz="2400" b="1" dirty="0"/>
              <a:t>之间的随机数，其中</a:t>
            </a:r>
            <a:r>
              <a:rPr lang="en-US" altLang="zh-CN" sz="2400" b="1" dirty="0"/>
              <a:t>RAND()</a:t>
            </a:r>
            <a:r>
              <a:rPr lang="zh-CN" altLang="en-US" sz="2400" b="1" dirty="0"/>
              <a:t>返回的随机数是完全随机的，而</a:t>
            </a:r>
            <a:r>
              <a:rPr lang="en-US" altLang="zh-CN" sz="2400" b="1" dirty="0"/>
              <a:t>RAND(X)</a:t>
            </a:r>
            <a:r>
              <a:rPr lang="zh-CN" altLang="en-US" sz="2400" b="1" dirty="0"/>
              <a:t>返回的随机数是相同的。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】SELECT RAND(),RAND(),RAND(3),RAND(3);</a:t>
            </a:r>
            <a:endParaRPr lang="zh-CN" altLang="en-US" sz="22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005064"/>
            <a:ext cx="8682792" cy="205864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98465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Cambria" panose="02040503050406030204" pitchFamily="18" charset="0"/>
              <a:buNone/>
            </a:pPr>
            <a:r>
              <a:rPr lang="en-US" altLang="zh-CN" sz="3200" dirty="0"/>
              <a:t>2.</a:t>
            </a:r>
            <a:r>
              <a:rPr lang="zh-CN" altLang="en-US" sz="3200" dirty="0"/>
              <a:t>使用数值函数</a:t>
            </a: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39552" y="1556792"/>
            <a:ext cx="7358063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 startAt="2"/>
              <a:defRPr/>
            </a:pP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获取整数的函数</a:t>
            </a:r>
            <a:endParaRPr lang="en-US" altLang="zh-CN" sz="24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 sz="2400" b="1" dirty="0"/>
              <a:t>    CEIL(x) / </a:t>
            </a:r>
            <a:r>
              <a:rPr lang="en-US" altLang="zh-CN" sz="2400" b="1" dirty="0"/>
              <a:t>CEILING(x)  </a:t>
            </a:r>
            <a:r>
              <a:rPr lang="zh-CN" altLang="en-US" sz="2400" b="1" dirty="0"/>
              <a:t>返回大与或等于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的最大整数。</a:t>
            </a:r>
          </a:p>
          <a:p>
            <a:pPr>
              <a:defRPr/>
            </a:pPr>
            <a:r>
              <a:rPr lang="en-US" sz="2400" b="1" dirty="0"/>
              <a:t>FLOOR(x)  </a:t>
            </a:r>
            <a:r>
              <a:rPr lang="zh-CN" altLang="en-US" sz="2400" b="1" dirty="0"/>
              <a:t>返回小与或等于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的最大整数。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04" y="3140968"/>
            <a:ext cx="7898428" cy="216024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9705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200" dirty="0"/>
              <a:t>2.</a:t>
            </a:r>
            <a:r>
              <a:rPr lang="zh-CN" altLang="en-US" sz="3200" dirty="0"/>
              <a:t>使用数值函数</a:t>
            </a: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77652" y="1412776"/>
            <a:ext cx="8064896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 startAt="3"/>
              <a:defRPr/>
            </a:pPr>
            <a:r>
              <a:rPr lang="zh-CN" altLang="en-US" sz="2600" b="1" dirty="0">
                <a:solidFill>
                  <a:schemeClr val="tx2">
                    <a:lumMod val="75000"/>
                  </a:schemeClr>
                </a:solidFill>
              </a:rPr>
              <a:t>截取数值函数</a:t>
            </a:r>
            <a:endParaRPr lang="en-US" altLang="zh-CN" sz="26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/>
            </a:pPr>
            <a:r>
              <a:rPr lang="zh-CN" altLang="en-US" sz="2400" b="1" dirty="0"/>
              <a:t>      对数值的小数位数进行截取</a:t>
            </a:r>
            <a:r>
              <a:rPr lang="en-US" altLang="zh-CN" sz="2400" b="1" dirty="0"/>
              <a:t>.</a:t>
            </a:r>
          </a:p>
          <a:p>
            <a:pPr>
              <a:defRPr/>
            </a:pPr>
            <a:r>
              <a:rPr lang="zh-CN" altLang="en-US" sz="2400" b="1" dirty="0"/>
              <a:t>      函数</a:t>
            </a:r>
            <a:r>
              <a:rPr lang="en-US" sz="2400" b="1" dirty="0"/>
              <a:t>TRUNCATE()</a:t>
            </a:r>
            <a:r>
              <a:rPr lang="zh-CN" altLang="en-US" sz="2400" b="1" dirty="0"/>
              <a:t> 的定义：</a:t>
            </a:r>
          </a:p>
          <a:p>
            <a:pPr>
              <a:defRPr/>
            </a:pPr>
            <a:r>
              <a:rPr lang="en-US" sz="2400" b="1" dirty="0"/>
              <a:t>                       TRUNCATE( x, y )</a:t>
            </a:r>
          </a:p>
          <a:p>
            <a:pPr lvl="1">
              <a:defRPr/>
            </a:pPr>
            <a:r>
              <a:rPr lang="zh-CN" altLang="en-US" sz="2400" b="1" dirty="0"/>
              <a:t>返回数值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保留到小数位</a:t>
            </a:r>
            <a:r>
              <a:rPr lang="en-US" altLang="zh-CN" sz="2400" b="1" dirty="0"/>
              <a:t>y</a:t>
            </a:r>
            <a:r>
              <a:rPr lang="zh-CN" altLang="en-US" sz="2400" b="1" dirty="0"/>
              <a:t>位后的值。</a:t>
            </a:r>
          </a:p>
          <a:p>
            <a:pPr>
              <a:defRPr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】</a:t>
            </a:r>
            <a:r>
              <a:rPr lang="en-US" sz="2400" b="1" dirty="0"/>
              <a:t>SELECT TRUNCATE(903.53567,2),TRUNCATE(903.53567,-1);</a:t>
            </a:r>
            <a:endParaRPr lang="zh-CN" altLang="en-US" sz="24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342572"/>
            <a:ext cx="8122173" cy="2254780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2704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200" dirty="0"/>
              <a:t>2.</a:t>
            </a:r>
            <a:r>
              <a:rPr lang="zh-CN" altLang="en-US" sz="3200" dirty="0"/>
              <a:t>使用数值函数</a:t>
            </a: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67544" y="1258913"/>
            <a:ext cx="8568952" cy="260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 startAt="4"/>
              <a:defRPr/>
            </a:pPr>
            <a:r>
              <a:rPr lang="zh-CN" altLang="en-US" sz="2600" b="1" dirty="0">
                <a:solidFill>
                  <a:schemeClr val="tx2">
                    <a:lumMod val="75000"/>
                  </a:schemeClr>
                </a:solidFill>
              </a:rPr>
              <a:t>四舍五入函数</a:t>
            </a:r>
            <a:endParaRPr lang="en-US" altLang="zh-CN" sz="26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 sz="2400" b="1" dirty="0"/>
              <a:t>       ROUND(x)  </a:t>
            </a:r>
            <a:r>
              <a:rPr lang="zh-CN" altLang="en-US" sz="2400" b="1" dirty="0"/>
              <a:t>返回数值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经过四舍五入后的数值。</a:t>
            </a:r>
          </a:p>
          <a:p>
            <a:pPr>
              <a:defRPr/>
            </a:pPr>
            <a:r>
              <a:rPr lang="en-US" sz="2400" b="1" dirty="0"/>
              <a:t>       ROUND(</a:t>
            </a:r>
            <a:r>
              <a:rPr lang="en-US" sz="2400" b="1" dirty="0" err="1"/>
              <a:t>x,y</a:t>
            </a:r>
            <a:r>
              <a:rPr lang="en-US" sz="2400" b="1" dirty="0"/>
              <a:t>)   </a:t>
            </a:r>
            <a:r>
              <a:rPr lang="zh-CN" altLang="en-US" sz="2400" b="1" dirty="0"/>
              <a:t>返回数值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保留小数点后</a:t>
            </a:r>
            <a:r>
              <a:rPr lang="en-US" altLang="zh-CN" sz="2400" b="1" dirty="0"/>
              <a:t>y</a:t>
            </a:r>
            <a:r>
              <a:rPr lang="zh-CN" altLang="en-US" sz="2400" b="1" dirty="0"/>
              <a:t>位的值，在具体截取数值时需要进行四舍五入后的操作。</a:t>
            </a:r>
          </a:p>
          <a:p>
            <a:pPr>
              <a:defRPr/>
            </a:pPr>
            <a:endParaRPr lang="zh-CN" altLang="en-US" sz="400" b="1" dirty="0"/>
          </a:p>
          <a:p>
            <a:pPr>
              <a:defRPr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】</a:t>
            </a:r>
            <a:r>
              <a:rPr lang="en-US" sz="2400" b="1" dirty="0"/>
              <a:t>SELECT ROUND(903.53567),ROUND(-903.53567),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ROUND(903.53567,2),ROUND(903.53567,-1);</a:t>
            </a:r>
            <a:endParaRPr lang="zh-CN" altLang="en-US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077072"/>
            <a:ext cx="8393031" cy="1724102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527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Cambria" panose="02040503050406030204" pitchFamily="18" charset="0"/>
              <a:buNone/>
            </a:pPr>
            <a:r>
              <a:rPr lang="en-US" altLang="zh-CN" dirty="0"/>
              <a:t>3.</a:t>
            </a:r>
            <a:r>
              <a:rPr lang="zh-CN" altLang="en-US" dirty="0"/>
              <a:t>使用日期和时间函数</a:t>
            </a: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39552" y="1628800"/>
            <a:ext cx="7766248" cy="14080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/>
              <a:defRPr/>
            </a:pPr>
            <a:r>
              <a:rPr lang="zh-CN" altLang="en-US" sz="2500" b="1" dirty="0">
                <a:solidFill>
                  <a:schemeClr val="tx2">
                    <a:lumMod val="75000"/>
                  </a:schemeClr>
                </a:solidFill>
              </a:rPr>
              <a:t>获取当前日期和时间的函数</a:t>
            </a:r>
            <a:endParaRPr lang="en-US" altLang="zh-CN" sz="25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 sz="2400" b="1" dirty="0"/>
              <a:t>     4</a:t>
            </a:r>
            <a:r>
              <a:rPr lang="zh-CN" altLang="en-US" sz="2400" b="1" dirty="0"/>
              <a:t>个函数：</a:t>
            </a:r>
            <a:r>
              <a:rPr lang="en-US" altLang="zh-CN" sz="2400" b="1" dirty="0"/>
              <a:t>NOW()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CURRENT_TIMESTAMP() 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	LOCALTIME() 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SYSDATE()</a:t>
            </a:r>
            <a:endParaRPr lang="en-US" sz="2400" b="1" dirty="0"/>
          </a:p>
        </p:txBody>
      </p:sp>
      <p:sp>
        <p:nvSpPr>
          <p:cNvPr id="7" name="矩形 6"/>
          <p:cNvSpPr/>
          <p:nvPr/>
        </p:nvSpPr>
        <p:spPr>
          <a:xfrm>
            <a:off x="541859" y="3212976"/>
            <a:ext cx="7358063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 startAt="2"/>
              <a:defRPr/>
            </a:pP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获取当前日期</a:t>
            </a:r>
            <a:endParaRPr lang="en-US" altLang="zh-CN" sz="24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 sz="2400" b="1" dirty="0"/>
              <a:t>CURDATE()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CURRENT_DATE()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97037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200" dirty="0"/>
              <a:t>3.</a:t>
            </a:r>
            <a:r>
              <a:rPr lang="zh-CN" altLang="en-US" sz="3200" dirty="0"/>
              <a:t>使用日期和时间函数</a:t>
            </a:r>
          </a:p>
        </p:txBody>
      </p:sp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3568" y="1234530"/>
            <a:ext cx="7358063" cy="406265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 startAt="3"/>
              <a:defRPr/>
            </a:pP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获取日期和时间各部分值</a:t>
            </a:r>
            <a:endParaRPr lang="en-US" altLang="zh-CN" sz="24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en-US" altLang="zh-CN" sz="400" b="1" dirty="0"/>
          </a:p>
          <a:p>
            <a:pPr>
              <a:defRPr/>
            </a:pPr>
            <a:r>
              <a:rPr lang="en-US" sz="2400" b="1" dirty="0"/>
              <a:t>SELECT NOW() </a:t>
            </a:r>
            <a:r>
              <a:rPr lang="zh-CN" altLang="en-US" sz="2400" b="1" dirty="0"/>
              <a:t>当前日期和时间</a:t>
            </a:r>
            <a:r>
              <a:rPr lang="en-US" sz="2400" b="1" dirty="0"/>
              <a:t>, 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YEAR(NOW()) </a:t>
            </a:r>
            <a:r>
              <a:rPr lang="zh-CN" altLang="en-US" sz="2400" b="1" dirty="0"/>
              <a:t>年</a:t>
            </a:r>
            <a:r>
              <a:rPr lang="en-US" sz="2400" b="1" dirty="0"/>
              <a:t>,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QUARTER(NOW()) </a:t>
            </a:r>
            <a:r>
              <a:rPr lang="zh-CN" altLang="en-US" sz="2400" b="1" dirty="0"/>
              <a:t>季度</a:t>
            </a:r>
            <a:r>
              <a:rPr lang="en-US" sz="2400" b="1" dirty="0"/>
              <a:t>,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MONTH(NOW()) </a:t>
            </a:r>
            <a:r>
              <a:rPr lang="zh-CN" altLang="en-US" sz="2400" b="1" dirty="0"/>
              <a:t>月</a:t>
            </a:r>
            <a:r>
              <a:rPr lang="en-US" sz="2400" b="1" dirty="0"/>
              <a:t>,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WEEK(NOW())</a:t>
            </a:r>
            <a:r>
              <a:rPr lang="zh-CN" altLang="en-US" sz="2400" b="1" dirty="0"/>
              <a:t>星期</a:t>
            </a:r>
            <a:r>
              <a:rPr lang="en-US" sz="2400" b="1" dirty="0"/>
              <a:t>,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DAYOFMONTH(NOW()) </a:t>
            </a:r>
            <a:r>
              <a:rPr lang="zh-CN" altLang="en-US" sz="2400" b="1" dirty="0"/>
              <a:t>天</a:t>
            </a:r>
            <a:r>
              <a:rPr lang="en-US" sz="2400" b="1" dirty="0"/>
              <a:t>,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HOUR(NOW()) </a:t>
            </a:r>
            <a:r>
              <a:rPr lang="zh-CN" altLang="en-US" sz="2400" b="1" dirty="0"/>
              <a:t>小时</a:t>
            </a:r>
            <a:r>
              <a:rPr lang="en-US" sz="2400" b="1" dirty="0"/>
              <a:t>,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MINUTE(NOW()) </a:t>
            </a:r>
            <a:r>
              <a:rPr lang="zh-CN" altLang="en-US" sz="2400" b="1" dirty="0"/>
              <a:t>分</a:t>
            </a:r>
            <a:r>
              <a:rPr lang="en-US" sz="2400" b="1" dirty="0"/>
              <a:t>,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SECOND(NOW()) </a:t>
            </a:r>
            <a:r>
              <a:rPr lang="zh-CN" altLang="en-US" sz="2400" b="1" dirty="0"/>
              <a:t>秒</a:t>
            </a:r>
            <a:r>
              <a:rPr lang="en-US" sz="2400" b="1" dirty="0"/>
              <a:t>;</a:t>
            </a:r>
            <a:endParaRPr lang="zh-CN" altLang="en-US" sz="24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5214963"/>
            <a:ext cx="8568952" cy="1454397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32507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200" dirty="0"/>
              <a:t>3.</a:t>
            </a:r>
            <a:r>
              <a:rPr lang="zh-CN" altLang="en-US" sz="3200" dirty="0"/>
              <a:t>使用日期和时间函数</a:t>
            </a: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24322" y="1484784"/>
            <a:ext cx="851485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 startAt="4"/>
              <a:defRPr/>
            </a:pPr>
            <a:r>
              <a:rPr lang="zh-CN" altLang="en-US" sz="2600" b="1" dirty="0">
                <a:solidFill>
                  <a:schemeClr val="tx2">
                    <a:lumMod val="75000"/>
                  </a:schemeClr>
                </a:solidFill>
              </a:rPr>
              <a:t>计算日期和时间的函数</a:t>
            </a:r>
            <a:endParaRPr lang="en-US" altLang="zh-CN" sz="26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 sz="2400" b="1" dirty="0"/>
              <a:t>SELECT NOW() </a:t>
            </a:r>
            <a:r>
              <a:rPr lang="zh-CN" altLang="en-US" sz="2400" b="1" dirty="0"/>
              <a:t>当前日期和时间</a:t>
            </a:r>
            <a:r>
              <a:rPr lang="en-US" sz="2400" b="1" dirty="0"/>
              <a:t>, 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TO_DAYS(NOW()) </a:t>
            </a:r>
            <a:r>
              <a:rPr lang="zh-CN" altLang="en-US" sz="2400" b="1" dirty="0"/>
              <a:t>相隔天数</a:t>
            </a:r>
            <a:r>
              <a:rPr lang="en-US" sz="2400" b="1" dirty="0"/>
              <a:t>,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FROM_DAYS(TO_DAYS(NOW())) </a:t>
            </a:r>
            <a:r>
              <a:rPr lang="zh-CN" altLang="en-US" sz="2400" b="1" dirty="0"/>
              <a:t>一段时间后日期和时间</a:t>
            </a:r>
            <a:r>
              <a:rPr lang="en-US" sz="2400" b="1" dirty="0"/>
              <a:t>,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DATEDIFF(NOW(),'2000-12-01') </a:t>
            </a:r>
            <a:r>
              <a:rPr lang="zh-CN" altLang="en-US" sz="2400" b="1" dirty="0"/>
              <a:t>相隔天数</a:t>
            </a:r>
            <a:r>
              <a:rPr lang="en-US" sz="2400" b="1" dirty="0"/>
              <a:t>;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42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467545" y="4005064"/>
            <a:ext cx="82089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i="1" dirty="0"/>
              <a:t>TO_DAYS(date):</a:t>
            </a:r>
            <a:r>
              <a:rPr lang="zh-CN" altLang="en-US" b="1" i="1" dirty="0"/>
              <a:t>计算日期参数</a:t>
            </a:r>
            <a:r>
              <a:rPr lang="en-US" altLang="zh-CN" b="1" i="1" dirty="0"/>
              <a:t>date</a:t>
            </a:r>
            <a:r>
              <a:rPr lang="zh-CN" altLang="en-US" b="1" i="1" dirty="0"/>
              <a:t>与默认日期和时间（</a:t>
            </a:r>
            <a:r>
              <a:rPr lang="en-US" altLang="zh-CN" b="1" i="1" dirty="0"/>
              <a:t>0000</a:t>
            </a:r>
            <a:r>
              <a:rPr lang="zh-CN" altLang="en-US" b="1" i="1" dirty="0"/>
              <a:t>年</a:t>
            </a:r>
            <a:r>
              <a:rPr lang="en-US" altLang="zh-CN" b="1" i="1" dirty="0"/>
              <a:t>1</a:t>
            </a:r>
            <a:r>
              <a:rPr lang="zh-CN" altLang="en-US" b="1" i="1" dirty="0"/>
              <a:t>月</a:t>
            </a:r>
            <a:r>
              <a:rPr lang="en-US" altLang="zh-CN" b="1" i="1" dirty="0"/>
              <a:t>1</a:t>
            </a:r>
            <a:r>
              <a:rPr lang="zh-CN" altLang="en-US" b="1" i="1" dirty="0"/>
              <a:t>日）之间相隔天数。</a:t>
            </a:r>
            <a:endParaRPr lang="en-US" altLang="zh-CN" b="1" i="1" dirty="0"/>
          </a:p>
          <a:p>
            <a:pPr>
              <a:lnSpc>
                <a:spcPct val="150000"/>
              </a:lnSpc>
              <a:defRPr/>
            </a:pPr>
            <a:r>
              <a:rPr lang="en-US" altLang="zh-CN" b="1" i="1" dirty="0"/>
              <a:t> FROM_DAYS(number)</a:t>
            </a:r>
            <a:r>
              <a:rPr lang="zh-CN" altLang="en-US" b="1" i="1" dirty="0"/>
              <a:t>：计算从默认日期和时间（</a:t>
            </a:r>
            <a:r>
              <a:rPr lang="en-US" altLang="zh-CN" b="1" i="1" dirty="0"/>
              <a:t>0000</a:t>
            </a:r>
            <a:r>
              <a:rPr lang="zh-CN" altLang="en-US" b="1" i="1" dirty="0"/>
              <a:t>年</a:t>
            </a:r>
            <a:r>
              <a:rPr lang="en-US" altLang="zh-CN" b="1" i="1" dirty="0"/>
              <a:t>1</a:t>
            </a:r>
            <a:r>
              <a:rPr lang="zh-CN" altLang="en-US" b="1" i="1" dirty="0"/>
              <a:t>月</a:t>
            </a:r>
            <a:r>
              <a:rPr lang="en-US" altLang="zh-CN" b="1" i="1" dirty="0"/>
              <a:t>1</a:t>
            </a:r>
            <a:r>
              <a:rPr lang="zh-CN" altLang="en-US" b="1" i="1" dirty="0"/>
              <a:t>日）开始经历</a:t>
            </a:r>
            <a:r>
              <a:rPr lang="en-US" altLang="zh-CN" b="1" i="1" dirty="0"/>
              <a:t>number</a:t>
            </a:r>
            <a:r>
              <a:rPr lang="zh-CN" altLang="en-US" b="1" i="1" dirty="0"/>
              <a:t>天后的日期和时间。</a:t>
            </a:r>
          </a:p>
        </p:txBody>
      </p:sp>
    </p:spTree>
    <p:extLst>
      <p:ext uri="{BB962C8B-B14F-4D97-AF65-F5344CB8AC3E}">
        <p14:creationId xmlns:p14="http://schemas.microsoft.com/office/powerpoint/2010/main" val="2254242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400" dirty="0"/>
              <a:t>4.</a:t>
            </a:r>
            <a:r>
              <a:rPr lang="zh-CN" altLang="en-US" sz="3400" dirty="0"/>
              <a:t>使用系统信息函数</a:t>
            </a: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43719" y="1628800"/>
            <a:ext cx="7556673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/>
              <a:defRPr/>
            </a:pP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获取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</a:rPr>
              <a:t>MySQL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系统信息</a:t>
            </a:r>
            <a:endParaRPr lang="en-US" altLang="zh-CN" sz="2400" b="1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AutoNum type="arabicPlain"/>
              <a:defRPr/>
            </a:pPr>
            <a:endParaRPr lang="en-US" altLang="zh-CN" sz="2400" b="1" dirty="0"/>
          </a:p>
          <a:p>
            <a:pPr>
              <a:defRPr/>
            </a:pPr>
            <a:r>
              <a:rPr lang="en-US" sz="2400" b="1" dirty="0"/>
              <a:t>SELECT 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VERSION() </a:t>
            </a:r>
            <a:r>
              <a:rPr lang="zh-CN" altLang="en-US" sz="2400" b="1" dirty="0"/>
              <a:t>版本号</a:t>
            </a:r>
            <a:r>
              <a:rPr lang="en-US" sz="2400" b="1" dirty="0"/>
              <a:t>,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DATABASE() </a:t>
            </a:r>
            <a:r>
              <a:rPr lang="zh-CN" altLang="en-US" sz="2400" b="1" dirty="0"/>
              <a:t>数据库名</a:t>
            </a:r>
            <a:r>
              <a:rPr lang="en-US" sz="2400" b="1" dirty="0"/>
              <a:t>,</a:t>
            </a:r>
            <a:endParaRPr lang="zh-CN" altLang="en-US" sz="2400" b="1" dirty="0"/>
          </a:p>
          <a:p>
            <a:pPr>
              <a:defRPr/>
            </a:pPr>
            <a:r>
              <a:rPr lang="en-US" sz="2400" b="1" dirty="0"/>
              <a:t>	USER() </a:t>
            </a:r>
            <a:r>
              <a:rPr lang="zh-CN" altLang="en-US" sz="2400" b="1" dirty="0"/>
              <a:t>用户名</a:t>
            </a:r>
            <a:r>
              <a:rPr lang="en-US" sz="2400" b="1" dirty="0"/>
              <a:t>;</a:t>
            </a:r>
            <a:endParaRPr lang="zh-CN" altLang="en-US" sz="2400" b="1" dirty="0"/>
          </a:p>
          <a:p>
            <a:pPr marL="342900" indent="-342900">
              <a:lnSpc>
                <a:spcPct val="150000"/>
              </a:lnSpc>
              <a:buFontTx/>
              <a:buAutoNum type="arabicPlain"/>
              <a:defRPr/>
            </a:pPr>
            <a:endParaRPr lang="zh-CN" altLang="en-US" sz="24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16615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200" dirty="0"/>
              <a:t>4.</a:t>
            </a:r>
            <a:r>
              <a:rPr lang="zh-CN" altLang="en-US" sz="3200" dirty="0"/>
              <a:t>使用系统信息函数</a:t>
            </a:r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3" name="矩形 4"/>
          <p:cNvSpPr>
            <a:spLocks noChangeArrowheads="1"/>
          </p:cNvSpPr>
          <p:nvPr/>
        </p:nvSpPr>
        <p:spPr bwMode="auto">
          <a:xfrm>
            <a:off x="582166" y="1196752"/>
            <a:ext cx="8055867" cy="4662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arabicPlain" startAt="2"/>
            </a:pPr>
            <a:r>
              <a:rPr lang="zh-CN" altLang="en-US" sz="2400" b="1" dirty="0"/>
              <a:t>获取</a:t>
            </a:r>
            <a:r>
              <a:rPr lang="en-US" altLang="zh-CN" sz="2400" b="1" dirty="0"/>
              <a:t>AUTO_INCREMENT</a:t>
            </a:r>
            <a:r>
              <a:rPr lang="zh-CN" altLang="en-US" sz="2400" b="1" dirty="0"/>
              <a:t>约束的最后</a:t>
            </a:r>
            <a:r>
              <a:rPr lang="en-US" altLang="zh-CN" sz="2400" b="1" dirty="0"/>
              <a:t>ID</a:t>
            </a:r>
            <a:r>
              <a:rPr lang="zh-CN" altLang="en-US" sz="2400" b="1" dirty="0"/>
              <a:t>值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  <a:buFontTx/>
              <a:buAutoNum type="arabicPlain" startAt="2"/>
            </a:pPr>
            <a:endParaRPr lang="en-US" altLang="zh-CN" sz="6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/>
              <a:t>CREATE TABLE </a:t>
            </a:r>
            <a:r>
              <a:rPr lang="en-US" altLang="zh-CN" sz="2000" b="1" dirty="0" err="1"/>
              <a:t>t_autoincrement</a:t>
            </a:r>
            <a:r>
              <a:rPr lang="en-US" altLang="zh-CN" sz="2000" b="1" dirty="0"/>
              <a:t> (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/>
              <a:t>	id INT(11) NOT NULL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AUTO_INCREMENT</a:t>
            </a:r>
            <a:r>
              <a:rPr lang="en-US" altLang="zh-CN" sz="2000" b="1" dirty="0"/>
              <a:t> UNIQUE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/>
              <a:t>);</a:t>
            </a:r>
          </a:p>
          <a:p>
            <a:pPr eaLnBrk="1" hangingPunct="1">
              <a:lnSpc>
                <a:spcPct val="150000"/>
              </a:lnSpc>
            </a:pPr>
            <a:endParaRPr lang="en-US" altLang="zh-CN" sz="4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/>
              <a:t>INSERT INTO </a:t>
            </a:r>
            <a:r>
              <a:rPr lang="en-US" altLang="zh-CN" sz="2000" b="1" dirty="0" err="1"/>
              <a:t>t_autoincrement</a:t>
            </a:r>
            <a:r>
              <a:rPr lang="en-US" altLang="zh-CN" sz="2000" b="1" dirty="0"/>
              <a:t> VALUES(NULL);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/>
              <a:t>INSERT INTO </a:t>
            </a:r>
            <a:r>
              <a:rPr lang="en-US" altLang="zh-CN" sz="2000" b="1" dirty="0" err="1"/>
              <a:t>t_autoincrement</a:t>
            </a:r>
            <a:r>
              <a:rPr lang="en-US" altLang="zh-CN" sz="2000" b="1" dirty="0"/>
              <a:t> VALUES(NULL);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/>
              <a:t>INSERT INTO </a:t>
            </a:r>
            <a:r>
              <a:rPr lang="en-US" altLang="zh-CN" sz="2000" b="1" dirty="0" err="1"/>
              <a:t>t_autoincrement</a:t>
            </a:r>
            <a:r>
              <a:rPr lang="en-US" altLang="zh-CN" sz="2000" b="1" dirty="0"/>
              <a:t> VALUES(NULL);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/>
              <a:t>INSERT INTO </a:t>
            </a:r>
            <a:r>
              <a:rPr lang="en-US" altLang="zh-CN" sz="2000" b="1" dirty="0" err="1"/>
              <a:t>t_autoincrement</a:t>
            </a:r>
            <a:r>
              <a:rPr lang="en-US" altLang="zh-CN" sz="2000" b="1" dirty="0"/>
              <a:t> VALUES(NULL);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/>
              <a:t>SELECT </a:t>
            </a:r>
            <a:r>
              <a:rPr lang="en-US" altLang="zh-CN" sz="2400" b="1" dirty="0">
                <a:solidFill>
                  <a:srgbClr val="FF0000"/>
                </a:solidFill>
              </a:rPr>
              <a:t>LAST_INSERT_ID()</a:t>
            </a:r>
            <a:r>
              <a:rPr lang="en-US" altLang="zh-CN" sz="2000" b="1" dirty="0"/>
              <a:t>;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44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5724128" y="3274244"/>
            <a:ext cx="322210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000" b="1" i="1" dirty="0">
                <a:solidFill>
                  <a:srgbClr val="0070C0"/>
                </a:solidFill>
              </a:rPr>
              <a:t>注：一次插入一条和多条的区别；</a:t>
            </a:r>
            <a:r>
              <a:rPr lang="en-US" altLang="zh-CN" sz="2000" b="1" i="1" dirty="0">
                <a:solidFill>
                  <a:srgbClr val="0070C0"/>
                </a:solidFill>
              </a:rPr>
              <a:t> LAST_INSERT_ID()</a:t>
            </a:r>
            <a:r>
              <a:rPr lang="zh-CN" altLang="en-US" sz="2000" b="1" i="1" dirty="0">
                <a:solidFill>
                  <a:srgbClr val="0070C0"/>
                </a:solidFill>
              </a:rPr>
              <a:t>与数据表无关，如果向表</a:t>
            </a:r>
            <a:r>
              <a:rPr lang="en-US" altLang="zh-CN" sz="2000" b="1" i="1" dirty="0">
                <a:solidFill>
                  <a:srgbClr val="0070C0"/>
                </a:solidFill>
              </a:rPr>
              <a:t>a</a:t>
            </a:r>
            <a:r>
              <a:rPr lang="zh-CN" altLang="en-US" sz="2000" b="1" i="1" dirty="0">
                <a:solidFill>
                  <a:srgbClr val="0070C0"/>
                </a:solidFill>
              </a:rPr>
              <a:t>插入数据后向表</a:t>
            </a:r>
            <a:r>
              <a:rPr lang="en-US" altLang="zh-CN" sz="2000" b="1" i="1" dirty="0">
                <a:solidFill>
                  <a:srgbClr val="0070C0"/>
                </a:solidFill>
              </a:rPr>
              <a:t>b</a:t>
            </a:r>
            <a:r>
              <a:rPr lang="zh-CN" altLang="en-US" sz="2000" b="1" i="1" dirty="0">
                <a:solidFill>
                  <a:srgbClr val="0070C0"/>
                </a:solidFill>
              </a:rPr>
              <a:t>插入数据，那么</a:t>
            </a:r>
            <a:r>
              <a:rPr lang="en-US" altLang="zh-CN" sz="2000" b="1" i="1" dirty="0">
                <a:solidFill>
                  <a:srgbClr val="0070C0"/>
                </a:solidFill>
              </a:rPr>
              <a:t>LAST_INSERT_ID()</a:t>
            </a:r>
            <a:r>
              <a:rPr lang="zh-CN" altLang="en-US" sz="2000" b="1" i="1" dirty="0">
                <a:solidFill>
                  <a:srgbClr val="0070C0"/>
                </a:solidFill>
              </a:rPr>
              <a:t>返回表</a:t>
            </a:r>
            <a:r>
              <a:rPr lang="en-US" altLang="zh-CN" sz="2000" b="1" i="1" dirty="0">
                <a:solidFill>
                  <a:srgbClr val="0070C0"/>
                </a:solidFill>
              </a:rPr>
              <a:t>b</a:t>
            </a:r>
            <a:r>
              <a:rPr lang="zh-CN" altLang="en-US" sz="2000" b="1" i="1" dirty="0">
                <a:solidFill>
                  <a:srgbClr val="0070C0"/>
                </a:solidFill>
              </a:rPr>
              <a:t>中的</a:t>
            </a:r>
            <a:r>
              <a:rPr lang="en-US" altLang="zh-CN" sz="2000" b="1" i="1" dirty="0">
                <a:solidFill>
                  <a:srgbClr val="0070C0"/>
                </a:solidFill>
              </a:rPr>
              <a:t>ID</a:t>
            </a:r>
            <a:r>
              <a:rPr lang="zh-CN" altLang="en-US" sz="2000" b="1" i="1" dirty="0">
                <a:solidFill>
                  <a:srgbClr val="0070C0"/>
                </a:solidFill>
              </a:rPr>
              <a:t>值。</a:t>
            </a:r>
            <a:endParaRPr lang="en-US" altLang="zh-CN" sz="2000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6630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Cambria" panose="02040503050406030204" pitchFamily="18" charset="0"/>
              <a:buNone/>
            </a:pPr>
            <a:r>
              <a:rPr lang="en-US" altLang="zh-CN" sz="3200" dirty="0"/>
              <a:t>4.</a:t>
            </a:r>
            <a:r>
              <a:rPr lang="zh-CN" altLang="en-US" sz="3200" dirty="0"/>
              <a:t>使用系统信息函数</a:t>
            </a:r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7" name="矩形 4"/>
          <p:cNvSpPr>
            <a:spLocks noChangeArrowheads="1"/>
          </p:cNvSpPr>
          <p:nvPr/>
        </p:nvSpPr>
        <p:spPr bwMode="auto">
          <a:xfrm>
            <a:off x="958353" y="1196752"/>
            <a:ext cx="7358063" cy="58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b="1" dirty="0"/>
              <a:t>3  </a:t>
            </a:r>
            <a:r>
              <a:rPr lang="zh-CN" altLang="en-US" sz="2400" b="1" dirty="0"/>
              <a:t>其他函数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098827"/>
              </p:ext>
            </p:extLst>
          </p:nvPr>
        </p:nvGraphicFramePr>
        <p:xfrm>
          <a:off x="1166986" y="1961452"/>
          <a:ext cx="7143750" cy="1513840"/>
        </p:xfrm>
        <a:graphic>
          <a:graphicData uri="http://schemas.openxmlformats.org/drawingml/2006/table">
            <a:tbl>
              <a:tblPr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IF(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value,t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 f)</a:t>
                      </a: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如果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value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是真，返回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，否则返回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f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IFNULL(value1,value2)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如果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value1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不为空返回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value1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，否则返回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value2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CASE WHEN [value1] THEN[result1]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…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ELSE[default]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  <a:p>
                      <a:pPr marL="127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END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如果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value1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是真，返回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result1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，否则返回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default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CASE [expr]WHEN[value1] THEN[result1]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…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ELSE[default]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  <a:p>
                      <a:pPr marL="127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END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如果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expr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等于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value1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，返回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result1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，否则返回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default</a:t>
                      </a: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928012"/>
              </p:ext>
            </p:extLst>
          </p:nvPr>
        </p:nvGraphicFramePr>
        <p:xfrm>
          <a:off x="1129009" y="3604792"/>
          <a:ext cx="7000875" cy="2416815"/>
        </p:xfrm>
        <a:graphic>
          <a:graphicData uri="http://schemas.openxmlformats.org/drawingml/2006/table">
            <a:tbl>
              <a:tblPr/>
              <a:tblGrid>
                <a:gridCol w="233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2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函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数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作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用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PASSWORD(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str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)</a:t>
                      </a: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实现对字符串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str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进行加密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FORMAT(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x,n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)</a:t>
                      </a: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实现将数字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x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进行格式化，保留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n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位小数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INET_ATON(ip)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实现将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IP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地址转换成数字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INET_NTOA(x)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实现将数字转换成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IP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GET_LOCT(name,time)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创建一个持续时间为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time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的名为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name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的锁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RELEASE_LOCT(name)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为名为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name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的锁进行解锁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BENCHMARK(count,expr)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实现将表达式重复执行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count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次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CONVERT(s USING cs)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实现将字符串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的字符集变成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cs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CONVERT(x,type)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书宋简体"/>
                        <a:ea typeface="方正书宋简体"/>
                        <a:cs typeface="方正书宋简体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27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mbria" panose="02040503050406030204" pitchFamily="18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Calibri" panose="020F050202020403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Cambria" panose="02040503050406030204" pitchFamily="18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行楷" panose="02010800040101010101" pitchFamily="2" charset="-122"/>
                        </a:defRPr>
                      </a:lvl9pPr>
                    </a:lstStyle>
                    <a:p>
                      <a:pPr marL="1270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1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实现将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x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变成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type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书宋简体"/>
                          <a:ea typeface="方正书宋简体"/>
                          <a:cs typeface="方正书宋简体"/>
                        </a:rPr>
                        <a:t>类型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69788" y="6165304"/>
            <a:ext cx="585788" cy="457200"/>
          </a:xfrm>
        </p:spPr>
        <p:txBody>
          <a:bodyPr/>
          <a:lstStyle/>
          <a:p>
            <a:fld id="{6B0A86F4-9E37-467E-9BD2-C09862DA542B}" type="slidenum">
              <a:rPr lang="en-US" altLang="zh-CN" smtClean="0"/>
              <a:pPr/>
              <a:t>45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349375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95536" y="548680"/>
            <a:ext cx="7772400" cy="8588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000" dirty="0"/>
              <a:t>存储过程和函数的操作</a:t>
            </a:r>
            <a:endParaRPr lang="en-US" altLang="zh-CN" sz="4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1043236" y="1916832"/>
            <a:ext cx="6477000" cy="307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创建储存过程和函数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关于存储过程和函数的表达式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查看储存过程和函数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修改存储过程和函数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200" dirty="0">
                <a:ea typeface="华文行楷" panose="02010800040101010101" pitchFamily="2" charset="-122"/>
              </a:rPr>
              <a:t>删除储存过程和函数</a:t>
            </a:r>
            <a:endParaRPr lang="en-US" altLang="zh-CN" sz="3200" dirty="0">
              <a:ea typeface="华文行楷" panose="02010800040101010101" pitchFamily="2" charset="-122"/>
            </a:endParaRP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4211960" y="4988643"/>
            <a:ext cx="4392488" cy="45719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>
              <a:solidFill>
                <a:schemeClr val="accent3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63A81-74F6-4769-BB7D-0E12D7659FAE}" type="slidenum">
              <a:rPr lang="en-US" altLang="zh-CN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81097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dirty="0"/>
              <a:t>创建存储过程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577262" cy="4267200"/>
          </a:xfrm>
        </p:spPr>
        <p:txBody>
          <a:bodyPr/>
          <a:lstStyle/>
          <a:p>
            <a:pPr>
              <a:defRPr/>
            </a:pPr>
            <a:r>
              <a:rPr lang="zh-CN" altLang="zh-CN" sz="2600" b="1" dirty="0"/>
              <a:t>创建存储过程，需要使用</a:t>
            </a:r>
            <a:r>
              <a:rPr lang="en-US" altLang="zh-CN" sz="2600" b="1" dirty="0"/>
              <a:t>CREATE PROCEDURE</a:t>
            </a:r>
            <a:r>
              <a:rPr lang="zh-CN" altLang="zh-CN" sz="2600" b="1" dirty="0"/>
              <a:t>语句</a:t>
            </a:r>
            <a:r>
              <a:rPr lang="zh-CN" altLang="en-US" sz="2600" b="1" dirty="0"/>
              <a:t>。</a:t>
            </a:r>
            <a:endParaRPr lang="zh-CN" altLang="zh-CN" sz="2600" b="1" dirty="0"/>
          </a:p>
          <a:p>
            <a:pPr lvl="1">
              <a:defRPr/>
            </a:pPr>
            <a:r>
              <a:rPr lang="en-US" altLang="zh-CN" b="1" dirty="0"/>
              <a:t>CREATE PROCEDURE </a:t>
            </a:r>
          </a:p>
          <a:p>
            <a:pPr marL="471487" lvl="1" indent="0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	</a:t>
            </a:r>
            <a:r>
              <a:rPr lang="en-US" altLang="zh-CN" b="1" dirty="0" err="1"/>
              <a:t>sp_name</a:t>
            </a:r>
            <a:r>
              <a:rPr lang="en-US" altLang="zh-CN" b="1" dirty="0"/>
              <a:t> ( [</a:t>
            </a:r>
            <a:r>
              <a:rPr lang="en-US" altLang="zh-CN" b="1" dirty="0" err="1"/>
              <a:t>proc_parameter</a:t>
            </a:r>
            <a:r>
              <a:rPr lang="en-US" altLang="zh-CN" b="1" dirty="0"/>
              <a:t>] )[characteristics ...] </a:t>
            </a:r>
          </a:p>
          <a:p>
            <a:pPr marL="471487" lvl="1" indent="0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	</a:t>
            </a:r>
            <a:r>
              <a:rPr lang="en-US" altLang="zh-CN" b="1" dirty="0" err="1"/>
              <a:t>routine_body</a:t>
            </a:r>
            <a:endParaRPr lang="en-US" altLang="zh-CN" b="1" dirty="0"/>
          </a:p>
          <a:p>
            <a:pPr marL="471487" lvl="1" indent="0">
              <a:buNone/>
              <a:defRPr/>
            </a:pPr>
            <a:r>
              <a:rPr lang="zh-CN" altLang="en-US" sz="2200" b="1" dirty="0"/>
              <a:t>说明：</a:t>
            </a:r>
            <a:r>
              <a:rPr lang="en-US" altLang="zh-CN" sz="2200" b="1" dirty="0">
                <a:solidFill>
                  <a:srgbClr val="0000FF"/>
                </a:solidFill>
              </a:rPr>
              <a:t> </a:t>
            </a:r>
            <a:r>
              <a:rPr lang="en-US" altLang="zh-CN" sz="2200" b="1" dirty="0" err="1">
                <a:solidFill>
                  <a:srgbClr val="0000FF"/>
                </a:solidFill>
              </a:rPr>
              <a:t>sp_name</a:t>
            </a:r>
            <a:r>
              <a:rPr lang="zh-CN" altLang="en-US" sz="2200" b="1" dirty="0"/>
              <a:t>为存储过程名称；</a:t>
            </a:r>
            <a:endParaRPr lang="en-US" altLang="zh-CN" sz="2200" b="1" dirty="0"/>
          </a:p>
          <a:p>
            <a:pPr marL="471487" lvl="1" indent="0">
              <a:buNone/>
              <a:defRPr/>
            </a:pPr>
            <a:r>
              <a:rPr lang="en-US" altLang="zh-CN" sz="2200" b="1" dirty="0" err="1">
                <a:solidFill>
                  <a:srgbClr val="0000FF"/>
                </a:solidFill>
              </a:rPr>
              <a:t>proc_parameter</a:t>
            </a:r>
            <a:r>
              <a:rPr lang="zh-CN" altLang="en-US" sz="2200" b="1" dirty="0">
                <a:solidFill>
                  <a:srgbClr val="0000FF"/>
                </a:solidFill>
              </a:rPr>
              <a:t>：</a:t>
            </a:r>
            <a:r>
              <a:rPr lang="zh-CN" altLang="en-US" sz="2200" b="1" dirty="0"/>
              <a:t>指定存储过程参数列表：</a:t>
            </a:r>
            <a:br>
              <a:rPr lang="en-US" altLang="zh-CN" sz="2200" b="1" dirty="0"/>
            </a:br>
            <a:r>
              <a:rPr lang="en-US" altLang="zh-CN" sz="2200" b="1" dirty="0">
                <a:solidFill>
                  <a:srgbClr val="FF0000"/>
                </a:solidFill>
              </a:rPr>
              <a:t>                [IN |OUT |INOUT] </a:t>
            </a:r>
            <a:r>
              <a:rPr lang="en-US" altLang="zh-CN" sz="2200" b="1" dirty="0" err="1">
                <a:solidFill>
                  <a:srgbClr val="FF0000"/>
                </a:solidFill>
              </a:rPr>
              <a:t>param_name</a:t>
            </a:r>
            <a:r>
              <a:rPr lang="en-US" altLang="zh-CN" sz="2200" b="1" dirty="0">
                <a:solidFill>
                  <a:srgbClr val="FF0000"/>
                </a:solidFill>
              </a:rPr>
              <a:t> TYPE</a:t>
            </a:r>
          </a:p>
          <a:p>
            <a:pPr marL="471487" lvl="1" indent="0">
              <a:buNone/>
              <a:defRPr/>
            </a:pPr>
            <a:r>
              <a:rPr lang="en-US" altLang="zh-CN" sz="2000" b="1" dirty="0">
                <a:solidFill>
                  <a:srgbClr val="0000FF"/>
                </a:solidFill>
              </a:rPr>
              <a:t>characteristics </a:t>
            </a:r>
            <a:r>
              <a:rPr lang="zh-CN" altLang="en-US" sz="2000" b="1" dirty="0"/>
              <a:t>指定存储过程的特性；</a:t>
            </a:r>
            <a:endParaRPr lang="en-US" altLang="zh-CN" sz="2000" b="1" dirty="0"/>
          </a:p>
          <a:p>
            <a:pPr marL="471487" lvl="1" indent="0">
              <a:buNone/>
              <a:defRPr/>
            </a:pPr>
            <a:r>
              <a:rPr lang="en-US" altLang="zh-CN" sz="2000" b="1" dirty="0" err="1">
                <a:solidFill>
                  <a:srgbClr val="0000FF"/>
                </a:solidFill>
              </a:rPr>
              <a:t>routine_body</a:t>
            </a:r>
            <a:r>
              <a:rPr lang="en-US" altLang="zh-CN" sz="2000" b="1" dirty="0"/>
              <a:t> SQL</a:t>
            </a:r>
            <a:r>
              <a:rPr lang="zh-CN" altLang="en-US" sz="2000" b="1" dirty="0"/>
              <a:t>代码的内容，可以用</a:t>
            </a:r>
            <a:r>
              <a:rPr lang="en-US" altLang="zh-CN" sz="2000" b="1" dirty="0"/>
              <a:t>BEGIN…END</a:t>
            </a:r>
            <a:r>
              <a:rPr lang="zh-CN" altLang="en-US" sz="2000" b="1" dirty="0"/>
              <a:t>表示代码开始和结束。</a:t>
            </a:r>
            <a:endParaRPr lang="en-US" altLang="zh-CN" sz="2000" b="1" dirty="0"/>
          </a:p>
          <a:p>
            <a:pPr marL="471487" lvl="1" indent="0">
              <a:buNone/>
              <a:defRPr/>
            </a:pPr>
            <a:endParaRPr lang="zh-CN" altLang="zh-CN" sz="2200" b="1" dirty="0">
              <a:solidFill>
                <a:srgbClr val="FF0000"/>
              </a:solidFill>
            </a:endParaRPr>
          </a:p>
          <a:p>
            <a:pPr>
              <a:defRPr/>
            </a:pP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56272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9008" y="548680"/>
            <a:ext cx="7391400" cy="563563"/>
          </a:xfrm>
        </p:spPr>
        <p:txBody>
          <a:bodyPr/>
          <a:lstStyle/>
          <a:p>
            <a:pPr lvl="1" algn="l"/>
            <a:r>
              <a:rPr lang="en-US" altLang="zh-CN" sz="2400" dirty="0">
                <a:solidFill>
                  <a:srgbClr val="0000FF"/>
                </a:solidFill>
              </a:rPr>
              <a:t>characteristics ( </a:t>
            </a:r>
            <a:r>
              <a:rPr lang="zh-CN" altLang="en-US" sz="2400" dirty="0"/>
              <a:t>指定存储过程的特性</a:t>
            </a:r>
            <a:r>
              <a:rPr lang="en-US" altLang="zh-CN" sz="2400" dirty="0"/>
              <a:t>)</a:t>
            </a:r>
            <a:r>
              <a:rPr lang="zh-CN" altLang="en-US" sz="2400" dirty="0"/>
              <a:t>的取值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9" y="1249362"/>
            <a:ext cx="8229600" cy="54451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</a:rPr>
              <a:t>LANGUAGE SQL</a:t>
            </a:r>
            <a:r>
              <a:rPr lang="en-US" altLang="zh-CN" sz="2000" b="1" dirty="0"/>
              <a:t>:</a:t>
            </a:r>
            <a:r>
              <a:rPr lang="zh-CN" altLang="en-US" sz="2000" b="1" dirty="0"/>
              <a:t>说明</a:t>
            </a:r>
            <a:r>
              <a:rPr lang="en-US" altLang="zh-CN" sz="2000" b="1" dirty="0" err="1">
                <a:solidFill>
                  <a:srgbClr val="0000FF"/>
                </a:solidFill>
              </a:rPr>
              <a:t>routine_body</a:t>
            </a:r>
            <a:r>
              <a:rPr lang="zh-CN" altLang="en-US" sz="2000" b="1" dirty="0"/>
              <a:t>部分是由</a:t>
            </a:r>
            <a:r>
              <a:rPr lang="en-US" altLang="zh-CN" sz="2000" b="1" dirty="0"/>
              <a:t>SQL</a:t>
            </a:r>
            <a:r>
              <a:rPr lang="zh-CN" altLang="en-US" sz="2000" b="1" dirty="0"/>
              <a:t>语句组成，当前系统支持的语言为</a:t>
            </a:r>
            <a:r>
              <a:rPr lang="en-US" altLang="zh-CN" sz="2000" b="1" dirty="0"/>
              <a:t>SQL</a:t>
            </a:r>
            <a:r>
              <a:rPr lang="zh-CN" altLang="en-US" sz="2000" b="1" dirty="0"/>
              <a:t>。</a:t>
            </a:r>
            <a:r>
              <a:rPr lang="en-US" altLang="zh-CN" sz="2000" b="1" dirty="0"/>
              <a:t>SQL</a:t>
            </a:r>
            <a:r>
              <a:rPr lang="zh-CN" altLang="en-US" sz="2000" b="1" dirty="0"/>
              <a:t>是</a:t>
            </a:r>
            <a:r>
              <a:rPr lang="en-US" altLang="zh-CN" sz="2000" b="1" dirty="0"/>
              <a:t>LANGUAGE</a:t>
            </a:r>
            <a:r>
              <a:rPr lang="zh-CN" altLang="en-US" sz="2000" b="1" dirty="0"/>
              <a:t>特性的唯一值。</a:t>
            </a:r>
            <a:endParaRPr lang="en-US" altLang="zh-CN" sz="2000" b="1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</a:rPr>
              <a:t>[NOT] DETERMINISTIC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指明存储过程执行的结果是否正确。</a:t>
            </a:r>
            <a:r>
              <a:rPr lang="en-US" altLang="zh-CN" sz="2000" b="1" dirty="0"/>
              <a:t> DETERMINISTIC</a:t>
            </a:r>
            <a:r>
              <a:rPr lang="zh-CN" altLang="en-US" sz="2000" b="1" dirty="0"/>
              <a:t>表示结果是正确的，每次执行存储过程时，相同的输入会得到相同的结果。</a:t>
            </a:r>
            <a:r>
              <a:rPr lang="en-US" altLang="zh-CN" sz="2000" b="1" dirty="0"/>
              <a:t>NOT DETERMINISTIC</a:t>
            </a:r>
            <a:r>
              <a:rPr lang="zh-CN" altLang="en-US" sz="2000" b="1" dirty="0"/>
              <a:t>表示结果是不确定的，相同的输入可能得到不同的输出。如果没有指定任意一个值，</a:t>
            </a:r>
            <a:r>
              <a:rPr lang="zh-CN" altLang="en-US" sz="2000" b="1" dirty="0">
                <a:solidFill>
                  <a:srgbClr val="0000FF"/>
                </a:solidFill>
              </a:rPr>
              <a:t>默认是</a:t>
            </a:r>
            <a:r>
              <a:rPr lang="en-US" altLang="zh-CN" sz="2000" b="1" dirty="0">
                <a:solidFill>
                  <a:srgbClr val="0000FF"/>
                </a:solidFill>
              </a:rPr>
              <a:t>NOT DETERMINISTIC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</a:rPr>
              <a:t>{CONTAINS SQL| NO SQL | READS SQL DATA| MODIFIES SQL DATA</a:t>
            </a:r>
            <a:r>
              <a:rPr lang="en-US" altLang="zh-CN" sz="2000" b="1" dirty="0"/>
              <a:t>}:</a:t>
            </a:r>
            <a:r>
              <a:rPr lang="zh-CN" altLang="en-US" sz="2000" b="1" dirty="0"/>
              <a:t>指明子程序使用</a:t>
            </a:r>
            <a:r>
              <a:rPr lang="en-US" altLang="zh-CN" sz="2000" b="1" dirty="0"/>
              <a:t>SQL</a:t>
            </a:r>
            <a:r>
              <a:rPr lang="zh-CN" altLang="en-US" sz="2000" b="1" dirty="0"/>
              <a:t>语句的限制。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CONTAINS SQL</a:t>
            </a:r>
            <a:r>
              <a:rPr lang="zh-CN" altLang="en-US" sz="2000" b="1" dirty="0"/>
              <a:t>指明子程序包含</a:t>
            </a:r>
            <a:r>
              <a:rPr lang="en-US" altLang="zh-CN" sz="2000" b="1" dirty="0"/>
              <a:t>SQL</a:t>
            </a:r>
            <a:r>
              <a:rPr lang="zh-CN" altLang="en-US" sz="2000" b="1" dirty="0"/>
              <a:t>语句，但是不包含读写数据的语句；</a:t>
            </a:r>
            <a:r>
              <a:rPr lang="en-US" altLang="zh-CN" sz="2000" b="1" dirty="0">
                <a:solidFill>
                  <a:srgbClr val="0000FF"/>
                </a:solidFill>
              </a:rPr>
              <a:t> NO SQL</a:t>
            </a:r>
            <a:r>
              <a:rPr lang="zh-CN" altLang="en-US" sz="2000" b="1" dirty="0"/>
              <a:t>表明子程序不包含</a:t>
            </a:r>
            <a:r>
              <a:rPr lang="en-US" altLang="zh-CN" sz="2000" b="1" dirty="0"/>
              <a:t>SQL</a:t>
            </a:r>
            <a:r>
              <a:rPr lang="zh-CN" altLang="en-US" sz="2000" b="1" dirty="0"/>
              <a:t>语句；</a:t>
            </a:r>
            <a:r>
              <a:rPr lang="en-US" altLang="zh-CN" sz="2000" b="1" dirty="0">
                <a:solidFill>
                  <a:srgbClr val="0000FF"/>
                </a:solidFill>
              </a:rPr>
              <a:t> READS SQL DATA</a:t>
            </a:r>
            <a:r>
              <a:rPr lang="zh-CN" altLang="en-US" sz="2000" b="1" dirty="0"/>
              <a:t>说明子程序包含读数据的语句；</a:t>
            </a:r>
            <a:r>
              <a:rPr lang="en-US" altLang="zh-CN" sz="2000" b="1" dirty="0">
                <a:solidFill>
                  <a:srgbClr val="0000FF"/>
                </a:solidFill>
              </a:rPr>
              <a:t> MODIFIES SQL DATA</a:t>
            </a:r>
            <a:r>
              <a:rPr lang="zh-CN" altLang="en-US" sz="2000" b="1" dirty="0"/>
              <a:t>表明子程序包含写数据的语句。默认指定为</a:t>
            </a:r>
            <a:r>
              <a:rPr lang="en-US" altLang="zh-CN" sz="2000" b="1" dirty="0">
                <a:solidFill>
                  <a:srgbClr val="0000FF"/>
                </a:solidFill>
              </a:rPr>
              <a:t>CONTAINS SQL </a:t>
            </a:r>
            <a:r>
              <a:rPr lang="zh-CN" altLang="en-US" sz="2000" b="1" dirty="0"/>
              <a:t>。</a:t>
            </a:r>
            <a:endParaRPr lang="en-US" altLang="zh-CN" sz="2000" b="1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</a:rPr>
              <a:t>SQL SECURITY { DEFINER | INVOKER}</a:t>
            </a:r>
            <a:r>
              <a:rPr lang="zh-CN" altLang="en-US" sz="2000" b="1" dirty="0"/>
              <a:t>：指明谁有权限来执行。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DEFINER</a:t>
            </a:r>
            <a:r>
              <a:rPr lang="zh-CN" altLang="en-US" sz="2000" b="1" dirty="0"/>
              <a:t>表明只有定义者才能执行；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INVOKER</a:t>
            </a:r>
            <a:r>
              <a:rPr lang="zh-CN" altLang="en-US" sz="2000" b="1" dirty="0"/>
              <a:t>表示拥有权限的调用者可以执行。默认</a:t>
            </a:r>
            <a:r>
              <a:rPr lang="zh-CN" altLang="en-US" sz="2000" b="1" dirty="0">
                <a:solidFill>
                  <a:srgbClr val="0000FF"/>
                </a:solidFill>
              </a:rPr>
              <a:t>为</a:t>
            </a:r>
            <a:r>
              <a:rPr lang="en-US" altLang="zh-CN" sz="2000" b="1" dirty="0">
                <a:solidFill>
                  <a:srgbClr val="0000FF"/>
                </a:solidFill>
              </a:rPr>
              <a:t>DEFINER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</a:rPr>
              <a:t>COMMENT ‘string’</a:t>
            </a:r>
            <a:r>
              <a:rPr lang="zh-CN" altLang="en-US" sz="2000" b="1" dirty="0"/>
              <a:t>：注释信息，可以用来描述存储过程或函数。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7793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59807" y="1409601"/>
            <a:ext cx="7056784" cy="350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1】</a:t>
            </a:r>
            <a:r>
              <a:rPr lang="zh-CN" altLang="en-US" sz="2200" b="1" dirty="0"/>
              <a:t>创建查看</a:t>
            </a:r>
            <a:r>
              <a:rPr lang="en-US" altLang="zh-CN" sz="2200" b="1" dirty="0"/>
              <a:t>fruits</a:t>
            </a:r>
            <a:r>
              <a:rPr lang="zh-CN" altLang="en-US" sz="2200" b="1" dirty="0"/>
              <a:t>表的存储过程，代码如下：</a:t>
            </a:r>
            <a:endParaRPr lang="en-US" altLang="zh-CN" sz="2200" b="1" dirty="0"/>
          </a:p>
          <a:p>
            <a:pPr>
              <a:defRPr/>
            </a:pPr>
            <a:r>
              <a:rPr lang="en-US" sz="2200" b="1" dirty="0"/>
              <a:t>DELIMITER //</a:t>
            </a:r>
          </a:p>
          <a:p>
            <a:pPr>
              <a:defRPr/>
            </a:pPr>
            <a:r>
              <a:rPr lang="en-US" sz="2200" b="1" dirty="0"/>
              <a:t> CREATE PROCEDURE </a:t>
            </a:r>
            <a:r>
              <a:rPr lang="en-US" sz="2200" b="1" dirty="0" err="1"/>
              <a:t>Proc</a:t>
            </a:r>
            <a:r>
              <a:rPr lang="en-US" sz="2200" b="1" dirty="0">
                <a:solidFill>
                  <a:srgbClr val="FF0000"/>
                </a:solidFill>
              </a:rPr>
              <a:t>()</a:t>
            </a:r>
          </a:p>
          <a:p>
            <a:pPr>
              <a:defRPr/>
            </a:pPr>
            <a:r>
              <a:rPr lang="en-US" sz="2200" b="1" dirty="0"/>
              <a:t>     BEGIN</a:t>
            </a:r>
          </a:p>
          <a:p>
            <a:pPr>
              <a:defRPr/>
            </a:pPr>
            <a:r>
              <a:rPr lang="en-US" sz="2200" b="1" dirty="0"/>
              <a:t>     SELECT * FROM fruits;</a:t>
            </a:r>
          </a:p>
          <a:p>
            <a:pPr>
              <a:defRPr/>
            </a:pPr>
            <a:r>
              <a:rPr lang="en-US" sz="2200" b="1" dirty="0"/>
              <a:t>     END //</a:t>
            </a:r>
          </a:p>
          <a:p>
            <a:pPr>
              <a:defRPr/>
            </a:pPr>
            <a:endParaRPr lang="en-US" sz="2200" b="1" dirty="0"/>
          </a:p>
          <a:p>
            <a:pPr>
              <a:defRPr/>
            </a:pPr>
            <a:r>
              <a:rPr lang="en-US" sz="2200" b="1" dirty="0"/>
              <a:t> DELIMITER ;</a:t>
            </a:r>
            <a:endParaRPr lang="zh-CN" altLang="en-US" sz="2200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685800"/>
            <a:ext cx="7118176" cy="563563"/>
          </a:xfrm>
        </p:spPr>
        <p:txBody>
          <a:bodyPr/>
          <a:lstStyle/>
          <a:p>
            <a:pPr marL="514350" indent="-514350" algn="l">
              <a:buFont typeface="Cambria" panose="02040503050406030204" pitchFamily="18" charset="0"/>
              <a:buNone/>
            </a:pPr>
            <a:r>
              <a:rPr lang="zh-CN" altLang="en-US" sz="2800" dirty="0"/>
              <a:t>创建存储过程</a:t>
            </a:r>
            <a:endParaRPr lang="en-US" altLang="zh-CN" sz="2800" dirty="0"/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49</a:t>
            </a:fld>
            <a:endParaRPr lang="en-US" altLang="zh-CN"/>
          </a:p>
        </p:txBody>
      </p:sp>
      <p:sp>
        <p:nvSpPr>
          <p:cNvPr id="3" name="对话气泡: 椭圆形 2">
            <a:extLst>
              <a:ext uri="{FF2B5EF4-FFF2-40B4-BE49-F238E27FC236}">
                <a16:creationId xmlns:a16="http://schemas.microsoft.com/office/drawing/2014/main" id="{064EB95F-11D4-42E3-A9D4-FFA15FDCE104}"/>
              </a:ext>
            </a:extLst>
          </p:cNvPr>
          <p:cNvSpPr/>
          <p:nvPr/>
        </p:nvSpPr>
        <p:spPr bwMode="auto">
          <a:xfrm>
            <a:off x="4064431" y="1712865"/>
            <a:ext cx="2592288" cy="830997"/>
          </a:xfrm>
          <a:prstGeom prst="wedgeEllipseCallout">
            <a:avLst>
              <a:gd name="adj1" fmla="val -58695"/>
              <a:gd name="adj2" fmla="val 32477"/>
            </a:avLst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没有参数，仍然需要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 )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D2AE9E-F586-4422-BF74-CA201EF57210}"/>
              </a:ext>
            </a:extLst>
          </p:cNvPr>
          <p:cNvSpPr txBox="1"/>
          <p:nvPr/>
        </p:nvSpPr>
        <p:spPr>
          <a:xfrm>
            <a:off x="683568" y="4509120"/>
            <a:ext cx="7056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执行存储过程：</a:t>
            </a:r>
            <a:endParaRPr lang="en-US" altLang="zh-CN" sz="2400" b="1" dirty="0">
              <a:latin typeface="+mn-ea"/>
              <a:ea typeface="+mn-ea"/>
            </a:endParaRPr>
          </a:p>
          <a:p>
            <a:r>
              <a:rPr lang="zh-CN" altLang="en-US" sz="2400" b="1" dirty="0">
                <a:latin typeface="+mn-ea"/>
                <a:ea typeface="+mn-ea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CALL </a:t>
            </a:r>
            <a:r>
              <a:rPr lang="en-US" altLang="zh-CN" sz="2400" b="1" dirty="0">
                <a:latin typeface="+mn-ea"/>
                <a:ea typeface="+mn-ea"/>
              </a:rPr>
              <a:t>Proc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()</a:t>
            </a:r>
            <a:r>
              <a:rPr lang="en-US" altLang="zh-CN" sz="2400" b="1" dirty="0">
                <a:latin typeface="+mn-ea"/>
                <a:ea typeface="+mn-ea"/>
              </a:rPr>
              <a:t>;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44D806-2883-4150-8DF2-17C6393FEEA0}"/>
              </a:ext>
            </a:extLst>
          </p:cNvPr>
          <p:cNvSpPr txBox="1"/>
          <p:nvPr/>
        </p:nvSpPr>
        <p:spPr>
          <a:xfrm>
            <a:off x="683568" y="5434851"/>
            <a:ext cx="7056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删除存储过程：</a:t>
            </a:r>
            <a:endParaRPr lang="en-US" altLang="zh-CN" sz="2400" b="1" dirty="0">
              <a:latin typeface="+mn-ea"/>
              <a:ea typeface="+mn-ea"/>
            </a:endParaRPr>
          </a:p>
          <a:p>
            <a:r>
              <a:rPr lang="zh-CN" altLang="en-US" sz="2400" b="1" dirty="0">
                <a:latin typeface="+mn-ea"/>
                <a:ea typeface="+mn-ea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DROP PROCEDURE </a:t>
            </a:r>
            <a:r>
              <a:rPr lang="en-US" altLang="zh-CN" sz="2400" b="1" dirty="0">
                <a:latin typeface="+mn-ea"/>
                <a:ea typeface="+mn-ea"/>
              </a:rPr>
              <a:t>Proc;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8022D0-5196-4F33-8897-5468CF76DB5D}"/>
              </a:ext>
            </a:extLst>
          </p:cNvPr>
          <p:cNvSpPr txBox="1"/>
          <p:nvPr/>
        </p:nvSpPr>
        <p:spPr>
          <a:xfrm>
            <a:off x="4716016" y="5201905"/>
            <a:ext cx="4211960" cy="132343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仅当存在时删除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当过程存在想删除它时（如果过程不存在也不产生错误），可使：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DROP PROCEDURE IF EXISTS Proc;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91775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412776"/>
            <a:ext cx="8229600" cy="482451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2】</a:t>
            </a:r>
            <a:r>
              <a:rPr lang="zh-CN" altLang="en-US" sz="2200" b="1" dirty="0"/>
              <a:t>创建一个获取</a:t>
            </a:r>
            <a:r>
              <a:rPr lang="en-US" altLang="zh-CN" sz="2200" b="1" dirty="0"/>
              <a:t>fruits</a:t>
            </a:r>
            <a:r>
              <a:rPr lang="zh-CN" altLang="en-US" sz="2200" b="1" dirty="0"/>
              <a:t>表记录条数的存储过程，代码如下：</a:t>
            </a:r>
          </a:p>
          <a:p>
            <a:pPr marL="0" indent="0">
              <a:buNone/>
            </a:pPr>
            <a:r>
              <a:rPr lang="en-US" altLang="zh-CN" sz="2200" b="1" dirty="0"/>
              <a:t>DELIMITER // </a:t>
            </a:r>
          </a:p>
          <a:p>
            <a:pPr marL="0" indent="0">
              <a:buNone/>
            </a:pPr>
            <a:r>
              <a:rPr lang="en-US" altLang="zh-CN" sz="2200" b="1" dirty="0"/>
              <a:t> CREATE PROCEDURE </a:t>
            </a:r>
            <a:r>
              <a:rPr lang="en-US" altLang="zh-CN" sz="2200" b="1" dirty="0" err="1"/>
              <a:t>CountProc</a:t>
            </a:r>
            <a:r>
              <a:rPr lang="en-US" altLang="zh-CN" sz="2200" b="1" dirty="0"/>
              <a:t>(OUT param1 INT)</a:t>
            </a:r>
          </a:p>
          <a:p>
            <a:pPr marL="0" indent="0">
              <a:buNone/>
            </a:pPr>
            <a:r>
              <a:rPr lang="en-US" altLang="zh-CN" sz="2200" b="1" dirty="0"/>
              <a:t>  BEGIN</a:t>
            </a:r>
          </a:p>
          <a:p>
            <a:pPr marL="0" indent="0">
              <a:buNone/>
            </a:pPr>
            <a:r>
              <a:rPr lang="en-US" altLang="zh-CN" sz="2200" b="1" dirty="0"/>
              <a:t>  </a:t>
            </a:r>
            <a:r>
              <a:rPr lang="en-US" altLang="zh-CN" sz="2200" b="1" dirty="0">
                <a:solidFill>
                  <a:srgbClr val="0000FF"/>
                </a:solidFill>
              </a:rPr>
              <a:t>SELECT</a:t>
            </a:r>
            <a:r>
              <a:rPr lang="en-US" altLang="zh-CN" sz="2200" b="1" dirty="0"/>
              <a:t> COUNT(*) </a:t>
            </a:r>
            <a:r>
              <a:rPr lang="en-US" altLang="zh-CN" sz="2200" b="1" dirty="0">
                <a:solidFill>
                  <a:srgbClr val="0000FF"/>
                </a:solidFill>
              </a:rPr>
              <a:t>INTO</a:t>
            </a:r>
            <a:r>
              <a:rPr lang="en-US" altLang="zh-CN" sz="2200" b="1" dirty="0"/>
              <a:t> param1 FROM fruits;</a:t>
            </a:r>
          </a:p>
          <a:p>
            <a:pPr marL="0" indent="0">
              <a:buNone/>
            </a:pPr>
            <a:r>
              <a:rPr lang="en-US" altLang="zh-CN" sz="2200" b="1" dirty="0"/>
              <a:t>  END //</a:t>
            </a:r>
          </a:p>
          <a:p>
            <a:pPr marL="0" indent="0">
              <a:buNone/>
            </a:pPr>
            <a:r>
              <a:rPr lang="en-US" altLang="zh-CN" sz="2200" b="1" dirty="0"/>
              <a:t>DELIMITER ;</a:t>
            </a:r>
          </a:p>
          <a:p>
            <a:pPr marL="0" indent="0">
              <a:buNone/>
            </a:pPr>
            <a:endParaRPr lang="en-US" altLang="zh-CN" sz="800" b="1" dirty="0"/>
          </a:p>
          <a:p>
            <a:r>
              <a:rPr lang="zh-CN" altLang="en-US" sz="2200" b="1" dirty="0"/>
              <a:t>关键字</a:t>
            </a:r>
            <a:r>
              <a:rPr lang="en-US" altLang="zh-CN" sz="2200" b="1" dirty="0">
                <a:solidFill>
                  <a:srgbClr val="FF0000"/>
                </a:solidFill>
              </a:rPr>
              <a:t>IN</a:t>
            </a:r>
            <a:r>
              <a:rPr lang="en-US" altLang="zh-CN" sz="2200" b="1" dirty="0"/>
              <a:t>——</a:t>
            </a:r>
            <a:r>
              <a:rPr lang="zh-CN" altLang="en-US" sz="2200" b="1" dirty="0"/>
              <a:t>传递给存储过程；</a:t>
            </a:r>
            <a:r>
              <a:rPr lang="en-US" altLang="zh-CN" sz="2200" b="1" dirty="0">
                <a:solidFill>
                  <a:srgbClr val="FF0000"/>
                </a:solidFill>
              </a:rPr>
              <a:t>OUT</a:t>
            </a:r>
            <a:r>
              <a:rPr lang="en-US" altLang="zh-CN" sz="2200" b="1" dirty="0"/>
              <a:t>——</a:t>
            </a:r>
            <a:r>
              <a:rPr lang="zh-CN" altLang="en-US" sz="2200" b="1" dirty="0"/>
              <a:t>从存储过程传出；</a:t>
            </a:r>
            <a:r>
              <a:rPr lang="en-US" altLang="zh-CN" sz="2200" b="1" dirty="0">
                <a:solidFill>
                  <a:srgbClr val="FF0000"/>
                </a:solidFill>
              </a:rPr>
              <a:t>INOUT</a:t>
            </a:r>
            <a:r>
              <a:rPr lang="en-US" altLang="zh-CN" sz="2200" b="1" dirty="0"/>
              <a:t>——</a:t>
            </a:r>
            <a:r>
              <a:rPr lang="zh-CN" altLang="en-US" sz="2200" b="1" dirty="0"/>
              <a:t>对存储过程传入和传出</a:t>
            </a:r>
            <a:endParaRPr lang="en-US" altLang="zh-CN" sz="2200" b="1" dirty="0"/>
          </a:p>
          <a:p>
            <a:r>
              <a:rPr lang="zh-CN" altLang="en-US" sz="2200" b="1" dirty="0"/>
              <a:t>调用存储过程：</a:t>
            </a:r>
            <a:r>
              <a:rPr lang="en-US" altLang="zh-CN" sz="2200" b="1" dirty="0"/>
              <a:t>CALL </a:t>
            </a:r>
            <a:r>
              <a:rPr lang="en-US" altLang="zh-CN" sz="2200" b="1" dirty="0" err="1"/>
              <a:t>CountProc</a:t>
            </a:r>
            <a:r>
              <a:rPr lang="en-US" altLang="zh-CN" sz="2200" b="1" dirty="0"/>
              <a:t>(</a:t>
            </a:r>
            <a:r>
              <a:rPr lang="en-US" altLang="zh-CN" sz="2200" b="1" dirty="0">
                <a:solidFill>
                  <a:srgbClr val="FF0000"/>
                </a:solidFill>
              </a:rPr>
              <a:t>@</a:t>
            </a:r>
            <a:r>
              <a:rPr lang="en-US" altLang="zh-CN" sz="2200" b="1" dirty="0"/>
              <a:t>num);</a:t>
            </a:r>
          </a:p>
          <a:p>
            <a:pPr marL="0" indent="0">
              <a:buNone/>
            </a:pPr>
            <a:endParaRPr lang="en-US" altLang="zh-CN" sz="800" b="1" dirty="0"/>
          </a:p>
          <a:p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当使用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DELIMITER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命令时，应该避免使用反斜杠（’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\’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）字符，因为反斜线是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MySQL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的转义字符。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20717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创建存储函数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84784"/>
            <a:ext cx="8229600" cy="449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CN" altLang="zh-CN" sz="2600" b="1" dirty="0"/>
              <a:t>创建存储</a:t>
            </a:r>
            <a:r>
              <a:rPr lang="zh-CN" altLang="en-US" sz="2600" b="1" dirty="0"/>
              <a:t>函数</a:t>
            </a:r>
            <a:r>
              <a:rPr lang="zh-CN" altLang="zh-CN" sz="2600" b="1" dirty="0"/>
              <a:t>，需要使用</a:t>
            </a:r>
            <a:r>
              <a:rPr lang="en-US" altLang="zh-CN" sz="2600" b="1" dirty="0"/>
              <a:t>CREATE FUNCTION</a:t>
            </a:r>
            <a:r>
              <a:rPr lang="zh-CN" altLang="zh-CN" sz="2600" b="1" dirty="0"/>
              <a:t>语句</a:t>
            </a:r>
            <a:r>
              <a:rPr lang="zh-CN" altLang="en-US" sz="2600" b="1" dirty="0"/>
              <a:t>。</a:t>
            </a:r>
            <a:endParaRPr lang="en-US" altLang="zh-CN" sz="2600" b="1" dirty="0"/>
          </a:p>
          <a:p>
            <a:pPr lvl="1">
              <a:defRPr/>
            </a:pPr>
            <a:r>
              <a:rPr lang="en-US" altLang="zh-CN" b="1" dirty="0"/>
              <a:t>CREATE FUNCTION </a:t>
            </a:r>
          </a:p>
          <a:p>
            <a:pPr marL="471487" lvl="1" indent="0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	</a:t>
            </a:r>
            <a:r>
              <a:rPr lang="en-US" altLang="zh-CN" b="1" dirty="0" err="1"/>
              <a:t>func_name</a:t>
            </a:r>
            <a:r>
              <a:rPr lang="en-US" altLang="zh-CN" b="1" dirty="0"/>
              <a:t> ( [</a:t>
            </a:r>
            <a:r>
              <a:rPr lang="en-US" altLang="zh-CN" b="1" dirty="0" err="1"/>
              <a:t>func_parameter</a:t>
            </a:r>
            <a:r>
              <a:rPr lang="en-US" altLang="zh-CN" b="1" dirty="0"/>
              <a:t>] )</a:t>
            </a:r>
            <a:endParaRPr lang="zh-CN" altLang="zh-CN" b="1" dirty="0"/>
          </a:p>
          <a:p>
            <a:pPr marL="471487" lvl="1" indent="0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	</a:t>
            </a:r>
            <a:r>
              <a:rPr lang="en-US" altLang="zh-CN" b="1" dirty="0">
                <a:solidFill>
                  <a:srgbClr val="C00000"/>
                </a:solidFill>
              </a:rPr>
              <a:t>RETURNS</a:t>
            </a:r>
            <a:r>
              <a:rPr lang="en-US" altLang="zh-CN" b="1" dirty="0"/>
              <a:t> type [characteristic ...]</a:t>
            </a:r>
          </a:p>
          <a:p>
            <a:pPr marL="471487" lvl="1" indent="0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	</a:t>
            </a:r>
            <a:r>
              <a:rPr lang="en-US" altLang="zh-CN" b="1" dirty="0" err="1"/>
              <a:t>routine_body</a:t>
            </a:r>
            <a:endParaRPr lang="zh-CN" altLang="zh-CN" b="1" dirty="0"/>
          </a:p>
          <a:p>
            <a:pPr marL="471487" lvl="1" indent="0">
              <a:buNone/>
              <a:defRPr/>
            </a:pPr>
            <a:r>
              <a:rPr lang="zh-CN" altLang="en-US" b="1" dirty="0"/>
              <a:t>说明：</a:t>
            </a:r>
            <a:r>
              <a:rPr lang="en-US" altLang="zh-CN" b="1" dirty="0"/>
              <a:t> </a:t>
            </a:r>
            <a:r>
              <a:rPr lang="en-US" altLang="zh-CN" b="1" dirty="0" err="1">
                <a:solidFill>
                  <a:srgbClr val="0000FF"/>
                </a:solidFill>
              </a:rPr>
              <a:t>func_name</a:t>
            </a:r>
            <a:r>
              <a:rPr lang="zh-CN" altLang="en-US" b="1" dirty="0"/>
              <a:t>为存储函数名称；</a:t>
            </a:r>
            <a:endParaRPr lang="en-US" altLang="zh-CN" b="1" dirty="0"/>
          </a:p>
          <a:p>
            <a:pPr marL="471487" lvl="1" indent="0">
              <a:buNone/>
              <a:defRPr/>
            </a:pPr>
            <a:r>
              <a:rPr lang="en-US" altLang="zh-CN" b="1" dirty="0" err="1">
                <a:solidFill>
                  <a:srgbClr val="0000FF"/>
                </a:solidFill>
              </a:rPr>
              <a:t>func_parameter</a:t>
            </a:r>
            <a:r>
              <a:rPr lang="zh-CN" altLang="en-US" b="1" dirty="0">
                <a:solidFill>
                  <a:srgbClr val="0000FF"/>
                </a:solidFill>
              </a:rPr>
              <a:t>：</a:t>
            </a:r>
            <a:r>
              <a:rPr lang="zh-CN" altLang="en-US" b="1" dirty="0"/>
              <a:t>指定存储函数参数列表：</a:t>
            </a:r>
            <a:br>
              <a:rPr lang="en-US" altLang="zh-CN" b="1" dirty="0"/>
            </a:br>
            <a:r>
              <a:rPr lang="en-US" altLang="zh-CN" b="1" dirty="0">
                <a:solidFill>
                  <a:srgbClr val="FF0000"/>
                </a:solidFill>
              </a:rPr>
              <a:t>                [IN |OUT |INOUT] </a:t>
            </a:r>
            <a:r>
              <a:rPr lang="en-US" altLang="zh-CN" b="1" dirty="0" err="1">
                <a:solidFill>
                  <a:srgbClr val="FF0000"/>
                </a:solidFill>
              </a:rPr>
              <a:t>param_name</a:t>
            </a:r>
            <a:r>
              <a:rPr lang="en-US" altLang="zh-CN" b="1" dirty="0">
                <a:solidFill>
                  <a:srgbClr val="FF0000"/>
                </a:solidFill>
              </a:rPr>
              <a:t> TYPE</a:t>
            </a:r>
          </a:p>
          <a:p>
            <a:pPr marL="471487" lvl="1" indent="0">
              <a:buNone/>
              <a:defRPr/>
            </a:pPr>
            <a:r>
              <a:rPr lang="en-US" altLang="zh-CN" b="1" dirty="0">
                <a:solidFill>
                  <a:srgbClr val="0000FF"/>
                </a:solidFill>
              </a:rPr>
              <a:t>RETURNS type </a:t>
            </a:r>
            <a:r>
              <a:rPr lang="zh-CN" altLang="en-US" b="1" dirty="0"/>
              <a:t>表示函数返回数据的类型；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471487" lvl="1" indent="0">
              <a:buNone/>
              <a:defRPr/>
            </a:pPr>
            <a:r>
              <a:rPr lang="en-US" altLang="zh-CN" b="1" dirty="0">
                <a:solidFill>
                  <a:srgbClr val="0000FF"/>
                </a:solidFill>
              </a:rPr>
              <a:t>Characteristics </a:t>
            </a:r>
            <a:r>
              <a:rPr lang="zh-CN" altLang="en-US" b="1" dirty="0"/>
              <a:t>指定存储函数的特性；</a:t>
            </a:r>
            <a:endParaRPr lang="en-US" altLang="zh-CN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97559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685800"/>
            <a:ext cx="7262192" cy="563563"/>
          </a:xfrm>
        </p:spPr>
        <p:txBody>
          <a:bodyPr/>
          <a:lstStyle/>
          <a:p>
            <a:pPr algn="l">
              <a:defRPr/>
            </a:pPr>
            <a:r>
              <a:rPr lang="zh-CN" altLang="zh-CN" sz="2800" dirty="0"/>
              <a:t>创建存储函数</a:t>
            </a:r>
            <a:endParaRPr lang="zh-CN" altLang="en-US" sz="2800" dirty="0"/>
          </a:p>
        </p:txBody>
      </p:sp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39552" y="1556792"/>
            <a:ext cx="7838256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】</a:t>
            </a:r>
          </a:p>
          <a:p>
            <a:pPr>
              <a:defRPr/>
            </a:pPr>
            <a:r>
              <a:rPr lang="en-US" sz="2400" b="1" dirty="0"/>
              <a:t>DELIMITER $$</a:t>
            </a:r>
          </a:p>
          <a:p>
            <a:pPr>
              <a:defRPr/>
            </a:pPr>
            <a:r>
              <a:rPr lang="en-US" sz="2400" b="1" dirty="0"/>
              <a:t>CREATE FUNCTION </a:t>
            </a:r>
            <a:r>
              <a:rPr lang="en-US" sz="2400" b="1" dirty="0" err="1"/>
              <a:t>func_employee_sal</a:t>
            </a:r>
            <a:r>
              <a:rPr lang="en-US" sz="2400" b="1" dirty="0"/>
              <a:t> (</a:t>
            </a:r>
            <a:r>
              <a:rPr lang="en-US" sz="2400" b="1" dirty="0" err="1"/>
              <a:t>empno</a:t>
            </a:r>
            <a:r>
              <a:rPr lang="en-US" sz="2400" b="1" dirty="0"/>
              <a:t> INT)</a:t>
            </a:r>
          </a:p>
          <a:p>
            <a:pPr>
              <a:defRPr/>
            </a:pPr>
            <a:r>
              <a:rPr lang="en-US" sz="2400" b="1" dirty="0"/>
              <a:t>  </a:t>
            </a:r>
            <a:r>
              <a:rPr lang="en-US" sz="2400" b="1" dirty="0">
                <a:solidFill>
                  <a:srgbClr val="0000FF"/>
                </a:solidFill>
              </a:rPr>
              <a:t>RETURNS DECIMAL(20,2)</a:t>
            </a:r>
          </a:p>
          <a:p>
            <a:pPr>
              <a:defRPr/>
            </a:pPr>
            <a:r>
              <a:rPr lang="en-US" sz="2400" b="1" dirty="0"/>
              <a:t>  COMMENT '</a:t>
            </a:r>
            <a:r>
              <a:rPr lang="zh-CN" altLang="en-US" sz="2400" b="1" dirty="0"/>
              <a:t>查询某个雇员的工资</a:t>
            </a:r>
            <a:r>
              <a:rPr lang="en-US" altLang="zh-CN" sz="2400" b="1" dirty="0"/>
              <a:t>'</a:t>
            </a:r>
          </a:p>
          <a:p>
            <a:pPr>
              <a:defRPr/>
            </a:pPr>
            <a:r>
              <a:rPr lang="en-US" sz="2400" b="1" dirty="0"/>
              <a:t>     BEGIN</a:t>
            </a:r>
          </a:p>
          <a:p>
            <a:pPr>
              <a:defRPr/>
            </a:pPr>
            <a:r>
              <a:rPr lang="en-US" sz="2400" b="1" dirty="0"/>
              <a:t>	RETURN (SELECT salary</a:t>
            </a:r>
          </a:p>
          <a:p>
            <a:pPr>
              <a:defRPr/>
            </a:pPr>
            <a:r>
              <a:rPr lang="en-US" sz="2400" b="1" dirty="0"/>
              <a:t>		FROM   </a:t>
            </a:r>
            <a:r>
              <a:rPr lang="en-US" sz="2400" b="1" dirty="0" err="1"/>
              <a:t>eemp</a:t>
            </a:r>
            <a:endParaRPr lang="en-US" sz="2400" b="1" dirty="0"/>
          </a:p>
          <a:p>
            <a:pPr>
              <a:defRPr/>
            </a:pPr>
            <a:r>
              <a:rPr lang="en-US" sz="2400" b="1" dirty="0"/>
              <a:t>		WHERE   </a:t>
            </a:r>
            <a:r>
              <a:rPr lang="en-US" sz="2400" b="1" dirty="0" err="1"/>
              <a:t>eemp.empno</a:t>
            </a:r>
            <a:r>
              <a:rPr lang="en-US" sz="2400" b="1" dirty="0"/>
              <a:t>=</a:t>
            </a:r>
            <a:r>
              <a:rPr lang="en-US" sz="2400" b="1" dirty="0" err="1"/>
              <a:t>empno</a:t>
            </a:r>
            <a:r>
              <a:rPr lang="en-US" sz="2400" b="1" dirty="0"/>
              <a:t>);</a:t>
            </a:r>
          </a:p>
          <a:p>
            <a:pPr>
              <a:defRPr/>
            </a:pPr>
            <a:r>
              <a:rPr lang="en-US" sz="2400" b="1" dirty="0"/>
              <a:t>END$$</a:t>
            </a:r>
          </a:p>
          <a:p>
            <a:pPr>
              <a:defRPr/>
            </a:pPr>
            <a:r>
              <a:rPr lang="en-US" sz="2400" b="1" dirty="0"/>
              <a:t>DELIMITER ;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683568" y="5805264"/>
            <a:ext cx="783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0070C0"/>
                </a:solidFill>
                <a:effectLst/>
                <a:latin typeface="-apple-system"/>
              </a:rPr>
              <a:t>在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-apple-system"/>
              </a:rPr>
              <a:t>MySQL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-apple-system"/>
              </a:rPr>
              <a:t>数据库中，字段或列的注释是用属性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-apple-system"/>
              </a:rPr>
              <a:t>comment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-apple-system"/>
              </a:rPr>
              <a:t>来添加。</a:t>
            </a:r>
            <a:endParaRPr lang="en-US" altLang="zh-CN" sz="2000" b="1" i="0" dirty="0">
              <a:solidFill>
                <a:srgbClr val="0070C0"/>
              </a:solidFill>
              <a:effectLst/>
              <a:latin typeface="-apple-system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52</a:t>
            </a:fld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44706B-7BD5-4FBD-BC00-83C77304B266}"/>
              </a:ext>
            </a:extLst>
          </p:cNvPr>
          <p:cNvSpPr txBox="1"/>
          <p:nvPr/>
        </p:nvSpPr>
        <p:spPr>
          <a:xfrm>
            <a:off x="3347864" y="1201712"/>
            <a:ext cx="54006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DROP FUNCTION IF	  EXISTS </a:t>
            </a:r>
            <a:r>
              <a:rPr lang="en-US" altLang="zh-CN" b="1" dirty="0" err="1"/>
              <a:t>func_employee_sal</a:t>
            </a:r>
            <a:r>
              <a:rPr lang="en-US" altLang="zh-CN" b="1" dirty="0"/>
              <a:t>;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set GLOBAL </a:t>
            </a:r>
            <a:r>
              <a:rPr lang="en-US" altLang="zh-CN" b="1" dirty="0" err="1">
                <a:solidFill>
                  <a:srgbClr val="FF0000"/>
                </a:solidFill>
              </a:rPr>
              <a:t>log_bin_trust_function_creators</a:t>
            </a:r>
            <a:r>
              <a:rPr lang="en-US" altLang="zh-CN" b="1" dirty="0">
                <a:solidFill>
                  <a:srgbClr val="FF0000"/>
                </a:solidFill>
              </a:rPr>
              <a:t>=1;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10D0DA-657B-42B6-B17A-EB2B5D4AE926}"/>
              </a:ext>
            </a:extLst>
          </p:cNvPr>
          <p:cNvSpPr txBox="1"/>
          <p:nvPr/>
        </p:nvSpPr>
        <p:spPr>
          <a:xfrm>
            <a:off x="5587896" y="5064811"/>
            <a:ext cx="352839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set @sal=func_employee_sal(3);</a:t>
            </a:r>
          </a:p>
          <a:p>
            <a:r>
              <a:rPr lang="en-US" altLang="zh-CN" b="1" dirty="0"/>
              <a:t> SELECT @sal;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01590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628800"/>
            <a:ext cx="8229600" cy="4495800"/>
          </a:xfrm>
        </p:spPr>
        <p:txBody>
          <a:bodyPr/>
          <a:lstStyle/>
          <a:p>
            <a:pPr>
              <a:buClr>
                <a:srgbClr val="FF0000"/>
              </a:buClr>
            </a:pPr>
            <a:r>
              <a:rPr lang="zh-CN" altLang="en-US" b="1" dirty="0">
                <a:solidFill>
                  <a:srgbClr val="FF0000"/>
                </a:solidFill>
              </a:rPr>
              <a:t>说明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指定参数为</a:t>
            </a:r>
            <a:r>
              <a:rPr lang="en-US" altLang="zh-CN" b="1" dirty="0">
                <a:solidFill>
                  <a:srgbClr val="FF0000"/>
                </a:solidFill>
              </a:rPr>
              <a:t>IN 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OUT </a:t>
            </a:r>
            <a:r>
              <a:rPr lang="zh-CN" altLang="en-US" b="1" dirty="0">
                <a:solidFill>
                  <a:srgbClr val="FF0000"/>
                </a:solidFill>
              </a:rPr>
              <a:t>或</a:t>
            </a:r>
            <a:r>
              <a:rPr lang="en-US" altLang="zh-CN" b="1" dirty="0">
                <a:solidFill>
                  <a:srgbClr val="FF0000"/>
                </a:solidFill>
              </a:rPr>
              <a:t>INOUT</a:t>
            </a:r>
            <a:r>
              <a:rPr lang="zh-CN" altLang="en-US" b="1" dirty="0"/>
              <a:t>只对</a:t>
            </a:r>
            <a:r>
              <a:rPr lang="en-US" altLang="zh-CN" b="1" dirty="0">
                <a:solidFill>
                  <a:srgbClr val="0000FF"/>
                </a:solidFill>
              </a:rPr>
              <a:t>PROCEDURE</a:t>
            </a:r>
            <a:r>
              <a:rPr lang="zh-CN" altLang="en-US" b="1" dirty="0"/>
              <a:t>是合法的。（</a:t>
            </a:r>
            <a:r>
              <a:rPr lang="en-US" altLang="zh-CN" b="1" dirty="0">
                <a:solidFill>
                  <a:srgbClr val="0000FF"/>
                </a:solidFill>
              </a:rPr>
              <a:t>FUNCTION</a:t>
            </a:r>
            <a:r>
              <a:rPr lang="zh-CN" altLang="en-US" b="1" dirty="0">
                <a:solidFill>
                  <a:srgbClr val="0000FF"/>
                </a:solidFill>
              </a:rPr>
              <a:t>中总是默认为</a:t>
            </a:r>
            <a:r>
              <a:rPr lang="en-US" altLang="zh-CN" b="1" dirty="0">
                <a:solidFill>
                  <a:srgbClr val="0000FF"/>
                </a:solidFill>
              </a:rPr>
              <a:t>IN</a:t>
            </a:r>
            <a:r>
              <a:rPr lang="zh-CN" altLang="en-US" b="1" dirty="0">
                <a:solidFill>
                  <a:srgbClr val="0000FF"/>
                </a:solidFill>
              </a:rPr>
              <a:t>参数</a:t>
            </a:r>
            <a:r>
              <a:rPr lang="zh-CN" altLang="en-US" b="1" dirty="0"/>
              <a:t>）</a:t>
            </a:r>
            <a:r>
              <a:rPr lang="en-US" altLang="zh-CN" b="1" dirty="0">
                <a:solidFill>
                  <a:srgbClr val="0000FF"/>
                </a:solidFill>
              </a:rPr>
              <a:t>RETURNS</a:t>
            </a:r>
            <a:r>
              <a:rPr lang="zh-CN" altLang="en-US" b="1" dirty="0">
                <a:solidFill>
                  <a:srgbClr val="0000FF"/>
                </a:solidFill>
              </a:rPr>
              <a:t>子句只能对</a:t>
            </a:r>
            <a:r>
              <a:rPr lang="en-US" altLang="zh-CN" b="1" dirty="0">
                <a:solidFill>
                  <a:srgbClr val="0000FF"/>
                </a:solidFill>
              </a:rPr>
              <a:t>FUNCTION</a:t>
            </a:r>
            <a:r>
              <a:rPr lang="zh-CN" altLang="en-US" b="1" dirty="0">
                <a:solidFill>
                  <a:srgbClr val="0000FF"/>
                </a:solidFill>
              </a:rPr>
              <a:t>做指定</a:t>
            </a:r>
            <a:r>
              <a:rPr lang="zh-CN" altLang="en-US" b="1" dirty="0"/>
              <a:t>，对函数而言这是强制的。它用来指定函数的返回类型，而且函数体</a:t>
            </a:r>
            <a:r>
              <a:rPr lang="zh-CN" altLang="en-US" b="1" dirty="0">
                <a:solidFill>
                  <a:srgbClr val="0000FF"/>
                </a:solidFill>
              </a:rPr>
              <a:t>必须包含一个</a:t>
            </a:r>
            <a:r>
              <a:rPr lang="en-US" altLang="zh-CN" b="1" dirty="0">
                <a:solidFill>
                  <a:srgbClr val="0000FF"/>
                </a:solidFill>
              </a:rPr>
              <a:t>RETURN values</a:t>
            </a:r>
            <a:r>
              <a:rPr lang="zh-CN" altLang="en-US" b="1" dirty="0">
                <a:solidFill>
                  <a:srgbClr val="0000FF"/>
                </a:solidFill>
              </a:rPr>
              <a:t>语句</a:t>
            </a:r>
            <a:r>
              <a:rPr lang="zh-CN" altLang="en-US" b="1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15981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dirty="0"/>
              <a:t>调用存储过程和函数</a:t>
            </a:r>
            <a:endParaRPr lang="zh-CN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315829"/>
            <a:ext cx="8229600" cy="2880320"/>
          </a:xfrm>
        </p:spPr>
        <p:txBody>
          <a:bodyPr/>
          <a:lstStyle/>
          <a:p>
            <a:pPr>
              <a:buClr>
                <a:srgbClr val="FF0000"/>
              </a:buClr>
            </a:pPr>
            <a:r>
              <a:rPr lang="zh-CN" altLang="zh-CN" sz="2800" b="1" dirty="0">
                <a:solidFill>
                  <a:srgbClr val="FF0000"/>
                </a:solidFill>
              </a:rPr>
              <a:t>调用存储过程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b="1" dirty="0"/>
              <a:t>   </a:t>
            </a:r>
            <a:r>
              <a:rPr lang="zh-CN" altLang="zh-CN" sz="2600" b="1" dirty="0"/>
              <a:t>存储过程的调用是通过</a:t>
            </a:r>
            <a:r>
              <a:rPr lang="en-US" altLang="zh-CN" sz="2600" b="1" dirty="0">
                <a:solidFill>
                  <a:srgbClr val="0000FF"/>
                </a:solidFill>
              </a:rPr>
              <a:t>CALL</a:t>
            </a:r>
            <a:r>
              <a:rPr lang="zh-CN" altLang="zh-CN" sz="2600" b="1" dirty="0"/>
              <a:t>语句进行调用的</a:t>
            </a:r>
            <a:r>
              <a:rPr lang="zh-CN" altLang="en-US" sz="2600" b="1" dirty="0"/>
              <a:t>。</a:t>
            </a:r>
            <a:endParaRPr lang="zh-CN" altLang="zh-CN" sz="2600" b="1" dirty="0"/>
          </a:p>
          <a:p>
            <a:pPr lvl="1"/>
            <a:r>
              <a:rPr lang="en-US" altLang="zh-CN" b="1" dirty="0">
                <a:solidFill>
                  <a:srgbClr val="0000FF"/>
                </a:solidFill>
              </a:rPr>
              <a:t>CALL </a:t>
            </a:r>
            <a:r>
              <a:rPr lang="en-US" altLang="zh-CN" b="1" dirty="0" err="1">
                <a:solidFill>
                  <a:srgbClr val="0000FF"/>
                </a:solidFill>
              </a:rPr>
              <a:t>sp_name</a:t>
            </a:r>
            <a:r>
              <a:rPr lang="en-US" altLang="zh-CN" b="1" dirty="0">
                <a:solidFill>
                  <a:srgbClr val="0000FF"/>
                </a:solidFill>
              </a:rPr>
              <a:t>([parameter[,...]])</a:t>
            </a:r>
            <a:endParaRPr lang="zh-CN" altLang="zh-CN" sz="2800" b="1" dirty="0">
              <a:solidFill>
                <a:srgbClr val="0000FF"/>
              </a:solidFill>
            </a:endParaRPr>
          </a:p>
          <a:p>
            <a:pPr eaLnBrk="1" hangingPunct="1">
              <a:buClr>
                <a:srgbClr val="FF0000"/>
              </a:buClr>
            </a:pPr>
            <a:r>
              <a:rPr lang="zh-CN" altLang="zh-CN" sz="2800" b="1" dirty="0">
                <a:solidFill>
                  <a:srgbClr val="FF0000"/>
                </a:solidFill>
              </a:rPr>
              <a:t>调用存储函数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b="1" dirty="0"/>
              <a:t>    </a:t>
            </a:r>
            <a:r>
              <a:rPr lang="zh-CN" altLang="zh-CN" sz="2500" b="1" dirty="0"/>
              <a:t>存储函数的使用方法与</a:t>
            </a:r>
            <a:r>
              <a:rPr lang="en-US" altLang="zh-CN" sz="2500" b="1" dirty="0"/>
              <a:t>MySQL</a:t>
            </a:r>
            <a:r>
              <a:rPr lang="zh-CN" altLang="zh-CN" sz="2500" b="1" dirty="0"/>
              <a:t>内部函数的使用方法是一样的。</a:t>
            </a:r>
            <a:r>
              <a:rPr lang="en-US" altLang="zh-CN" sz="2000" b="1" dirty="0"/>
              <a:t>set GLOBAL </a:t>
            </a:r>
            <a:r>
              <a:rPr lang="en-US" altLang="zh-CN" sz="2000" b="1" dirty="0" err="1"/>
              <a:t>log_bin_trust_function_creators</a:t>
            </a:r>
            <a:r>
              <a:rPr lang="en-US" altLang="zh-CN" sz="2000" b="1" dirty="0"/>
              <a:t>=1;</a:t>
            </a:r>
            <a:endParaRPr lang="zh-CN" altLang="en-US" sz="2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293096"/>
            <a:ext cx="7373790" cy="2474361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64547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484784"/>
            <a:ext cx="8913168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</a:t>
            </a:r>
            <a:r>
              <a:rPr lang="zh-CN" altLang="en-US" sz="2200" b="1" dirty="0"/>
              <a:t>定义名为</a:t>
            </a:r>
            <a:r>
              <a:rPr lang="en-US" altLang="zh-CN" sz="2200" b="1" dirty="0"/>
              <a:t>CountProc1</a:t>
            </a:r>
            <a:r>
              <a:rPr lang="zh-CN" altLang="en-US" sz="2200" b="1" dirty="0"/>
              <a:t>的存储过程，然后调用这个存储过程，代码执行如下：</a:t>
            </a:r>
          </a:p>
          <a:p>
            <a:pPr marL="0" indent="0">
              <a:buNone/>
            </a:pPr>
            <a:r>
              <a:rPr lang="zh-CN" altLang="en-US" sz="2200" b="1" dirty="0"/>
              <a:t>定义存储过程：</a:t>
            </a:r>
          </a:p>
          <a:p>
            <a:pPr marL="0" indent="0">
              <a:buNone/>
            </a:pPr>
            <a:r>
              <a:rPr lang="zh-CN" altLang="en-US" sz="2200" b="1" dirty="0"/>
              <a:t> </a:t>
            </a:r>
            <a:r>
              <a:rPr lang="en-US" altLang="zh-CN" sz="2200" b="1" dirty="0"/>
              <a:t>DELIMITER //</a:t>
            </a:r>
          </a:p>
          <a:p>
            <a:pPr marL="0" indent="0">
              <a:buNone/>
            </a:pPr>
            <a:r>
              <a:rPr lang="en-US" altLang="zh-CN" sz="2200" b="1" dirty="0"/>
              <a:t> CREATE PROCEDURE CountProc1 (IN </a:t>
            </a:r>
            <a:r>
              <a:rPr lang="en-US" altLang="zh-CN" sz="2200" b="1" dirty="0" err="1"/>
              <a:t>sid</a:t>
            </a:r>
            <a:r>
              <a:rPr lang="en-US" altLang="zh-CN" sz="2200" b="1" dirty="0"/>
              <a:t> INT, OUT </a:t>
            </a:r>
            <a:r>
              <a:rPr lang="en-US" altLang="zh-CN" sz="2200" b="1" dirty="0" err="1"/>
              <a:t>num</a:t>
            </a:r>
            <a:r>
              <a:rPr lang="en-US" altLang="zh-CN" sz="2200" b="1" dirty="0"/>
              <a:t> INT)</a:t>
            </a:r>
          </a:p>
          <a:p>
            <a:pPr marL="0" indent="0">
              <a:buNone/>
            </a:pPr>
            <a:r>
              <a:rPr lang="en-US" altLang="zh-CN" sz="2200" b="1" dirty="0"/>
              <a:t>     BEGIN</a:t>
            </a:r>
          </a:p>
          <a:p>
            <a:pPr marL="0" indent="0">
              <a:buNone/>
            </a:pPr>
            <a:r>
              <a:rPr lang="en-US" altLang="zh-CN" sz="2200" b="1" dirty="0"/>
              <a:t>       SELECT COUNT(*) INTO </a:t>
            </a:r>
            <a:r>
              <a:rPr lang="en-US" altLang="zh-CN" sz="2200" b="1" dirty="0" err="1"/>
              <a:t>num</a:t>
            </a:r>
            <a:r>
              <a:rPr lang="en-US" altLang="zh-CN" sz="2200" b="1" dirty="0"/>
              <a:t> FROM fruits WHERE </a:t>
            </a:r>
            <a:r>
              <a:rPr lang="en-US" altLang="zh-CN" sz="2200" b="1" dirty="0" err="1"/>
              <a:t>s_id</a:t>
            </a:r>
            <a:r>
              <a:rPr lang="en-US" altLang="zh-CN" sz="2200" b="1" dirty="0"/>
              <a:t> = </a:t>
            </a:r>
            <a:r>
              <a:rPr lang="en-US" altLang="zh-CN" sz="2200" b="1" dirty="0" err="1"/>
              <a:t>sid</a:t>
            </a:r>
            <a:r>
              <a:rPr lang="en-US" altLang="zh-CN" sz="2200" b="1" dirty="0"/>
              <a:t>;</a:t>
            </a:r>
          </a:p>
          <a:p>
            <a:pPr marL="0" indent="0">
              <a:buNone/>
            </a:pPr>
            <a:r>
              <a:rPr lang="en-US" altLang="zh-CN" sz="2200" b="1" dirty="0"/>
              <a:t>     END //</a:t>
            </a:r>
          </a:p>
          <a:p>
            <a:pPr marL="0" indent="0">
              <a:buNone/>
            </a:pPr>
            <a:endParaRPr lang="en-US" altLang="zh-CN" sz="2200" b="1" dirty="0"/>
          </a:p>
          <a:p>
            <a:pPr marL="0" indent="0">
              <a:buNone/>
            </a:pPr>
            <a:r>
              <a:rPr lang="en-US" altLang="zh-CN" sz="2200" b="1" dirty="0"/>
              <a:t>  DELIMITER 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75611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461295"/>
            <a:ext cx="8229600" cy="16875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/>
              <a:t>调用存储过程：</a:t>
            </a:r>
          </a:p>
          <a:p>
            <a:pPr marL="0" indent="0"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CALL CountProc1 (2, @num);</a:t>
            </a:r>
          </a:p>
          <a:p>
            <a:pPr marL="0" indent="0">
              <a:buNone/>
            </a:pPr>
            <a:r>
              <a:rPr lang="zh-CN" altLang="en-US" sz="2400" b="1" dirty="0"/>
              <a:t>查看返回结果：</a:t>
            </a:r>
          </a:p>
          <a:p>
            <a:pPr marL="0" indent="0"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select @</a:t>
            </a:r>
            <a:r>
              <a:rPr lang="en-US" altLang="zh-CN" sz="2400" b="1" dirty="0" err="1"/>
              <a:t>num</a:t>
            </a:r>
            <a:r>
              <a:rPr lang="en-US" altLang="zh-CN" sz="2400" b="1" dirty="0"/>
              <a:t>;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56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38F6579-DE55-EC77-5C0F-92A477BC6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284984"/>
            <a:ext cx="3333333" cy="155238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0D35D95-0A67-1035-20BE-AF7B8FA80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869863"/>
            <a:ext cx="3276190" cy="1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698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6613" y="908720"/>
            <a:ext cx="7936706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】</a:t>
            </a:r>
            <a:r>
              <a:rPr lang="zh-CN" altLang="en-US" sz="2400" b="1" dirty="0"/>
              <a:t>定义存储函数</a:t>
            </a:r>
            <a:r>
              <a:rPr lang="en-US" altLang="zh-CN" sz="2400" b="1" dirty="0"/>
              <a:t>CountProc2</a:t>
            </a:r>
            <a:r>
              <a:rPr lang="zh-CN" altLang="en-US" sz="2400" b="1" dirty="0"/>
              <a:t>，然后调用这个函数，代码如下：</a:t>
            </a:r>
          </a:p>
          <a:p>
            <a:pPr marL="0" indent="0"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DELIMITER //</a:t>
            </a:r>
          </a:p>
          <a:p>
            <a:pPr marL="0" indent="0">
              <a:buNone/>
            </a:pPr>
            <a:r>
              <a:rPr lang="en-US" altLang="zh-CN" sz="2400" b="1" dirty="0"/>
              <a:t> CREATE FUNCTION  CountProc2 (</a:t>
            </a:r>
            <a:r>
              <a:rPr lang="en-US" altLang="zh-CN" sz="2400" b="1" dirty="0" err="1"/>
              <a:t>sid</a:t>
            </a:r>
            <a:r>
              <a:rPr lang="en-US" altLang="zh-CN" sz="2400" b="1" dirty="0"/>
              <a:t> INT)</a:t>
            </a:r>
          </a:p>
          <a:p>
            <a:pPr marL="0" indent="0">
              <a:buNone/>
            </a:pPr>
            <a:r>
              <a:rPr lang="en-US" altLang="zh-CN" sz="2400" b="1" dirty="0"/>
              <a:t>     RETURNS INT</a:t>
            </a:r>
          </a:p>
          <a:p>
            <a:pPr marL="0" indent="0">
              <a:buNone/>
            </a:pPr>
            <a:r>
              <a:rPr lang="en-US" altLang="zh-CN" sz="2400" b="1" dirty="0"/>
              <a:t>     BEGIN</a:t>
            </a:r>
          </a:p>
          <a:p>
            <a:pPr marL="0" indent="0">
              <a:buNone/>
            </a:pPr>
            <a:r>
              <a:rPr lang="en-US" altLang="zh-CN" sz="2400" b="1" dirty="0"/>
              <a:t>     RETURN (SELECT COUNT(*) FROM fruits WHERE </a:t>
            </a:r>
            <a:r>
              <a:rPr lang="en-US" altLang="zh-CN" sz="2400" b="1" dirty="0" err="1"/>
              <a:t>s_id</a:t>
            </a:r>
            <a:r>
              <a:rPr lang="en-US" altLang="zh-CN" sz="2400" b="1" dirty="0"/>
              <a:t> = </a:t>
            </a:r>
            <a:r>
              <a:rPr lang="en-US" altLang="zh-CN" sz="2400" b="1" dirty="0" err="1"/>
              <a:t>sid</a:t>
            </a:r>
            <a:r>
              <a:rPr lang="en-US" altLang="zh-CN" sz="2400" b="1" dirty="0"/>
              <a:t>);</a:t>
            </a:r>
          </a:p>
          <a:p>
            <a:pPr marL="0" indent="0">
              <a:buNone/>
            </a:pPr>
            <a:r>
              <a:rPr lang="en-US" altLang="zh-CN" sz="2400" b="1" dirty="0"/>
              <a:t>     END //</a:t>
            </a:r>
          </a:p>
          <a:p>
            <a:pPr marL="0" indent="0">
              <a:buNone/>
            </a:pPr>
            <a:endParaRPr lang="en-US" altLang="zh-CN" sz="700" b="1" dirty="0"/>
          </a:p>
          <a:p>
            <a:pPr marL="0" indent="0">
              <a:buNone/>
            </a:pPr>
            <a:r>
              <a:rPr lang="en-US" altLang="zh-CN" sz="2400" b="1" dirty="0"/>
              <a:t>DELIMITER ;</a:t>
            </a:r>
          </a:p>
          <a:p>
            <a:pPr marL="0" indent="0">
              <a:buNone/>
            </a:pPr>
            <a:r>
              <a:rPr lang="zh-CN" altLang="en-US" sz="2400" b="1" dirty="0"/>
              <a:t>调用存储函数：</a:t>
            </a:r>
          </a:p>
          <a:p>
            <a:pPr marL="0" indent="0"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SELECT CountProc2(2);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5856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dirty="0"/>
              <a:t>查看存储过程和函数</a:t>
            </a:r>
            <a:endParaRPr lang="zh-CN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700808"/>
            <a:ext cx="8229600" cy="4104456"/>
          </a:xfrm>
        </p:spPr>
        <p:txBody>
          <a:bodyPr/>
          <a:lstStyle/>
          <a:p>
            <a:pPr eaLnBrk="1" hangingPunct="1"/>
            <a:r>
              <a:rPr lang="en-US" altLang="zh-CN" sz="2500" b="1" dirty="0">
                <a:solidFill>
                  <a:srgbClr val="FF0000"/>
                </a:solidFill>
              </a:rPr>
              <a:t>SHOW STATUS</a:t>
            </a:r>
            <a:r>
              <a:rPr lang="zh-CN" altLang="zh-CN" sz="2500" b="1" dirty="0"/>
              <a:t>语句查看存储过程和函数的状态</a:t>
            </a:r>
            <a:r>
              <a:rPr lang="zh-CN" altLang="en-US" sz="2500" b="1" dirty="0"/>
              <a:t>。</a:t>
            </a:r>
            <a:endParaRPr lang="en-US" altLang="zh-CN" sz="2500" b="1" dirty="0"/>
          </a:p>
          <a:p>
            <a:pPr marL="0" indent="0" eaLnBrk="1" hangingPunct="1">
              <a:buNone/>
            </a:pPr>
            <a:r>
              <a:rPr lang="en-US" altLang="zh-CN" sz="2400" b="1" dirty="0"/>
              <a:t>   </a:t>
            </a:r>
            <a:r>
              <a:rPr lang="en-US" altLang="zh-CN" sz="2200" b="1" dirty="0">
                <a:solidFill>
                  <a:srgbClr val="0000FF"/>
                </a:solidFill>
              </a:rPr>
              <a:t>SHOW [PROCEDURE| FUNCTION] STATUS [LIKE ‘</a:t>
            </a:r>
            <a:r>
              <a:rPr lang="en-US" altLang="zh-CN" sz="2200" b="1" dirty="0" err="1">
                <a:solidFill>
                  <a:srgbClr val="0000FF"/>
                </a:solidFill>
              </a:rPr>
              <a:t>patern</a:t>
            </a:r>
            <a:r>
              <a:rPr lang="en-US" altLang="zh-CN" sz="2200" b="1" dirty="0">
                <a:solidFill>
                  <a:srgbClr val="0000FF"/>
                </a:solidFill>
              </a:rPr>
              <a:t>’]</a:t>
            </a:r>
            <a:endParaRPr lang="zh-CN" altLang="zh-CN" sz="22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400" b="1" dirty="0"/>
              <a:t>  </a:t>
            </a:r>
            <a:r>
              <a:rPr lang="en-US" altLang="zh-CN" sz="2100" b="1" dirty="0"/>
              <a:t>【</a:t>
            </a:r>
            <a:r>
              <a:rPr lang="zh-CN" altLang="en-US" sz="2100" b="1" dirty="0"/>
              <a:t>例</a:t>
            </a:r>
            <a:r>
              <a:rPr lang="en-US" altLang="zh-CN" sz="2100" b="1" dirty="0"/>
              <a:t>】</a:t>
            </a:r>
            <a:r>
              <a:rPr lang="zh-CN" altLang="en-US" sz="2100" b="1" dirty="0"/>
              <a:t>查看数据库中所有名称以字母</a:t>
            </a:r>
            <a:r>
              <a:rPr lang="en-US" altLang="zh-CN" sz="2100" b="1" dirty="0"/>
              <a:t>’C’</a:t>
            </a:r>
            <a:r>
              <a:rPr lang="zh-CN" altLang="en-US" sz="2100" b="1" dirty="0"/>
              <a:t>开头的存储过程。</a:t>
            </a:r>
            <a:endParaRPr lang="en-US" altLang="zh-CN" sz="2100" b="1" dirty="0"/>
          </a:p>
          <a:p>
            <a:pPr marL="0" indent="0">
              <a:buNone/>
            </a:pPr>
            <a:r>
              <a:rPr lang="en-US" altLang="zh-CN" sz="2100" b="1" dirty="0"/>
              <a:t>         SHOW PROCEDURE STATUS LIKE 'C%’ \G;</a:t>
            </a:r>
          </a:p>
          <a:p>
            <a:pPr marL="0" indent="0">
              <a:buNone/>
            </a:pPr>
            <a:endParaRPr lang="en-US" altLang="zh-CN" sz="800" b="1" dirty="0"/>
          </a:p>
          <a:p>
            <a:pPr eaLnBrk="1" hangingPunct="1"/>
            <a:r>
              <a:rPr lang="en-US" altLang="zh-CN" sz="2500" b="1" dirty="0">
                <a:solidFill>
                  <a:srgbClr val="FF0000"/>
                </a:solidFill>
              </a:rPr>
              <a:t>SHOW CREATE</a:t>
            </a:r>
            <a:r>
              <a:rPr lang="zh-CN" altLang="zh-CN" sz="2500" b="1" dirty="0"/>
              <a:t>语句查看存储过程和函数的定义</a:t>
            </a:r>
            <a:r>
              <a:rPr lang="zh-CN" altLang="en-US" sz="2500" b="1" dirty="0"/>
              <a:t>。</a:t>
            </a:r>
            <a:endParaRPr lang="en-US" altLang="zh-CN" sz="2500" b="1" dirty="0"/>
          </a:p>
          <a:p>
            <a:pPr marL="0" indent="0" eaLnBrk="1" hangingPunct="1">
              <a:buNone/>
            </a:pPr>
            <a:r>
              <a:rPr lang="en-US" altLang="zh-CN" sz="2200" b="1" dirty="0">
                <a:solidFill>
                  <a:srgbClr val="0000FF"/>
                </a:solidFill>
              </a:rPr>
              <a:t>    SHOW CREATE [PROCEDURE| FUNCTION] </a:t>
            </a:r>
            <a:r>
              <a:rPr lang="en-US" altLang="zh-CN" sz="2200" b="1" dirty="0" err="1">
                <a:solidFill>
                  <a:srgbClr val="0000FF"/>
                </a:solidFill>
              </a:rPr>
              <a:t>sp_name</a:t>
            </a:r>
            <a:endParaRPr lang="en-US" altLang="zh-CN" sz="22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100" b="1" dirty="0"/>
              <a:t>  【</a:t>
            </a:r>
            <a:r>
              <a:rPr lang="zh-CN" altLang="en-US" sz="2100" b="1" dirty="0"/>
              <a:t>例</a:t>
            </a:r>
            <a:r>
              <a:rPr lang="en-US" altLang="zh-CN" sz="2100" b="1" dirty="0"/>
              <a:t>】SHOW CREATE</a:t>
            </a:r>
            <a:r>
              <a:rPr lang="zh-CN" altLang="en-US" sz="2100" b="1" dirty="0"/>
              <a:t>语句示例，代码如下：</a:t>
            </a:r>
          </a:p>
          <a:p>
            <a:pPr marL="0" indent="0">
              <a:buNone/>
            </a:pPr>
            <a:r>
              <a:rPr lang="en-US" altLang="zh-CN" sz="2100" b="1" dirty="0"/>
              <a:t>         SHOW CREATE FUNCTION </a:t>
            </a:r>
            <a:r>
              <a:rPr lang="en-US" altLang="zh-CN" sz="2100" b="1" dirty="0" err="1"/>
              <a:t>test_db.CountProc</a:t>
            </a:r>
            <a:r>
              <a:rPr lang="en-US" altLang="zh-CN" sz="2100" b="1" dirty="0"/>
              <a:t> \G;</a:t>
            </a:r>
          </a:p>
          <a:p>
            <a:pPr marL="0" indent="0">
              <a:buNone/>
            </a:pPr>
            <a:r>
              <a:rPr lang="en-US" altLang="zh-CN" sz="2100" b="1" dirty="0">
                <a:solidFill>
                  <a:srgbClr val="FF0000"/>
                </a:solidFill>
              </a:rPr>
              <a:t>\G:</a:t>
            </a:r>
            <a:r>
              <a:rPr lang="zh-CN" altLang="en-US" sz="2100" b="1" dirty="0">
                <a:solidFill>
                  <a:srgbClr val="FF0000"/>
                </a:solidFill>
              </a:rPr>
              <a:t>以记录显示</a:t>
            </a:r>
            <a:endParaRPr lang="zh-CN" altLang="zh-CN" sz="2100" b="1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06134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741488"/>
            <a:ext cx="8579296" cy="4495800"/>
          </a:xfrm>
        </p:spPr>
        <p:txBody>
          <a:bodyPr/>
          <a:lstStyle/>
          <a:p>
            <a:pPr eaLnBrk="1" hangingPunct="1"/>
            <a:r>
              <a:rPr lang="zh-CN" altLang="zh-CN" sz="2600" b="1" dirty="0"/>
              <a:t>从</a:t>
            </a:r>
            <a:r>
              <a:rPr lang="en-US" altLang="zh-CN" sz="2600" b="1" dirty="0" err="1">
                <a:solidFill>
                  <a:srgbClr val="FF0000"/>
                </a:solidFill>
              </a:rPr>
              <a:t>information_schema.Routines</a:t>
            </a:r>
            <a:r>
              <a:rPr lang="zh-CN" altLang="zh-CN" sz="2600" b="1" dirty="0"/>
              <a:t>表中查看存储过程和函数的信息</a:t>
            </a:r>
            <a:endParaRPr lang="en-US" altLang="zh-CN" sz="2600" b="1" dirty="0"/>
          </a:p>
          <a:p>
            <a:pPr marL="0" indent="0">
              <a:buNone/>
            </a:pPr>
            <a:r>
              <a:rPr lang="en-US" altLang="zh-CN" sz="2400" b="1" dirty="0"/>
              <a:t>MySQL</a:t>
            </a:r>
            <a:r>
              <a:rPr lang="zh-CN" altLang="zh-CN" sz="2400" b="1" dirty="0"/>
              <a:t>中存储过程和函数的信息存储在</a:t>
            </a:r>
            <a:r>
              <a:rPr lang="en-US" altLang="zh-CN" sz="2400" b="1" dirty="0" err="1"/>
              <a:t>information_schema</a:t>
            </a:r>
            <a:r>
              <a:rPr lang="zh-CN" altLang="zh-CN" sz="2400" b="1" dirty="0"/>
              <a:t>数据库下的</a:t>
            </a:r>
            <a:r>
              <a:rPr lang="en-US" altLang="zh-CN" sz="2400" b="1" dirty="0"/>
              <a:t>Routines</a:t>
            </a:r>
            <a:r>
              <a:rPr lang="zh-CN" altLang="zh-CN" sz="2400" b="1" dirty="0"/>
              <a:t>表中。可以通过查询该表的记录来查询存储过程和函数的信息。</a:t>
            </a:r>
          </a:p>
          <a:p>
            <a:pPr marL="0" indent="0">
              <a:buNone/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</a:t>
            </a:r>
            <a:r>
              <a:rPr lang="zh-CN" altLang="en-US" sz="2200" b="1" dirty="0"/>
              <a:t>从</a:t>
            </a:r>
            <a:r>
              <a:rPr lang="en-US" altLang="zh-CN" sz="2200" b="1" dirty="0"/>
              <a:t>Routines</a:t>
            </a:r>
            <a:r>
              <a:rPr lang="zh-CN" altLang="en-US" sz="2200" b="1" dirty="0"/>
              <a:t>表中查询名称为</a:t>
            </a:r>
            <a:r>
              <a:rPr lang="en-US" altLang="zh-CN" sz="2200" b="1" dirty="0" err="1"/>
              <a:t>CountProc</a:t>
            </a:r>
            <a:r>
              <a:rPr lang="zh-CN" altLang="en-US" sz="2200" b="1" dirty="0"/>
              <a:t>的存储函数的信息，代码如下：</a:t>
            </a:r>
          </a:p>
          <a:p>
            <a:pPr marL="0" indent="0">
              <a:buNone/>
            </a:pPr>
            <a:r>
              <a:rPr lang="en-US" altLang="zh-CN" sz="2200" b="1" dirty="0"/>
              <a:t>     SELECT * FROM </a:t>
            </a:r>
            <a:r>
              <a:rPr lang="en-US" altLang="zh-CN" sz="2200" b="1" dirty="0" err="1"/>
              <a:t>information_schema.Routines</a:t>
            </a:r>
            <a:endParaRPr lang="en-US" altLang="zh-CN" sz="2200" b="1" dirty="0"/>
          </a:p>
          <a:p>
            <a:pPr marL="0" indent="0">
              <a:buNone/>
            </a:pPr>
            <a:r>
              <a:rPr lang="en-US" altLang="zh-CN" sz="2200" b="1" dirty="0"/>
              <a:t>         WHERE ROUTINE_NAME='</a:t>
            </a:r>
            <a:r>
              <a:rPr lang="en-US" altLang="zh-CN" sz="2200" b="1" dirty="0" err="1"/>
              <a:t>CountProc</a:t>
            </a:r>
            <a:r>
              <a:rPr lang="en-US" altLang="zh-CN" sz="2200" b="1" dirty="0"/>
              <a:t>'  AND  </a:t>
            </a:r>
            <a:br>
              <a:rPr lang="en-US" altLang="zh-CN" sz="2200" b="1" dirty="0"/>
            </a:br>
            <a:r>
              <a:rPr lang="en-US" altLang="zh-CN" sz="2200" b="1" dirty="0"/>
              <a:t>                      ROUTINE_TYPE = 'FUNCTION‘ \G;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9406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62281-3B46-7678-5982-929BC4E4B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E0ED3F-4298-6D36-D04B-66E3CDE81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8BB07F-D82A-8EBB-0D45-ABDF9B3E5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60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7F530C-6C44-0C07-A2DF-8245388AA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5285261"/>
            <a:ext cx="8643388" cy="10393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CF57E04-08A0-FF4E-3037-612E20289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1" y="260648"/>
            <a:ext cx="7391399" cy="490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9781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dirty="0"/>
              <a:t>修改存储过程和函数</a:t>
            </a:r>
            <a:endParaRPr lang="zh-CN" alt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84784"/>
            <a:ext cx="8640960" cy="4495800"/>
          </a:xfrm>
        </p:spPr>
        <p:txBody>
          <a:bodyPr/>
          <a:lstStyle/>
          <a:p>
            <a:r>
              <a:rPr lang="zh-CN" altLang="zh-CN" sz="2600" b="1" dirty="0"/>
              <a:t>使用</a:t>
            </a:r>
            <a:r>
              <a:rPr lang="en-US" altLang="zh-CN" sz="2600" b="1" dirty="0"/>
              <a:t>ALTER</a:t>
            </a:r>
            <a:r>
              <a:rPr lang="zh-CN" altLang="zh-CN" sz="2600" b="1" dirty="0"/>
              <a:t>语句可以修改存储过程或函数的特性。</a:t>
            </a:r>
            <a:endParaRPr lang="en-US" altLang="zh-CN" sz="2600" b="1" dirty="0"/>
          </a:p>
          <a:p>
            <a:pPr lvl="1"/>
            <a:r>
              <a:rPr lang="en-US" altLang="zh-CN" b="1" dirty="0">
                <a:solidFill>
                  <a:srgbClr val="0000FF"/>
                </a:solidFill>
              </a:rPr>
              <a:t>ALTER {PROCEDURE | FUNCTION}   </a:t>
            </a:r>
            <a:r>
              <a:rPr lang="en-US" altLang="zh-CN" b="1" dirty="0" err="1">
                <a:solidFill>
                  <a:srgbClr val="0000FF"/>
                </a:solidFill>
              </a:rPr>
              <a:t>sp_name</a:t>
            </a:r>
            <a:r>
              <a:rPr lang="en-US" altLang="zh-CN" b="1" dirty="0">
                <a:solidFill>
                  <a:srgbClr val="0000FF"/>
                </a:solidFill>
              </a:rPr>
              <a:t> [characteristic ...]</a:t>
            </a:r>
            <a:endParaRPr lang="zh-CN" altLang="zh-CN" b="1" dirty="0">
              <a:solidFill>
                <a:srgbClr val="0000FF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</a:t>
            </a:r>
            <a:r>
              <a:rPr lang="zh-CN" altLang="en-US" sz="2200" b="1" dirty="0"/>
              <a:t>修改存储过程</a:t>
            </a:r>
            <a:r>
              <a:rPr lang="en-US" altLang="zh-CN" sz="2200" b="1" dirty="0" err="1"/>
              <a:t>CountProc</a:t>
            </a:r>
            <a:r>
              <a:rPr lang="zh-CN" altLang="en-US" sz="2200" b="1" dirty="0"/>
              <a:t>的定义。将读写权限改为</a:t>
            </a:r>
            <a:r>
              <a:rPr lang="en-US" altLang="zh-CN" sz="2200" b="1" dirty="0"/>
              <a:t>MODIFIES SQL DATA</a:t>
            </a:r>
            <a:r>
              <a:rPr lang="zh-CN" altLang="en-US" sz="2200" b="1" dirty="0"/>
              <a:t>，并指明调用者可以执行，代码如下：</a:t>
            </a:r>
          </a:p>
          <a:p>
            <a:pPr marL="400050" lvl="1" indent="0">
              <a:buNone/>
            </a:pPr>
            <a:r>
              <a:rPr lang="en-US" altLang="zh-CN" sz="2200" b="1" dirty="0">
                <a:solidFill>
                  <a:srgbClr val="0070C0"/>
                </a:solidFill>
              </a:rPr>
              <a:t>ALTER  PROCEDURE  </a:t>
            </a:r>
            <a:r>
              <a:rPr lang="en-US" altLang="zh-CN" sz="2200" b="1" dirty="0" err="1">
                <a:solidFill>
                  <a:srgbClr val="0070C0"/>
                </a:solidFill>
              </a:rPr>
              <a:t>CountProc</a:t>
            </a:r>
            <a:r>
              <a:rPr lang="en-US" altLang="zh-CN" sz="2200" b="1" dirty="0">
                <a:solidFill>
                  <a:srgbClr val="0070C0"/>
                </a:solidFill>
              </a:rPr>
              <a:t>  </a:t>
            </a:r>
          </a:p>
          <a:p>
            <a:pPr marL="400050" lvl="1" indent="0">
              <a:buNone/>
            </a:pPr>
            <a:r>
              <a:rPr lang="en-US" altLang="zh-CN" sz="2200" b="1" dirty="0">
                <a:solidFill>
                  <a:srgbClr val="0070C0"/>
                </a:solidFill>
              </a:rPr>
              <a:t>MODIFIES SQL DATA</a:t>
            </a:r>
          </a:p>
          <a:p>
            <a:pPr marL="400050" lvl="1" indent="0">
              <a:buNone/>
            </a:pPr>
            <a:r>
              <a:rPr lang="en-US" altLang="zh-CN" sz="2200" b="1" dirty="0">
                <a:solidFill>
                  <a:srgbClr val="0070C0"/>
                </a:solidFill>
              </a:rPr>
              <a:t>SQL SECURITY INVOKER ; </a:t>
            </a:r>
          </a:p>
          <a:p>
            <a:pPr marL="400050" lvl="1" indent="0">
              <a:buNone/>
            </a:pPr>
            <a:endParaRPr lang="en-US" altLang="zh-CN" sz="1800" b="1" dirty="0"/>
          </a:p>
          <a:p>
            <a:pPr marL="400050" lvl="1" indent="0">
              <a:buNone/>
            </a:pPr>
            <a:r>
              <a:rPr lang="en-US" altLang="zh-CN" sz="1800" b="1" dirty="0"/>
              <a:t>//</a:t>
            </a:r>
            <a:r>
              <a:rPr lang="zh-CN" altLang="en-US" sz="1800" b="1" dirty="0"/>
              <a:t>查询修改后的</a:t>
            </a:r>
            <a:r>
              <a:rPr lang="en-US" altLang="zh-CN" sz="1800" b="1" dirty="0" err="1"/>
              <a:t>CountProc</a:t>
            </a:r>
            <a:r>
              <a:rPr lang="zh-CN" altLang="en-US" sz="1800" b="1" dirty="0"/>
              <a:t>表信息  </a:t>
            </a:r>
          </a:p>
          <a:p>
            <a:pPr marL="400050" lvl="1" indent="0">
              <a:buNone/>
            </a:pPr>
            <a:r>
              <a:rPr lang="zh-CN" altLang="en-US" sz="2200" b="1" dirty="0">
                <a:solidFill>
                  <a:srgbClr val="0070C0"/>
                </a:solidFill>
              </a:rPr>
              <a:t> </a:t>
            </a:r>
            <a:r>
              <a:rPr lang="en-US" altLang="zh-CN" sz="1800" b="1" dirty="0"/>
              <a:t>SELECT SPECIFIC_NAME,SQL_DATA_ACCESS,SECURITY_TYPE</a:t>
            </a:r>
          </a:p>
          <a:p>
            <a:pPr marL="400050" lvl="1" indent="0">
              <a:buNone/>
            </a:pPr>
            <a:r>
              <a:rPr lang="en-US" altLang="zh-CN" sz="1800" b="1" dirty="0"/>
              <a:t>      FROM </a:t>
            </a:r>
            <a:r>
              <a:rPr lang="en-US" altLang="zh-CN" sz="1800" b="1" dirty="0" err="1"/>
              <a:t>information_schema.Routines</a:t>
            </a:r>
            <a:endParaRPr lang="en-US" altLang="zh-CN" sz="1800" b="1" dirty="0"/>
          </a:p>
          <a:p>
            <a:pPr marL="400050" lvl="1" indent="0">
              <a:buNone/>
            </a:pPr>
            <a:r>
              <a:rPr lang="en-US" altLang="zh-CN" sz="1800" b="1" dirty="0"/>
              <a:t>     WHERE ROUTINE_NAME='</a:t>
            </a:r>
            <a:r>
              <a:rPr lang="en-US" altLang="zh-CN" sz="1800" b="1" dirty="0" err="1"/>
              <a:t>CountProc</a:t>
            </a:r>
            <a:r>
              <a:rPr lang="en-US" altLang="zh-CN" sz="1800" b="1" dirty="0"/>
              <a:t>' AND ROUTINE_TYPE='PROCEDURE';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3801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9" y="1556792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】</a:t>
            </a:r>
            <a:r>
              <a:rPr lang="zh-CN" altLang="en-US" sz="2400" b="1" dirty="0"/>
              <a:t>修改存储函数</a:t>
            </a:r>
            <a:r>
              <a:rPr lang="en-US" altLang="zh-CN" sz="2400" b="1" dirty="0" err="1"/>
              <a:t>CountProc</a:t>
            </a:r>
            <a:r>
              <a:rPr lang="zh-CN" altLang="en-US" sz="2400" b="1" dirty="0"/>
              <a:t>的定义。将读写权限改为</a:t>
            </a:r>
            <a:r>
              <a:rPr lang="en-US" altLang="zh-CN" sz="2400" b="1" dirty="0"/>
              <a:t>READS SQL DATA</a:t>
            </a:r>
            <a:r>
              <a:rPr lang="zh-CN" altLang="en-US" sz="2400" b="1" dirty="0"/>
              <a:t>，并加上注释信息“</a:t>
            </a:r>
            <a:r>
              <a:rPr lang="en-US" altLang="zh-CN" sz="2400" b="1" dirty="0"/>
              <a:t>FIND NAME”</a:t>
            </a:r>
            <a:r>
              <a:rPr lang="zh-CN" altLang="en-US" sz="2400" b="1" dirty="0"/>
              <a:t>，代码如下：</a:t>
            </a:r>
          </a:p>
          <a:p>
            <a:pPr marL="400050" lvl="1" indent="0">
              <a:buNone/>
            </a:pPr>
            <a:r>
              <a:rPr lang="en-US" altLang="zh-CN" sz="2300" b="1" dirty="0">
                <a:solidFill>
                  <a:srgbClr val="0070C0"/>
                </a:solidFill>
              </a:rPr>
              <a:t>ALTER  FUNCTION  </a:t>
            </a:r>
            <a:r>
              <a:rPr lang="en-US" altLang="zh-CN" sz="2300" b="1" dirty="0" err="1">
                <a:solidFill>
                  <a:srgbClr val="0070C0"/>
                </a:solidFill>
              </a:rPr>
              <a:t>CountProc</a:t>
            </a:r>
            <a:endParaRPr lang="en-US" altLang="zh-CN" sz="2300" b="1" dirty="0">
              <a:solidFill>
                <a:srgbClr val="0070C0"/>
              </a:solidFill>
            </a:endParaRPr>
          </a:p>
          <a:p>
            <a:pPr marL="400050" lvl="1" indent="0">
              <a:buNone/>
            </a:pPr>
            <a:r>
              <a:rPr lang="en-US" altLang="zh-CN" sz="2300" b="1" dirty="0">
                <a:solidFill>
                  <a:srgbClr val="0070C0"/>
                </a:solidFill>
              </a:rPr>
              <a:t>READS SQL DATA  </a:t>
            </a:r>
          </a:p>
          <a:p>
            <a:pPr marL="400050" lvl="1" indent="0">
              <a:buNone/>
            </a:pPr>
            <a:r>
              <a:rPr lang="en-US" altLang="zh-CN" sz="2300" b="1" dirty="0">
                <a:solidFill>
                  <a:srgbClr val="0070C0"/>
                </a:solidFill>
              </a:rPr>
              <a:t>COMMENT 'FIND NAME' ; </a:t>
            </a:r>
            <a:endParaRPr lang="zh-CN" altLang="en-US" sz="2300" b="1" dirty="0">
              <a:solidFill>
                <a:srgbClr val="0070C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70188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删除存储过程和函数</a:t>
            </a:r>
            <a:endParaRPr lang="zh-CN" altLang="en-US" dirty="0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566738" y="1752600"/>
            <a:ext cx="8272462" cy="4267200"/>
          </a:xfrm>
        </p:spPr>
        <p:txBody>
          <a:bodyPr/>
          <a:lstStyle/>
          <a:p>
            <a:r>
              <a:rPr lang="zh-CN" altLang="zh-CN" b="1" dirty="0"/>
              <a:t>删除存储过程和函数，可以使用</a:t>
            </a:r>
            <a:r>
              <a:rPr lang="en-US" altLang="zh-CN" b="1" dirty="0"/>
              <a:t>DROP</a:t>
            </a:r>
            <a:r>
              <a:rPr lang="zh-CN" altLang="zh-CN" b="1" dirty="0"/>
              <a:t>语句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lvl="1"/>
            <a:r>
              <a:rPr lang="en-US" altLang="zh-CN" b="1" dirty="0">
                <a:solidFill>
                  <a:srgbClr val="0000FF"/>
                </a:solidFill>
              </a:rPr>
              <a:t>DROP {PROCEDURE | FUNCTION} [IF    EXISTS] </a:t>
            </a:r>
            <a:r>
              <a:rPr lang="en-US" altLang="zh-CN" b="1" dirty="0" err="1">
                <a:solidFill>
                  <a:srgbClr val="0000FF"/>
                </a:solidFill>
              </a:rPr>
              <a:t>sp_name</a:t>
            </a:r>
            <a:endParaRPr lang="zh-CN" altLang="zh-CN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altLang="zh-CN" sz="800" b="1" dirty="0"/>
          </a:p>
          <a:p>
            <a:pPr marL="0" indent="0">
              <a:buNone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】</a:t>
            </a:r>
            <a:r>
              <a:rPr lang="zh-CN" altLang="en-US" sz="2400" b="1" dirty="0"/>
              <a:t>删除存储过程和存储函数，代码如下：</a:t>
            </a:r>
          </a:p>
          <a:p>
            <a:pPr marL="400050" lvl="1" indent="0">
              <a:buNone/>
            </a:pPr>
            <a:r>
              <a:rPr lang="en-US" altLang="zh-CN" sz="2300" b="1" dirty="0"/>
              <a:t>DROP PROCEDURE </a:t>
            </a:r>
            <a:r>
              <a:rPr lang="en-US" altLang="zh-CN" sz="2300" b="1" dirty="0" err="1"/>
              <a:t>CountProc</a:t>
            </a:r>
            <a:r>
              <a:rPr lang="en-US" altLang="zh-CN" sz="2300" b="1" dirty="0"/>
              <a:t>;</a:t>
            </a:r>
          </a:p>
          <a:p>
            <a:pPr marL="400050" lvl="1" indent="0">
              <a:buNone/>
            </a:pPr>
            <a:r>
              <a:rPr lang="en-US" altLang="zh-CN" sz="2300" b="1" dirty="0"/>
              <a:t>DROP FUNCTION </a:t>
            </a:r>
            <a:r>
              <a:rPr lang="en-US" altLang="zh-CN" sz="2300" b="1" dirty="0" err="1"/>
              <a:t>CountProc</a:t>
            </a:r>
            <a:r>
              <a:rPr lang="en-US" altLang="zh-CN" sz="2300" b="1" dirty="0"/>
              <a:t>;</a:t>
            </a:r>
            <a:endParaRPr lang="zh-CN" altLang="en-US" sz="23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88763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变量定义和使用</a:t>
            </a:r>
            <a:endParaRPr lang="en-US" altLang="zh-CN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" name="Rectangle 1"/>
          <p:cNvSpPr>
            <a:spLocks noChangeArrowheads="1"/>
          </p:cNvSpPr>
          <p:nvPr/>
        </p:nvSpPr>
        <p:spPr bwMode="auto">
          <a:xfrm>
            <a:off x="543718" y="1341408"/>
            <a:ext cx="8492777" cy="5124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>
              <a:spcBef>
                <a:spcPts val="600"/>
              </a:spcBef>
            </a:pP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从变量的生存期和作用域范围来看，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有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种类型变量：</a:t>
            </a:r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buSzPct val="5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用户会话变量  </a:t>
            </a:r>
            <a:endParaRPr lang="en-US" altLang="zh-CN" sz="2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spcBef>
                <a:spcPts val="600"/>
              </a:spcBef>
              <a:buSzPct val="50000"/>
            </a:pPr>
            <a:r>
              <a:rPr lang="en-US" altLang="zh-C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某一用户会话连接空间内定义的变量，生命周期从用户在客户端与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数据库服务器建立连接开始，到客户端与服务器断开连接的整个期间。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spcBef>
                <a:spcPts val="600"/>
              </a:spcBef>
              <a:buSzPct val="50000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用户会话变量无需提前定义和赋值，直接写变量名（前面加“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”）即可使用。未赋值的初值为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，赋值语句用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语句和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语句。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spcBef>
                <a:spcPts val="600"/>
              </a:spcBef>
              <a:buSzPct val="50000"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如：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SET @num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:=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1;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（或 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SET @num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1;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spcBef>
                <a:spcPts val="600"/>
              </a:spcBef>
              <a:buSzPct val="50000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       SELECT  1 INTO  @num;  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或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SELECT @num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:=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1;</a:t>
            </a:r>
          </a:p>
          <a:p>
            <a:pPr marL="342900" indent="-342900">
              <a:spcBef>
                <a:spcPts val="600"/>
              </a:spcBef>
              <a:buSzPct val="5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局部变量 </a:t>
            </a:r>
            <a:endParaRPr lang="en-US" altLang="zh-CN" sz="2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spcBef>
                <a:spcPts val="600"/>
              </a:spcBef>
              <a:buSzPct val="50000"/>
            </a:pPr>
            <a:r>
              <a:rPr lang="en-US" altLang="zh-C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程序代码的语句块（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BEGIN…END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）内部定义的变量，其作用域仅限于定义该变量的语句块。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buSzPct val="5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系统变量</a:t>
            </a:r>
            <a:endParaRPr lang="en-US" altLang="zh-CN" sz="2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spcBef>
                <a:spcPts val="600"/>
              </a:spcBef>
              <a:buSzPct val="50000"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由</a:t>
            </a:r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自动创建的变量，系统变量名前面有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”@@”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前缀，通常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的调优工作会涉及这些系统变量的调整。系统变量分为全局变量（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）和会话变量（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SESSION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13696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关于存储过程和函数的表达式</a:t>
            </a:r>
          </a:p>
        </p:txBody>
      </p:sp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" name="Rectangle 1"/>
          <p:cNvSpPr>
            <a:spLocks noChangeArrowheads="1"/>
          </p:cNvSpPr>
          <p:nvPr/>
        </p:nvSpPr>
        <p:spPr bwMode="auto">
          <a:xfrm>
            <a:off x="470688" y="1454006"/>
            <a:ext cx="8278824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局部变量：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．声明变量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中定义变量通过关键字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来实现，其语法形式如下：</a:t>
            </a:r>
            <a:endParaRPr lang="zh-CN" altLang="en-US" sz="2400" b="1" dirty="0"/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var_name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[,</a:t>
            </a:r>
            <a:r>
              <a:rPr lang="en-US" altLang="zh-CN" sz="2400" b="1" dirty="0">
                <a:solidFill>
                  <a:srgbClr val="0000FF"/>
                </a:solidFill>
                <a:cs typeface="Courier New" panose="02070309020205020404" pitchFamily="49" charset="0"/>
              </a:rPr>
              <a:t>…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type [DEFAULT value]</a:t>
            </a:r>
          </a:p>
          <a:p>
            <a:endParaRPr lang="en-US" altLang="zh-CN" sz="2400" b="1" dirty="0">
              <a:solidFill>
                <a:srgbClr val="0000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．赋值变量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中为变量赋值通过关键字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来实现，其语法形式如下：</a:t>
            </a:r>
            <a:endParaRPr lang="zh-CN" altLang="en-US" sz="2400" b="1" dirty="0"/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var_name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expr [,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var_name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expr] ...;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43009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变量的使用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741488"/>
            <a:ext cx="8325172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4】</a:t>
            </a:r>
            <a:r>
              <a:rPr lang="zh-CN" altLang="en-US" sz="2400" b="1" dirty="0"/>
              <a:t>定义名称为</a:t>
            </a:r>
            <a:r>
              <a:rPr lang="en-US" altLang="zh-CN" sz="2400" b="1" dirty="0" err="1"/>
              <a:t>myparam</a:t>
            </a:r>
            <a:r>
              <a:rPr lang="zh-CN" altLang="en-US" sz="2400" b="1" dirty="0"/>
              <a:t>的变量，类型为</a:t>
            </a:r>
            <a:r>
              <a:rPr lang="en-US" altLang="zh-CN" sz="2400" b="1" dirty="0"/>
              <a:t>INT</a:t>
            </a:r>
            <a:r>
              <a:rPr lang="zh-CN" altLang="en-US" sz="2400" b="1" dirty="0"/>
              <a:t>类型，默认值为</a:t>
            </a:r>
            <a:r>
              <a:rPr lang="en-US" altLang="zh-CN" sz="2400" b="1" dirty="0"/>
              <a:t>100</a:t>
            </a:r>
            <a:r>
              <a:rPr lang="zh-CN" altLang="en-US" sz="2400" b="1" dirty="0"/>
              <a:t>，代码如下：</a:t>
            </a:r>
          </a:p>
          <a:p>
            <a:pPr marL="0" indent="0"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>
                <a:solidFill>
                  <a:srgbClr val="0000FF"/>
                </a:solidFill>
              </a:rPr>
              <a:t>DECLARE  </a:t>
            </a:r>
            <a:r>
              <a:rPr lang="en-US" altLang="zh-CN" sz="2400" b="1" dirty="0" err="1">
                <a:solidFill>
                  <a:srgbClr val="0000FF"/>
                </a:solidFill>
              </a:rPr>
              <a:t>myparam</a:t>
            </a:r>
            <a:r>
              <a:rPr lang="en-US" altLang="zh-CN" sz="2400" b="1" dirty="0">
                <a:solidFill>
                  <a:srgbClr val="0000FF"/>
                </a:solidFill>
              </a:rPr>
              <a:t>  INT  DEFAULT 100;</a:t>
            </a:r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5】</a:t>
            </a:r>
            <a:r>
              <a:rPr lang="zh-CN" altLang="en-US" sz="2400" b="1" dirty="0"/>
              <a:t>声明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个变量，分别为</a:t>
            </a:r>
            <a:r>
              <a:rPr lang="en-US" altLang="zh-CN" sz="2400" b="1" dirty="0"/>
              <a:t>var1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var2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var3</a:t>
            </a:r>
            <a:r>
              <a:rPr lang="zh-CN" altLang="en-US" sz="2400" b="1" dirty="0"/>
              <a:t>，数据类型为</a:t>
            </a:r>
            <a:r>
              <a:rPr lang="en-US" altLang="zh-CN" sz="2400" b="1" dirty="0"/>
              <a:t>INT</a:t>
            </a:r>
            <a:r>
              <a:rPr lang="zh-CN" altLang="en-US" sz="2400" b="1" dirty="0"/>
              <a:t>，使用</a:t>
            </a:r>
            <a:r>
              <a:rPr lang="en-US" altLang="zh-CN" sz="2400" b="1" dirty="0"/>
              <a:t>SET</a:t>
            </a:r>
            <a:r>
              <a:rPr lang="zh-CN" altLang="en-US" sz="2400" b="1" dirty="0"/>
              <a:t>为变量赋值，代码如下：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DECLARE var1</a:t>
            </a:r>
            <a:r>
              <a:rPr lang="en-US" altLang="zh-CN" sz="2400" b="1" dirty="0">
                <a:solidFill>
                  <a:srgbClr val="FF0000"/>
                </a:solidFill>
              </a:rPr>
              <a:t>,</a:t>
            </a:r>
            <a:r>
              <a:rPr lang="en-US" altLang="zh-CN" sz="2400" b="1" dirty="0">
                <a:solidFill>
                  <a:srgbClr val="0000FF"/>
                </a:solidFill>
              </a:rPr>
              <a:t> var2</a:t>
            </a:r>
            <a:r>
              <a:rPr lang="en-US" altLang="zh-CN" sz="2400" b="1" dirty="0">
                <a:solidFill>
                  <a:srgbClr val="FF0000"/>
                </a:solidFill>
              </a:rPr>
              <a:t>, </a:t>
            </a:r>
            <a:r>
              <a:rPr lang="en-US" altLang="zh-CN" sz="2400" b="1" dirty="0">
                <a:solidFill>
                  <a:srgbClr val="0000FF"/>
                </a:solidFill>
              </a:rPr>
              <a:t>var3 INT;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SET var1 = 10</a:t>
            </a:r>
            <a:r>
              <a:rPr lang="en-US" altLang="zh-CN" sz="2400" b="1" dirty="0">
                <a:solidFill>
                  <a:srgbClr val="FF0000"/>
                </a:solidFill>
              </a:rPr>
              <a:t>, </a:t>
            </a:r>
            <a:r>
              <a:rPr lang="en-US" altLang="zh-CN" sz="2400" b="1" dirty="0">
                <a:solidFill>
                  <a:srgbClr val="0000FF"/>
                </a:solidFill>
              </a:rPr>
              <a:t>var2 = 20;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SET var3 = var1 + var2;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24862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变量的使用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266700" y="1700808"/>
            <a:ext cx="8686800" cy="4495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当为变量赋值时，除了上述语法外，还可以通过关键字“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SELECT……INTO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语句来实现，其语法形式如下：</a:t>
            </a:r>
            <a:endParaRPr lang="zh-CN" altLang="en-US" b="1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field_name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[,</a:t>
            </a:r>
            <a:r>
              <a:rPr lang="en-US" altLang="zh-CN" b="1" dirty="0">
                <a:solidFill>
                  <a:srgbClr val="0000FF"/>
                </a:solidFill>
                <a:cs typeface="Courier New" panose="02070309020205020404" pitchFamily="49" charset="0"/>
              </a:rPr>
              <a:t>…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INTO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var_name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[,</a:t>
            </a:r>
            <a:r>
              <a:rPr lang="en-US" altLang="zh-CN" b="1" dirty="0">
                <a:solidFill>
                  <a:srgbClr val="0000FF"/>
                </a:solidFill>
                <a:cs typeface="Courier New" panose="02070309020205020404" pitchFamily="49" charset="0"/>
              </a:rPr>
              <a:t>…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FROM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WHERE condition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99669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变量的使用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556792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6】</a:t>
            </a:r>
            <a:r>
              <a:rPr lang="zh-CN" altLang="en-US" sz="2400" b="1" dirty="0"/>
              <a:t>声明变量</a:t>
            </a:r>
            <a:r>
              <a:rPr lang="en-US" altLang="zh-CN" sz="2400" b="1" dirty="0" err="1"/>
              <a:t>fruitname</a:t>
            </a:r>
            <a:r>
              <a:rPr lang="zh-CN" altLang="en-US" sz="2400" b="1" dirty="0"/>
              <a:t>和</a:t>
            </a:r>
            <a:r>
              <a:rPr lang="en-US" altLang="zh-CN" sz="2400" b="1" dirty="0" err="1"/>
              <a:t>fruitprice</a:t>
            </a:r>
            <a:r>
              <a:rPr lang="zh-CN" altLang="en-US" sz="2400" b="1" dirty="0"/>
              <a:t>，通过</a:t>
            </a:r>
            <a:r>
              <a:rPr lang="en-US" altLang="zh-CN" sz="2400" b="1" dirty="0"/>
              <a:t>SELECT ... INTO</a:t>
            </a:r>
            <a:r>
              <a:rPr lang="zh-CN" altLang="en-US" sz="2400" b="1" dirty="0"/>
              <a:t>语句查询指定记录并为变量赋值，代码如下：</a:t>
            </a:r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DECLARE </a:t>
            </a:r>
            <a:r>
              <a:rPr lang="en-US" altLang="zh-CN" sz="2400" b="1" dirty="0" err="1">
                <a:solidFill>
                  <a:srgbClr val="0000FF"/>
                </a:solidFill>
              </a:rPr>
              <a:t>fruitname</a:t>
            </a:r>
            <a:r>
              <a:rPr lang="en-US" altLang="zh-CN" sz="2400" b="1" dirty="0">
                <a:solidFill>
                  <a:srgbClr val="0000FF"/>
                </a:solidFill>
              </a:rPr>
              <a:t> CHAR(50);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DECLARE </a:t>
            </a:r>
            <a:r>
              <a:rPr lang="en-US" altLang="zh-CN" sz="2400" b="1" dirty="0" err="1">
                <a:solidFill>
                  <a:srgbClr val="0000FF"/>
                </a:solidFill>
              </a:rPr>
              <a:t>fruitprice</a:t>
            </a:r>
            <a:r>
              <a:rPr lang="en-US" altLang="zh-CN" sz="2400" b="1" dirty="0">
                <a:solidFill>
                  <a:srgbClr val="0000FF"/>
                </a:solidFill>
              </a:rPr>
              <a:t> DECIMAL(8,2);</a:t>
            </a:r>
          </a:p>
          <a:p>
            <a:pPr marL="0" indent="0">
              <a:buNone/>
            </a:pPr>
            <a:endParaRPr lang="en-US" altLang="zh-CN" sz="6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SELECT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dirty="0" err="1">
                <a:solidFill>
                  <a:srgbClr val="0000FF"/>
                </a:solidFill>
              </a:rPr>
              <a:t>f_name</a:t>
            </a:r>
            <a:r>
              <a:rPr lang="en-US" altLang="zh-CN" sz="2400" b="1" dirty="0">
                <a:solidFill>
                  <a:srgbClr val="0000FF"/>
                </a:solidFill>
              </a:rPr>
              <a:t>, </a:t>
            </a:r>
            <a:r>
              <a:rPr lang="en-US" altLang="zh-CN" sz="2400" b="1" dirty="0" err="1">
                <a:solidFill>
                  <a:srgbClr val="0000FF"/>
                </a:solidFill>
              </a:rPr>
              <a:t>f_price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INTO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dirty="0" err="1">
                <a:solidFill>
                  <a:srgbClr val="0000FF"/>
                </a:solidFill>
              </a:rPr>
              <a:t>fruitname</a:t>
            </a:r>
            <a:r>
              <a:rPr lang="en-US" altLang="zh-CN" sz="2400" b="1" dirty="0">
                <a:solidFill>
                  <a:srgbClr val="0000FF"/>
                </a:solidFill>
              </a:rPr>
              <a:t>, </a:t>
            </a:r>
            <a:r>
              <a:rPr lang="en-US" altLang="zh-CN" sz="2400" b="1" dirty="0" err="1">
                <a:solidFill>
                  <a:srgbClr val="0000FF"/>
                </a:solidFill>
              </a:rPr>
              <a:t>fruitprice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FROM  fruits WHERE </a:t>
            </a:r>
            <a:r>
              <a:rPr lang="en-US" altLang="zh-CN" sz="2400" b="1" dirty="0" err="1">
                <a:solidFill>
                  <a:srgbClr val="0000FF"/>
                </a:solidFill>
              </a:rPr>
              <a:t>f_id</a:t>
            </a:r>
            <a:r>
              <a:rPr lang="en-US" altLang="zh-CN" sz="2400" b="1" dirty="0">
                <a:solidFill>
                  <a:srgbClr val="0000FF"/>
                </a:solidFill>
              </a:rPr>
              <a:t> ='a1';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961503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流程控制的使用</a:t>
            </a:r>
            <a:endParaRPr lang="zh-CN" altLang="en-US" dirty="0"/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1</a:t>
            </a:r>
            <a:r>
              <a:rPr lang="zh-CN" altLang="zh-CN" b="1" dirty="0"/>
              <a:t>．</a:t>
            </a:r>
            <a:r>
              <a:rPr lang="en-US" altLang="zh-CN" b="1" dirty="0"/>
              <a:t>IF</a:t>
            </a:r>
            <a:r>
              <a:rPr lang="zh-CN" altLang="zh-CN" b="1" dirty="0"/>
              <a:t>语句</a:t>
            </a:r>
          </a:p>
          <a:p>
            <a:r>
              <a:rPr lang="en-US" altLang="zh-CN" b="1" dirty="0"/>
              <a:t>2</a:t>
            </a:r>
            <a:r>
              <a:rPr lang="zh-CN" altLang="zh-CN" b="1" dirty="0"/>
              <a:t>．</a:t>
            </a:r>
            <a:r>
              <a:rPr lang="en-US" altLang="zh-CN" b="1" dirty="0"/>
              <a:t>CASE</a:t>
            </a:r>
            <a:r>
              <a:rPr lang="zh-CN" altLang="zh-CN" b="1" dirty="0"/>
              <a:t>语句</a:t>
            </a:r>
          </a:p>
          <a:p>
            <a:r>
              <a:rPr lang="en-US" altLang="zh-CN" b="1" dirty="0"/>
              <a:t>3</a:t>
            </a:r>
            <a:r>
              <a:rPr lang="zh-CN" altLang="zh-CN" b="1" dirty="0"/>
              <a:t>．</a:t>
            </a:r>
            <a:r>
              <a:rPr lang="en-US" altLang="zh-CN" b="1" dirty="0"/>
              <a:t>LOOP</a:t>
            </a:r>
            <a:r>
              <a:rPr lang="zh-CN" altLang="zh-CN" b="1" dirty="0"/>
              <a:t>语句</a:t>
            </a:r>
          </a:p>
          <a:p>
            <a:r>
              <a:rPr lang="en-US" altLang="zh-CN" b="1" dirty="0"/>
              <a:t>4</a:t>
            </a:r>
            <a:r>
              <a:rPr lang="zh-CN" altLang="zh-CN" b="1" dirty="0"/>
              <a:t>．</a:t>
            </a:r>
            <a:r>
              <a:rPr lang="en-US" altLang="zh-CN" b="1" dirty="0"/>
              <a:t>LEAVE</a:t>
            </a:r>
            <a:r>
              <a:rPr lang="zh-CN" altLang="zh-CN" b="1" dirty="0"/>
              <a:t>语句</a:t>
            </a:r>
          </a:p>
          <a:p>
            <a:r>
              <a:rPr lang="en-US" altLang="zh-CN" b="1" dirty="0"/>
              <a:t>5</a:t>
            </a:r>
            <a:r>
              <a:rPr lang="zh-CN" altLang="zh-CN" b="1" dirty="0"/>
              <a:t>．</a:t>
            </a:r>
            <a:r>
              <a:rPr lang="en-US" altLang="zh-CN" b="1" dirty="0"/>
              <a:t>ITERATE</a:t>
            </a:r>
            <a:r>
              <a:rPr lang="zh-CN" altLang="zh-CN" b="1" dirty="0"/>
              <a:t>语句</a:t>
            </a:r>
          </a:p>
          <a:p>
            <a:r>
              <a:rPr lang="en-US" altLang="zh-CN" b="1" dirty="0"/>
              <a:t>6</a:t>
            </a:r>
            <a:r>
              <a:rPr lang="zh-CN" altLang="zh-CN" b="1" dirty="0"/>
              <a:t>．</a:t>
            </a:r>
            <a:r>
              <a:rPr lang="en-US" altLang="zh-CN" b="1" dirty="0"/>
              <a:t>REPEAT</a:t>
            </a:r>
            <a:r>
              <a:rPr lang="zh-CN" altLang="zh-CN" b="1" dirty="0"/>
              <a:t>语句</a:t>
            </a:r>
          </a:p>
          <a:p>
            <a:r>
              <a:rPr lang="en-US" altLang="zh-CN" b="1" dirty="0"/>
              <a:t>7</a:t>
            </a:r>
            <a:r>
              <a:rPr lang="zh-CN" altLang="zh-CN" b="1" dirty="0"/>
              <a:t>．</a:t>
            </a:r>
            <a:r>
              <a:rPr lang="en-US" altLang="zh-CN" b="1" dirty="0"/>
              <a:t>WHILE</a:t>
            </a:r>
            <a:r>
              <a:rPr lang="zh-CN" altLang="zh-CN" b="1" dirty="0"/>
              <a:t>语句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83063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628800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zh-CN" b="1" dirty="0">
                <a:solidFill>
                  <a:srgbClr val="FF0000"/>
                </a:solidFill>
              </a:rPr>
              <a:t>．</a:t>
            </a:r>
            <a:r>
              <a:rPr lang="en-US" altLang="zh-CN" b="1" dirty="0">
                <a:solidFill>
                  <a:srgbClr val="FF0000"/>
                </a:solidFill>
              </a:rPr>
              <a:t>IF</a:t>
            </a:r>
            <a:r>
              <a:rPr lang="zh-CN" altLang="zh-CN" b="1" dirty="0">
                <a:solidFill>
                  <a:srgbClr val="FF0000"/>
                </a:solidFill>
              </a:rPr>
              <a:t>语句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b="1" dirty="0"/>
              <a:t>【</a:t>
            </a:r>
            <a:r>
              <a:rPr lang="zh-CN" altLang="en-US" b="1" dirty="0"/>
              <a:t>例</a:t>
            </a:r>
            <a:r>
              <a:rPr lang="en-US" altLang="zh-CN" b="1" dirty="0"/>
              <a:t>】IF</a:t>
            </a:r>
            <a:r>
              <a:rPr lang="zh-CN" altLang="en-US" b="1" dirty="0"/>
              <a:t>语句的示例，代码如下：</a:t>
            </a:r>
          </a:p>
          <a:p>
            <a:pPr marL="0" indent="0">
              <a:buNone/>
            </a:pPr>
            <a:r>
              <a:rPr lang="en-US" altLang="zh-CN" b="1" dirty="0"/>
              <a:t>IF </a:t>
            </a:r>
            <a:r>
              <a:rPr lang="en-US" altLang="zh-CN" b="1" dirty="0" err="1"/>
              <a:t>val</a:t>
            </a:r>
            <a:r>
              <a:rPr lang="en-US" altLang="zh-CN" b="1" dirty="0"/>
              <a:t> IS NULL</a:t>
            </a:r>
          </a:p>
          <a:p>
            <a:pPr marL="0" indent="0">
              <a:buNone/>
            </a:pPr>
            <a:r>
              <a:rPr lang="en-US" altLang="zh-CN" b="1" dirty="0"/>
              <a:t>    THEN  SELECT '</a:t>
            </a:r>
            <a:r>
              <a:rPr lang="en-US" altLang="zh-CN" b="1" dirty="0" err="1"/>
              <a:t>val</a:t>
            </a:r>
            <a:r>
              <a:rPr lang="en-US" altLang="zh-CN" b="1" dirty="0"/>
              <a:t> is NULL';</a:t>
            </a:r>
          </a:p>
          <a:p>
            <a:pPr marL="0" indent="0">
              <a:buNone/>
            </a:pPr>
            <a:r>
              <a:rPr lang="en-US" altLang="zh-CN" b="1" dirty="0"/>
              <a:t>    ELSE  SELECT '</a:t>
            </a:r>
            <a:r>
              <a:rPr lang="en-US" altLang="zh-CN" b="1" dirty="0" err="1"/>
              <a:t>val</a:t>
            </a:r>
            <a:r>
              <a:rPr lang="en-US" altLang="zh-CN" b="1" dirty="0"/>
              <a:t> is not NULL';</a:t>
            </a:r>
          </a:p>
          <a:p>
            <a:pPr marL="0" indent="0">
              <a:buNone/>
            </a:pPr>
            <a:r>
              <a:rPr lang="en-US" altLang="zh-CN" b="1" dirty="0"/>
              <a:t>END IF;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07058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556792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zh-CN" b="1" dirty="0">
                <a:solidFill>
                  <a:srgbClr val="FF0000"/>
                </a:solidFill>
              </a:rPr>
              <a:t>．</a:t>
            </a:r>
            <a:r>
              <a:rPr lang="en-US" altLang="zh-CN" b="1" dirty="0">
                <a:solidFill>
                  <a:srgbClr val="FF0000"/>
                </a:solidFill>
              </a:rPr>
              <a:t>CASE</a:t>
            </a:r>
            <a:r>
              <a:rPr lang="zh-CN" altLang="zh-CN" b="1" dirty="0">
                <a:solidFill>
                  <a:srgbClr val="FF0000"/>
                </a:solidFill>
              </a:rPr>
              <a:t>语句</a:t>
            </a:r>
          </a:p>
          <a:p>
            <a:pPr marL="0" indent="0">
              <a:buNone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】</a:t>
            </a:r>
            <a:r>
              <a:rPr lang="zh-CN" altLang="en-US" sz="2400" b="1" dirty="0"/>
              <a:t>使用</a:t>
            </a:r>
            <a:r>
              <a:rPr lang="en-US" altLang="zh-CN" sz="2400" b="1" dirty="0"/>
              <a:t>CASE</a:t>
            </a:r>
            <a:r>
              <a:rPr lang="zh-CN" altLang="en-US" sz="2400" b="1" dirty="0"/>
              <a:t>流程控制语句的第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种格式，判断</a:t>
            </a:r>
            <a:r>
              <a:rPr lang="en-US" altLang="zh-CN" sz="2400" b="1" dirty="0" err="1"/>
              <a:t>val</a:t>
            </a:r>
            <a:r>
              <a:rPr lang="zh-CN" altLang="en-US" sz="2400" b="1" dirty="0"/>
              <a:t>值等于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、等于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，或者两者都不等，语句如下：</a:t>
            </a:r>
          </a:p>
          <a:p>
            <a:pPr marL="0" indent="0">
              <a:buNone/>
            </a:pPr>
            <a:r>
              <a:rPr lang="en-US" altLang="zh-CN" sz="2400" b="1" dirty="0"/>
              <a:t>CASE </a:t>
            </a:r>
            <a:r>
              <a:rPr lang="en-US" altLang="zh-CN" sz="2400" b="1" dirty="0" err="1"/>
              <a:t>val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  </a:t>
            </a:r>
            <a:r>
              <a:rPr lang="en-US" altLang="zh-CN" sz="2400" b="1" dirty="0">
                <a:solidFill>
                  <a:srgbClr val="FF0000"/>
                </a:solidFill>
              </a:rPr>
              <a:t>WHEN 1 </a:t>
            </a:r>
            <a:r>
              <a:rPr lang="en-US" altLang="zh-CN" sz="2400" b="1" dirty="0"/>
              <a:t>THEN SELECT '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1';</a:t>
            </a:r>
          </a:p>
          <a:p>
            <a:pPr marL="0" indent="0">
              <a:buNone/>
            </a:pPr>
            <a:r>
              <a:rPr lang="en-US" altLang="zh-CN" sz="2400" b="1" dirty="0"/>
              <a:t>  WHEN 2 THEN SELECT '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2';</a:t>
            </a:r>
          </a:p>
          <a:p>
            <a:pPr marL="0" indent="0">
              <a:buNone/>
            </a:pPr>
            <a:r>
              <a:rPr lang="en-US" altLang="zh-CN" sz="2400" b="1" dirty="0"/>
              <a:t>  ELSE SELECT '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not 1 or 2';</a:t>
            </a:r>
          </a:p>
          <a:p>
            <a:pPr marL="0" indent="0">
              <a:buNone/>
            </a:pPr>
            <a:r>
              <a:rPr lang="en-US" altLang="zh-CN" sz="2400" b="1" dirty="0"/>
              <a:t>END CASE;</a:t>
            </a:r>
          </a:p>
          <a:p>
            <a:pPr marL="0" indent="0">
              <a:buNone/>
            </a:pPr>
            <a:r>
              <a:rPr lang="zh-CN" altLang="en-US" sz="2400" b="1" dirty="0"/>
              <a:t>当</a:t>
            </a:r>
            <a:r>
              <a:rPr lang="en-US" altLang="zh-CN" sz="2400" b="1" dirty="0" err="1"/>
              <a:t>val</a:t>
            </a:r>
            <a:r>
              <a:rPr lang="zh-CN" altLang="en-US" sz="2400" b="1" dirty="0"/>
              <a:t>值为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时，输出字符串“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1”</a:t>
            </a:r>
            <a:r>
              <a:rPr lang="zh-CN" altLang="en-US" sz="2400" b="1" dirty="0"/>
              <a:t>；当</a:t>
            </a:r>
            <a:r>
              <a:rPr lang="en-US" altLang="zh-CN" sz="2400" b="1" dirty="0" err="1"/>
              <a:t>val</a:t>
            </a:r>
            <a:r>
              <a:rPr lang="zh-CN" altLang="en-US" sz="2400" b="1" dirty="0"/>
              <a:t>值为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时，输出字符串“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2”</a:t>
            </a:r>
            <a:r>
              <a:rPr lang="zh-CN" altLang="en-US" sz="2400" b="1" dirty="0"/>
              <a:t>；否则输出字符串“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not 1 or 2”</a:t>
            </a:r>
            <a:r>
              <a:rPr lang="zh-CN" altLang="en-US" sz="2400" b="1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08401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556792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zh-CN" b="1" dirty="0">
                <a:solidFill>
                  <a:srgbClr val="FF0000"/>
                </a:solidFill>
              </a:rPr>
              <a:t>．</a:t>
            </a:r>
            <a:r>
              <a:rPr lang="en-US" altLang="zh-CN" b="1" dirty="0">
                <a:solidFill>
                  <a:srgbClr val="FF0000"/>
                </a:solidFill>
              </a:rPr>
              <a:t>CASE</a:t>
            </a:r>
            <a:r>
              <a:rPr lang="zh-CN" altLang="zh-CN" b="1" dirty="0">
                <a:solidFill>
                  <a:srgbClr val="FF0000"/>
                </a:solidFill>
              </a:rPr>
              <a:t>语句</a:t>
            </a:r>
          </a:p>
          <a:p>
            <a:pPr marL="0" indent="0">
              <a:buNone/>
            </a:pPr>
            <a:r>
              <a:rPr lang="en-US" altLang="zh-CN" sz="2400" b="1" dirty="0"/>
              <a:t>CASE</a:t>
            </a:r>
            <a:r>
              <a:rPr lang="zh-CN" altLang="en-US" sz="2400" b="1" dirty="0"/>
              <a:t>语句的第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种格式如下：</a:t>
            </a:r>
          </a:p>
          <a:p>
            <a:pPr marL="0" indent="0">
              <a:buNone/>
            </a:pPr>
            <a:r>
              <a:rPr lang="en-US" altLang="zh-CN" sz="2400" b="1" dirty="0"/>
              <a:t>CASE</a:t>
            </a:r>
          </a:p>
          <a:p>
            <a:pPr marL="0" indent="0">
              <a:buNone/>
            </a:pPr>
            <a:r>
              <a:rPr lang="en-US" altLang="zh-CN" sz="2400" b="1" dirty="0"/>
              <a:t>    WHEN </a:t>
            </a:r>
            <a:r>
              <a:rPr lang="en-US" altLang="zh-CN" sz="2400" b="1" dirty="0" err="1">
                <a:solidFill>
                  <a:srgbClr val="FF0000"/>
                </a:solidFill>
              </a:rPr>
              <a:t>expr_condition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/>
              <a:t>THEN </a:t>
            </a:r>
            <a:r>
              <a:rPr lang="en-US" altLang="zh-CN" sz="2400" b="1" dirty="0" err="1"/>
              <a:t>statement_list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    [WHEN </a:t>
            </a:r>
            <a:r>
              <a:rPr lang="en-US" altLang="zh-CN" sz="2400" b="1" dirty="0" err="1"/>
              <a:t>expr_condition</a:t>
            </a:r>
            <a:r>
              <a:rPr lang="en-US" altLang="zh-CN" sz="2400" b="1" dirty="0"/>
              <a:t> THEN </a:t>
            </a:r>
            <a:r>
              <a:rPr lang="en-US" altLang="zh-CN" sz="2400" b="1" dirty="0" err="1"/>
              <a:t>statement_list</a:t>
            </a:r>
            <a:r>
              <a:rPr lang="en-US" altLang="zh-CN" sz="2400" b="1" dirty="0"/>
              <a:t>] ...</a:t>
            </a:r>
          </a:p>
          <a:p>
            <a:pPr marL="0" indent="0">
              <a:buNone/>
            </a:pPr>
            <a:r>
              <a:rPr lang="en-US" altLang="zh-CN" sz="2400" b="1" dirty="0"/>
              <a:t>    [ELSE </a:t>
            </a:r>
            <a:r>
              <a:rPr lang="en-US" altLang="zh-CN" sz="2400" b="1" dirty="0" err="1"/>
              <a:t>statement_list</a:t>
            </a:r>
            <a:r>
              <a:rPr lang="en-US" altLang="zh-CN" sz="2400" b="1" dirty="0"/>
              <a:t>]</a:t>
            </a:r>
          </a:p>
          <a:p>
            <a:pPr marL="0" indent="0">
              <a:buNone/>
            </a:pPr>
            <a:r>
              <a:rPr lang="en-US" altLang="zh-CN" sz="2400" b="1" dirty="0"/>
              <a:t>END CASE</a:t>
            </a:r>
          </a:p>
          <a:p>
            <a:pPr marL="0" indent="0">
              <a:buNone/>
            </a:pPr>
            <a:r>
              <a:rPr lang="zh-CN" altLang="en-US" sz="2400" b="1" dirty="0"/>
              <a:t>其中，</a:t>
            </a:r>
            <a:r>
              <a:rPr lang="en-US" altLang="zh-CN" sz="2400" b="1" dirty="0"/>
              <a:t> </a:t>
            </a:r>
            <a:r>
              <a:rPr lang="en-US" altLang="zh-CN" sz="2400" b="1" dirty="0" err="1">
                <a:solidFill>
                  <a:srgbClr val="FF0000"/>
                </a:solidFill>
              </a:rPr>
              <a:t>expr_condition</a:t>
            </a:r>
            <a:r>
              <a:rPr lang="zh-CN" altLang="en-US" sz="2400" b="1" dirty="0">
                <a:solidFill>
                  <a:srgbClr val="FF0000"/>
                </a:solidFill>
              </a:rPr>
              <a:t>表示条件判断语句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91198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84784"/>
            <a:ext cx="8496944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】</a:t>
            </a:r>
            <a:r>
              <a:rPr lang="zh-CN" altLang="en-US" sz="2400" b="1" dirty="0"/>
              <a:t>使用</a:t>
            </a:r>
            <a:r>
              <a:rPr lang="en-US" altLang="zh-CN" sz="2400" b="1" dirty="0"/>
              <a:t>CASE</a:t>
            </a:r>
            <a:r>
              <a:rPr lang="zh-CN" altLang="en-US" sz="2400" b="1" dirty="0"/>
              <a:t>流程控制语句的第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种格式，判断</a:t>
            </a:r>
            <a:r>
              <a:rPr lang="en-US" altLang="zh-CN" sz="2400" b="1" dirty="0" err="1"/>
              <a:t>val</a:t>
            </a:r>
            <a:r>
              <a:rPr lang="zh-CN" altLang="en-US" sz="2400" b="1" dirty="0"/>
              <a:t>是否为空、小于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、大于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或者等于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，语句如下：</a:t>
            </a:r>
          </a:p>
          <a:p>
            <a:pPr marL="0" indent="0">
              <a:buNone/>
            </a:pPr>
            <a:r>
              <a:rPr lang="en-US" altLang="zh-CN" sz="2400" b="1" dirty="0"/>
              <a:t>CASE</a:t>
            </a:r>
          </a:p>
          <a:p>
            <a:pPr marL="0" indent="0">
              <a:buNone/>
            </a:pPr>
            <a:r>
              <a:rPr lang="en-US" altLang="zh-CN" sz="2400" b="1" dirty="0"/>
              <a:t>  WHEN </a:t>
            </a:r>
            <a:r>
              <a:rPr lang="en-US" altLang="zh-CN" sz="2400" b="1" dirty="0" err="1">
                <a:solidFill>
                  <a:srgbClr val="0000FF"/>
                </a:solidFill>
              </a:rPr>
              <a:t>val</a:t>
            </a:r>
            <a:r>
              <a:rPr lang="en-US" altLang="zh-CN" sz="2400" b="1" dirty="0">
                <a:solidFill>
                  <a:srgbClr val="0000FF"/>
                </a:solidFill>
              </a:rPr>
              <a:t> IS NULL </a:t>
            </a:r>
            <a:r>
              <a:rPr lang="en-US" altLang="zh-CN" sz="2400" b="1" dirty="0"/>
              <a:t>THEN SELECT '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NULL';</a:t>
            </a:r>
          </a:p>
          <a:p>
            <a:pPr marL="0" indent="0">
              <a:buNone/>
            </a:pPr>
            <a:r>
              <a:rPr lang="en-US" altLang="zh-CN" sz="2400" b="1" dirty="0"/>
              <a:t>  WHEN </a:t>
            </a:r>
            <a:r>
              <a:rPr lang="en-US" altLang="zh-CN" sz="2400" b="1" dirty="0" err="1">
                <a:solidFill>
                  <a:srgbClr val="0000FF"/>
                </a:solidFill>
              </a:rPr>
              <a:t>val</a:t>
            </a:r>
            <a:r>
              <a:rPr lang="en-US" altLang="zh-CN" sz="2400" b="1" dirty="0">
                <a:solidFill>
                  <a:srgbClr val="0000FF"/>
                </a:solidFill>
              </a:rPr>
              <a:t> &lt; 0 </a:t>
            </a:r>
            <a:r>
              <a:rPr lang="en-US" altLang="zh-CN" sz="2400" b="1" dirty="0"/>
              <a:t>THEN SELECT '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less than 0';</a:t>
            </a:r>
          </a:p>
          <a:p>
            <a:pPr marL="0" indent="0">
              <a:buNone/>
            </a:pPr>
            <a:r>
              <a:rPr lang="en-US" altLang="zh-CN" sz="2400" b="1" dirty="0"/>
              <a:t>  WHEN </a:t>
            </a:r>
            <a:r>
              <a:rPr lang="en-US" altLang="zh-CN" sz="2400" b="1" dirty="0" err="1">
                <a:solidFill>
                  <a:srgbClr val="0000FF"/>
                </a:solidFill>
              </a:rPr>
              <a:t>val</a:t>
            </a:r>
            <a:r>
              <a:rPr lang="en-US" altLang="zh-CN" sz="2400" b="1" dirty="0">
                <a:solidFill>
                  <a:srgbClr val="0000FF"/>
                </a:solidFill>
              </a:rPr>
              <a:t> &gt; 0 </a:t>
            </a:r>
            <a:r>
              <a:rPr lang="en-US" altLang="zh-CN" sz="2400" b="1" dirty="0"/>
              <a:t>THEN SELECT '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greater than 0';</a:t>
            </a:r>
          </a:p>
          <a:p>
            <a:pPr marL="0" indent="0">
              <a:buNone/>
            </a:pPr>
            <a:r>
              <a:rPr lang="en-US" altLang="zh-CN" sz="2400" b="1" dirty="0"/>
              <a:t>  ELSE SELECT '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0';</a:t>
            </a:r>
          </a:p>
          <a:p>
            <a:pPr marL="0" indent="0">
              <a:buNone/>
            </a:pPr>
            <a:r>
              <a:rPr lang="en-US" altLang="zh-CN" sz="2400" b="1" dirty="0"/>
              <a:t>END CASE;</a:t>
            </a:r>
          </a:p>
          <a:p>
            <a:pPr marL="0" indent="0">
              <a:buNone/>
            </a:pPr>
            <a:r>
              <a:rPr lang="zh-CN" altLang="en-US" sz="2400" b="1" dirty="0"/>
              <a:t>当</a:t>
            </a:r>
            <a:r>
              <a:rPr lang="en-US" altLang="zh-CN" sz="2400" b="1" dirty="0" err="1"/>
              <a:t>val</a:t>
            </a:r>
            <a:r>
              <a:rPr lang="zh-CN" altLang="en-US" sz="2400" b="1" dirty="0"/>
              <a:t>值为空，输出字符串“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NULL”</a:t>
            </a:r>
            <a:r>
              <a:rPr lang="zh-CN" altLang="en-US" sz="2400" b="1" dirty="0"/>
              <a:t>；当</a:t>
            </a:r>
            <a:r>
              <a:rPr lang="en-US" altLang="zh-CN" sz="2400" b="1" dirty="0" err="1"/>
              <a:t>val</a:t>
            </a:r>
            <a:r>
              <a:rPr lang="zh-CN" altLang="en-US" sz="2400" b="1" dirty="0"/>
              <a:t>值小于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时，输出字符串“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less than 0”</a:t>
            </a:r>
            <a:r>
              <a:rPr lang="zh-CN" altLang="en-US" sz="2400" b="1" dirty="0"/>
              <a:t>；当</a:t>
            </a:r>
            <a:r>
              <a:rPr lang="en-US" altLang="zh-CN" sz="2400" b="1" dirty="0" err="1"/>
              <a:t>val</a:t>
            </a:r>
            <a:r>
              <a:rPr lang="zh-CN" altLang="en-US" sz="2400" b="1" dirty="0"/>
              <a:t>值大于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时，输出字符串“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greater than 0”</a:t>
            </a:r>
            <a:r>
              <a:rPr lang="zh-CN" altLang="en-US" sz="2400" b="1" dirty="0"/>
              <a:t>；否则输出字符串“</a:t>
            </a:r>
            <a:r>
              <a:rPr lang="en-US" altLang="zh-CN" sz="2400" b="1" dirty="0" err="1"/>
              <a:t>val</a:t>
            </a:r>
            <a:r>
              <a:rPr lang="en-US" altLang="zh-CN" sz="2400" b="1" dirty="0"/>
              <a:t> is 0”</a:t>
            </a:r>
            <a:r>
              <a:rPr lang="zh-CN" altLang="en-US" sz="2400" b="1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80236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zh-CN" b="1" dirty="0">
                <a:solidFill>
                  <a:srgbClr val="FF0000"/>
                </a:solidFill>
              </a:rPr>
              <a:t>．</a:t>
            </a:r>
            <a:r>
              <a:rPr lang="en-US" altLang="zh-CN" b="1" dirty="0">
                <a:solidFill>
                  <a:srgbClr val="FF0000"/>
                </a:solidFill>
              </a:rPr>
              <a:t>LOOP</a:t>
            </a:r>
            <a:r>
              <a:rPr lang="zh-CN" altLang="zh-CN" b="1" dirty="0">
                <a:solidFill>
                  <a:srgbClr val="FF0000"/>
                </a:solidFill>
              </a:rPr>
              <a:t>语句</a:t>
            </a:r>
          </a:p>
          <a:p>
            <a:pPr marL="0" indent="0">
              <a:buNone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】</a:t>
            </a:r>
            <a:r>
              <a:rPr lang="zh-CN" altLang="en-US" sz="2400" b="1" dirty="0"/>
              <a:t>使用</a:t>
            </a:r>
            <a:r>
              <a:rPr lang="en-US" altLang="zh-CN" sz="2400" b="1" dirty="0"/>
              <a:t>LOOP</a:t>
            </a:r>
            <a:r>
              <a:rPr lang="zh-CN" altLang="en-US" sz="2400" b="1" dirty="0"/>
              <a:t>语句进行循环操作，</a:t>
            </a:r>
            <a:r>
              <a:rPr lang="en-US" altLang="zh-CN" sz="2400" b="1" dirty="0"/>
              <a:t>id</a:t>
            </a:r>
            <a:r>
              <a:rPr lang="zh-CN" altLang="en-US" sz="2400" b="1" dirty="0"/>
              <a:t>值小于等于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之前，将重复执行循环过程，代码如下：</a:t>
            </a:r>
          </a:p>
          <a:p>
            <a:pPr marL="0" indent="0">
              <a:buNone/>
            </a:pPr>
            <a:r>
              <a:rPr lang="en-US" altLang="zh-CN" sz="2400" b="1" dirty="0"/>
              <a:t>DECLARE id INT DEFAULT 0;</a:t>
            </a:r>
          </a:p>
          <a:p>
            <a:pPr marL="0" indent="0">
              <a:buNone/>
            </a:pPr>
            <a:r>
              <a:rPr lang="en-US" altLang="zh-CN" sz="2400" b="1" dirty="0" err="1">
                <a:solidFill>
                  <a:srgbClr val="0000FF"/>
                </a:solidFill>
              </a:rPr>
              <a:t>add_loop</a:t>
            </a:r>
            <a:r>
              <a:rPr lang="en-US" altLang="zh-CN" sz="2400" b="1" dirty="0">
                <a:solidFill>
                  <a:srgbClr val="0000FF"/>
                </a:solidFill>
              </a:rPr>
              <a:t>: LOOP  </a:t>
            </a:r>
          </a:p>
          <a:p>
            <a:pPr marL="0" indent="0">
              <a:buNone/>
            </a:pPr>
            <a:r>
              <a:rPr lang="en-US" altLang="zh-CN" sz="2400" b="1" dirty="0"/>
              <a:t>SET id = id + 1;</a:t>
            </a:r>
          </a:p>
          <a:p>
            <a:pPr marL="0" indent="0">
              <a:buNone/>
            </a:pPr>
            <a:r>
              <a:rPr lang="en-US" altLang="zh-CN" sz="2400" b="1" dirty="0"/>
              <a:t>  IF id &gt;= 10 THEN  </a:t>
            </a:r>
            <a:r>
              <a:rPr lang="en-US" altLang="zh-CN" sz="2400" b="1" dirty="0">
                <a:solidFill>
                  <a:srgbClr val="0000FF"/>
                </a:solidFill>
              </a:rPr>
              <a:t>LEAVE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add_loop</a:t>
            </a:r>
            <a:r>
              <a:rPr lang="en-US" altLang="zh-CN" sz="2400" b="1" dirty="0"/>
              <a:t>;</a:t>
            </a:r>
          </a:p>
          <a:p>
            <a:pPr marL="0" indent="0">
              <a:buNone/>
            </a:pPr>
            <a:r>
              <a:rPr lang="en-US" altLang="zh-CN" sz="2400" b="1" dirty="0"/>
              <a:t>  END IF;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END LOOP add_ loop; 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40712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9" y="1556792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zh-CN" b="1" dirty="0">
                <a:solidFill>
                  <a:srgbClr val="FF0000"/>
                </a:solidFill>
              </a:rPr>
              <a:t>．</a:t>
            </a:r>
            <a:r>
              <a:rPr lang="en-US" altLang="zh-CN" b="1" dirty="0">
                <a:solidFill>
                  <a:srgbClr val="FF0000"/>
                </a:solidFill>
              </a:rPr>
              <a:t>LEAVE</a:t>
            </a:r>
            <a:r>
              <a:rPr lang="zh-CN" altLang="zh-CN" b="1" dirty="0">
                <a:solidFill>
                  <a:srgbClr val="FF0000"/>
                </a:solidFill>
              </a:rPr>
              <a:t>语句</a:t>
            </a:r>
          </a:p>
          <a:p>
            <a:pPr marL="0" indent="0">
              <a:buNone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】</a:t>
            </a:r>
            <a:r>
              <a:rPr lang="zh-CN" altLang="en-US" sz="2400" b="1" dirty="0"/>
              <a:t>使用</a:t>
            </a:r>
            <a:r>
              <a:rPr lang="en-US" altLang="zh-CN" sz="2400" b="1" dirty="0"/>
              <a:t>LEAVE</a:t>
            </a:r>
            <a:r>
              <a:rPr lang="zh-CN" altLang="en-US" sz="2400" b="1" dirty="0"/>
              <a:t>语句退出循环，代码如下：</a:t>
            </a:r>
          </a:p>
          <a:p>
            <a:pPr marL="0" indent="0">
              <a:buNone/>
            </a:pPr>
            <a:r>
              <a:rPr lang="en-US" altLang="zh-CN" sz="2400" b="1" dirty="0" err="1">
                <a:solidFill>
                  <a:srgbClr val="0000FF"/>
                </a:solidFill>
              </a:rPr>
              <a:t>add_num</a:t>
            </a:r>
            <a:r>
              <a:rPr lang="en-US" altLang="zh-CN" sz="2400" b="1" dirty="0">
                <a:solidFill>
                  <a:srgbClr val="0000FF"/>
                </a:solidFill>
              </a:rPr>
              <a:t>: LOOP  </a:t>
            </a:r>
          </a:p>
          <a:p>
            <a:pPr marL="0" indent="0">
              <a:buNone/>
            </a:pPr>
            <a:r>
              <a:rPr lang="en-US" altLang="zh-CN" sz="2400" b="1" dirty="0"/>
              <a:t>SET @count=@count+1;</a:t>
            </a:r>
          </a:p>
          <a:p>
            <a:pPr marL="0" indent="0">
              <a:buNone/>
            </a:pPr>
            <a:r>
              <a:rPr lang="en-US" altLang="zh-CN" sz="2400" b="1" dirty="0"/>
              <a:t>IF @count=50 THEN </a:t>
            </a:r>
            <a:r>
              <a:rPr lang="en-US" altLang="zh-CN" sz="2400" b="1" dirty="0">
                <a:solidFill>
                  <a:srgbClr val="0000FF"/>
                </a:solidFill>
              </a:rPr>
              <a:t>LEAVE </a:t>
            </a:r>
            <a:r>
              <a:rPr lang="en-US" altLang="zh-CN" sz="2400" b="1" dirty="0" err="1">
                <a:solidFill>
                  <a:srgbClr val="0000FF"/>
                </a:solidFill>
              </a:rPr>
              <a:t>add_num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dirty="0"/>
              <a:t>;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END LOOP </a:t>
            </a:r>
            <a:r>
              <a:rPr lang="en-US" altLang="zh-CN" sz="2400" b="1" dirty="0" err="1">
                <a:solidFill>
                  <a:srgbClr val="0000FF"/>
                </a:solidFill>
              </a:rPr>
              <a:t>add_num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dirty="0"/>
              <a:t>; </a:t>
            </a:r>
          </a:p>
          <a:p>
            <a:pPr marL="0" indent="0">
              <a:buNone/>
            </a:pPr>
            <a:r>
              <a:rPr lang="zh-CN" altLang="en-US" sz="2400" b="1" dirty="0"/>
              <a:t>该示例循环执行</a:t>
            </a:r>
            <a:r>
              <a:rPr lang="en-US" altLang="zh-CN" sz="2400" b="1" dirty="0"/>
              <a:t>count</a:t>
            </a:r>
            <a:r>
              <a:rPr lang="zh-CN" altLang="en-US" sz="2400" b="1" dirty="0"/>
              <a:t>加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的操作。当</a:t>
            </a:r>
            <a:r>
              <a:rPr lang="en-US" altLang="zh-CN" sz="2400" b="1" dirty="0"/>
              <a:t>count</a:t>
            </a:r>
            <a:r>
              <a:rPr lang="zh-CN" altLang="en-US" sz="2400" b="1" dirty="0"/>
              <a:t>的值等于</a:t>
            </a:r>
            <a:r>
              <a:rPr lang="en-US" altLang="zh-CN" sz="2400" b="1" dirty="0"/>
              <a:t>50</a:t>
            </a:r>
            <a:r>
              <a:rPr lang="zh-CN" altLang="en-US" sz="2400" b="1" dirty="0"/>
              <a:t>时，使用</a:t>
            </a:r>
            <a:r>
              <a:rPr lang="en-US" altLang="zh-CN" sz="2400" b="1" dirty="0"/>
              <a:t>LEAVE</a:t>
            </a:r>
            <a:r>
              <a:rPr lang="zh-CN" altLang="en-US" sz="2400" b="1" dirty="0"/>
              <a:t>语句跳出循环。</a:t>
            </a:r>
          </a:p>
          <a:p>
            <a:pPr marL="0" indent="0">
              <a:buNone/>
            </a:pP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60821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6613" y="836712"/>
            <a:ext cx="8229600" cy="456780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500" b="1" dirty="0">
                <a:solidFill>
                  <a:srgbClr val="FF0000"/>
                </a:solidFill>
              </a:rPr>
              <a:t>5</a:t>
            </a:r>
            <a:r>
              <a:rPr lang="zh-CN" altLang="zh-CN" sz="2500" b="1" dirty="0">
                <a:solidFill>
                  <a:srgbClr val="FF0000"/>
                </a:solidFill>
              </a:rPr>
              <a:t>．</a:t>
            </a:r>
            <a:r>
              <a:rPr lang="en-US" altLang="zh-CN" sz="2500" b="1" dirty="0">
                <a:solidFill>
                  <a:srgbClr val="FF0000"/>
                </a:solidFill>
              </a:rPr>
              <a:t>ITERATE</a:t>
            </a:r>
            <a:r>
              <a:rPr lang="zh-CN" altLang="zh-CN" sz="2500" b="1" dirty="0">
                <a:solidFill>
                  <a:srgbClr val="FF0000"/>
                </a:solidFill>
              </a:rPr>
              <a:t>语句</a:t>
            </a:r>
            <a:r>
              <a:rPr lang="en-US" altLang="zh-CN" sz="2500" b="1" dirty="0">
                <a:solidFill>
                  <a:schemeClr val="bg1"/>
                </a:solidFill>
              </a:rPr>
              <a:t>—</a:t>
            </a:r>
            <a:r>
              <a:rPr lang="zh-CN" altLang="en-US" sz="2500" b="1" dirty="0">
                <a:solidFill>
                  <a:schemeClr val="bg1"/>
                </a:solidFill>
              </a:rPr>
              <a:t>将执行顺序转到语句段开头处</a:t>
            </a:r>
            <a:endParaRPr lang="zh-CN" altLang="zh-CN" sz="25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】ITERATE</a:t>
            </a:r>
            <a:r>
              <a:rPr lang="zh-CN" altLang="en-US" sz="2200" b="1" dirty="0"/>
              <a:t>语句示例，代码如下：</a:t>
            </a:r>
          </a:p>
          <a:p>
            <a:pPr marL="0" indent="0">
              <a:buNone/>
            </a:pPr>
            <a:r>
              <a:rPr lang="en-US" altLang="zh-CN" sz="2200" b="1" dirty="0"/>
              <a:t>CREATE PROCEDURE </a:t>
            </a:r>
            <a:r>
              <a:rPr lang="en-US" altLang="zh-CN" sz="2200" b="1" dirty="0" err="1"/>
              <a:t>doiterate</a:t>
            </a:r>
            <a:r>
              <a:rPr lang="en-US" altLang="zh-CN" sz="2200" b="1" dirty="0"/>
              <a:t>()</a:t>
            </a:r>
          </a:p>
          <a:p>
            <a:pPr marL="0" indent="0">
              <a:buNone/>
            </a:pPr>
            <a:r>
              <a:rPr lang="en-US" altLang="zh-CN" sz="2200" b="1" dirty="0"/>
              <a:t>BEGIN</a:t>
            </a:r>
          </a:p>
          <a:p>
            <a:pPr marL="0" indent="0">
              <a:buNone/>
            </a:pPr>
            <a:r>
              <a:rPr lang="en-US" altLang="zh-CN" sz="2200" b="1" dirty="0"/>
              <a:t>DECLARE p1 INT DEFAULT 0;</a:t>
            </a:r>
          </a:p>
          <a:p>
            <a:pPr marL="0" indent="0">
              <a:buNone/>
            </a:pPr>
            <a:r>
              <a:rPr lang="en-US" altLang="zh-CN" sz="2200" b="1" dirty="0" err="1"/>
              <a:t>my_loop</a:t>
            </a:r>
            <a:r>
              <a:rPr lang="en-US" altLang="zh-CN" sz="2200" b="1" dirty="0"/>
              <a:t>: LOOP</a:t>
            </a:r>
          </a:p>
          <a:p>
            <a:pPr marL="0" indent="0">
              <a:buNone/>
            </a:pPr>
            <a:r>
              <a:rPr lang="en-US" altLang="zh-CN" sz="2200" b="1" dirty="0"/>
              <a:t>  SET p1= p1 + 1;</a:t>
            </a:r>
          </a:p>
          <a:p>
            <a:pPr marL="0" indent="0">
              <a:buNone/>
            </a:pPr>
            <a:r>
              <a:rPr lang="en-US" altLang="zh-CN" sz="2200" b="1" dirty="0"/>
              <a:t>  IF p1 &lt; 10 THEN </a:t>
            </a:r>
            <a:r>
              <a:rPr lang="en-US" altLang="zh-CN" sz="2200" b="1" dirty="0">
                <a:solidFill>
                  <a:srgbClr val="0000FF"/>
                </a:solidFill>
              </a:rPr>
              <a:t>ITERATE </a:t>
            </a:r>
            <a:r>
              <a:rPr lang="en-US" altLang="zh-CN" sz="2200" b="1" dirty="0" err="1">
                <a:solidFill>
                  <a:srgbClr val="0000FF"/>
                </a:solidFill>
              </a:rPr>
              <a:t>my_loop</a:t>
            </a:r>
            <a:r>
              <a:rPr lang="en-US" altLang="zh-CN" sz="2200" b="1" dirty="0"/>
              <a:t>;</a:t>
            </a:r>
          </a:p>
          <a:p>
            <a:pPr marL="0" indent="0">
              <a:buNone/>
            </a:pPr>
            <a:r>
              <a:rPr lang="en-US" altLang="zh-CN" sz="2200" b="1" dirty="0"/>
              <a:t>  ELSEIF p1 &gt; 20 THEN LEAVE </a:t>
            </a:r>
            <a:r>
              <a:rPr lang="en-US" altLang="zh-CN" sz="2200" b="1" dirty="0" err="1"/>
              <a:t>my_loop</a:t>
            </a:r>
            <a:r>
              <a:rPr lang="en-US" altLang="zh-CN" sz="2200" b="1" dirty="0"/>
              <a:t>;</a:t>
            </a:r>
          </a:p>
          <a:p>
            <a:pPr marL="0" indent="0">
              <a:buNone/>
            </a:pPr>
            <a:r>
              <a:rPr lang="en-US" altLang="zh-CN" sz="2200" b="1" dirty="0"/>
              <a:t>  END IF;</a:t>
            </a:r>
          </a:p>
          <a:p>
            <a:pPr marL="0" indent="0">
              <a:buNone/>
            </a:pPr>
            <a:r>
              <a:rPr lang="en-US" altLang="zh-CN" sz="2200" b="1" dirty="0"/>
              <a:t>  SELECT 'p1 is between 10 and 20';</a:t>
            </a:r>
          </a:p>
          <a:p>
            <a:pPr marL="0" indent="0">
              <a:buNone/>
            </a:pPr>
            <a:r>
              <a:rPr lang="en-US" altLang="zh-CN" sz="2200" b="1" dirty="0"/>
              <a:t>END LOOP </a:t>
            </a:r>
            <a:r>
              <a:rPr lang="en-US" altLang="zh-CN" sz="2200" b="1" dirty="0" err="1"/>
              <a:t>my_loop</a:t>
            </a:r>
            <a:r>
              <a:rPr lang="en-US" altLang="zh-CN" sz="2200" b="1" dirty="0"/>
              <a:t>;</a:t>
            </a:r>
          </a:p>
          <a:p>
            <a:pPr marL="0" indent="0">
              <a:buNone/>
            </a:pPr>
            <a:r>
              <a:rPr lang="en-US" altLang="zh-CN" sz="2200" b="1" dirty="0"/>
              <a:t>END</a:t>
            </a:r>
            <a:endParaRPr lang="zh-CN" altLang="en-US" sz="22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71170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412776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zh-CN" altLang="zh-CN" b="1" dirty="0">
                <a:solidFill>
                  <a:srgbClr val="FF0000"/>
                </a:solidFill>
              </a:rPr>
              <a:t>．</a:t>
            </a:r>
            <a:r>
              <a:rPr lang="en-US" altLang="zh-CN" b="1" dirty="0">
                <a:solidFill>
                  <a:srgbClr val="FF0000"/>
                </a:solidFill>
              </a:rPr>
              <a:t>REPEAT</a:t>
            </a:r>
            <a:r>
              <a:rPr lang="zh-CN" altLang="zh-CN" b="1" dirty="0">
                <a:solidFill>
                  <a:srgbClr val="FF0000"/>
                </a:solidFill>
              </a:rPr>
              <a:t>语句</a:t>
            </a:r>
          </a:p>
          <a:p>
            <a:pPr marL="0" indent="0">
              <a:buNone/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】REPEAT</a:t>
            </a:r>
            <a:r>
              <a:rPr lang="zh-CN" altLang="en-US" sz="2200" b="1" dirty="0"/>
              <a:t>语句示例，</a:t>
            </a:r>
            <a:r>
              <a:rPr lang="en-US" altLang="zh-CN" sz="2200" b="1" dirty="0"/>
              <a:t>id</a:t>
            </a:r>
            <a:r>
              <a:rPr lang="zh-CN" altLang="en-US" sz="2200" b="1" dirty="0"/>
              <a:t>值小于等于</a:t>
            </a:r>
            <a:r>
              <a:rPr lang="en-US" altLang="zh-CN" sz="2200" b="1" dirty="0"/>
              <a:t>10</a:t>
            </a:r>
            <a:r>
              <a:rPr lang="zh-CN" altLang="en-US" sz="2200" b="1" dirty="0"/>
              <a:t>之前，将重复执行循环过程，代码如下：</a:t>
            </a:r>
          </a:p>
          <a:p>
            <a:pPr marL="0" indent="0">
              <a:buNone/>
            </a:pPr>
            <a:r>
              <a:rPr lang="en-US" altLang="zh-CN" sz="2200" b="1" dirty="0"/>
              <a:t>DECLARE id INT DEFAULT 0;</a:t>
            </a:r>
          </a:p>
          <a:p>
            <a:pPr marL="0" indent="0">
              <a:buNone/>
            </a:pPr>
            <a:r>
              <a:rPr lang="en-US" altLang="zh-CN" sz="2200" b="1" dirty="0">
                <a:solidFill>
                  <a:srgbClr val="0000FF"/>
                </a:solidFill>
              </a:rPr>
              <a:t>REPEAT</a:t>
            </a:r>
          </a:p>
          <a:p>
            <a:pPr marL="0" indent="0">
              <a:buNone/>
            </a:pPr>
            <a:r>
              <a:rPr lang="en-US" altLang="zh-CN" sz="2200" b="1" dirty="0"/>
              <a:t>SET id = id + 1;</a:t>
            </a:r>
          </a:p>
          <a:p>
            <a:pPr marL="0" indent="0">
              <a:buNone/>
            </a:pPr>
            <a:r>
              <a:rPr lang="en-US" altLang="zh-CN" sz="2200" b="1" dirty="0"/>
              <a:t>UNTIL  id &gt;= 10</a:t>
            </a:r>
          </a:p>
          <a:p>
            <a:pPr marL="0" indent="0">
              <a:buNone/>
            </a:pPr>
            <a:r>
              <a:rPr lang="en-US" altLang="zh-CN" sz="2200" b="1" dirty="0">
                <a:solidFill>
                  <a:srgbClr val="0000FF"/>
                </a:solidFill>
              </a:rPr>
              <a:t>END REPEAT; </a:t>
            </a:r>
          </a:p>
          <a:p>
            <a:pPr marL="0" indent="0">
              <a:buNone/>
            </a:pPr>
            <a:r>
              <a:rPr lang="zh-CN" altLang="en-US" sz="2200" b="1" dirty="0"/>
              <a:t>该示例循环执行</a:t>
            </a:r>
            <a:r>
              <a:rPr lang="en-US" altLang="zh-CN" sz="2200" b="1" dirty="0"/>
              <a:t>id</a:t>
            </a:r>
            <a:r>
              <a:rPr lang="zh-CN" altLang="en-US" sz="2200" b="1" dirty="0"/>
              <a:t>加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的操作。当</a:t>
            </a:r>
            <a:r>
              <a:rPr lang="en-US" altLang="zh-CN" sz="2200" b="1" dirty="0"/>
              <a:t>id</a:t>
            </a:r>
            <a:r>
              <a:rPr lang="zh-CN" altLang="en-US" sz="2200" b="1" dirty="0"/>
              <a:t>值小于</a:t>
            </a:r>
            <a:r>
              <a:rPr lang="en-US" altLang="zh-CN" sz="2200" b="1" dirty="0"/>
              <a:t>10</a:t>
            </a:r>
            <a:r>
              <a:rPr lang="zh-CN" altLang="en-US" sz="2200" b="1" dirty="0"/>
              <a:t>时，循环重复执行；当</a:t>
            </a:r>
            <a:r>
              <a:rPr lang="en-US" altLang="zh-CN" sz="2200" b="1" dirty="0"/>
              <a:t>id</a:t>
            </a:r>
            <a:r>
              <a:rPr lang="zh-CN" altLang="en-US" sz="2200" b="1" dirty="0"/>
              <a:t>值大于或者等于</a:t>
            </a:r>
            <a:r>
              <a:rPr lang="en-US" altLang="zh-CN" sz="2200" b="1" dirty="0"/>
              <a:t>10</a:t>
            </a:r>
            <a:r>
              <a:rPr lang="zh-CN" altLang="en-US" sz="2200" b="1" dirty="0"/>
              <a:t>时，使用</a:t>
            </a:r>
            <a:r>
              <a:rPr lang="en-US" altLang="zh-CN" sz="2200" b="1" dirty="0"/>
              <a:t>LEAVE</a:t>
            </a:r>
            <a:r>
              <a:rPr lang="zh-CN" altLang="en-US" sz="2200" b="1" dirty="0"/>
              <a:t>语句退出循环。</a:t>
            </a:r>
            <a:r>
              <a:rPr lang="en-US" altLang="zh-CN" sz="2200" b="1" dirty="0"/>
              <a:t>REPEAT</a:t>
            </a:r>
            <a:r>
              <a:rPr lang="zh-CN" altLang="en-US" sz="2200" b="1" dirty="0"/>
              <a:t>循环都以</a:t>
            </a:r>
            <a:r>
              <a:rPr lang="en-US" altLang="zh-CN" sz="2200" b="1" dirty="0"/>
              <a:t>END REPEAT</a:t>
            </a:r>
            <a:r>
              <a:rPr lang="zh-CN" altLang="en-US" sz="2200" b="1" dirty="0"/>
              <a:t>结束。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51664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628800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7</a:t>
            </a:r>
            <a:r>
              <a:rPr lang="zh-CN" altLang="zh-CN" sz="2600" b="1" dirty="0">
                <a:solidFill>
                  <a:srgbClr val="FF0000"/>
                </a:solidFill>
              </a:rPr>
              <a:t>．</a:t>
            </a:r>
            <a:r>
              <a:rPr lang="en-US" altLang="zh-CN" sz="2600" b="1" dirty="0">
                <a:solidFill>
                  <a:srgbClr val="FF0000"/>
                </a:solidFill>
              </a:rPr>
              <a:t>WHILE</a:t>
            </a:r>
            <a:r>
              <a:rPr lang="zh-CN" altLang="zh-CN" sz="2600" b="1" dirty="0">
                <a:solidFill>
                  <a:srgbClr val="FF0000"/>
                </a:solidFill>
              </a:rPr>
              <a:t>语句</a:t>
            </a:r>
          </a:p>
          <a:p>
            <a:pPr marL="0" indent="0">
              <a:buNone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】WHILE</a:t>
            </a:r>
            <a:r>
              <a:rPr lang="zh-CN" altLang="en-US" sz="2400" b="1" dirty="0"/>
              <a:t>语句示例，</a:t>
            </a:r>
            <a:r>
              <a:rPr lang="en-US" altLang="zh-CN" sz="2400" b="1" dirty="0"/>
              <a:t>id</a:t>
            </a:r>
            <a:r>
              <a:rPr lang="zh-CN" altLang="en-US" sz="2400" b="1" dirty="0"/>
              <a:t>值小于等于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之前，将重复执行循环过程，代码如下：</a:t>
            </a:r>
          </a:p>
          <a:p>
            <a:pPr marL="0" indent="0">
              <a:buNone/>
            </a:pPr>
            <a:r>
              <a:rPr lang="en-US" altLang="zh-CN" sz="2400" b="1" dirty="0"/>
              <a:t>DECLARE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INT DEFAULT 0;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WHILE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&lt; 10 DO</a:t>
            </a:r>
          </a:p>
          <a:p>
            <a:pPr marL="0" indent="0">
              <a:buNone/>
            </a:pPr>
            <a:r>
              <a:rPr lang="en-US" altLang="zh-CN" sz="2400" b="1" dirty="0"/>
              <a:t>SET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=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+ 1;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END WHILE</a:t>
            </a:r>
            <a:r>
              <a:rPr lang="en-US" altLang="zh-CN" sz="2400" b="1" dirty="0"/>
              <a:t>;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78371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690AE2-885E-4FF9-A4E5-7A7FEF563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使用游标</a:t>
            </a:r>
            <a:r>
              <a:rPr lang="en-US" altLang="zh-CN" dirty="0"/>
              <a:t>(cursor)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112D2-7FCF-4170-A420-F2BEE543B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772816"/>
            <a:ext cx="8229600" cy="2232248"/>
          </a:xfrm>
        </p:spPr>
        <p:txBody>
          <a:bodyPr/>
          <a:lstStyle/>
          <a:p>
            <a:r>
              <a:rPr lang="zh-CN" altLang="en-US" sz="2400" dirty="0"/>
              <a:t>游标是一个存储在</a:t>
            </a:r>
            <a:r>
              <a:rPr lang="en-US" altLang="zh-CN" sz="2400" dirty="0"/>
              <a:t>MySQL</a:t>
            </a:r>
            <a:r>
              <a:rPr lang="zh-CN" altLang="en-US" sz="2400" dirty="0"/>
              <a:t>服务器上的数据库查询，它不是一条</a:t>
            </a:r>
            <a:r>
              <a:rPr lang="en-US" altLang="zh-CN" sz="2400" dirty="0"/>
              <a:t>select</a:t>
            </a:r>
            <a:r>
              <a:rPr lang="zh-CN" altLang="en-US" sz="2400" dirty="0"/>
              <a:t>语句，而是被该语句检索出来的结果集。</a:t>
            </a:r>
            <a:endParaRPr lang="en-US" altLang="zh-CN" sz="2400" dirty="0"/>
          </a:p>
          <a:p>
            <a:r>
              <a:rPr lang="zh-CN" altLang="en-US" sz="2400" dirty="0"/>
              <a:t>在存储了游标之后，应用程序可以根据需要滚动或浏览其中的数据。</a:t>
            </a:r>
            <a:endParaRPr lang="en-US" altLang="zh-CN" sz="2400" dirty="0"/>
          </a:p>
          <a:p>
            <a:r>
              <a:rPr lang="zh-CN" altLang="en-US" sz="2400" dirty="0"/>
              <a:t>游标只能用于存储过程和函数（</a:t>
            </a:r>
            <a:r>
              <a:rPr lang="en-US" altLang="zh-CN" sz="2400" dirty="0"/>
              <a:t>MySQL</a:t>
            </a:r>
            <a:r>
              <a:rPr lang="zh-CN" altLang="en-US" sz="2400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214C4A-2D25-49C5-BBD9-B8DF1D1BB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6369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使用游标</a:t>
            </a:r>
          </a:p>
        </p:txBody>
      </p:sp>
      <p:sp>
        <p:nvSpPr>
          <p:cNvPr id="922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" name="Rectangle 1"/>
          <p:cNvSpPr>
            <a:spLocks noChangeArrowheads="1"/>
          </p:cNvSpPr>
          <p:nvPr/>
        </p:nvSpPr>
        <p:spPr bwMode="auto">
          <a:xfrm>
            <a:off x="914400" y="1741458"/>
            <a:ext cx="7848872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．声明游标</a:t>
            </a:r>
          </a:p>
          <a:p>
            <a:pPr eaLnBrk="1" hangingPunct="1"/>
            <a:r>
              <a:rPr lang="en-US" altLang="zh-CN" sz="2400" b="1" dirty="0"/>
              <a:t>DECLARE </a:t>
            </a:r>
            <a:r>
              <a:rPr lang="en-US" altLang="zh-CN" sz="2400" b="1" dirty="0" err="1"/>
              <a:t>cursor_name</a:t>
            </a:r>
            <a:r>
              <a:rPr lang="en-US" altLang="zh-CN" sz="2400" b="1" dirty="0"/>
              <a:t> CURSOR FOR </a:t>
            </a:r>
            <a:r>
              <a:rPr lang="en-US" altLang="zh-CN" sz="2400" b="1" dirty="0" err="1"/>
              <a:t>select_statement</a:t>
            </a:r>
            <a:r>
              <a:rPr lang="en-US" altLang="zh-CN" sz="2400" b="1" dirty="0"/>
              <a:t>;</a:t>
            </a:r>
            <a:endParaRPr lang="zh-CN" altLang="en-US" sz="2400" b="1" dirty="0"/>
          </a:p>
          <a:p>
            <a:pPr eaLnBrk="1" hangingPunct="1"/>
            <a:r>
              <a:rPr lang="en-US" altLang="zh-CN" sz="2400" b="1" dirty="0"/>
              <a:t>2</a:t>
            </a:r>
            <a:r>
              <a:rPr lang="zh-CN" altLang="en-US" sz="2400" b="1" dirty="0"/>
              <a:t>．打开游标</a:t>
            </a:r>
          </a:p>
          <a:p>
            <a:pPr eaLnBrk="1" hangingPunct="1"/>
            <a:r>
              <a:rPr lang="en-US" altLang="zh-CN" sz="2400" b="1" dirty="0"/>
              <a:t>OPEN </a:t>
            </a:r>
            <a:r>
              <a:rPr lang="en-US" altLang="zh-CN" sz="2400" b="1" dirty="0" err="1"/>
              <a:t>cursor_name</a:t>
            </a:r>
            <a:endParaRPr lang="zh-CN" altLang="en-US" sz="2400" b="1" dirty="0"/>
          </a:p>
          <a:p>
            <a:pPr eaLnBrk="1" hangingPunct="1"/>
            <a:r>
              <a:rPr lang="en-US" altLang="zh-CN" sz="2400" b="1" dirty="0"/>
              <a:t>3</a:t>
            </a:r>
            <a:r>
              <a:rPr lang="zh-CN" altLang="en-US" sz="2400" b="1" dirty="0"/>
              <a:t>．使用游标</a:t>
            </a:r>
          </a:p>
          <a:p>
            <a:pPr eaLnBrk="1" hangingPunct="1"/>
            <a:r>
              <a:rPr lang="en-US" altLang="zh-CN" sz="2400" b="1" dirty="0"/>
              <a:t>FETCH </a:t>
            </a:r>
            <a:r>
              <a:rPr lang="en-US" altLang="zh-CN" sz="2400" b="1" dirty="0" err="1"/>
              <a:t>cursor_name</a:t>
            </a:r>
            <a:r>
              <a:rPr lang="en-US" altLang="zh-CN" sz="2400" b="1" dirty="0"/>
              <a:t> INTO </a:t>
            </a:r>
            <a:r>
              <a:rPr lang="en-US" altLang="zh-CN" sz="2400" b="1" dirty="0" err="1"/>
              <a:t>var_name</a:t>
            </a:r>
            <a:r>
              <a:rPr lang="en-US" altLang="zh-CN" sz="2400" b="1" dirty="0"/>
              <a:t> [,</a:t>
            </a:r>
            <a:r>
              <a:rPr lang="en-US" altLang="zh-CN" sz="2400" b="1" dirty="0" err="1"/>
              <a:t>var_name</a:t>
            </a:r>
            <a:r>
              <a:rPr lang="en-US" altLang="zh-CN" sz="2400" b="1" dirty="0"/>
              <a:t>] …</a:t>
            </a:r>
          </a:p>
          <a:p>
            <a:pPr eaLnBrk="1" hangingPunct="1"/>
            <a:r>
              <a:rPr lang="en-US" altLang="zh-CN" sz="2400" b="1" dirty="0"/>
              <a:t>4</a:t>
            </a:r>
            <a:r>
              <a:rPr lang="zh-CN" altLang="en-US" sz="2400" b="1" dirty="0"/>
              <a:t>．关闭游标</a:t>
            </a:r>
          </a:p>
          <a:p>
            <a:pPr eaLnBrk="1" hangingPunct="1"/>
            <a:r>
              <a:rPr lang="en-US" altLang="zh-CN" sz="2400" b="1" dirty="0"/>
              <a:t>CLOSE </a:t>
            </a:r>
            <a:r>
              <a:rPr lang="en-US" altLang="zh-CN" sz="2400" b="1" dirty="0" err="1"/>
              <a:t>cursor_name</a:t>
            </a:r>
            <a:endParaRPr lang="en-US" altLang="zh-CN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90068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l">
              <a:buFont typeface="Cambria" panose="02040503050406030204" pitchFamily="18" charset="0"/>
              <a:buNone/>
            </a:pPr>
            <a:r>
              <a:rPr lang="zh-CN" altLang="en-US" sz="2800" dirty="0"/>
              <a:t>使用游标</a:t>
            </a: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5" name="Rectangle 1"/>
          <p:cNvSpPr>
            <a:spLocks noChangeArrowheads="1"/>
          </p:cNvSpPr>
          <p:nvPr/>
        </p:nvSpPr>
        <p:spPr bwMode="auto">
          <a:xfrm>
            <a:off x="-108520" y="1747555"/>
            <a:ext cx="9289727" cy="449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DROP PROCEDURE IF EXISTS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emplayee_count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DELIMITER $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创建存储过程</a:t>
            </a:r>
            <a:endParaRPr lang="zh-CN" altLang="en-US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PROCEDURE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emplayee_count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(OUT NUM INTEGER)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声明变量</a:t>
            </a:r>
            <a:endParaRPr lang="zh-CN" altLang="en-US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DECLARE  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emplayee_sal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INTEGER;</a:t>
            </a:r>
            <a:b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DECLARE   flag INTEGER;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声明游标</a:t>
            </a:r>
            <a:endParaRPr lang="zh-CN" altLang="en-US" sz="2200" b="1" dirty="0"/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altLang="zh-CN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cursor_emplayee</a:t>
            </a:r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2200" b="1" dirty="0">
              <a:solidFill>
                <a:srgbClr val="FF0000"/>
              </a:solidFill>
            </a:endParaRP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CURSOR FOR SELECT </a:t>
            </a:r>
            <a:r>
              <a:rPr lang="en-US" altLang="zh-CN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</a:t>
            </a:r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altLang="zh-CN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t_employee</a:t>
            </a:r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200" b="1" dirty="0">
              <a:solidFill>
                <a:srgbClr val="FF0000"/>
              </a:solidFill>
            </a:endParaRPr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句柄（在条件出现时被执行的代码）</a:t>
            </a:r>
            <a:endParaRPr lang="en-US" altLang="zh-CN" sz="22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 CONTINUE HANDLER FOR NOT FOUND SET flag = 1;</a:t>
            </a:r>
            <a:endParaRPr lang="en-US" altLang="zh-CN" sz="2200" b="1" dirty="0">
              <a:solidFill>
                <a:srgbClr val="0000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552" y="1376819"/>
            <a:ext cx="56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</a:rPr>
              <a:t>】</a:t>
            </a:r>
            <a:r>
              <a:rPr lang="zh-CN" altLang="en-US" sz="2400" b="1" dirty="0">
                <a:solidFill>
                  <a:srgbClr val="0000FF"/>
                </a:solidFill>
              </a:rPr>
              <a:t>统计工资大于</a:t>
            </a:r>
            <a:r>
              <a:rPr lang="en-US" altLang="zh-CN" sz="2400" b="1" dirty="0">
                <a:solidFill>
                  <a:srgbClr val="0000FF"/>
                </a:solidFill>
              </a:rPr>
              <a:t>999</a:t>
            </a:r>
            <a:r>
              <a:rPr lang="zh-CN" altLang="en-US" sz="2400" b="1" dirty="0">
                <a:solidFill>
                  <a:srgbClr val="0000FF"/>
                </a:solidFill>
              </a:rPr>
              <a:t>的雇员人数。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335669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82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906785" y="1249363"/>
            <a:ext cx="813690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设置结束标志</a:t>
            </a:r>
            <a:endParaRPr lang="zh-CN" altLang="en-US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flag=0;SET NUM=0;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打开游标</a:t>
            </a:r>
            <a:endParaRPr lang="zh-CN" altLang="en-US" sz="2200" b="1" dirty="0"/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cursor_emplayee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遍历游标指向的结果集</a:t>
            </a:r>
            <a:endParaRPr lang="zh-CN" altLang="en-US" sz="2200" b="1" dirty="0"/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FETCH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cursor_emplayee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INTO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emplayee_sal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flag&lt;&gt;1 DO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emplayee_sal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&gt;999 THEN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=num+1;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IF;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FETCH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cursor_emplayee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INTO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emplayee_sal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WHILE;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关闭游标</a:t>
            </a:r>
            <a:endParaRPr lang="zh-CN" altLang="en-US" sz="2200" b="1" dirty="0"/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cursor_emplayee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END$</a:t>
            </a:r>
            <a:endParaRPr lang="en-US" altLang="zh-CN" sz="2200" b="1" dirty="0"/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DELIMITER ;</a:t>
            </a:r>
            <a:endParaRPr lang="en-US" altLang="zh-CN" sz="2200" b="1" dirty="0"/>
          </a:p>
        </p:txBody>
      </p:sp>
    </p:spTree>
    <p:extLst>
      <p:ext uri="{BB962C8B-B14F-4D97-AF65-F5344CB8AC3E}">
        <p14:creationId xmlns:p14="http://schemas.microsoft.com/office/powerpoint/2010/main" val="308272822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定义条件和处理程序</a:t>
            </a:r>
            <a:endParaRPr lang="zh-CN" altLang="en-US" dirty="0"/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289620" y="1556792"/>
            <a:ext cx="864096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zh-CN" sz="2400" b="1" dirty="0">
                <a:solidFill>
                  <a:srgbClr val="FF0000"/>
                </a:solidFill>
              </a:rPr>
              <a:t>．定义条件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400" b="1" dirty="0"/>
              <a:t>定义程序执行中遇到的问题，指定需要特殊处理的条件。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DECLARE </a:t>
            </a:r>
            <a:r>
              <a:rPr lang="en-US" altLang="zh-CN" sz="2400" b="1" dirty="0" err="1">
                <a:solidFill>
                  <a:srgbClr val="0000FF"/>
                </a:solidFill>
              </a:rPr>
              <a:t>condition_name</a:t>
            </a:r>
            <a:r>
              <a:rPr lang="en-US" altLang="zh-CN" sz="2400" b="1" dirty="0">
                <a:solidFill>
                  <a:srgbClr val="0000FF"/>
                </a:solidFill>
              </a:rPr>
              <a:t> CONDITION FOR [</a:t>
            </a:r>
            <a:r>
              <a:rPr lang="en-US" altLang="zh-CN" sz="2400" b="1" dirty="0" err="1">
                <a:solidFill>
                  <a:srgbClr val="0000FF"/>
                </a:solidFill>
              </a:rPr>
              <a:t>condition_type</a:t>
            </a:r>
            <a:r>
              <a:rPr lang="en-US" altLang="zh-CN" sz="2400" b="1" dirty="0">
                <a:solidFill>
                  <a:srgbClr val="0000FF"/>
                </a:solidFill>
              </a:rPr>
              <a:t>]</a:t>
            </a:r>
          </a:p>
          <a:p>
            <a:pPr marL="0" indent="0">
              <a:buNone/>
            </a:pPr>
            <a:endParaRPr lang="en-US" altLang="zh-CN" sz="4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</a:rPr>
              <a:t>condition_type</a:t>
            </a:r>
            <a:r>
              <a:rPr lang="en-US" altLang="zh-CN" sz="2400" b="1" dirty="0">
                <a:solidFill>
                  <a:srgbClr val="0000FF"/>
                </a:solidFill>
              </a:rPr>
              <a:t>]: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  SQLSTATE [VALUE] </a:t>
            </a:r>
            <a:r>
              <a:rPr lang="en-US" altLang="zh-CN" sz="2400" b="1" dirty="0" err="1">
                <a:solidFill>
                  <a:srgbClr val="0000FF"/>
                </a:solidFill>
              </a:rPr>
              <a:t>sqlstate_value</a:t>
            </a:r>
            <a:r>
              <a:rPr lang="en-US" altLang="zh-CN" sz="2400" b="1" dirty="0">
                <a:solidFill>
                  <a:srgbClr val="0000FF"/>
                </a:solidFill>
              </a:rPr>
              <a:t> | </a:t>
            </a:r>
            <a:r>
              <a:rPr lang="en-US" altLang="zh-CN" sz="2400" b="1" dirty="0" err="1">
                <a:solidFill>
                  <a:srgbClr val="0000FF"/>
                </a:solidFill>
              </a:rPr>
              <a:t>mysql_error_code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400050" lvl="1" indent="0">
              <a:buNone/>
            </a:pPr>
            <a:r>
              <a:rPr lang="zh-CN" altLang="en-US" sz="2000" b="1" dirty="0"/>
              <a:t>其中，</a:t>
            </a:r>
            <a:r>
              <a:rPr lang="en-US" altLang="zh-CN" sz="2000" b="1" dirty="0"/>
              <a:t> </a:t>
            </a:r>
            <a:r>
              <a:rPr lang="en-US" altLang="zh-CN" sz="2000" b="1" dirty="0" err="1">
                <a:solidFill>
                  <a:srgbClr val="0070C0"/>
                </a:solidFill>
              </a:rPr>
              <a:t>condition_name</a:t>
            </a:r>
            <a:r>
              <a:rPr lang="zh-CN" altLang="en-US" sz="2000" b="1" dirty="0"/>
              <a:t>表示条件的名称；</a:t>
            </a:r>
            <a:endParaRPr lang="en-US" altLang="zh-CN" sz="2000" b="1" dirty="0"/>
          </a:p>
          <a:p>
            <a:pPr marL="400050" lvl="1" indent="0">
              <a:buNone/>
            </a:pPr>
            <a:r>
              <a:rPr lang="en-US" altLang="zh-CN" sz="2000" b="1" dirty="0" err="1">
                <a:solidFill>
                  <a:srgbClr val="0070C0"/>
                </a:solidFill>
              </a:rPr>
              <a:t>condition_type</a:t>
            </a:r>
            <a:r>
              <a:rPr lang="zh-CN" altLang="en-US" sz="2000" b="1" dirty="0"/>
              <a:t>表示条件的类型；</a:t>
            </a:r>
            <a:endParaRPr lang="en-US" altLang="zh-CN" sz="2000" b="1" dirty="0"/>
          </a:p>
          <a:p>
            <a:pPr marL="400050" lvl="1" indent="0">
              <a:buNone/>
            </a:pPr>
            <a:r>
              <a:rPr lang="en-US" altLang="zh-CN" sz="2000" b="1" dirty="0" err="1">
                <a:solidFill>
                  <a:srgbClr val="0070C0"/>
                </a:solidFill>
              </a:rPr>
              <a:t>sqlstate_value</a:t>
            </a:r>
            <a:r>
              <a:rPr lang="zh-CN" altLang="en-US" sz="2000" b="1" dirty="0"/>
              <a:t>和</a:t>
            </a:r>
            <a:r>
              <a:rPr lang="en-US" altLang="zh-CN" sz="2000" b="1" dirty="0" err="1">
                <a:solidFill>
                  <a:srgbClr val="0070C0"/>
                </a:solidFill>
              </a:rPr>
              <a:t>mysql_error_code</a:t>
            </a:r>
            <a:r>
              <a:rPr lang="zh-CN" altLang="en-US" sz="2000" b="1" dirty="0"/>
              <a:t>都可以表示</a:t>
            </a:r>
            <a:r>
              <a:rPr lang="en-US" altLang="zh-CN" sz="2000" b="1" dirty="0"/>
              <a:t>MySQL</a:t>
            </a:r>
            <a:r>
              <a:rPr lang="zh-CN" altLang="en-US" sz="2000" b="1" dirty="0"/>
              <a:t>的错误，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sqlstate_value</a:t>
            </a:r>
            <a:r>
              <a:rPr lang="zh-CN" altLang="en-US" sz="2000" b="1" dirty="0"/>
              <a:t>为</a:t>
            </a:r>
            <a:r>
              <a:rPr lang="zh-CN" altLang="en-US" sz="2000" b="1" u="sng" dirty="0"/>
              <a:t>长度为</a:t>
            </a:r>
            <a:r>
              <a:rPr lang="en-US" altLang="zh-CN" sz="2000" b="1" u="sng" dirty="0"/>
              <a:t>5</a:t>
            </a:r>
            <a:r>
              <a:rPr lang="zh-CN" altLang="en-US" sz="2000" b="1" u="sng" dirty="0"/>
              <a:t>的字符串类型</a:t>
            </a:r>
            <a:r>
              <a:rPr lang="zh-CN" altLang="en-US" sz="2000" b="1" dirty="0"/>
              <a:t>错误代码，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mysql_error_code</a:t>
            </a:r>
            <a:r>
              <a:rPr lang="zh-CN" altLang="en-US" sz="2000" b="1" dirty="0"/>
              <a:t>为</a:t>
            </a:r>
            <a:r>
              <a:rPr lang="zh-CN" altLang="en-US" sz="2000" b="1" u="sng" dirty="0"/>
              <a:t>数值类型</a:t>
            </a:r>
            <a:r>
              <a:rPr lang="zh-CN" altLang="en-US" sz="2000" b="1" dirty="0"/>
              <a:t>错误代码。例如在</a:t>
            </a:r>
            <a:r>
              <a:rPr lang="en-US" altLang="zh-CN" sz="2000" b="1" dirty="0"/>
              <a:t>ERROR1142(42000)</a:t>
            </a:r>
            <a:r>
              <a:rPr lang="zh-CN" altLang="en-US" sz="2000" b="1" dirty="0"/>
              <a:t>中，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sqlstate_value</a:t>
            </a:r>
            <a:r>
              <a:rPr lang="zh-CN" altLang="en-US" sz="2000" b="1" dirty="0"/>
              <a:t>的值是</a:t>
            </a:r>
            <a:r>
              <a:rPr lang="en-US" altLang="zh-CN" sz="2000" b="1" dirty="0"/>
              <a:t>42000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mysql_error_code</a:t>
            </a:r>
            <a:r>
              <a:rPr lang="zh-CN" altLang="en-US" sz="2000" b="1" dirty="0"/>
              <a:t>的值</a:t>
            </a:r>
            <a:r>
              <a:rPr lang="en-US" altLang="zh-CN" sz="2000" b="1" dirty="0"/>
              <a:t>1142.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5657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84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683568" y="1628800"/>
            <a:ext cx="7848872" cy="4467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【例7】定义"ERROR 1148(42000)"错误，名称为command_not_allowed。可以用两种不同的方法来定义，代码如下：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//方法一：使用sqlstate_value 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DECLARE  command_not_allowed CONDITION FOR SQLSTATE '42000';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//方法二：使用mysql_error_code 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DECLARE  command_not_allowed CONDITION  FOR  1148</a:t>
            </a:r>
          </a:p>
        </p:txBody>
      </p:sp>
    </p:spTree>
    <p:extLst>
      <p:ext uri="{BB962C8B-B14F-4D97-AF65-F5344CB8AC3E}">
        <p14:creationId xmlns:p14="http://schemas.microsoft.com/office/powerpoint/2010/main" val="40962741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685800"/>
            <a:ext cx="7118176" cy="563563"/>
          </a:xfrm>
        </p:spPr>
        <p:txBody>
          <a:bodyPr/>
          <a:lstStyle/>
          <a:p>
            <a:pPr algn="l"/>
            <a:r>
              <a:rPr lang="en-US" altLang="zh-CN" sz="2800" dirty="0"/>
              <a:t>2</a:t>
            </a:r>
            <a:r>
              <a:rPr lang="zh-CN" altLang="zh-CN" sz="2800" dirty="0"/>
              <a:t>．定义处理程序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9" y="1412776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定义处理程序</a:t>
            </a:r>
            <a:r>
              <a:rPr lang="zh-CN" altLang="en-US" sz="2400" b="1" dirty="0"/>
              <a:t>时，使用</a:t>
            </a:r>
            <a:r>
              <a:rPr lang="en-US" altLang="zh-CN" sz="2400" b="1" dirty="0"/>
              <a:t>DECLARE</a:t>
            </a:r>
            <a:r>
              <a:rPr lang="zh-CN" altLang="en-US" sz="2400" b="1" dirty="0"/>
              <a:t>语句的语法如下：</a:t>
            </a:r>
          </a:p>
          <a:p>
            <a:pPr marL="0" indent="0">
              <a:buNone/>
            </a:pPr>
            <a:r>
              <a:rPr lang="en-US" altLang="zh-CN" sz="2400" b="1" dirty="0"/>
              <a:t>     </a:t>
            </a:r>
            <a:r>
              <a:rPr lang="en-US" altLang="zh-CN" sz="2400" b="1" dirty="0">
                <a:solidFill>
                  <a:srgbClr val="0000FF"/>
                </a:solidFill>
              </a:rPr>
              <a:t>DECLARE </a:t>
            </a:r>
            <a:r>
              <a:rPr lang="en-US" altLang="zh-CN" sz="2400" b="1" dirty="0" err="1">
                <a:solidFill>
                  <a:srgbClr val="0000FF"/>
                </a:solidFill>
              </a:rPr>
              <a:t>handler_type</a:t>
            </a:r>
            <a:r>
              <a:rPr lang="en-US" altLang="zh-CN" sz="2400" b="1" dirty="0">
                <a:solidFill>
                  <a:srgbClr val="0000FF"/>
                </a:solidFill>
              </a:rPr>
              <a:t> HANDLER FOR </a:t>
            </a:r>
            <a:br>
              <a:rPr lang="en-US" altLang="zh-CN" sz="2400" b="1" dirty="0">
                <a:solidFill>
                  <a:srgbClr val="0000FF"/>
                </a:solidFill>
              </a:rPr>
            </a:br>
            <a:r>
              <a:rPr lang="en-US" altLang="zh-CN" sz="2400" b="1" dirty="0">
                <a:solidFill>
                  <a:srgbClr val="0000FF"/>
                </a:solidFill>
              </a:rPr>
              <a:t>           </a:t>
            </a:r>
            <a:r>
              <a:rPr lang="en-US" altLang="zh-CN" sz="2400" b="1" dirty="0" err="1">
                <a:solidFill>
                  <a:srgbClr val="0000FF"/>
                </a:solidFill>
              </a:rPr>
              <a:t>condition_value</a:t>
            </a:r>
            <a:r>
              <a:rPr lang="en-US" altLang="zh-CN" sz="2400" b="1" dirty="0">
                <a:solidFill>
                  <a:srgbClr val="0000FF"/>
                </a:solidFill>
              </a:rPr>
              <a:t>[,...]   </a:t>
            </a:r>
            <a:r>
              <a:rPr lang="en-US" altLang="zh-CN" sz="2400" b="1" dirty="0" err="1">
                <a:solidFill>
                  <a:srgbClr val="0000FF"/>
                </a:solidFill>
              </a:rPr>
              <a:t>sp_statement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altLang="zh-CN" sz="2200" b="1" dirty="0"/>
          </a:p>
          <a:p>
            <a:pPr marL="0" indent="0">
              <a:buNone/>
            </a:pPr>
            <a:r>
              <a:rPr lang="zh-CN" altLang="en-US" sz="2200" b="1" dirty="0"/>
              <a:t>其中：</a:t>
            </a:r>
            <a:endParaRPr lang="en-US" altLang="zh-CN" sz="2200" b="1" dirty="0"/>
          </a:p>
          <a:p>
            <a:pPr marL="0" indent="0">
              <a:buNone/>
            </a:pPr>
            <a:r>
              <a:rPr lang="en-US" altLang="zh-CN" sz="2200" b="1" dirty="0"/>
              <a:t>  </a:t>
            </a:r>
            <a:r>
              <a:rPr lang="en-US" altLang="zh-CN" sz="2200" b="1" dirty="0" err="1">
                <a:solidFill>
                  <a:srgbClr val="0070C0"/>
                </a:solidFill>
              </a:rPr>
              <a:t>handler_type</a:t>
            </a:r>
            <a:r>
              <a:rPr lang="en-US" altLang="zh-CN" sz="2200" b="1" dirty="0">
                <a:solidFill>
                  <a:srgbClr val="0070C0"/>
                </a:solidFill>
              </a:rPr>
              <a:t>:          /*</a:t>
            </a:r>
            <a:r>
              <a:rPr lang="zh-CN" altLang="en-US" sz="2200" b="1" dirty="0">
                <a:solidFill>
                  <a:srgbClr val="0070C0"/>
                </a:solidFill>
              </a:rPr>
              <a:t>错误处理方式</a:t>
            </a:r>
            <a:r>
              <a:rPr lang="en-US" altLang="zh-CN" sz="2200" b="1" dirty="0">
                <a:solidFill>
                  <a:srgbClr val="0070C0"/>
                </a:solidFill>
              </a:rPr>
              <a:t>*/</a:t>
            </a:r>
          </a:p>
          <a:p>
            <a:pPr marL="0" indent="0">
              <a:buNone/>
            </a:pPr>
            <a:r>
              <a:rPr lang="en-US" altLang="zh-CN" sz="2200" b="1" dirty="0">
                <a:solidFill>
                  <a:srgbClr val="0070C0"/>
                </a:solidFill>
              </a:rPr>
              <a:t>    CONTINUE | EXIT | UNDO</a:t>
            </a:r>
          </a:p>
          <a:p>
            <a:pPr marL="400050" lvl="1" indent="0">
              <a:buNone/>
            </a:pPr>
            <a:r>
              <a:rPr lang="en-US" altLang="zh-CN" sz="1800" b="1" dirty="0"/>
              <a:t> </a:t>
            </a:r>
            <a:r>
              <a:rPr lang="en-US" altLang="zh-CN" sz="2000" b="1" dirty="0"/>
              <a:t>CONTINUE</a:t>
            </a:r>
            <a:r>
              <a:rPr lang="zh-CN" altLang="en-US" sz="2000" b="1" dirty="0"/>
              <a:t>：遇到错误不处理，继续执行；</a:t>
            </a:r>
            <a:endParaRPr lang="en-US" altLang="zh-CN" sz="2000" b="1" dirty="0"/>
          </a:p>
          <a:p>
            <a:pPr marL="400050" lvl="1" indent="0">
              <a:buNone/>
            </a:pPr>
            <a:r>
              <a:rPr lang="en-US" altLang="zh-CN" sz="2000" b="1" dirty="0"/>
              <a:t> EXIT </a:t>
            </a:r>
            <a:r>
              <a:rPr lang="zh-CN" altLang="en-US" sz="2000" b="1" dirty="0"/>
              <a:t>：遇到错误马上退出；</a:t>
            </a:r>
            <a:endParaRPr lang="en-US" altLang="zh-CN" sz="2000" b="1" dirty="0"/>
          </a:p>
          <a:p>
            <a:pPr marL="400050" lvl="1" indent="0">
              <a:buNone/>
            </a:pPr>
            <a:r>
              <a:rPr lang="en-US" altLang="zh-CN" sz="2000" b="1" dirty="0"/>
              <a:t>UNDO</a:t>
            </a:r>
            <a:r>
              <a:rPr lang="zh-CN" altLang="en-US" sz="2000" b="1" dirty="0"/>
              <a:t>：遇到错误后撤回之前的操作，</a:t>
            </a:r>
            <a:r>
              <a:rPr lang="en-US" altLang="zh-CN" sz="2000" b="1" dirty="0"/>
              <a:t>MySQL</a:t>
            </a:r>
            <a:r>
              <a:rPr lang="zh-CN" altLang="en-US" sz="2000" b="1" dirty="0"/>
              <a:t>暂不支持这样的操作。</a:t>
            </a:r>
            <a:endParaRPr lang="en-US" altLang="zh-CN" sz="20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54616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464" y="1556792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 err="1">
                <a:solidFill>
                  <a:srgbClr val="0000FF"/>
                </a:solidFill>
              </a:rPr>
              <a:t>condition_value</a:t>
            </a:r>
            <a:r>
              <a:rPr lang="en-US" altLang="zh-CN" sz="2400" b="1" dirty="0">
                <a:solidFill>
                  <a:srgbClr val="0000FF"/>
                </a:solidFill>
              </a:rPr>
              <a:t>:      </a:t>
            </a:r>
            <a:r>
              <a:rPr lang="en-US" altLang="zh-CN" sz="2400" b="1" dirty="0"/>
              <a:t>/*</a:t>
            </a:r>
            <a:r>
              <a:rPr lang="zh-CN" altLang="en-US" sz="2400" b="1" dirty="0"/>
              <a:t>错误类型</a:t>
            </a:r>
            <a:r>
              <a:rPr lang="en-US" altLang="zh-CN" sz="2400" b="1" dirty="0"/>
              <a:t>*/</a:t>
            </a:r>
          </a:p>
          <a:p>
            <a:pPr marL="0" indent="0">
              <a:buNone/>
            </a:pPr>
            <a:r>
              <a:rPr lang="zh-CN" altLang="en-US" sz="2400" b="1" dirty="0"/>
              <a:t>可以有以下取值：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>
                <a:solidFill>
                  <a:srgbClr val="C00000"/>
                </a:solidFill>
              </a:rPr>
              <a:t>SQLSTATE [VALUE] </a:t>
            </a:r>
            <a:r>
              <a:rPr lang="en-US" altLang="zh-CN" sz="2400" b="1" dirty="0" err="1">
                <a:solidFill>
                  <a:srgbClr val="C00000"/>
                </a:solidFill>
              </a:rPr>
              <a:t>sqlstate_value</a:t>
            </a:r>
            <a:br>
              <a:rPr lang="en-US" altLang="zh-CN" sz="2400" b="1" dirty="0"/>
            </a:br>
            <a:r>
              <a:rPr lang="en-US" altLang="zh-CN" sz="2000" b="1" dirty="0"/>
              <a:t>           /* </a:t>
            </a:r>
            <a:r>
              <a:rPr lang="en-US" altLang="zh-CN" sz="2000" b="1" dirty="0" err="1"/>
              <a:t>sqlstate_value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包含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个字符的字符串错误值</a:t>
            </a:r>
            <a:r>
              <a:rPr lang="en-US" altLang="zh-CN" sz="2000" b="1" dirty="0"/>
              <a:t>*/</a:t>
            </a:r>
          </a:p>
          <a:p>
            <a:pPr marL="0" indent="0">
              <a:buNone/>
            </a:pPr>
            <a:r>
              <a:rPr lang="en-US" altLang="zh-CN" sz="2400" b="1" dirty="0"/>
              <a:t> | </a:t>
            </a:r>
            <a:r>
              <a:rPr lang="en-US" altLang="zh-CN" sz="2400" b="1" dirty="0" err="1">
                <a:solidFill>
                  <a:srgbClr val="C00000"/>
                </a:solidFill>
              </a:rPr>
              <a:t>condition_name</a:t>
            </a:r>
            <a:br>
              <a:rPr lang="en-US" altLang="zh-CN" sz="2400" b="1" dirty="0"/>
            </a:br>
            <a:r>
              <a:rPr lang="en-US" altLang="zh-CN" sz="2400" b="1" dirty="0"/>
              <a:t>           </a:t>
            </a:r>
            <a:r>
              <a:rPr lang="en-US" altLang="zh-CN" sz="2000" b="1" dirty="0"/>
              <a:t>/*</a:t>
            </a:r>
            <a:r>
              <a:rPr lang="zh-CN" altLang="en-US" sz="2000" b="1" dirty="0"/>
              <a:t> DECLARE  CONDITION定义的错误条件名称 </a:t>
            </a:r>
            <a:r>
              <a:rPr lang="en-US" altLang="zh-CN" sz="2000" b="1" dirty="0"/>
              <a:t>*/</a:t>
            </a:r>
          </a:p>
          <a:p>
            <a:pPr marL="0" indent="0">
              <a:buNone/>
            </a:pPr>
            <a:r>
              <a:rPr lang="en-US" altLang="zh-CN" sz="2400" b="1" dirty="0"/>
              <a:t> | </a:t>
            </a:r>
            <a:r>
              <a:rPr lang="en-US" altLang="zh-CN" sz="2400" b="1" dirty="0">
                <a:solidFill>
                  <a:srgbClr val="C00000"/>
                </a:solidFill>
              </a:rPr>
              <a:t>SQLWARNING</a:t>
            </a:r>
            <a:r>
              <a:rPr lang="en-US" altLang="zh-CN" sz="2400" b="1" dirty="0"/>
              <a:t>    </a:t>
            </a:r>
            <a:r>
              <a:rPr lang="en-US" altLang="zh-CN" sz="2000" b="1" dirty="0"/>
              <a:t>/* </a:t>
            </a:r>
            <a:r>
              <a:rPr lang="zh-CN" altLang="en-US" sz="2000" b="1" dirty="0"/>
              <a:t>匹配所有以</a:t>
            </a:r>
            <a:r>
              <a:rPr lang="en-US" altLang="zh-CN" sz="2000" b="1" dirty="0"/>
              <a:t>01</a:t>
            </a:r>
            <a:r>
              <a:rPr lang="zh-CN" altLang="en-US" sz="2000" b="1" dirty="0"/>
              <a:t>开头的</a:t>
            </a:r>
            <a:r>
              <a:rPr lang="en-US" altLang="zh-CN" sz="2000" b="1" dirty="0"/>
              <a:t>SQLSTATE</a:t>
            </a:r>
            <a:r>
              <a:rPr lang="zh-CN" altLang="en-US" sz="2000" b="1" dirty="0"/>
              <a:t>错误代码</a:t>
            </a:r>
            <a:r>
              <a:rPr lang="en-US" altLang="zh-CN" sz="2000" b="1" dirty="0"/>
              <a:t>*/</a:t>
            </a:r>
          </a:p>
          <a:p>
            <a:pPr marL="0" indent="0">
              <a:buNone/>
            </a:pPr>
            <a:r>
              <a:rPr lang="en-US" altLang="zh-CN" sz="2400" b="1" dirty="0"/>
              <a:t> | </a:t>
            </a:r>
            <a:r>
              <a:rPr lang="en-US" altLang="zh-CN" sz="2400" b="1" dirty="0">
                <a:solidFill>
                  <a:srgbClr val="C00000"/>
                </a:solidFill>
              </a:rPr>
              <a:t>NOT FOUND    </a:t>
            </a:r>
            <a:r>
              <a:rPr lang="en-US" altLang="zh-CN" sz="2000" b="1" dirty="0"/>
              <a:t>/*</a:t>
            </a:r>
            <a:r>
              <a:rPr lang="zh-CN" altLang="en-US" sz="2000" b="1" dirty="0"/>
              <a:t>匹配所有以</a:t>
            </a:r>
            <a:r>
              <a:rPr lang="en-US" altLang="zh-CN" sz="2000" b="1" dirty="0"/>
              <a:t>02</a:t>
            </a:r>
            <a:r>
              <a:rPr lang="zh-CN" altLang="en-US" sz="2000" b="1" dirty="0"/>
              <a:t>开头的</a:t>
            </a:r>
            <a:r>
              <a:rPr lang="en-US" altLang="zh-CN" sz="2000" b="1" dirty="0"/>
              <a:t>SQLSTATE</a:t>
            </a:r>
            <a:r>
              <a:rPr lang="zh-CN" altLang="en-US" sz="2000" b="1" dirty="0"/>
              <a:t>错误代码</a:t>
            </a:r>
            <a:r>
              <a:rPr lang="en-US" altLang="zh-CN" sz="2000" b="1" dirty="0"/>
              <a:t>*/</a:t>
            </a:r>
          </a:p>
          <a:p>
            <a:pPr marL="0" indent="0">
              <a:buNone/>
            </a:pPr>
            <a:r>
              <a:rPr lang="en-US" altLang="zh-CN" sz="2400" b="1" dirty="0"/>
              <a:t> | </a:t>
            </a:r>
            <a:r>
              <a:rPr lang="en-US" altLang="zh-CN" sz="2400" b="1" dirty="0">
                <a:solidFill>
                  <a:srgbClr val="C00000"/>
                </a:solidFill>
              </a:rPr>
              <a:t>SQLEXCEPTION</a:t>
            </a:r>
            <a:br>
              <a:rPr lang="en-US" altLang="zh-CN" sz="2400" b="1" dirty="0"/>
            </a:br>
            <a:r>
              <a:rPr lang="en-US" altLang="zh-CN" sz="2400" b="1" dirty="0"/>
              <a:t>       </a:t>
            </a:r>
            <a:r>
              <a:rPr lang="en-US" altLang="zh-CN" sz="2000" b="1" dirty="0"/>
              <a:t>/*</a:t>
            </a:r>
            <a:r>
              <a:rPr lang="zh-CN" altLang="en-US" sz="2000" b="1" dirty="0"/>
              <a:t>匹配所有没有被</a:t>
            </a:r>
            <a:r>
              <a:rPr lang="en-US" altLang="zh-CN" sz="2000" b="1" dirty="0"/>
              <a:t>SQLWARNING</a:t>
            </a:r>
            <a:r>
              <a:rPr lang="zh-CN" altLang="en-US" sz="2000" b="1" dirty="0"/>
              <a:t>或</a:t>
            </a:r>
            <a:r>
              <a:rPr lang="en-US" altLang="zh-CN" sz="2000" b="1" dirty="0"/>
              <a:t>NOT FOUND</a:t>
            </a:r>
            <a:r>
              <a:rPr lang="zh-CN" altLang="en-US" sz="2000" b="1" dirty="0"/>
              <a:t>捕获的的</a:t>
            </a:r>
            <a:r>
              <a:rPr lang="en-US" altLang="zh-CN" sz="2000" b="1" dirty="0"/>
              <a:t>SQLSTATE</a:t>
            </a:r>
            <a:r>
              <a:rPr lang="zh-CN" altLang="en-US" sz="2000" b="1" dirty="0"/>
              <a:t>错误代码</a:t>
            </a:r>
            <a:r>
              <a:rPr lang="en-US" altLang="zh-CN" sz="2000" b="1" dirty="0"/>
              <a:t>*/</a:t>
            </a:r>
          </a:p>
          <a:p>
            <a:pPr marL="0" indent="0">
              <a:buNone/>
            </a:pPr>
            <a:r>
              <a:rPr lang="en-US" altLang="zh-CN" sz="2400" b="1" dirty="0"/>
              <a:t> | </a:t>
            </a:r>
            <a:r>
              <a:rPr lang="en-US" altLang="zh-CN" sz="2400" b="1" dirty="0" err="1">
                <a:solidFill>
                  <a:srgbClr val="C00000"/>
                </a:solidFill>
              </a:rPr>
              <a:t>mysql_error_code</a:t>
            </a:r>
            <a:r>
              <a:rPr lang="en-US" altLang="zh-CN" sz="2400" b="1" dirty="0"/>
              <a:t>  </a:t>
            </a:r>
            <a:r>
              <a:rPr lang="en-US" altLang="zh-CN" sz="2000" b="1" dirty="0"/>
              <a:t>/*</a:t>
            </a:r>
            <a:r>
              <a:rPr lang="zh-CN" altLang="en-US" sz="2000" b="1" dirty="0"/>
              <a:t>匹配数值类型错误代码</a:t>
            </a:r>
            <a:r>
              <a:rPr lang="en-US" altLang="zh-CN" sz="2000" b="1" dirty="0"/>
              <a:t>*/</a:t>
            </a:r>
            <a:endParaRPr lang="zh-CN" altLang="en-US" sz="2000" b="1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161636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8" y="1268760"/>
            <a:ext cx="8492777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8】</a:t>
            </a:r>
            <a:r>
              <a:rPr lang="zh-CN" altLang="en-US" sz="2400" b="1" dirty="0"/>
              <a:t>定义处理程序的几种方式，代码如下：</a:t>
            </a:r>
          </a:p>
          <a:p>
            <a:pPr marL="0" indent="0">
              <a:buNone/>
            </a:pPr>
            <a:r>
              <a:rPr lang="en-US" altLang="zh-CN" sz="2400" b="1" dirty="0"/>
              <a:t>//</a:t>
            </a:r>
            <a:r>
              <a:rPr lang="zh-CN" altLang="en-US" sz="2400" b="1" dirty="0"/>
              <a:t>方法一：捕获</a:t>
            </a:r>
            <a:r>
              <a:rPr lang="en-US" altLang="zh-CN" sz="2400" b="1" dirty="0" err="1"/>
              <a:t>sqlstate_value</a:t>
            </a:r>
            <a:r>
              <a:rPr lang="en-US" altLang="zh-CN" sz="2400" b="1" dirty="0"/>
              <a:t> 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DECLARE</a:t>
            </a:r>
            <a:r>
              <a:rPr lang="en-US" altLang="zh-CN" sz="2400" b="1" dirty="0"/>
              <a:t> CONTINUE </a:t>
            </a:r>
            <a:r>
              <a:rPr lang="en-US" altLang="zh-CN" sz="2400" b="1" dirty="0">
                <a:solidFill>
                  <a:srgbClr val="FF0000"/>
                </a:solidFill>
              </a:rPr>
              <a:t>HANDLER FOR </a:t>
            </a:r>
            <a:r>
              <a:rPr lang="en-US" altLang="zh-CN" sz="2400" b="1" dirty="0"/>
              <a:t>SQLSTATE '42S02' SET @info='NO_SUCH_TABLE';</a:t>
            </a:r>
          </a:p>
          <a:p>
            <a:pPr marL="0" indent="0">
              <a:buNone/>
            </a:pPr>
            <a:r>
              <a:rPr lang="zh-CN" altLang="en-US" sz="1300" b="1" dirty="0"/>
              <a:t>      如果遇到</a:t>
            </a:r>
            <a:r>
              <a:rPr lang="en-US" altLang="zh-CN" sz="1300" b="1" dirty="0" err="1"/>
              <a:t>sqlstate_value</a:t>
            </a:r>
            <a:r>
              <a:rPr lang="zh-CN" altLang="en-US" sz="1300" b="1" dirty="0"/>
              <a:t>值为</a:t>
            </a:r>
            <a:r>
              <a:rPr lang="en-US" altLang="zh-CN" sz="1400" b="1" dirty="0"/>
              <a:t>‘42S02’</a:t>
            </a:r>
            <a:r>
              <a:rPr lang="zh-CN" altLang="en-US" sz="1400" b="1" dirty="0"/>
              <a:t>，执行</a:t>
            </a:r>
            <a:r>
              <a:rPr lang="en-US" altLang="zh-CN" sz="1400" b="1" dirty="0"/>
              <a:t>CONTINUE</a:t>
            </a:r>
            <a:r>
              <a:rPr lang="zh-CN" altLang="en-US" sz="1400" b="1" dirty="0"/>
              <a:t>操作，并且输出</a:t>
            </a:r>
            <a:r>
              <a:rPr lang="en-US" altLang="zh-CN" sz="1400" b="1" dirty="0"/>
              <a:t>‘NO_SUCH_TABLE‘</a:t>
            </a:r>
            <a:r>
              <a:rPr lang="zh-CN" altLang="en-US" sz="1400" b="1" dirty="0"/>
              <a:t>信息。</a:t>
            </a:r>
            <a:endParaRPr lang="en-US" altLang="zh-CN" sz="1300" b="1" dirty="0"/>
          </a:p>
          <a:p>
            <a:pPr marL="0" indent="0">
              <a:buNone/>
            </a:pPr>
            <a:endParaRPr lang="en-US" altLang="zh-CN" sz="500" b="1" dirty="0"/>
          </a:p>
          <a:p>
            <a:pPr marL="0" indent="0">
              <a:buNone/>
            </a:pPr>
            <a:r>
              <a:rPr lang="en-US" altLang="zh-CN" sz="2400" b="1" dirty="0"/>
              <a:t>//</a:t>
            </a:r>
            <a:r>
              <a:rPr lang="zh-CN" altLang="en-US" sz="2400" b="1" dirty="0"/>
              <a:t>方法二：捕获</a:t>
            </a:r>
            <a:r>
              <a:rPr lang="en-US" altLang="zh-CN" sz="2400" b="1" dirty="0" err="1"/>
              <a:t>mysql_error_code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DECLARE CONTINUE HANDLER FOR 1146 SET @info=' NO_SUCH_TABLE ';</a:t>
            </a:r>
          </a:p>
          <a:p>
            <a:pPr marL="0" indent="0">
              <a:buNone/>
            </a:pPr>
            <a:r>
              <a:rPr lang="zh-CN" altLang="en-US" sz="1300" b="1" dirty="0"/>
              <a:t>      如果遇到</a:t>
            </a:r>
            <a:r>
              <a:rPr lang="en-US" altLang="zh-CN" sz="1400" b="1" dirty="0" err="1"/>
              <a:t>mysql_error_code</a:t>
            </a:r>
            <a:r>
              <a:rPr lang="zh-CN" altLang="en-US" sz="1300" b="1" dirty="0"/>
              <a:t>值为</a:t>
            </a:r>
            <a:r>
              <a:rPr lang="en-US" altLang="zh-CN" sz="1400" b="1" dirty="0"/>
              <a:t>1146 </a:t>
            </a:r>
            <a:r>
              <a:rPr lang="zh-CN" altLang="en-US" sz="1300" b="1" dirty="0"/>
              <a:t>，执行</a:t>
            </a:r>
            <a:r>
              <a:rPr lang="en-US" altLang="zh-CN" sz="1300" b="1" dirty="0"/>
              <a:t>CONTINUE</a:t>
            </a:r>
            <a:r>
              <a:rPr lang="zh-CN" altLang="en-US" sz="1300" b="1" dirty="0"/>
              <a:t>操作，并且输出</a:t>
            </a:r>
            <a:r>
              <a:rPr lang="en-US" altLang="zh-CN" sz="1300" b="1" dirty="0"/>
              <a:t>‘NO_SUCH_TABLE‘</a:t>
            </a:r>
            <a:r>
              <a:rPr lang="zh-CN" altLang="en-US" sz="1300" b="1" dirty="0"/>
              <a:t>信息。</a:t>
            </a:r>
            <a:endParaRPr lang="en-US" altLang="zh-CN" sz="1300" b="1" dirty="0"/>
          </a:p>
          <a:p>
            <a:pPr marL="0" indent="0">
              <a:buNone/>
            </a:pPr>
            <a:endParaRPr lang="en-US" altLang="zh-CN" sz="500" b="1" dirty="0"/>
          </a:p>
          <a:p>
            <a:pPr marL="0" indent="0">
              <a:buNone/>
            </a:pPr>
            <a:r>
              <a:rPr lang="en-US" altLang="zh-CN" sz="2400" b="1" dirty="0"/>
              <a:t>//</a:t>
            </a:r>
            <a:r>
              <a:rPr lang="zh-CN" altLang="en-US" sz="2400" b="1" dirty="0"/>
              <a:t>方法三：先定义条件，然后调用</a:t>
            </a:r>
          </a:p>
          <a:p>
            <a:pPr marL="0" indent="0">
              <a:buNone/>
            </a:pPr>
            <a:r>
              <a:rPr lang="en-US" altLang="zh-CN" sz="2400" b="1" dirty="0"/>
              <a:t>DECLARE  </a:t>
            </a:r>
            <a:r>
              <a:rPr lang="en-US" altLang="zh-CN" sz="2400" b="1" dirty="0" err="1"/>
              <a:t>no_such_table</a:t>
            </a:r>
            <a:r>
              <a:rPr lang="en-US" altLang="zh-CN" sz="2400" b="1" dirty="0"/>
              <a:t>  CONDITION  FOR  1146;</a:t>
            </a:r>
          </a:p>
          <a:p>
            <a:pPr marL="0" indent="0">
              <a:buNone/>
            </a:pPr>
            <a:r>
              <a:rPr lang="en-US" altLang="zh-CN" sz="2400" b="1" dirty="0"/>
              <a:t>DECLARE CONTINUE HANDLER FOR NO_SUCH_TABLE SET @info=' NO_SUCH_TABLE ';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87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962819" y="620688"/>
            <a:ext cx="7391400" cy="563563"/>
          </a:xfrm>
        </p:spPr>
        <p:txBody>
          <a:bodyPr/>
          <a:lstStyle/>
          <a:p>
            <a:r>
              <a:rPr lang="zh-CN" altLang="zh-CN" sz="2800" dirty="0"/>
              <a:t>定义处理程序</a:t>
            </a:r>
            <a:r>
              <a:rPr lang="zh-CN" altLang="en-US" sz="2800" dirty="0"/>
              <a:t>（例）</a:t>
            </a:r>
          </a:p>
        </p:txBody>
      </p:sp>
    </p:spTree>
    <p:extLst>
      <p:ext uri="{BB962C8B-B14F-4D97-AF65-F5344CB8AC3E}">
        <p14:creationId xmlns:p14="http://schemas.microsoft.com/office/powerpoint/2010/main" val="41952341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9" y="1556792"/>
            <a:ext cx="8253164" cy="460848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200" b="1" dirty="0"/>
              <a:t>//</a:t>
            </a:r>
            <a:r>
              <a:rPr lang="zh-CN" altLang="en-US" sz="2200" b="1" dirty="0"/>
              <a:t>方法四：使用</a:t>
            </a:r>
            <a:r>
              <a:rPr lang="en-US" altLang="zh-CN" sz="2200" b="1" dirty="0"/>
              <a:t>SQLWARNING</a:t>
            </a:r>
          </a:p>
          <a:p>
            <a:pPr marL="0" indent="0">
              <a:buNone/>
            </a:pPr>
            <a:r>
              <a:rPr lang="en-US" altLang="zh-CN" sz="2200" b="1" dirty="0"/>
              <a:t>DECLARE EXIT HANDLER FOR SQLWARNING SET @info='ERROR';</a:t>
            </a:r>
          </a:p>
          <a:p>
            <a:pPr marL="0" indent="0">
              <a:buNone/>
            </a:pPr>
            <a:r>
              <a:rPr lang="zh-CN" altLang="en-US" sz="1300" b="1" dirty="0"/>
              <a:t>   捕获所有以</a:t>
            </a:r>
            <a:r>
              <a:rPr lang="en-US" altLang="zh-CN" sz="1300" b="1" dirty="0"/>
              <a:t>01</a:t>
            </a:r>
            <a:r>
              <a:rPr lang="zh-CN" altLang="en-US" sz="1300" b="1" dirty="0"/>
              <a:t>开头的</a:t>
            </a:r>
            <a:r>
              <a:rPr lang="en-US" altLang="zh-CN" sz="1300" b="1" dirty="0" err="1"/>
              <a:t>sqlstate_value</a:t>
            </a:r>
            <a:r>
              <a:rPr lang="zh-CN" altLang="en-US" sz="1300" b="1" dirty="0"/>
              <a:t>值，然后执行</a:t>
            </a:r>
            <a:r>
              <a:rPr lang="en-US" altLang="zh-CN" sz="1300" b="1" dirty="0"/>
              <a:t>EXIT</a:t>
            </a:r>
            <a:r>
              <a:rPr lang="zh-CN" altLang="en-US" sz="1300" b="1" dirty="0"/>
              <a:t>操作，并且输出</a:t>
            </a:r>
            <a:r>
              <a:rPr lang="en-US" altLang="zh-CN" sz="1300" b="1" dirty="0"/>
              <a:t>‘ERROR‘</a:t>
            </a:r>
            <a:r>
              <a:rPr lang="zh-CN" altLang="en-US" sz="1300" b="1" dirty="0"/>
              <a:t>信息。</a:t>
            </a:r>
            <a:endParaRPr lang="en-US" altLang="zh-CN" sz="1300" b="1" dirty="0"/>
          </a:p>
          <a:p>
            <a:pPr marL="0" indent="0">
              <a:buNone/>
            </a:pPr>
            <a:endParaRPr lang="en-US" altLang="zh-CN" sz="800" b="1" dirty="0"/>
          </a:p>
          <a:p>
            <a:pPr marL="0" indent="0">
              <a:buNone/>
            </a:pPr>
            <a:r>
              <a:rPr lang="en-US" altLang="zh-CN" sz="2200" b="1" dirty="0"/>
              <a:t>//</a:t>
            </a:r>
            <a:r>
              <a:rPr lang="zh-CN" altLang="en-US" sz="2200" b="1" dirty="0"/>
              <a:t>方法五：使用</a:t>
            </a:r>
            <a:r>
              <a:rPr lang="en-US" altLang="zh-CN" sz="2200" b="1" dirty="0"/>
              <a:t>NOT FOUND</a:t>
            </a:r>
          </a:p>
          <a:p>
            <a:pPr marL="0" indent="0">
              <a:buNone/>
            </a:pPr>
            <a:r>
              <a:rPr lang="en-US" altLang="zh-CN" sz="2200" b="1" dirty="0"/>
              <a:t>DECLARE EXIT HANDLER FOR NOT FOUND SET @info=' NO_SUCH_TABLE ';</a:t>
            </a:r>
          </a:p>
          <a:p>
            <a:pPr marL="0" indent="0">
              <a:buNone/>
            </a:pPr>
            <a:r>
              <a:rPr lang="zh-CN" altLang="en-US" sz="1300" b="1" dirty="0"/>
              <a:t>     捕获所有以</a:t>
            </a:r>
            <a:r>
              <a:rPr lang="en-US" altLang="zh-CN" sz="1300" b="1" dirty="0"/>
              <a:t>02</a:t>
            </a:r>
            <a:r>
              <a:rPr lang="zh-CN" altLang="en-US" sz="1300" b="1" dirty="0"/>
              <a:t>开头的</a:t>
            </a:r>
            <a:r>
              <a:rPr lang="en-US" altLang="zh-CN" sz="1300" b="1" dirty="0" err="1"/>
              <a:t>sqlstate_value</a:t>
            </a:r>
            <a:r>
              <a:rPr lang="zh-CN" altLang="en-US" sz="1300" b="1" dirty="0"/>
              <a:t>值，然后执行</a:t>
            </a:r>
            <a:r>
              <a:rPr lang="en-US" altLang="zh-CN" sz="1300" b="1" dirty="0"/>
              <a:t>EXIT</a:t>
            </a:r>
            <a:r>
              <a:rPr lang="zh-CN" altLang="en-US" sz="1300" b="1" dirty="0"/>
              <a:t>操作，并且输出</a:t>
            </a:r>
            <a:r>
              <a:rPr lang="en-US" altLang="zh-CN" sz="1300" b="1" dirty="0"/>
              <a:t>‘NO_SUCH_TABLE‘</a:t>
            </a:r>
            <a:r>
              <a:rPr lang="zh-CN" altLang="en-US" sz="1300" b="1" dirty="0"/>
              <a:t>信息。</a:t>
            </a:r>
            <a:endParaRPr lang="en-US" altLang="zh-CN" sz="1300" b="1" dirty="0"/>
          </a:p>
          <a:p>
            <a:pPr marL="0" indent="0">
              <a:buNone/>
            </a:pPr>
            <a:endParaRPr lang="en-US" altLang="zh-CN" sz="800" b="1" dirty="0"/>
          </a:p>
          <a:p>
            <a:pPr marL="0" indent="0">
              <a:buNone/>
            </a:pPr>
            <a:r>
              <a:rPr lang="en-US" altLang="zh-CN" sz="2200" b="1" dirty="0"/>
              <a:t>//</a:t>
            </a:r>
            <a:r>
              <a:rPr lang="zh-CN" altLang="en-US" sz="2200" b="1" dirty="0"/>
              <a:t>方法六：使用</a:t>
            </a:r>
            <a:r>
              <a:rPr lang="en-US" altLang="zh-CN" sz="2200" b="1" dirty="0"/>
              <a:t>SQLEXCEPTION</a:t>
            </a:r>
          </a:p>
          <a:p>
            <a:pPr marL="0" indent="0">
              <a:buNone/>
            </a:pPr>
            <a:r>
              <a:rPr lang="en-US" altLang="zh-CN" sz="2200" b="1" dirty="0"/>
              <a:t>DECLARE EXIT HANDLER FOR SQLEXCEPTION SET @info='ERROR'; </a:t>
            </a:r>
            <a:endParaRPr lang="zh-CN" altLang="en-US" sz="2200" b="1" dirty="0"/>
          </a:p>
          <a:p>
            <a:pPr marL="0" indent="0">
              <a:buNone/>
            </a:pPr>
            <a:r>
              <a:rPr lang="zh-CN" altLang="en-US" sz="1300" b="1" dirty="0"/>
              <a:t>     捕获所有没有被</a:t>
            </a:r>
            <a:r>
              <a:rPr lang="en-US" altLang="zh-CN" sz="1300" b="1" dirty="0"/>
              <a:t>SQLWARNING</a:t>
            </a:r>
            <a:r>
              <a:rPr lang="zh-CN" altLang="en-US" sz="1300" b="1" dirty="0"/>
              <a:t>或</a:t>
            </a:r>
            <a:r>
              <a:rPr lang="en-US" altLang="zh-CN" sz="1300" b="1" dirty="0"/>
              <a:t>NOT FOUND</a:t>
            </a:r>
            <a:r>
              <a:rPr lang="zh-CN" altLang="en-US" sz="1300" b="1" dirty="0"/>
              <a:t>捕获的</a:t>
            </a:r>
            <a:r>
              <a:rPr lang="en-US" altLang="zh-CN" sz="1300" b="1" dirty="0" err="1"/>
              <a:t>sqlstate_value</a:t>
            </a:r>
            <a:r>
              <a:rPr lang="zh-CN" altLang="en-US" sz="1300" b="1" dirty="0"/>
              <a:t>值，然后执行</a:t>
            </a:r>
            <a:r>
              <a:rPr lang="en-US" altLang="zh-CN" sz="1300" b="1" dirty="0"/>
              <a:t>EXIT</a:t>
            </a:r>
            <a:r>
              <a:rPr lang="zh-CN" altLang="en-US" sz="1300" b="1" dirty="0"/>
              <a:t>操作，并且输出</a:t>
            </a:r>
            <a:r>
              <a:rPr lang="en-US" altLang="zh-CN" sz="1300" b="1" dirty="0"/>
              <a:t>‘ERROR‘</a:t>
            </a:r>
            <a:r>
              <a:rPr lang="zh-CN" altLang="en-US" sz="1300" b="1" dirty="0"/>
              <a:t>信息。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799943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9" y="1484784"/>
            <a:ext cx="792088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/>
              <a:t>【</a:t>
            </a:r>
            <a:r>
              <a:rPr lang="zh-CN" altLang="en-US" sz="2000" b="1" dirty="0"/>
              <a:t>例</a:t>
            </a:r>
            <a:r>
              <a:rPr lang="en-US" altLang="zh-CN" sz="2000" b="1" dirty="0"/>
              <a:t>9】</a:t>
            </a:r>
            <a:r>
              <a:rPr lang="zh-CN" altLang="en-US" sz="2000" b="1" dirty="0"/>
              <a:t>定义条件和处理程序，具体执行的过程如下：</a:t>
            </a:r>
          </a:p>
          <a:p>
            <a:pPr marL="0" indent="0">
              <a:buNone/>
            </a:pPr>
            <a:r>
              <a:rPr lang="zh-CN" altLang="en-US" sz="2000" b="1" dirty="0"/>
              <a:t> </a:t>
            </a:r>
            <a:r>
              <a:rPr lang="en-US" altLang="zh-CN" sz="2000" b="1" dirty="0"/>
              <a:t>CREATE TABLE test.t (s1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, primary key (s1));</a:t>
            </a:r>
          </a:p>
          <a:p>
            <a:pPr marL="0" indent="0">
              <a:buNone/>
            </a:pPr>
            <a:endParaRPr lang="en-US" altLang="zh-CN" sz="500" b="1" dirty="0"/>
          </a:p>
          <a:p>
            <a:pPr marL="0" indent="0">
              <a:buNone/>
            </a:pPr>
            <a:r>
              <a:rPr lang="en-US" altLang="zh-CN" sz="2000" b="1" dirty="0"/>
              <a:t> DELIMITER //</a:t>
            </a:r>
          </a:p>
          <a:p>
            <a:pPr marL="0" indent="0">
              <a:buNone/>
            </a:pPr>
            <a:r>
              <a:rPr lang="en-US" altLang="zh-CN" sz="2000" b="1" dirty="0"/>
              <a:t>  CREATE PROCEDURE </a:t>
            </a:r>
            <a:r>
              <a:rPr lang="en-US" altLang="zh-CN" sz="2000" b="1" dirty="0" err="1"/>
              <a:t>handlerdemo</a:t>
            </a:r>
            <a:r>
              <a:rPr lang="en-US" altLang="zh-CN" sz="2000" b="1" dirty="0"/>
              <a:t> ()</a:t>
            </a:r>
          </a:p>
          <a:p>
            <a:pPr marL="0" indent="0">
              <a:buNone/>
            </a:pPr>
            <a:r>
              <a:rPr lang="en-US" altLang="zh-CN" sz="2000" b="1" dirty="0"/>
              <a:t>      BEGIN</a:t>
            </a:r>
          </a:p>
          <a:p>
            <a:pPr marL="0" indent="0">
              <a:buNone/>
            </a:pPr>
            <a:r>
              <a:rPr lang="en-US" altLang="zh-CN" sz="2000" b="1" dirty="0"/>
              <a:t>       DECLARE EXIT HANDLER FOR SQLSTATE '23000' SET @x2 = 1;</a:t>
            </a:r>
          </a:p>
          <a:p>
            <a:pPr marL="0" indent="0">
              <a:buNone/>
            </a:pPr>
            <a:r>
              <a:rPr lang="en-US" altLang="zh-CN" sz="2000" b="1" dirty="0"/>
              <a:t>       SET @x = 1;</a:t>
            </a:r>
          </a:p>
          <a:p>
            <a:pPr marL="0" indent="0">
              <a:buNone/>
            </a:pPr>
            <a:r>
              <a:rPr lang="en-US" altLang="zh-CN" sz="2000" b="1" dirty="0"/>
              <a:t>       INSERT INTO test.t VALUES (1);</a:t>
            </a:r>
          </a:p>
          <a:p>
            <a:pPr marL="0" indent="0">
              <a:buNone/>
            </a:pPr>
            <a:r>
              <a:rPr lang="en-US" altLang="zh-CN" sz="2000" b="1" dirty="0"/>
              <a:t>       SET @x = 2;</a:t>
            </a:r>
          </a:p>
          <a:p>
            <a:pPr marL="0" indent="0">
              <a:buNone/>
            </a:pPr>
            <a:r>
              <a:rPr lang="en-US" altLang="zh-CN" sz="2000" b="1" dirty="0"/>
              <a:t>       INSERT INTO test.t VALUES (1);</a:t>
            </a:r>
          </a:p>
          <a:p>
            <a:pPr marL="0" indent="0">
              <a:buNone/>
            </a:pPr>
            <a:r>
              <a:rPr lang="en-US" altLang="zh-CN" sz="2000" b="1" dirty="0"/>
              <a:t>       SET @x = 3;</a:t>
            </a:r>
          </a:p>
          <a:p>
            <a:pPr marL="0" indent="0">
              <a:buNone/>
            </a:pPr>
            <a:r>
              <a:rPr lang="en-US" altLang="zh-CN" sz="2000" b="1" dirty="0"/>
              <a:t>     END;</a:t>
            </a:r>
          </a:p>
          <a:p>
            <a:pPr marL="0" indent="0">
              <a:buNone/>
            </a:pPr>
            <a:r>
              <a:rPr lang="en-US" altLang="zh-CN" sz="2000" b="1" dirty="0"/>
              <a:t>     // </a:t>
            </a:r>
            <a:endParaRPr lang="zh-CN" altLang="en-US" sz="20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89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C588B0-1AE9-4962-8599-2E0C7189AFC8}"/>
              </a:ext>
            </a:extLst>
          </p:cNvPr>
          <p:cNvSpPr txBox="1"/>
          <p:nvPr/>
        </p:nvSpPr>
        <p:spPr>
          <a:xfrm>
            <a:off x="2699792" y="747775"/>
            <a:ext cx="4576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2800" b="1" dirty="0">
                <a:solidFill>
                  <a:schemeClr val="bg1"/>
                </a:solidFill>
              </a:rPr>
              <a:t>定义处理程序</a:t>
            </a:r>
            <a:r>
              <a:rPr lang="zh-CN" altLang="en-US" sz="2800" b="1" dirty="0">
                <a:solidFill>
                  <a:schemeClr val="bg1"/>
                </a:solidFill>
              </a:rPr>
              <a:t>（例）</a:t>
            </a:r>
          </a:p>
        </p:txBody>
      </p:sp>
    </p:spTree>
    <p:extLst>
      <p:ext uri="{BB962C8B-B14F-4D97-AF65-F5344CB8AC3E}">
        <p14:creationId xmlns:p14="http://schemas.microsoft.com/office/powerpoint/2010/main" val="41113792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9" y="1243327"/>
            <a:ext cx="3380209" cy="232968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/>
              <a:t>DELIMITER ;</a:t>
            </a:r>
          </a:p>
          <a:p>
            <a:pPr marL="0" indent="0">
              <a:buNone/>
            </a:pPr>
            <a:endParaRPr lang="en-US" altLang="zh-CN" sz="2000" b="1" dirty="0"/>
          </a:p>
          <a:p>
            <a:pPr marL="0" indent="0">
              <a:buNone/>
            </a:pPr>
            <a:r>
              <a:rPr lang="en-US" altLang="zh-CN" sz="2000" b="1" dirty="0"/>
              <a:t>/*</a:t>
            </a:r>
            <a:r>
              <a:rPr lang="zh-CN" altLang="en-US" sz="2000" b="1" dirty="0"/>
              <a:t>调用存储过程*</a:t>
            </a:r>
            <a:r>
              <a:rPr lang="en-US" altLang="zh-CN" sz="2000" b="1" dirty="0"/>
              <a:t>/</a:t>
            </a:r>
          </a:p>
          <a:p>
            <a:pPr marL="0" indent="0">
              <a:buNone/>
            </a:pPr>
            <a:r>
              <a:rPr lang="en-US" altLang="zh-CN" sz="2000" b="1" dirty="0"/>
              <a:t> CALL </a:t>
            </a:r>
            <a:r>
              <a:rPr lang="en-US" altLang="zh-CN" sz="2000" b="1" dirty="0" err="1"/>
              <a:t>handlerdemo</a:t>
            </a:r>
            <a:r>
              <a:rPr lang="en-US" altLang="zh-CN" sz="2000" b="1" dirty="0"/>
              <a:t>();</a:t>
            </a:r>
          </a:p>
          <a:p>
            <a:pPr marL="0" indent="0">
              <a:buNone/>
            </a:pPr>
            <a:r>
              <a:rPr lang="en-US" altLang="zh-CN" sz="2000" b="1" dirty="0"/>
              <a:t>/*</a:t>
            </a:r>
            <a:r>
              <a:rPr lang="zh-CN" altLang="en-US" sz="2000" b="1" dirty="0"/>
              <a:t>查看调用过程结果*</a:t>
            </a:r>
            <a:r>
              <a:rPr lang="en-US" altLang="zh-CN" sz="2000" b="1" dirty="0"/>
              <a:t>/</a:t>
            </a:r>
          </a:p>
          <a:p>
            <a:pPr marL="0" indent="0">
              <a:buNone/>
            </a:pPr>
            <a:r>
              <a:rPr lang="en-US" altLang="zh-CN" sz="2000" b="1" dirty="0"/>
              <a:t> SELECT @x x, @x2 x2;</a:t>
            </a:r>
            <a:endParaRPr lang="zh-CN" altLang="en-US" sz="2000" b="1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90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CF2AFA-53F7-5874-A302-3C39B5A57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573016"/>
            <a:ext cx="2342857" cy="11238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540053D-8F50-0353-9BD0-E0A2F0217288}"/>
              </a:ext>
            </a:extLst>
          </p:cNvPr>
          <p:cNvSpPr txBox="1"/>
          <p:nvPr/>
        </p:nvSpPr>
        <p:spPr>
          <a:xfrm>
            <a:off x="4827687" y="1720205"/>
            <a:ext cx="43163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如把语句改为：</a:t>
            </a:r>
            <a:endParaRPr lang="en-US" altLang="zh-CN" b="1" dirty="0"/>
          </a:p>
          <a:p>
            <a:r>
              <a:rPr lang="en-US" altLang="zh-CN" sz="1800" b="1" dirty="0"/>
              <a:t>DECLARE </a:t>
            </a:r>
            <a:r>
              <a:rPr lang="en-US" altLang="zh-CN" sz="1800" b="1" dirty="0">
                <a:solidFill>
                  <a:srgbClr val="FF0000"/>
                </a:solidFill>
              </a:rPr>
              <a:t>CONTINUE</a:t>
            </a:r>
            <a:r>
              <a:rPr lang="en-US" altLang="zh-CN" sz="1800" b="1" dirty="0"/>
              <a:t> HANDLER FOR SQLSTATE '23000' SET @x2 = 1;</a:t>
            </a:r>
          </a:p>
          <a:p>
            <a:r>
              <a:rPr lang="zh-CN" altLang="en-US" b="1" dirty="0"/>
              <a:t>则结果为：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775158D-DA41-D27C-F8F8-53BC132FE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987301"/>
            <a:ext cx="2304762" cy="1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使用游标（例）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8" y="1484784"/>
            <a:ext cx="8348761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</a:rPr>
              <a:t>】</a:t>
            </a:r>
            <a:r>
              <a:rPr lang="zh-CN" altLang="zh-CN" sz="2400" b="1" dirty="0">
                <a:solidFill>
                  <a:srgbClr val="0000FF"/>
                </a:solidFill>
              </a:rPr>
              <a:t>请写一个存储过程，根据输入的部门编号，得到部门所有员工的姓名和工资。</a:t>
            </a:r>
            <a:r>
              <a:rPr lang="en-US" altLang="zh-CN" sz="2400" b="1" dirty="0">
                <a:solidFill>
                  <a:srgbClr val="0000FF"/>
                </a:solidFill>
              </a:rPr>
              <a:t>(</a:t>
            </a:r>
            <a:r>
              <a:rPr lang="zh-CN" altLang="zh-CN" sz="2400" b="1" dirty="0">
                <a:solidFill>
                  <a:srgbClr val="0000FF"/>
                </a:solidFill>
              </a:rPr>
              <a:t>用游标实现</a:t>
            </a:r>
            <a:r>
              <a:rPr lang="en-US" altLang="zh-CN" sz="2400" b="1" dirty="0">
                <a:solidFill>
                  <a:srgbClr val="0000FF"/>
                </a:solidFill>
              </a:rPr>
              <a:t>)</a:t>
            </a:r>
            <a:endParaRPr lang="zh-CN" altLang="zh-CN" sz="24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000" b="1" dirty="0"/>
              <a:t>drop</a:t>
            </a:r>
            <a:r>
              <a:rPr lang="en-US" altLang="zh-CN" sz="2000" dirty="0"/>
              <a:t> </a:t>
            </a:r>
            <a:r>
              <a:rPr lang="en-US" altLang="zh-CN" sz="2000" b="1" dirty="0"/>
              <a:t>procedure</a:t>
            </a:r>
            <a:r>
              <a:rPr lang="en-US" altLang="zh-CN" sz="2000" dirty="0"/>
              <a:t> </a:t>
            </a:r>
            <a:r>
              <a:rPr lang="en-US" altLang="zh-CN" sz="2000" b="1" dirty="0"/>
              <a:t>if</a:t>
            </a:r>
            <a:r>
              <a:rPr lang="en-US" altLang="zh-CN" sz="2000" dirty="0"/>
              <a:t> </a:t>
            </a:r>
            <a:r>
              <a:rPr lang="en-US" altLang="zh-CN" sz="2000" b="1" dirty="0"/>
              <a:t>exists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select_emps</a:t>
            </a:r>
            <a:r>
              <a:rPr lang="en-US" altLang="zh-CN" sz="2000" dirty="0"/>
              <a:t>;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DELIMITER //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b="1" dirty="0"/>
              <a:t>create</a:t>
            </a:r>
            <a:r>
              <a:rPr lang="en-US" altLang="zh-CN" sz="2000" dirty="0"/>
              <a:t> </a:t>
            </a:r>
            <a:r>
              <a:rPr lang="en-US" altLang="zh-CN" sz="2000" b="1" dirty="0"/>
              <a:t>procedure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select_emps</a:t>
            </a:r>
            <a:r>
              <a:rPr lang="en-US" altLang="zh-CN" sz="2000" dirty="0"/>
              <a:t>(</a:t>
            </a:r>
            <a:r>
              <a:rPr lang="en-US" altLang="zh-CN" sz="2000" b="1" dirty="0"/>
              <a:t>in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dcode</a:t>
            </a:r>
            <a:r>
              <a:rPr lang="en-US" altLang="zh-CN" sz="2000" dirty="0"/>
              <a:t> </a:t>
            </a:r>
            <a:r>
              <a:rPr lang="en-US" altLang="zh-CN" sz="2000" b="1" dirty="0" err="1"/>
              <a:t>varchar</a:t>
            </a:r>
            <a:r>
              <a:rPr lang="en-US" altLang="zh-CN" sz="2000" dirty="0"/>
              <a:t>(30))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b="1" dirty="0"/>
              <a:t>begin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b="1" dirty="0"/>
              <a:t>DECLARE</a:t>
            </a:r>
            <a:r>
              <a:rPr lang="en-US" altLang="zh-CN" sz="2000" dirty="0"/>
              <a:t>  </a:t>
            </a:r>
            <a:r>
              <a:rPr lang="en-US" altLang="zh-CN" sz="2000" dirty="0" err="1"/>
              <a:t>empname</a:t>
            </a:r>
            <a:r>
              <a:rPr lang="en-US" altLang="zh-CN" sz="2000" dirty="0"/>
              <a:t> </a:t>
            </a:r>
            <a:r>
              <a:rPr lang="en-US" altLang="zh-CN" sz="2000" b="1" dirty="0" err="1"/>
              <a:t>varchar</a:t>
            </a:r>
            <a:r>
              <a:rPr lang="en-US" altLang="zh-CN" sz="2000" dirty="0"/>
              <a:t>(30);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b="1" dirty="0"/>
              <a:t>DECLARE</a:t>
            </a:r>
            <a:r>
              <a:rPr lang="en-US" altLang="zh-CN" sz="2000" dirty="0"/>
              <a:t>  </a:t>
            </a:r>
            <a:r>
              <a:rPr lang="en-US" altLang="zh-CN" sz="2000" dirty="0" err="1"/>
              <a:t>empsalary</a:t>
            </a:r>
            <a:r>
              <a:rPr lang="en-US" altLang="zh-CN" sz="2000" dirty="0"/>
              <a:t> </a:t>
            </a:r>
            <a:r>
              <a:rPr lang="en-US" altLang="zh-CN" sz="2000" b="1" dirty="0"/>
              <a:t>float</a:t>
            </a:r>
            <a:r>
              <a:rPr lang="en-US" altLang="zh-CN" sz="2000" dirty="0"/>
              <a:t>;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b="1" dirty="0"/>
              <a:t>DECLARE</a:t>
            </a:r>
            <a:r>
              <a:rPr lang="en-US" altLang="zh-CN" sz="2000" dirty="0"/>
              <a:t>  done </a:t>
            </a:r>
            <a:r>
              <a:rPr lang="en-US" altLang="zh-CN" sz="2000" b="1" dirty="0"/>
              <a:t>INT</a:t>
            </a:r>
            <a:r>
              <a:rPr lang="en-US" altLang="zh-CN" sz="2000" dirty="0"/>
              <a:t> </a:t>
            </a:r>
            <a:r>
              <a:rPr lang="en-US" altLang="zh-CN" sz="2000" b="1" dirty="0"/>
              <a:t>DEFAULT</a:t>
            </a:r>
            <a:r>
              <a:rPr lang="en-US" altLang="zh-CN" sz="2000" dirty="0"/>
              <a:t> 0;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C00000"/>
                </a:solidFill>
              </a:rPr>
              <a:t>DECLARE</a:t>
            </a:r>
            <a:r>
              <a:rPr lang="en-US" altLang="zh-CN" sz="2000" dirty="0">
                <a:solidFill>
                  <a:srgbClr val="C00000"/>
                </a:solidFill>
              </a:rPr>
              <a:t>  </a:t>
            </a:r>
            <a:r>
              <a:rPr lang="en-US" altLang="zh-CN" sz="2000" dirty="0" err="1">
                <a:solidFill>
                  <a:srgbClr val="C00000"/>
                </a:solidFill>
              </a:rPr>
              <a:t>cur_emp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</a:rPr>
              <a:t>cursor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</a:rPr>
              <a:t>for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</a:rPr>
              <a:t>select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</a:rPr>
              <a:t>ename</a:t>
            </a:r>
            <a:r>
              <a:rPr lang="en-US" altLang="zh-CN" sz="2000" dirty="0">
                <a:solidFill>
                  <a:srgbClr val="C00000"/>
                </a:solidFill>
              </a:rPr>
              <a:t>, </a:t>
            </a:r>
            <a:r>
              <a:rPr lang="en-US" altLang="zh-CN" sz="2000" dirty="0" err="1">
                <a:solidFill>
                  <a:srgbClr val="C00000"/>
                </a:solidFill>
              </a:rPr>
              <a:t>sal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</a:rPr>
              <a:t>from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</a:rPr>
              <a:t>emp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</a:rPr>
              <a:t>where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</a:rPr>
              <a:t>deptno</a:t>
            </a:r>
            <a:r>
              <a:rPr lang="en-US" altLang="zh-CN" sz="2000" dirty="0">
                <a:solidFill>
                  <a:srgbClr val="C00000"/>
                </a:solidFill>
              </a:rPr>
              <a:t>= </a:t>
            </a:r>
            <a:r>
              <a:rPr lang="en-US" altLang="zh-CN" sz="2000" dirty="0" err="1">
                <a:solidFill>
                  <a:srgbClr val="C00000"/>
                </a:solidFill>
              </a:rPr>
              <a:t>dcode</a:t>
            </a:r>
            <a:r>
              <a:rPr lang="en-US" altLang="zh-CN" sz="2000" dirty="0">
                <a:solidFill>
                  <a:srgbClr val="C00000"/>
                </a:solidFill>
              </a:rPr>
              <a:t>;</a:t>
            </a:r>
            <a:endParaRPr lang="zh-CN" altLang="zh-CN" sz="20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2000" b="1" dirty="0"/>
              <a:t>DECLARE</a:t>
            </a:r>
            <a:r>
              <a:rPr lang="en-US" altLang="zh-CN" sz="2000" dirty="0"/>
              <a:t> </a:t>
            </a:r>
            <a:r>
              <a:rPr lang="en-US" altLang="zh-CN" sz="2000" b="1" dirty="0"/>
              <a:t>CONTINUE</a:t>
            </a:r>
            <a:r>
              <a:rPr lang="en-US" altLang="zh-CN" sz="2000" dirty="0"/>
              <a:t> </a:t>
            </a:r>
            <a:r>
              <a:rPr lang="en-US" altLang="zh-CN" sz="2000" b="1" dirty="0"/>
              <a:t>HANDLER</a:t>
            </a:r>
            <a:r>
              <a:rPr lang="en-US" altLang="zh-CN" sz="2000" dirty="0"/>
              <a:t> </a:t>
            </a:r>
            <a:r>
              <a:rPr lang="en-US" altLang="zh-CN" sz="2000" b="1" dirty="0"/>
              <a:t>FOR</a:t>
            </a:r>
            <a:r>
              <a:rPr lang="en-US" altLang="zh-CN" sz="2000" dirty="0"/>
              <a:t>  </a:t>
            </a:r>
            <a:r>
              <a:rPr lang="en-US" altLang="zh-CN" sz="2000" b="1" dirty="0"/>
              <a:t>NOT</a:t>
            </a:r>
            <a:r>
              <a:rPr lang="en-US" altLang="zh-CN" sz="2000" dirty="0"/>
              <a:t> </a:t>
            </a:r>
            <a:r>
              <a:rPr lang="en-US" altLang="zh-CN" sz="2000" b="1" dirty="0"/>
              <a:t>FOUND</a:t>
            </a:r>
            <a:r>
              <a:rPr lang="en-US" altLang="zh-CN" sz="2000" dirty="0"/>
              <a:t> </a:t>
            </a:r>
            <a:r>
              <a:rPr lang="en-US" altLang="zh-CN" sz="2000" b="1" dirty="0"/>
              <a:t>SET</a:t>
            </a:r>
            <a:r>
              <a:rPr lang="en-US" altLang="zh-CN" sz="2000" dirty="0"/>
              <a:t> done = 1;</a:t>
            </a:r>
            <a:endParaRPr lang="zh-CN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778956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9" y="1340768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200" b="1" dirty="0"/>
              <a:t>OPEN</a:t>
            </a:r>
            <a:r>
              <a:rPr lang="en-US" altLang="zh-CN" sz="2200" dirty="0"/>
              <a:t> </a:t>
            </a:r>
            <a:r>
              <a:rPr lang="en-US" altLang="zh-CN" sz="2200" dirty="0" err="1"/>
              <a:t>cur_emp</a:t>
            </a:r>
            <a:r>
              <a:rPr lang="en-US" altLang="zh-CN" sz="2200" dirty="0"/>
              <a:t>;</a:t>
            </a:r>
            <a:endParaRPr lang="zh-CN" altLang="zh-CN" sz="2200" dirty="0"/>
          </a:p>
          <a:p>
            <a:pPr marL="0" indent="0">
              <a:buNone/>
            </a:pPr>
            <a:r>
              <a:rPr lang="en-US" altLang="zh-CN" sz="2200" b="1" dirty="0"/>
              <a:t>REPEAT</a:t>
            </a:r>
            <a:endParaRPr lang="zh-CN" altLang="zh-CN" sz="2200" dirty="0"/>
          </a:p>
          <a:p>
            <a:pPr marL="0" indent="0">
              <a:buNone/>
            </a:pPr>
            <a:r>
              <a:rPr lang="en-US" altLang="zh-CN" sz="2200" b="1" dirty="0"/>
              <a:t>   FETCH</a:t>
            </a:r>
            <a:r>
              <a:rPr lang="en-US" altLang="zh-CN" sz="2200" dirty="0"/>
              <a:t> </a:t>
            </a:r>
            <a:r>
              <a:rPr lang="en-US" altLang="zh-CN" sz="2200" dirty="0" err="1"/>
              <a:t>cur_emp</a:t>
            </a:r>
            <a:r>
              <a:rPr lang="en-US" altLang="zh-CN" sz="2200" dirty="0"/>
              <a:t> </a:t>
            </a:r>
            <a:r>
              <a:rPr lang="en-US" altLang="zh-CN" sz="2200" b="1" dirty="0"/>
              <a:t>INTO</a:t>
            </a:r>
            <a:r>
              <a:rPr lang="en-US" altLang="zh-CN" sz="2200" dirty="0"/>
              <a:t> </a:t>
            </a:r>
            <a:r>
              <a:rPr lang="en-US" altLang="zh-CN" sz="2200" dirty="0" err="1"/>
              <a:t>empname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empsalary</a:t>
            </a:r>
            <a:r>
              <a:rPr lang="en-US" altLang="zh-CN" sz="2200" dirty="0"/>
              <a:t>;</a:t>
            </a:r>
            <a:endParaRPr lang="zh-CN" altLang="zh-CN" sz="2200" dirty="0"/>
          </a:p>
          <a:p>
            <a:pPr marL="0" indent="0">
              <a:buNone/>
            </a:pPr>
            <a:r>
              <a:rPr lang="en-US" altLang="zh-CN" sz="2200" b="1" dirty="0"/>
              <a:t>    IF</a:t>
            </a:r>
            <a:r>
              <a:rPr lang="en-US" altLang="zh-CN" sz="2200" dirty="0"/>
              <a:t> </a:t>
            </a:r>
            <a:r>
              <a:rPr lang="en-US" altLang="zh-CN" sz="2200" b="1" dirty="0"/>
              <a:t>NOT</a:t>
            </a:r>
            <a:r>
              <a:rPr lang="en-US" altLang="zh-CN" sz="2200" dirty="0"/>
              <a:t> done </a:t>
            </a:r>
            <a:r>
              <a:rPr lang="en-US" altLang="zh-CN" sz="2200" b="1" dirty="0"/>
              <a:t>THEN</a:t>
            </a:r>
            <a:endParaRPr lang="zh-CN" altLang="zh-CN" sz="2200" dirty="0"/>
          </a:p>
          <a:p>
            <a:pPr marL="0" indent="0">
              <a:buNone/>
            </a:pPr>
            <a:r>
              <a:rPr lang="en-US" altLang="zh-CN" sz="2200" b="1" dirty="0"/>
              <a:t>          Select</a:t>
            </a:r>
            <a:r>
              <a:rPr lang="en-US" altLang="zh-CN" sz="2200" dirty="0"/>
              <a:t> </a:t>
            </a:r>
            <a:r>
              <a:rPr lang="en-US" altLang="zh-CN" sz="2200" dirty="0" err="1"/>
              <a:t>empname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empsalary</a:t>
            </a:r>
            <a:r>
              <a:rPr lang="en-US" altLang="zh-CN" sz="2200" dirty="0"/>
              <a:t>;</a:t>
            </a:r>
            <a:endParaRPr lang="zh-CN" altLang="zh-CN" sz="2200" dirty="0"/>
          </a:p>
          <a:p>
            <a:pPr marL="0" indent="0">
              <a:buNone/>
            </a:pPr>
            <a:r>
              <a:rPr lang="en-US" altLang="zh-CN" sz="2200" b="1" dirty="0"/>
              <a:t>    END</a:t>
            </a:r>
            <a:r>
              <a:rPr lang="en-US" altLang="zh-CN" sz="2200" dirty="0"/>
              <a:t> </a:t>
            </a:r>
            <a:r>
              <a:rPr lang="en-US" altLang="zh-CN" sz="2200" b="1" dirty="0"/>
              <a:t>IF</a:t>
            </a:r>
            <a:r>
              <a:rPr lang="en-US" altLang="zh-CN" sz="2200" dirty="0"/>
              <a:t>;</a:t>
            </a:r>
            <a:endParaRPr lang="zh-CN" altLang="zh-CN" sz="2200" dirty="0"/>
          </a:p>
          <a:p>
            <a:pPr marL="0" indent="0">
              <a:buNone/>
            </a:pPr>
            <a:r>
              <a:rPr lang="en-US" altLang="zh-CN" sz="2200" b="1" dirty="0"/>
              <a:t>UNTIL</a:t>
            </a:r>
            <a:r>
              <a:rPr lang="en-US" altLang="zh-CN" sz="2200" dirty="0"/>
              <a:t> done </a:t>
            </a:r>
            <a:r>
              <a:rPr lang="en-US" altLang="zh-CN" sz="2200" b="1" dirty="0"/>
              <a:t>END</a:t>
            </a:r>
            <a:r>
              <a:rPr lang="en-US" altLang="zh-CN" sz="2200" dirty="0"/>
              <a:t> </a:t>
            </a:r>
            <a:r>
              <a:rPr lang="en-US" altLang="zh-CN" sz="2200" b="1" dirty="0"/>
              <a:t>REPEAT</a:t>
            </a:r>
            <a:r>
              <a:rPr lang="en-US" altLang="zh-CN" sz="2200" dirty="0"/>
              <a:t>;</a:t>
            </a:r>
            <a:endParaRPr lang="zh-CN" altLang="zh-CN" sz="2200" dirty="0"/>
          </a:p>
          <a:p>
            <a:pPr marL="0" indent="0">
              <a:buNone/>
            </a:pPr>
            <a:r>
              <a:rPr lang="en-US" altLang="zh-CN" sz="2200" b="1" dirty="0"/>
              <a:t>CLOSE</a:t>
            </a:r>
            <a:r>
              <a:rPr lang="en-US" altLang="zh-CN" sz="2200" dirty="0"/>
              <a:t> </a:t>
            </a:r>
            <a:r>
              <a:rPr lang="en-US" altLang="zh-CN" sz="2200" dirty="0" err="1"/>
              <a:t>cur_emp</a:t>
            </a:r>
            <a:r>
              <a:rPr lang="en-US" altLang="zh-CN" sz="2200" dirty="0"/>
              <a:t>;</a:t>
            </a:r>
            <a:endParaRPr lang="zh-CN" altLang="zh-CN" sz="2200" dirty="0"/>
          </a:p>
          <a:p>
            <a:pPr marL="0" indent="0">
              <a:buNone/>
            </a:pPr>
            <a:r>
              <a:rPr lang="en-US" altLang="zh-CN" sz="2200" b="1" dirty="0"/>
              <a:t>end</a:t>
            </a:r>
            <a:r>
              <a:rPr lang="en-US" altLang="zh-CN" sz="2200" dirty="0"/>
              <a:t>;//</a:t>
            </a:r>
            <a:endParaRPr lang="zh-CN" altLang="zh-CN" sz="2200" dirty="0"/>
          </a:p>
          <a:p>
            <a:pPr marL="0" indent="0">
              <a:buNone/>
            </a:pPr>
            <a:r>
              <a:rPr lang="en-US" altLang="zh-CN" sz="2200" dirty="0"/>
              <a:t>DELIMITER ;</a:t>
            </a:r>
            <a:endParaRPr lang="zh-CN" altLang="zh-CN" sz="2200" dirty="0"/>
          </a:p>
          <a:p>
            <a:pPr marL="0" indent="0">
              <a:buNone/>
            </a:pPr>
            <a:r>
              <a:rPr lang="en-US" altLang="zh-CN" sz="2200" b="1" dirty="0"/>
              <a:t>call</a:t>
            </a:r>
            <a:r>
              <a:rPr lang="en-US" altLang="zh-CN" sz="2200" dirty="0"/>
              <a:t> </a:t>
            </a:r>
            <a:r>
              <a:rPr lang="en-US" altLang="zh-CN" sz="2200" dirty="0" err="1"/>
              <a:t>select_emps</a:t>
            </a:r>
            <a:r>
              <a:rPr lang="en-US" altLang="zh-CN" sz="2200" dirty="0"/>
              <a:t>(2);</a:t>
            </a:r>
            <a:endParaRPr lang="zh-CN" altLang="zh-CN" sz="2200" dirty="0"/>
          </a:p>
          <a:p>
            <a:pPr marL="0" indent="0">
              <a:buNone/>
            </a:pPr>
            <a:endParaRPr lang="zh-CN" altLang="en-US" sz="2200" dirty="0"/>
          </a:p>
          <a:p>
            <a:pPr marL="0" indent="0">
              <a:buNone/>
            </a:pPr>
            <a:endParaRPr lang="zh-CN" altLang="en-US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734280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使用游标（例）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8" y="1484784"/>
            <a:ext cx="8348761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</a:rPr>
              <a:t>】</a:t>
            </a:r>
            <a:r>
              <a:rPr lang="zh-CN" altLang="en-US" sz="2400" b="1" dirty="0">
                <a:solidFill>
                  <a:srgbClr val="0000FF"/>
                </a:solidFill>
              </a:rPr>
              <a:t>对学生</a:t>
            </a:r>
            <a:r>
              <a:rPr lang="en-US" altLang="zh-CN" sz="2400" b="1" dirty="0">
                <a:solidFill>
                  <a:srgbClr val="0000FF"/>
                </a:solidFill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</a:rPr>
              <a:t>课程数据库编</a:t>
            </a:r>
            <a:r>
              <a:rPr lang="zh-CN" altLang="zh-CN" sz="2400" b="1" dirty="0">
                <a:solidFill>
                  <a:srgbClr val="0000FF"/>
                </a:solidFill>
              </a:rPr>
              <a:t>写存储过程，</a:t>
            </a:r>
            <a:r>
              <a:rPr lang="zh-CN" altLang="en-US" sz="2400" b="1" dirty="0">
                <a:solidFill>
                  <a:srgbClr val="0000FF"/>
                </a:solidFill>
              </a:rPr>
              <a:t>统计离散数学的成绩分布情况，即按照各分数段统计人数</a:t>
            </a:r>
            <a:r>
              <a:rPr lang="zh-CN" altLang="zh-CN" sz="2400" b="1" dirty="0">
                <a:solidFill>
                  <a:srgbClr val="0000FF"/>
                </a:solidFill>
              </a:rPr>
              <a:t>。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drop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procedure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exists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total_stu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DELIMITER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/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/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procedure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total_stu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coursename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50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begin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DECLARE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courseno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800000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5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DECLARE</a:t>
            </a:r>
            <a:r>
              <a:rPr lang="pt-BR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pt-BR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numa</a:t>
            </a:r>
            <a:r>
              <a:rPr lang="pt-BR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numb</a:t>
            </a:r>
            <a:r>
              <a:rPr lang="pt-BR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numc</a:t>
            </a:r>
            <a:r>
              <a:rPr lang="pt-BR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numd</a:t>
            </a:r>
            <a:r>
              <a:rPr lang="pt-BR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nume</a:t>
            </a:r>
            <a:r>
              <a:rPr lang="pt-BR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altLang="zh-CN" sz="1800" b="1" i="0" u="none" strike="noStrike" baseline="0" dirty="0">
                <a:solidFill>
                  <a:srgbClr val="800000"/>
                </a:solidFill>
                <a:latin typeface="Courier New" panose="02070309020205020404" pitchFamily="49" charset="0"/>
              </a:rPr>
              <a:t>INT</a:t>
            </a:r>
            <a:r>
              <a:rPr lang="pt-BR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SELECT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cno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courseno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course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WHERE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cname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coursename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SELECT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courseno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SELECT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count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(*)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numa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sc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WHERE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cno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courseno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AND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grade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&gt;=</a:t>
            </a:r>
            <a:r>
              <a:rPr lang="en-US" altLang="zh-CN" sz="18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90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SELECT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count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(*)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numb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sc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WHERE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cno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courseno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AND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grade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en-US" altLang="zh-CN" sz="18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90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AND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grade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&gt;=</a:t>
            </a:r>
            <a:r>
              <a:rPr lang="en-US" altLang="zh-CN" sz="18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80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zh-CN" sz="1800" b="0" i="0" u="none" strike="noStrike" baseline="0" dirty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93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364834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4A059B-AF3D-B8DB-70E0-962AE8B42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59D6B2-23E5-B276-351D-50D8495DB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556792"/>
            <a:ext cx="8352928" cy="4495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SELECT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count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(*)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numc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sc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WHERE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cno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20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courseno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AND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grade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en-US" altLang="zh-CN" sz="20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80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AND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grade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&gt;=</a:t>
            </a:r>
            <a:r>
              <a:rPr lang="en-US" altLang="zh-CN" sz="20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70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SELECT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count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(*)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numd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sc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WHERE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cno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20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courseno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AND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grade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en-US" altLang="zh-CN" sz="20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70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AND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grade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&gt;=</a:t>
            </a:r>
            <a:r>
              <a:rPr lang="en-US" altLang="zh-CN" sz="20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60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SELECT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count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(*)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nume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sc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WHERE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cno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20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courseno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AND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grade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en-US" altLang="zh-CN" sz="20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60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SELECT</a:t>
            </a:r>
            <a:r>
              <a:rPr lang="pt-BR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"A"</a:t>
            </a:r>
            <a:r>
              <a:rPr lang="pt-BR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numa</a:t>
            </a:r>
            <a:r>
              <a:rPr lang="pt-BR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"B"</a:t>
            </a:r>
            <a:r>
              <a:rPr lang="pt-BR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numb</a:t>
            </a:r>
            <a:r>
              <a:rPr lang="pt-BR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"C"</a:t>
            </a:r>
            <a:r>
              <a:rPr lang="pt-BR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numc</a:t>
            </a:r>
            <a:r>
              <a:rPr lang="pt-BR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"D"</a:t>
            </a:r>
            <a:r>
              <a:rPr lang="pt-BR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numd</a:t>
            </a:r>
            <a:r>
              <a:rPr lang="pt-BR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"E"</a:t>
            </a:r>
            <a:r>
              <a:rPr lang="pt-BR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nume</a:t>
            </a:r>
            <a:r>
              <a:rPr lang="pt-BR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pPr marL="0" indent="0">
              <a:buNone/>
            </a:pP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/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</a:rPr>
              <a:t>/</a:t>
            </a:r>
            <a:endParaRPr lang="en-US" altLang="zh-CN" sz="2000" b="0" i="0" u="none" strike="noStrike" baseline="0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delimiter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CALL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total_stu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"</a:t>
            </a:r>
            <a:r>
              <a:rPr lang="zh-CN" altLang="en-US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离散数学</a:t>
            </a: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"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ABFD45-CDD6-D558-DCBF-C631079D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94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76E0CF-7560-A860-2591-15788F402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4405808"/>
            <a:ext cx="4738162" cy="8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4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使用游标（例）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718" y="1484784"/>
            <a:ext cx="8636794" cy="51125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</a:rPr>
              <a:t>】</a:t>
            </a:r>
            <a:r>
              <a:rPr lang="zh-CN" altLang="en-US" sz="2400" b="1" dirty="0">
                <a:solidFill>
                  <a:srgbClr val="0000FF"/>
                </a:solidFill>
              </a:rPr>
              <a:t>对学生</a:t>
            </a:r>
            <a:r>
              <a:rPr lang="en-US" altLang="zh-CN" sz="2400" b="1" dirty="0">
                <a:solidFill>
                  <a:srgbClr val="0000FF"/>
                </a:solidFill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</a:rPr>
              <a:t>课程数据库编</a:t>
            </a:r>
            <a:r>
              <a:rPr lang="zh-CN" altLang="zh-CN" sz="2400" b="1" dirty="0">
                <a:solidFill>
                  <a:srgbClr val="0000FF"/>
                </a:solidFill>
              </a:rPr>
              <a:t>写存储过程，</a:t>
            </a:r>
            <a:r>
              <a:rPr lang="zh-CN" altLang="en-US" sz="2400" b="1" dirty="0">
                <a:solidFill>
                  <a:srgbClr val="0000FF"/>
                </a:solidFill>
              </a:rPr>
              <a:t>将学生选课成绩从百分制改为等级制（即</a:t>
            </a:r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r>
              <a:rPr lang="zh-CN" altLang="en-US" sz="2400" b="1" dirty="0">
                <a:solidFill>
                  <a:srgbClr val="0000FF"/>
                </a:solidFill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zh-CN" altLang="en-US" sz="2400" b="1" dirty="0">
                <a:solidFill>
                  <a:srgbClr val="0000FF"/>
                </a:solidFill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r>
              <a:rPr lang="zh-CN" altLang="en-US" sz="2400" b="1" dirty="0">
                <a:solidFill>
                  <a:srgbClr val="0000FF"/>
                </a:solidFill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  <a:r>
              <a:rPr lang="zh-CN" altLang="zh-CN" sz="2400" b="1" dirty="0">
                <a:solidFill>
                  <a:srgbClr val="0000FF"/>
                </a:solidFill>
              </a:rPr>
              <a:t>。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drop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procedure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exists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update_level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delimiter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/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/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procedure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update_level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begin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declare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g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1" i="0" u="none" strike="noStrike" baseline="0" dirty="0">
                <a:solidFill>
                  <a:srgbClr val="80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default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0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declare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flag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80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default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0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DECLARE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no1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1" i="0" u="none" strike="noStrike" baseline="0" dirty="0">
                <a:solidFill>
                  <a:srgbClr val="800000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12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DECLARE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no2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1" i="0" u="none" strike="noStrike" baseline="0" dirty="0">
                <a:solidFill>
                  <a:srgbClr val="800000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5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declare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stuscore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cursor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select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grade</a:t>
            </a:r>
            <a:r>
              <a:rPr lang="en-US" altLang="zh-CN" sz="1800" b="0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sno</a:t>
            </a:r>
            <a:r>
              <a:rPr lang="en-US" altLang="zh-CN" sz="1800" b="0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cno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sc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declare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continue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handler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found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set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flag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18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open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stuscore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REPEAT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FETCH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stuscore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INTO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;</a:t>
            </a:r>
            <a:endParaRPr lang="en-US" altLang="zh-CN" sz="1800" b="0" i="0" u="none" strike="noStrike" baseline="0" dirty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827864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0A52B1-D1E8-EB44-32F5-56F42AE36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684" y="764704"/>
            <a:ext cx="8229600" cy="4983832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flag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THEN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&gt;=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90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AND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&lt;=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100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THEN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UPDATE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level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‘A’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</a:b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WHERE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sno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AND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cno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ELSEIF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&gt;=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80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AND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&lt;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90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THEN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UPDATE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level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‘B’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</a:b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WHERE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sno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AND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cno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ELSEIF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&gt;=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70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AND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&lt;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80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THEN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UPDATE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level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‘C’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</a:b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WHERE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sno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AND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cno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ELSEIF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&gt;=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60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AND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&lt;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70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THEN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UPDATE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level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‘D’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1800" dirty="0">
                <a:solidFill>
                  <a:srgbClr val="008000"/>
                </a:solidFill>
                <a:latin typeface="Courier New" panose="02070309020205020404" pitchFamily="49" charset="0"/>
                <a:ea typeface="宋体"/>
              </a:rPr>
              <a:t> 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WHERE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sno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AND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cno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ELSEIF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&lt;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60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THEN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UPDATE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level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'E'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WHERE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sno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AND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cno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no2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END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END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UNTIL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flag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END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REPEAT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close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stuscore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end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/</a:t>
            </a:r>
            <a:r>
              <a:rPr lang="en-US" altLang="zh-CN" sz="1800" dirty="0">
                <a:solidFill>
                  <a:srgbClr val="0000FF"/>
                </a:solidFill>
                <a:latin typeface="Courier New" panose="02070309020205020404" pitchFamily="49" charset="0"/>
                <a:ea typeface="宋体"/>
              </a:rPr>
              <a:t>/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urier New" panose="02070309020205020404" pitchFamily="49" charset="0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delimiter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/>
                <a:cs typeface="+mn-cs"/>
              </a:rPr>
              <a:t>;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092DD9-C7D7-B40E-C12C-9F33E7863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96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B52898-68FA-707A-9E28-8CDCD99ECC74}"/>
              </a:ext>
            </a:extLst>
          </p:cNvPr>
          <p:cNvSpPr txBox="1"/>
          <p:nvPr/>
        </p:nvSpPr>
        <p:spPr>
          <a:xfrm>
            <a:off x="5977015" y="4241555"/>
            <a:ext cx="280831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CALL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update_level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SELECT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*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sc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3A39B04-1683-FD09-2DE9-D1E11D495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5053473"/>
            <a:ext cx="2594007" cy="180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53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1_商务模板系列34">
  <a:themeElements>
    <a:clrScheme name="1_商务模板系列34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1_商务模板系列34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商务模板系列34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Calligraphy</Template>
  <TotalTime>9109</TotalTime>
  <Words>7535</Words>
  <Application>Microsoft Office PowerPoint</Application>
  <PresentationFormat>全屏显示(4:3)</PresentationFormat>
  <Paragraphs>891</Paragraphs>
  <Slides>96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96</vt:i4>
      </vt:variant>
    </vt:vector>
  </HeadingPairs>
  <TitlesOfParts>
    <vt:vector size="109" baseType="lpstr">
      <vt:lpstr>-apple-system</vt:lpstr>
      <vt:lpstr>方正书宋简体</vt:lpstr>
      <vt:lpstr>黑体</vt:lpstr>
      <vt:lpstr>宋体</vt:lpstr>
      <vt:lpstr>Arial</vt:lpstr>
      <vt:lpstr>Calibri</vt:lpstr>
      <vt:lpstr>Cambria</vt:lpstr>
      <vt:lpstr>Courier New</vt:lpstr>
      <vt:lpstr>Tahoma</vt:lpstr>
      <vt:lpstr>Times New Roman</vt:lpstr>
      <vt:lpstr>Wingdings</vt:lpstr>
      <vt:lpstr>1_商务模板系列34</vt:lpstr>
      <vt:lpstr>Image</vt:lpstr>
      <vt:lpstr>MySQL运算符和函数</vt:lpstr>
      <vt:lpstr>使用MySQL运算符</vt:lpstr>
      <vt:lpstr>使用MySQL运算符</vt:lpstr>
      <vt:lpstr>使用MySQL运算符</vt:lpstr>
      <vt:lpstr>使用MySQL运算符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使用MySQL运算符</vt:lpstr>
      <vt:lpstr>PowerPoint 演示文稿</vt:lpstr>
      <vt:lpstr>PowerPoint 演示文稿</vt:lpstr>
      <vt:lpstr>使用MySQL运算符</vt:lpstr>
      <vt:lpstr>使用MySQL运算符</vt:lpstr>
      <vt:lpstr>使用MySQL常用函数</vt:lpstr>
      <vt:lpstr>1.使用字符串函数</vt:lpstr>
      <vt:lpstr>PowerPoint 演示文稿</vt:lpstr>
      <vt:lpstr>PowerPoint 演示文稿</vt:lpstr>
      <vt:lpstr>PowerPoint 演示文稿</vt:lpstr>
      <vt:lpstr>1.使用字符串函数</vt:lpstr>
      <vt:lpstr>1.使用字符串函数</vt:lpstr>
      <vt:lpstr>1.使用字符串函数</vt:lpstr>
      <vt:lpstr>1.使用字符串函数—查找字符串</vt:lpstr>
      <vt:lpstr>1.使用字符串函数—查找字符串</vt:lpstr>
      <vt:lpstr>PowerPoint 演示文稿</vt:lpstr>
      <vt:lpstr>PowerPoint 演示文稿</vt:lpstr>
      <vt:lpstr>1.使用字符串函数</vt:lpstr>
      <vt:lpstr>1.使用字符串函数</vt:lpstr>
      <vt:lpstr>1.使用字符串函数</vt:lpstr>
      <vt:lpstr>PowerPoint 演示文稿</vt:lpstr>
      <vt:lpstr>PowerPoint 演示文稿</vt:lpstr>
      <vt:lpstr>1.使用字符串函数</vt:lpstr>
      <vt:lpstr>2.使用数值函数</vt:lpstr>
      <vt:lpstr>2.使用数值函数</vt:lpstr>
      <vt:lpstr>2.使用数值函数</vt:lpstr>
      <vt:lpstr>2.使用数值函数</vt:lpstr>
      <vt:lpstr>3.使用日期和时间函数</vt:lpstr>
      <vt:lpstr>3.使用日期和时间函数</vt:lpstr>
      <vt:lpstr>3.使用日期和时间函数</vt:lpstr>
      <vt:lpstr>4.使用系统信息函数</vt:lpstr>
      <vt:lpstr>4.使用系统信息函数</vt:lpstr>
      <vt:lpstr>4.使用系统信息函数</vt:lpstr>
      <vt:lpstr>存储过程和函数的操作</vt:lpstr>
      <vt:lpstr>创建存储过程</vt:lpstr>
      <vt:lpstr>characteristics ( 指定存储过程的特性)的取值</vt:lpstr>
      <vt:lpstr>创建存储过程</vt:lpstr>
      <vt:lpstr>PowerPoint 演示文稿</vt:lpstr>
      <vt:lpstr>创建存储函数</vt:lpstr>
      <vt:lpstr>创建存储函数</vt:lpstr>
      <vt:lpstr>PowerPoint 演示文稿</vt:lpstr>
      <vt:lpstr>调用存储过程和函数</vt:lpstr>
      <vt:lpstr>PowerPoint 演示文稿</vt:lpstr>
      <vt:lpstr>PowerPoint 演示文稿</vt:lpstr>
      <vt:lpstr>PowerPoint 演示文稿</vt:lpstr>
      <vt:lpstr>查看存储过程和函数</vt:lpstr>
      <vt:lpstr>PowerPoint 演示文稿</vt:lpstr>
      <vt:lpstr>PowerPoint 演示文稿</vt:lpstr>
      <vt:lpstr>修改存储过程和函数</vt:lpstr>
      <vt:lpstr>PowerPoint 演示文稿</vt:lpstr>
      <vt:lpstr>删除存储过程和函数</vt:lpstr>
      <vt:lpstr>变量定义和使用</vt:lpstr>
      <vt:lpstr>关于存储过程和函数的表达式</vt:lpstr>
      <vt:lpstr>变量的使用</vt:lpstr>
      <vt:lpstr>变量的使用</vt:lpstr>
      <vt:lpstr>变量的使用</vt:lpstr>
      <vt:lpstr>流程控制的使用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使用游标(cursor)</vt:lpstr>
      <vt:lpstr>使用游标</vt:lpstr>
      <vt:lpstr>使用游标</vt:lpstr>
      <vt:lpstr>PowerPoint 演示文稿</vt:lpstr>
      <vt:lpstr>定义条件和处理程序</vt:lpstr>
      <vt:lpstr>PowerPoint 演示文稿</vt:lpstr>
      <vt:lpstr>2．定义处理程序</vt:lpstr>
      <vt:lpstr>PowerPoint 演示文稿</vt:lpstr>
      <vt:lpstr>定义处理程序（例）</vt:lpstr>
      <vt:lpstr>PowerPoint 演示文稿</vt:lpstr>
      <vt:lpstr>PowerPoint 演示文稿</vt:lpstr>
      <vt:lpstr>PowerPoint 演示文稿</vt:lpstr>
      <vt:lpstr>使用游标（例）</vt:lpstr>
      <vt:lpstr>PowerPoint 演示文稿</vt:lpstr>
      <vt:lpstr>使用游标（例）</vt:lpstr>
      <vt:lpstr>PowerPoint 演示文稿</vt:lpstr>
      <vt:lpstr>使用游标（例）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计算机的基本概念</dc:title>
  <dc:creator>chi</dc:creator>
  <cp:lastModifiedBy>Administrator</cp:lastModifiedBy>
  <cp:revision>425</cp:revision>
  <dcterms:created xsi:type="dcterms:W3CDTF">2013-05-22T00:59:29Z</dcterms:created>
  <dcterms:modified xsi:type="dcterms:W3CDTF">2024-11-25T23:37:19Z</dcterms:modified>
</cp:coreProperties>
</file>