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117"/>
  </p:notesMasterIdLst>
  <p:sldIdLst>
    <p:sldId id="815" r:id="rId2"/>
    <p:sldId id="929" r:id="rId3"/>
    <p:sldId id="930" r:id="rId4"/>
    <p:sldId id="915" r:id="rId5"/>
    <p:sldId id="916" r:id="rId6"/>
    <p:sldId id="917" r:id="rId7"/>
    <p:sldId id="918" r:id="rId8"/>
    <p:sldId id="919" r:id="rId9"/>
    <p:sldId id="920" r:id="rId10"/>
    <p:sldId id="921" r:id="rId11"/>
    <p:sldId id="922" r:id="rId12"/>
    <p:sldId id="923" r:id="rId13"/>
    <p:sldId id="924" r:id="rId14"/>
    <p:sldId id="925" r:id="rId15"/>
    <p:sldId id="926" r:id="rId16"/>
    <p:sldId id="927" r:id="rId17"/>
    <p:sldId id="928" r:id="rId18"/>
    <p:sldId id="816" r:id="rId19"/>
    <p:sldId id="817" r:id="rId20"/>
    <p:sldId id="818" r:id="rId21"/>
    <p:sldId id="819" r:id="rId22"/>
    <p:sldId id="820" r:id="rId23"/>
    <p:sldId id="821" r:id="rId24"/>
    <p:sldId id="822" r:id="rId25"/>
    <p:sldId id="823" r:id="rId26"/>
    <p:sldId id="824" r:id="rId27"/>
    <p:sldId id="825" r:id="rId28"/>
    <p:sldId id="826" r:id="rId29"/>
    <p:sldId id="827" r:id="rId30"/>
    <p:sldId id="828" r:id="rId31"/>
    <p:sldId id="829" r:id="rId32"/>
    <p:sldId id="830" r:id="rId33"/>
    <p:sldId id="831" r:id="rId34"/>
    <p:sldId id="832" r:id="rId35"/>
    <p:sldId id="833" r:id="rId36"/>
    <p:sldId id="834" r:id="rId37"/>
    <p:sldId id="835" r:id="rId38"/>
    <p:sldId id="836" r:id="rId39"/>
    <p:sldId id="837" r:id="rId40"/>
    <p:sldId id="838" r:id="rId41"/>
    <p:sldId id="839" r:id="rId42"/>
    <p:sldId id="840" r:id="rId43"/>
    <p:sldId id="841" r:id="rId44"/>
    <p:sldId id="842" r:id="rId45"/>
    <p:sldId id="843" r:id="rId46"/>
    <p:sldId id="844" r:id="rId47"/>
    <p:sldId id="845" r:id="rId48"/>
    <p:sldId id="846" r:id="rId49"/>
    <p:sldId id="847" r:id="rId50"/>
    <p:sldId id="848" r:id="rId51"/>
    <p:sldId id="849" r:id="rId52"/>
    <p:sldId id="850" r:id="rId53"/>
    <p:sldId id="851" r:id="rId54"/>
    <p:sldId id="852" r:id="rId55"/>
    <p:sldId id="853" r:id="rId56"/>
    <p:sldId id="854" r:id="rId57"/>
    <p:sldId id="855" r:id="rId58"/>
    <p:sldId id="856" r:id="rId59"/>
    <p:sldId id="857" r:id="rId60"/>
    <p:sldId id="858" r:id="rId61"/>
    <p:sldId id="859" r:id="rId62"/>
    <p:sldId id="860" r:id="rId63"/>
    <p:sldId id="861" r:id="rId64"/>
    <p:sldId id="862" r:id="rId65"/>
    <p:sldId id="863" r:id="rId66"/>
    <p:sldId id="864" r:id="rId67"/>
    <p:sldId id="865" r:id="rId68"/>
    <p:sldId id="866" r:id="rId69"/>
    <p:sldId id="867" r:id="rId70"/>
    <p:sldId id="868" r:id="rId71"/>
    <p:sldId id="869" r:id="rId72"/>
    <p:sldId id="870" r:id="rId73"/>
    <p:sldId id="871" r:id="rId74"/>
    <p:sldId id="872" r:id="rId75"/>
    <p:sldId id="873" r:id="rId76"/>
    <p:sldId id="874" r:id="rId77"/>
    <p:sldId id="875" r:id="rId78"/>
    <p:sldId id="876" r:id="rId79"/>
    <p:sldId id="877" r:id="rId80"/>
    <p:sldId id="878" r:id="rId81"/>
    <p:sldId id="879" r:id="rId82"/>
    <p:sldId id="880" r:id="rId83"/>
    <p:sldId id="881" r:id="rId84"/>
    <p:sldId id="882" r:id="rId85"/>
    <p:sldId id="883" r:id="rId86"/>
    <p:sldId id="884" r:id="rId87"/>
    <p:sldId id="885" r:id="rId88"/>
    <p:sldId id="886" r:id="rId89"/>
    <p:sldId id="887" r:id="rId90"/>
    <p:sldId id="888" r:id="rId91"/>
    <p:sldId id="889" r:id="rId92"/>
    <p:sldId id="890" r:id="rId93"/>
    <p:sldId id="891" r:id="rId94"/>
    <p:sldId id="892" r:id="rId95"/>
    <p:sldId id="893" r:id="rId96"/>
    <p:sldId id="894" r:id="rId97"/>
    <p:sldId id="895" r:id="rId98"/>
    <p:sldId id="896" r:id="rId99"/>
    <p:sldId id="897" r:id="rId100"/>
    <p:sldId id="898" r:id="rId101"/>
    <p:sldId id="899" r:id="rId102"/>
    <p:sldId id="900" r:id="rId103"/>
    <p:sldId id="901" r:id="rId104"/>
    <p:sldId id="902" r:id="rId105"/>
    <p:sldId id="903" r:id="rId106"/>
    <p:sldId id="904" r:id="rId107"/>
    <p:sldId id="905" r:id="rId108"/>
    <p:sldId id="906" r:id="rId109"/>
    <p:sldId id="907" r:id="rId110"/>
    <p:sldId id="908" r:id="rId111"/>
    <p:sldId id="909" r:id="rId112"/>
    <p:sldId id="910" r:id="rId113"/>
    <p:sldId id="911" r:id="rId114"/>
    <p:sldId id="912" r:id="rId115"/>
    <p:sldId id="913" r:id="rId116"/>
  </p:sldIdLst>
  <p:sldSz cx="9144000" cy="6858000" type="screen4x3"/>
  <p:notesSz cx="6858000" cy="9144000"/>
  <p:custDataLst>
    <p:tags r:id="rId118"/>
  </p:custDataLst>
  <p:defaultTextStyle>
    <a:defPPr>
      <a:defRPr lang="zh-CN"/>
    </a:defPPr>
    <a:lvl1pPr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3366FF"/>
    <a:srgbClr val="FF00FF"/>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101" autoAdjust="0"/>
  </p:normalViewPr>
  <p:slideViewPr>
    <p:cSldViewPr>
      <p:cViewPr>
        <p:scale>
          <a:sx n="110" d="100"/>
          <a:sy n="110" d="100"/>
        </p:scale>
        <p:origin x="3893" y="33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35" d="100"/>
          <a:sy n="35" d="100"/>
        </p:scale>
        <p:origin x="-151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gs" Target="tags/tag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ClrTx/>
              <a:buFontTx/>
              <a:buNone/>
              <a:defRPr kumimoji="1" sz="1200" b="0">
                <a:latin typeface="Times New Roman" panose="02020603050405020304" pitchFamily="18" charset="0"/>
              </a:defRPr>
            </a:lvl1pPr>
          </a:lstStyle>
          <a:p>
            <a:endParaRPr lang="en-US" altLang="zh-CN"/>
          </a:p>
        </p:txBody>
      </p:sp>
      <p:sp>
        <p:nvSpPr>
          <p:cNvPr id="4608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FontTx/>
              <a:buNone/>
              <a:defRPr kumimoji="1" sz="1200" b="0">
                <a:latin typeface="Times New Roman" panose="02020603050405020304" pitchFamily="18" charset="0"/>
              </a:defRPr>
            </a:lvl1pPr>
          </a:lstStyle>
          <a:p>
            <a:endParaRPr lang="en-US" altLang="zh-CN"/>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608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ClrTx/>
              <a:buFontTx/>
              <a:buNone/>
              <a:defRPr kumimoji="1" sz="1200" b="0">
                <a:latin typeface="Times New Roman" panose="02020603050405020304" pitchFamily="18" charset="0"/>
              </a:defRPr>
            </a:lvl1pPr>
          </a:lstStyle>
          <a:p>
            <a:endParaRPr lang="en-US" altLang="zh-CN"/>
          </a:p>
        </p:txBody>
      </p:sp>
      <p:sp>
        <p:nvSpPr>
          <p:cNvPr id="4608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FontTx/>
              <a:buNone/>
              <a:defRPr kumimoji="1" sz="1200" b="0">
                <a:latin typeface="Times New Roman" panose="02020603050405020304" pitchFamily="18" charset="0"/>
              </a:defRPr>
            </a:lvl1pPr>
          </a:lstStyle>
          <a:p>
            <a:fld id="{304CAF20-5E75-45B2-BC9C-CE64946D54BE}" type="slidenum">
              <a:rPr lang="en-US" altLang="zh-CN"/>
              <a:pPr/>
              <a:t>‹#›</a:t>
            </a:fld>
            <a:endParaRPr lang="en-US" altLang="zh-CN"/>
          </a:p>
        </p:txBody>
      </p:sp>
    </p:spTree>
    <p:extLst>
      <p:ext uri="{BB962C8B-B14F-4D97-AF65-F5344CB8AC3E}">
        <p14:creationId xmlns:p14="http://schemas.microsoft.com/office/powerpoint/2010/main" val="284103803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4F325C-D461-4B14-8963-D334F0CB06A1}" type="slidenum">
              <a:rPr lang="en-US" altLang="zh-CN"/>
              <a:pPr/>
              <a:t>1</a:t>
            </a:fld>
            <a:endParaRPr lang="en-US" altLang="zh-CN"/>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87338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i="0" dirty="0">
                <a:solidFill>
                  <a:srgbClr val="333333"/>
                </a:solidFill>
                <a:effectLst/>
                <a:latin typeface="-apple-system"/>
              </a:rPr>
              <a:t>使用</a:t>
            </a:r>
            <a:r>
              <a:rPr lang="en-US" altLang="zh-CN" b="0" i="0" dirty="0">
                <a:solidFill>
                  <a:srgbClr val="333333"/>
                </a:solidFill>
                <a:effectLst/>
                <a:latin typeface="-apple-system"/>
              </a:rPr>
              <a:t>set   </a:t>
            </a:r>
            <a:r>
              <a:rPr lang="en-US" altLang="zh-CN" b="0" i="0" dirty="0" err="1">
                <a:solidFill>
                  <a:srgbClr val="333333"/>
                </a:solidFill>
                <a:effectLst/>
                <a:latin typeface="-apple-system"/>
              </a:rPr>
              <a:t>serveroutput</a:t>
            </a:r>
            <a:r>
              <a:rPr lang="en-US" altLang="zh-CN" b="0" i="0" dirty="0">
                <a:solidFill>
                  <a:srgbClr val="333333"/>
                </a:solidFill>
                <a:effectLst/>
                <a:latin typeface="-apple-system"/>
              </a:rPr>
              <a:t>   on   </a:t>
            </a:r>
            <a:r>
              <a:rPr lang="zh-CN" altLang="en-US" b="0" i="0" dirty="0">
                <a:solidFill>
                  <a:srgbClr val="333333"/>
                </a:solidFill>
                <a:effectLst/>
                <a:latin typeface="-apple-system"/>
              </a:rPr>
              <a:t>命令设置环境变量</a:t>
            </a:r>
            <a:r>
              <a:rPr lang="en-US" altLang="zh-CN" b="0" i="0" dirty="0" err="1">
                <a:solidFill>
                  <a:srgbClr val="333333"/>
                </a:solidFill>
                <a:effectLst/>
                <a:latin typeface="-apple-system"/>
              </a:rPr>
              <a:t>serveroutput</a:t>
            </a:r>
            <a:r>
              <a:rPr lang="zh-CN" altLang="en-US" b="0" i="0" dirty="0">
                <a:solidFill>
                  <a:srgbClr val="333333"/>
                </a:solidFill>
                <a:effectLst/>
                <a:latin typeface="-apple-system"/>
              </a:rPr>
              <a:t>为打开状态，从而使得</a:t>
            </a:r>
            <a:r>
              <a:rPr lang="en-US" altLang="zh-CN" b="0" i="0" dirty="0">
                <a:solidFill>
                  <a:srgbClr val="333333"/>
                </a:solidFill>
                <a:effectLst/>
                <a:latin typeface="-apple-system"/>
              </a:rPr>
              <a:t>pl/</a:t>
            </a:r>
            <a:r>
              <a:rPr lang="en-US" altLang="zh-CN" b="0" i="0" dirty="0" err="1">
                <a:solidFill>
                  <a:srgbClr val="333333"/>
                </a:solidFill>
                <a:effectLst/>
                <a:latin typeface="-apple-system"/>
              </a:rPr>
              <a:t>sql</a:t>
            </a:r>
            <a:r>
              <a:rPr lang="zh-CN" altLang="en-US" b="0" i="0" dirty="0">
                <a:solidFill>
                  <a:srgbClr val="333333"/>
                </a:solidFill>
                <a:effectLst/>
                <a:latin typeface="-apple-system"/>
              </a:rPr>
              <a:t>程序能够在</a:t>
            </a:r>
            <a:r>
              <a:rPr lang="en-US" altLang="zh-CN" b="0" i="0" dirty="0">
                <a:solidFill>
                  <a:srgbClr val="333333"/>
                </a:solidFill>
                <a:effectLst/>
                <a:latin typeface="-apple-system"/>
              </a:rPr>
              <a:t>SQL*plus</a:t>
            </a:r>
            <a:r>
              <a:rPr lang="zh-CN" altLang="en-US" b="0" i="0" dirty="0">
                <a:solidFill>
                  <a:srgbClr val="333333"/>
                </a:solidFill>
                <a:effectLst/>
                <a:latin typeface="-apple-system"/>
              </a:rPr>
              <a:t>中输出结果</a:t>
            </a:r>
            <a:br>
              <a:rPr lang="zh-CN" altLang="en-US" dirty="0"/>
            </a:br>
            <a:br>
              <a:rPr lang="zh-CN" altLang="en-US" dirty="0"/>
            </a:br>
            <a:r>
              <a:rPr lang="zh-CN" altLang="en-US" b="0" i="0" dirty="0">
                <a:solidFill>
                  <a:srgbClr val="4D4D4D"/>
                </a:solidFill>
                <a:effectLst/>
                <a:latin typeface="-apple-system"/>
              </a:rPr>
              <a:t>使用函数</a:t>
            </a:r>
            <a:r>
              <a:rPr lang="en-US" altLang="zh-CN" b="0" i="0" dirty="0" err="1">
                <a:solidFill>
                  <a:srgbClr val="4D4D4D"/>
                </a:solidFill>
                <a:effectLst/>
                <a:latin typeface="-apple-system"/>
              </a:rPr>
              <a:t>dbms_output.put_line</a:t>
            </a:r>
            <a:r>
              <a:rPr lang="en-US" altLang="zh-CN" b="0" i="0" dirty="0">
                <a:solidFill>
                  <a:srgbClr val="4D4D4D"/>
                </a:solidFill>
                <a:effectLst/>
                <a:latin typeface="-apple-system"/>
              </a:rPr>
              <a:t>()</a:t>
            </a:r>
            <a:r>
              <a:rPr lang="zh-CN" altLang="en-US" b="0" i="0" dirty="0">
                <a:solidFill>
                  <a:srgbClr val="4D4D4D"/>
                </a:solidFill>
                <a:effectLst/>
                <a:latin typeface="-apple-system"/>
              </a:rPr>
              <a:t>可以输出参数的值。</a:t>
            </a:r>
          </a:p>
          <a:p>
            <a:endParaRPr lang="zh-CN" altLang="en-US" dirty="0"/>
          </a:p>
        </p:txBody>
      </p:sp>
      <p:sp>
        <p:nvSpPr>
          <p:cNvPr id="4" name="灯片编号占位符 3"/>
          <p:cNvSpPr>
            <a:spLocks noGrp="1"/>
          </p:cNvSpPr>
          <p:nvPr>
            <p:ph type="sldNum" sz="quarter" idx="10"/>
          </p:nvPr>
        </p:nvSpPr>
        <p:spPr/>
        <p:txBody>
          <a:bodyPr/>
          <a:lstStyle/>
          <a:p>
            <a:fld id="{304CAF20-5E75-45B2-BC9C-CE64946D54BE}" type="slidenum">
              <a:rPr lang="en-US" altLang="zh-CN" smtClean="0"/>
              <a:pPr/>
              <a:t>12</a:t>
            </a:fld>
            <a:endParaRPr lang="en-US" altLang="zh-CN"/>
          </a:p>
        </p:txBody>
      </p:sp>
    </p:spTree>
    <p:extLst>
      <p:ext uri="{BB962C8B-B14F-4D97-AF65-F5344CB8AC3E}">
        <p14:creationId xmlns:p14="http://schemas.microsoft.com/office/powerpoint/2010/main" val="1216604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16</a:t>
            </a:fld>
            <a:endParaRPr lang="en-US" altLang="zh-CN"/>
          </a:p>
        </p:txBody>
      </p:sp>
    </p:spTree>
    <p:extLst>
      <p:ext uri="{BB962C8B-B14F-4D97-AF65-F5344CB8AC3E}">
        <p14:creationId xmlns:p14="http://schemas.microsoft.com/office/powerpoint/2010/main" val="2139839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a:t>
            </a:r>
            <a:r>
              <a:rPr lang="en-US" altLang="zh-CN" dirty="0"/>
              <a:t>D</a:t>
            </a:r>
            <a:endParaRPr lang="zh-CN" altLang="en-US" dirty="0"/>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17</a:t>
            </a:fld>
            <a:endParaRPr lang="en-US" altLang="zh-CN"/>
          </a:p>
        </p:txBody>
      </p:sp>
    </p:spTree>
    <p:extLst>
      <p:ext uri="{BB962C8B-B14F-4D97-AF65-F5344CB8AC3E}">
        <p14:creationId xmlns:p14="http://schemas.microsoft.com/office/powerpoint/2010/main" val="804248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47</a:t>
            </a:fld>
            <a:endParaRPr lang="en-US" altLang="zh-CN"/>
          </a:p>
        </p:txBody>
      </p:sp>
    </p:spTree>
    <p:extLst>
      <p:ext uri="{BB962C8B-B14F-4D97-AF65-F5344CB8AC3E}">
        <p14:creationId xmlns:p14="http://schemas.microsoft.com/office/powerpoint/2010/main" val="847740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04CAF20-5E75-45B2-BC9C-CE64946D54BE}" type="slidenum">
              <a:rPr lang="en-US" altLang="zh-CN" smtClean="0"/>
              <a:pPr/>
              <a:t>48</a:t>
            </a:fld>
            <a:endParaRPr lang="en-US" altLang="zh-CN"/>
          </a:p>
        </p:txBody>
      </p:sp>
    </p:spTree>
    <p:extLst>
      <p:ext uri="{BB962C8B-B14F-4D97-AF65-F5344CB8AC3E}">
        <p14:creationId xmlns:p14="http://schemas.microsoft.com/office/powerpoint/2010/main" val="455714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04CAF20-5E75-45B2-BC9C-CE64946D54BE}" type="slidenum">
              <a:rPr lang="en-US" altLang="zh-CN" smtClean="0"/>
              <a:pPr/>
              <a:t>115</a:t>
            </a:fld>
            <a:endParaRPr lang="en-US" altLang="zh-CN"/>
          </a:p>
        </p:txBody>
      </p:sp>
    </p:spTree>
    <p:extLst>
      <p:ext uri="{BB962C8B-B14F-4D97-AF65-F5344CB8AC3E}">
        <p14:creationId xmlns:p14="http://schemas.microsoft.com/office/powerpoint/2010/main" val="4241800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89474" name="Freeform 2"/>
          <p:cNvSpPr>
            <a:spLocks/>
          </p:cNvSpPr>
          <p:nvPr/>
        </p:nvSpPr>
        <p:spPr bwMode="gray">
          <a:xfrm>
            <a:off x="-9525" y="1447800"/>
            <a:ext cx="9164638" cy="3832225"/>
          </a:xfrm>
          <a:custGeom>
            <a:avLst/>
            <a:gdLst>
              <a:gd name="T0" fmla="*/ 12 w 5773"/>
              <a:gd name="T1" fmla="*/ 124 h 2414"/>
              <a:gd name="T2" fmla="*/ 1381 w 5773"/>
              <a:gd name="T3" fmla="*/ 12 h 2414"/>
              <a:gd name="T4" fmla="*/ 4064 w 5773"/>
              <a:gd name="T5" fmla="*/ 581 h 2414"/>
              <a:gd name="T6" fmla="*/ 5773 w 5773"/>
              <a:gd name="T7" fmla="*/ 118 h 2414"/>
              <a:gd name="T8" fmla="*/ 5766 w 5773"/>
              <a:gd name="T9" fmla="*/ 2151 h 2414"/>
              <a:gd name="T10" fmla="*/ 3966 w 5773"/>
              <a:gd name="T11" fmla="*/ 2263 h 2414"/>
              <a:gd name="T12" fmla="*/ 1963 w 5773"/>
              <a:gd name="T13" fmla="*/ 1897 h 2414"/>
              <a:gd name="T14" fmla="*/ 6 w 5773"/>
              <a:gd name="T15" fmla="*/ 2407 h 2414"/>
              <a:gd name="T16" fmla="*/ 12 w 5773"/>
              <a:gd name="T17" fmla="*/ 124 h 2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9475" name="Freeform 3"/>
          <p:cNvSpPr>
            <a:spLocks/>
          </p:cNvSpPr>
          <p:nvPr/>
        </p:nvSpPr>
        <p:spPr bwMode="gray">
          <a:xfrm>
            <a:off x="-9525" y="1730375"/>
            <a:ext cx="9150350" cy="3265488"/>
          </a:xfrm>
          <a:custGeom>
            <a:avLst/>
            <a:gdLst>
              <a:gd name="T0" fmla="*/ 6 w 5764"/>
              <a:gd name="T1" fmla="*/ 272 h 2057"/>
              <a:gd name="T2" fmla="*/ 1453 w 5764"/>
              <a:gd name="T3" fmla="*/ 10 h 2057"/>
              <a:gd name="T4" fmla="*/ 4182 w 5764"/>
              <a:gd name="T5" fmla="*/ 482 h 2057"/>
              <a:gd name="T6" fmla="*/ 5764 w 5764"/>
              <a:gd name="T7" fmla="*/ 154 h 2057"/>
              <a:gd name="T8" fmla="*/ 5764 w 5764"/>
              <a:gd name="T9" fmla="*/ 1806 h 2057"/>
              <a:gd name="T10" fmla="*/ 4005 w 5764"/>
              <a:gd name="T11" fmla="*/ 1994 h 2057"/>
              <a:gd name="T12" fmla="*/ 1891 w 5764"/>
              <a:gd name="T13" fmla="*/ 1522 h 2057"/>
              <a:gd name="T14" fmla="*/ 6 w 5764"/>
              <a:gd name="T15" fmla="*/ 1967 h 2057"/>
              <a:gd name="T16" fmla="*/ 6 w 5764"/>
              <a:gd name="T17" fmla="*/ 272 h 2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9476" name="Group 4"/>
          <p:cNvGrpSpPr>
            <a:grpSpLocks/>
          </p:cNvGrpSpPr>
          <p:nvPr/>
        </p:nvGrpSpPr>
        <p:grpSpPr bwMode="auto">
          <a:xfrm>
            <a:off x="7086600" y="1947863"/>
            <a:ext cx="533400" cy="533400"/>
            <a:chOff x="4752" y="1200"/>
            <a:chExt cx="288" cy="288"/>
          </a:xfrm>
        </p:grpSpPr>
        <p:sp>
          <p:nvSpPr>
            <p:cNvPr id="489477" name="Oval 5"/>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9478" name="Oval 6"/>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9479" name="Group 7"/>
          <p:cNvGrpSpPr>
            <a:grpSpLocks/>
          </p:cNvGrpSpPr>
          <p:nvPr/>
        </p:nvGrpSpPr>
        <p:grpSpPr bwMode="auto">
          <a:xfrm>
            <a:off x="7620000" y="1371600"/>
            <a:ext cx="914400" cy="914400"/>
            <a:chOff x="4992" y="816"/>
            <a:chExt cx="576" cy="576"/>
          </a:xfrm>
        </p:grpSpPr>
        <p:sp>
          <p:nvSpPr>
            <p:cNvPr id="489480" name="Oval 8"/>
            <p:cNvSpPr>
              <a:spLocks noChangeArrowheads="1"/>
            </p:cNvSpPr>
            <p:nvPr userDrawn="1"/>
          </p:nvSpPr>
          <p:spPr bwMode="gray">
            <a:xfrm>
              <a:off x="4992" y="816"/>
              <a:ext cx="576" cy="576"/>
            </a:xfrm>
            <a:prstGeom prst="ellipse">
              <a:avLst/>
            </a:prstGeom>
            <a:solidFill>
              <a:schemeClr val="accent1">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9481" name="Oval 9"/>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9482" name="Group 10"/>
          <p:cNvGrpSpPr>
            <a:grpSpLocks/>
          </p:cNvGrpSpPr>
          <p:nvPr/>
        </p:nvGrpSpPr>
        <p:grpSpPr bwMode="auto">
          <a:xfrm>
            <a:off x="304800" y="3429000"/>
            <a:ext cx="1295400" cy="1371600"/>
            <a:chOff x="4992" y="816"/>
            <a:chExt cx="576" cy="576"/>
          </a:xfrm>
        </p:grpSpPr>
        <p:sp>
          <p:nvSpPr>
            <p:cNvPr id="489483" name="Oval 11"/>
            <p:cNvSpPr>
              <a:spLocks noChangeArrowheads="1"/>
            </p:cNvSpPr>
            <p:nvPr userDrawn="1"/>
          </p:nvSpPr>
          <p:spPr bwMode="gray">
            <a:xfrm>
              <a:off x="4992" y="816"/>
              <a:ext cx="576" cy="576"/>
            </a:xfrm>
            <a:prstGeom prst="ellipse">
              <a:avLst/>
            </a:prstGeom>
            <a:solidFill>
              <a:schemeClr val="tx2">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9484" name="Oval 12"/>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89485" name="Rectangle 13"/>
          <p:cNvSpPr>
            <a:spLocks noGrp="1" noChangeArrowheads="1"/>
          </p:cNvSpPr>
          <p:nvPr>
            <p:ph type="dt" sz="half" idx="2"/>
          </p:nvPr>
        </p:nvSpPr>
        <p:spPr>
          <a:xfrm>
            <a:off x="457200" y="6477000"/>
            <a:ext cx="2133600" cy="244475"/>
          </a:xfrm>
        </p:spPr>
        <p:txBody>
          <a:bodyPr/>
          <a:lstStyle>
            <a:lvl1pPr>
              <a:defRPr sz="1200"/>
            </a:lvl1pPr>
          </a:lstStyle>
          <a:p>
            <a:endParaRPr lang="en-US" altLang="zh-CN"/>
          </a:p>
        </p:txBody>
      </p:sp>
      <p:sp>
        <p:nvSpPr>
          <p:cNvPr id="489486" name="Rectangle 14"/>
          <p:cNvSpPr>
            <a:spLocks noGrp="1" noChangeArrowheads="1"/>
          </p:cNvSpPr>
          <p:nvPr>
            <p:ph type="ftr" sz="quarter" idx="3"/>
          </p:nvPr>
        </p:nvSpPr>
        <p:spPr>
          <a:xfrm>
            <a:off x="5364163" y="6381750"/>
            <a:ext cx="3529012" cy="287338"/>
          </a:xfrm>
        </p:spPr>
        <p:txBody>
          <a:bodyPr/>
          <a:lstStyle>
            <a:lvl1pPr>
              <a:defRPr>
                <a:solidFill>
                  <a:srgbClr val="FF3300"/>
                </a:solidFill>
              </a:defRPr>
            </a:lvl1pPr>
          </a:lstStyle>
          <a:p>
            <a:r>
              <a:rPr lang="en-US" altLang="zh-CN"/>
              <a:t>An Introduction to Database System</a:t>
            </a:r>
          </a:p>
        </p:txBody>
      </p:sp>
      <p:sp>
        <p:nvSpPr>
          <p:cNvPr id="489487" name="Rectangle 15"/>
          <p:cNvSpPr>
            <a:spLocks noGrp="1" noChangeArrowheads="1"/>
          </p:cNvSpPr>
          <p:nvPr>
            <p:ph type="ctrTitle"/>
          </p:nvPr>
        </p:nvSpPr>
        <p:spPr>
          <a:xfrm>
            <a:off x="1143000" y="2590800"/>
            <a:ext cx="7086600" cy="1012825"/>
          </a:xfrm>
          <a:effectLst>
            <a:outerShdw dist="53882" dir="2700000" algn="ctr" rotWithShape="0">
              <a:schemeClr val="tx1"/>
            </a:outerShdw>
          </a:effectLst>
        </p:spPr>
        <p:txBody>
          <a:bodyPr/>
          <a:lstStyle>
            <a:lvl1pPr>
              <a:defRPr sz="4800"/>
            </a:lvl1pPr>
          </a:lstStyle>
          <a:p>
            <a:pPr lvl="0"/>
            <a:r>
              <a:rPr lang="zh-CN" altLang="en-US" noProof="0"/>
              <a:t>单击此处编辑母版标题样式</a:t>
            </a:r>
          </a:p>
        </p:txBody>
      </p:sp>
      <p:sp>
        <p:nvSpPr>
          <p:cNvPr id="489488" name="Rectangle 16"/>
          <p:cNvSpPr>
            <a:spLocks noGrp="1" noChangeArrowheads="1"/>
          </p:cNvSpPr>
          <p:nvPr>
            <p:ph type="subTitle" idx="1"/>
          </p:nvPr>
        </p:nvSpPr>
        <p:spPr bwMode="white">
          <a:xfrm>
            <a:off x="1295400" y="3581400"/>
            <a:ext cx="6705600" cy="381000"/>
          </a:xfrm>
        </p:spPr>
        <p:txBody>
          <a:bodyPr/>
          <a:lstStyle>
            <a:lvl1pPr marL="0" indent="0" algn="ctr">
              <a:buFont typeface="Wingdings" panose="05000000000000000000" pitchFamily="2" charset="2"/>
              <a:buNone/>
              <a:defRPr sz="2000"/>
            </a:lvl1pPr>
          </a:lstStyle>
          <a:p>
            <a:pPr lvl="0"/>
            <a:r>
              <a:rPr lang="zh-CN" altLang="en-US" noProof="0"/>
              <a:t>单击此处编辑母版副标题样式</a:t>
            </a:r>
          </a:p>
        </p:txBody>
      </p:sp>
      <p:pic>
        <p:nvPicPr>
          <p:cNvPr id="489489" name="Picture 17" descr="zjnu校标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5288" y="260350"/>
            <a:ext cx="863600" cy="86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945D2E7A-0FED-4726-9E29-881D901EFE19}" type="slidenum">
              <a:rPr lang="en-US" altLang="zh-CN"/>
              <a:pPr/>
              <a:t>‹#›</a:t>
            </a:fld>
            <a:endParaRPr lang="en-US" altLang="zh-CN"/>
          </a:p>
        </p:txBody>
      </p:sp>
    </p:spTree>
    <p:extLst>
      <p:ext uri="{BB962C8B-B14F-4D97-AF65-F5344CB8AC3E}">
        <p14:creationId xmlns:p14="http://schemas.microsoft.com/office/powerpoint/2010/main" val="3721062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08053329-8F25-432F-AA86-36CCAFD825E2}" type="slidenum">
              <a:rPr lang="en-US" altLang="zh-CN"/>
              <a:pPr/>
              <a:t>‹#›</a:t>
            </a:fld>
            <a:endParaRPr lang="en-US" altLang="zh-CN"/>
          </a:p>
        </p:txBody>
      </p:sp>
    </p:spTree>
    <p:extLst>
      <p:ext uri="{BB962C8B-B14F-4D97-AF65-F5344CB8AC3E}">
        <p14:creationId xmlns:p14="http://schemas.microsoft.com/office/powerpoint/2010/main" val="160800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p:txBody>
          <a:bodyPr/>
          <a:lstStyle>
            <a:lvl1pPr>
              <a:defRPr/>
            </a:lvl1pPr>
          </a:lstStyle>
          <a:p>
            <a:fld id="{B17111A7-5EA7-4F8D-A702-BD3ED6CACAC9}" type="slidenum">
              <a:rPr lang="en-US" altLang="zh-CN"/>
              <a:pPr/>
              <a:t>‹#›</a:t>
            </a:fld>
            <a:endParaRPr lang="en-US" altLang="zh-CN"/>
          </a:p>
        </p:txBody>
      </p:sp>
    </p:spTree>
    <p:extLst>
      <p:ext uri="{BB962C8B-B14F-4D97-AF65-F5344CB8AC3E}">
        <p14:creationId xmlns:p14="http://schemas.microsoft.com/office/powerpoint/2010/main" val="820607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en-US" altLang="zh-CN"/>
              <a:t>An Introduction to Database System</a:t>
            </a:r>
          </a:p>
        </p:txBody>
      </p:sp>
      <p:sp>
        <p:nvSpPr>
          <p:cNvPr id="9" name="灯片编号占位符 8"/>
          <p:cNvSpPr>
            <a:spLocks noGrp="1"/>
          </p:cNvSpPr>
          <p:nvPr>
            <p:ph type="sldNum" sz="quarter" idx="12"/>
          </p:nvPr>
        </p:nvSpPr>
        <p:spPr/>
        <p:txBody>
          <a:bodyPr/>
          <a:lstStyle>
            <a:lvl1pPr>
              <a:defRPr/>
            </a:lvl1pPr>
          </a:lstStyle>
          <a:p>
            <a:fld id="{383E55AF-77C8-4437-A0F5-8D0C3053C89A}" type="slidenum">
              <a:rPr lang="en-US" altLang="zh-CN"/>
              <a:pPr/>
              <a:t>‹#›</a:t>
            </a:fld>
            <a:endParaRPr lang="en-US" altLang="zh-CN"/>
          </a:p>
        </p:txBody>
      </p:sp>
    </p:spTree>
    <p:extLst>
      <p:ext uri="{BB962C8B-B14F-4D97-AF65-F5344CB8AC3E}">
        <p14:creationId xmlns:p14="http://schemas.microsoft.com/office/powerpoint/2010/main" val="2521294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en-US" altLang="zh-CN"/>
              <a:t>An Introduction to Database System</a:t>
            </a:r>
          </a:p>
        </p:txBody>
      </p:sp>
      <p:sp>
        <p:nvSpPr>
          <p:cNvPr id="5" name="灯片编号占位符 4"/>
          <p:cNvSpPr>
            <a:spLocks noGrp="1"/>
          </p:cNvSpPr>
          <p:nvPr>
            <p:ph type="sldNum" sz="quarter" idx="12"/>
          </p:nvPr>
        </p:nvSpPr>
        <p:spPr/>
        <p:txBody>
          <a:bodyPr/>
          <a:lstStyle>
            <a:lvl1pPr>
              <a:defRPr/>
            </a:lvl1pPr>
          </a:lstStyle>
          <a:p>
            <a:fld id="{12824611-9AE8-4673-A189-AA3AD14B90B7}" type="slidenum">
              <a:rPr lang="en-US" altLang="zh-CN"/>
              <a:pPr/>
              <a:t>‹#›</a:t>
            </a:fld>
            <a:endParaRPr lang="en-US" altLang="zh-CN"/>
          </a:p>
        </p:txBody>
      </p:sp>
    </p:spTree>
    <p:extLst>
      <p:ext uri="{BB962C8B-B14F-4D97-AF65-F5344CB8AC3E}">
        <p14:creationId xmlns:p14="http://schemas.microsoft.com/office/powerpoint/2010/main" val="2735245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en-US" altLang="zh-CN"/>
              <a:t>An Introduction to Database System</a:t>
            </a:r>
          </a:p>
        </p:txBody>
      </p:sp>
      <p:sp>
        <p:nvSpPr>
          <p:cNvPr id="4" name="灯片编号占位符 3"/>
          <p:cNvSpPr>
            <a:spLocks noGrp="1"/>
          </p:cNvSpPr>
          <p:nvPr>
            <p:ph type="sldNum" sz="quarter" idx="12"/>
          </p:nvPr>
        </p:nvSpPr>
        <p:spPr/>
        <p:txBody>
          <a:bodyPr/>
          <a:lstStyle>
            <a:lvl1pPr>
              <a:defRPr/>
            </a:lvl1pPr>
          </a:lstStyle>
          <a:p>
            <a:fld id="{B71FBAB2-BFFA-4C1C-9784-956B39B51F6A}" type="slidenum">
              <a:rPr lang="en-US" altLang="zh-CN"/>
              <a:pPr/>
              <a:t>‹#›</a:t>
            </a:fld>
            <a:endParaRPr lang="en-US" altLang="zh-CN"/>
          </a:p>
        </p:txBody>
      </p:sp>
    </p:spTree>
    <p:extLst>
      <p:ext uri="{BB962C8B-B14F-4D97-AF65-F5344CB8AC3E}">
        <p14:creationId xmlns:p14="http://schemas.microsoft.com/office/powerpoint/2010/main" val="1150424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p:txBody>
          <a:bodyPr/>
          <a:lstStyle>
            <a:lvl1pPr>
              <a:defRPr/>
            </a:lvl1pPr>
          </a:lstStyle>
          <a:p>
            <a:fld id="{4999CEE0-3AD4-4799-BA5D-A0E11F12E95C}" type="slidenum">
              <a:rPr lang="en-US" altLang="zh-CN"/>
              <a:pPr/>
              <a:t>‹#›</a:t>
            </a:fld>
            <a:endParaRPr lang="en-US" altLang="zh-CN"/>
          </a:p>
        </p:txBody>
      </p:sp>
    </p:spTree>
    <p:extLst>
      <p:ext uri="{BB962C8B-B14F-4D97-AF65-F5344CB8AC3E}">
        <p14:creationId xmlns:p14="http://schemas.microsoft.com/office/powerpoint/2010/main" val="2625214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p:txBody>
          <a:bodyPr/>
          <a:lstStyle>
            <a:lvl1pPr>
              <a:defRPr/>
            </a:lvl1pPr>
          </a:lstStyle>
          <a:p>
            <a:fld id="{2353865D-85A8-4758-A250-1F1668153A56}" type="slidenum">
              <a:rPr lang="en-US" altLang="zh-CN"/>
              <a:pPr/>
              <a:t>‹#›</a:t>
            </a:fld>
            <a:endParaRPr lang="en-US" altLang="zh-CN"/>
          </a:p>
        </p:txBody>
      </p:sp>
    </p:spTree>
    <p:extLst>
      <p:ext uri="{BB962C8B-B14F-4D97-AF65-F5344CB8AC3E}">
        <p14:creationId xmlns:p14="http://schemas.microsoft.com/office/powerpoint/2010/main" val="711775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FF8F3493-BB8C-4E5B-894A-C04A57808B8A}" type="slidenum">
              <a:rPr lang="en-US" altLang="zh-CN"/>
              <a:pPr/>
              <a:t>‹#›</a:t>
            </a:fld>
            <a:endParaRPr lang="en-US" altLang="zh-CN"/>
          </a:p>
        </p:txBody>
      </p:sp>
    </p:spTree>
    <p:extLst>
      <p:ext uri="{BB962C8B-B14F-4D97-AF65-F5344CB8AC3E}">
        <p14:creationId xmlns:p14="http://schemas.microsoft.com/office/powerpoint/2010/main" val="1442461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858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85800"/>
            <a:ext cx="60198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A00823CB-96CC-4F7A-B4B9-489EBDF51656}" type="slidenum">
              <a:rPr lang="en-US" altLang="zh-CN"/>
              <a:pPr/>
              <a:t>‹#›</a:t>
            </a:fld>
            <a:endParaRPr lang="en-US" altLang="zh-CN"/>
          </a:p>
        </p:txBody>
      </p:sp>
    </p:spTree>
    <p:extLst>
      <p:ext uri="{BB962C8B-B14F-4D97-AF65-F5344CB8AC3E}">
        <p14:creationId xmlns:p14="http://schemas.microsoft.com/office/powerpoint/2010/main" val="1716963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00113" y="6308725"/>
            <a:ext cx="2133600" cy="320675"/>
          </a:xfrm>
        </p:spPr>
        <p:txBody>
          <a:bodyPr/>
          <a:lstStyle>
            <a:lvl1pPr>
              <a:defRPr/>
            </a:lvl1pPr>
          </a:lstStyle>
          <a:p>
            <a:endParaRPr lang="en-US" altLang="zh-CN"/>
          </a:p>
        </p:txBody>
      </p:sp>
      <p:sp>
        <p:nvSpPr>
          <p:cNvPr id="6" name="页脚占位符 5"/>
          <p:cNvSpPr>
            <a:spLocks noGrp="1"/>
          </p:cNvSpPr>
          <p:nvPr>
            <p:ph type="ftr" sz="quarter" idx="11"/>
          </p:nvPr>
        </p:nvSpPr>
        <p:spPr>
          <a:xfrm>
            <a:off x="5219700" y="6381750"/>
            <a:ext cx="3600450" cy="320675"/>
          </a:xfrm>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a:xfrm>
            <a:off x="250825" y="6237288"/>
            <a:ext cx="585788" cy="457200"/>
          </a:xfrm>
        </p:spPr>
        <p:txBody>
          <a:bodyPr/>
          <a:lstStyle>
            <a:lvl1pPr>
              <a:defRPr/>
            </a:lvl1pPr>
          </a:lstStyle>
          <a:p>
            <a:fld id="{CD5C3753-734A-477F-97D0-D05E6A5C33B1}" type="slidenum">
              <a:rPr lang="en-US" altLang="zh-CN"/>
              <a:pPr/>
              <a:t>‹#›</a:t>
            </a:fld>
            <a:endParaRPr lang="en-US" altLang="zh-CN"/>
          </a:p>
        </p:txBody>
      </p:sp>
    </p:spTree>
    <p:extLst>
      <p:ext uri="{BB962C8B-B14F-4D97-AF65-F5344CB8AC3E}">
        <p14:creationId xmlns:p14="http://schemas.microsoft.com/office/powerpoint/2010/main" val="3685900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828800"/>
            <a:ext cx="8229600" cy="4495800"/>
          </a:xfrm>
        </p:spPr>
        <p:txBody>
          <a:bodyPr/>
          <a:lstStyle/>
          <a:p>
            <a:endParaRPr lang="zh-CN" altLang="en-US"/>
          </a:p>
        </p:txBody>
      </p:sp>
      <p:sp>
        <p:nvSpPr>
          <p:cNvPr id="4" name="日期占位符 3"/>
          <p:cNvSpPr>
            <a:spLocks noGrp="1"/>
          </p:cNvSpPr>
          <p:nvPr>
            <p:ph type="dt" sz="half" idx="10"/>
          </p:nvPr>
        </p:nvSpPr>
        <p:spPr>
          <a:xfrm>
            <a:off x="457200" y="6400800"/>
            <a:ext cx="2133600" cy="320675"/>
          </a:xfrm>
        </p:spPr>
        <p:txBody>
          <a:bodyPr/>
          <a:lstStyle>
            <a:lvl1pPr>
              <a:defRPr/>
            </a:lvl1pPr>
          </a:lstStyle>
          <a:p>
            <a:endParaRPr lang="en-US" altLang="zh-CN"/>
          </a:p>
        </p:txBody>
      </p:sp>
      <p:sp>
        <p:nvSpPr>
          <p:cNvPr id="5" name="页脚占位符 4"/>
          <p:cNvSpPr>
            <a:spLocks noGrp="1"/>
          </p:cNvSpPr>
          <p:nvPr>
            <p:ph type="ftr" sz="quarter" idx="11"/>
          </p:nvPr>
        </p:nvSpPr>
        <p:spPr>
          <a:xfrm>
            <a:off x="5219700" y="6381750"/>
            <a:ext cx="3600450" cy="320675"/>
          </a:xfrm>
        </p:spPr>
        <p:txBody>
          <a:bodyPr/>
          <a:lstStyle>
            <a:lvl1pPr>
              <a:defRPr/>
            </a:lvl1pPr>
          </a:lstStyle>
          <a:p>
            <a:r>
              <a:rPr lang="en-US" altLang="zh-CN"/>
              <a:t>An Introduction to Database System</a:t>
            </a:r>
          </a:p>
        </p:txBody>
      </p:sp>
    </p:spTree>
    <p:extLst>
      <p:ext uri="{BB962C8B-B14F-4D97-AF65-F5344CB8AC3E}">
        <p14:creationId xmlns:p14="http://schemas.microsoft.com/office/powerpoint/2010/main" val="4062136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88450" name="Object 2"/>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29" name="Image" r:id="rId16" imgW="9561905" imgH="1600000" progId="Photoshop.Image.6">
                  <p:embed/>
                </p:oleObj>
              </mc:Choice>
              <mc:Fallback>
                <p:oleObj name="Image" r:id="rId16" imgW="9561905" imgH="1600000" progId="Photoshop.Image.6">
                  <p:embed/>
                  <p:pic>
                    <p:nvPicPr>
                      <p:cNvPr id="0" name="Object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8451" name="Freeform 3"/>
          <p:cNvSpPr>
            <a:spLocks/>
          </p:cNvSpPr>
          <p:nvPr/>
        </p:nvSpPr>
        <p:spPr bwMode="gray">
          <a:xfrm>
            <a:off x="-11113" y="280988"/>
            <a:ext cx="9155113" cy="1620837"/>
          </a:xfrm>
          <a:custGeom>
            <a:avLst/>
            <a:gdLst>
              <a:gd name="T0" fmla="*/ 6 w 5767"/>
              <a:gd name="T1" fmla="*/ 109 h 1021"/>
              <a:gd name="T2" fmla="*/ 1427 w 5767"/>
              <a:gd name="T3" fmla="*/ 46 h 1021"/>
              <a:gd name="T4" fmla="*/ 4032 w 5767"/>
              <a:gd name="T5" fmla="*/ 255 h 1021"/>
              <a:gd name="T6" fmla="*/ 5767 w 5767"/>
              <a:gd name="T7" fmla="*/ 0 h 1021"/>
              <a:gd name="T8" fmla="*/ 5767 w 5767"/>
              <a:gd name="T9" fmla="*/ 776 h 1021"/>
              <a:gd name="T10" fmla="*/ 4065 w 5767"/>
              <a:gd name="T11" fmla="*/ 831 h 1021"/>
              <a:gd name="T12" fmla="*/ 1984 w 5767"/>
              <a:gd name="T13" fmla="*/ 674 h 1021"/>
              <a:gd name="T14" fmla="*/ 14 w 5767"/>
              <a:gd name="T15" fmla="*/ 995 h 1021"/>
              <a:gd name="T16" fmla="*/ 6 w 5767"/>
              <a:gd name="T17" fmla="*/ 10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8452" name="Freeform 4"/>
          <p:cNvSpPr>
            <a:spLocks/>
          </p:cNvSpPr>
          <p:nvPr/>
        </p:nvSpPr>
        <p:spPr bwMode="gray">
          <a:xfrm>
            <a:off x="-20638" y="533400"/>
            <a:ext cx="9161463" cy="1006475"/>
          </a:xfrm>
          <a:custGeom>
            <a:avLst/>
            <a:gdLst>
              <a:gd name="T0" fmla="*/ 20 w 5771"/>
              <a:gd name="T1" fmla="*/ 109 h 634"/>
              <a:gd name="T2" fmla="*/ 1442 w 5771"/>
              <a:gd name="T3" fmla="*/ 3 h 634"/>
              <a:gd name="T4" fmla="*/ 4150 w 5771"/>
              <a:gd name="T5" fmla="*/ 148 h 634"/>
              <a:gd name="T6" fmla="*/ 5771 w 5771"/>
              <a:gd name="T7" fmla="*/ 37 h 634"/>
              <a:gd name="T8" fmla="*/ 5771 w 5771"/>
              <a:gd name="T9" fmla="*/ 557 h 634"/>
              <a:gd name="T10" fmla="*/ 3942 w 5771"/>
              <a:gd name="T11" fmla="*/ 592 h 634"/>
              <a:gd name="T12" fmla="*/ 1839 w 5771"/>
              <a:gd name="T13" fmla="*/ 456 h 634"/>
              <a:gd name="T14" fmla="*/ 6 w 5771"/>
              <a:gd name="T15" fmla="*/ 620 h 634"/>
              <a:gd name="T16" fmla="*/ 20 w 5771"/>
              <a:gd name="T17" fmla="*/ 109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8453" name="Group 5"/>
          <p:cNvGrpSpPr>
            <a:grpSpLocks/>
          </p:cNvGrpSpPr>
          <p:nvPr/>
        </p:nvGrpSpPr>
        <p:grpSpPr bwMode="auto">
          <a:xfrm>
            <a:off x="7740650" y="347663"/>
            <a:ext cx="387350" cy="366712"/>
            <a:chOff x="4752" y="1200"/>
            <a:chExt cx="288" cy="288"/>
          </a:xfrm>
        </p:grpSpPr>
        <p:sp>
          <p:nvSpPr>
            <p:cNvPr id="488454"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8455"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8456" name="Group 8"/>
          <p:cNvGrpSpPr>
            <a:grpSpLocks/>
          </p:cNvGrpSpPr>
          <p:nvPr/>
        </p:nvGrpSpPr>
        <p:grpSpPr bwMode="auto">
          <a:xfrm>
            <a:off x="8153400" y="53975"/>
            <a:ext cx="609600" cy="592138"/>
            <a:chOff x="4992" y="816"/>
            <a:chExt cx="576" cy="576"/>
          </a:xfrm>
        </p:grpSpPr>
        <p:sp>
          <p:nvSpPr>
            <p:cNvPr id="488457" name="Oval 9"/>
            <p:cNvSpPr>
              <a:spLocks noChangeArrowheads="1"/>
            </p:cNvSpPr>
            <p:nvPr userDrawn="1"/>
          </p:nvSpPr>
          <p:spPr bwMode="gray">
            <a:xfrm>
              <a:off x="4992" y="816"/>
              <a:ext cx="576" cy="576"/>
            </a:xfrm>
            <a:prstGeom prst="ellipse">
              <a:avLst/>
            </a:prstGeom>
            <a:solidFill>
              <a:schemeClr val="accent1">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8458" name="Oval 10"/>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8459" name="Group 11"/>
          <p:cNvGrpSpPr>
            <a:grpSpLocks/>
          </p:cNvGrpSpPr>
          <p:nvPr/>
        </p:nvGrpSpPr>
        <p:grpSpPr bwMode="auto">
          <a:xfrm>
            <a:off x="171450" y="819150"/>
            <a:ext cx="720725" cy="762000"/>
            <a:chOff x="4992" y="816"/>
            <a:chExt cx="576" cy="576"/>
          </a:xfrm>
        </p:grpSpPr>
        <p:sp>
          <p:nvSpPr>
            <p:cNvPr id="488460" name="Oval 12"/>
            <p:cNvSpPr>
              <a:spLocks noChangeArrowheads="1"/>
            </p:cNvSpPr>
            <p:nvPr userDrawn="1"/>
          </p:nvSpPr>
          <p:spPr bwMode="gray">
            <a:xfrm>
              <a:off x="4992" y="816"/>
              <a:ext cx="576" cy="576"/>
            </a:xfrm>
            <a:prstGeom prst="ellipse">
              <a:avLst/>
            </a:prstGeom>
            <a:solidFill>
              <a:schemeClr val="tx2">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8461"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88462" name="Rectangle 14"/>
          <p:cNvSpPr>
            <a:spLocks noGrp="1" noChangeArrowheads="1"/>
          </p:cNvSpPr>
          <p:nvPr>
            <p:ph type="body" idx="1"/>
          </p:nvPr>
        </p:nvSpPr>
        <p:spPr bwMode="auto">
          <a:xfrm>
            <a:off x="457200" y="1828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88463" name="Rectangle 15"/>
          <p:cNvSpPr>
            <a:spLocks noGrp="1" noChangeArrowheads="1"/>
          </p:cNvSpPr>
          <p:nvPr>
            <p:ph type="dt" sz="half" idx="2"/>
          </p:nvPr>
        </p:nvSpPr>
        <p:spPr bwMode="auto">
          <a:xfrm>
            <a:off x="900113" y="63087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ClrTx/>
              <a:buFontTx/>
              <a:buNone/>
              <a:defRPr sz="1400" b="0"/>
            </a:lvl1pPr>
          </a:lstStyle>
          <a:p>
            <a:endParaRPr lang="en-US" altLang="zh-CN"/>
          </a:p>
        </p:txBody>
      </p:sp>
      <p:sp>
        <p:nvSpPr>
          <p:cNvPr id="488464" name="Rectangle 16"/>
          <p:cNvSpPr>
            <a:spLocks noGrp="1" noChangeArrowheads="1"/>
          </p:cNvSpPr>
          <p:nvPr>
            <p:ph type="ftr" sz="quarter" idx="3"/>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ClrTx/>
              <a:buFontTx/>
              <a:buNone/>
              <a:defRPr sz="1400">
                <a:solidFill>
                  <a:srgbClr val="F03628"/>
                </a:solidFill>
              </a:defRPr>
            </a:lvl1pPr>
          </a:lstStyle>
          <a:p>
            <a:r>
              <a:rPr lang="en-US" altLang="zh-CN"/>
              <a:t>An Introduction to Database System</a:t>
            </a:r>
          </a:p>
        </p:txBody>
      </p:sp>
      <p:sp>
        <p:nvSpPr>
          <p:cNvPr id="488465" name="Rectangle 17"/>
          <p:cNvSpPr>
            <a:spLocks noGrp="1" noChangeArrowheads="1"/>
          </p:cNvSpPr>
          <p:nvPr>
            <p:ph type="title"/>
          </p:nvPr>
        </p:nvSpPr>
        <p:spPr bwMode="white">
          <a:xfrm>
            <a:off x="914400" y="685800"/>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488466" name="Picture 18" descr="zjnu校标2"/>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461375" y="765175"/>
            <a:ext cx="647700" cy="647700"/>
          </a:xfrm>
          <a:prstGeom prst="rect">
            <a:avLst/>
          </a:prstGeom>
          <a:noFill/>
          <a:extLst>
            <a:ext uri="{909E8E84-426E-40DD-AFC4-6F175D3DCCD1}">
              <a14:hiddenFill xmlns:a14="http://schemas.microsoft.com/office/drawing/2010/main">
                <a:solidFill>
                  <a:srgbClr val="FFFFFF"/>
                </a:solidFill>
              </a14:hiddenFill>
            </a:ext>
          </a:extLst>
        </p:spPr>
      </p:pic>
      <p:sp>
        <p:nvSpPr>
          <p:cNvPr id="488467" name="Rectangle 19"/>
          <p:cNvSpPr>
            <a:spLocks noGrp="1" noChangeArrowheads="1"/>
          </p:cNvSpPr>
          <p:nvPr>
            <p:ph type="sldNum" sz="quarter" idx="4"/>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FontTx/>
              <a:buNone/>
              <a:defRPr sz="1400" b="0">
                <a:latin typeface="Tahoma" panose="020B0604030504040204" pitchFamily="34" charset="0"/>
              </a:defRPr>
            </a:lvl1pPr>
          </a:lstStyle>
          <a:p>
            <a:fld id="{8371329D-1D4D-4686-B4EE-AB700F68782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hf hdr="0" ftr="0" dt="0"/>
  <p:txStyles>
    <p:titleStyle>
      <a:lvl1pPr algn="ctr" rtl="0" fontAlgn="base">
        <a:spcBef>
          <a:spcPct val="0"/>
        </a:spcBef>
        <a:spcAft>
          <a:spcPct val="0"/>
        </a:spcAft>
        <a:defRPr sz="3600" b="1" kern="1200">
          <a:solidFill>
            <a:schemeClr val="bg1"/>
          </a:solidFill>
          <a:latin typeface="+mj-lt"/>
          <a:ea typeface="+mj-ea"/>
          <a:cs typeface="+mj-cs"/>
        </a:defRPr>
      </a:lvl1pPr>
      <a:lvl2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v"/>
        <a:defRPr sz="28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rtl="0" fontAlgn="base">
        <a:spcBef>
          <a:spcPct val="20000"/>
        </a:spcBef>
        <a:spcAft>
          <a:spcPct val="0"/>
        </a:spcAft>
        <a:buClr>
          <a:schemeClr val="tx1"/>
        </a:buClr>
        <a:buChar char="•"/>
        <a:defRPr sz="22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0755" name="Rectangle 3"/>
          <p:cNvSpPr>
            <a:spLocks noChangeArrowheads="1"/>
          </p:cNvSpPr>
          <p:nvPr/>
        </p:nvSpPr>
        <p:spPr bwMode="auto">
          <a:xfrm>
            <a:off x="1763688" y="2636912"/>
            <a:ext cx="6768752" cy="1140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4400" dirty="0">
                <a:solidFill>
                  <a:schemeClr val="bg1"/>
                </a:solidFill>
                <a:latin typeface="楷体_GB2312" pitchFamily="49" charset="-122"/>
                <a:ea typeface="楷体_GB2312" pitchFamily="49" charset="-122"/>
              </a:rPr>
              <a:t>事务和并发控制</a:t>
            </a:r>
          </a:p>
        </p:txBody>
      </p:sp>
    </p:spTree>
    <p:extLst>
      <p:ext uri="{BB962C8B-B14F-4D97-AF65-F5344CB8AC3E}">
        <p14:creationId xmlns:p14="http://schemas.microsoft.com/office/powerpoint/2010/main" val="929350601"/>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zh-CN" altLang="en-US" dirty="0">
                <a:ea typeface="宋体" panose="02010600030101010101" pitchFamily="2" charset="-122"/>
              </a:rPr>
              <a:t>事务的基本概念</a:t>
            </a:r>
          </a:p>
        </p:txBody>
      </p:sp>
      <p:sp>
        <p:nvSpPr>
          <p:cNvPr id="339971" name="Rectangle 3"/>
          <p:cNvSpPr>
            <a:spLocks noGrp="1" noChangeArrowheads="1"/>
          </p:cNvSpPr>
          <p:nvPr>
            <p:ph type="body" idx="1"/>
          </p:nvPr>
        </p:nvSpPr>
        <p:spPr/>
        <p:txBody>
          <a:bodyPr/>
          <a:lstStyle/>
          <a:p>
            <a:pPr>
              <a:lnSpc>
                <a:spcPct val="150000"/>
              </a:lnSpc>
              <a:buFont typeface="Wingdings" panose="05000000000000000000" pitchFamily="2" charset="2"/>
              <a:buNone/>
            </a:pPr>
            <a:r>
              <a:rPr lang="zh-CN" altLang="en-US" sz="3200">
                <a:solidFill>
                  <a:srgbClr val="FF00FF"/>
                </a:solidFill>
                <a:ea typeface="宋体" panose="02010600030101010101" pitchFamily="2" charset="-122"/>
              </a:rPr>
              <a:t>一、事务定义</a:t>
            </a:r>
          </a:p>
          <a:p>
            <a:pPr>
              <a:lnSpc>
                <a:spcPct val="150000"/>
              </a:lnSpc>
              <a:buFont typeface="Wingdings" panose="05000000000000000000" pitchFamily="2" charset="2"/>
              <a:buNone/>
            </a:pPr>
            <a:r>
              <a:rPr lang="zh-CN" altLang="en-US" sz="3200">
                <a:solidFill>
                  <a:srgbClr val="FF00FF"/>
                </a:solidFill>
                <a:ea typeface="宋体" panose="02010600030101010101" pitchFamily="2" charset="-122"/>
              </a:rPr>
              <a:t>	</a:t>
            </a:r>
          </a:p>
          <a:p>
            <a:pPr>
              <a:lnSpc>
                <a:spcPct val="150000"/>
              </a:lnSpc>
              <a:buFont typeface="Wingdings" panose="05000000000000000000" pitchFamily="2" charset="2"/>
              <a:buNone/>
            </a:pPr>
            <a:r>
              <a:rPr lang="zh-CN" altLang="en-US" sz="3200">
                <a:ea typeface="宋体" panose="02010600030101010101" pitchFamily="2" charset="-122"/>
              </a:rPr>
              <a:t>二、事务的特性</a:t>
            </a:r>
          </a:p>
          <a:p>
            <a:pPr>
              <a:lnSpc>
                <a:spcPct val="150000"/>
              </a:lnSpc>
            </a:pP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a:t>
            </a:fld>
            <a:endParaRPr lang="en-US" altLang="zh-CN"/>
          </a:p>
        </p:txBody>
      </p:sp>
    </p:spTree>
    <p:extLst>
      <p:ext uri="{BB962C8B-B14F-4D97-AF65-F5344CB8AC3E}">
        <p14:creationId xmlns:p14="http://schemas.microsoft.com/office/powerpoint/2010/main" val="419746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zh-CN" altLang="en-US">
                <a:ea typeface="宋体" panose="02010600030101010101" pitchFamily="2" charset="-122"/>
              </a:rPr>
              <a:t>一、事务</a:t>
            </a:r>
            <a:r>
              <a:rPr lang="en-US" altLang="zh-CN">
                <a:ea typeface="宋体" panose="02010600030101010101" pitchFamily="2" charset="-122"/>
              </a:rPr>
              <a:t>(Transaction)</a:t>
            </a:r>
          </a:p>
        </p:txBody>
      </p:sp>
      <p:sp>
        <p:nvSpPr>
          <p:cNvPr id="340995" name="Rectangle 3"/>
          <p:cNvSpPr>
            <a:spLocks noGrp="1" noChangeArrowheads="1"/>
          </p:cNvSpPr>
          <p:nvPr>
            <p:ph type="body" idx="1"/>
          </p:nvPr>
        </p:nvSpPr>
        <p:spPr>
          <a:xfrm>
            <a:off x="457200" y="1772816"/>
            <a:ext cx="8229600" cy="3600400"/>
          </a:xfrm>
        </p:spPr>
        <p:txBody>
          <a:bodyPr/>
          <a:lstStyle/>
          <a:p>
            <a:pPr>
              <a:lnSpc>
                <a:spcPct val="90000"/>
              </a:lnSpc>
            </a:pPr>
            <a:r>
              <a:rPr lang="zh-CN" altLang="en-US" sz="2400" b="1" dirty="0">
                <a:ea typeface="宋体" panose="02010600030101010101" pitchFamily="2" charset="-122"/>
              </a:rPr>
              <a:t>定义</a:t>
            </a:r>
          </a:p>
          <a:p>
            <a:pPr lvl="1">
              <a:lnSpc>
                <a:spcPct val="90000"/>
              </a:lnSpc>
            </a:pPr>
            <a:r>
              <a:rPr lang="zh-CN" altLang="en-US" sz="2000" b="1" dirty="0">
                <a:ea typeface="宋体" panose="02010600030101010101" pitchFamily="2" charset="-122"/>
              </a:rPr>
              <a:t>用户定义的一个数据库操作序列</a:t>
            </a:r>
          </a:p>
          <a:p>
            <a:pPr lvl="1">
              <a:lnSpc>
                <a:spcPct val="90000"/>
              </a:lnSpc>
            </a:pPr>
            <a:r>
              <a:rPr lang="zh-CN" altLang="en-US" sz="2000" b="1" dirty="0">
                <a:ea typeface="宋体" panose="02010600030101010101" pitchFamily="2" charset="-122"/>
              </a:rPr>
              <a:t>这些操作要么全做，要么全不做，是一个不可分割的工作单位</a:t>
            </a:r>
          </a:p>
          <a:p>
            <a:pPr lvl="1">
              <a:lnSpc>
                <a:spcPct val="90000"/>
              </a:lnSpc>
            </a:pPr>
            <a:r>
              <a:rPr lang="zh-CN" altLang="en-US" sz="2000" b="1" dirty="0">
                <a:ea typeface="宋体" panose="02010600030101010101" pitchFamily="2" charset="-122"/>
              </a:rPr>
              <a:t>恢复和并发控制的基本单位</a:t>
            </a:r>
          </a:p>
          <a:p>
            <a:pPr lvl="1">
              <a:lnSpc>
                <a:spcPct val="90000"/>
              </a:lnSpc>
              <a:buFont typeface="Wingdings" panose="05000000000000000000" pitchFamily="2" charset="2"/>
              <a:buNone/>
            </a:pPr>
            <a:endParaRPr lang="zh-CN" altLang="en-US" sz="2000" b="1" dirty="0">
              <a:ea typeface="宋体" panose="02010600030101010101" pitchFamily="2" charset="-122"/>
            </a:endParaRPr>
          </a:p>
          <a:p>
            <a:pPr>
              <a:lnSpc>
                <a:spcPct val="90000"/>
              </a:lnSpc>
            </a:pPr>
            <a:r>
              <a:rPr lang="zh-CN" altLang="en-US" sz="2400" b="1" dirty="0">
                <a:ea typeface="宋体" panose="02010600030101010101" pitchFamily="2" charset="-122"/>
              </a:rPr>
              <a:t>事务和程序比较</a:t>
            </a:r>
          </a:p>
          <a:p>
            <a:pPr lvl="1">
              <a:lnSpc>
                <a:spcPct val="120000"/>
              </a:lnSpc>
            </a:pPr>
            <a:r>
              <a:rPr lang="zh-CN" altLang="en-US" sz="2000" b="1" dirty="0">
                <a:ea typeface="宋体" panose="02010600030101010101" pitchFamily="2" charset="-122"/>
              </a:rPr>
              <a:t>在关系数据库中，一个事务可以是一条或多条</a:t>
            </a:r>
            <a:r>
              <a:rPr lang="en-US" altLang="zh-CN" sz="2000" b="1" dirty="0">
                <a:ea typeface="宋体" panose="02010600030101010101" pitchFamily="2" charset="-122"/>
              </a:rPr>
              <a:t>SQL</a:t>
            </a:r>
            <a:r>
              <a:rPr lang="zh-CN" altLang="en-US" sz="2000" b="1" dirty="0">
                <a:ea typeface="宋体" panose="02010600030101010101" pitchFamily="2" charset="-122"/>
              </a:rPr>
              <a:t>语句，也可以包含一个或多个程序。</a:t>
            </a:r>
          </a:p>
          <a:p>
            <a:pPr lvl="1">
              <a:lnSpc>
                <a:spcPct val="120000"/>
              </a:lnSpc>
            </a:pPr>
            <a:r>
              <a:rPr lang="zh-CN" altLang="en-US" sz="2000" b="1" dirty="0">
                <a:ea typeface="宋体" panose="02010600030101010101" pitchFamily="2" charset="-122"/>
              </a:rPr>
              <a:t>一个程序通常包含多个事务</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a:t>
            </a:fld>
            <a:endParaRPr lang="en-US" altLang="zh-CN"/>
          </a:p>
        </p:txBody>
      </p:sp>
    </p:spTree>
    <p:extLst>
      <p:ext uri="{BB962C8B-B14F-4D97-AF65-F5344CB8AC3E}">
        <p14:creationId xmlns:p14="http://schemas.microsoft.com/office/powerpoint/2010/main" val="205144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r>
              <a:rPr lang="zh-CN" altLang="en-US" dirty="0"/>
              <a:t>事  务</a:t>
            </a:r>
          </a:p>
        </p:txBody>
      </p:sp>
      <p:sp>
        <p:nvSpPr>
          <p:cNvPr id="8195" name="Rectangle 3"/>
          <p:cNvSpPr>
            <a:spLocks noGrp="1" noChangeArrowheads="1"/>
          </p:cNvSpPr>
          <p:nvPr>
            <p:ph type="body" idx="1"/>
          </p:nvPr>
        </p:nvSpPr>
        <p:spPr>
          <a:xfrm>
            <a:off x="495300" y="1628800"/>
            <a:ext cx="8229600" cy="4495800"/>
          </a:xfrm>
        </p:spPr>
        <p:txBody>
          <a:bodyPr/>
          <a:lstStyle/>
          <a:p>
            <a:r>
              <a:rPr lang="zh-CN" altLang="en-US" sz="2400" b="1" dirty="0">
                <a:latin typeface="+mn-ea"/>
              </a:rPr>
              <a:t>事务的要求或限制 </a:t>
            </a:r>
          </a:p>
          <a:p>
            <a:pPr>
              <a:buFont typeface="Wingdings" panose="05000000000000000000" pitchFamily="2" charset="2"/>
              <a:buNone/>
            </a:pPr>
            <a:r>
              <a:rPr lang="zh-CN" altLang="en-US" sz="2200" b="1" dirty="0">
                <a:latin typeface="+mn-ea"/>
              </a:rPr>
              <a:t>（</a:t>
            </a:r>
            <a:r>
              <a:rPr lang="en-US" altLang="zh-CN" sz="2200" b="1" dirty="0">
                <a:latin typeface="+mn-ea"/>
              </a:rPr>
              <a:t>1</a:t>
            </a:r>
            <a:r>
              <a:rPr lang="zh-CN" altLang="en-US" sz="2200" b="1" dirty="0">
                <a:latin typeface="+mn-ea"/>
              </a:rPr>
              <a:t>）用户能将每一事务的执行当作是“</a:t>
            </a:r>
            <a:r>
              <a:rPr lang="zh-CN" altLang="en-US" sz="2200" b="1" dirty="0">
                <a:solidFill>
                  <a:srgbClr val="990000"/>
                </a:solidFill>
                <a:latin typeface="+mn-ea"/>
              </a:rPr>
              <a:t>原子</a:t>
            </a:r>
            <a:r>
              <a:rPr lang="zh-CN" altLang="en-US" sz="2200" b="1" dirty="0">
                <a:latin typeface="+mn-ea"/>
              </a:rPr>
              <a:t>”的。 </a:t>
            </a:r>
          </a:p>
          <a:p>
            <a:pPr>
              <a:buFont typeface="Wingdings" panose="05000000000000000000" pitchFamily="2" charset="2"/>
              <a:buNone/>
            </a:pPr>
            <a:r>
              <a:rPr lang="zh-CN" altLang="en-US" sz="2200" b="1" dirty="0">
                <a:latin typeface="+mn-ea"/>
              </a:rPr>
              <a:t>（</a:t>
            </a:r>
            <a:r>
              <a:rPr lang="en-US" altLang="zh-CN" sz="2200" b="1" dirty="0">
                <a:latin typeface="+mn-ea"/>
              </a:rPr>
              <a:t>2</a:t>
            </a:r>
            <a:r>
              <a:rPr lang="zh-CN" altLang="en-US" sz="2200" b="1" dirty="0">
                <a:latin typeface="+mn-ea"/>
              </a:rPr>
              <a:t>）在多个事务并发执行的情况下，每个事务都是各自独立的，它既不干涉别的事务，也不受到别的事务的干涉，这称为事务的“</a:t>
            </a:r>
            <a:r>
              <a:rPr lang="zh-CN" altLang="en-US" sz="2200" b="1" dirty="0">
                <a:solidFill>
                  <a:srgbClr val="990000"/>
                </a:solidFill>
                <a:latin typeface="+mn-ea"/>
              </a:rPr>
              <a:t>隔离</a:t>
            </a:r>
            <a:r>
              <a:rPr lang="zh-CN" altLang="en-US" sz="2200" b="1" dirty="0">
                <a:latin typeface="+mn-ea"/>
              </a:rPr>
              <a:t>性”。 </a:t>
            </a:r>
          </a:p>
          <a:p>
            <a:pPr>
              <a:buFont typeface="Wingdings" panose="05000000000000000000" pitchFamily="2" charset="2"/>
              <a:buNone/>
            </a:pPr>
            <a:r>
              <a:rPr lang="zh-CN" altLang="en-US" sz="2200" b="1" dirty="0">
                <a:latin typeface="+mn-ea"/>
              </a:rPr>
              <a:t>（</a:t>
            </a:r>
            <a:r>
              <a:rPr lang="en-US" altLang="zh-CN" sz="2200" b="1" dirty="0">
                <a:latin typeface="+mn-ea"/>
              </a:rPr>
              <a:t>3</a:t>
            </a:r>
            <a:r>
              <a:rPr lang="zh-CN" altLang="en-US" sz="2200" b="1" dirty="0">
                <a:latin typeface="+mn-ea"/>
              </a:rPr>
              <a:t>）隔离执行事务时，必须保证数据库中的数据，在操作前和操作后是一致的，这称为事务的“</a:t>
            </a:r>
            <a:r>
              <a:rPr lang="zh-CN" altLang="en-US" sz="2200" b="1" dirty="0">
                <a:solidFill>
                  <a:srgbClr val="990000"/>
                </a:solidFill>
                <a:latin typeface="+mn-ea"/>
              </a:rPr>
              <a:t>一致</a:t>
            </a:r>
            <a:r>
              <a:rPr lang="zh-CN" altLang="en-US" sz="2200" b="1" dirty="0">
                <a:latin typeface="+mn-ea"/>
              </a:rPr>
              <a:t>性”。 </a:t>
            </a:r>
          </a:p>
          <a:p>
            <a:pPr>
              <a:buFont typeface="Wingdings" panose="05000000000000000000" pitchFamily="2" charset="2"/>
              <a:buNone/>
            </a:pPr>
            <a:r>
              <a:rPr lang="zh-CN" altLang="en-US" sz="2200" b="1" dirty="0">
                <a:latin typeface="+mn-ea"/>
              </a:rPr>
              <a:t>（</a:t>
            </a:r>
            <a:r>
              <a:rPr lang="en-US" altLang="zh-CN" sz="2200" b="1" dirty="0">
                <a:latin typeface="+mn-ea"/>
              </a:rPr>
              <a:t>4</a:t>
            </a:r>
            <a:r>
              <a:rPr lang="zh-CN" altLang="en-US" sz="2200" b="1" dirty="0">
                <a:latin typeface="+mn-ea"/>
              </a:rPr>
              <a:t>）事务成功地完成后，其结果（尤其是对数据库的变更）状态是永久的，这称为事务的“</a:t>
            </a:r>
            <a:r>
              <a:rPr lang="zh-CN" altLang="en-US" sz="2200" b="1" dirty="0">
                <a:solidFill>
                  <a:srgbClr val="990000"/>
                </a:solidFill>
                <a:latin typeface="+mn-ea"/>
              </a:rPr>
              <a:t>持久</a:t>
            </a:r>
            <a:r>
              <a:rPr lang="zh-CN" altLang="en-US" sz="2200" b="1" dirty="0">
                <a:latin typeface="+mn-ea"/>
              </a:rPr>
              <a:t>性”。 </a:t>
            </a:r>
          </a:p>
        </p:txBody>
      </p:sp>
      <p:sp>
        <p:nvSpPr>
          <p:cNvPr id="2" name="灯片编号占位符 1"/>
          <p:cNvSpPr>
            <a:spLocks noGrp="1"/>
          </p:cNvSpPr>
          <p:nvPr>
            <p:ph type="sldNum" sz="quarter" idx="12"/>
          </p:nvPr>
        </p:nvSpPr>
        <p:spPr/>
        <p:txBody>
          <a:bodyPr/>
          <a:lstStyle/>
          <a:p>
            <a:fld id="{945D2E7A-0FED-4726-9E29-881D901EFE19}" type="slidenum">
              <a:rPr lang="en-US" altLang="zh-CN" b="1" smtClean="0"/>
              <a:pPr/>
              <a:t>4</a:t>
            </a:fld>
            <a:endParaRPr lang="en-US" altLang="zh-CN" b="1"/>
          </a:p>
        </p:txBody>
      </p:sp>
    </p:spTree>
    <p:extLst>
      <p:ext uri="{BB962C8B-B14F-4D97-AF65-F5344CB8AC3E}">
        <p14:creationId xmlns:p14="http://schemas.microsoft.com/office/powerpoint/2010/main" val="49614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a:r>
              <a:rPr lang="zh-CN" altLang="en-US" b="1" dirty="0"/>
              <a:t>二、事务的</a:t>
            </a:r>
            <a:r>
              <a:rPr lang="en-US" altLang="zh-CN" b="1" dirty="0"/>
              <a:t>ACID</a:t>
            </a:r>
            <a:r>
              <a:rPr lang="zh-CN" altLang="en-US" b="1" dirty="0"/>
              <a:t>特性 </a:t>
            </a:r>
          </a:p>
        </p:txBody>
      </p:sp>
      <p:sp>
        <p:nvSpPr>
          <p:cNvPr id="9219" name="Rectangle 3"/>
          <p:cNvSpPr>
            <a:spLocks noGrp="1" noChangeArrowheads="1"/>
          </p:cNvSpPr>
          <p:nvPr>
            <p:ph type="body" idx="1"/>
          </p:nvPr>
        </p:nvSpPr>
        <p:spPr>
          <a:xfrm>
            <a:off x="533400" y="1981200"/>
            <a:ext cx="7162800" cy="3886200"/>
          </a:xfrm>
        </p:spPr>
        <p:txBody>
          <a:bodyPr/>
          <a:lstStyle/>
          <a:p>
            <a:pPr marL="0" indent="358775">
              <a:buFont typeface="Wingdings" panose="05000000000000000000" pitchFamily="2" charset="2"/>
              <a:buNone/>
            </a:pPr>
            <a:r>
              <a:rPr lang="zh-CN" altLang="en-US" b="1"/>
              <a:t>要求事务具有</a:t>
            </a:r>
            <a:r>
              <a:rPr lang="en-US" altLang="zh-CN" b="1"/>
              <a:t>4</a:t>
            </a:r>
            <a:r>
              <a:rPr lang="zh-CN" altLang="en-US" b="1"/>
              <a:t>个特性：</a:t>
            </a:r>
          </a:p>
          <a:p>
            <a:pPr marL="0" indent="358775">
              <a:buFont typeface="Wingdings" panose="05000000000000000000" pitchFamily="2" charset="2"/>
              <a:buNone/>
            </a:pPr>
            <a:r>
              <a:rPr lang="zh-CN" altLang="en-US" b="1"/>
              <a:t>   </a:t>
            </a:r>
            <a:r>
              <a:rPr lang="zh-CN" altLang="en-US" b="1">
                <a:solidFill>
                  <a:srgbClr val="FF0066"/>
                </a:solidFill>
              </a:rPr>
              <a:t>原子性</a:t>
            </a:r>
            <a:r>
              <a:rPr lang="zh-CN" altLang="en-US" b="1"/>
              <a:t>（</a:t>
            </a:r>
            <a:r>
              <a:rPr lang="en-US" altLang="zh-CN" b="1"/>
              <a:t>Atomicity</a:t>
            </a:r>
            <a:r>
              <a:rPr lang="zh-CN" altLang="en-US" b="1"/>
              <a:t>）、</a:t>
            </a:r>
          </a:p>
          <a:p>
            <a:pPr marL="0" indent="358775">
              <a:buFont typeface="Wingdings" panose="05000000000000000000" pitchFamily="2" charset="2"/>
              <a:buNone/>
            </a:pPr>
            <a:r>
              <a:rPr lang="zh-CN" altLang="en-US" b="1"/>
              <a:t>   </a:t>
            </a:r>
            <a:r>
              <a:rPr lang="zh-CN" altLang="en-US" b="1">
                <a:solidFill>
                  <a:srgbClr val="FF0066"/>
                </a:solidFill>
              </a:rPr>
              <a:t>一致性</a:t>
            </a:r>
            <a:r>
              <a:rPr lang="zh-CN" altLang="en-US" b="1"/>
              <a:t>（</a:t>
            </a:r>
            <a:r>
              <a:rPr lang="en-US" altLang="zh-CN" b="1"/>
              <a:t>Consistency</a:t>
            </a:r>
            <a:r>
              <a:rPr lang="zh-CN" altLang="en-US" b="1"/>
              <a:t>）、</a:t>
            </a:r>
          </a:p>
          <a:p>
            <a:pPr marL="0" indent="358775">
              <a:buFont typeface="Wingdings" panose="05000000000000000000" pitchFamily="2" charset="2"/>
              <a:buNone/>
            </a:pPr>
            <a:r>
              <a:rPr lang="zh-CN" altLang="en-US" b="1"/>
              <a:t>   </a:t>
            </a:r>
            <a:r>
              <a:rPr lang="zh-CN" altLang="en-US" b="1">
                <a:solidFill>
                  <a:srgbClr val="FF0066"/>
                </a:solidFill>
              </a:rPr>
              <a:t>隔离性</a:t>
            </a:r>
            <a:r>
              <a:rPr lang="zh-CN" altLang="en-US" b="1"/>
              <a:t>（</a:t>
            </a:r>
            <a:r>
              <a:rPr lang="en-US" altLang="zh-CN" b="1"/>
              <a:t>Isolation</a:t>
            </a:r>
            <a:r>
              <a:rPr lang="zh-CN" altLang="en-US" b="1"/>
              <a:t>）、</a:t>
            </a:r>
          </a:p>
          <a:p>
            <a:pPr marL="0" indent="358775">
              <a:buFont typeface="Wingdings" panose="05000000000000000000" pitchFamily="2" charset="2"/>
              <a:buNone/>
            </a:pPr>
            <a:r>
              <a:rPr lang="zh-CN" altLang="en-US" b="1"/>
              <a:t>   </a:t>
            </a:r>
            <a:r>
              <a:rPr lang="zh-CN" altLang="en-US" b="1">
                <a:solidFill>
                  <a:srgbClr val="FF0066"/>
                </a:solidFill>
              </a:rPr>
              <a:t>持久性</a:t>
            </a:r>
            <a:r>
              <a:rPr lang="zh-CN" altLang="en-US" b="1"/>
              <a:t>（</a:t>
            </a:r>
            <a:r>
              <a:rPr lang="en-US" altLang="zh-CN" b="1"/>
              <a:t>Durability</a:t>
            </a:r>
            <a:r>
              <a:rPr lang="zh-CN" altLang="en-US" b="1"/>
              <a:t>）、</a:t>
            </a:r>
          </a:p>
          <a:p>
            <a:pPr marL="0" indent="358775">
              <a:buFont typeface="Wingdings" panose="05000000000000000000" pitchFamily="2" charset="2"/>
              <a:buNone/>
            </a:pPr>
            <a:r>
              <a:rPr lang="zh-CN" altLang="en-US" b="1"/>
              <a:t> 简称</a:t>
            </a:r>
            <a:r>
              <a:rPr lang="en-US" altLang="zh-CN" b="1">
                <a:solidFill>
                  <a:srgbClr val="FF0066"/>
                </a:solidFill>
              </a:rPr>
              <a:t>ACID</a:t>
            </a:r>
            <a:r>
              <a:rPr lang="zh-CN" altLang="en-US" b="1"/>
              <a:t>准则。</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a:t>
            </a:fld>
            <a:endParaRPr lang="en-US" altLang="zh-CN"/>
          </a:p>
        </p:txBody>
      </p:sp>
    </p:spTree>
    <p:extLst>
      <p:ext uri="{BB962C8B-B14F-4D97-AF65-F5344CB8AC3E}">
        <p14:creationId xmlns:p14="http://schemas.microsoft.com/office/powerpoint/2010/main" val="1237387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a:r>
              <a:rPr lang="en-US" altLang="zh-CN" sz="4000" b="1" dirty="0"/>
              <a:t>1  </a:t>
            </a:r>
            <a:r>
              <a:rPr lang="zh-CN" altLang="en-US" sz="4000" b="1" dirty="0"/>
              <a:t>原子性</a:t>
            </a:r>
          </a:p>
        </p:txBody>
      </p:sp>
      <p:sp>
        <p:nvSpPr>
          <p:cNvPr id="10243" name="Rectangle 3"/>
          <p:cNvSpPr>
            <a:spLocks noGrp="1" noChangeArrowheads="1"/>
          </p:cNvSpPr>
          <p:nvPr>
            <p:ph type="body" idx="1"/>
          </p:nvPr>
        </p:nvSpPr>
        <p:spPr>
          <a:xfrm>
            <a:off x="457200" y="1600200"/>
            <a:ext cx="8229600" cy="4876800"/>
          </a:xfrm>
        </p:spPr>
        <p:txBody>
          <a:bodyPr/>
          <a:lstStyle/>
          <a:p>
            <a:pPr marL="0" indent="447675">
              <a:lnSpc>
                <a:spcPct val="90000"/>
              </a:lnSpc>
            </a:pPr>
            <a:r>
              <a:rPr lang="zh-CN" altLang="en-US" sz="2400" dirty="0"/>
              <a:t>事务的原子性是指事务中包含的所有操作</a:t>
            </a:r>
            <a:r>
              <a:rPr lang="zh-CN" altLang="en-US" sz="2400" dirty="0">
                <a:solidFill>
                  <a:srgbClr val="990000"/>
                </a:solidFill>
              </a:rPr>
              <a:t>要么全做，要么全不做</a:t>
            </a:r>
            <a:r>
              <a:rPr lang="zh-CN" altLang="en-US" sz="2400" dirty="0"/>
              <a:t>。</a:t>
            </a:r>
          </a:p>
          <a:p>
            <a:pPr marL="0" indent="447675">
              <a:lnSpc>
                <a:spcPct val="90000"/>
              </a:lnSpc>
              <a:buFont typeface="Wingdings" panose="05000000000000000000" pitchFamily="2" charset="2"/>
              <a:buNone/>
            </a:pPr>
            <a:r>
              <a:rPr lang="zh-CN" altLang="en-US" sz="2400" dirty="0"/>
              <a:t> </a:t>
            </a:r>
          </a:p>
          <a:p>
            <a:pPr marL="0" indent="447675">
              <a:lnSpc>
                <a:spcPct val="90000"/>
              </a:lnSpc>
            </a:pPr>
            <a:r>
              <a:rPr lang="zh-CN" altLang="en-US" sz="2400" dirty="0"/>
              <a:t>事务在执行过程中，有三种情况会使其不能成功地结束：</a:t>
            </a:r>
          </a:p>
          <a:p>
            <a:pPr marL="0" indent="447675">
              <a:lnSpc>
                <a:spcPct val="90000"/>
              </a:lnSpc>
              <a:buFont typeface="Wingdings" panose="05000000000000000000" pitchFamily="2" charset="2"/>
              <a:buNone/>
            </a:pPr>
            <a:r>
              <a:rPr lang="zh-CN" altLang="en-US" sz="2400" dirty="0">
                <a:solidFill>
                  <a:srgbClr val="990000"/>
                </a:solidFill>
              </a:rPr>
              <a:t>一是</a:t>
            </a:r>
            <a:r>
              <a:rPr lang="zh-CN" altLang="en-US" sz="2400" dirty="0"/>
              <a:t>出现意外而被</a:t>
            </a:r>
            <a:r>
              <a:rPr lang="en-US" altLang="zh-CN" sz="2400" dirty="0"/>
              <a:t>DBMS</a:t>
            </a:r>
            <a:r>
              <a:rPr lang="zh-CN" altLang="en-US" sz="2400" dirty="0"/>
              <a:t>夭折，例如系统发生死锁，一个事务被选中作为牺牲者。</a:t>
            </a:r>
          </a:p>
          <a:p>
            <a:pPr marL="0" indent="447675">
              <a:lnSpc>
                <a:spcPct val="90000"/>
              </a:lnSpc>
              <a:buFont typeface="Wingdings" panose="05000000000000000000" pitchFamily="2" charset="2"/>
              <a:buNone/>
            </a:pPr>
            <a:r>
              <a:rPr lang="zh-CN" altLang="en-US" sz="2400" dirty="0">
                <a:solidFill>
                  <a:srgbClr val="990000"/>
                </a:solidFill>
              </a:rPr>
              <a:t>二是</a:t>
            </a:r>
            <a:r>
              <a:rPr lang="zh-CN" altLang="en-US" sz="2400" dirty="0"/>
              <a:t>因为电源中断、硬件故障或者软件错误而使系统垮台。</a:t>
            </a:r>
          </a:p>
          <a:p>
            <a:pPr marL="0" indent="447675">
              <a:lnSpc>
                <a:spcPct val="90000"/>
              </a:lnSpc>
              <a:buFont typeface="Wingdings" panose="05000000000000000000" pitchFamily="2" charset="2"/>
              <a:buNone/>
            </a:pPr>
            <a:r>
              <a:rPr lang="zh-CN" altLang="en-US" sz="2400" dirty="0">
                <a:solidFill>
                  <a:srgbClr val="990000"/>
                </a:solidFill>
              </a:rPr>
              <a:t>三是</a:t>
            </a:r>
            <a:r>
              <a:rPr lang="zh-CN" altLang="en-US" sz="2400" dirty="0"/>
              <a:t>事务遇到了意料之外的情况，如不能从磁盘读取或读取了异常数据等。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a:t>
            </a:fld>
            <a:endParaRPr lang="en-US" altLang="zh-CN"/>
          </a:p>
        </p:txBody>
      </p:sp>
    </p:spTree>
    <p:extLst>
      <p:ext uri="{BB962C8B-B14F-4D97-AF65-F5344CB8AC3E}">
        <p14:creationId xmlns:p14="http://schemas.microsoft.com/office/powerpoint/2010/main" val="1640680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533400" y="1524000"/>
            <a:ext cx="8229600" cy="3886200"/>
          </a:xfrm>
        </p:spPr>
        <p:txBody>
          <a:bodyPr/>
          <a:lstStyle/>
          <a:p>
            <a:pPr marL="0" indent="447675"/>
            <a:r>
              <a:rPr lang="en-US" altLang="zh-CN" dirty="0"/>
              <a:t>DBMS</a:t>
            </a:r>
            <a:r>
              <a:rPr lang="zh-CN" altLang="en-US" dirty="0"/>
              <a:t>解决 “夭折” 两种方法：</a:t>
            </a:r>
          </a:p>
          <a:p>
            <a:pPr marL="0" indent="447675">
              <a:buFont typeface="Wingdings" panose="05000000000000000000" pitchFamily="2" charset="2"/>
              <a:buNone/>
            </a:pPr>
            <a:r>
              <a:rPr lang="zh-CN" altLang="en-US" sz="2400" dirty="0">
                <a:solidFill>
                  <a:srgbClr val="990000"/>
                </a:solidFill>
              </a:rPr>
              <a:t>一是</a:t>
            </a:r>
            <a:r>
              <a:rPr lang="zh-CN" altLang="en-US" sz="2400" dirty="0"/>
              <a:t>防止这种事务的出现，然而这是办不到的，因为按上面所述，导致“夭折”的原因是无法完全避免的。</a:t>
            </a:r>
          </a:p>
          <a:p>
            <a:pPr marL="0" indent="447675">
              <a:buFont typeface="Wingdings" panose="05000000000000000000" pitchFamily="2" charset="2"/>
              <a:buNone/>
            </a:pPr>
            <a:r>
              <a:rPr lang="zh-CN" altLang="en-US" sz="2400" dirty="0">
                <a:solidFill>
                  <a:srgbClr val="990000"/>
                </a:solidFill>
              </a:rPr>
              <a:t>二是</a:t>
            </a:r>
            <a:r>
              <a:rPr lang="zh-CN" altLang="en-US" sz="2400" dirty="0"/>
              <a:t>让其发生，但一方面确保所导致的数据库“不正确”状态在系统中是不可见的，即不为事务所读取；而另一方面，同时尽快地使这种不正确状态恢复到正确状态。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a:t>
            </a:fld>
            <a:endParaRPr lang="en-US" altLang="zh-CN"/>
          </a:p>
        </p:txBody>
      </p:sp>
    </p:spTree>
    <p:extLst>
      <p:ext uri="{BB962C8B-B14F-4D97-AF65-F5344CB8AC3E}">
        <p14:creationId xmlns:p14="http://schemas.microsoft.com/office/powerpoint/2010/main" val="881647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476672"/>
            <a:ext cx="8229600" cy="990600"/>
          </a:xfrm>
        </p:spPr>
        <p:txBody>
          <a:bodyPr/>
          <a:lstStyle/>
          <a:p>
            <a:r>
              <a:rPr lang="zh-CN" altLang="en-US" sz="3200" b="1" dirty="0"/>
              <a:t>如何实现事务的原子性呢？ </a:t>
            </a:r>
          </a:p>
        </p:txBody>
      </p:sp>
      <p:sp>
        <p:nvSpPr>
          <p:cNvPr id="12291" name="Rectangle 3"/>
          <p:cNvSpPr>
            <a:spLocks noGrp="1" noChangeArrowheads="1"/>
          </p:cNvSpPr>
          <p:nvPr>
            <p:ph type="body" idx="1"/>
          </p:nvPr>
        </p:nvSpPr>
        <p:spPr>
          <a:xfrm>
            <a:off x="457200" y="1828800"/>
            <a:ext cx="8229600" cy="3112368"/>
          </a:xfrm>
        </p:spPr>
        <p:txBody>
          <a:bodyPr/>
          <a:lstStyle/>
          <a:p>
            <a:pPr marL="0" indent="447675"/>
            <a:r>
              <a:rPr lang="zh-CN" altLang="en-US" sz="2600" dirty="0"/>
              <a:t>就是</a:t>
            </a:r>
            <a:r>
              <a:rPr lang="en-US" altLang="zh-CN" sz="2600" dirty="0"/>
              <a:t>DBMS</a:t>
            </a:r>
            <a:r>
              <a:rPr lang="zh-CN" altLang="en-US" sz="2600" dirty="0"/>
              <a:t>把那些“夭折“的事务已执行的操作对数据库所产生的影响再“抹掉（</a:t>
            </a:r>
            <a:r>
              <a:rPr lang="en-US" altLang="zh-CN" sz="2600" dirty="0">
                <a:solidFill>
                  <a:srgbClr val="990000"/>
                </a:solidFill>
              </a:rPr>
              <a:t>UNDO</a:t>
            </a:r>
            <a:r>
              <a:rPr lang="zh-CN" altLang="en-US" sz="2600" dirty="0"/>
              <a:t>）”。 </a:t>
            </a:r>
          </a:p>
          <a:p>
            <a:pPr marL="0" indent="447675"/>
            <a:r>
              <a:rPr lang="en-US" altLang="zh-CN" sz="2600" dirty="0"/>
              <a:t>DBMS</a:t>
            </a:r>
            <a:r>
              <a:rPr lang="zh-CN" altLang="en-US" sz="2600" dirty="0"/>
              <a:t>有一个事务日志，其中记录了每个事务对数据库所作变更的“旧值”和“新值”。当一个事务不能完成或夭折时，则将这些变更了的“新值”恢复到它的“旧值（即抹掉了该变更），就像该事务根本未执行过一样。负责这项工作的是</a:t>
            </a:r>
            <a:r>
              <a:rPr lang="en-US" altLang="zh-CN" sz="2600" dirty="0"/>
              <a:t>DBMS</a:t>
            </a:r>
            <a:r>
              <a:rPr lang="zh-CN" altLang="en-US" sz="2600" dirty="0"/>
              <a:t>中的“恢复管理”部件。</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a:t>
            </a:fld>
            <a:endParaRPr lang="en-US" altLang="zh-CN"/>
          </a:p>
        </p:txBody>
      </p:sp>
    </p:spTree>
    <p:extLst>
      <p:ext uri="{BB962C8B-B14F-4D97-AF65-F5344CB8AC3E}">
        <p14:creationId xmlns:p14="http://schemas.microsoft.com/office/powerpoint/2010/main" val="4083521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a:r>
              <a:rPr lang="en-US" altLang="zh-CN" b="1" dirty="0"/>
              <a:t>2  </a:t>
            </a:r>
            <a:r>
              <a:rPr lang="zh-CN" altLang="en-US" b="1" dirty="0"/>
              <a:t>一致性</a:t>
            </a:r>
          </a:p>
        </p:txBody>
      </p:sp>
      <p:sp>
        <p:nvSpPr>
          <p:cNvPr id="13315" name="Rectangle 3"/>
          <p:cNvSpPr>
            <a:spLocks noGrp="1" noChangeArrowheads="1"/>
          </p:cNvSpPr>
          <p:nvPr>
            <p:ph type="body" idx="1"/>
          </p:nvPr>
        </p:nvSpPr>
        <p:spPr/>
        <p:txBody>
          <a:bodyPr/>
          <a:lstStyle/>
          <a:p>
            <a:pPr>
              <a:lnSpc>
                <a:spcPct val="90000"/>
              </a:lnSpc>
            </a:pPr>
            <a:r>
              <a:rPr lang="zh-CN" altLang="en-US" sz="2400" dirty="0"/>
              <a:t>一致性是指数据库在事务操作前和事务处理后，其中的数据必须都满足业务规则约束。 </a:t>
            </a:r>
          </a:p>
          <a:p>
            <a:pPr>
              <a:lnSpc>
                <a:spcPct val="90000"/>
              </a:lnSpc>
            </a:pPr>
            <a:r>
              <a:rPr lang="en-US" altLang="zh-CN" sz="2400" dirty="0"/>
              <a:t>DBMS</a:t>
            </a:r>
            <a:r>
              <a:rPr lang="zh-CN" altLang="en-US" sz="2400" dirty="0"/>
              <a:t>无力自动实现每一事务的一致性，因为每个事务有各自的具体一致性限制。但可以将其作为一种数据的完整性限制明确给出，</a:t>
            </a:r>
            <a:r>
              <a:rPr lang="en-US" altLang="zh-CN" sz="2400" dirty="0"/>
              <a:t>DBMS</a:t>
            </a:r>
            <a:r>
              <a:rPr lang="zh-CN" altLang="en-US" sz="2400" dirty="0"/>
              <a:t>提供的自动完整检查有助于一致性的实现。</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a:t>
            </a:fld>
            <a:endParaRPr lang="en-US" altLang="zh-CN"/>
          </a:p>
        </p:txBody>
      </p:sp>
    </p:spTree>
    <p:extLst>
      <p:ext uri="{BB962C8B-B14F-4D97-AF65-F5344CB8AC3E}">
        <p14:creationId xmlns:p14="http://schemas.microsoft.com/office/powerpoint/2010/main" val="998549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7504" y="1340768"/>
            <a:ext cx="8795320" cy="1371600"/>
          </a:xfrm>
        </p:spPr>
        <p:txBody>
          <a:bodyPr/>
          <a:lstStyle/>
          <a:p>
            <a:pPr algn="l"/>
            <a:r>
              <a:rPr lang="en-US" altLang="zh-CN" sz="2700" dirty="0">
                <a:solidFill>
                  <a:srgbClr val="3333FF"/>
                </a:solidFill>
              </a:rPr>
              <a:t>       </a:t>
            </a:r>
            <a:r>
              <a:rPr lang="zh-CN" altLang="en-US" sz="2700" dirty="0">
                <a:solidFill>
                  <a:srgbClr val="3333FF"/>
                </a:solidFill>
              </a:rPr>
              <a:t>下面通过实例来理解完整性约束如何实现数据库的一致性。</a:t>
            </a:r>
          </a:p>
        </p:txBody>
      </p:sp>
      <p:sp>
        <p:nvSpPr>
          <p:cNvPr id="14339" name="Rectangle 3"/>
          <p:cNvSpPr>
            <a:spLocks noGrp="1" noChangeArrowheads="1"/>
          </p:cNvSpPr>
          <p:nvPr>
            <p:ph type="body" idx="1"/>
          </p:nvPr>
        </p:nvSpPr>
        <p:spPr>
          <a:xfrm>
            <a:off x="457200" y="2590800"/>
            <a:ext cx="8229600" cy="2819400"/>
          </a:xfrm>
        </p:spPr>
        <p:txBody>
          <a:bodyPr/>
          <a:lstStyle/>
          <a:p>
            <a:r>
              <a:rPr lang="pt-BR" altLang="zh-CN" dirty="0">
                <a:solidFill>
                  <a:srgbClr val="FF0066"/>
                </a:solidFill>
              </a:rPr>
              <a:t>【</a:t>
            </a:r>
            <a:r>
              <a:rPr lang="zh-CN" altLang="pt-BR" dirty="0">
                <a:solidFill>
                  <a:srgbClr val="FF0066"/>
                </a:solidFill>
              </a:rPr>
              <a:t>例</a:t>
            </a:r>
            <a:r>
              <a:rPr lang="pt-BR" altLang="zh-CN" dirty="0">
                <a:solidFill>
                  <a:srgbClr val="FF0066"/>
                </a:solidFill>
              </a:rPr>
              <a:t>1】</a:t>
            </a:r>
            <a:r>
              <a:rPr lang="zh-CN" altLang="pt-BR" dirty="0"/>
              <a:t>创建表</a:t>
            </a:r>
            <a:r>
              <a:rPr lang="pt-BR" altLang="zh-CN" dirty="0"/>
              <a:t>TEST</a:t>
            </a:r>
            <a:r>
              <a:rPr lang="zh-CN" altLang="pt-BR" dirty="0"/>
              <a:t>，并为其添加一个主键约束和触发器。为表添加两行数据，随后对这两行数据进行更新，使所有行的主键值相同。由于主键约束的存在，当事务结束时，更新操作会失败。 </a:t>
            </a:r>
            <a:endParaRPr lang="zh-CN" altLang="en-US" dirty="0"/>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a:t>
            </a:fld>
            <a:endParaRPr lang="en-US" altLang="zh-CN"/>
          </a:p>
        </p:txBody>
      </p:sp>
    </p:spTree>
    <p:extLst>
      <p:ext uri="{BB962C8B-B14F-4D97-AF65-F5344CB8AC3E}">
        <p14:creationId xmlns:p14="http://schemas.microsoft.com/office/powerpoint/2010/main" val="2132701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152400" y="914177"/>
            <a:ext cx="8839200" cy="5613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pPr>
            <a:r>
              <a:rPr lang="en-US" altLang="zh-CN" b="1" dirty="0"/>
              <a:t>SQL&gt; CREATE  TABLE  test(</a:t>
            </a:r>
          </a:p>
          <a:p>
            <a:pPr>
              <a:lnSpc>
                <a:spcPct val="100000"/>
              </a:lnSpc>
            </a:pPr>
            <a:r>
              <a:rPr lang="en-US" altLang="zh-CN" b="1" dirty="0"/>
              <a:t>  2  </a:t>
            </a:r>
            <a:r>
              <a:rPr lang="en-US" altLang="zh-CN" b="1" dirty="0" err="1"/>
              <a:t>i</a:t>
            </a:r>
            <a:r>
              <a:rPr lang="en-US" altLang="zh-CN" b="1" dirty="0"/>
              <a:t>  NUMBER  NOT NULL  PRIMARY  KEY);</a:t>
            </a:r>
          </a:p>
          <a:p>
            <a:pPr>
              <a:lnSpc>
                <a:spcPct val="100000"/>
              </a:lnSpc>
            </a:pPr>
            <a:endParaRPr lang="en-US" altLang="zh-CN" sz="500" b="1" dirty="0"/>
          </a:p>
          <a:p>
            <a:pPr>
              <a:lnSpc>
                <a:spcPct val="100000"/>
              </a:lnSpc>
            </a:pPr>
            <a:r>
              <a:rPr lang="zh-CN" altLang="en-US" b="1" dirty="0"/>
              <a:t>表已创建。</a:t>
            </a:r>
          </a:p>
          <a:p>
            <a:pPr>
              <a:lnSpc>
                <a:spcPct val="100000"/>
              </a:lnSpc>
            </a:pPr>
            <a:endParaRPr lang="zh-CN" altLang="en-US" sz="1000" b="1" dirty="0"/>
          </a:p>
          <a:p>
            <a:pPr>
              <a:lnSpc>
                <a:spcPct val="100000"/>
              </a:lnSpc>
            </a:pPr>
            <a:r>
              <a:rPr lang="en-US" altLang="zh-CN" b="1" dirty="0"/>
              <a:t>SQL&gt; CREATE  OR  REPLACE TRIGGER </a:t>
            </a:r>
            <a:r>
              <a:rPr lang="en-US" altLang="zh-CN" b="1" dirty="0" err="1"/>
              <a:t>test_tgr</a:t>
            </a:r>
            <a:endParaRPr lang="en-US" altLang="zh-CN" b="1" dirty="0"/>
          </a:p>
          <a:p>
            <a:pPr>
              <a:lnSpc>
                <a:spcPct val="100000"/>
              </a:lnSpc>
            </a:pPr>
            <a:r>
              <a:rPr lang="en-US" altLang="zh-CN" b="1" dirty="0"/>
              <a:t>  2  AFTER UPDATE  ON  test  FOR  EACH  ROW</a:t>
            </a:r>
          </a:p>
          <a:p>
            <a:pPr>
              <a:lnSpc>
                <a:spcPct val="100000"/>
              </a:lnSpc>
            </a:pPr>
            <a:r>
              <a:rPr lang="en-US" altLang="zh-CN" b="1" dirty="0"/>
              <a:t>  3  BEGIN</a:t>
            </a:r>
          </a:p>
          <a:p>
            <a:pPr>
              <a:lnSpc>
                <a:spcPct val="100000"/>
              </a:lnSpc>
            </a:pPr>
            <a:r>
              <a:rPr lang="en-US" altLang="zh-CN" b="1" dirty="0"/>
              <a:t>  4    </a:t>
            </a:r>
            <a:r>
              <a:rPr lang="en-US" altLang="zh-CN" b="1" dirty="0" err="1"/>
              <a:t>dbms_output.put_line</a:t>
            </a:r>
            <a:r>
              <a:rPr lang="en-US" altLang="zh-CN" b="1" dirty="0"/>
              <a:t>('</a:t>
            </a:r>
            <a:r>
              <a:rPr lang="zh-CN" altLang="en-US" b="1" dirty="0"/>
              <a:t>更新前</a:t>
            </a:r>
            <a:r>
              <a:rPr lang="en-US" altLang="zh-CN" b="1" dirty="0" err="1"/>
              <a:t>i</a:t>
            </a:r>
            <a:r>
              <a:rPr lang="en-US" altLang="zh-CN" b="1" dirty="0"/>
              <a:t>='||:</a:t>
            </a:r>
            <a:r>
              <a:rPr lang="en-US" altLang="zh-CN" b="1" dirty="0" err="1"/>
              <a:t>old.i</a:t>
            </a:r>
            <a:endParaRPr lang="en-US" altLang="zh-CN" b="1" dirty="0"/>
          </a:p>
          <a:p>
            <a:pPr>
              <a:lnSpc>
                <a:spcPct val="100000"/>
              </a:lnSpc>
            </a:pPr>
            <a:r>
              <a:rPr lang="en-US" altLang="zh-CN" b="1" dirty="0"/>
              <a:t>  5                       ||'</a:t>
            </a:r>
            <a:r>
              <a:rPr lang="zh-CN" altLang="en-US" b="1" dirty="0"/>
              <a:t>更新后</a:t>
            </a:r>
            <a:r>
              <a:rPr lang="en-US" altLang="zh-CN" b="1" dirty="0" err="1"/>
              <a:t>i</a:t>
            </a:r>
            <a:r>
              <a:rPr lang="en-US" altLang="zh-CN" b="1" dirty="0"/>
              <a:t>='||:</a:t>
            </a:r>
            <a:r>
              <a:rPr lang="en-US" altLang="zh-CN" b="1" dirty="0" err="1"/>
              <a:t>new.i</a:t>
            </a:r>
            <a:r>
              <a:rPr lang="en-US" altLang="zh-CN" b="1" dirty="0"/>
              <a:t>);</a:t>
            </a:r>
          </a:p>
          <a:p>
            <a:pPr>
              <a:lnSpc>
                <a:spcPct val="100000"/>
              </a:lnSpc>
            </a:pPr>
            <a:r>
              <a:rPr lang="en-US" altLang="zh-CN" b="1" dirty="0"/>
              <a:t>  6  END;</a:t>
            </a:r>
          </a:p>
          <a:p>
            <a:pPr>
              <a:lnSpc>
                <a:spcPct val="100000"/>
              </a:lnSpc>
            </a:pPr>
            <a:r>
              <a:rPr lang="en-US" altLang="zh-CN" b="1" dirty="0"/>
              <a:t>  7  /</a:t>
            </a:r>
          </a:p>
          <a:p>
            <a:pPr eaLnBrk="0" hangingPunct="0">
              <a:lnSpc>
                <a:spcPct val="100000"/>
              </a:lnSpc>
            </a:pPr>
            <a:endParaRPr lang="en-US" altLang="zh-CN" b="1" dirty="0"/>
          </a:p>
          <a:p>
            <a:pPr eaLnBrk="0" hangingPunct="0">
              <a:lnSpc>
                <a:spcPct val="100000"/>
              </a:lnSpc>
            </a:pPr>
            <a:r>
              <a:rPr lang="zh-CN" altLang="en-US" b="1" dirty="0"/>
              <a:t>触发器已创建</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a:t>
            </a:fld>
            <a:endParaRPr lang="en-US" altLang="zh-CN"/>
          </a:p>
        </p:txBody>
      </p:sp>
    </p:spTree>
    <p:extLst>
      <p:ext uri="{BB962C8B-B14F-4D97-AF65-F5344CB8AC3E}">
        <p14:creationId xmlns:p14="http://schemas.microsoft.com/office/powerpoint/2010/main" val="259096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ChangeArrowheads="1"/>
          </p:cNvSpPr>
          <p:nvPr/>
        </p:nvSpPr>
        <p:spPr bwMode="auto">
          <a:xfrm>
            <a:off x="755576" y="836712"/>
            <a:ext cx="8305800" cy="553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00000"/>
              </a:lnSpc>
            </a:pPr>
            <a:r>
              <a:rPr lang="en-US" altLang="zh-CN" sz="2000" b="1" dirty="0"/>
              <a:t>SQL&gt; SET  SERVEROUTPUT  ON</a:t>
            </a:r>
          </a:p>
          <a:p>
            <a:pPr>
              <a:lnSpc>
                <a:spcPct val="100000"/>
              </a:lnSpc>
            </a:pPr>
            <a:r>
              <a:rPr lang="en-US" altLang="zh-CN" sz="2000" b="1" dirty="0"/>
              <a:t>SQL&gt; BEGIN</a:t>
            </a:r>
          </a:p>
          <a:p>
            <a:pPr>
              <a:lnSpc>
                <a:spcPct val="100000"/>
              </a:lnSpc>
            </a:pPr>
            <a:r>
              <a:rPr lang="en-US" altLang="zh-CN" sz="2000" b="1" dirty="0"/>
              <a:t>  2   INSERT  INTO  test  VALUES(1);</a:t>
            </a:r>
          </a:p>
          <a:p>
            <a:pPr>
              <a:lnSpc>
                <a:spcPct val="100000"/>
              </a:lnSpc>
            </a:pPr>
            <a:r>
              <a:rPr lang="en-US" altLang="zh-CN" sz="2000" b="1" dirty="0"/>
              <a:t>  3   INSERT  INTO  test  VALUES(2);</a:t>
            </a:r>
          </a:p>
          <a:p>
            <a:pPr>
              <a:lnSpc>
                <a:spcPct val="100000"/>
              </a:lnSpc>
            </a:pPr>
            <a:r>
              <a:rPr lang="en-US" altLang="zh-CN" sz="2000" b="1" dirty="0"/>
              <a:t>  4  END;</a:t>
            </a:r>
          </a:p>
          <a:p>
            <a:pPr>
              <a:lnSpc>
                <a:spcPct val="100000"/>
              </a:lnSpc>
            </a:pPr>
            <a:r>
              <a:rPr lang="en-US" altLang="zh-CN" sz="2000" b="1" dirty="0"/>
              <a:t>  5  /</a:t>
            </a:r>
          </a:p>
          <a:p>
            <a:pPr>
              <a:lnSpc>
                <a:spcPct val="100000"/>
              </a:lnSpc>
            </a:pPr>
            <a:endParaRPr lang="en-US" altLang="zh-CN" sz="600" b="1" dirty="0"/>
          </a:p>
          <a:p>
            <a:pPr>
              <a:lnSpc>
                <a:spcPct val="100000"/>
              </a:lnSpc>
            </a:pPr>
            <a:r>
              <a:rPr lang="en-US" altLang="zh-CN" sz="2000" b="1" dirty="0"/>
              <a:t>SQL&gt; BEGIN</a:t>
            </a:r>
          </a:p>
          <a:p>
            <a:pPr>
              <a:lnSpc>
                <a:spcPct val="100000"/>
              </a:lnSpc>
            </a:pPr>
            <a:r>
              <a:rPr lang="en-US" altLang="zh-CN" sz="2000" b="1" dirty="0"/>
              <a:t>  2   UPDATE  test  SET  </a:t>
            </a:r>
            <a:r>
              <a:rPr lang="en-US" altLang="zh-CN" sz="2000" b="1" dirty="0" err="1"/>
              <a:t>i</a:t>
            </a:r>
            <a:r>
              <a:rPr lang="en-US" altLang="zh-CN" sz="2000" b="1" dirty="0"/>
              <a:t>=3;</a:t>
            </a:r>
          </a:p>
          <a:p>
            <a:pPr>
              <a:lnSpc>
                <a:spcPct val="100000"/>
              </a:lnSpc>
            </a:pPr>
            <a:r>
              <a:rPr lang="en-US" altLang="zh-CN" sz="2000" b="1" dirty="0"/>
              <a:t>  3  END;</a:t>
            </a:r>
          </a:p>
          <a:p>
            <a:pPr>
              <a:lnSpc>
                <a:spcPct val="100000"/>
              </a:lnSpc>
            </a:pPr>
            <a:r>
              <a:rPr lang="en-US" altLang="zh-CN" sz="2000" b="1" dirty="0"/>
              <a:t>  4  /</a:t>
            </a:r>
          </a:p>
          <a:p>
            <a:pPr>
              <a:lnSpc>
                <a:spcPct val="100000"/>
              </a:lnSpc>
            </a:pPr>
            <a:endParaRPr lang="en-US" altLang="zh-CN" sz="600" b="1" dirty="0"/>
          </a:p>
          <a:p>
            <a:pPr>
              <a:lnSpc>
                <a:spcPct val="100000"/>
              </a:lnSpc>
            </a:pPr>
            <a:r>
              <a:rPr lang="en-US" altLang="zh-CN" sz="2000" b="1" dirty="0"/>
              <a:t>SQL&gt; BEGIN</a:t>
            </a:r>
          </a:p>
          <a:p>
            <a:pPr>
              <a:lnSpc>
                <a:spcPct val="100000"/>
              </a:lnSpc>
            </a:pPr>
            <a:r>
              <a:rPr lang="en-US" altLang="zh-CN" sz="2000" b="1" dirty="0"/>
              <a:t>  2   UPDATE  test  SET  </a:t>
            </a:r>
            <a:r>
              <a:rPr lang="en-US" altLang="zh-CN" sz="2000" b="1" dirty="0" err="1"/>
              <a:t>i</a:t>
            </a:r>
            <a:r>
              <a:rPr lang="en-US" altLang="zh-CN" sz="2000" b="1" dirty="0"/>
              <a:t>=i+1;</a:t>
            </a:r>
          </a:p>
          <a:p>
            <a:pPr>
              <a:lnSpc>
                <a:spcPct val="100000"/>
              </a:lnSpc>
            </a:pPr>
            <a:r>
              <a:rPr lang="en-US" altLang="zh-CN" sz="2000" b="1" dirty="0"/>
              <a:t>  3  END;</a:t>
            </a:r>
          </a:p>
          <a:p>
            <a:pPr>
              <a:lnSpc>
                <a:spcPct val="100000"/>
              </a:lnSpc>
            </a:pPr>
            <a:r>
              <a:rPr lang="en-US" altLang="zh-CN" sz="2000" b="1" dirty="0"/>
              <a:t>  4  /</a:t>
            </a:r>
          </a:p>
          <a:p>
            <a:pPr>
              <a:lnSpc>
                <a:spcPct val="100000"/>
              </a:lnSpc>
            </a:pPr>
            <a:endParaRPr lang="en-US" altLang="zh-CN" sz="600" b="1" dirty="0"/>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12</a:t>
            </a:fld>
            <a:endParaRPr lang="en-US" altLang="zh-CN"/>
          </a:p>
        </p:txBody>
      </p:sp>
    </p:spTree>
    <p:extLst>
      <p:ext uri="{BB962C8B-B14F-4D97-AF65-F5344CB8AC3E}">
        <p14:creationId xmlns:p14="http://schemas.microsoft.com/office/powerpoint/2010/main" val="308928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ctr"/>
            <a:r>
              <a:rPr lang="en-US" altLang="zh-CN" b="1" dirty="0"/>
              <a:t>3  </a:t>
            </a:r>
            <a:r>
              <a:rPr lang="zh-CN" altLang="en-US" b="1" dirty="0"/>
              <a:t>隔离性</a:t>
            </a:r>
          </a:p>
        </p:txBody>
      </p:sp>
      <p:sp>
        <p:nvSpPr>
          <p:cNvPr id="17411" name="Rectangle 3"/>
          <p:cNvSpPr>
            <a:spLocks noGrp="1" noChangeArrowheads="1"/>
          </p:cNvSpPr>
          <p:nvPr>
            <p:ph type="body" idx="1"/>
          </p:nvPr>
        </p:nvSpPr>
        <p:spPr/>
        <p:txBody>
          <a:bodyPr/>
          <a:lstStyle/>
          <a:p>
            <a:r>
              <a:rPr lang="zh-CN" altLang="en-US" b="1"/>
              <a:t>隔离性是数据库允许多个并发事务同时对其中的数据进行读写和修改的能力，隔离性可以防止多个事务并发执行时，由于它们的操作命令交叉执行而导致的数据不一致状态。 </a:t>
            </a:r>
          </a:p>
          <a:p>
            <a:r>
              <a:rPr lang="zh-CN" altLang="en-US" b="1"/>
              <a:t>保证事务隔离性的任务由</a:t>
            </a:r>
            <a:r>
              <a:rPr lang="en-US" altLang="zh-CN" b="1"/>
              <a:t>DBMS</a:t>
            </a:r>
            <a:r>
              <a:rPr lang="zh-CN" altLang="en-US" b="1"/>
              <a:t>的“并发控制”部件完成。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13</a:t>
            </a:fld>
            <a:endParaRPr lang="en-US" altLang="zh-CN"/>
          </a:p>
        </p:txBody>
      </p:sp>
    </p:spTree>
    <p:extLst>
      <p:ext uri="{BB962C8B-B14F-4D97-AF65-F5344CB8AC3E}">
        <p14:creationId xmlns:p14="http://schemas.microsoft.com/office/powerpoint/2010/main" val="3185500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a:r>
              <a:rPr lang="en-US" altLang="zh-CN" b="1" dirty="0"/>
              <a:t>4  </a:t>
            </a:r>
            <a:r>
              <a:rPr lang="zh-CN" altLang="en-US" b="1" dirty="0"/>
              <a:t>持久性</a:t>
            </a:r>
          </a:p>
        </p:txBody>
      </p:sp>
      <p:sp>
        <p:nvSpPr>
          <p:cNvPr id="18435" name="Rectangle 3"/>
          <p:cNvSpPr>
            <a:spLocks noGrp="1" noChangeArrowheads="1"/>
          </p:cNvSpPr>
          <p:nvPr>
            <p:ph type="body" idx="1"/>
          </p:nvPr>
        </p:nvSpPr>
        <p:spPr>
          <a:xfrm>
            <a:off x="495300" y="1700808"/>
            <a:ext cx="8229600" cy="4495800"/>
          </a:xfrm>
        </p:spPr>
        <p:txBody>
          <a:bodyPr/>
          <a:lstStyle/>
          <a:p>
            <a:pPr>
              <a:lnSpc>
                <a:spcPct val="90000"/>
              </a:lnSpc>
            </a:pPr>
            <a:r>
              <a:rPr lang="zh-CN" altLang="en-US" b="1" dirty="0">
                <a:solidFill>
                  <a:srgbClr val="990000"/>
                </a:solidFill>
              </a:rPr>
              <a:t>事务的持久性表示为：</a:t>
            </a:r>
            <a:r>
              <a:rPr lang="zh-CN" altLang="en-US" b="1" dirty="0"/>
              <a:t>当事务处理结束后，它对数据的修改应该是永久的，即使是系统在遇到故障的情况下也不会丢失。</a:t>
            </a:r>
          </a:p>
          <a:p>
            <a:pPr>
              <a:lnSpc>
                <a:spcPct val="90000"/>
              </a:lnSpc>
            </a:pPr>
            <a:r>
              <a:rPr lang="zh-CN" altLang="en-US" b="1" dirty="0">
                <a:solidFill>
                  <a:srgbClr val="990000"/>
                </a:solidFill>
              </a:rPr>
              <a:t>怎样才算事务完成了？</a:t>
            </a:r>
            <a:r>
              <a:rPr lang="zh-CN" altLang="en-US" dirty="0"/>
              <a:t> </a:t>
            </a:r>
          </a:p>
          <a:p>
            <a:pPr>
              <a:lnSpc>
                <a:spcPct val="90000"/>
              </a:lnSpc>
              <a:buFont typeface="Wingdings" panose="05000000000000000000" pitchFamily="2" charset="2"/>
              <a:buNone/>
            </a:pPr>
            <a:r>
              <a:rPr lang="zh-CN" altLang="en-US" b="1" dirty="0"/>
              <a:t>       一种是它对数据库的操作全部执行完了，但其结果保存在内存中，没有真正写回到数据库中；另一种是不但全部操作完成，而且其结果也都写回到数据库中了。</a:t>
            </a:r>
            <a:r>
              <a:rPr lang="zh-CN" altLang="en-US" dirty="0"/>
              <a:t> </a:t>
            </a:r>
            <a:endParaRPr lang="zh-CN" altLang="en-US" b="1" dirty="0"/>
          </a:p>
          <a:p>
            <a:pPr>
              <a:lnSpc>
                <a:spcPct val="90000"/>
              </a:lnSpc>
            </a:pPr>
            <a:endParaRPr lang="en-US" altLang="zh-CN" b="1" dirty="0"/>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14</a:t>
            </a:fld>
            <a:endParaRPr lang="en-US" altLang="zh-CN"/>
          </a:p>
        </p:txBody>
      </p:sp>
    </p:spTree>
    <p:extLst>
      <p:ext uri="{BB962C8B-B14F-4D97-AF65-F5344CB8AC3E}">
        <p14:creationId xmlns:p14="http://schemas.microsoft.com/office/powerpoint/2010/main" val="762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83568" y="1412776"/>
            <a:ext cx="7920880" cy="4104456"/>
          </a:xfrm>
        </p:spPr>
        <p:txBody>
          <a:bodyPr/>
          <a:lstStyle/>
          <a:p>
            <a:r>
              <a:rPr lang="zh-CN" altLang="en-US" sz="2400" b="1" dirty="0"/>
              <a:t>若为前者，那么当其结果要写而未写到数据库时，发生系统故障而使其丢失怎么办？</a:t>
            </a:r>
          </a:p>
          <a:p>
            <a:r>
              <a:rPr lang="zh-CN" altLang="en-US" sz="2400" b="1" dirty="0"/>
              <a:t>若为后者，一方面回写数据库需要磁盘</a:t>
            </a:r>
            <a:r>
              <a:rPr lang="en-US" altLang="zh-CN" sz="2400" b="1" dirty="0"/>
              <a:t>I/O</a:t>
            </a:r>
            <a:r>
              <a:rPr lang="zh-CN" altLang="en-US" sz="2400" b="1" dirty="0"/>
              <a:t>，因而可能等待很长时间，从而大大影响事务的并发度，降低系统性能；另一方面，即使写到数据库中了，也可能因磁盘故障而使其丢失或损坏。</a:t>
            </a:r>
          </a:p>
          <a:p>
            <a:r>
              <a:rPr lang="en-US" altLang="zh-CN" sz="2400" b="1" dirty="0"/>
              <a:t>DBMS</a:t>
            </a:r>
            <a:r>
              <a:rPr lang="zh-CN" altLang="en-US" sz="2400" b="1" dirty="0"/>
              <a:t>提供了日志设施来记录每一事务的各种操作及其结果和写磁盘的信息。无论何时发生故障，都能用这些记录的信息来恢复数据库，所以确保事务持久性的是</a:t>
            </a:r>
            <a:r>
              <a:rPr lang="en-US" altLang="zh-CN" sz="2400" b="1" dirty="0"/>
              <a:t>DBMS</a:t>
            </a:r>
            <a:r>
              <a:rPr lang="zh-CN" altLang="en-US" sz="2400" b="1" dirty="0"/>
              <a:t>的“恢复管理”部件。</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15</a:t>
            </a:fld>
            <a:endParaRPr lang="en-US" altLang="zh-CN"/>
          </a:p>
        </p:txBody>
      </p:sp>
    </p:spTree>
    <p:extLst>
      <p:ext uri="{BB962C8B-B14F-4D97-AF65-F5344CB8AC3E}">
        <p14:creationId xmlns:p14="http://schemas.microsoft.com/office/powerpoint/2010/main" val="2187554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609600"/>
            <a:ext cx="8229600" cy="731168"/>
          </a:xfrm>
        </p:spPr>
        <p:txBody>
          <a:bodyPr/>
          <a:lstStyle/>
          <a:p>
            <a:r>
              <a:rPr lang="zh-CN" altLang="en-US" b="1" dirty="0">
                <a:solidFill>
                  <a:srgbClr val="FF0066"/>
                </a:solidFill>
              </a:rPr>
              <a:t>练习：</a:t>
            </a:r>
          </a:p>
        </p:txBody>
      </p:sp>
      <p:sp>
        <p:nvSpPr>
          <p:cNvPr id="20483" name="Rectangle 3"/>
          <p:cNvSpPr>
            <a:spLocks noGrp="1" noChangeArrowheads="1"/>
          </p:cNvSpPr>
          <p:nvPr>
            <p:ph type="body" idx="1"/>
          </p:nvPr>
        </p:nvSpPr>
        <p:spPr>
          <a:xfrm>
            <a:off x="467544" y="1665288"/>
            <a:ext cx="8229600" cy="2699816"/>
          </a:xfrm>
        </p:spPr>
        <p:txBody>
          <a:bodyPr/>
          <a:lstStyle/>
          <a:p>
            <a:pPr marL="722313" indent="-722313">
              <a:buFont typeface="Wingdings" panose="05000000000000000000" pitchFamily="2" charset="2"/>
              <a:buNone/>
            </a:pPr>
            <a:r>
              <a:rPr lang="en-US" altLang="zh-CN" sz="2400" b="1" dirty="0"/>
              <a:t>1</a:t>
            </a:r>
            <a:r>
              <a:rPr lang="zh-CN" altLang="en-US" sz="2400" b="1" dirty="0"/>
              <a:t>．事务的</a:t>
            </a:r>
            <a:r>
              <a:rPr lang="en-US" altLang="zh-CN" sz="2400" b="1" dirty="0"/>
              <a:t>ACID</a:t>
            </a:r>
            <a:r>
              <a:rPr lang="zh-CN" altLang="en-US" sz="2400" b="1" dirty="0"/>
              <a:t>性质，关于原子性的描述正确的是</a:t>
            </a:r>
          </a:p>
          <a:p>
            <a:pPr marL="722313" indent="-722313">
              <a:buFont typeface="Wingdings" panose="05000000000000000000" pitchFamily="2" charset="2"/>
              <a:buNone/>
            </a:pPr>
            <a:r>
              <a:rPr lang="zh-CN" altLang="en-US" sz="2400" b="1" dirty="0"/>
              <a:t> </a:t>
            </a:r>
            <a:r>
              <a:rPr lang="en-US" altLang="zh-CN" sz="2400" b="1" dirty="0"/>
              <a:t>A</a:t>
            </a:r>
            <a:r>
              <a:rPr lang="zh-CN" altLang="en-US" sz="2400" b="1" dirty="0"/>
              <a:t>）指数据库的内容不出现矛盾的状态 </a:t>
            </a:r>
          </a:p>
          <a:p>
            <a:pPr marL="722313" indent="-722313">
              <a:buFont typeface="Wingdings" panose="05000000000000000000" pitchFamily="2" charset="2"/>
              <a:buNone/>
            </a:pPr>
            <a:r>
              <a:rPr lang="zh-CN" altLang="en-US" sz="2400" b="1" dirty="0"/>
              <a:t> </a:t>
            </a:r>
            <a:r>
              <a:rPr lang="en-US" altLang="zh-CN" sz="2400" b="1" dirty="0"/>
              <a:t>B</a:t>
            </a:r>
            <a:r>
              <a:rPr lang="zh-CN" altLang="en-US" sz="2400" b="1" dirty="0"/>
              <a:t>）若事务正常结束，即使发生故障，新结果也不会从数据库中消失</a:t>
            </a:r>
          </a:p>
          <a:p>
            <a:pPr marL="722313" indent="-722313">
              <a:buFont typeface="Wingdings" panose="05000000000000000000" pitchFamily="2" charset="2"/>
              <a:buNone/>
            </a:pPr>
            <a:r>
              <a:rPr lang="zh-CN" altLang="en-US" sz="2400" b="1" dirty="0"/>
              <a:t> </a:t>
            </a:r>
            <a:r>
              <a:rPr lang="en-US" altLang="zh-CN" sz="2400" b="1" dirty="0"/>
              <a:t>C</a:t>
            </a:r>
            <a:r>
              <a:rPr lang="zh-CN" altLang="en-US" sz="2400" b="1" dirty="0"/>
              <a:t>）事务中的所有操作要么都执行，要么都不执行</a:t>
            </a:r>
          </a:p>
          <a:p>
            <a:pPr marL="722313" indent="-722313">
              <a:buFont typeface="Wingdings" panose="05000000000000000000" pitchFamily="2" charset="2"/>
              <a:buNone/>
            </a:pPr>
            <a:r>
              <a:rPr lang="zh-CN" altLang="en-US" sz="2400" b="1" dirty="0"/>
              <a:t> </a:t>
            </a:r>
            <a:r>
              <a:rPr lang="en-US" altLang="zh-CN" sz="2400" b="1" dirty="0"/>
              <a:t>D</a:t>
            </a:r>
            <a:r>
              <a:rPr lang="zh-CN" altLang="en-US" sz="2400" b="1" dirty="0"/>
              <a:t>）若多个事务同时进行，与顺序实现的处理结果是一致的</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16</a:t>
            </a:fld>
            <a:endParaRPr lang="en-US" altLang="zh-CN"/>
          </a:p>
        </p:txBody>
      </p:sp>
    </p:spTree>
    <p:extLst>
      <p:ext uri="{BB962C8B-B14F-4D97-AF65-F5344CB8AC3E}">
        <p14:creationId xmlns:p14="http://schemas.microsoft.com/office/powerpoint/2010/main" val="928649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663575" y="1752600"/>
            <a:ext cx="8229600" cy="3404592"/>
          </a:xfrm>
        </p:spPr>
        <p:txBody>
          <a:bodyPr/>
          <a:lstStyle/>
          <a:p>
            <a:pPr>
              <a:lnSpc>
                <a:spcPct val="90000"/>
              </a:lnSpc>
              <a:buFont typeface="Wingdings" panose="05000000000000000000" pitchFamily="2" charset="2"/>
              <a:buNone/>
            </a:pPr>
            <a:r>
              <a:rPr lang="en-US" altLang="zh-CN" sz="2400" b="1" dirty="0"/>
              <a:t>2</a:t>
            </a:r>
            <a:r>
              <a:rPr lang="zh-CN" altLang="en-US" sz="2400" b="1" dirty="0"/>
              <a:t>．一个事务执行过程中，其正在访问的数据被其他事务所修改，导致处理结果不正确，这是由于违背了事务的</a:t>
            </a:r>
          </a:p>
          <a:p>
            <a:pPr>
              <a:lnSpc>
                <a:spcPct val="90000"/>
              </a:lnSpc>
              <a:buFont typeface="Wingdings" panose="05000000000000000000" pitchFamily="2" charset="2"/>
              <a:buNone/>
            </a:pPr>
            <a:r>
              <a:rPr lang="zh-CN" altLang="en-US" sz="2400" b="1" dirty="0"/>
              <a:t> 		</a:t>
            </a:r>
            <a:r>
              <a:rPr lang="en-US" altLang="zh-CN" sz="2400" b="1" dirty="0"/>
              <a:t>A</a:t>
            </a:r>
            <a:r>
              <a:rPr lang="zh-CN" altLang="en-US" sz="2400" b="1" dirty="0"/>
              <a:t>）原子性      </a:t>
            </a:r>
            <a:r>
              <a:rPr lang="en-US" altLang="zh-CN" sz="2400" b="1" dirty="0"/>
              <a:t>B</a:t>
            </a:r>
            <a:r>
              <a:rPr lang="zh-CN" altLang="en-US" sz="2400" b="1" dirty="0"/>
              <a:t>）一致性         </a:t>
            </a:r>
          </a:p>
          <a:p>
            <a:pPr>
              <a:lnSpc>
                <a:spcPct val="90000"/>
              </a:lnSpc>
              <a:buFont typeface="Wingdings" panose="05000000000000000000" pitchFamily="2" charset="2"/>
              <a:buNone/>
            </a:pPr>
            <a:r>
              <a:rPr lang="zh-CN" altLang="en-US" sz="2400" b="1" dirty="0"/>
              <a:t>		</a:t>
            </a:r>
            <a:r>
              <a:rPr lang="en-US" altLang="zh-CN" sz="2400" b="1" dirty="0"/>
              <a:t>C</a:t>
            </a:r>
            <a:r>
              <a:rPr lang="zh-CN" altLang="en-US" sz="2400" b="1" dirty="0"/>
              <a:t>）隔离性       </a:t>
            </a:r>
            <a:r>
              <a:rPr lang="en-US" altLang="zh-CN" sz="2400" b="1" dirty="0"/>
              <a:t>D</a:t>
            </a:r>
            <a:r>
              <a:rPr lang="zh-CN" altLang="en-US" sz="2400" b="1" dirty="0"/>
              <a:t>）持久性</a:t>
            </a:r>
          </a:p>
          <a:p>
            <a:pPr>
              <a:lnSpc>
                <a:spcPct val="90000"/>
              </a:lnSpc>
              <a:buFont typeface="Wingdings" panose="05000000000000000000" pitchFamily="2" charset="2"/>
              <a:buNone/>
            </a:pPr>
            <a:r>
              <a:rPr lang="en-US" altLang="zh-CN" sz="2400" b="1" dirty="0"/>
              <a:t>3</a:t>
            </a:r>
            <a:r>
              <a:rPr lang="zh-CN" altLang="en-US" sz="2400" b="1" dirty="0"/>
              <a:t>．“一旦事务成功提交，其对数据库的更新操作将永久有效，即使数据库发生故障”，这一性质是指事务的</a:t>
            </a:r>
          </a:p>
          <a:p>
            <a:pPr>
              <a:lnSpc>
                <a:spcPct val="90000"/>
              </a:lnSpc>
              <a:buFont typeface="Wingdings" panose="05000000000000000000" pitchFamily="2" charset="2"/>
              <a:buNone/>
            </a:pPr>
            <a:r>
              <a:rPr lang="zh-CN" altLang="en-US" sz="2400" b="1" dirty="0"/>
              <a:t> 		</a:t>
            </a:r>
            <a:r>
              <a:rPr lang="en-US" altLang="zh-CN" sz="2400" b="1" dirty="0"/>
              <a:t>A</a:t>
            </a:r>
            <a:r>
              <a:rPr lang="zh-CN" altLang="en-US" sz="2400" b="1" dirty="0"/>
              <a:t>）原子性      </a:t>
            </a:r>
            <a:r>
              <a:rPr lang="en-US" altLang="zh-CN" sz="2400" b="1" dirty="0"/>
              <a:t>B</a:t>
            </a:r>
            <a:r>
              <a:rPr lang="zh-CN" altLang="en-US" sz="2400" b="1" dirty="0"/>
              <a:t>）一致性         </a:t>
            </a:r>
          </a:p>
          <a:p>
            <a:pPr>
              <a:lnSpc>
                <a:spcPct val="90000"/>
              </a:lnSpc>
              <a:buFont typeface="Wingdings" panose="05000000000000000000" pitchFamily="2" charset="2"/>
              <a:buNone/>
            </a:pPr>
            <a:r>
              <a:rPr lang="zh-CN" altLang="en-US" sz="2400" b="1" dirty="0"/>
              <a:t>		</a:t>
            </a:r>
            <a:r>
              <a:rPr lang="en-US" altLang="zh-CN" sz="2400" b="1" dirty="0"/>
              <a:t>C</a:t>
            </a:r>
            <a:r>
              <a:rPr lang="zh-CN" altLang="en-US" sz="2400" b="1" dirty="0"/>
              <a:t>）隔离性       </a:t>
            </a:r>
            <a:r>
              <a:rPr lang="en-US" altLang="zh-CN" sz="2400" b="1" dirty="0"/>
              <a:t>D</a:t>
            </a:r>
            <a:r>
              <a:rPr lang="zh-CN" altLang="en-US" sz="2400" b="1" dirty="0"/>
              <a:t>）持久性</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17</a:t>
            </a:fld>
            <a:endParaRPr lang="en-US" altLang="zh-CN"/>
          </a:p>
        </p:txBody>
      </p:sp>
    </p:spTree>
    <p:extLst>
      <p:ext uri="{BB962C8B-B14F-4D97-AF65-F5344CB8AC3E}">
        <p14:creationId xmlns:p14="http://schemas.microsoft.com/office/powerpoint/2010/main" val="371351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r>
              <a:rPr lang="zh-CN" altLang="en-US" dirty="0">
                <a:ea typeface="宋体" panose="02010600030101010101" pitchFamily="2" charset="-122"/>
              </a:rPr>
              <a:t>并发控制</a:t>
            </a:r>
          </a:p>
        </p:txBody>
      </p:sp>
      <p:sp>
        <p:nvSpPr>
          <p:cNvPr id="465923" name="Rectangle 3"/>
          <p:cNvSpPr>
            <a:spLocks noGrp="1" noChangeArrowheads="1"/>
          </p:cNvSpPr>
          <p:nvPr>
            <p:ph type="body" idx="1"/>
          </p:nvPr>
        </p:nvSpPr>
        <p:spPr>
          <a:xfrm>
            <a:off x="457200" y="2204864"/>
            <a:ext cx="8229600" cy="4119736"/>
          </a:xfrm>
        </p:spPr>
        <p:txBody>
          <a:bodyPr/>
          <a:lstStyle/>
          <a:p>
            <a:pPr>
              <a:lnSpc>
                <a:spcPct val="180000"/>
              </a:lnSpc>
            </a:pPr>
            <a:r>
              <a:rPr lang="zh-CN" altLang="en-US" sz="2500" dirty="0">
                <a:ea typeface="宋体" panose="02010600030101010101" pitchFamily="2" charset="-122"/>
              </a:rPr>
              <a:t>多用户数据库系统的存在</a:t>
            </a:r>
          </a:p>
          <a:p>
            <a:pPr>
              <a:lnSpc>
                <a:spcPct val="180000"/>
              </a:lnSpc>
              <a:buFont typeface="Wingdings" panose="05000000000000000000" pitchFamily="2" charset="2"/>
              <a:buNone/>
            </a:pPr>
            <a:r>
              <a:rPr lang="zh-CN" altLang="en-US" sz="2500" dirty="0">
                <a:ea typeface="宋体" panose="02010600030101010101" pitchFamily="2" charset="-122"/>
              </a:rPr>
              <a:t>    允许多个用户同时使用的数据库系统</a:t>
            </a:r>
          </a:p>
          <a:p>
            <a:pPr lvl="1">
              <a:lnSpc>
                <a:spcPct val="180000"/>
              </a:lnSpc>
              <a:buFont typeface="Wingdings" panose="05000000000000000000" pitchFamily="2" charset="2"/>
              <a:buChar char="n"/>
            </a:pPr>
            <a:r>
              <a:rPr lang="zh-CN" altLang="en-US" dirty="0">
                <a:ea typeface="宋体" panose="02010600030101010101" pitchFamily="2" charset="-122"/>
              </a:rPr>
              <a:t>飞机定票数据库系统</a:t>
            </a:r>
          </a:p>
          <a:p>
            <a:pPr lvl="1">
              <a:lnSpc>
                <a:spcPct val="180000"/>
              </a:lnSpc>
              <a:buFont typeface="Wingdings" panose="05000000000000000000" pitchFamily="2" charset="2"/>
              <a:buChar char="n"/>
            </a:pPr>
            <a:r>
              <a:rPr lang="zh-CN" altLang="en-US" dirty="0">
                <a:ea typeface="宋体" panose="02010600030101010101" pitchFamily="2" charset="-122"/>
              </a:rPr>
              <a:t>银行数据库系统 </a:t>
            </a:r>
          </a:p>
          <a:p>
            <a:pPr lvl="1">
              <a:lnSpc>
                <a:spcPct val="180000"/>
              </a:lnSpc>
              <a:buFont typeface="Wingdings" panose="05000000000000000000" pitchFamily="2" charset="2"/>
              <a:buNone/>
            </a:pPr>
            <a:r>
              <a:rPr lang="zh-CN" altLang="en-US" dirty="0">
                <a:ea typeface="宋体" panose="02010600030101010101" pitchFamily="2" charset="-122"/>
              </a:rPr>
              <a:t>特点：在同一时刻并发运行的事务数可达数百个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18</a:t>
            </a:fld>
            <a:endParaRPr lang="en-US" altLang="zh-CN"/>
          </a:p>
        </p:txBody>
      </p:sp>
      <p:sp>
        <p:nvSpPr>
          <p:cNvPr id="3" name="矩形 2"/>
          <p:cNvSpPr/>
          <p:nvPr/>
        </p:nvSpPr>
        <p:spPr>
          <a:xfrm>
            <a:off x="395536" y="1471742"/>
            <a:ext cx="1731564" cy="757130"/>
          </a:xfrm>
          <a:prstGeom prst="rect">
            <a:avLst/>
          </a:prstGeom>
        </p:spPr>
        <p:txBody>
          <a:bodyPr wrap="none">
            <a:spAutoFit/>
          </a:bodyPr>
          <a:lstStyle/>
          <a:p>
            <a:r>
              <a:rPr lang="zh-CN" altLang="en-US" dirty="0"/>
              <a:t>问题的产生</a:t>
            </a:r>
          </a:p>
        </p:txBody>
      </p:sp>
    </p:spTree>
    <p:extLst>
      <p:ext uri="{BB962C8B-B14F-4D97-AF65-F5344CB8AC3E}">
        <p14:creationId xmlns:p14="http://schemas.microsoft.com/office/powerpoint/2010/main" val="3722285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r>
              <a:rPr lang="zh-CN" altLang="en-US">
                <a:ea typeface="宋体" panose="02010600030101010101" pitchFamily="2" charset="-122"/>
              </a:rPr>
              <a:t>问题的产生（续）</a:t>
            </a:r>
          </a:p>
        </p:txBody>
      </p:sp>
      <p:sp>
        <p:nvSpPr>
          <p:cNvPr id="336899" name="Rectangle 3"/>
          <p:cNvSpPr>
            <a:spLocks noGrp="1" noChangeArrowheads="1"/>
          </p:cNvSpPr>
          <p:nvPr>
            <p:ph type="body" idx="1"/>
          </p:nvPr>
        </p:nvSpPr>
        <p:spPr>
          <a:xfrm>
            <a:off x="457200" y="1828800"/>
            <a:ext cx="5770563" cy="4495800"/>
          </a:xfrm>
        </p:spPr>
        <p:txBody>
          <a:bodyPr/>
          <a:lstStyle/>
          <a:p>
            <a:pPr algn="just">
              <a:lnSpc>
                <a:spcPct val="150000"/>
              </a:lnSpc>
            </a:pPr>
            <a:r>
              <a:rPr lang="zh-CN" altLang="en-US" sz="2400">
                <a:ea typeface="宋体" panose="02010600030101010101" pitchFamily="2" charset="-122"/>
              </a:rPr>
              <a:t>不同的多事务执行方式 </a:t>
            </a:r>
          </a:p>
          <a:p>
            <a:pPr algn="just">
              <a:lnSpc>
                <a:spcPct val="150000"/>
              </a:lnSpc>
              <a:spcBef>
                <a:spcPct val="50000"/>
              </a:spcBef>
              <a:buFont typeface="Wingdings" panose="05000000000000000000" pitchFamily="2" charset="2"/>
              <a:buNone/>
            </a:pPr>
            <a:r>
              <a:rPr lang="zh-CN" altLang="en-US" sz="2400">
                <a:ea typeface="宋体" panose="02010600030101010101" pitchFamily="2" charset="-122"/>
              </a:rPr>
              <a:t>  </a:t>
            </a:r>
            <a:r>
              <a:rPr lang="en-US" altLang="zh-CN" sz="2400">
                <a:ea typeface="宋体" panose="02010600030101010101" pitchFamily="2" charset="-122"/>
              </a:rPr>
              <a:t>(1)</a:t>
            </a:r>
            <a:r>
              <a:rPr lang="zh-CN" altLang="en-US" sz="2400">
                <a:ea typeface="宋体" panose="02010600030101010101" pitchFamily="2" charset="-122"/>
              </a:rPr>
              <a:t>事务串行执行</a:t>
            </a:r>
          </a:p>
          <a:p>
            <a:pPr lvl="1" algn="just">
              <a:lnSpc>
                <a:spcPct val="150000"/>
              </a:lnSpc>
              <a:spcBef>
                <a:spcPct val="50000"/>
              </a:spcBef>
            </a:pPr>
            <a:r>
              <a:rPr lang="zh-CN" altLang="en-US" sz="2200">
                <a:ea typeface="宋体" panose="02010600030101010101" pitchFamily="2" charset="-122"/>
              </a:rPr>
              <a:t>每个时刻只有一个事务运行，其他事务必须等到这个事务结束以后方能运行</a:t>
            </a:r>
          </a:p>
          <a:p>
            <a:pPr lvl="1" algn="just">
              <a:lnSpc>
                <a:spcPct val="150000"/>
              </a:lnSpc>
              <a:spcBef>
                <a:spcPct val="50000"/>
              </a:spcBef>
            </a:pPr>
            <a:r>
              <a:rPr lang="zh-CN" altLang="en-US" sz="2200">
                <a:ea typeface="宋体" panose="02010600030101010101" pitchFamily="2" charset="-122"/>
              </a:rPr>
              <a:t>不能充分利用系统资源，发挥数据库共享资源的特点</a:t>
            </a:r>
          </a:p>
        </p:txBody>
      </p:sp>
      <p:sp>
        <p:nvSpPr>
          <p:cNvPr id="336906" name="Line 10"/>
          <p:cNvSpPr>
            <a:spLocks noChangeShapeType="1"/>
          </p:cNvSpPr>
          <p:nvPr/>
        </p:nvSpPr>
        <p:spPr bwMode="auto">
          <a:xfrm>
            <a:off x="7740650" y="2276475"/>
            <a:ext cx="0" cy="30241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6907" name="Line 11"/>
          <p:cNvSpPr>
            <a:spLocks noChangeShapeType="1"/>
          </p:cNvSpPr>
          <p:nvPr/>
        </p:nvSpPr>
        <p:spPr bwMode="auto">
          <a:xfrm>
            <a:off x="7740650" y="3716338"/>
            <a:ext cx="215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6908" name="Line 12"/>
          <p:cNvSpPr>
            <a:spLocks noChangeShapeType="1"/>
          </p:cNvSpPr>
          <p:nvPr/>
        </p:nvSpPr>
        <p:spPr bwMode="auto">
          <a:xfrm>
            <a:off x="7740650" y="4652963"/>
            <a:ext cx="215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6909" name="Text Box 13"/>
          <p:cNvSpPr txBox="1">
            <a:spLocks noChangeArrowheads="1"/>
          </p:cNvSpPr>
          <p:nvPr/>
        </p:nvSpPr>
        <p:spPr bwMode="auto">
          <a:xfrm>
            <a:off x="7727950" y="2846388"/>
            <a:ext cx="43815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0"/>
              <a:t>T1</a:t>
            </a:r>
          </a:p>
        </p:txBody>
      </p:sp>
      <p:sp>
        <p:nvSpPr>
          <p:cNvPr id="336910" name="Text Box 14"/>
          <p:cNvSpPr txBox="1">
            <a:spLocks noChangeArrowheads="1"/>
          </p:cNvSpPr>
          <p:nvPr/>
        </p:nvSpPr>
        <p:spPr bwMode="auto">
          <a:xfrm>
            <a:off x="7747000" y="3860800"/>
            <a:ext cx="4381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0"/>
              <a:t>T2</a:t>
            </a:r>
          </a:p>
        </p:txBody>
      </p:sp>
      <p:sp>
        <p:nvSpPr>
          <p:cNvPr id="336911" name="Text Box 15"/>
          <p:cNvSpPr txBox="1">
            <a:spLocks noChangeArrowheads="1"/>
          </p:cNvSpPr>
          <p:nvPr/>
        </p:nvSpPr>
        <p:spPr bwMode="auto">
          <a:xfrm>
            <a:off x="7747000" y="4724400"/>
            <a:ext cx="4381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0"/>
              <a:t>T3</a:t>
            </a:r>
          </a:p>
        </p:txBody>
      </p:sp>
      <p:sp>
        <p:nvSpPr>
          <p:cNvPr id="336912" name="Text Box 16"/>
          <p:cNvSpPr txBox="1">
            <a:spLocks noChangeArrowheads="1"/>
          </p:cNvSpPr>
          <p:nvPr/>
        </p:nvSpPr>
        <p:spPr bwMode="auto">
          <a:xfrm>
            <a:off x="6516688" y="5589588"/>
            <a:ext cx="224155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a:t>事务的串行执行方式</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19</a:t>
            </a:fld>
            <a:endParaRPr lang="en-US" altLang="zh-CN"/>
          </a:p>
        </p:txBody>
      </p:sp>
    </p:spTree>
    <p:extLst>
      <p:ext uri="{BB962C8B-B14F-4D97-AF65-F5344CB8AC3E}">
        <p14:creationId xmlns:p14="http://schemas.microsoft.com/office/powerpoint/2010/main" val="2618477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p:txBody>
          <a:bodyPr/>
          <a:lstStyle/>
          <a:p>
            <a:r>
              <a:rPr lang="zh-CN" altLang="en-US">
                <a:ea typeface="宋体" panose="02010600030101010101" pitchFamily="2" charset="-122"/>
              </a:rPr>
              <a:t>问题的产生（续）</a:t>
            </a:r>
          </a:p>
        </p:txBody>
      </p:sp>
      <p:sp>
        <p:nvSpPr>
          <p:cNvPr id="337923" name="Rectangle 3"/>
          <p:cNvSpPr>
            <a:spLocks noGrp="1" noChangeArrowheads="1"/>
          </p:cNvSpPr>
          <p:nvPr>
            <p:ph type="body" idx="1"/>
          </p:nvPr>
        </p:nvSpPr>
        <p:spPr/>
        <p:txBody>
          <a:bodyPr/>
          <a:lstStyle/>
          <a:p>
            <a:pPr algn="just">
              <a:lnSpc>
                <a:spcPct val="200000"/>
              </a:lnSpc>
              <a:buFont typeface="Wingdings" panose="05000000000000000000" pitchFamily="2" charset="2"/>
              <a:buNone/>
            </a:pPr>
            <a:r>
              <a:rPr lang="en-US" altLang="zh-CN" sz="2400">
                <a:ea typeface="宋体" panose="02010600030101010101" pitchFamily="2" charset="-122"/>
              </a:rPr>
              <a:t>(2)</a:t>
            </a:r>
            <a:r>
              <a:rPr lang="zh-CN" altLang="en-US" sz="2400">
                <a:ea typeface="宋体" panose="02010600030101010101" pitchFamily="2" charset="-122"/>
              </a:rPr>
              <a:t>交叉并发方式（</a:t>
            </a:r>
            <a:r>
              <a:rPr lang="en-US" altLang="zh-CN" sz="2400">
                <a:ea typeface="宋体" panose="02010600030101010101" pitchFamily="2" charset="-122"/>
              </a:rPr>
              <a:t>Interleaved Concurrency</a:t>
            </a:r>
            <a:r>
              <a:rPr lang="zh-CN" altLang="en-US" sz="2400">
                <a:ea typeface="宋体" panose="02010600030101010101" pitchFamily="2" charset="-122"/>
              </a:rPr>
              <a:t>）</a:t>
            </a:r>
          </a:p>
          <a:p>
            <a:pPr lvl="1" algn="just">
              <a:lnSpc>
                <a:spcPct val="200000"/>
              </a:lnSpc>
              <a:spcBef>
                <a:spcPct val="50000"/>
              </a:spcBef>
            </a:pPr>
            <a:r>
              <a:rPr lang="zh-CN" altLang="en-US">
                <a:ea typeface="宋体" panose="02010600030101010101" pitchFamily="2" charset="-122"/>
              </a:rPr>
              <a:t>在单处理机系统中，事务的并行执行是这些并行事务的并行操作轮流交叉运行</a:t>
            </a:r>
          </a:p>
          <a:p>
            <a:pPr lvl="1" algn="just">
              <a:lnSpc>
                <a:spcPct val="200000"/>
              </a:lnSpc>
              <a:spcBef>
                <a:spcPct val="50000"/>
              </a:spcBef>
            </a:pPr>
            <a:r>
              <a:rPr lang="zh-CN" altLang="en-US">
                <a:ea typeface="宋体" panose="02010600030101010101" pitchFamily="2" charset="-122"/>
              </a:rPr>
              <a:t>单处理机系统中的并行事务并没有真正地并行运行，但能够减少处理机的空闲时间，提高系统的效率</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20</a:t>
            </a:fld>
            <a:endParaRPr lang="en-US" altLang="zh-CN"/>
          </a:p>
        </p:txBody>
      </p:sp>
    </p:spTree>
    <p:extLst>
      <p:ext uri="{BB962C8B-B14F-4D97-AF65-F5344CB8AC3E}">
        <p14:creationId xmlns:p14="http://schemas.microsoft.com/office/powerpoint/2010/main" val="4015283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r>
              <a:rPr lang="zh-CN" altLang="en-US">
                <a:ea typeface="宋体" panose="02010600030101010101" pitchFamily="2" charset="-122"/>
              </a:rPr>
              <a:t>问题的产生（续）</a:t>
            </a:r>
          </a:p>
        </p:txBody>
      </p:sp>
      <p:pic>
        <p:nvPicPr>
          <p:cNvPr id="4669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1700213"/>
            <a:ext cx="3517900" cy="4321175"/>
          </a:xfrm>
          <a:prstGeom prst="rect">
            <a:avLst/>
          </a:prstGeom>
          <a:noFill/>
          <a:extLst>
            <a:ext uri="{909E8E84-426E-40DD-AFC4-6F175D3DCCD1}">
              <a14:hiddenFill xmlns:a14="http://schemas.microsoft.com/office/drawing/2010/main">
                <a:solidFill>
                  <a:srgbClr val="FFFFFF"/>
                </a:solidFill>
              </a14:hiddenFill>
            </a:ext>
          </a:extLst>
        </p:spPr>
      </p:pic>
      <p:sp>
        <p:nvSpPr>
          <p:cNvPr id="466949" name="Text Box 5"/>
          <p:cNvSpPr txBox="1">
            <a:spLocks noChangeArrowheads="1"/>
          </p:cNvSpPr>
          <p:nvPr/>
        </p:nvSpPr>
        <p:spPr bwMode="auto">
          <a:xfrm>
            <a:off x="2987675" y="6092825"/>
            <a:ext cx="26987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a:t>事务的交叉并发执行方式</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21</a:t>
            </a:fld>
            <a:endParaRPr lang="en-US" altLang="zh-CN"/>
          </a:p>
        </p:txBody>
      </p:sp>
    </p:spTree>
    <p:extLst>
      <p:ext uri="{BB962C8B-B14F-4D97-AF65-F5344CB8AC3E}">
        <p14:creationId xmlns:p14="http://schemas.microsoft.com/office/powerpoint/2010/main" val="2091972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a:lstStyle/>
          <a:p>
            <a:r>
              <a:rPr lang="zh-CN" altLang="en-US">
                <a:ea typeface="宋体" panose="02010600030101010101" pitchFamily="2" charset="-122"/>
              </a:rPr>
              <a:t>问题的产生（续）</a:t>
            </a:r>
          </a:p>
        </p:txBody>
      </p:sp>
      <p:sp>
        <p:nvSpPr>
          <p:cNvPr id="338947" name="Rectangle 3"/>
          <p:cNvSpPr>
            <a:spLocks noGrp="1" noChangeArrowheads="1"/>
          </p:cNvSpPr>
          <p:nvPr>
            <p:ph type="body" idx="1"/>
          </p:nvPr>
        </p:nvSpPr>
        <p:spPr/>
        <p:txBody>
          <a:bodyPr/>
          <a:lstStyle/>
          <a:p>
            <a:pPr algn="just">
              <a:lnSpc>
                <a:spcPct val="150000"/>
              </a:lnSpc>
              <a:buFont typeface="Wingdings" panose="05000000000000000000" pitchFamily="2" charset="2"/>
              <a:buNone/>
            </a:pPr>
            <a:r>
              <a:rPr lang="en-US" altLang="zh-CN">
                <a:ea typeface="宋体" panose="02010600030101010101" pitchFamily="2" charset="-122"/>
              </a:rPr>
              <a:t> (3)</a:t>
            </a:r>
            <a:r>
              <a:rPr lang="zh-CN" altLang="en-US">
                <a:ea typeface="宋体" panose="02010600030101010101" pitchFamily="2" charset="-122"/>
              </a:rPr>
              <a:t>同时并发方式（</a:t>
            </a:r>
            <a:r>
              <a:rPr lang="en-US" altLang="zh-CN">
                <a:ea typeface="宋体" panose="02010600030101010101" pitchFamily="2" charset="-122"/>
              </a:rPr>
              <a:t>simultaneous  concurrency</a:t>
            </a:r>
            <a:r>
              <a:rPr lang="zh-CN" altLang="en-US">
                <a:ea typeface="宋体" panose="02010600030101010101" pitchFamily="2" charset="-122"/>
              </a:rPr>
              <a:t>）</a:t>
            </a:r>
          </a:p>
          <a:p>
            <a:pPr lvl="1" algn="just">
              <a:lnSpc>
                <a:spcPct val="150000"/>
              </a:lnSpc>
              <a:spcBef>
                <a:spcPct val="50000"/>
              </a:spcBef>
            </a:pPr>
            <a:r>
              <a:rPr lang="zh-CN" altLang="en-US" sz="2600">
                <a:ea typeface="宋体" panose="02010600030101010101" pitchFamily="2" charset="-122"/>
              </a:rPr>
              <a:t>多处理机系统中，每个处理机可以运行一个事务，多个处理机可以同时运行多个事务，实现多个事务真正的并行运行</a:t>
            </a:r>
          </a:p>
          <a:p>
            <a:pPr algn="just">
              <a:lnSpc>
                <a:spcPct val="150000"/>
              </a:lnSpc>
              <a:spcBef>
                <a:spcPct val="50000"/>
              </a:spcBef>
              <a:buFont typeface="Wingdings" panose="05000000000000000000" pitchFamily="2" charset="2"/>
              <a:buNone/>
            </a:pP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22</a:t>
            </a:fld>
            <a:endParaRPr lang="en-US" altLang="zh-CN"/>
          </a:p>
        </p:txBody>
      </p:sp>
    </p:spTree>
    <p:extLst>
      <p:ext uri="{BB962C8B-B14F-4D97-AF65-F5344CB8AC3E}">
        <p14:creationId xmlns:p14="http://schemas.microsoft.com/office/powerpoint/2010/main" val="1579633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zh-CN" altLang="en-US">
                <a:ea typeface="宋体" panose="02010600030101010101" pitchFamily="2" charset="-122"/>
              </a:rPr>
              <a:t>问题的产生（续）</a:t>
            </a:r>
          </a:p>
        </p:txBody>
      </p:sp>
      <p:sp>
        <p:nvSpPr>
          <p:cNvPr id="339971" name="Rectangle 3"/>
          <p:cNvSpPr>
            <a:spLocks noGrp="1" noChangeArrowheads="1"/>
          </p:cNvSpPr>
          <p:nvPr>
            <p:ph type="body" idx="1"/>
          </p:nvPr>
        </p:nvSpPr>
        <p:spPr/>
        <p:txBody>
          <a:bodyPr/>
          <a:lstStyle/>
          <a:p>
            <a:pPr algn="just">
              <a:lnSpc>
                <a:spcPct val="130000"/>
              </a:lnSpc>
            </a:pPr>
            <a:r>
              <a:rPr lang="zh-CN" altLang="en-US">
                <a:ea typeface="宋体" panose="02010600030101010101" pitchFamily="2" charset="-122"/>
              </a:rPr>
              <a:t>事务并发执行带来的问题</a:t>
            </a:r>
          </a:p>
          <a:p>
            <a:pPr lvl="1" algn="just">
              <a:lnSpc>
                <a:spcPct val="130000"/>
              </a:lnSpc>
            </a:pPr>
            <a:r>
              <a:rPr lang="zh-CN" altLang="en-US" sz="2600">
                <a:ea typeface="宋体" panose="02010600030101010101" pitchFamily="2" charset="-122"/>
              </a:rPr>
              <a:t>会产生多个事务同时存取同一数据的情况 </a:t>
            </a:r>
          </a:p>
          <a:p>
            <a:pPr lvl="1" algn="just">
              <a:lnSpc>
                <a:spcPct val="130000"/>
              </a:lnSpc>
            </a:pPr>
            <a:r>
              <a:rPr lang="zh-CN" altLang="en-US" sz="2600">
                <a:ea typeface="宋体" panose="02010600030101010101" pitchFamily="2" charset="-122"/>
              </a:rPr>
              <a:t>可能会存取和存储不正确的数据，破坏事务一致性和数据库的一致性</a:t>
            </a:r>
          </a:p>
          <a:p>
            <a:pPr algn="just">
              <a:lnSpc>
                <a:spcPct val="130000"/>
              </a:lnSpc>
            </a:pPr>
            <a:endParaRPr lang="zh-CN" altLang="en-US" sz="3000">
              <a:ea typeface="宋体" panose="02010600030101010101" pitchFamily="2" charset="-122"/>
            </a:endParaRPr>
          </a:p>
          <a:p>
            <a:pPr algn="just">
              <a:lnSpc>
                <a:spcPct val="130000"/>
              </a:lnSpc>
              <a:buFont typeface="Wingdings" panose="05000000000000000000" pitchFamily="2" charset="2"/>
              <a:buChar char="n"/>
            </a:pPr>
            <a:endParaRPr lang="en-US" altLang="zh-CN" sz="30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23</a:t>
            </a:fld>
            <a:endParaRPr lang="en-US" altLang="zh-CN"/>
          </a:p>
        </p:txBody>
      </p:sp>
    </p:spTree>
    <p:extLst>
      <p:ext uri="{BB962C8B-B14F-4D97-AF65-F5344CB8AC3E}">
        <p14:creationId xmlns:p14="http://schemas.microsoft.com/office/powerpoint/2010/main" val="358199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r>
              <a:rPr lang="zh-CN" altLang="en-US" dirty="0">
                <a:ea typeface="宋体" panose="02010600030101010101" pitchFamily="2" charset="-122"/>
              </a:rPr>
              <a:t>第十二章  并发控制</a:t>
            </a:r>
          </a:p>
        </p:txBody>
      </p:sp>
      <p:sp>
        <p:nvSpPr>
          <p:cNvPr id="464899"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12.1  </a:t>
            </a:r>
            <a:r>
              <a:rPr lang="zh-CN" altLang="en-US" b="1" dirty="0">
                <a:solidFill>
                  <a:schemeClr val="tx2"/>
                </a:solidFill>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ea typeface="宋体" panose="02010600030101010101" pitchFamily="2" charset="-122"/>
              </a:rPr>
              <a:t>12.2  </a:t>
            </a:r>
            <a:r>
              <a:rPr lang="zh-CN" altLang="en-US" b="1" dirty="0">
                <a:ea typeface="宋体" panose="02010600030101010101" pitchFamily="2" charset="-122"/>
              </a:rPr>
              <a:t>封锁</a:t>
            </a:r>
          </a:p>
          <a:p>
            <a:pPr algn="just">
              <a:lnSpc>
                <a:spcPct val="130000"/>
              </a:lnSpc>
              <a:buFont typeface="Wingdings" panose="05000000000000000000" pitchFamily="2" charset="2"/>
              <a:buNone/>
            </a:pPr>
            <a:r>
              <a:rPr lang="en-US" altLang="zh-CN" b="1" dirty="0">
                <a:ea typeface="宋体" panose="02010600030101010101" pitchFamily="2" charset="-122"/>
              </a:rPr>
              <a:t>12.3  </a:t>
            </a:r>
            <a:r>
              <a:rPr lang="zh-CN" altLang="en-US" b="1" dirty="0">
                <a:ea typeface="宋体" panose="02010600030101010101" pitchFamily="2" charset="-122"/>
              </a:rPr>
              <a:t>活锁和死锁</a:t>
            </a:r>
          </a:p>
          <a:p>
            <a:pPr algn="just">
              <a:lnSpc>
                <a:spcPct val="130000"/>
              </a:lnSpc>
              <a:buFont typeface="Wingdings" panose="05000000000000000000" pitchFamily="2" charset="2"/>
              <a:buNone/>
            </a:pPr>
            <a:r>
              <a:rPr lang="en-US" altLang="zh-CN" b="1" dirty="0">
                <a:ea typeface="宋体" panose="02010600030101010101" pitchFamily="2" charset="-122"/>
              </a:rPr>
              <a:t>12.4  </a:t>
            </a:r>
            <a:r>
              <a:rPr lang="zh-CN" altLang="en-US" b="1" dirty="0">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ea typeface="宋体" panose="02010600030101010101" pitchFamily="2" charset="-122"/>
              </a:rPr>
              <a:t>12.5   </a:t>
            </a:r>
            <a:r>
              <a:rPr lang="zh-CN" altLang="en-US" b="1" dirty="0">
                <a:ea typeface="宋体" panose="02010600030101010101" pitchFamily="2" charset="-122"/>
              </a:rPr>
              <a:t>两段锁协议</a:t>
            </a:r>
          </a:p>
          <a:p>
            <a:pPr algn="just">
              <a:lnSpc>
                <a:spcPct val="130000"/>
              </a:lnSpc>
              <a:buFont typeface="Wingdings" panose="05000000000000000000" pitchFamily="2" charset="2"/>
              <a:buNone/>
            </a:pPr>
            <a:r>
              <a:rPr lang="en-US" altLang="zh-CN" b="1" dirty="0">
                <a:ea typeface="宋体" panose="02010600030101010101" pitchFamily="2" charset="-122"/>
              </a:rPr>
              <a:t>12.6   </a:t>
            </a:r>
            <a:r>
              <a:rPr lang="zh-CN" altLang="en-US" b="1" dirty="0">
                <a:ea typeface="宋体" panose="02010600030101010101" pitchFamily="2" charset="-122"/>
              </a:rPr>
              <a:t>封锁的粒度</a:t>
            </a:r>
          </a:p>
          <a:p>
            <a:pPr algn="just">
              <a:lnSpc>
                <a:spcPct val="130000"/>
              </a:lnSpc>
              <a:buFont typeface="Wingdings" panose="05000000000000000000" pitchFamily="2" charset="2"/>
              <a:buNone/>
            </a:pPr>
            <a:r>
              <a:rPr lang="en-US" altLang="zh-CN" b="1" dirty="0">
                <a:ea typeface="宋体" panose="02010600030101010101" pitchFamily="2" charset="-122"/>
              </a:rPr>
              <a:t>12.7   </a:t>
            </a:r>
            <a:r>
              <a:rPr lang="zh-CN" altLang="en-US" b="1" dirty="0">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24</a:t>
            </a:fld>
            <a:endParaRPr lang="en-US" altLang="zh-CN"/>
          </a:p>
        </p:txBody>
      </p:sp>
    </p:spTree>
    <p:extLst>
      <p:ext uri="{BB962C8B-B14F-4D97-AF65-F5344CB8AC3E}">
        <p14:creationId xmlns:p14="http://schemas.microsoft.com/office/powerpoint/2010/main" val="896154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en-US" altLang="zh-CN" dirty="0">
                <a:ea typeface="宋体" panose="02010600030101010101" pitchFamily="2" charset="-122"/>
              </a:rPr>
              <a:t>12.1  </a:t>
            </a:r>
            <a:r>
              <a:rPr lang="zh-CN" altLang="en-US" dirty="0">
                <a:ea typeface="宋体" panose="02010600030101010101" pitchFamily="2" charset="-122"/>
              </a:rPr>
              <a:t>并发控制概述</a:t>
            </a:r>
          </a:p>
        </p:txBody>
      </p:sp>
      <p:sp>
        <p:nvSpPr>
          <p:cNvPr id="340995" name="Rectangle 3"/>
          <p:cNvSpPr>
            <a:spLocks noGrp="1" noChangeArrowheads="1"/>
          </p:cNvSpPr>
          <p:nvPr>
            <p:ph type="body" idx="1"/>
          </p:nvPr>
        </p:nvSpPr>
        <p:spPr/>
        <p:txBody>
          <a:bodyPr/>
          <a:lstStyle/>
          <a:p>
            <a:pPr algn="just">
              <a:lnSpc>
                <a:spcPct val="160000"/>
              </a:lnSpc>
            </a:pPr>
            <a:r>
              <a:rPr lang="zh-CN" altLang="en-US">
                <a:ea typeface="宋体" panose="02010600030101010101" pitchFamily="2" charset="-122"/>
              </a:rPr>
              <a:t>并发控制机制的任务</a:t>
            </a:r>
          </a:p>
          <a:p>
            <a:pPr lvl="1" algn="just">
              <a:lnSpc>
                <a:spcPct val="160000"/>
              </a:lnSpc>
            </a:pPr>
            <a:r>
              <a:rPr lang="zh-CN" altLang="en-US">
                <a:ea typeface="宋体" panose="02010600030101010101" pitchFamily="2" charset="-122"/>
              </a:rPr>
              <a:t>对并发操作进行正确调度</a:t>
            </a:r>
          </a:p>
          <a:p>
            <a:pPr lvl="1" algn="just">
              <a:lnSpc>
                <a:spcPct val="160000"/>
              </a:lnSpc>
            </a:pPr>
            <a:r>
              <a:rPr lang="zh-CN" altLang="en-US">
                <a:ea typeface="宋体" panose="02010600030101010101" pitchFamily="2" charset="-122"/>
              </a:rPr>
              <a:t>保证事务的隔离性</a:t>
            </a:r>
          </a:p>
          <a:p>
            <a:pPr lvl="1" algn="just">
              <a:lnSpc>
                <a:spcPct val="160000"/>
              </a:lnSpc>
            </a:pPr>
            <a:r>
              <a:rPr lang="zh-CN" altLang="en-US">
                <a:ea typeface="宋体" panose="02010600030101010101" pitchFamily="2" charset="-122"/>
              </a:rPr>
              <a:t>保证数据库的一致性</a:t>
            </a:r>
          </a:p>
          <a:p>
            <a:pPr algn="just"/>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25</a:t>
            </a:fld>
            <a:endParaRPr lang="en-US" altLang="zh-CN"/>
          </a:p>
        </p:txBody>
      </p:sp>
    </p:spTree>
    <p:extLst>
      <p:ext uri="{BB962C8B-B14F-4D97-AF65-F5344CB8AC3E}">
        <p14:creationId xmlns:p14="http://schemas.microsoft.com/office/powerpoint/2010/main" val="1510013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a:xfrm>
            <a:off x="1143000" y="5105400"/>
            <a:ext cx="7772400" cy="1143000"/>
          </a:xfrm>
        </p:spPr>
        <p:txBody>
          <a:bodyPr/>
          <a:lstStyle/>
          <a:p>
            <a:r>
              <a:rPr lang="en-US" altLang="zh-CN" sz="2400">
                <a:ea typeface="宋体" panose="02010600030101010101" pitchFamily="2" charset="-122"/>
              </a:rPr>
              <a:t>T1</a:t>
            </a:r>
            <a:r>
              <a:rPr lang="zh-CN" altLang="en-US" sz="2400">
                <a:ea typeface="宋体" panose="02010600030101010101" pitchFamily="2" charset="-122"/>
              </a:rPr>
              <a:t>的修改被</a:t>
            </a:r>
            <a:r>
              <a:rPr lang="en-US" altLang="zh-CN" sz="2400">
                <a:ea typeface="宋体" panose="02010600030101010101" pitchFamily="2" charset="-122"/>
              </a:rPr>
              <a:t>T2</a:t>
            </a:r>
            <a:r>
              <a:rPr lang="zh-CN" altLang="en-US" sz="2400">
                <a:ea typeface="宋体" panose="02010600030101010101" pitchFamily="2" charset="-122"/>
              </a:rPr>
              <a:t>覆盖了！</a:t>
            </a:r>
            <a:endParaRPr lang="zh-CN" altLang="en-US">
              <a:ea typeface="宋体" panose="02010600030101010101" pitchFamily="2" charset="-122"/>
            </a:endParaRPr>
          </a:p>
        </p:txBody>
      </p:sp>
      <p:sp>
        <p:nvSpPr>
          <p:cNvPr id="342030" name="Rectangle 14"/>
          <p:cNvSpPr>
            <a:spLocks noChangeArrowheads="1"/>
          </p:cNvSpPr>
          <p:nvPr/>
        </p:nvSpPr>
        <p:spPr bwMode="auto">
          <a:xfrm>
            <a:off x="1859756" y="476672"/>
            <a:ext cx="5486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r>
              <a:rPr lang="zh-CN" altLang="en-US" sz="3600" dirty="0">
                <a:solidFill>
                  <a:schemeClr val="bg1"/>
                </a:solidFill>
                <a:latin typeface="宋体" panose="02010600030101010101" pitchFamily="2" charset="-122"/>
              </a:rPr>
              <a:t>并发控制概述（续）</a:t>
            </a:r>
          </a:p>
        </p:txBody>
      </p:sp>
      <p:sp>
        <p:nvSpPr>
          <p:cNvPr id="342032" name="Rectangle 16"/>
          <p:cNvSpPr>
            <a:spLocks noGrp="1" noChangeArrowheads="1"/>
          </p:cNvSpPr>
          <p:nvPr>
            <p:ph type="body" idx="1"/>
          </p:nvPr>
        </p:nvSpPr>
        <p:spPr>
          <a:xfrm>
            <a:off x="457200" y="1628775"/>
            <a:ext cx="8291513" cy="4824413"/>
          </a:xfrm>
        </p:spPr>
        <p:txBody>
          <a:bodyPr/>
          <a:lstStyle/>
          <a:p>
            <a:pPr>
              <a:lnSpc>
                <a:spcPct val="150000"/>
              </a:lnSpc>
              <a:spcBef>
                <a:spcPct val="0"/>
              </a:spcBef>
              <a:buClrTx/>
              <a:buFontTx/>
              <a:buNone/>
            </a:pPr>
            <a:r>
              <a:rPr kumimoji="1" lang="zh-CN" altLang="en-US" sz="2400" b="1">
                <a:ea typeface="宋体" panose="02010600030101010101" pitchFamily="2" charset="-122"/>
              </a:rPr>
              <a:t>并发操作带来数据的不一致性实例</a:t>
            </a:r>
          </a:p>
          <a:p>
            <a:pPr>
              <a:lnSpc>
                <a:spcPct val="150000"/>
              </a:lnSpc>
              <a:spcBef>
                <a:spcPct val="0"/>
              </a:spcBef>
              <a:buClrTx/>
              <a:buFontTx/>
              <a:buNone/>
            </a:pPr>
            <a:r>
              <a:rPr kumimoji="1" lang="en-US" altLang="zh-CN" sz="2200">
                <a:ea typeface="宋体" panose="02010600030101010101" pitchFamily="2" charset="-122"/>
              </a:rPr>
              <a:t>[</a:t>
            </a:r>
            <a:r>
              <a:rPr kumimoji="1" lang="zh-CN" altLang="en-US" sz="2200">
                <a:ea typeface="宋体" panose="02010600030101010101" pitchFamily="2" charset="-122"/>
              </a:rPr>
              <a:t>例</a:t>
            </a:r>
            <a:r>
              <a:rPr kumimoji="1" lang="en-US" altLang="zh-CN" sz="2200">
                <a:ea typeface="宋体" panose="02010600030101010101" pitchFamily="2" charset="-122"/>
              </a:rPr>
              <a:t>1]</a:t>
            </a:r>
            <a:r>
              <a:rPr kumimoji="1" lang="zh-CN" altLang="en-US" sz="2200">
                <a:ea typeface="宋体" panose="02010600030101010101" pitchFamily="2" charset="-122"/>
              </a:rPr>
              <a:t>飞机订票系统中的一个活动序列 </a:t>
            </a:r>
          </a:p>
          <a:p>
            <a:pPr lvl="1">
              <a:lnSpc>
                <a:spcPct val="150000"/>
              </a:lnSpc>
              <a:buFont typeface="Wingdings" panose="05000000000000000000" pitchFamily="2" charset="2"/>
              <a:buNone/>
            </a:pPr>
            <a:r>
              <a:rPr kumimoji="1" lang="zh-CN" altLang="en-US" sz="2000">
                <a:ea typeface="宋体" panose="02010600030101010101" pitchFamily="2" charset="-122"/>
              </a:rPr>
              <a:t>① 甲售票点</a:t>
            </a:r>
            <a:r>
              <a:rPr kumimoji="1" lang="en-US" altLang="zh-CN" sz="2000">
                <a:ea typeface="宋体" panose="02010600030101010101" pitchFamily="2" charset="-122"/>
              </a:rPr>
              <a:t>(</a:t>
            </a:r>
            <a:r>
              <a:rPr kumimoji="1" lang="zh-CN" altLang="en-US" sz="2000">
                <a:ea typeface="宋体" panose="02010600030101010101" pitchFamily="2" charset="-122"/>
              </a:rPr>
              <a:t>甲事务</a:t>
            </a:r>
            <a:r>
              <a:rPr kumimoji="1" lang="en-US" altLang="zh-CN" sz="2000">
                <a:ea typeface="宋体" panose="02010600030101010101" pitchFamily="2" charset="-122"/>
              </a:rPr>
              <a:t>)</a:t>
            </a:r>
            <a:r>
              <a:rPr kumimoji="1" lang="zh-CN" altLang="en-US" sz="2000">
                <a:ea typeface="宋体" panose="02010600030101010101" pitchFamily="2" charset="-122"/>
              </a:rPr>
              <a:t>读出某航班的机票余额</a:t>
            </a:r>
            <a:r>
              <a:rPr kumimoji="1" lang="en-US" altLang="zh-CN" sz="2000">
                <a:ea typeface="宋体" panose="02010600030101010101" pitchFamily="2" charset="-122"/>
              </a:rPr>
              <a:t>A</a:t>
            </a:r>
            <a:r>
              <a:rPr kumimoji="1" lang="zh-CN" altLang="en-US" sz="2000">
                <a:ea typeface="宋体" panose="02010600030101010101" pitchFamily="2" charset="-122"/>
              </a:rPr>
              <a:t>，设</a:t>
            </a:r>
            <a:r>
              <a:rPr kumimoji="1" lang="en-US" altLang="zh-CN" sz="2000">
                <a:ea typeface="宋体" panose="02010600030101010101" pitchFamily="2" charset="-122"/>
              </a:rPr>
              <a:t>A=16</a:t>
            </a:r>
            <a:r>
              <a:rPr kumimoji="1" lang="zh-CN" altLang="en-US" sz="2000">
                <a:ea typeface="宋体" panose="02010600030101010101" pitchFamily="2" charset="-122"/>
              </a:rPr>
              <a:t>；</a:t>
            </a:r>
          </a:p>
          <a:p>
            <a:pPr lvl="1">
              <a:lnSpc>
                <a:spcPct val="150000"/>
              </a:lnSpc>
              <a:buFont typeface="Wingdings" panose="05000000000000000000" pitchFamily="2" charset="2"/>
              <a:buNone/>
            </a:pPr>
            <a:r>
              <a:rPr kumimoji="1" lang="zh-CN" altLang="en-US" sz="2000">
                <a:ea typeface="宋体" panose="02010600030101010101" pitchFamily="2" charset="-122"/>
              </a:rPr>
              <a:t>② 乙售票点</a:t>
            </a:r>
            <a:r>
              <a:rPr kumimoji="1" lang="en-US" altLang="zh-CN" sz="2000">
                <a:ea typeface="宋体" panose="02010600030101010101" pitchFamily="2" charset="-122"/>
              </a:rPr>
              <a:t>(</a:t>
            </a:r>
            <a:r>
              <a:rPr kumimoji="1" lang="zh-CN" altLang="en-US" sz="2000">
                <a:ea typeface="宋体" panose="02010600030101010101" pitchFamily="2" charset="-122"/>
              </a:rPr>
              <a:t>乙事务</a:t>
            </a:r>
            <a:r>
              <a:rPr kumimoji="1" lang="en-US" altLang="zh-CN" sz="2000">
                <a:ea typeface="宋体" panose="02010600030101010101" pitchFamily="2" charset="-122"/>
              </a:rPr>
              <a:t>)</a:t>
            </a:r>
            <a:r>
              <a:rPr kumimoji="1" lang="zh-CN" altLang="en-US" sz="2000">
                <a:ea typeface="宋体" panose="02010600030101010101" pitchFamily="2" charset="-122"/>
              </a:rPr>
              <a:t>读出同一航班的机票余额</a:t>
            </a:r>
            <a:r>
              <a:rPr kumimoji="1" lang="en-US" altLang="zh-CN" sz="2000">
                <a:ea typeface="宋体" panose="02010600030101010101" pitchFamily="2" charset="-122"/>
              </a:rPr>
              <a:t>A</a:t>
            </a:r>
            <a:r>
              <a:rPr kumimoji="1" lang="zh-CN" altLang="en-US" sz="2000">
                <a:ea typeface="宋体" panose="02010600030101010101" pitchFamily="2" charset="-122"/>
              </a:rPr>
              <a:t>，也为</a:t>
            </a:r>
            <a:r>
              <a:rPr kumimoji="1" lang="en-US" altLang="zh-CN" sz="2000">
                <a:ea typeface="宋体" panose="02010600030101010101" pitchFamily="2" charset="-122"/>
              </a:rPr>
              <a:t>16</a:t>
            </a:r>
            <a:r>
              <a:rPr kumimoji="1" lang="zh-CN" altLang="en-US" sz="2000">
                <a:ea typeface="宋体" panose="02010600030101010101" pitchFamily="2" charset="-122"/>
              </a:rPr>
              <a:t>；</a:t>
            </a:r>
          </a:p>
          <a:p>
            <a:pPr lvl="1">
              <a:lnSpc>
                <a:spcPct val="150000"/>
              </a:lnSpc>
              <a:buFont typeface="Wingdings" panose="05000000000000000000" pitchFamily="2" charset="2"/>
              <a:buNone/>
            </a:pPr>
            <a:r>
              <a:rPr kumimoji="1" lang="zh-CN" altLang="en-US" sz="2000">
                <a:ea typeface="宋体" panose="02010600030101010101" pitchFamily="2" charset="-122"/>
              </a:rPr>
              <a:t>③ 甲售票点卖出一张机票，修改余额</a:t>
            </a:r>
            <a:r>
              <a:rPr kumimoji="1" lang="en-US" altLang="zh-CN" sz="2000">
                <a:ea typeface="宋体" panose="02010600030101010101" pitchFamily="2" charset="-122"/>
              </a:rPr>
              <a:t>A←A-1</a:t>
            </a:r>
            <a:r>
              <a:rPr kumimoji="1" lang="zh-CN" altLang="en-US" sz="2000">
                <a:ea typeface="宋体" panose="02010600030101010101" pitchFamily="2" charset="-122"/>
              </a:rPr>
              <a:t>，所以</a:t>
            </a:r>
            <a:r>
              <a:rPr kumimoji="1" lang="en-US" altLang="zh-CN" sz="2000">
                <a:ea typeface="宋体" panose="02010600030101010101" pitchFamily="2" charset="-122"/>
              </a:rPr>
              <a:t>A</a:t>
            </a:r>
            <a:r>
              <a:rPr kumimoji="1" lang="zh-CN" altLang="en-US" sz="2000">
                <a:ea typeface="宋体" panose="02010600030101010101" pitchFamily="2" charset="-122"/>
              </a:rPr>
              <a:t>为</a:t>
            </a:r>
            <a:r>
              <a:rPr kumimoji="1" lang="en-US" altLang="zh-CN" sz="2000">
                <a:ea typeface="宋体" panose="02010600030101010101" pitchFamily="2" charset="-122"/>
              </a:rPr>
              <a:t>15</a:t>
            </a:r>
            <a:r>
              <a:rPr kumimoji="1" lang="zh-CN" altLang="en-US" sz="2000">
                <a:ea typeface="宋体" panose="02010600030101010101" pitchFamily="2" charset="-122"/>
              </a:rPr>
              <a:t>，把</a:t>
            </a:r>
            <a:r>
              <a:rPr kumimoji="1" lang="en-US" altLang="zh-CN" sz="2000">
                <a:ea typeface="宋体" panose="02010600030101010101" pitchFamily="2" charset="-122"/>
              </a:rPr>
              <a:t>A</a:t>
            </a:r>
            <a:r>
              <a:rPr kumimoji="1" lang="zh-CN" altLang="en-US" sz="2000">
                <a:ea typeface="宋体" panose="02010600030101010101" pitchFamily="2" charset="-122"/>
              </a:rPr>
              <a:t>写回数据库；</a:t>
            </a:r>
          </a:p>
          <a:p>
            <a:pPr lvl="1">
              <a:lnSpc>
                <a:spcPct val="150000"/>
              </a:lnSpc>
              <a:buFont typeface="Wingdings" panose="05000000000000000000" pitchFamily="2" charset="2"/>
              <a:buNone/>
            </a:pPr>
            <a:r>
              <a:rPr kumimoji="1" lang="zh-CN" altLang="en-US" sz="2000">
                <a:ea typeface="宋体" panose="02010600030101010101" pitchFamily="2" charset="-122"/>
              </a:rPr>
              <a:t>④ 乙售票点也卖出一张机票，修改余额</a:t>
            </a:r>
            <a:r>
              <a:rPr kumimoji="1" lang="en-US" altLang="zh-CN" sz="2000">
                <a:ea typeface="宋体" panose="02010600030101010101" pitchFamily="2" charset="-122"/>
              </a:rPr>
              <a:t>A←A-1</a:t>
            </a:r>
            <a:r>
              <a:rPr kumimoji="1" lang="zh-CN" altLang="en-US" sz="2000">
                <a:ea typeface="宋体" panose="02010600030101010101" pitchFamily="2" charset="-122"/>
              </a:rPr>
              <a:t>，所以</a:t>
            </a:r>
            <a:r>
              <a:rPr kumimoji="1" lang="en-US" altLang="zh-CN" sz="2000">
                <a:ea typeface="宋体" panose="02010600030101010101" pitchFamily="2" charset="-122"/>
              </a:rPr>
              <a:t>A</a:t>
            </a:r>
            <a:r>
              <a:rPr kumimoji="1" lang="zh-CN" altLang="en-US" sz="2000">
                <a:ea typeface="宋体" panose="02010600030101010101" pitchFamily="2" charset="-122"/>
              </a:rPr>
              <a:t>为</a:t>
            </a:r>
            <a:r>
              <a:rPr kumimoji="1" lang="en-US" altLang="zh-CN" sz="2000">
                <a:ea typeface="宋体" panose="02010600030101010101" pitchFamily="2" charset="-122"/>
              </a:rPr>
              <a:t>15</a:t>
            </a:r>
            <a:r>
              <a:rPr kumimoji="1" lang="zh-CN" altLang="en-US" sz="2000">
                <a:ea typeface="宋体" panose="02010600030101010101" pitchFamily="2" charset="-122"/>
              </a:rPr>
              <a:t>，把</a:t>
            </a:r>
            <a:r>
              <a:rPr kumimoji="1" lang="en-US" altLang="zh-CN" sz="2000">
                <a:ea typeface="宋体" panose="02010600030101010101" pitchFamily="2" charset="-122"/>
              </a:rPr>
              <a:t>A</a:t>
            </a:r>
            <a:r>
              <a:rPr kumimoji="1" lang="zh-CN" altLang="en-US" sz="2000">
                <a:ea typeface="宋体" panose="02010600030101010101" pitchFamily="2" charset="-122"/>
              </a:rPr>
              <a:t>写回数据库 </a:t>
            </a:r>
          </a:p>
          <a:p>
            <a:pPr lvl="1">
              <a:lnSpc>
                <a:spcPct val="150000"/>
              </a:lnSpc>
              <a:buFont typeface="Wingdings" panose="05000000000000000000" pitchFamily="2" charset="2"/>
              <a:buChar char="n"/>
            </a:pPr>
            <a:r>
              <a:rPr kumimoji="1" lang="zh-CN" altLang="en-US" sz="2000">
                <a:ea typeface="宋体" panose="02010600030101010101" pitchFamily="2" charset="-122"/>
              </a:rPr>
              <a:t>结果明明卖出两张机票，数据库中机票余额只减少</a:t>
            </a:r>
            <a:r>
              <a:rPr kumimoji="1" lang="en-US" altLang="zh-CN" sz="2000">
                <a:ea typeface="宋体" panose="02010600030101010101" pitchFamily="2" charset="-122"/>
              </a:rPr>
              <a:t>1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26</a:t>
            </a:fld>
            <a:endParaRPr lang="en-US" altLang="zh-CN"/>
          </a:p>
        </p:txBody>
      </p:sp>
    </p:spTree>
    <p:extLst>
      <p:ext uri="{BB962C8B-B14F-4D97-AF65-F5344CB8AC3E}">
        <p14:creationId xmlns:p14="http://schemas.microsoft.com/office/powerpoint/2010/main" val="3159964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r>
              <a:rPr lang="zh-CN" altLang="en-US">
                <a:ea typeface="宋体" panose="02010600030101010101" pitchFamily="2" charset="-122"/>
              </a:rPr>
              <a:t>并发控制概述（续）</a:t>
            </a:r>
          </a:p>
        </p:txBody>
      </p:sp>
      <p:sp>
        <p:nvSpPr>
          <p:cNvPr id="468995" name="Rectangle 3"/>
          <p:cNvSpPr>
            <a:spLocks noGrp="1" noChangeArrowheads="1"/>
          </p:cNvSpPr>
          <p:nvPr>
            <p:ph type="body" idx="1"/>
          </p:nvPr>
        </p:nvSpPr>
        <p:spPr/>
        <p:txBody>
          <a:bodyPr/>
          <a:lstStyle/>
          <a:p>
            <a:pPr>
              <a:lnSpc>
                <a:spcPct val="200000"/>
              </a:lnSpc>
            </a:pPr>
            <a:r>
              <a:rPr lang="zh-CN" altLang="en-US" sz="2200">
                <a:ea typeface="宋体" panose="02010600030101010101" pitchFamily="2" charset="-122"/>
              </a:rPr>
              <a:t>这种情况称为数据库的不一致性，是由并发操作引起的。</a:t>
            </a:r>
          </a:p>
          <a:p>
            <a:pPr>
              <a:lnSpc>
                <a:spcPct val="200000"/>
              </a:lnSpc>
            </a:pPr>
            <a:r>
              <a:rPr lang="zh-CN" altLang="en-US" sz="2200">
                <a:ea typeface="宋体" panose="02010600030101010101" pitchFamily="2" charset="-122"/>
              </a:rPr>
              <a:t>在并发操作情况下，对甲、乙两个事务的操作序列的调度是随机的。</a:t>
            </a:r>
          </a:p>
          <a:p>
            <a:pPr>
              <a:lnSpc>
                <a:spcPct val="200000"/>
              </a:lnSpc>
            </a:pPr>
            <a:r>
              <a:rPr lang="zh-CN" altLang="en-US" sz="2200">
                <a:ea typeface="宋体" panose="02010600030101010101" pitchFamily="2" charset="-122"/>
              </a:rPr>
              <a:t>若按上面的调度序列执行，甲事务的修改就被丢失。</a:t>
            </a:r>
          </a:p>
          <a:p>
            <a:pPr lvl="1">
              <a:lnSpc>
                <a:spcPct val="200000"/>
              </a:lnSpc>
            </a:pPr>
            <a:r>
              <a:rPr lang="zh-CN" altLang="en-US" sz="2200">
                <a:ea typeface="宋体" panose="02010600030101010101" pitchFamily="2" charset="-122"/>
              </a:rPr>
              <a:t>原因：第</a:t>
            </a:r>
            <a:r>
              <a:rPr lang="en-US" altLang="zh-CN" sz="2200">
                <a:ea typeface="宋体" panose="02010600030101010101" pitchFamily="2" charset="-122"/>
              </a:rPr>
              <a:t>4</a:t>
            </a:r>
            <a:r>
              <a:rPr lang="zh-CN" altLang="en-US" sz="2200">
                <a:ea typeface="宋体" panose="02010600030101010101" pitchFamily="2" charset="-122"/>
              </a:rPr>
              <a:t>步中乙事务修改</a:t>
            </a:r>
            <a:r>
              <a:rPr lang="en-US" altLang="zh-CN" sz="2200">
                <a:ea typeface="宋体" panose="02010600030101010101" pitchFamily="2" charset="-122"/>
              </a:rPr>
              <a:t>A</a:t>
            </a:r>
            <a:r>
              <a:rPr lang="zh-CN" altLang="en-US" sz="2200">
                <a:ea typeface="宋体" panose="02010600030101010101" pitchFamily="2" charset="-122"/>
              </a:rPr>
              <a:t>并写回后覆盖了甲事务的修改</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27</a:t>
            </a:fld>
            <a:endParaRPr lang="en-US" altLang="zh-CN"/>
          </a:p>
        </p:txBody>
      </p:sp>
    </p:spTree>
    <p:extLst>
      <p:ext uri="{BB962C8B-B14F-4D97-AF65-F5344CB8AC3E}">
        <p14:creationId xmlns:p14="http://schemas.microsoft.com/office/powerpoint/2010/main" val="3959340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zh-CN" altLang="en-US">
                <a:ea typeface="宋体" panose="02010600030101010101" pitchFamily="2" charset="-122"/>
              </a:rPr>
              <a:t>并发控制概述（续）</a:t>
            </a:r>
          </a:p>
        </p:txBody>
      </p:sp>
      <p:sp>
        <p:nvSpPr>
          <p:cNvPr id="343043" name="Rectangle 3"/>
          <p:cNvSpPr>
            <a:spLocks noGrp="1" noChangeArrowheads="1"/>
          </p:cNvSpPr>
          <p:nvPr>
            <p:ph type="body" idx="1"/>
          </p:nvPr>
        </p:nvSpPr>
        <p:spPr/>
        <p:txBody>
          <a:bodyPr/>
          <a:lstStyle/>
          <a:p>
            <a:pPr algn="just">
              <a:lnSpc>
                <a:spcPct val="150000"/>
              </a:lnSpc>
            </a:pPr>
            <a:r>
              <a:rPr lang="zh-CN" altLang="en-US" sz="2600">
                <a:ea typeface="宋体" panose="02010600030101010101" pitchFamily="2" charset="-122"/>
              </a:rPr>
              <a:t>并发操作带来的数据不一致性</a:t>
            </a:r>
          </a:p>
          <a:p>
            <a:pPr lvl="1" algn="just">
              <a:lnSpc>
                <a:spcPct val="150000"/>
              </a:lnSpc>
            </a:pPr>
            <a:r>
              <a:rPr lang="zh-CN" altLang="en-US" sz="2200">
                <a:ea typeface="宋体" panose="02010600030101010101" pitchFamily="2" charset="-122"/>
              </a:rPr>
              <a:t>丢失修改（</a:t>
            </a:r>
            <a:r>
              <a:rPr lang="en-US" altLang="zh-CN" sz="2200">
                <a:ea typeface="宋体" panose="02010600030101010101" pitchFamily="2" charset="-122"/>
              </a:rPr>
              <a:t>Lost Update</a:t>
            </a:r>
            <a:r>
              <a:rPr lang="zh-CN" altLang="en-US" sz="2200">
                <a:ea typeface="宋体" panose="02010600030101010101" pitchFamily="2" charset="-122"/>
              </a:rPr>
              <a:t>）</a:t>
            </a:r>
          </a:p>
          <a:p>
            <a:pPr lvl="1" algn="just">
              <a:lnSpc>
                <a:spcPct val="150000"/>
              </a:lnSpc>
            </a:pPr>
            <a:r>
              <a:rPr lang="zh-CN" altLang="en-US" sz="2200">
                <a:ea typeface="宋体" panose="02010600030101010101" pitchFamily="2" charset="-122"/>
              </a:rPr>
              <a:t>不可重复读（</a:t>
            </a:r>
            <a:r>
              <a:rPr lang="en-US" altLang="zh-CN" sz="2200">
                <a:ea typeface="宋体" panose="02010600030101010101" pitchFamily="2" charset="-122"/>
              </a:rPr>
              <a:t>Non-repeatable Read</a:t>
            </a:r>
            <a:r>
              <a:rPr lang="zh-CN" altLang="en-US" sz="2200">
                <a:ea typeface="宋体" panose="02010600030101010101" pitchFamily="2" charset="-122"/>
              </a:rPr>
              <a:t>）</a:t>
            </a:r>
          </a:p>
          <a:p>
            <a:pPr lvl="1" algn="just">
              <a:lnSpc>
                <a:spcPct val="150000"/>
              </a:lnSpc>
            </a:pPr>
            <a:r>
              <a:rPr lang="zh-CN" altLang="en-US" sz="2200">
                <a:ea typeface="宋体" panose="02010600030101010101" pitchFamily="2" charset="-122"/>
              </a:rPr>
              <a:t>读“脏”数据（</a:t>
            </a:r>
            <a:r>
              <a:rPr lang="en-US" altLang="zh-CN" sz="2200">
                <a:ea typeface="宋体" panose="02010600030101010101" pitchFamily="2" charset="-122"/>
              </a:rPr>
              <a:t>Dirty Read</a:t>
            </a:r>
            <a:r>
              <a:rPr lang="zh-CN" altLang="en-US" sz="2200">
                <a:ea typeface="宋体" panose="02010600030101010101" pitchFamily="2" charset="-122"/>
              </a:rPr>
              <a:t>）</a:t>
            </a:r>
          </a:p>
          <a:p>
            <a:pPr algn="just">
              <a:lnSpc>
                <a:spcPct val="150000"/>
              </a:lnSpc>
            </a:pPr>
            <a:r>
              <a:rPr lang="zh-CN" altLang="en-US" sz="2600">
                <a:ea typeface="宋体" panose="02010600030101010101" pitchFamily="2" charset="-122"/>
              </a:rPr>
              <a:t>记号</a:t>
            </a:r>
          </a:p>
          <a:p>
            <a:pPr lvl="1" algn="just">
              <a:lnSpc>
                <a:spcPct val="150000"/>
              </a:lnSpc>
            </a:pPr>
            <a:r>
              <a:rPr lang="en-US" altLang="zh-CN" sz="2200">
                <a:ea typeface="宋体" panose="02010600030101010101" pitchFamily="2" charset="-122"/>
              </a:rPr>
              <a:t>R(x):</a:t>
            </a:r>
            <a:r>
              <a:rPr lang="zh-CN" altLang="en-US" sz="2200">
                <a:ea typeface="宋体" panose="02010600030101010101" pitchFamily="2" charset="-122"/>
              </a:rPr>
              <a:t>读数据</a:t>
            </a:r>
            <a:r>
              <a:rPr lang="en-US" altLang="zh-CN" sz="2200">
                <a:ea typeface="宋体" panose="02010600030101010101" pitchFamily="2" charset="-122"/>
              </a:rPr>
              <a:t>x</a:t>
            </a:r>
          </a:p>
          <a:p>
            <a:pPr lvl="1" algn="just">
              <a:lnSpc>
                <a:spcPct val="150000"/>
              </a:lnSpc>
            </a:pPr>
            <a:r>
              <a:rPr lang="en-US" altLang="zh-CN" sz="2200">
                <a:ea typeface="宋体" panose="02010600030101010101" pitchFamily="2" charset="-122"/>
              </a:rPr>
              <a:t>W(x):</a:t>
            </a:r>
            <a:r>
              <a:rPr lang="zh-CN" altLang="en-US" sz="2200">
                <a:ea typeface="宋体" panose="02010600030101010101" pitchFamily="2" charset="-122"/>
              </a:rPr>
              <a:t>写数据</a:t>
            </a:r>
            <a:r>
              <a:rPr lang="en-US" altLang="zh-CN" sz="2200">
                <a:ea typeface="宋体" panose="02010600030101010101" pitchFamily="2" charset="-122"/>
              </a:rPr>
              <a:t>x</a:t>
            </a:r>
            <a:r>
              <a:rPr lang="en-US" altLang="zh-CN">
                <a:ea typeface="宋体" panose="02010600030101010101" pitchFamily="2" charset="-122"/>
              </a:rPr>
              <a:t>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28</a:t>
            </a:fld>
            <a:endParaRPr lang="en-US" altLang="zh-CN"/>
          </a:p>
        </p:txBody>
      </p:sp>
    </p:spTree>
    <p:extLst>
      <p:ext uri="{BB962C8B-B14F-4D97-AF65-F5344CB8AC3E}">
        <p14:creationId xmlns:p14="http://schemas.microsoft.com/office/powerpoint/2010/main" val="3518853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r>
              <a:rPr lang="en-US" altLang="zh-CN">
                <a:ea typeface="宋体" panose="02010600030101010101" pitchFamily="2" charset="-122"/>
              </a:rPr>
              <a:t>1. </a:t>
            </a:r>
            <a:r>
              <a:rPr lang="zh-CN" altLang="en-US">
                <a:ea typeface="宋体" panose="02010600030101010101" pitchFamily="2" charset="-122"/>
              </a:rPr>
              <a:t>丢失修改</a:t>
            </a:r>
          </a:p>
        </p:txBody>
      </p:sp>
      <p:sp>
        <p:nvSpPr>
          <p:cNvPr id="344067" name="Rectangle 3"/>
          <p:cNvSpPr>
            <a:spLocks noGrp="1" noChangeArrowheads="1"/>
          </p:cNvSpPr>
          <p:nvPr>
            <p:ph type="body" idx="1"/>
          </p:nvPr>
        </p:nvSpPr>
        <p:spPr/>
        <p:txBody>
          <a:bodyPr/>
          <a:lstStyle/>
          <a:p>
            <a:pPr algn="just">
              <a:lnSpc>
                <a:spcPct val="130000"/>
              </a:lnSpc>
            </a:pPr>
            <a:r>
              <a:rPr lang="zh-CN" altLang="en-US">
                <a:ea typeface="宋体" panose="02010600030101010101" pitchFamily="2" charset="-122"/>
              </a:rPr>
              <a:t>两个事务</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和</a:t>
            </a:r>
            <a:r>
              <a:rPr lang="en-US" altLang="zh-CN">
                <a:ea typeface="宋体" panose="02010600030101010101" pitchFamily="2" charset="-122"/>
              </a:rPr>
              <a:t>T</a:t>
            </a:r>
            <a:r>
              <a:rPr lang="en-US" altLang="zh-CN" baseline="-25000">
                <a:ea typeface="宋体" panose="02010600030101010101" pitchFamily="2" charset="-122"/>
              </a:rPr>
              <a:t>2</a:t>
            </a:r>
            <a:r>
              <a:rPr lang="zh-CN" altLang="en-US">
                <a:ea typeface="宋体" panose="02010600030101010101" pitchFamily="2" charset="-122"/>
              </a:rPr>
              <a:t>读入同一数据并修改，</a:t>
            </a:r>
            <a:r>
              <a:rPr lang="en-US" altLang="zh-CN">
                <a:ea typeface="宋体" panose="02010600030101010101" pitchFamily="2" charset="-122"/>
              </a:rPr>
              <a:t>T</a:t>
            </a:r>
            <a:r>
              <a:rPr lang="en-US" altLang="zh-CN" baseline="-25000">
                <a:ea typeface="宋体" panose="02010600030101010101" pitchFamily="2" charset="-122"/>
              </a:rPr>
              <a:t>2</a:t>
            </a:r>
            <a:r>
              <a:rPr lang="zh-CN" altLang="en-US">
                <a:ea typeface="宋体" panose="02010600030101010101" pitchFamily="2" charset="-122"/>
              </a:rPr>
              <a:t>的提交结果破坏了</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提交的结果，导致</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的修改被丢失。</a:t>
            </a:r>
          </a:p>
          <a:p>
            <a:pPr algn="just">
              <a:lnSpc>
                <a:spcPct val="130000"/>
              </a:lnSpc>
            </a:pPr>
            <a:r>
              <a:rPr lang="zh-CN" altLang="en-US">
                <a:ea typeface="宋体" panose="02010600030101010101" pitchFamily="2" charset="-122"/>
              </a:rPr>
              <a:t>上面飞机订票例子就属此类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29</a:t>
            </a:fld>
            <a:endParaRPr lang="en-US" altLang="zh-CN"/>
          </a:p>
        </p:txBody>
      </p:sp>
    </p:spTree>
    <p:extLst>
      <p:ext uri="{BB962C8B-B14F-4D97-AF65-F5344CB8AC3E}">
        <p14:creationId xmlns:p14="http://schemas.microsoft.com/office/powerpoint/2010/main" val="3794175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a:lstStyle/>
          <a:p>
            <a:r>
              <a:rPr lang="zh-CN" altLang="en-US">
                <a:ea typeface="宋体" panose="02010600030101010101" pitchFamily="2" charset="-122"/>
              </a:rPr>
              <a:t>丢失修改（续）</a:t>
            </a:r>
          </a:p>
        </p:txBody>
      </p:sp>
      <p:graphicFrame>
        <p:nvGraphicFramePr>
          <p:cNvPr id="472248" name="Group 184"/>
          <p:cNvGraphicFramePr>
            <a:graphicFrameLocks noGrp="1"/>
          </p:cNvGraphicFramePr>
          <p:nvPr>
            <p:ph idx="1"/>
            <p:extLst>
              <p:ext uri="{D42A27DB-BD31-4B8C-83A1-F6EECF244321}">
                <p14:modId xmlns:p14="http://schemas.microsoft.com/office/powerpoint/2010/main" val="2397391928"/>
              </p:ext>
            </p:extLst>
          </p:nvPr>
        </p:nvGraphicFramePr>
        <p:xfrm>
          <a:off x="1619250" y="1700213"/>
          <a:ext cx="5473700" cy="4358640"/>
        </p:xfrm>
        <a:graphic>
          <a:graphicData uri="http://schemas.openxmlformats.org/drawingml/2006/table">
            <a:tbl>
              <a:tblPr/>
              <a:tblGrid>
                <a:gridCol w="2627313">
                  <a:extLst>
                    <a:ext uri="{9D8B030D-6E8A-4147-A177-3AD203B41FA5}">
                      <a16:colId xmlns:a16="http://schemas.microsoft.com/office/drawing/2014/main" val="20000"/>
                    </a:ext>
                  </a:extLst>
                </a:gridCol>
                <a:gridCol w="2846387">
                  <a:extLst>
                    <a:ext uri="{9D8B030D-6E8A-4147-A177-3AD203B41FA5}">
                      <a16:colId xmlns:a16="http://schemas.microsoft.com/office/drawing/2014/main" val="20001"/>
                    </a:ext>
                  </a:extLst>
                </a:gridCol>
              </a:tblGrid>
              <a:tr h="2365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30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R(A)=16</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30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R(A)=16</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0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A←A-1</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14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14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65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A←A-1</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3063">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W(A)=15</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14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472249" name="Text Box 185"/>
          <p:cNvSpPr txBox="1">
            <a:spLocks noChangeArrowheads="1"/>
          </p:cNvSpPr>
          <p:nvPr/>
        </p:nvSpPr>
        <p:spPr bwMode="auto">
          <a:xfrm>
            <a:off x="3638550" y="6092825"/>
            <a:ext cx="10985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a:t>丢失修改</a:t>
            </a:r>
          </a:p>
        </p:txBody>
      </p:sp>
      <p:sp>
        <p:nvSpPr>
          <p:cNvPr id="2" name="动作按钮: 上一张 1">
            <a:hlinkClick r:id="" action="ppaction://hlinkshowjump?jump=lastslideviewed" highlightClick="1"/>
            <a:extLst>
              <a:ext uri="{FF2B5EF4-FFF2-40B4-BE49-F238E27FC236}">
                <a16:creationId xmlns:a16="http://schemas.microsoft.com/office/drawing/2014/main" id="{2110AD3F-B246-5EF0-6390-B2341A94D7F8}"/>
              </a:ext>
            </a:extLst>
          </p:cNvPr>
          <p:cNvSpPr/>
          <p:nvPr/>
        </p:nvSpPr>
        <p:spPr bwMode="auto">
          <a:xfrm>
            <a:off x="770384" y="6173187"/>
            <a:ext cx="288032" cy="294234"/>
          </a:xfrm>
          <a:prstGeom prst="actionButtonReturn">
            <a:avLst/>
          </a:prstGeom>
          <a:solidFill>
            <a:schemeClr val="bg1"/>
          </a:solidFill>
          <a:ln>
            <a:solidFill>
              <a:schemeClr val="tx1"/>
            </a:solidFill>
          </a:ln>
          <a:effec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solidFill>
                  <a:schemeClr val="tx1"/>
                </a:solidFill>
              </a:ln>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9202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lstStyle/>
          <a:p>
            <a:r>
              <a:rPr lang="en-US" altLang="zh-CN">
                <a:ea typeface="宋体" panose="02010600030101010101" pitchFamily="2" charset="-122"/>
              </a:rPr>
              <a:t>2. </a:t>
            </a:r>
            <a:r>
              <a:rPr lang="zh-CN" altLang="en-US">
                <a:ea typeface="宋体" panose="02010600030101010101" pitchFamily="2" charset="-122"/>
              </a:rPr>
              <a:t>不可重复读</a:t>
            </a:r>
          </a:p>
        </p:txBody>
      </p:sp>
      <p:sp>
        <p:nvSpPr>
          <p:cNvPr id="345091" name="Rectangle 3"/>
          <p:cNvSpPr>
            <a:spLocks noGrp="1" noChangeArrowheads="1"/>
          </p:cNvSpPr>
          <p:nvPr>
            <p:ph type="body" idx="1"/>
          </p:nvPr>
        </p:nvSpPr>
        <p:spPr/>
        <p:txBody>
          <a:bodyPr/>
          <a:lstStyle/>
          <a:p>
            <a:pPr algn="just">
              <a:lnSpc>
                <a:spcPct val="130000"/>
              </a:lnSpc>
            </a:pPr>
            <a:r>
              <a:rPr lang="zh-CN" altLang="en-US">
                <a:ea typeface="宋体" panose="02010600030101010101" pitchFamily="2" charset="-122"/>
              </a:rPr>
              <a:t>不可重复读是指事务</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读取数据后，事务</a:t>
            </a:r>
            <a:r>
              <a:rPr lang="en-US" altLang="zh-CN">
                <a:ea typeface="宋体" panose="02010600030101010101" pitchFamily="2" charset="-122"/>
              </a:rPr>
              <a:t>T</a:t>
            </a:r>
            <a:r>
              <a:rPr lang="en-US" altLang="zh-CN" baseline="-25000">
                <a:ea typeface="宋体" panose="02010600030101010101" pitchFamily="2" charset="-122"/>
              </a:rPr>
              <a:t>2</a:t>
            </a:r>
          </a:p>
          <a:p>
            <a:pPr algn="just">
              <a:lnSpc>
                <a:spcPct val="130000"/>
              </a:lnSpc>
              <a:buFont typeface="Wingdings" panose="05000000000000000000" pitchFamily="2" charset="2"/>
              <a:buNone/>
            </a:pPr>
            <a:r>
              <a:rPr lang="en-US" altLang="zh-CN">
                <a:ea typeface="宋体" panose="02010600030101010101" pitchFamily="2" charset="-122"/>
              </a:rPr>
              <a:t>    </a:t>
            </a:r>
            <a:r>
              <a:rPr lang="zh-CN" altLang="en-US">
                <a:ea typeface="宋体" panose="02010600030101010101" pitchFamily="2" charset="-122"/>
              </a:rPr>
              <a:t>执行更新操作，使</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无法再现前一次读取结果。</a:t>
            </a:r>
            <a:endParaRPr lang="zh-CN" altLang="en-US" sz="32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31</a:t>
            </a:fld>
            <a:endParaRPr lang="en-US" altLang="zh-CN"/>
          </a:p>
        </p:txBody>
      </p:sp>
    </p:spTree>
    <p:extLst>
      <p:ext uri="{BB962C8B-B14F-4D97-AF65-F5344CB8AC3E}">
        <p14:creationId xmlns:p14="http://schemas.microsoft.com/office/powerpoint/2010/main" val="23074881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zh-CN" altLang="en-US">
                <a:ea typeface="宋体" panose="02010600030101010101" pitchFamily="2" charset="-122"/>
              </a:rPr>
              <a:t>不可重复读（续）</a:t>
            </a:r>
          </a:p>
        </p:txBody>
      </p:sp>
      <p:sp>
        <p:nvSpPr>
          <p:cNvPr id="346115" name="Rectangle 3"/>
          <p:cNvSpPr>
            <a:spLocks noGrp="1" noChangeArrowheads="1"/>
          </p:cNvSpPr>
          <p:nvPr>
            <p:ph type="body" idx="1"/>
          </p:nvPr>
        </p:nvSpPr>
        <p:spPr>
          <a:xfrm>
            <a:off x="539750" y="1844675"/>
            <a:ext cx="8135938" cy="4114800"/>
          </a:xfrm>
        </p:spPr>
        <p:txBody>
          <a:bodyPr/>
          <a:lstStyle/>
          <a:p>
            <a:pPr>
              <a:lnSpc>
                <a:spcPct val="150000"/>
              </a:lnSpc>
            </a:pPr>
            <a:r>
              <a:rPr lang="zh-CN" altLang="en-US">
                <a:ea typeface="宋体" panose="02010600030101010101" pitchFamily="2" charset="-122"/>
              </a:rPr>
              <a:t>不可重复读包括三种情况：</a:t>
            </a:r>
          </a:p>
          <a:p>
            <a:pPr>
              <a:lnSpc>
                <a:spcPct val="150000"/>
              </a:lnSpc>
              <a:buFont typeface="Wingdings" panose="05000000000000000000" pitchFamily="2" charset="2"/>
              <a:buNone/>
            </a:pPr>
            <a:r>
              <a:rPr lang="en-US" altLang="zh-CN">
                <a:ea typeface="宋体" panose="02010600030101010101" pitchFamily="2" charset="-122"/>
              </a:rPr>
              <a:t>(1)</a:t>
            </a:r>
            <a:r>
              <a:rPr lang="zh-CN" altLang="en-US">
                <a:ea typeface="宋体" panose="02010600030101010101" pitchFamily="2" charset="-122"/>
              </a:rPr>
              <a:t>事务</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读取某一数据后，</a:t>
            </a:r>
            <a:r>
              <a:rPr lang="zh-CN" altLang="en-US">
                <a:solidFill>
                  <a:srgbClr val="FF00FF"/>
                </a:solidFill>
                <a:ea typeface="宋体" panose="02010600030101010101" pitchFamily="2" charset="-122"/>
              </a:rPr>
              <a:t>事务</a:t>
            </a:r>
            <a:r>
              <a:rPr lang="en-US" altLang="zh-CN">
                <a:solidFill>
                  <a:srgbClr val="FF00FF"/>
                </a:solidFill>
                <a:ea typeface="宋体" panose="02010600030101010101" pitchFamily="2" charset="-122"/>
              </a:rPr>
              <a:t>T</a:t>
            </a:r>
            <a:r>
              <a:rPr lang="en-US" altLang="zh-CN" baseline="-25000">
                <a:solidFill>
                  <a:srgbClr val="FF00FF"/>
                </a:solidFill>
                <a:ea typeface="宋体" panose="02010600030101010101" pitchFamily="2" charset="-122"/>
              </a:rPr>
              <a:t>2</a:t>
            </a:r>
            <a:r>
              <a:rPr lang="zh-CN" altLang="en-US">
                <a:solidFill>
                  <a:srgbClr val="FF00FF"/>
                </a:solidFill>
                <a:ea typeface="宋体" panose="02010600030101010101" pitchFamily="2" charset="-122"/>
              </a:rPr>
              <a:t>对其做了修改</a:t>
            </a:r>
            <a:r>
              <a:rPr lang="zh-CN" altLang="en-US">
                <a:ea typeface="宋体" panose="02010600030101010101" pitchFamily="2" charset="-122"/>
              </a:rPr>
              <a:t>，当事务</a:t>
            </a:r>
            <a:r>
              <a:rPr lang="en-US" altLang="zh-CN">
                <a:ea typeface="宋体" panose="02010600030101010101" pitchFamily="2" charset="-122"/>
              </a:rPr>
              <a:t>T</a:t>
            </a:r>
            <a:r>
              <a:rPr lang="en-US" altLang="zh-CN" baseline="-25000">
                <a:ea typeface="宋体" panose="02010600030101010101" pitchFamily="2" charset="-122"/>
              </a:rPr>
              <a:t>1</a:t>
            </a:r>
            <a:r>
              <a:rPr lang="zh-CN" altLang="en-US">
                <a:ea typeface="宋体" panose="02010600030101010101" pitchFamily="2" charset="-122"/>
              </a:rPr>
              <a:t>再次读该数据时，得到与前一次不同的值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32</a:t>
            </a:fld>
            <a:endParaRPr lang="en-US" altLang="zh-CN"/>
          </a:p>
        </p:txBody>
      </p:sp>
    </p:spTree>
    <p:extLst>
      <p:ext uri="{BB962C8B-B14F-4D97-AF65-F5344CB8AC3E}">
        <p14:creationId xmlns:p14="http://schemas.microsoft.com/office/powerpoint/2010/main" val="2354849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r>
              <a:rPr lang="zh-CN" altLang="en-US">
                <a:ea typeface="宋体" panose="02010600030101010101" pitchFamily="2" charset="-122"/>
              </a:rPr>
              <a:t>不可重复读（续）</a:t>
            </a:r>
          </a:p>
        </p:txBody>
      </p:sp>
      <p:sp>
        <p:nvSpPr>
          <p:cNvPr id="474115" name="Rectangle 3"/>
          <p:cNvSpPr>
            <a:spLocks noGrp="1" noChangeArrowheads="1"/>
          </p:cNvSpPr>
          <p:nvPr>
            <p:ph type="body" sz="half" idx="1"/>
          </p:nvPr>
        </p:nvSpPr>
        <p:spPr>
          <a:xfrm>
            <a:off x="4859338" y="2060575"/>
            <a:ext cx="4038600" cy="4495800"/>
          </a:xfrm>
        </p:spPr>
        <p:txBody>
          <a:bodyPr/>
          <a:lstStyle/>
          <a:p>
            <a:pPr>
              <a:lnSpc>
                <a:spcPct val="140000"/>
              </a:lnSpc>
              <a:buFont typeface="Wingdings" panose="05000000000000000000" pitchFamily="2" charset="2"/>
              <a:buChar char="n"/>
            </a:pPr>
            <a:r>
              <a:rPr lang="en-US" altLang="zh-CN" sz="2200">
                <a:ea typeface="宋体" panose="02010600030101010101" pitchFamily="2" charset="-122"/>
              </a:rPr>
              <a:t>T1</a:t>
            </a:r>
            <a:r>
              <a:rPr lang="zh-CN" altLang="en-US" sz="2200">
                <a:ea typeface="宋体" panose="02010600030101010101" pitchFamily="2" charset="-122"/>
              </a:rPr>
              <a:t>读取</a:t>
            </a:r>
            <a:r>
              <a:rPr lang="en-US" altLang="zh-CN" sz="2200">
                <a:ea typeface="宋体" panose="02010600030101010101" pitchFamily="2" charset="-122"/>
              </a:rPr>
              <a:t>B=100</a:t>
            </a:r>
            <a:r>
              <a:rPr lang="zh-CN" altLang="en-US" sz="2200">
                <a:ea typeface="宋体" panose="02010600030101010101" pitchFamily="2" charset="-122"/>
              </a:rPr>
              <a:t>进行运算</a:t>
            </a:r>
          </a:p>
          <a:p>
            <a:pPr>
              <a:lnSpc>
                <a:spcPct val="140000"/>
              </a:lnSpc>
              <a:buFont typeface="Wingdings" panose="05000000000000000000" pitchFamily="2" charset="2"/>
              <a:buChar char="n"/>
            </a:pPr>
            <a:r>
              <a:rPr lang="en-US" altLang="zh-CN" sz="2200">
                <a:ea typeface="宋体" panose="02010600030101010101" pitchFamily="2" charset="-122"/>
              </a:rPr>
              <a:t>T2</a:t>
            </a:r>
            <a:r>
              <a:rPr lang="zh-CN" altLang="en-US" sz="2200">
                <a:ea typeface="宋体" panose="02010600030101010101" pitchFamily="2" charset="-122"/>
              </a:rPr>
              <a:t>读取同一数据</a:t>
            </a:r>
            <a:r>
              <a:rPr lang="en-US" altLang="zh-CN" sz="2200">
                <a:ea typeface="宋体" panose="02010600030101010101" pitchFamily="2" charset="-122"/>
              </a:rPr>
              <a:t>B</a:t>
            </a:r>
            <a:r>
              <a:rPr lang="zh-CN" altLang="en-US" sz="2200">
                <a:ea typeface="宋体" panose="02010600030101010101" pitchFamily="2" charset="-122"/>
              </a:rPr>
              <a:t>，对其进行修改后将</a:t>
            </a:r>
            <a:r>
              <a:rPr lang="en-US" altLang="zh-CN" sz="2200">
                <a:ea typeface="宋体" panose="02010600030101010101" pitchFamily="2" charset="-122"/>
              </a:rPr>
              <a:t>B=200</a:t>
            </a:r>
            <a:r>
              <a:rPr lang="zh-CN" altLang="en-US" sz="2200">
                <a:ea typeface="宋体" panose="02010600030101010101" pitchFamily="2" charset="-122"/>
              </a:rPr>
              <a:t>写回数据库。</a:t>
            </a:r>
          </a:p>
          <a:p>
            <a:pPr>
              <a:lnSpc>
                <a:spcPct val="140000"/>
              </a:lnSpc>
              <a:buFont typeface="Wingdings" panose="05000000000000000000" pitchFamily="2" charset="2"/>
              <a:buChar char="n"/>
            </a:pPr>
            <a:r>
              <a:rPr lang="en-US" altLang="zh-CN" sz="2200">
                <a:ea typeface="宋体" panose="02010600030101010101" pitchFamily="2" charset="-122"/>
              </a:rPr>
              <a:t>T1</a:t>
            </a:r>
            <a:r>
              <a:rPr lang="zh-CN" altLang="en-US" sz="2200">
                <a:ea typeface="宋体" panose="02010600030101010101" pitchFamily="2" charset="-122"/>
              </a:rPr>
              <a:t>为了对读取值校对重读</a:t>
            </a:r>
            <a:r>
              <a:rPr lang="en-US" altLang="zh-CN" sz="2200">
                <a:ea typeface="宋体" panose="02010600030101010101" pitchFamily="2" charset="-122"/>
              </a:rPr>
              <a:t>B</a:t>
            </a:r>
            <a:r>
              <a:rPr lang="zh-CN" altLang="en-US" sz="2200">
                <a:ea typeface="宋体" panose="02010600030101010101" pitchFamily="2" charset="-122"/>
              </a:rPr>
              <a:t>，</a:t>
            </a:r>
            <a:r>
              <a:rPr lang="en-US" altLang="zh-CN" sz="2200">
                <a:ea typeface="宋体" panose="02010600030101010101" pitchFamily="2" charset="-122"/>
              </a:rPr>
              <a:t>B</a:t>
            </a:r>
            <a:r>
              <a:rPr lang="zh-CN" altLang="en-US" sz="2200">
                <a:ea typeface="宋体" panose="02010600030101010101" pitchFamily="2" charset="-122"/>
              </a:rPr>
              <a:t>已为</a:t>
            </a:r>
            <a:r>
              <a:rPr lang="en-US" altLang="zh-CN" sz="2200">
                <a:ea typeface="宋体" panose="02010600030101010101" pitchFamily="2" charset="-122"/>
              </a:rPr>
              <a:t>200</a:t>
            </a:r>
            <a:r>
              <a:rPr lang="zh-CN" altLang="en-US" sz="2200">
                <a:ea typeface="宋体" panose="02010600030101010101" pitchFamily="2" charset="-122"/>
              </a:rPr>
              <a:t>，与第一次读取值不一致 </a:t>
            </a:r>
          </a:p>
        </p:txBody>
      </p:sp>
      <p:graphicFrame>
        <p:nvGraphicFramePr>
          <p:cNvPr id="474292" name="Group 180"/>
          <p:cNvGraphicFramePr>
            <a:graphicFrameLocks noGrp="1"/>
          </p:cNvGraphicFramePr>
          <p:nvPr>
            <p:ph sz="half" idx="2"/>
            <p:extLst>
              <p:ext uri="{D42A27DB-BD31-4B8C-83A1-F6EECF244321}">
                <p14:modId xmlns:p14="http://schemas.microsoft.com/office/powerpoint/2010/main" val="664426684"/>
              </p:ext>
            </p:extLst>
          </p:nvPr>
        </p:nvGraphicFramePr>
        <p:xfrm>
          <a:off x="611188" y="1772816"/>
          <a:ext cx="3967162" cy="4358640"/>
        </p:xfrm>
        <a:graphic>
          <a:graphicData uri="http://schemas.openxmlformats.org/drawingml/2006/table">
            <a:tbl>
              <a:tblPr/>
              <a:tblGrid>
                <a:gridCol w="1984375">
                  <a:extLst>
                    <a:ext uri="{9D8B030D-6E8A-4147-A177-3AD203B41FA5}">
                      <a16:colId xmlns:a16="http://schemas.microsoft.com/office/drawing/2014/main" val="20000"/>
                    </a:ext>
                  </a:extLst>
                </a:gridCol>
                <a:gridCol w="1982787">
                  <a:extLst>
                    <a:ext uri="{9D8B030D-6E8A-4147-A177-3AD203B41FA5}">
                      <a16:colId xmlns:a16="http://schemas.microsoft.com/office/drawing/2014/main" val="20001"/>
                    </a:ext>
                  </a:extLst>
                </a:gridCol>
              </a:tblGrid>
              <a:tr h="1793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R(A)=50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0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R(B)=100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542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B←B*2</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(B)=200</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R(A)=50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R(B)=200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验算不对</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474289" name="Text Box 177"/>
          <p:cNvSpPr txBox="1">
            <a:spLocks noChangeArrowheads="1"/>
          </p:cNvSpPr>
          <p:nvPr/>
        </p:nvSpPr>
        <p:spPr bwMode="auto">
          <a:xfrm>
            <a:off x="1979613" y="6237312"/>
            <a:ext cx="13843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dirty="0"/>
              <a:t>不可重复读</a:t>
            </a:r>
            <a:r>
              <a:rPr kumimoji="0" lang="zh-CN" altLang="en-US" sz="1800" dirty="0"/>
              <a:t> </a:t>
            </a:r>
          </a:p>
        </p:txBody>
      </p:sp>
      <p:sp>
        <p:nvSpPr>
          <p:cNvPr id="474290" name="Rectangle 178"/>
          <p:cNvSpPr>
            <a:spLocks noChangeArrowheads="1"/>
          </p:cNvSpPr>
          <p:nvPr/>
        </p:nvSpPr>
        <p:spPr bwMode="auto">
          <a:xfrm>
            <a:off x="539552" y="1139850"/>
            <a:ext cx="1174750" cy="4889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hlink"/>
              </a:buClr>
              <a:buFont typeface="Wingdings" panose="05000000000000000000" pitchFamily="2" charset="2"/>
              <a:buNone/>
            </a:pPr>
            <a:r>
              <a:rPr kumimoji="0" lang="zh-CN" altLang="en-US" sz="2600" b="0" dirty="0"/>
              <a:t>例如：</a:t>
            </a:r>
          </a:p>
        </p:txBody>
      </p:sp>
      <p:sp>
        <p:nvSpPr>
          <p:cNvPr id="2" name="灯片编号占位符 1"/>
          <p:cNvSpPr>
            <a:spLocks noGrp="1"/>
          </p:cNvSpPr>
          <p:nvPr>
            <p:ph type="sldNum" sz="quarter" idx="12"/>
          </p:nvPr>
        </p:nvSpPr>
        <p:spPr/>
        <p:txBody>
          <a:bodyPr/>
          <a:lstStyle/>
          <a:p>
            <a:fld id="{CD5C3753-734A-477F-97D0-D05E6A5C33B1}" type="slidenum">
              <a:rPr lang="en-US" altLang="zh-CN" smtClean="0"/>
              <a:pPr/>
              <a:t>33</a:t>
            </a:fld>
            <a:endParaRPr lang="en-US" altLang="zh-CN"/>
          </a:p>
        </p:txBody>
      </p:sp>
      <p:sp>
        <p:nvSpPr>
          <p:cNvPr id="3" name="动作按钮: 上一张 2">
            <a:hlinkClick r:id="" action="ppaction://hlinkshowjump?jump=lastslideviewed" highlightClick="1"/>
            <a:extLst>
              <a:ext uri="{FF2B5EF4-FFF2-40B4-BE49-F238E27FC236}">
                <a16:creationId xmlns:a16="http://schemas.microsoft.com/office/drawing/2014/main" id="{284CC22F-D206-A4EA-E3A0-74B667A5E6F1}"/>
              </a:ext>
            </a:extLst>
          </p:cNvPr>
          <p:cNvSpPr/>
          <p:nvPr/>
        </p:nvSpPr>
        <p:spPr bwMode="auto">
          <a:xfrm>
            <a:off x="1117601" y="6307757"/>
            <a:ext cx="216024" cy="273581"/>
          </a:xfrm>
          <a:prstGeom prst="actionButtonReturn">
            <a:avLst/>
          </a:prstGeom>
          <a:solidFill>
            <a:schemeClr val="bg1"/>
          </a:solidFill>
          <a:ln>
            <a:solidFill>
              <a:schemeClr val="tx1"/>
            </a:solidFill>
          </a:ln>
          <a:effec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solidFill>
                  <a:schemeClr val="tx1"/>
                </a:solidFill>
              </a:ln>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3318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r>
              <a:rPr lang="zh-CN" altLang="en-US">
                <a:ea typeface="宋体" panose="02010600030101010101" pitchFamily="2" charset="-122"/>
              </a:rPr>
              <a:t>不可重复读（续）</a:t>
            </a:r>
          </a:p>
        </p:txBody>
      </p:sp>
      <p:sp>
        <p:nvSpPr>
          <p:cNvPr id="475139" name="Rectangle 3"/>
          <p:cNvSpPr>
            <a:spLocks noGrp="1" noChangeArrowheads="1"/>
          </p:cNvSpPr>
          <p:nvPr>
            <p:ph type="body" idx="1"/>
          </p:nvPr>
        </p:nvSpPr>
        <p:spPr>
          <a:xfrm>
            <a:off x="457200" y="1828800"/>
            <a:ext cx="8362950" cy="4479925"/>
          </a:xfrm>
        </p:spPr>
        <p:txBody>
          <a:bodyPr/>
          <a:lstStyle/>
          <a:p>
            <a:pPr>
              <a:lnSpc>
                <a:spcPct val="140000"/>
              </a:lnSpc>
              <a:spcBef>
                <a:spcPct val="60000"/>
              </a:spcBef>
              <a:buFont typeface="Wingdings" panose="05000000000000000000" pitchFamily="2" charset="2"/>
              <a:buNone/>
            </a:pPr>
            <a:r>
              <a:rPr lang="en-US" altLang="zh-CN" sz="2400">
                <a:ea typeface="宋体" panose="02010600030101010101" pitchFamily="2" charset="-122"/>
              </a:rPr>
              <a:t>(2)</a:t>
            </a:r>
            <a:r>
              <a:rPr lang="zh-CN" altLang="en-US" sz="2400">
                <a:ea typeface="宋体" panose="02010600030101010101" pitchFamily="2" charset="-122"/>
              </a:rPr>
              <a:t>事务</a:t>
            </a:r>
            <a:r>
              <a:rPr lang="en-US" altLang="zh-CN" sz="2400">
                <a:ea typeface="宋体" panose="02010600030101010101" pitchFamily="2" charset="-122"/>
              </a:rPr>
              <a:t>T1</a:t>
            </a:r>
            <a:r>
              <a:rPr lang="zh-CN" altLang="en-US" sz="2400">
                <a:ea typeface="宋体" panose="02010600030101010101" pitchFamily="2" charset="-122"/>
              </a:rPr>
              <a:t>按一定条件从数据库中读取了某些数据记录后，</a:t>
            </a:r>
            <a:r>
              <a:rPr lang="zh-CN" altLang="en-US" sz="2400">
                <a:solidFill>
                  <a:srgbClr val="FF00FF"/>
                </a:solidFill>
                <a:ea typeface="宋体" panose="02010600030101010101" pitchFamily="2" charset="-122"/>
              </a:rPr>
              <a:t>事务</a:t>
            </a:r>
            <a:r>
              <a:rPr lang="en-US" altLang="zh-CN" sz="2400">
                <a:solidFill>
                  <a:srgbClr val="FF00FF"/>
                </a:solidFill>
                <a:ea typeface="宋体" panose="02010600030101010101" pitchFamily="2" charset="-122"/>
              </a:rPr>
              <a:t>T2</a:t>
            </a:r>
            <a:r>
              <a:rPr lang="zh-CN" altLang="en-US" sz="2400">
                <a:solidFill>
                  <a:srgbClr val="FF00FF"/>
                </a:solidFill>
                <a:ea typeface="宋体" panose="02010600030101010101" pitchFamily="2" charset="-122"/>
              </a:rPr>
              <a:t>删除了其中部分记录</a:t>
            </a:r>
            <a:r>
              <a:rPr lang="zh-CN" altLang="en-US" sz="2400">
                <a:ea typeface="宋体" panose="02010600030101010101" pitchFamily="2" charset="-122"/>
              </a:rPr>
              <a:t>，当</a:t>
            </a:r>
            <a:r>
              <a:rPr lang="en-US" altLang="zh-CN" sz="2400">
                <a:ea typeface="宋体" panose="02010600030101010101" pitchFamily="2" charset="-122"/>
              </a:rPr>
              <a:t>T1</a:t>
            </a:r>
            <a:r>
              <a:rPr lang="zh-CN" altLang="en-US" sz="2400">
                <a:ea typeface="宋体" panose="02010600030101010101" pitchFamily="2" charset="-122"/>
              </a:rPr>
              <a:t>再次按相同条件读取数据时，发现某些记录消失了 </a:t>
            </a:r>
          </a:p>
          <a:p>
            <a:pPr>
              <a:lnSpc>
                <a:spcPct val="140000"/>
              </a:lnSpc>
              <a:buFont typeface="Wingdings" panose="05000000000000000000" pitchFamily="2" charset="2"/>
              <a:buNone/>
            </a:pPr>
            <a:r>
              <a:rPr lang="en-US" altLang="zh-CN" sz="2400">
                <a:ea typeface="宋体" panose="02010600030101010101" pitchFamily="2" charset="-122"/>
              </a:rPr>
              <a:t>(3)</a:t>
            </a:r>
            <a:r>
              <a:rPr lang="zh-CN" altLang="en-US" sz="2400">
                <a:ea typeface="宋体" panose="02010600030101010101" pitchFamily="2" charset="-122"/>
              </a:rPr>
              <a:t>事务</a:t>
            </a:r>
            <a:r>
              <a:rPr lang="en-US" altLang="zh-CN" sz="2400">
                <a:ea typeface="宋体" panose="02010600030101010101" pitchFamily="2" charset="-122"/>
              </a:rPr>
              <a:t>T1</a:t>
            </a:r>
            <a:r>
              <a:rPr lang="zh-CN" altLang="en-US" sz="2400">
                <a:ea typeface="宋体" panose="02010600030101010101" pitchFamily="2" charset="-122"/>
              </a:rPr>
              <a:t>按一定条件从数据库中读取某些数据记录后，</a:t>
            </a:r>
            <a:r>
              <a:rPr lang="zh-CN" altLang="en-US" sz="2400">
                <a:solidFill>
                  <a:srgbClr val="FF00FF"/>
                </a:solidFill>
                <a:ea typeface="宋体" panose="02010600030101010101" pitchFamily="2" charset="-122"/>
              </a:rPr>
              <a:t>事务</a:t>
            </a:r>
            <a:r>
              <a:rPr lang="en-US" altLang="zh-CN" sz="2400">
                <a:solidFill>
                  <a:srgbClr val="FF00FF"/>
                </a:solidFill>
                <a:ea typeface="宋体" panose="02010600030101010101" pitchFamily="2" charset="-122"/>
              </a:rPr>
              <a:t>T2</a:t>
            </a:r>
            <a:r>
              <a:rPr lang="zh-CN" altLang="en-US" sz="2400">
                <a:solidFill>
                  <a:srgbClr val="FF00FF"/>
                </a:solidFill>
                <a:ea typeface="宋体" panose="02010600030101010101" pitchFamily="2" charset="-122"/>
              </a:rPr>
              <a:t>插入了一些记录</a:t>
            </a:r>
            <a:r>
              <a:rPr lang="zh-CN" altLang="en-US" sz="2400">
                <a:ea typeface="宋体" panose="02010600030101010101" pitchFamily="2" charset="-122"/>
              </a:rPr>
              <a:t>，当</a:t>
            </a:r>
            <a:r>
              <a:rPr lang="en-US" altLang="zh-CN" sz="2400">
                <a:ea typeface="宋体" panose="02010600030101010101" pitchFamily="2" charset="-122"/>
              </a:rPr>
              <a:t>T1</a:t>
            </a:r>
            <a:r>
              <a:rPr lang="zh-CN" altLang="en-US" sz="2400">
                <a:ea typeface="宋体" panose="02010600030101010101" pitchFamily="2" charset="-122"/>
              </a:rPr>
              <a:t>再次按相同条件读取数据时，发现多了一些记录。</a:t>
            </a:r>
          </a:p>
          <a:p>
            <a:pPr>
              <a:lnSpc>
                <a:spcPct val="140000"/>
              </a:lnSpc>
              <a:buFont typeface="Wingdings" panose="05000000000000000000" pitchFamily="2" charset="2"/>
              <a:buNone/>
            </a:pPr>
            <a:r>
              <a:rPr lang="zh-CN" altLang="en-US" sz="2400">
                <a:ea typeface="宋体" panose="02010600030101010101" pitchFamily="2" charset="-122"/>
              </a:rPr>
              <a:t>     后两种不可重复读有时也称为</a:t>
            </a:r>
            <a:r>
              <a:rPr lang="zh-CN" altLang="en-US" sz="2400">
                <a:solidFill>
                  <a:srgbClr val="FF00FF"/>
                </a:solidFill>
                <a:ea typeface="宋体" panose="02010600030101010101" pitchFamily="2" charset="-122"/>
              </a:rPr>
              <a:t>幻影</a:t>
            </a:r>
            <a:r>
              <a:rPr lang="zh-CN" altLang="en-US" sz="2400">
                <a:ea typeface="宋体" panose="02010600030101010101" pitchFamily="2" charset="-122"/>
              </a:rPr>
              <a:t>现象（</a:t>
            </a:r>
            <a:r>
              <a:rPr lang="en-US" altLang="zh-CN" sz="2400">
                <a:ea typeface="宋体" panose="02010600030101010101" pitchFamily="2" charset="-122"/>
              </a:rPr>
              <a:t>Phantom Row</a:t>
            </a:r>
            <a:r>
              <a:rPr lang="zh-CN" altLang="en-US" sz="2400">
                <a:ea typeface="宋体" panose="02010600030101010101" pitchFamily="2" charset="-122"/>
              </a:rPr>
              <a:t>）</a:t>
            </a:r>
          </a:p>
          <a:p>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34</a:t>
            </a:fld>
            <a:endParaRPr lang="en-US" altLang="zh-CN"/>
          </a:p>
        </p:txBody>
      </p:sp>
    </p:spTree>
    <p:extLst>
      <p:ext uri="{BB962C8B-B14F-4D97-AF65-F5344CB8AC3E}">
        <p14:creationId xmlns:p14="http://schemas.microsoft.com/office/powerpoint/2010/main" val="4224400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US" altLang="zh-CN">
                <a:ea typeface="宋体" panose="02010600030101010101" pitchFamily="2" charset="-122"/>
              </a:rPr>
              <a:t>3. </a:t>
            </a:r>
            <a:r>
              <a:rPr lang="zh-CN" altLang="en-US">
                <a:ea typeface="宋体" panose="02010600030101010101" pitchFamily="2" charset="-122"/>
              </a:rPr>
              <a:t>读“脏”数据</a:t>
            </a:r>
          </a:p>
        </p:txBody>
      </p:sp>
      <p:sp>
        <p:nvSpPr>
          <p:cNvPr id="347139" name="Rectangle 3"/>
          <p:cNvSpPr>
            <a:spLocks noGrp="1" noChangeArrowheads="1"/>
          </p:cNvSpPr>
          <p:nvPr>
            <p:ph type="body" idx="1"/>
          </p:nvPr>
        </p:nvSpPr>
        <p:spPr/>
        <p:txBody>
          <a:bodyPr/>
          <a:lstStyle/>
          <a:p>
            <a:pPr algn="just">
              <a:lnSpc>
                <a:spcPct val="160000"/>
              </a:lnSpc>
              <a:buFont typeface="Wingdings" panose="05000000000000000000" pitchFamily="2" charset="2"/>
              <a:buNone/>
            </a:pPr>
            <a:r>
              <a:rPr lang="en-US" altLang="zh-CN">
                <a:ea typeface="宋体" panose="02010600030101010101" pitchFamily="2" charset="-122"/>
              </a:rPr>
              <a:t>   </a:t>
            </a:r>
            <a:r>
              <a:rPr lang="zh-CN" altLang="en-US">
                <a:ea typeface="宋体" panose="02010600030101010101" pitchFamily="2" charset="-122"/>
              </a:rPr>
              <a:t>读“脏”数据是指：</a:t>
            </a:r>
          </a:p>
          <a:p>
            <a:pPr lvl="1" algn="just">
              <a:lnSpc>
                <a:spcPct val="160000"/>
              </a:lnSpc>
              <a:buFont typeface="Wingdings" panose="05000000000000000000" pitchFamily="2" charset="2"/>
              <a:buChar char="n"/>
            </a:pPr>
            <a:r>
              <a:rPr lang="zh-CN" altLang="en-US">
                <a:ea typeface="宋体" panose="02010600030101010101" pitchFamily="2" charset="-122"/>
              </a:rPr>
              <a:t>事务</a:t>
            </a:r>
            <a:r>
              <a:rPr lang="en-US" altLang="zh-CN">
                <a:ea typeface="宋体" panose="02010600030101010101" pitchFamily="2" charset="-122"/>
              </a:rPr>
              <a:t>T1</a:t>
            </a:r>
            <a:r>
              <a:rPr lang="zh-CN" altLang="en-US">
                <a:ea typeface="宋体" panose="02010600030101010101" pitchFamily="2" charset="-122"/>
              </a:rPr>
              <a:t>修改某一数据，并将其写回磁盘</a:t>
            </a:r>
          </a:p>
          <a:p>
            <a:pPr lvl="1" algn="just">
              <a:lnSpc>
                <a:spcPct val="160000"/>
              </a:lnSpc>
              <a:buFont typeface="Wingdings" panose="05000000000000000000" pitchFamily="2" charset="2"/>
              <a:buChar char="n"/>
            </a:pPr>
            <a:r>
              <a:rPr lang="zh-CN" altLang="en-US">
                <a:ea typeface="宋体" panose="02010600030101010101" pitchFamily="2" charset="-122"/>
              </a:rPr>
              <a:t>事务</a:t>
            </a:r>
            <a:r>
              <a:rPr lang="en-US" altLang="zh-CN">
                <a:ea typeface="宋体" panose="02010600030101010101" pitchFamily="2" charset="-122"/>
              </a:rPr>
              <a:t>T2</a:t>
            </a:r>
            <a:r>
              <a:rPr lang="zh-CN" altLang="en-US">
                <a:ea typeface="宋体" panose="02010600030101010101" pitchFamily="2" charset="-122"/>
              </a:rPr>
              <a:t>读取同一数据后，</a:t>
            </a:r>
            <a:r>
              <a:rPr lang="en-US" altLang="zh-CN">
                <a:ea typeface="宋体" panose="02010600030101010101" pitchFamily="2" charset="-122"/>
              </a:rPr>
              <a:t>T1</a:t>
            </a:r>
            <a:r>
              <a:rPr lang="zh-CN" altLang="en-US">
                <a:ea typeface="宋体" panose="02010600030101010101" pitchFamily="2" charset="-122"/>
              </a:rPr>
              <a:t>由于某种原因被撤销</a:t>
            </a:r>
          </a:p>
          <a:p>
            <a:pPr lvl="1" algn="just">
              <a:lnSpc>
                <a:spcPct val="160000"/>
              </a:lnSpc>
              <a:buFont typeface="Wingdings" panose="05000000000000000000" pitchFamily="2" charset="2"/>
              <a:buChar char="n"/>
            </a:pPr>
            <a:r>
              <a:rPr lang="zh-CN" altLang="en-US">
                <a:ea typeface="宋体" panose="02010600030101010101" pitchFamily="2" charset="-122"/>
              </a:rPr>
              <a:t>这时</a:t>
            </a:r>
            <a:r>
              <a:rPr lang="en-US" altLang="zh-CN">
                <a:ea typeface="宋体" panose="02010600030101010101" pitchFamily="2" charset="-122"/>
              </a:rPr>
              <a:t>T1</a:t>
            </a:r>
            <a:r>
              <a:rPr lang="zh-CN" altLang="en-US">
                <a:ea typeface="宋体" panose="02010600030101010101" pitchFamily="2" charset="-122"/>
              </a:rPr>
              <a:t>已修改过的数据恢复原值，</a:t>
            </a:r>
            <a:r>
              <a:rPr lang="en-US" altLang="zh-CN">
                <a:ea typeface="宋体" panose="02010600030101010101" pitchFamily="2" charset="-122"/>
              </a:rPr>
              <a:t>T2</a:t>
            </a:r>
            <a:r>
              <a:rPr lang="zh-CN" altLang="en-US">
                <a:ea typeface="宋体" panose="02010600030101010101" pitchFamily="2" charset="-122"/>
              </a:rPr>
              <a:t>读到的数据就与数据库中的数据不一致</a:t>
            </a:r>
          </a:p>
          <a:p>
            <a:pPr lvl="1" algn="just">
              <a:lnSpc>
                <a:spcPct val="160000"/>
              </a:lnSpc>
              <a:buFont typeface="Wingdings" panose="05000000000000000000" pitchFamily="2" charset="2"/>
              <a:buChar char="n"/>
            </a:pPr>
            <a:r>
              <a:rPr lang="en-US" altLang="zh-CN">
                <a:ea typeface="宋体" panose="02010600030101010101" pitchFamily="2" charset="-122"/>
              </a:rPr>
              <a:t>T2</a:t>
            </a:r>
            <a:r>
              <a:rPr lang="zh-CN" altLang="en-US">
                <a:ea typeface="宋体" panose="02010600030101010101" pitchFamily="2" charset="-122"/>
              </a:rPr>
              <a:t>读到的数据就为“脏”数据，即不正确的数据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35</a:t>
            </a:fld>
            <a:endParaRPr lang="en-US" altLang="zh-CN"/>
          </a:p>
        </p:txBody>
      </p:sp>
    </p:spTree>
    <p:extLst>
      <p:ext uri="{BB962C8B-B14F-4D97-AF65-F5344CB8AC3E}">
        <p14:creationId xmlns:p14="http://schemas.microsoft.com/office/powerpoint/2010/main" val="1391103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r>
              <a:rPr lang="zh-CN" altLang="en-US">
                <a:ea typeface="宋体" panose="02010600030101010101" pitchFamily="2" charset="-122"/>
              </a:rPr>
              <a:t>读“脏”数据（续）</a:t>
            </a:r>
          </a:p>
        </p:txBody>
      </p:sp>
      <p:graphicFrame>
        <p:nvGraphicFramePr>
          <p:cNvPr id="477360" name="Group 176"/>
          <p:cNvGraphicFramePr>
            <a:graphicFrameLocks noGrp="1"/>
          </p:cNvGraphicFramePr>
          <p:nvPr>
            <p:ph idx="1"/>
            <p:extLst>
              <p:ext uri="{D42A27DB-BD31-4B8C-83A1-F6EECF244321}">
                <p14:modId xmlns:p14="http://schemas.microsoft.com/office/powerpoint/2010/main" val="3767427459"/>
              </p:ext>
            </p:extLst>
          </p:nvPr>
        </p:nvGraphicFramePr>
        <p:xfrm>
          <a:off x="911209" y="1732205"/>
          <a:ext cx="4103687" cy="4392615"/>
        </p:xfrm>
        <a:graphic>
          <a:graphicData uri="http://schemas.openxmlformats.org/drawingml/2006/table">
            <a:tbl>
              <a:tblPr/>
              <a:tblGrid>
                <a:gridCol w="2120900">
                  <a:extLst>
                    <a:ext uri="{9D8B030D-6E8A-4147-A177-3AD203B41FA5}">
                      <a16:colId xmlns:a16="http://schemas.microsoft.com/office/drawing/2014/main" val="20000"/>
                    </a:ext>
                  </a:extLst>
                </a:gridCol>
                <a:gridCol w="1982787">
                  <a:extLst>
                    <a:ext uri="{9D8B030D-6E8A-4147-A177-3AD203B41FA5}">
                      <a16:colId xmlns:a16="http://schemas.microsoft.com/office/drawing/2014/main" val="20001"/>
                    </a:ext>
                  </a:extLst>
                </a:gridCol>
              </a:tblGrid>
              <a:tr h="4000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R(C)=100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00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C←C*2</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W(C)=200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00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R(C)=200</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463">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005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84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③ROLLBACK</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00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恢复为</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8463">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005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477361" name="Text Box 177"/>
          <p:cNvSpPr txBox="1">
            <a:spLocks noChangeArrowheads="1"/>
          </p:cNvSpPr>
          <p:nvPr/>
        </p:nvSpPr>
        <p:spPr bwMode="auto">
          <a:xfrm>
            <a:off x="647318" y="1271107"/>
            <a:ext cx="1365250" cy="4572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a:t>例如</a:t>
            </a:r>
          </a:p>
        </p:txBody>
      </p:sp>
      <p:sp>
        <p:nvSpPr>
          <p:cNvPr id="477362" name="Rectangle 178"/>
          <p:cNvSpPr>
            <a:spLocks noChangeArrowheads="1"/>
          </p:cNvSpPr>
          <p:nvPr/>
        </p:nvSpPr>
        <p:spPr bwMode="auto">
          <a:xfrm>
            <a:off x="1979613" y="6237288"/>
            <a:ext cx="13589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zh-CN" altLang="en-US" b="0"/>
              <a:t>读“脏”数据</a:t>
            </a:r>
            <a:r>
              <a:rPr kumimoji="1" lang="zh-CN" altLang="en-US"/>
              <a:t> </a:t>
            </a:r>
          </a:p>
        </p:txBody>
      </p:sp>
      <p:sp>
        <p:nvSpPr>
          <p:cNvPr id="477364" name="Text Box 180"/>
          <p:cNvSpPr txBox="1">
            <a:spLocks noChangeArrowheads="1"/>
          </p:cNvSpPr>
          <p:nvPr/>
        </p:nvSpPr>
        <p:spPr bwMode="auto">
          <a:xfrm>
            <a:off x="5580063" y="2565400"/>
            <a:ext cx="2611437"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1800"/>
          </a:p>
        </p:txBody>
      </p:sp>
      <p:sp>
        <p:nvSpPr>
          <p:cNvPr id="477365" name="Text Box 181"/>
          <p:cNvSpPr txBox="1">
            <a:spLocks noChangeArrowheads="1"/>
          </p:cNvSpPr>
          <p:nvPr/>
        </p:nvSpPr>
        <p:spPr bwMode="auto">
          <a:xfrm>
            <a:off x="6516688" y="2425700"/>
            <a:ext cx="19431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1800"/>
          </a:p>
        </p:txBody>
      </p:sp>
      <p:sp>
        <p:nvSpPr>
          <p:cNvPr id="477366" name="Text Box 182"/>
          <p:cNvSpPr txBox="1">
            <a:spLocks noChangeArrowheads="1"/>
          </p:cNvSpPr>
          <p:nvPr/>
        </p:nvSpPr>
        <p:spPr bwMode="auto">
          <a:xfrm>
            <a:off x="5580063" y="2060575"/>
            <a:ext cx="3024187" cy="43068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40000"/>
              </a:lnSpc>
              <a:buClr>
                <a:schemeClr val="accent1"/>
              </a:buClr>
              <a:buFont typeface="Wingdings" panose="05000000000000000000" pitchFamily="2" charset="2"/>
              <a:buChar char="n"/>
            </a:pPr>
            <a:r>
              <a:rPr kumimoji="0" lang="en-US" altLang="zh-CN" sz="2200" b="0"/>
              <a:t>T1</a:t>
            </a:r>
            <a:r>
              <a:rPr kumimoji="0" lang="zh-CN" altLang="en-US" sz="2200" b="0"/>
              <a:t>将</a:t>
            </a:r>
            <a:r>
              <a:rPr kumimoji="0" lang="en-US" altLang="zh-CN" sz="2200" b="0"/>
              <a:t>C</a:t>
            </a:r>
            <a:r>
              <a:rPr kumimoji="0" lang="zh-CN" altLang="en-US" sz="2200" b="0"/>
              <a:t>值修改为</a:t>
            </a:r>
            <a:r>
              <a:rPr kumimoji="0" lang="en-US" altLang="zh-CN" sz="2200" b="0"/>
              <a:t>200</a:t>
            </a:r>
            <a:r>
              <a:rPr kumimoji="0" lang="zh-CN" altLang="en-US" sz="2200" b="0"/>
              <a:t>，</a:t>
            </a:r>
            <a:r>
              <a:rPr kumimoji="0" lang="en-US" altLang="zh-CN" sz="2200" b="0"/>
              <a:t>T2</a:t>
            </a:r>
            <a:r>
              <a:rPr kumimoji="0" lang="zh-CN" altLang="en-US" sz="2200" b="0"/>
              <a:t>读到</a:t>
            </a:r>
            <a:r>
              <a:rPr kumimoji="0" lang="en-US" altLang="zh-CN" sz="2200" b="0"/>
              <a:t>C</a:t>
            </a:r>
            <a:r>
              <a:rPr kumimoji="0" lang="zh-CN" altLang="en-US" sz="2200" b="0"/>
              <a:t>为</a:t>
            </a:r>
            <a:r>
              <a:rPr kumimoji="0" lang="en-US" altLang="zh-CN" sz="2200" b="0"/>
              <a:t>200</a:t>
            </a:r>
          </a:p>
          <a:p>
            <a:pPr>
              <a:lnSpc>
                <a:spcPct val="140000"/>
              </a:lnSpc>
              <a:buClr>
                <a:schemeClr val="accent1"/>
              </a:buClr>
              <a:buFont typeface="Wingdings" panose="05000000000000000000" pitchFamily="2" charset="2"/>
              <a:buChar char="n"/>
            </a:pPr>
            <a:r>
              <a:rPr kumimoji="0" lang="en-US" altLang="zh-CN" sz="2200" b="0"/>
              <a:t>T1</a:t>
            </a:r>
            <a:r>
              <a:rPr kumimoji="0" lang="zh-CN" altLang="en-US" sz="2200" b="0"/>
              <a:t>由于某种原因撤销，其修改作废，</a:t>
            </a:r>
            <a:r>
              <a:rPr kumimoji="0" lang="en-US" altLang="zh-CN" sz="2200" b="0"/>
              <a:t>C</a:t>
            </a:r>
            <a:r>
              <a:rPr kumimoji="0" lang="zh-CN" altLang="en-US" sz="2200" b="0"/>
              <a:t>恢复原值</a:t>
            </a:r>
            <a:r>
              <a:rPr kumimoji="0" lang="en-US" altLang="zh-CN" sz="2200" b="0"/>
              <a:t>100</a:t>
            </a:r>
          </a:p>
          <a:p>
            <a:pPr>
              <a:lnSpc>
                <a:spcPct val="140000"/>
              </a:lnSpc>
              <a:buClr>
                <a:schemeClr val="accent1"/>
              </a:buClr>
              <a:buFont typeface="Wingdings" panose="05000000000000000000" pitchFamily="2" charset="2"/>
              <a:buChar char="n"/>
            </a:pPr>
            <a:r>
              <a:rPr kumimoji="0" lang="zh-CN" altLang="en-US" sz="2200" b="0"/>
              <a:t>这时</a:t>
            </a:r>
            <a:r>
              <a:rPr kumimoji="0" lang="en-US" altLang="zh-CN" sz="2200" b="0"/>
              <a:t>T2</a:t>
            </a:r>
            <a:r>
              <a:rPr kumimoji="0" lang="zh-CN" altLang="en-US" sz="2200" b="0"/>
              <a:t>读到的</a:t>
            </a:r>
            <a:r>
              <a:rPr kumimoji="0" lang="en-US" altLang="zh-CN" sz="2200" b="0"/>
              <a:t>C</a:t>
            </a:r>
            <a:r>
              <a:rPr kumimoji="0" lang="zh-CN" altLang="en-US" sz="2200" b="0"/>
              <a:t>为</a:t>
            </a:r>
            <a:r>
              <a:rPr kumimoji="0" lang="en-US" altLang="zh-CN" sz="2200" b="0"/>
              <a:t>200</a:t>
            </a:r>
            <a:r>
              <a:rPr kumimoji="0" lang="zh-CN" altLang="en-US" sz="2200" b="0"/>
              <a:t>，与数据库内容不一致，就是“脏”数据</a:t>
            </a:r>
            <a:r>
              <a:rPr kumimoji="0" lang="zh-CN" altLang="en-US" sz="2000" b="0"/>
              <a:t> </a:t>
            </a:r>
          </a:p>
        </p:txBody>
      </p:sp>
      <p:sp>
        <p:nvSpPr>
          <p:cNvPr id="2" name="动作按钮: 上一张 1">
            <a:hlinkClick r:id="" action="ppaction://hlinkshowjump?jump=lastslideviewed" highlightClick="1"/>
            <a:extLst>
              <a:ext uri="{FF2B5EF4-FFF2-40B4-BE49-F238E27FC236}">
                <a16:creationId xmlns:a16="http://schemas.microsoft.com/office/drawing/2014/main" id="{28645ACE-0DF1-B281-DF9E-357FCB5BE59D}"/>
              </a:ext>
            </a:extLst>
          </p:cNvPr>
          <p:cNvSpPr/>
          <p:nvPr/>
        </p:nvSpPr>
        <p:spPr bwMode="auto">
          <a:xfrm>
            <a:off x="1117601" y="6307757"/>
            <a:ext cx="216024" cy="273581"/>
          </a:xfrm>
          <a:prstGeom prst="actionButtonReturn">
            <a:avLst/>
          </a:prstGeom>
          <a:solidFill>
            <a:schemeClr val="bg1"/>
          </a:solidFill>
          <a:ln>
            <a:solidFill>
              <a:schemeClr val="tx1"/>
            </a:solidFill>
          </a:ln>
          <a:effec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solidFill>
                  <a:schemeClr val="tx1"/>
                </a:solidFill>
              </a:ln>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512274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r>
              <a:rPr lang="zh-CN" altLang="en-US">
                <a:ea typeface="宋体" panose="02010600030101010101" pitchFamily="2" charset="-122"/>
              </a:rPr>
              <a:t>并发控制概述（续）</a:t>
            </a:r>
          </a:p>
        </p:txBody>
      </p:sp>
      <p:sp>
        <p:nvSpPr>
          <p:cNvPr id="479235" name="Rectangle 3"/>
          <p:cNvSpPr>
            <a:spLocks noGrp="1" noChangeArrowheads="1"/>
          </p:cNvSpPr>
          <p:nvPr>
            <p:ph type="body" idx="1"/>
          </p:nvPr>
        </p:nvSpPr>
        <p:spPr/>
        <p:txBody>
          <a:bodyPr/>
          <a:lstStyle/>
          <a:p>
            <a:pPr>
              <a:lnSpc>
                <a:spcPct val="160000"/>
              </a:lnSpc>
            </a:pPr>
            <a:r>
              <a:rPr lang="zh-CN" altLang="en-US">
                <a:ea typeface="宋体" panose="02010600030101010101" pitchFamily="2" charset="-122"/>
              </a:rPr>
              <a:t>数据不一致性：由于</a:t>
            </a:r>
            <a:r>
              <a:rPr lang="zh-CN" altLang="en-US">
                <a:solidFill>
                  <a:srgbClr val="FF00FF"/>
                </a:solidFill>
                <a:ea typeface="宋体" panose="02010600030101010101" pitchFamily="2" charset="-122"/>
              </a:rPr>
              <a:t>并发操作破坏了事务的隔离性</a:t>
            </a:r>
          </a:p>
          <a:p>
            <a:pPr>
              <a:lnSpc>
                <a:spcPct val="160000"/>
              </a:lnSpc>
            </a:pPr>
            <a:r>
              <a:rPr lang="zh-CN" altLang="en-US">
                <a:ea typeface="宋体" panose="02010600030101010101" pitchFamily="2" charset="-122"/>
              </a:rPr>
              <a:t>并发控制就是要用</a:t>
            </a:r>
            <a:r>
              <a:rPr lang="zh-CN" altLang="en-US">
                <a:solidFill>
                  <a:srgbClr val="FF00FF"/>
                </a:solidFill>
                <a:ea typeface="宋体" panose="02010600030101010101" pitchFamily="2" charset="-122"/>
              </a:rPr>
              <a:t>正确的方式调度并发操作</a:t>
            </a:r>
            <a:r>
              <a:rPr lang="zh-CN" altLang="en-US">
                <a:ea typeface="宋体" panose="02010600030101010101" pitchFamily="2" charset="-122"/>
              </a:rPr>
              <a:t>，使一个用户事务的执行不受其他事务的干扰，从而避免造成数据的不一致性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37</a:t>
            </a:fld>
            <a:endParaRPr lang="en-US" altLang="zh-CN"/>
          </a:p>
        </p:txBody>
      </p:sp>
    </p:spTree>
    <p:extLst>
      <p:ext uri="{BB962C8B-B14F-4D97-AF65-F5344CB8AC3E}">
        <p14:creationId xmlns:p14="http://schemas.microsoft.com/office/powerpoint/2010/main" val="4174059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r>
              <a:rPr lang="zh-CN" altLang="en-US">
                <a:ea typeface="宋体" panose="02010600030101010101" pitchFamily="2" charset="-122"/>
              </a:rPr>
              <a:t>并发控制概述（续）</a:t>
            </a:r>
          </a:p>
        </p:txBody>
      </p:sp>
      <p:sp>
        <p:nvSpPr>
          <p:cNvPr id="480259" name="Rectangle 3"/>
          <p:cNvSpPr>
            <a:spLocks noGrp="1" noChangeArrowheads="1"/>
          </p:cNvSpPr>
          <p:nvPr>
            <p:ph type="body" idx="1"/>
          </p:nvPr>
        </p:nvSpPr>
        <p:spPr/>
        <p:txBody>
          <a:bodyPr/>
          <a:lstStyle/>
          <a:p>
            <a:pPr>
              <a:lnSpc>
                <a:spcPct val="170000"/>
              </a:lnSpc>
            </a:pPr>
            <a:r>
              <a:rPr lang="zh-CN" altLang="en-US" dirty="0">
                <a:ea typeface="宋体" panose="02010600030101010101" pitchFamily="2" charset="-122"/>
              </a:rPr>
              <a:t>并发控制的主要技术</a:t>
            </a:r>
          </a:p>
          <a:p>
            <a:pPr lvl="1">
              <a:lnSpc>
                <a:spcPct val="170000"/>
              </a:lnSpc>
            </a:pPr>
            <a:r>
              <a:rPr lang="zh-CN" altLang="en-US" dirty="0">
                <a:ea typeface="宋体" panose="02010600030101010101" pitchFamily="2" charset="-122"/>
              </a:rPr>
              <a:t>封锁</a:t>
            </a:r>
            <a:r>
              <a:rPr lang="en-US" altLang="zh-CN" dirty="0">
                <a:ea typeface="宋体" panose="02010600030101010101" pitchFamily="2" charset="-122"/>
              </a:rPr>
              <a:t>(Locking)</a:t>
            </a:r>
          </a:p>
          <a:p>
            <a:pPr lvl="1">
              <a:lnSpc>
                <a:spcPct val="170000"/>
              </a:lnSpc>
            </a:pPr>
            <a:r>
              <a:rPr lang="zh-CN" altLang="en-US" dirty="0">
                <a:ea typeface="宋体" panose="02010600030101010101" pitchFamily="2" charset="-122"/>
              </a:rPr>
              <a:t>时间戳</a:t>
            </a:r>
            <a:r>
              <a:rPr lang="en-US" altLang="zh-CN" dirty="0">
                <a:ea typeface="宋体" panose="02010600030101010101" pitchFamily="2" charset="-122"/>
              </a:rPr>
              <a:t>(Timestamp)</a:t>
            </a:r>
          </a:p>
          <a:p>
            <a:pPr lvl="1">
              <a:lnSpc>
                <a:spcPct val="170000"/>
              </a:lnSpc>
            </a:pPr>
            <a:r>
              <a:rPr lang="zh-CN" altLang="en-US" dirty="0">
                <a:ea typeface="宋体" panose="02010600030101010101" pitchFamily="2" charset="-122"/>
              </a:rPr>
              <a:t>乐观控制法</a:t>
            </a:r>
          </a:p>
          <a:p>
            <a:pPr>
              <a:lnSpc>
                <a:spcPct val="170000"/>
              </a:lnSpc>
            </a:pPr>
            <a:r>
              <a:rPr lang="zh-CN" altLang="en-US" dirty="0">
                <a:ea typeface="宋体" panose="02010600030101010101" pitchFamily="2" charset="-122"/>
              </a:rPr>
              <a:t>商用的</a:t>
            </a:r>
            <a:r>
              <a:rPr lang="en-US" altLang="zh-CN" dirty="0">
                <a:ea typeface="宋体" panose="02010600030101010101" pitchFamily="2" charset="-122"/>
              </a:rPr>
              <a:t>DBMS</a:t>
            </a:r>
            <a:r>
              <a:rPr lang="zh-CN" altLang="en-US" dirty="0">
                <a:ea typeface="宋体" panose="02010600030101010101" pitchFamily="2" charset="-122"/>
              </a:rPr>
              <a:t>一般都采用封锁方法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38</a:t>
            </a:fld>
            <a:endParaRPr lang="en-US" altLang="zh-CN"/>
          </a:p>
        </p:txBody>
      </p:sp>
    </p:spTree>
    <p:extLst>
      <p:ext uri="{BB962C8B-B14F-4D97-AF65-F5344CB8AC3E}">
        <p14:creationId xmlns:p14="http://schemas.microsoft.com/office/powerpoint/2010/main" val="268805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r>
              <a:rPr lang="zh-CN" altLang="en-US" dirty="0">
                <a:ea typeface="宋体" panose="02010600030101010101" pitchFamily="2" charset="-122"/>
              </a:rPr>
              <a:t>第十二章  并发控制</a:t>
            </a:r>
          </a:p>
        </p:txBody>
      </p:sp>
      <p:sp>
        <p:nvSpPr>
          <p:cNvPr id="481283"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ea typeface="宋体" panose="02010600030101010101" pitchFamily="2" charset="-122"/>
              </a:rPr>
              <a:t>12.1  </a:t>
            </a:r>
            <a:r>
              <a:rPr lang="zh-CN" altLang="en-US" b="1" dirty="0">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12.2  </a:t>
            </a:r>
            <a:r>
              <a:rPr lang="zh-CN" altLang="en-US" b="1" dirty="0">
                <a:solidFill>
                  <a:schemeClr val="tx2"/>
                </a:solidFill>
                <a:ea typeface="宋体" panose="02010600030101010101" pitchFamily="2" charset="-122"/>
              </a:rPr>
              <a:t>封锁</a:t>
            </a:r>
          </a:p>
          <a:p>
            <a:pPr algn="just">
              <a:lnSpc>
                <a:spcPct val="130000"/>
              </a:lnSpc>
              <a:buFont typeface="Wingdings" panose="05000000000000000000" pitchFamily="2" charset="2"/>
              <a:buNone/>
            </a:pPr>
            <a:r>
              <a:rPr lang="en-US" altLang="zh-CN" b="1" dirty="0">
                <a:ea typeface="宋体" panose="02010600030101010101" pitchFamily="2" charset="-122"/>
              </a:rPr>
              <a:t>12.3  </a:t>
            </a:r>
            <a:r>
              <a:rPr lang="zh-CN" altLang="en-US" b="1" dirty="0">
                <a:ea typeface="宋体" panose="02010600030101010101" pitchFamily="2" charset="-122"/>
              </a:rPr>
              <a:t>活锁和死锁</a:t>
            </a:r>
          </a:p>
          <a:p>
            <a:pPr algn="just">
              <a:lnSpc>
                <a:spcPct val="130000"/>
              </a:lnSpc>
              <a:buFont typeface="Wingdings" panose="05000000000000000000" pitchFamily="2" charset="2"/>
              <a:buNone/>
            </a:pPr>
            <a:r>
              <a:rPr lang="en-US" altLang="zh-CN" b="1" dirty="0">
                <a:ea typeface="宋体" panose="02010600030101010101" pitchFamily="2" charset="-122"/>
              </a:rPr>
              <a:t>12.4  </a:t>
            </a:r>
            <a:r>
              <a:rPr lang="zh-CN" altLang="en-US" b="1" dirty="0">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ea typeface="宋体" panose="02010600030101010101" pitchFamily="2" charset="-122"/>
              </a:rPr>
              <a:t>12.5   </a:t>
            </a:r>
            <a:r>
              <a:rPr lang="zh-CN" altLang="en-US" b="1" dirty="0">
                <a:ea typeface="宋体" panose="02010600030101010101" pitchFamily="2" charset="-122"/>
              </a:rPr>
              <a:t>两段锁协议</a:t>
            </a:r>
          </a:p>
          <a:p>
            <a:pPr algn="just">
              <a:lnSpc>
                <a:spcPct val="130000"/>
              </a:lnSpc>
              <a:buFont typeface="Wingdings" panose="05000000000000000000" pitchFamily="2" charset="2"/>
              <a:buNone/>
            </a:pPr>
            <a:r>
              <a:rPr lang="en-US" altLang="zh-CN" b="1" dirty="0">
                <a:ea typeface="宋体" panose="02010600030101010101" pitchFamily="2" charset="-122"/>
              </a:rPr>
              <a:t>12.6   </a:t>
            </a:r>
            <a:r>
              <a:rPr lang="zh-CN" altLang="en-US" b="1" dirty="0">
                <a:ea typeface="宋体" panose="02010600030101010101" pitchFamily="2" charset="-122"/>
              </a:rPr>
              <a:t>封锁的粒度</a:t>
            </a:r>
          </a:p>
          <a:p>
            <a:pPr algn="just">
              <a:lnSpc>
                <a:spcPct val="130000"/>
              </a:lnSpc>
              <a:buFont typeface="Wingdings" panose="05000000000000000000" pitchFamily="2" charset="2"/>
              <a:buNone/>
            </a:pPr>
            <a:r>
              <a:rPr lang="en-US" altLang="zh-CN" b="1" dirty="0">
                <a:ea typeface="宋体" panose="02010600030101010101" pitchFamily="2" charset="-122"/>
              </a:rPr>
              <a:t>12.7   </a:t>
            </a:r>
            <a:r>
              <a:rPr lang="zh-CN" altLang="en-US" b="1" dirty="0">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39</a:t>
            </a:fld>
            <a:endParaRPr lang="en-US" altLang="zh-CN"/>
          </a:p>
        </p:txBody>
      </p:sp>
    </p:spTree>
    <p:extLst>
      <p:ext uri="{BB962C8B-B14F-4D97-AF65-F5344CB8AC3E}">
        <p14:creationId xmlns:p14="http://schemas.microsoft.com/office/powerpoint/2010/main" val="9800188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r>
              <a:rPr lang="en-US" altLang="zh-CN" dirty="0">
                <a:ea typeface="宋体" panose="02010600030101010101" pitchFamily="2" charset="-122"/>
              </a:rPr>
              <a:t>12.2  </a:t>
            </a:r>
            <a:r>
              <a:rPr lang="zh-CN" altLang="en-US" dirty="0">
                <a:ea typeface="宋体" panose="02010600030101010101" pitchFamily="2" charset="-122"/>
              </a:rPr>
              <a:t>封锁</a:t>
            </a:r>
          </a:p>
        </p:txBody>
      </p:sp>
      <p:sp>
        <p:nvSpPr>
          <p:cNvPr id="352259" name="Rectangle 3"/>
          <p:cNvSpPr>
            <a:spLocks noGrp="1" noChangeArrowheads="1"/>
          </p:cNvSpPr>
          <p:nvPr>
            <p:ph type="body" idx="1"/>
          </p:nvPr>
        </p:nvSpPr>
        <p:spPr>
          <a:xfrm>
            <a:off x="457200" y="1828800"/>
            <a:ext cx="8229600" cy="2248272"/>
          </a:xfrm>
        </p:spPr>
        <p:txBody>
          <a:bodyPr/>
          <a:lstStyle/>
          <a:p>
            <a:pPr>
              <a:lnSpc>
                <a:spcPct val="150000"/>
              </a:lnSpc>
            </a:pPr>
            <a:r>
              <a:rPr lang="zh-CN" altLang="en-US" dirty="0">
                <a:ea typeface="宋体" panose="02010600030101010101" pitchFamily="2" charset="-122"/>
              </a:rPr>
              <a:t>什么是封锁</a:t>
            </a:r>
          </a:p>
          <a:p>
            <a:pPr>
              <a:lnSpc>
                <a:spcPct val="150000"/>
              </a:lnSpc>
            </a:pPr>
            <a:r>
              <a:rPr lang="zh-CN" altLang="en-US" dirty="0">
                <a:ea typeface="宋体" panose="02010600030101010101" pitchFamily="2" charset="-122"/>
              </a:rPr>
              <a:t>基本封锁类型</a:t>
            </a:r>
          </a:p>
          <a:p>
            <a:pPr>
              <a:lnSpc>
                <a:spcPct val="150000"/>
              </a:lnSpc>
            </a:pPr>
            <a:r>
              <a:rPr lang="zh-CN" altLang="en-US" dirty="0">
                <a:ea typeface="宋体" panose="02010600030101010101" pitchFamily="2" charset="-122"/>
              </a:rPr>
              <a:t>锁的相容矩阵</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40</a:t>
            </a:fld>
            <a:endParaRPr lang="en-US" altLang="zh-CN"/>
          </a:p>
        </p:txBody>
      </p:sp>
    </p:spTree>
    <p:extLst>
      <p:ext uri="{BB962C8B-B14F-4D97-AF65-F5344CB8AC3E}">
        <p14:creationId xmlns:p14="http://schemas.microsoft.com/office/powerpoint/2010/main" val="29423798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zh-CN" altLang="en-US" dirty="0">
                <a:ea typeface="宋体" panose="02010600030101010101" pitchFamily="2" charset="-122"/>
              </a:rPr>
              <a:t>什么是封锁</a:t>
            </a:r>
          </a:p>
        </p:txBody>
      </p:sp>
      <p:sp>
        <p:nvSpPr>
          <p:cNvPr id="353283" name="Rectangle 3"/>
          <p:cNvSpPr>
            <a:spLocks noGrp="1" noChangeArrowheads="1"/>
          </p:cNvSpPr>
          <p:nvPr>
            <p:ph type="body" idx="1"/>
          </p:nvPr>
        </p:nvSpPr>
        <p:spPr>
          <a:xfrm>
            <a:off x="457200" y="1412776"/>
            <a:ext cx="8229600" cy="4495800"/>
          </a:xfrm>
        </p:spPr>
        <p:txBody>
          <a:bodyPr/>
          <a:lstStyle/>
          <a:p>
            <a:pPr>
              <a:lnSpc>
                <a:spcPct val="200000"/>
              </a:lnSpc>
            </a:pPr>
            <a:r>
              <a:rPr lang="zh-CN" altLang="en-US" sz="2400" dirty="0">
                <a:ea typeface="宋体" panose="02010600030101010101" pitchFamily="2" charset="-122"/>
              </a:rPr>
              <a:t>封锁就是事务</a:t>
            </a:r>
            <a:r>
              <a:rPr lang="en-US" altLang="zh-CN" sz="2400" dirty="0">
                <a:ea typeface="宋体" panose="02010600030101010101" pitchFamily="2" charset="-122"/>
              </a:rPr>
              <a:t>T</a:t>
            </a:r>
            <a:r>
              <a:rPr lang="zh-CN" altLang="en-US" sz="2400" dirty="0">
                <a:ea typeface="宋体" panose="02010600030101010101" pitchFamily="2" charset="-122"/>
              </a:rPr>
              <a:t>在对某个数据对象（例如表、记录等）操作之前，先向系统发出请求，对其加锁。</a:t>
            </a:r>
          </a:p>
          <a:p>
            <a:pPr>
              <a:lnSpc>
                <a:spcPct val="200000"/>
              </a:lnSpc>
            </a:pPr>
            <a:r>
              <a:rPr lang="zh-CN" altLang="en-US" sz="2400" dirty="0">
                <a:ea typeface="宋体" panose="02010600030101010101" pitchFamily="2" charset="-122"/>
              </a:rPr>
              <a:t>加锁后事务</a:t>
            </a:r>
            <a:r>
              <a:rPr lang="en-US" altLang="zh-CN" sz="2400" dirty="0">
                <a:ea typeface="宋体" panose="02010600030101010101" pitchFamily="2" charset="-122"/>
              </a:rPr>
              <a:t>T</a:t>
            </a:r>
            <a:r>
              <a:rPr lang="zh-CN" altLang="en-US" sz="2400" dirty="0">
                <a:ea typeface="宋体" panose="02010600030101010101" pitchFamily="2" charset="-122"/>
              </a:rPr>
              <a:t>就对该数据对象有了一定的控制，在事务</a:t>
            </a:r>
            <a:r>
              <a:rPr lang="en-US" altLang="zh-CN" sz="2400" dirty="0">
                <a:ea typeface="宋体" panose="02010600030101010101" pitchFamily="2" charset="-122"/>
              </a:rPr>
              <a:t>T</a:t>
            </a:r>
            <a:r>
              <a:rPr lang="zh-CN" altLang="en-US" sz="2400" dirty="0">
                <a:ea typeface="宋体" panose="02010600030101010101" pitchFamily="2" charset="-122"/>
              </a:rPr>
              <a:t>释放它的锁之前，其它的事务不能更新此数据对象。</a:t>
            </a:r>
          </a:p>
          <a:p>
            <a:endParaRPr lang="en-US" altLang="zh-CN" sz="2400" dirty="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41</a:t>
            </a:fld>
            <a:endParaRPr lang="en-US" altLang="zh-CN"/>
          </a:p>
        </p:txBody>
      </p:sp>
    </p:spTree>
    <p:extLst>
      <p:ext uri="{BB962C8B-B14F-4D97-AF65-F5344CB8AC3E}">
        <p14:creationId xmlns:p14="http://schemas.microsoft.com/office/powerpoint/2010/main" val="1256798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zh-CN" altLang="en-US">
                <a:ea typeface="宋体" panose="02010600030101010101" pitchFamily="2" charset="-122"/>
              </a:rPr>
              <a:t>基本封锁类型</a:t>
            </a:r>
          </a:p>
        </p:txBody>
      </p:sp>
      <p:sp>
        <p:nvSpPr>
          <p:cNvPr id="355331" name="Rectangle 3"/>
          <p:cNvSpPr>
            <a:spLocks noGrp="1" noChangeArrowheads="1"/>
          </p:cNvSpPr>
          <p:nvPr>
            <p:ph type="body" idx="1"/>
          </p:nvPr>
        </p:nvSpPr>
        <p:spPr/>
        <p:txBody>
          <a:bodyPr/>
          <a:lstStyle/>
          <a:p>
            <a:pPr>
              <a:lnSpc>
                <a:spcPct val="190000"/>
              </a:lnSpc>
            </a:pPr>
            <a:r>
              <a:rPr lang="zh-CN" altLang="en-US" sz="2400" dirty="0">
                <a:ea typeface="宋体" panose="02010600030101010101" pitchFamily="2" charset="-122"/>
              </a:rPr>
              <a:t>一个事务对某个数据对象加锁后究竟拥有什么样的控制由</a:t>
            </a:r>
            <a:r>
              <a:rPr lang="zh-CN" altLang="en-US" sz="2400" dirty="0">
                <a:solidFill>
                  <a:srgbClr val="3333FF"/>
                </a:solidFill>
                <a:ea typeface="宋体" panose="02010600030101010101" pitchFamily="2" charset="-122"/>
              </a:rPr>
              <a:t>封锁的类型</a:t>
            </a:r>
            <a:r>
              <a:rPr lang="zh-CN" altLang="en-US" sz="2400" dirty="0">
                <a:ea typeface="宋体" panose="02010600030101010101" pitchFamily="2" charset="-122"/>
              </a:rPr>
              <a:t>决定。</a:t>
            </a:r>
          </a:p>
          <a:p>
            <a:pPr>
              <a:lnSpc>
                <a:spcPct val="190000"/>
              </a:lnSpc>
            </a:pPr>
            <a:r>
              <a:rPr lang="zh-CN" altLang="en-US" sz="2400" dirty="0">
                <a:ea typeface="宋体" panose="02010600030101010101" pitchFamily="2" charset="-122"/>
              </a:rPr>
              <a:t>基本封锁类型</a:t>
            </a:r>
          </a:p>
          <a:p>
            <a:pPr lvl="1">
              <a:lnSpc>
                <a:spcPct val="190000"/>
              </a:lnSpc>
            </a:pPr>
            <a:r>
              <a:rPr lang="zh-CN" altLang="en-US" sz="2200" dirty="0">
                <a:ea typeface="宋体" panose="02010600030101010101" pitchFamily="2" charset="-122"/>
              </a:rPr>
              <a:t>排它锁（</a:t>
            </a:r>
            <a:r>
              <a:rPr lang="en-US" altLang="zh-CN" sz="2200" dirty="0">
                <a:ea typeface="宋体" panose="02010600030101010101" pitchFamily="2" charset="-122"/>
              </a:rPr>
              <a:t>Exclusive Locks</a:t>
            </a:r>
            <a:r>
              <a:rPr lang="zh-CN" altLang="en-US" sz="2200" dirty="0">
                <a:ea typeface="宋体" panose="02010600030101010101" pitchFamily="2" charset="-122"/>
              </a:rPr>
              <a:t>，简记为</a:t>
            </a:r>
            <a:r>
              <a:rPr lang="en-US" altLang="zh-CN" sz="2200" dirty="0">
                <a:ea typeface="宋体" panose="02010600030101010101" pitchFamily="2" charset="-122"/>
              </a:rPr>
              <a:t>X</a:t>
            </a:r>
            <a:r>
              <a:rPr lang="zh-CN" altLang="en-US" sz="2200" dirty="0">
                <a:ea typeface="宋体" panose="02010600030101010101" pitchFamily="2" charset="-122"/>
              </a:rPr>
              <a:t>锁）</a:t>
            </a:r>
          </a:p>
          <a:p>
            <a:pPr lvl="1">
              <a:lnSpc>
                <a:spcPct val="190000"/>
              </a:lnSpc>
            </a:pPr>
            <a:r>
              <a:rPr lang="zh-CN" altLang="en-US" sz="2200" dirty="0">
                <a:ea typeface="宋体" panose="02010600030101010101" pitchFamily="2" charset="-122"/>
              </a:rPr>
              <a:t>共享锁（</a:t>
            </a:r>
            <a:r>
              <a:rPr lang="en-US" altLang="zh-CN" sz="2200" dirty="0">
                <a:ea typeface="宋体" panose="02010600030101010101" pitchFamily="2" charset="-122"/>
              </a:rPr>
              <a:t>Share Locks</a:t>
            </a:r>
            <a:r>
              <a:rPr lang="zh-CN" altLang="en-US" sz="2200" dirty="0">
                <a:ea typeface="宋体" panose="02010600030101010101" pitchFamily="2" charset="-122"/>
              </a:rPr>
              <a:t>，简记为</a:t>
            </a:r>
            <a:r>
              <a:rPr lang="en-US" altLang="zh-CN" sz="2200" dirty="0">
                <a:ea typeface="宋体" panose="02010600030101010101" pitchFamily="2" charset="-122"/>
              </a:rPr>
              <a:t>S</a:t>
            </a:r>
            <a:r>
              <a:rPr lang="zh-CN" altLang="en-US" sz="2200" dirty="0">
                <a:ea typeface="宋体" panose="02010600030101010101" pitchFamily="2" charset="-122"/>
              </a:rPr>
              <a:t>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42</a:t>
            </a:fld>
            <a:endParaRPr lang="en-US" altLang="zh-CN"/>
          </a:p>
        </p:txBody>
      </p:sp>
    </p:spTree>
    <p:extLst>
      <p:ext uri="{BB962C8B-B14F-4D97-AF65-F5344CB8AC3E}">
        <p14:creationId xmlns:p14="http://schemas.microsoft.com/office/powerpoint/2010/main" val="3386297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r>
              <a:rPr lang="zh-CN" altLang="en-US" dirty="0">
                <a:ea typeface="宋体" panose="02010600030101010101" pitchFamily="2" charset="-122"/>
              </a:rPr>
              <a:t>排它锁（</a:t>
            </a:r>
            <a:r>
              <a:rPr lang="en-US" altLang="zh-CN" sz="3600" dirty="0">
                <a:ea typeface="宋体" panose="02010600030101010101" pitchFamily="2" charset="-122"/>
              </a:rPr>
              <a:t> X</a:t>
            </a:r>
            <a:r>
              <a:rPr lang="zh-CN" altLang="en-US" sz="3600" dirty="0">
                <a:ea typeface="宋体" panose="02010600030101010101" pitchFamily="2" charset="-122"/>
              </a:rPr>
              <a:t>锁</a:t>
            </a:r>
            <a:r>
              <a:rPr lang="zh-CN" altLang="en-US" dirty="0">
                <a:ea typeface="宋体" panose="02010600030101010101" pitchFamily="2" charset="-122"/>
              </a:rPr>
              <a:t>）</a:t>
            </a:r>
          </a:p>
        </p:txBody>
      </p:sp>
      <p:sp>
        <p:nvSpPr>
          <p:cNvPr id="356355" name="Rectangle 3"/>
          <p:cNvSpPr>
            <a:spLocks noGrp="1" noChangeArrowheads="1"/>
          </p:cNvSpPr>
          <p:nvPr>
            <p:ph type="body" idx="1"/>
          </p:nvPr>
        </p:nvSpPr>
        <p:spPr/>
        <p:txBody>
          <a:bodyPr/>
          <a:lstStyle/>
          <a:p>
            <a:pPr>
              <a:lnSpc>
                <a:spcPct val="110000"/>
              </a:lnSpc>
              <a:spcBef>
                <a:spcPct val="60000"/>
              </a:spcBef>
            </a:pPr>
            <a:r>
              <a:rPr lang="zh-CN" altLang="en-US" dirty="0">
                <a:ea typeface="宋体" panose="02010600030101010101" pitchFamily="2" charset="-122"/>
              </a:rPr>
              <a:t>排它锁又称为</a:t>
            </a:r>
            <a:r>
              <a:rPr lang="zh-CN" altLang="en-US" dirty="0">
                <a:solidFill>
                  <a:srgbClr val="3333FF"/>
                </a:solidFill>
                <a:ea typeface="宋体" panose="02010600030101010101" pitchFamily="2" charset="-122"/>
              </a:rPr>
              <a:t>写锁</a:t>
            </a:r>
          </a:p>
          <a:p>
            <a:pPr>
              <a:lnSpc>
                <a:spcPct val="110000"/>
              </a:lnSpc>
              <a:spcBef>
                <a:spcPct val="60000"/>
              </a:spcBef>
            </a:pPr>
            <a:r>
              <a:rPr lang="zh-CN" altLang="en-US" dirty="0">
                <a:ea typeface="宋体" panose="02010600030101010101" pitchFamily="2" charset="-122"/>
              </a:rPr>
              <a:t>若事务</a:t>
            </a:r>
            <a:r>
              <a:rPr lang="en-US" altLang="zh-CN" dirty="0">
                <a:ea typeface="宋体" panose="02010600030101010101" pitchFamily="2" charset="-122"/>
              </a:rPr>
              <a:t>T</a:t>
            </a:r>
            <a:r>
              <a:rPr lang="zh-CN" altLang="en-US" dirty="0">
                <a:ea typeface="宋体" panose="02010600030101010101" pitchFamily="2" charset="-122"/>
              </a:rPr>
              <a:t>对数据对象</a:t>
            </a:r>
            <a:r>
              <a:rPr lang="en-US" altLang="zh-CN" dirty="0">
                <a:ea typeface="宋体" panose="02010600030101010101" pitchFamily="2" charset="-122"/>
              </a:rPr>
              <a:t>A</a:t>
            </a:r>
            <a:r>
              <a:rPr lang="zh-CN" altLang="en-US" dirty="0">
                <a:ea typeface="宋体" panose="02010600030101010101" pitchFamily="2" charset="-122"/>
              </a:rPr>
              <a:t>加上</a:t>
            </a:r>
            <a:r>
              <a:rPr lang="en-US" altLang="zh-CN" dirty="0">
                <a:ea typeface="宋体" panose="02010600030101010101" pitchFamily="2" charset="-122"/>
              </a:rPr>
              <a:t>X</a:t>
            </a:r>
            <a:r>
              <a:rPr lang="zh-CN" altLang="en-US" dirty="0">
                <a:ea typeface="宋体" panose="02010600030101010101" pitchFamily="2" charset="-122"/>
              </a:rPr>
              <a:t>锁，则只允许</a:t>
            </a:r>
            <a:r>
              <a:rPr lang="en-US" altLang="zh-CN" dirty="0">
                <a:ea typeface="宋体" panose="02010600030101010101" pitchFamily="2" charset="-122"/>
              </a:rPr>
              <a:t>T</a:t>
            </a:r>
            <a:r>
              <a:rPr lang="zh-CN" altLang="en-US" dirty="0">
                <a:ea typeface="宋体" panose="02010600030101010101" pitchFamily="2" charset="-122"/>
              </a:rPr>
              <a:t>读取和修改</a:t>
            </a:r>
            <a:r>
              <a:rPr lang="en-US" altLang="zh-CN" dirty="0">
                <a:ea typeface="宋体" panose="02010600030101010101" pitchFamily="2" charset="-122"/>
              </a:rPr>
              <a:t>A</a:t>
            </a:r>
            <a:r>
              <a:rPr lang="zh-CN" altLang="en-US" dirty="0">
                <a:ea typeface="宋体" panose="02010600030101010101" pitchFamily="2" charset="-122"/>
              </a:rPr>
              <a:t>，其它任何事务都不能再对</a:t>
            </a:r>
            <a:r>
              <a:rPr lang="en-US" altLang="zh-CN" dirty="0">
                <a:ea typeface="宋体" panose="02010600030101010101" pitchFamily="2" charset="-122"/>
              </a:rPr>
              <a:t>A</a:t>
            </a:r>
            <a:r>
              <a:rPr lang="zh-CN" altLang="en-US" dirty="0">
                <a:ea typeface="宋体" panose="02010600030101010101" pitchFamily="2" charset="-122"/>
              </a:rPr>
              <a:t>加任何类型的锁，直到</a:t>
            </a:r>
            <a:r>
              <a:rPr lang="en-US" altLang="zh-CN" dirty="0">
                <a:ea typeface="宋体" panose="02010600030101010101" pitchFamily="2" charset="-122"/>
              </a:rPr>
              <a:t>T</a:t>
            </a:r>
            <a:r>
              <a:rPr lang="zh-CN" altLang="en-US" dirty="0">
                <a:ea typeface="宋体" panose="02010600030101010101" pitchFamily="2" charset="-122"/>
              </a:rPr>
              <a:t>释放</a:t>
            </a:r>
            <a:r>
              <a:rPr lang="en-US" altLang="zh-CN" dirty="0">
                <a:ea typeface="宋体" panose="02010600030101010101" pitchFamily="2" charset="-122"/>
              </a:rPr>
              <a:t>A</a:t>
            </a:r>
            <a:r>
              <a:rPr lang="zh-CN" altLang="en-US" dirty="0">
                <a:ea typeface="宋体" panose="02010600030101010101" pitchFamily="2" charset="-122"/>
              </a:rPr>
              <a:t>上的锁。</a:t>
            </a:r>
          </a:p>
          <a:p>
            <a:pPr>
              <a:lnSpc>
                <a:spcPct val="110000"/>
              </a:lnSpc>
              <a:spcBef>
                <a:spcPct val="60000"/>
              </a:spcBef>
            </a:pPr>
            <a:r>
              <a:rPr lang="zh-CN" altLang="en-US" dirty="0">
                <a:ea typeface="宋体" panose="02010600030101010101" pitchFamily="2" charset="-122"/>
              </a:rPr>
              <a:t>保证其他事务在</a:t>
            </a:r>
            <a:r>
              <a:rPr lang="en-US" altLang="zh-CN" dirty="0">
                <a:ea typeface="宋体" panose="02010600030101010101" pitchFamily="2" charset="-122"/>
              </a:rPr>
              <a:t>T</a:t>
            </a:r>
            <a:r>
              <a:rPr lang="zh-CN" altLang="en-US" dirty="0">
                <a:ea typeface="宋体" panose="02010600030101010101" pitchFamily="2" charset="-122"/>
              </a:rPr>
              <a:t>释放</a:t>
            </a:r>
            <a:r>
              <a:rPr lang="en-US" altLang="zh-CN" dirty="0">
                <a:ea typeface="宋体" panose="02010600030101010101" pitchFamily="2" charset="-122"/>
              </a:rPr>
              <a:t>A</a:t>
            </a:r>
            <a:r>
              <a:rPr lang="zh-CN" altLang="en-US" dirty="0">
                <a:ea typeface="宋体" panose="02010600030101010101" pitchFamily="2" charset="-122"/>
              </a:rPr>
              <a:t>上的锁之前不能再读取和修改</a:t>
            </a:r>
            <a:r>
              <a:rPr lang="en-US" altLang="zh-CN" dirty="0">
                <a:ea typeface="宋体" panose="02010600030101010101" pitchFamily="2" charset="-122"/>
              </a:rPr>
              <a:t>A </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43</a:t>
            </a:fld>
            <a:endParaRPr lang="en-US" altLang="zh-CN"/>
          </a:p>
        </p:txBody>
      </p:sp>
    </p:spTree>
    <p:extLst>
      <p:ext uri="{BB962C8B-B14F-4D97-AF65-F5344CB8AC3E}">
        <p14:creationId xmlns:p14="http://schemas.microsoft.com/office/powerpoint/2010/main" val="3647685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r>
              <a:rPr lang="zh-CN" altLang="en-US" dirty="0">
                <a:ea typeface="宋体" panose="02010600030101010101" pitchFamily="2" charset="-122"/>
              </a:rPr>
              <a:t>共享锁（</a:t>
            </a:r>
            <a:r>
              <a:rPr lang="en-US" altLang="zh-CN" sz="3600" dirty="0">
                <a:ea typeface="宋体" panose="02010600030101010101" pitchFamily="2" charset="-122"/>
              </a:rPr>
              <a:t> S</a:t>
            </a:r>
            <a:r>
              <a:rPr lang="zh-CN" altLang="en-US" sz="3600" dirty="0">
                <a:ea typeface="宋体" panose="02010600030101010101" pitchFamily="2" charset="-122"/>
              </a:rPr>
              <a:t>锁</a:t>
            </a:r>
            <a:r>
              <a:rPr lang="zh-CN" altLang="en-US" dirty="0">
                <a:ea typeface="宋体" panose="02010600030101010101" pitchFamily="2" charset="-122"/>
              </a:rPr>
              <a:t>）</a:t>
            </a:r>
          </a:p>
        </p:txBody>
      </p:sp>
      <p:sp>
        <p:nvSpPr>
          <p:cNvPr id="357379" name="Rectangle 3"/>
          <p:cNvSpPr>
            <a:spLocks noGrp="1" noChangeArrowheads="1"/>
          </p:cNvSpPr>
          <p:nvPr>
            <p:ph type="body" idx="1"/>
          </p:nvPr>
        </p:nvSpPr>
        <p:spPr/>
        <p:txBody>
          <a:bodyPr/>
          <a:lstStyle/>
          <a:p>
            <a:r>
              <a:rPr lang="zh-CN" altLang="en-US" dirty="0">
                <a:ea typeface="宋体" panose="02010600030101010101" pitchFamily="2" charset="-122"/>
              </a:rPr>
              <a:t>共享锁又称为</a:t>
            </a:r>
            <a:r>
              <a:rPr lang="zh-CN" altLang="en-US" dirty="0">
                <a:solidFill>
                  <a:srgbClr val="3333FF"/>
                </a:solidFill>
                <a:ea typeface="宋体" panose="02010600030101010101" pitchFamily="2" charset="-122"/>
              </a:rPr>
              <a:t>读锁</a:t>
            </a:r>
          </a:p>
          <a:p>
            <a:pPr>
              <a:lnSpc>
                <a:spcPct val="110000"/>
              </a:lnSpc>
              <a:spcBef>
                <a:spcPct val="60000"/>
              </a:spcBef>
            </a:pPr>
            <a:r>
              <a:rPr lang="zh-CN" altLang="en-US" dirty="0">
                <a:ea typeface="宋体" panose="02010600030101010101" pitchFamily="2" charset="-122"/>
              </a:rPr>
              <a:t>若事务</a:t>
            </a:r>
            <a:r>
              <a:rPr lang="en-US" altLang="zh-CN" dirty="0">
                <a:ea typeface="宋体" panose="02010600030101010101" pitchFamily="2" charset="-122"/>
              </a:rPr>
              <a:t>T</a:t>
            </a:r>
            <a:r>
              <a:rPr lang="zh-CN" altLang="en-US" dirty="0">
                <a:ea typeface="宋体" panose="02010600030101010101" pitchFamily="2" charset="-122"/>
              </a:rPr>
              <a:t>对数据对象</a:t>
            </a:r>
            <a:r>
              <a:rPr lang="en-US" altLang="zh-CN" dirty="0">
                <a:ea typeface="宋体" panose="02010600030101010101" pitchFamily="2" charset="-122"/>
              </a:rPr>
              <a:t>A</a:t>
            </a:r>
            <a:r>
              <a:rPr lang="zh-CN" altLang="en-US" dirty="0">
                <a:ea typeface="宋体" panose="02010600030101010101" pitchFamily="2" charset="-122"/>
              </a:rPr>
              <a:t>加上</a:t>
            </a:r>
            <a:r>
              <a:rPr lang="en-US" altLang="zh-CN" dirty="0">
                <a:ea typeface="宋体" panose="02010600030101010101" pitchFamily="2" charset="-122"/>
              </a:rPr>
              <a:t>S</a:t>
            </a:r>
            <a:r>
              <a:rPr lang="zh-CN" altLang="en-US" dirty="0">
                <a:ea typeface="宋体" panose="02010600030101010101" pitchFamily="2" charset="-122"/>
              </a:rPr>
              <a:t>锁，则其它事务只能再对</a:t>
            </a:r>
            <a:r>
              <a:rPr lang="en-US" altLang="zh-CN" dirty="0">
                <a:ea typeface="宋体" panose="02010600030101010101" pitchFamily="2" charset="-122"/>
              </a:rPr>
              <a:t>A</a:t>
            </a:r>
            <a:r>
              <a:rPr lang="zh-CN" altLang="en-US" dirty="0">
                <a:ea typeface="宋体" panose="02010600030101010101" pitchFamily="2" charset="-122"/>
              </a:rPr>
              <a:t>加</a:t>
            </a:r>
            <a:r>
              <a:rPr lang="en-US" altLang="zh-CN" dirty="0">
                <a:ea typeface="宋体" panose="02010600030101010101" pitchFamily="2" charset="-122"/>
              </a:rPr>
              <a:t>S</a:t>
            </a:r>
            <a:r>
              <a:rPr lang="zh-CN" altLang="en-US" dirty="0">
                <a:ea typeface="宋体" panose="02010600030101010101" pitchFamily="2" charset="-122"/>
              </a:rPr>
              <a:t>锁，而不能加</a:t>
            </a:r>
            <a:r>
              <a:rPr lang="en-US" altLang="zh-CN" dirty="0">
                <a:ea typeface="宋体" panose="02010600030101010101" pitchFamily="2" charset="-122"/>
              </a:rPr>
              <a:t>X</a:t>
            </a:r>
            <a:r>
              <a:rPr lang="zh-CN" altLang="en-US" dirty="0">
                <a:ea typeface="宋体" panose="02010600030101010101" pitchFamily="2" charset="-122"/>
              </a:rPr>
              <a:t>锁，直到</a:t>
            </a:r>
            <a:r>
              <a:rPr lang="en-US" altLang="zh-CN" dirty="0">
                <a:ea typeface="宋体" panose="02010600030101010101" pitchFamily="2" charset="-122"/>
              </a:rPr>
              <a:t>T</a:t>
            </a:r>
            <a:r>
              <a:rPr lang="zh-CN" altLang="en-US" dirty="0">
                <a:ea typeface="宋体" panose="02010600030101010101" pitchFamily="2" charset="-122"/>
              </a:rPr>
              <a:t>释放</a:t>
            </a:r>
            <a:r>
              <a:rPr lang="en-US" altLang="zh-CN" dirty="0">
                <a:ea typeface="宋体" panose="02010600030101010101" pitchFamily="2" charset="-122"/>
              </a:rPr>
              <a:t>A</a:t>
            </a:r>
            <a:r>
              <a:rPr lang="zh-CN" altLang="en-US" dirty="0">
                <a:ea typeface="宋体" panose="02010600030101010101" pitchFamily="2" charset="-122"/>
              </a:rPr>
              <a:t>上的</a:t>
            </a:r>
            <a:r>
              <a:rPr lang="en-US" altLang="zh-CN" dirty="0">
                <a:ea typeface="宋体" panose="02010600030101010101" pitchFamily="2" charset="-122"/>
              </a:rPr>
              <a:t>S</a:t>
            </a:r>
            <a:r>
              <a:rPr lang="zh-CN" altLang="en-US" dirty="0">
                <a:ea typeface="宋体" panose="02010600030101010101" pitchFamily="2" charset="-122"/>
              </a:rPr>
              <a:t>锁。</a:t>
            </a:r>
          </a:p>
          <a:p>
            <a:pPr>
              <a:lnSpc>
                <a:spcPct val="110000"/>
              </a:lnSpc>
              <a:spcBef>
                <a:spcPct val="60000"/>
              </a:spcBef>
            </a:pPr>
            <a:r>
              <a:rPr lang="zh-CN" altLang="en-US" dirty="0">
                <a:ea typeface="宋体" panose="02010600030101010101" pitchFamily="2" charset="-122"/>
              </a:rPr>
              <a:t>保证其他事务可以读</a:t>
            </a:r>
            <a:r>
              <a:rPr lang="en-US" altLang="zh-CN" dirty="0">
                <a:ea typeface="宋体" panose="02010600030101010101" pitchFamily="2" charset="-122"/>
              </a:rPr>
              <a:t>A</a:t>
            </a:r>
            <a:r>
              <a:rPr lang="zh-CN" altLang="en-US" dirty="0">
                <a:ea typeface="宋体" panose="02010600030101010101" pitchFamily="2" charset="-122"/>
              </a:rPr>
              <a:t>，但在</a:t>
            </a:r>
            <a:r>
              <a:rPr lang="en-US" altLang="zh-CN" dirty="0">
                <a:ea typeface="宋体" panose="02010600030101010101" pitchFamily="2" charset="-122"/>
              </a:rPr>
              <a:t>T</a:t>
            </a:r>
            <a:r>
              <a:rPr lang="zh-CN" altLang="en-US" dirty="0">
                <a:ea typeface="宋体" panose="02010600030101010101" pitchFamily="2" charset="-122"/>
              </a:rPr>
              <a:t>释放</a:t>
            </a:r>
            <a:r>
              <a:rPr lang="en-US" altLang="zh-CN" dirty="0">
                <a:ea typeface="宋体" panose="02010600030101010101" pitchFamily="2" charset="-122"/>
              </a:rPr>
              <a:t>A</a:t>
            </a:r>
            <a:r>
              <a:rPr lang="zh-CN" altLang="en-US" dirty="0">
                <a:ea typeface="宋体" panose="02010600030101010101" pitchFamily="2" charset="-122"/>
              </a:rPr>
              <a:t>上的</a:t>
            </a:r>
            <a:r>
              <a:rPr lang="en-US" altLang="zh-CN" dirty="0">
                <a:ea typeface="宋体" panose="02010600030101010101" pitchFamily="2" charset="-122"/>
              </a:rPr>
              <a:t>S</a:t>
            </a:r>
            <a:r>
              <a:rPr lang="zh-CN" altLang="en-US" dirty="0">
                <a:ea typeface="宋体" panose="02010600030101010101" pitchFamily="2" charset="-122"/>
              </a:rPr>
              <a:t>锁之前不能对</a:t>
            </a:r>
            <a:r>
              <a:rPr lang="en-US" altLang="zh-CN" dirty="0">
                <a:ea typeface="宋体" panose="02010600030101010101" pitchFamily="2" charset="-122"/>
              </a:rPr>
              <a:t>A</a:t>
            </a:r>
            <a:r>
              <a:rPr lang="zh-CN" altLang="en-US" dirty="0">
                <a:ea typeface="宋体" panose="02010600030101010101" pitchFamily="2" charset="-122"/>
              </a:rPr>
              <a:t>做任何修改 。</a:t>
            </a:r>
          </a:p>
          <a:p>
            <a:pPr>
              <a:lnSpc>
                <a:spcPct val="110000"/>
              </a:lnSpc>
              <a:spcBef>
                <a:spcPct val="60000"/>
              </a:spcBef>
            </a:pPr>
            <a:endParaRPr lang="en-US" altLang="zh-CN" dirty="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44</a:t>
            </a:fld>
            <a:endParaRPr lang="en-US" altLang="zh-CN"/>
          </a:p>
        </p:txBody>
      </p:sp>
    </p:spTree>
    <p:extLst>
      <p:ext uri="{BB962C8B-B14F-4D97-AF65-F5344CB8AC3E}">
        <p14:creationId xmlns:p14="http://schemas.microsoft.com/office/powerpoint/2010/main" val="3058974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r>
              <a:rPr lang="zh-CN" altLang="en-US">
                <a:ea typeface="宋体" panose="02010600030101010101" pitchFamily="2" charset="-122"/>
              </a:rPr>
              <a:t>锁的相容矩阵</a:t>
            </a:r>
          </a:p>
        </p:txBody>
      </p:sp>
      <p:grpSp>
        <p:nvGrpSpPr>
          <p:cNvPr id="359483" name="Group 59"/>
          <p:cNvGrpSpPr>
            <a:grpSpLocks/>
          </p:cNvGrpSpPr>
          <p:nvPr/>
        </p:nvGrpSpPr>
        <p:grpSpPr bwMode="auto">
          <a:xfrm>
            <a:off x="971550" y="1790700"/>
            <a:ext cx="5645150" cy="4186238"/>
            <a:chOff x="612" y="1128"/>
            <a:chExt cx="3556" cy="2637"/>
          </a:xfrm>
        </p:grpSpPr>
        <p:sp>
          <p:nvSpPr>
            <p:cNvPr id="359428" name="Text Box 4"/>
            <p:cNvSpPr txBox="1">
              <a:spLocks noChangeArrowheads="1"/>
            </p:cNvSpPr>
            <p:nvPr/>
          </p:nvSpPr>
          <p:spPr bwMode="auto">
            <a:xfrm>
              <a:off x="1610" y="3067"/>
              <a:ext cx="1771"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kumimoji="1" lang="en-US" altLang="zh-CN" sz="2000" dirty="0"/>
                <a:t>Y=Yes</a:t>
              </a:r>
              <a:r>
                <a:rPr kumimoji="1" lang="zh-CN" altLang="en-US" sz="2000" dirty="0"/>
                <a:t>，相容的请求</a:t>
              </a:r>
              <a:endParaRPr kumimoji="1" lang="zh-CN" altLang="en-US" sz="3200" dirty="0"/>
            </a:p>
            <a:p>
              <a:pPr algn="l" eaLnBrk="0" hangingPunct="0"/>
              <a:r>
                <a:rPr kumimoji="1" lang="en-US" altLang="zh-CN" sz="2000" dirty="0"/>
                <a:t>N=No</a:t>
              </a:r>
              <a:r>
                <a:rPr kumimoji="1" lang="zh-CN" altLang="en-US" sz="2000" dirty="0"/>
                <a:t>，不相容的请求</a:t>
              </a:r>
              <a:endParaRPr kumimoji="1" lang="zh-CN" altLang="en-US" sz="6000" dirty="0"/>
            </a:p>
          </p:txBody>
        </p:sp>
        <p:sp>
          <p:nvSpPr>
            <p:cNvPr id="359429" name="Rectangle 5"/>
            <p:cNvSpPr>
              <a:spLocks noChangeArrowheads="1"/>
            </p:cNvSpPr>
            <p:nvPr/>
          </p:nvSpPr>
          <p:spPr bwMode="auto">
            <a:xfrm>
              <a:off x="839" y="1128"/>
              <a:ext cx="506"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a:r>
                <a:rPr kumimoji="1" lang="en-US" altLang="zh-CN" sz="1200" dirty="0"/>
                <a:t>        </a:t>
              </a:r>
              <a:r>
                <a:rPr kumimoji="1" lang="en-US" altLang="zh-CN" sz="2000" dirty="0"/>
                <a:t>T</a:t>
              </a:r>
              <a:r>
                <a:rPr kumimoji="1" lang="en-US" altLang="zh-CN" sz="2000" baseline="-30000" dirty="0"/>
                <a:t>1</a:t>
              </a:r>
              <a:endParaRPr kumimoji="1" lang="en-US" altLang="zh-CN" sz="2000" b="0" dirty="0"/>
            </a:p>
          </p:txBody>
        </p:sp>
        <p:grpSp>
          <p:nvGrpSpPr>
            <p:cNvPr id="359430" name="Group 6"/>
            <p:cNvGrpSpPr>
              <a:grpSpLocks/>
            </p:cNvGrpSpPr>
            <p:nvPr/>
          </p:nvGrpSpPr>
          <p:grpSpPr bwMode="auto">
            <a:xfrm>
              <a:off x="612" y="1207"/>
              <a:ext cx="3556" cy="1544"/>
              <a:chOff x="-3" y="-3"/>
              <a:chExt cx="1733" cy="1841"/>
            </a:xfrm>
          </p:grpSpPr>
          <p:grpSp>
            <p:nvGrpSpPr>
              <p:cNvPr id="359431" name="Group 7"/>
              <p:cNvGrpSpPr>
                <a:grpSpLocks/>
              </p:cNvGrpSpPr>
              <p:nvPr/>
            </p:nvGrpSpPr>
            <p:grpSpPr bwMode="auto">
              <a:xfrm>
                <a:off x="0" y="0"/>
                <a:ext cx="1727" cy="1835"/>
                <a:chOff x="0" y="0"/>
                <a:chExt cx="1727" cy="1835"/>
              </a:xfrm>
            </p:grpSpPr>
            <p:grpSp>
              <p:nvGrpSpPr>
                <p:cNvPr id="359432" name="Group 8"/>
                <p:cNvGrpSpPr>
                  <a:grpSpLocks/>
                </p:cNvGrpSpPr>
                <p:nvPr/>
              </p:nvGrpSpPr>
              <p:grpSpPr bwMode="auto">
                <a:xfrm>
                  <a:off x="0" y="0"/>
                  <a:ext cx="447" cy="442"/>
                  <a:chOff x="0" y="0"/>
                  <a:chExt cx="447" cy="442"/>
                </a:xfrm>
              </p:grpSpPr>
              <p:sp>
                <p:nvSpPr>
                  <p:cNvPr id="359433" name="Rectangle 9"/>
                  <p:cNvSpPr>
                    <a:spLocks noChangeArrowheads="1"/>
                  </p:cNvSpPr>
                  <p:nvPr/>
                </p:nvSpPr>
                <p:spPr bwMode="auto">
                  <a:xfrm>
                    <a:off x="43" y="0"/>
                    <a:ext cx="36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59434" name="Rectangle 10"/>
                  <p:cNvSpPr>
                    <a:spLocks noChangeArrowheads="1"/>
                  </p:cNvSpPr>
                  <p:nvPr/>
                </p:nvSpPr>
                <p:spPr bwMode="auto">
                  <a:xfrm>
                    <a:off x="0" y="0"/>
                    <a:ext cx="447"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35" name="Group 11"/>
                <p:cNvGrpSpPr>
                  <a:grpSpLocks/>
                </p:cNvGrpSpPr>
                <p:nvPr/>
              </p:nvGrpSpPr>
              <p:grpSpPr bwMode="auto">
                <a:xfrm>
                  <a:off x="447" y="0"/>
                  <a:ext cx="426" cy="442"/>
                  <a:chOff x="447" y="0"/>
                  <a:chExt cx="426" cy="442"/>
                </a:xfrm>
              </p:grpSpPr>
              <p:sp>
                <p:nvSpPr>
                  <p:cNvPr id="359436" name="Rectangle 12"/>
                  <p:cNvSpPr>
                    <a:spLocks noChangeArrowheads="1"/>
                  </p:cNvSpPr>
                  <p:nvPr/>
                </p:nvSpPr>
                <p:spPr bwMode="auto">
                  <a:xfrm>
                    <a:off x="490" y="0"/>
                    <a:ext cx="3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X</a:t>
                    </a:r>
                    <a:endParaRPr kumimoji="1" lang="en-US" altLang="zh-CN" sz="3600" b="0"/>
                  </a:p>
                </p:txBody>
              </p:sp>
              <p:sp>
                <p:nvSpPr>
                  <p:cNvPr id="359437" name="Rectangle 13"/>
                  <p:cNvSpPr>
                    <a:spLocks noChangeArrowheads="1"/>
                  </p:cNvSpPr>
                  <p:nvPr/>
                </p:nvSpPr>
                <p:spPr bwMode="auto">
                  <a:xfrm>
                    <a:off x="447" y="0"/>
                    <a:ext cx="42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38" name="Group 14"/>
                <p:cNvGrpSpPr>
                  <a:grpSpLocks/>
                </p:cNvGrpSpPr>
                <p:nvPr/>
              </p:nvGrpSpPr>
              <p:grpSpPr bwMode="auto">
                <a:xfrm>
                  <a:off x="873" y="0"/>
                  <a:ext cx="426" cy="442"/>
                  <a:chOff x="873" y="0"/>
                  <a:chExt cx="426" cy="442"/>
                </a:xfrm>
              </p:grpSpPr>
              <p:sp>
                <p:nvSpPr>
                  <p:cNvPr id="359439" name="Rectangle 15"/>
                  <p:cNvSpPr>
                    <a:spLocks noChangeArrowheads="1"/>
                  </p:cNvSpPr>
                  <p:nvPr/>
                </p:nvSpPr>
                <p:spPr bwMode="auto">
                  <a:xfrm>
                    <a:off x="916" y="0"/>
                    <a:ext cx="3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S</a:t>
                    </a:r>
                    <a:endParaRPr kumimoji="1" lang="en-US" altLang="zh-CN" sz="3600" b="0"/>
                  </a:p>
                </p:txBody>
              </p:sp>
              <p:sp>
                <p:nvSpPr>
                  <p:cNvPr id="359440" name="Rectangle 16"/>
                  <p:cNvSpPr>
                    <a:spLocks noChangeArrowheads="1"/>
                  </p:cNvSpPr>
                  <p:nvPr/>
                </p:nvSpPr>
                <p:spPr bwMode="auto">
                  <a:xfrm>
                    <a:off x="873" y="0"/>
                    <a:ext cx="42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41" name="Group 17"/>
                <p:cNvGrpSpPr>
                  <a:grpSpLocks/>
                </p:cNvGrpSpPr>
                <p:nvPr/>
              </p:nvGrpSpPr>
              <p:grpSpPr bwMode="auto">
                <a:xfrm>
                  <a:off x="1299" y="0"/>
                  <a:ext cx="428" cy="442"/>
                  <a:chOff x="1299" y="0"/>
                  <a:chExt cx="428" cy="442"/>
                </a:xfrm>
              </p:grpSpPr>
              <p:sp>
                <p:nvSpPr>
                  <p:cNvPr id="359442" name="Rectangle 18"/>
                  <p:cNvSpPr>
                    <a:spLocks noChangeArrowheads="1"/>
                  </p:cNvSpPr>
                  <p:nvPr/>
                </p:nvSpPr>
                <p:spPr bwMode="auto">
                  <a:xfrm>
                    <a:off x="1342" y="0"/>
                    <a:ext cx="34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a:t>
                    </a:r>
                    <a:endParaRPr kumimoji="1" lang="en-US" altLang="zh-CN" sz="3600" b="0"/>
                  </a:p>
                </p:txBody>
              </p:sp>
              <p:sp>
                <p:nvSpPr>
                  <p:cNvPr id="359443" name="Rectangle 19"/>
                  <p:cNvSpPr>
                    <a:spLocks noChangeArrowheads="1"/>
                  </p:cNvSpPr>
                  <p:nvPr/>
                </p:nvSpPr>
                <p:spPr bwMode="auto">
                  <a:xfrm>
                    <a:off x="1299" y="0"/>
                    <a:ext cx="428"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44" name="Group 20"/>
                <p:cNvGrpSpPr>
                  <a:grpSpLocks/>
                </p:cNvGrpSpPr>
                <p:nvPr/>
              </p:nvGrpSpPr>
              <p:grpSpPr bwMode="auto">
                <a:xfrm>
                  <a:off x="0" y="442"/>
                  <a:ext cx="447" cy="509"/>
                  <a:chOff x="0" y="442"/>
                  <a:chExt cx="447" cy="509"/>
                </a:xfrm>
              </p:grpSpPr>
              <p:sp>
                <p:nvSpPr>
                  <p:cNvPr id="359445" name="Rectangle 21"/>
                  <p:cNvSpPr>
                    <a:spLocks noChangeArrowheads="1"/>
                  </p:cNvSpPr>
                  <p:nvPr/>
                </p:nvSpPr>
                <p:spPr bwMode="auto">
                  <a:xfrm>
                    <a:off x="43" y="442"/>
                    <a:ext cx="361" cy="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X</a:t>
                    </a:r>
                    <a:endParaRPr kumimoji="1" lang="en-US" altLang="zh-CN" sz="3600" b="0"/>
                  </a:p>
                </p:txBody>
              </p:sp>
              <p:sp>
                <p:nvSpPr>
                  <p:cNvPr id="359446" name="Rectangle 22"/>
                  <p:cNvSpPr>
                    <a:spLocks noChangeArrowheads="1"/>
                  </p:cNvSpPr>
                  <p:nvPr/>
                </p:nvSpPr>
                <p:spPr bwMode="auto">
                  <a:xfrm>
                    <a:off x="0" y="442"/>
                    <a:ext cx="447" cy="50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47" name="Group 23"/>
                <p:cNvGrpSpPr>
                  <a:grpSpLocks/>
                </p:cNvGrpSpPr>
                <p:nvPr/>
              </p:nvGrpSpPr>
              <p:grpSpPr bwMode="auto">
                <a:xfrm>
                  <a:off x="447" y="442"/>
                  <a:ext cx="426" cy="509"/>
                  <a:chOff x="447" y="442"/>
                  <a:chExt cx="426" cy="509"/>
                </a:xfrm>
              </p:grpSpPr>
              <p:sp>
                <p:nvSpPr>
                  <p:cNvPr id="359448" name="Rectangle 24"/>
                  <p:cNvSpPr>
                    <a:spLocks noChangeArrowheads="1"/>
                  </p:cNvSpPr>
                  <p:nvPr/>
                </p:nvSpPr>
                <p:spPr bwMode="auto">
                  <a:xfrm>
                    <a:off x="490" y="442"/>
                    <a:ext cx="340" cy="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N</a:t>
                    </a:r>
                  </a:p>
                </p:txBody>
              </p:sp>
              <p:sp>
                <p:nvSpPr>
                  <p:cNvPr id="359449" name="Rectangle 25"/>
                  <p:cNvSpPr>
                    <a:spLocks noChangeArrowheads="1"/>
                  </p:cNvSpPr>
                  <p:nvPr/>
                </p:nvSpPr>
                <p:spPr bwMode="auto">
                  <a:xfrm>
                    <a:off x="447" y="442"/>
                    <a:ext cx="426" cy="50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50" name="Group 26"/>
                <p:cNvGrpSpPr>
                  <a:grpSpLocks/>
                </p:cNvGrpSpPr>
                <p:nvPr/>
              </p:nvGrpSpPr>
              <p:grpSpPr bwMode="auto">
                <a:xfrm>
                  <a:off x="873" y="442"/>
                  <a:ext cx="426" cy="509"/>
                  <a:chOff x="873" y="442"/>
                  <a:chExt cx="426" cy="509"/>
                </a:xfrm>
              </p:grpSpPr>
              <p:sp>
                <p:nvSpPr>
                  <p:cNvPr id="359451" name="Rectangle 27"/>
                  <p:cNvSpPr>
                    <a:spLocks noChangeArrowheads="1"/>
                  </p:cNvSpPr>
                  <p:nvPr/>
                </p:nvSpPr>
                <p:spPr bwMode="auto">
                  <a:xfrm>
                    <a:off x="916" y="442"/>
                    <a:ext cx="340" cy="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N</a:t>
                    </a:r>
                    <a:endParaRPr kumimoji="1" lang="en-US" altLang="zh-CN" sz="3600" b="0"/>
                  </a:p>
                </p:txBody>
              </p:sp>
              <p:sp>
                <p:nvSpPr>
                  <p:cNvPr id="359452" name="Rectangle 28"/>
                  <p:cNvSpPr>
                    <a:spLocks noChangeArrowheads="1"/>
                  </p:cNvSpPr>
                  <p:nvPr/>
                </p:nvSpPr>
                <p:spPr bwMode="auto">
                  <a:xfrm>
                    <a:off x="873" y="442"/>
                    <a:ext cx="426" cy="50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53" name="Group 29"/>
                <p:cNvGrpSpPr>
                  <a:grpSpLocks/>
                </p:cNvGrpSpPr>
                <p:nvPr/>
              </p:nvGrpSpPr>
              <p:grpSpPr bwMode="auto">
                <a:xfrm>
                  <a:off x="1299" y="442"/>
                  <a:ext cx="428" cy="509"/>
                  <a:chOff x="1299" y="442"/>
                  <a:chExt cx="428" cy="509"/>
                </a:xfrm>
              </p:grpSpPr>
              <p:sp>
                <p:nvSpPr>
                  <p:cNvPr id="359454" name="Rectangle 30"/>
                  <p:cNvSpPr>
                    <a:spLocks noChangeArrowheads="1"/>
                  </p:cNvSpPr>
                  <p:nvPr/>
                </p:nvSpPr>
                <p:spPr bwMode="auto">
                  <a:xfrm>
                    <a:off x="1342" y="442"/>
                    <a:ext cx="342" cy="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0"/>
                  <a:lstStyle/>
                  <a:p>
                    <a:r>
                      <a:rPr kumimoji="1" lang="en-US" altLang="zh-CN" sz="2200">
                        <a:cs typeface="Times New Roman" panose="02020603050405020304" pitchFamily="18" charset="0"/>
                      </a:rPr>
                      <a:t>Y</a:t>
                    </a:r>
                    <a:endParaRPr kumimoji="1" lang="en-US" altLang="zh-CN" sz="2000" b="0"/>
                  </a:p>
                </p:txBody>
              </p:sp>
              <p:sp>
                <p:nvSpPr>
                  <p:cNvPr id="359455" name="Rectangle 31"/>
                  <p:cNvSpPr>
                    <a:spLocks noChangeArrowheads="1"/>
                  </p:cNvSpPr>
                  <p:nvPr/>
                </p:nvSpPr>
                <p:spPr bwMode="auto">
                  <a:xfrm>
                    <a:off x="1299" y="442"/>
                    <a:ext cx="428" cy="50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56" name="Group 32"/>
                <p:cNvGrpSpPr>
                  <a:grpSpLocks/>
                </p:cNvGrpSpPr>
                <p:nvPr/>
              </p:nvGrpSpPr>
              <p:grpSpPr bwMode="auto">
                <a:xfrm>
                  <a:off x="0" y="951"/>
                  <a:ext cx="447" cy="442"/>
                  <a:chOff x="0" y="951"/>
                  <a:chExt cx="447" cy="442"/>
                </a:xfrm>
              </p:grpSpPr>
              <p:sp>
                <p:nvSpPr>
                  <p:cNvPr id="359457" name="Rectangle 33"/>
                  <p:cNvSpPr>
                    <a:spLocks noChangeArrowheads="1"/>
                  </p:cNvSpPr>
                  <p:nvPr/>
                </p:nvSpPr>
                <p:spPr bwMode="auto">
                  <a:xfrm>
                    <a:off x="43" y="951"/>
                    <a:ext cx="36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S</a:t>
                    </a:r>
                    <a:endParaRPr kumimoji="1" lang="en-US" altLang="zh-CN" sz="2400" b="0"/>
                  </a:p>
                </p:txBody>
              </p:sp>
              <p:sp>
                <p:nvSpPr>
                  <p:cNvPr id="359458" name="Rectangle 34"/>
                  <p:cNvSpPr>
                    <a:spLocks noChangeArrowheads="1"/>
                  </p:cNvSpPr>
                  <p:nvPr/>
                </p:nvSpPr>
                <p:spPr bwMode="auto">
                  <a:xfrm>
                    <a:off x="0" y="951"/>
                    <a:ext cx="447"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59" name="Group 35"/>
                <p:cNvGrpSpPr>
                  <a:grpSpLocks/>
                </p:cNvGrpSpPr>
                <p:nvPr/>
              </p:nvGrpSpPr>
              <p:grpSpPr bwMode="auto">
                <a:xfrm>
                  <a:off x="447" y="951"/>
                  <a:ext cx="426" cy="442"/>
                  <a:chOff x="447" y="951"/>
                  <a:chExt cx="426" cy="442"/>
                </a:xfrm>
              </p:grpSpPr>
              <p:sp>
                <p:nvSpPr>
                  <p:cNvPr id="359460" name="Rectangle 36"/>
                  <p:cNvSpPr>
                    <a:spLocks noChangeArrowheads="1"/>
                  </p:cNvSpPr>
                  <p:nvPr/>
                </p:nvSpPr>
                <p:spPr bwMode="auto">
                  <a:xfrm>
                    <a:off x="490" y="951"/>
                    <a:ext cx="3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N</a:t>
                    </a:r>
                    <a:endParaRPr kumimoji="1" lang="en-US" altLang="zh-CN" sz="2400" b="0"/>
                  </a:p>
                </p:txBody>
              </p:sp>
              <p:sp>
                <p:nvSpPr>
                  <p:cNvPr id="359461" name="Rectangle 37"/>
                  <p:cNvSpPr>
                    <a:spLocks noChangeArrowheads="1"/>
                  </p:cNvSpPr>
                  <p:nvPr/>
                </p:nvSpPr>
                <p:spPr bwMode="auto">
                  <a:xfrm>
                    <a:off x="447" y="951"/>
                    <a:ext cx="42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62" name="Group 38"/>
                <p:cNvGrpSpPr>
                  <a:grpSpLocks/>
                </p:cNvGrpSpPr>
                <p:nvPr/>
              </p:nvGrpSpPr>
              <p:grpSpPr bwMode="auto">
                <a:xfrm>
                  <a:off x="873" y="951"/>
                  <a:ext cx="426" cy="442"/>
                  <a:chOff x="873" y="951"/>
                  <a:chExt cx="426" cy="442"/>
                </a:xfrm>
              </p:grpSpPr>
              <p:sp>
                <p:nvSpPr>
                  <p:cNvPr id="359463" name="Rectangle 39"/>
                  <p:cNvSpPr>
                    <a:spLocks noChangeArrowheads="1"/>
                  </p:cNvSpPr>
                  <p:nvPr/>
                </p:nvSpPr>
                <p:spPr bwMode="auto">
                  <a:xfrm>
                    <a:off x="916" y="951"/>
                    <a:ext cx="3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Y</a:t>
                    </a:r>
                    <a:endParaRPr kumimoji="1" lang="en-US" altLang="zh-CN" sz="2400" b="0"/>
                  </a:p>
                </p:txBody>
              </p:sp>
              <p:sp>
                <p:nvSpPr>
                  <p:cNvPr id="359464" name="Rectangle 40"/>
                  <p:cNvSpPr>
                    <a:spLocks noChangeArrowheads="1"/>
                  </p:cNvSpPr>
                  <p:nvPr/>
                </p:nvSpPr>
                <p:spPr bwMode="auto">
                  <a:xfrm>
                    <a:off x="873" y="951"/>
                    <a:ext cx="42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65" name="Group 41"/>
                <p:cNvGrpSpPr>
                  <a:grpSpLocks/>
                </p:cNvGrpSpPr>
                <p:nvPr/>
              </p:nvGrpSpPr>
              <p:grpSpPr bwMode="auto">
                <a:xfrm>
                  <a:off x="1299" y="951"/>
                  <a:ext cx="428" cy="442"/>
                  <a:chOff x="1299" y="951"/>
                  <a:chExt cx="428" cy="442"/>
                </a:xfrm>
              </p:grpSpPr>
              <p:sp>
                <p:nvSpPr>
                  <p:cNvPr id="359466" name="Rectangle 42"/>
                  <p:cNvSpPr>
                    <a:spLocks noChangeArrowheads="1"/>
                  </p:cNvSpPr>
                  <p:nvPr/>
                </p:nvSpPr>
                <p:spPr bwMode="auto">
                  <a:xfrm>
                    <a:off x="1342" y="951"/>
                    <a:ext cx="34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Y</a:t>
                    </a:r>
                    <a:endParaRPr kumimoji="1" lang="en-US" altLang="zh-CN" sz="2400" b="0"/>
                  </a:p>
                </p:txBody>
              </p:sp>
              <p:sp>
                <p:nvSpPr>
                  <p:cNvPr id="359467" name="Rectangle 43"/>
                  <p:cNvSpPr>
                    <a:spLocks noChangeArrowheads="1"/>
                  </p:cNvSpPr>
                  <p:nvPr/>
                </p:nvSpPr>
                <p:spPr bwMode="auto">
                  <a:xfrm>
                    <a:off x="1299" y="951"/>
                    <a:ext cx="428"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68" name="Group 44"/>
                <p:cNvGrpSpPr>
                  <a:grpSpLocks/>
                </p:cNvGrpSpPr>
                <p:nvPr/>
              </p:nvGrpSpPr>
              <p:grpSpPr bwMode="auto">
                <a:xfrm>
                  <a:off x="0" y="1393"/>
                  <a:ext cx="447" cy="442"/>
                  <a:chOff x="0" y="1393"/>
                  <a:chExt cx="447" cy="442"/>
                </a:xfrm>
              </p:grpSpPr>
              <p:sp>
                <p:nvSpPr>
                  <p:cNvPr id="359469" name="Rectangle 45"/>
                  <p:cNvSpPr>
                    <a:spLocks noChangeArrowheads="1"/>
                  </p:cNvSpPr>
                  <p:nvPr/>
                </p:nvSpPr>
                <p:spPr bwMode="auto">
                  <a:xfrm>
                    <a:off x="43" y="1393"/>
                    <a:ext cx="36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a:t>
                    </a:r>
                    <a:endParaRPr kumimoji="1" lang="en-US" altLang="zh-CN" sz="3600" b="0"/>
                  </a:p>
                </p:txBody>
              </p:sp>
              <p:sp>
                <p:nvSpPr>
                  <p:cNvPr id="359470" name="Rectangle 46"/>
                  <p:cNvSpPr>
                    <a:spLocks noChangeArrowheads="1"/>
                  </p:cNvSpPr>
                  <p:nvPr/>
                </p:nvSpPr>
                <p:spPr bwMode="auto">
                  <a:xfrm>
                    <a:off x="0" y="1393"/>
                    <a:ext cx="447"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71" name="Group 47"/>
                <p:cNvGrpSpPr>
                  <a:grpSpLocks/>
                </p:cNvGrpSpPr>
                <p:nvPr/>
              </p:nvGrpSpPr>
              <p:grpSpPr bwMode="auto">
                <a:xfrm>
                  <a:off x="447" y="1393"/>
                  <a:ext cx="426" cy="442"/>
                  <a:chOff x="447" y="1393"/>
                  <a:chExt cx="426" cy="442"/>
                </a:xfrm>
              </p:grpSpPr>
              <p:sp>
                <p:nvSpPr>
                  <p:cNvPr id="359472" name="Rectangle 48"/>
                  <p:cNvSpPr>
                    <a:spLocks noChangeArrowheads="1"/>
                  </p:cNvSpPr>
                  <p:nvPr/>
                </p:nvSpPr>
                <p:spPr bwMode="auto">
                  <a:xfrm>
                    <a:off x="490" y="1393"/>
                    <a:ext cx="3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Y</a:t>
                    </a:r>
                    <a:endParaRPr kumimoji="1" lang="en-US" altLang="zh-CN" sz="2400" b="0"/>
                  </a:p>
                </p:txBody>
              </p:sp>
              <p:sp>
                <p:nvSpPr>
                  <p:cNvPr id="359473" name="Rectangle 49"/>
                  <p:cNvSpPr>
                    <a:spLocks noChangeArrowheads="1"/>
                  </p:cNvSpPr>
                  <p:nvPr/>
                </p:nvSpPr>
                <p:spPr bwMode="auto">
                  <a:xfrm>
                    <a:off x="447" y="1393"/>
                    <a:ext cx="42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74" name="Group 50"/>
                <p:cNvGrpSpPr>
                  <a:grpSpLocks/>
                </p:cNvGrpSpPr>
                <p:nvPr/>
              </p:nvGrpSpPr>
              <p:grpSpPr bwMode="auto">
                <a:xfrm>
                  <a:off x="873" y="1393"/>
                  <a:ext cx="426" cy="442"/>
                  <a:chOff x="873" y="1393"/>
                  <a:chExt cx="426" cy="442"/>
                </a:xfrm>
              </p:grpSpPr>
              <p:sp>
                <p:nvSpPr>
                  <p:cNvPr id="359475" name="Rectangle 51"/>
                  <p:cNvSpPr>
                    <a:spLocks noChangeArrowheads="1"/>
                  </p:cNvSpPr>
                  <p:nvPr/>
                </p:nvSpPr>
                <p:spPr bwMode="auto">
                  <a:xfrm>
                    <a:off x="916" y="1393"/>
                    <a:ext cx="3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Y</a:t>
                    </a:r>
                    <a:endParaRPr kumimoji="1" lang="en-US" altLang="zh-CN" sz="2400" b="0"/>
                  </a:p>
                </p:txBody>
              </p:sp>
              <p:sp>
                <p:nvSpPr>
                  <p:cNvPr id="359476" name="Rectangle 52"/>
                  <p:cNvSpPr>
                    <a:spLocks noChangeArrowheads="1"/>
                  </p:cNvSpPr>
                  <p:nvPr/>
                </p:nvSpPr>
                <p:spPr bwMode="auto">
                  <a:xfrm>
                    <a:off x="873" y="1393"/>
                    <a:ext cx="426"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9477" name="Group 53"/>
                <p:cNvGrpSpPr>
                  <a:grpSpLocks/>
                </p:cNvGrpSpPr>
                <p:nvPr/>
              </p:nvGrpSpPr>
              <p:grpSpPr bwMode="auto">
                <a:xfrm>
                  <a:off x="1299" y="1393"/>
                  <a:ext cx="428" cy="442"/>
                  <a:chOff x="1299" y="1393"/>
                  <a:chExt cx="428" cy="442"/>
                </a:xfrm>
              </p:grpSpPr>
              <p:sp>
                <p:nvSpPr>
                  <p:cNvPr id="359478" name="Rectangle 54"/>
                  <p:cNvSpPr>
                    <a:spLocks noChangeArrowheads="1"/>
                  </p:cNvSpPr>
                  <p:nvPr/>
                </p:nvSpPr>
                <p:spPr bwMode="auto">
                  <a:xfrm>
                    <a:off x="1342" y="1393"/>
                    <a:ext cx="34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r>
                      <a:rPr kumimoji="1" lang="en-US" altLang="zh-CN" sz="2400"/>
                      <a:t>Y</a:t>
                    </a:r>
                    <a:endParaRPr kumimoji="1" lang="en-US" altLang="zh-CN" sz="2400" b="0"/>
                  </a:p>
                </p:txBody>
              </p:sp>
              <p:sp>
                <p:nvSpPr>
                  <p:cNvPr id="359479" name="Rectangle 55"/>
                  <p:cNvSpPr>
                    <a:spLocks noChangeArrowheads="1"/>
                  </p:cNvSpPr>
                  <p:nvPr/>
                </p:nvSpPr>
                <p:spPr bwMode="auto">
                  <a:xfrm>
                    <a:off x="1299" y="1393"/>
                    <a:ext cx="428" cy="44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sp>
            <p:nvSpPr>
              <p:cNvPr id="359480" name="Rectangle 56"/>
              <p:cNvSpPr>
                <a:spLocks noChangeArrowheads="1"/>
              </p:cNvSpPr>
              <p:nvPr/>
            </p:nvSpPr>
            <p:spPr bwMode="auto">
              <a:xfrm>
                <a:off x="-3" y="-3"/>
                <a:ext cx="1733" cy="1841"/>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359481" name="Line 57"/>
            <p:cNvSpPr>
              <a:spLocks noChangeShapeType="1"/>
            </p:cNvSpPr>
            <p:nvPr/>
          </p:nvSpPr>
          <p:spPr bwMode="auto">
            <a:xfrm>
              <a:off x="612" y="1207"/>
              <a:ext cx="862" cy="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grpSp>
      <p:sp>
        <p:nvSpPr>
          <p:cNvPr id="359482" name="Text Box 58"/>
          <p:cNvSpPr txBox="1">
            <a:spLocks noChangeArrowheads="1"/>
          </p:cNvSpPr>
          <p:nvPr/>
        </p:nvSpPr>
        <p:spPr bwMode="auto">
          <a:xfrm>
            <a:off x="827088" y="4941888"/>
            <a:ext cx="76327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zh-CN" sz="1800" b="0"/>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45</a:t>
            </a:fld>
            <a:endParaRPr lang="en-US" altLang="zh-CN"/>
          </a:p>
        </p:txBody>
      </p:sp>
      <p:sp>
        <p:nvSpPr>
          <p:cNvPr id="61" name="文本框 60">
            <a:extLst>
              <a:ext uri="{FF2B5EF4-FFF2-40B4-BE49-F238E27FC236}">
                <a16:creationId xmlns:a16="http://schemas.microsoft.com/office/drawing/2014/main" id="{48B462CF-5AB2-47F3-ABA5-85D03DDFB6F0}"/>
              </a:ext>
            </a:extLst>
          </p:cNvPr>
          <p:cNvSpPr txBox="1"/>
          <p:nvPr/>
        </p:nvSpPr>
        <p:spPr>
          <a:xfrm>
            <a:off x="1121392" y="1837840"/>
            <a:ext cx="1794424" cy="660950"/>
          </a:xfrm>
          <a:prstGeom prst="rect">
            <a:avLst/>
          </a:prstGeom>
          <a:noFill/>
        </p:spPr>
        <p:txBody>
          <a:bodyPr wrap="square">
            <a:spAutoFit/>
          </a:bodyPr>
          <a:lstStyle/>
          <a:p>
            <a:r>
              <a:rPr kumimoji="1" lang="en-US" altLang="zh-CN" sz="2400" dirty="0"/>
              <a:t>T</a:t>
            </a:r>
            <a:r>
              <a:rPr kumimoji="1" lang="en-US" altLang="zh-CN" sz="2400" baseline="-30000" dirty="0"/>
              <a:t>2</a:t>
            </a:r>
            <a:endParaRPr lang="zh-CN" altLang="en-US" dirty="0"/>
          </a:p>
        </p:txBody>
      </p:sp>
    </p:spTree>
    <p:extLst>
      <p:ext uri="{BB962C8B-B14F-4D97-AF65-F5344CB8AC3E}">
        <p14:creationId xmlns:p14="http://schemas.microsoft.com/office/powerpoint/2010/main" val="511006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zh-CN" altLang="en-US">
                <a:ea typeface="宋体" panose="02010600030101010101" pitchFamily="2" charset="-122"/>
              </a:rPr>
              <a:t>锁的相容矩阵（续）</a:t>
            </a:r>
          </a:p>
        </p:txBody>
      </p:sp>
      <p:sp>
        <p:nvSpPr>
          <p:cNvPr id="483331" name="Rectangle 3"/>
          <p:cNvSpPr>
            <a:spLocks noGrp="1" noChangeArrowheads="1"/>
          </p:cNvSpPr>
          <p:nvPr>
            <p:ph type="body" idx="1"/>
          </p:nvPr>
        </p:nvSpPr>
        <p:spPr/>
        <p:txBody>
          <a:bodyPr/>
          <a:lstStyle/>
          <a:p>
            <a:pPr>
              <a:lnSpc>
                <a:spcPct val="120000"/>
              </a:lnSpc>
              <a:spcBef>
                <a:spcPct val="0"/>
              </a:spcBef>
              <a:buClr>
                <a:schemeClr val="accent1"/>
              </a:buClr>
              <a:buFont typeface="Wingdings" panose="05000000000000000000" pitchFamily="2" charset="2"/>
              <a:buNone/>
            </a:pPr>
            <a:r>
              <a:rPr lang="zh-CN" altLang="en-US" sz="2400">
                <a:ea typeface="宋体" panose="02010600030101010101" pitchFamily="2" charset="-122"/>
              </a:rPr>
              <a:t>在锁的相容矩阵中：</a:t>
            </a:r>
          </a:p>
          <a:p>
            <a:pPr>
              <a:lnSpc>
                <a:spcPct val="120000"/>
              </a:lnSpc>
              <a:spcBef>
                <a:spcPct val="0"/>
              </a:spcBef>
              <a:buClr>
                <a:schemeClr val="accent1"/>
              </a:buClr>
            </a:pPr>
            <a:r>
              <a:rPr lang="zh-CN" altLang="en-US" sz="2400">
                <a:ea typeface="宋体" panose="02010600030101010101" pitchFamily="2" charset="-122"/>
              </a:rPr>
              <a:t>最左边一列表示事务</a:t>
            </a:r>
            <a:r>
              <a:rPr lang="en-US" altLang="zh-CN" sz="2400">
                <a:ea typeface="宋体" panose="02010600030101010101" pitchFamily="2" charset="-122"/>
              </a:rPr>
              <a:t>T1</a:t>
            </a:r>
            <a:r>
              <a:rPr lang="zh-CN" altLang="en-US" sz="2400">
                <a:ea typeface="宋体" panose="02010600030101010101" pitchFamily="2" charset="-122"/>
              </a:rPr>
              <a:t>已经获得的数据对象上的锁的类型，其中横线表示没有加锁。</a:t>
            </a:r>
          </a:p>
          <a:p>
            <a:pPr>
              <a:lnSpc>
                <a:spcPct val="120000"/>
              </a:lnSpc>
              <a:spcBef>
                <a:spcPct val="0"/>
              </a:spcBef>
              <a:buClr>
                <a:schemeClr val="accent1"/>
              </a:buClr>
            </a:pPr>
            <a:r>
              <a:rPr lang="zh-CN" altLang="en-US" sz="2400">
                <a:ea typeface="宋体" panose="02010600030101010101" pitchFamily="2" charset="-122"/>
              </a:rPr>
              <a:t>最上面一行表示另一事务</a:t>
            </a:r>
            <a:r>
              <a:rPr lang="en-US" altLang="zh-CN" sz="2400">
                <a:ea typeface="宋体" panose="02010600030101010101" pitchFamily="2" charset="-122"/>
              </a:rPr>
              <a:t>T2</a:t>
            </a:r>
            <a:r>
              <a:rPr lang="zh-CN" altLang="en-US" sz="2400">
                <a:ea typeface="宋体" panose="02010600030101010101" pitchFamily="2" charset="-122"/>
              </a:rPr>
              <a:t>对同一数据对象发出的封锁请求。</a:t>
            </a:r>
          </a:p>
          <a:p>
            <a:pPr>
              <a:lnSpc>
                <a:spcPct val="120000"/>
              </a:lnSpc>
              <a:spcBef>
                <a:spcPct val="0"/>
              </a:spcBef>
              <a:buClr>
                <a:schemeClr val="accent1"/>
              </a:buClr>
            </a:pPr>
            <a:r>
              <a:rPr lang="en-US" altLang="zh-CN" sz="2400">
                <a:ea typeface="宋体" panose="02010600030101010101" pitchFamily="2" charset="-122"/>
              </a:rPr>
              <a:t>T2</a:t>
            </a:r>
            <a:r>
              <a:rPr lang="zh-CN" altLang="en-US" sz="2400">
                <a:ea typeface="宋体" panose="02010600030101010101" pitchFamily="2" charset="-122"/>
              </a:rPr>
              <a:t>的封锁请求能否被满足用矩阵中的</a:t>
            </a:r>
            <a:r>
              <a:rPr lang="en-US" altLang="zh-CN" sz="2400">
                <a:ea typeface="宋体" panose="02010600030101010101" pitchFamily="2" charset="-122"/>
              </a:rPr>
              <a:t>Y</a:t>
            </a:r>
            <a:r>
              <a:rPr lang="zh-CN" altLang="en-US" sz="2400">
                <a:ea typeface="宋体" panose="02010600030101010101" pitchFamily="2" charset="-122"/>
              </a:rPr>
              <a:t>和</a:t>
            </a:r>
            <a:r>
              <a:rPr lang="en-US" altLang="zh-CN" sz="2400">
                <a:ea typeface="宋体" panose="02010600030101010101" pitchFamily="2" charset="-122"/>
              </a:rPr>
              <a:t>N</a:t>
            </a:r>
            <a:r>
              <a:rPr lang="zh-CN" altLang="en-US" sz="2400">
                <a:ea typeface="宋体" panose="02010600030101010101" pitchFamily="2" charset="-122"/>
              </a:rPr>
              <a:t>表示</a:t>
            </a:r>
          </a:p>
          <a:p>
            <a:pPr lvl="1">
              <a:lnSpc>
                <a:spcPct val="120000"/>
              </a:lnSpc>
              <a:spcBef>
                <a:spcPct val="0"/>
              </a:spcBef>
            </a:pPr>
            <a:r>
              <a:rPr lang="en-US" altLang="zh-CN" sz="2200">
                <a:ea typeface="宋体" panose="02010600030101010101" pitchFamily="2" charset="-122"/>
              </a:rPr>
              <a:t>Y</a:t>
            </a:r>
            <a:r>
              <a:rPr lang="zh-CN" altLang="en-US" sz="2200">
                <a:ea typeface="宋体" panose="02010600030101010101" pitchFamily="2" charset="-122"/>
              </a:rPr>
              <a:t>表示事务</a:t>
            </a:r>
            <a:r>
              <a:rPr lang="en-US" altLang="zh-CN" sz="2200">
                <a:ea typeface="宋体" panose="02010600030101010101" pitchFamily="2" charset="-122"/>
              </a:rPr>
              <a:t>T2</a:t>
            </a:r>
            <a:r>
              <a:rPr lang="zh-CN" altLang="en-US" sz="2200">
                <a:ea typeface="宋体" panose="02010600030101010101" pitchFamily="2" charset="-122"/>
              </a:rPr>
              <a:t>的封锁要求与</a:t>
            </a:r>
            <a:r>
              <a:rPr lang="en-US" altLang="zh-CN" sz="2200">
                <a:ea typeface="宋体" panose="02010600030101010101" pitchFamily="2" charset="-122"/>
              </a:rPr>
              <a:t>T1</a:t>
            </a:r>
            <a:r>
              <a:rPr lang="zh-CN" altLang="en-US" sz="2200">
                <a:ea typeface="宋体" panose="02010600030101010101" pitchFamily="2" charset="-122"/>
              </a:rPr>
              <a:t>已持有的锁相容，封锁请求可以满足</a:t>
            </a:r>
          </a:p>
          <a:p>
            <a:pPr lvl="1">
              <a:lnSpc>
                <a:spcPct val="120000"/>
              </a:lnSpc>
              <a:spcBef>
                <a:spcPct val="0"/>
              </a:spcBef>
            </a:pPr>
            <a:r>
              <a:rPr lang="en-US" altLang="zh-CN" sz="2200">
                <a:ea typeface="宋体" panose="02010600030101010101" pitchFamily="2" charset="-122"/>
              </a:rPr>
              <a:t>N</a:t>
            </a:r>
            <a:r>
              <a:rPr lang="zh-CN" altLang="en-US" sz="2200">
                <a:ea typeface="宋体" panose="02010600030101010101" pitchFamily="2" charset="-122"/>
              </a:rPr>
              <a:t>表示</a:t>
            </a:r>
            <a:r>
              <a:rPr lang="en-US" altLang="zh-CN" sz="2200">
                <a:ea typeface="宋体" panose="02010600030101010101" pitchFamily="2" charset="-122"/>
              </a:rPr>
              <a:t>T2</a:t>
            </a:r>
            <a:r>
              <a:rPr lang="zh-CN" altLang="en-US" sz="2200">
                <a:ea typeface="宋体" panose="02010600030101010101" pitchFamily="2" charset="-122"/>
              </a:rPr>
              <a:t>的封锁请求与</a:t>
            </a:r>
            <a:r>
              <a:rPr lang="en-US" altLang="zh-CN" sz="2200">
                <a:ea typeface="宋体" panose="02010600030101010101" pitchFamily="2" charset="-122"/>
              </a:rPr>
              <a:t>T1</a:t>
            </a:r>
            <a:r>
              <a:rPr lang="zh-CN" altLang="en-US" sz="2200">
                <a:ea typeface="宋体" panose="02010600030101010101" pitchFamily="2" charset="-122"/>
              </a:rPr>
              <a:t>已持有的锁冲突，</a:t>
            </a:r>
            <a:r>
              <a:rPr lang="en-US" altLang="zh-CN" sz="2200">
                <a:ea typeface="宋体" panose="02010600030101010101" pitchFamily="2" charset="-122"/>
              </a:rPr>
              <a:t>T2</a:t>
            </a:r>
            <a:r>
              <a:rPr lang="zh-CN" altLang="en-US" sz="2200">
                <a:ea typeface="宋体" panose="02010600030101010101" pitchFamily="2" charset="-122"/>
              </a:rPr>
              <a:t>的请求被拒绝</a:t>
            </a:r>
            <a:endParaRPr lang="zh-CN" altLang="en-US" sz="20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46</a:t>
            </a:fld>
            <a:endParaRPr lang="en-US" altLang="zh-CN"/>
          </a:p>
        </p:txBody>
      </p:sp>
    </p:spTree>
    <p:extLst>
      <p:ext uri="{BB962C8B-B14F-4D97-AF65-F5344CB8AC3E}">
        <p14:creationId xmlns:p14="http://schemas.microsoft.com/office/powerpoint/2010/main" val="3669980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zh-CN" altLang="en-US">
                <a:ea typeface="宋体" panose="02010600030101010101" pitchFamily="2" charset="-122"/>
              </a:rPr>
              <a:t>使用封锁机制解决丢失修改问题</a:t>
            </a:r>
          </a:p>
        </p:txBody>
      </p:sp>
      <p:graphicFrame>
        <p:nvGraphicFramePr>
          <p:cNvPr id="482543" name="Group 239"/>
          <p:cNvGraphicFramePr>
            <a:graphicFrameLocks noGrp="1"/>
          </p:cNvGraphicFramePr>
          <p:nvPr>
            <p:ph idx="1"/>
            <p:extLst>
              <p:ext uri="{D42A27DB-BD31-4B8C-83A1-F6EECF244321}">
                <p14:modId xmlns:p14="http://schemas.microsoft.com/office/powerpoint/2010/main" val="2579038576"/>
              </p:ext>
            </p:extLst>
          </p:nvPr>
        </p:nvGraphicFramePr>
        <p:xfrm>
          <a:off x="457200" y="1556097"/>
          <a:ext cx="5194300" cy="4907280"/>
        </p:xfrm>
        <a:graphic>
          <a:graphicData uri="http://schemas.openxmlformats.org/drawingml/2006/table">
            <a:tbl>
              <a:tblPr/>
              <a:tblGrid>
                <a:gridCol w="2597150">
                  <a:extLst>
                    <a:ext uri="{9D8B030D-6E8A-4147-A177-3AD203B41FA5}">
                      <a16:colId xmlns:a16="http://schemas.microsoft.com/office/drawing/2014/main" val="20000"/>
                    </a:ext>
                  </a:extLst>
                </a:gridCol>
                <a:gridCol w="2597150">
                  <a:extLst>
                    <a:ext uri="{9D8B030D-6E8A-4147-A177-3AD203B41FA5}">
                      <a16:colId xmlns:a16="http://schemas.microsoft.com/office/drawing/2014/main" val="20001"/>
                    </a:ext>
                  </a:extLst>
                </a:gridCol>
              </a:tblGrid>
              <a:tr h="1793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Xlock A</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 R(A)=16</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68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A←A-1</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52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68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Commit</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52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Unlock A</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968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R(A)=15</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A←A-1</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952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W(A)=14</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482498" name="Text Box 194"/>
          <p:cNvSpPr txBox="1">
            <a:spLocks noChangeArrowheads="1"/>
          </p:cNvSpPr>
          <p:nvPr/>
        </p:nvSpPr>
        <p:spPr bwMode="auto">
          <a:xfrm>
            <a:off x="827088" y="1268760"/>
            <a:ext cx="644525"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a:t>例：</a:t>
            </a:r>
          </a:p>
        </p:txBody>
      </p:sp>
      <p:sp>
        <p:nvSpPr>
          <p:cNvPr id="482544" name="Text Box 240"/>
          <p:cNvSpPr txBox="1">
            <a:spLocks noChangeArrowheads="1"/>
          </p:cNvSpPr>
          <p:nvPr/>
        </p:nvSpPr>
        <p:spPr bwMode="auto">
          <a:xfrm>
            <a:off x="5724525" y="1956147"/>
            <a:ext cx="3095625" cy="4185761"/>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00000"/>
              </a:lnSpc>
              <a:spcBef>
                <a:spcPct val="50000"/>
              </a:spcBef>
              <a:buClr>
                <a:schemeClr val="accent1"/>
              </a:buClr>
              <a:buFont typeface="Wingdings" panose="05000000000000000000" pitchFamily="2" charset="2"/>
              <a:buChar char="n"/>
            </a:pPr>
            <a:r>
              <a:rPr kumimoji="0" lang="zh-CN" altLang="en-US" sz="1900" b="0" dirty="0"/>
              <a:t>事务</a:t>
            </a:r>
            <a:r>
              <a:rPr kumimoji="0" lang="en-US" altLang="zh-CN" sz="1900" b="0" dirty="0"/>
              <a:t>T1</a:t>
            </a:r>
            <a:r>
              <a:rPr kumimoji="0" lang="zh-CN" altLang="en-US" sz="1900" b="0" dirty="0"/>
              <a:t>在读</a:t>
            </a:r>
            <a:r>
              <a:rPr kumimoji="0" lang="en-US" altLang="zh-CN" sz="1900" b="0" dirty="0"/>
              <a:t>A</a:t>
            </a:r>
            <a:r>
              <a:rPr kumimoji="0" lang="zh-CN" altLang="en-US" sz="1900" b="0" dirty="0"/>
              <a:t>进行修改之前先对</a:t>
            </a:r>
            <a:r>
              <a:rPr kumimoji="0" lang="en-US" altLang="zh-CN" sz="1900" b="0" dirty="0"/>
              <a:t>A</a:t>
            </a:r>
            <a:r>
              <a:rPr kumimoji="0" lang="zh-CN" altLang="en-US" sz="1900" b="0" dirty="0"/>
              <a:t>加</a:t>
            </a:r>
            <a:r>
              <a:rPr kumimoji="0" lang="en-US" altLang="zh-CN" sz="1900" b="0" dirty="0"/>
              <a:t>X</a:t>
            </a:r>
            <a:r>
              <a:rPr kumimoji="0" lang="zh-CN" altLang="en-US" sz="1900" b="0" dirty="0"/>
              <a:t>锁</a:t>
            </a:r>
          </a:p>
          <a:p>
            <a:pPr>
              <a:lnSpc>
                <a:spcPct val="100000"/>
              </a:lnSpc>
              <a:spcBef>
                <a:spcPct val="50000"/>
              </a:spcBef>
              <a:buClr>
                <a:schemeClr val="accent1"/>
              </a:buClr>
              <a:buFont typeface="Wingdings" panose="05000000000000000000" pitchFamily="2" charset="2"/>
              <a:buChar char="n"/>
            </a:pPr>
            <a:r>
              <a:rPr kumimoji="0" lang="zh-CN" altLang="en-US" sz="1900" b="0" dirty="0"/>
              <a:t>当</a:t>
            </a:r>
            <a:r>
              <a:rPr kumimoji="0" lang="en-US" altLang="zh-CN" sz="1900" b="0" dirty="0"/>
              <a:t>T2</a:t>
            </a:r>
            <a:r>
              <a:rPr kumimoji="0" lang="zh-CN" altLang="en-US" sz="1900" b="0" dirty="0"/>
              <a:t>再请求对</a:t>
            </a:r>
            <a:r>
              <a:rPr kumimoji="0" lang="en-US" altLang="zh-CN" sz="1900" b="0" dirty="0"/>
              <a:t>A</a:t>
            </a:r>
            <a:r>
              <a:rPr kumimoji="0" lang="zh-CN" altLang="en-US" sz="1900" b="0" dirty="0"/>
              <a:t>加</a:t>
            </a:r>
            <a:r>
              <a:rPr kumimoji="0" lang="en-US" altLang="zh-CN" sz="1900" b="0" dirty="0"/>
              <a:t>X</a:t>
            </a:r>
            <a:r>
              <a:rPr kumimoji="0" lang="zh-CN" altLang="en-US" sz="1900" b="0" dirty="0"/>
              <a:t>锁时被拒绝</a:t>
            </a:r>
          </a:p>
          <a:p>
            <a:pPr>
              <a:lnSpc>
                <a:spcPct val="100000"/>
              </a:lnSpc>
              <a:spcBef>
                <a:spcPct val="50000"/>
              </a:spcBef>
              <a:buClr>
                <a:schemeClr val="accent1"/>
              </a:buClr>
              <a:buFont typeface="Wingdings" panose="05000000000000000000" pitchFamily="2" charset="2"/>
              <a:buChar char="n"/>
            </a:pPr>
            <a:r>
              <a:rPr kumimoji="0" lang="en-US" altLang="zh-CN" sz="1900" b="0" dirty="0"/>
              <a:t>T2</a:t>
            </a:r>
            <a:r>
              <a:rPr kumimoji="0" lang="zh-CN" altLang="en-US" sz="1900" b="0" dirty="0"/>
              <a:t>只能等待</a:t>
            </a:r>
            <a:r>
              <a:rPr kumimoji="0" lang="en-US" altLang="zh-CN" sz="1900" b="0" dirty="0"/>
              <a:t>T1</a:t>
            </a:r>
            <a:r>
              <a:rPr kumimoji="0" lang="zh-CN" altLang="en-US" sz="1900" b="0" dirty="0"/>
              <a:t>释放</a:t>
            </a:r>
            <a:r>
              <a:rPr kumimoji="0" lang="en-US" altLang="zh-CN" sz="1900" b="0" dirty="0"/>
              <a:t>A</a:t>
            </a:r>
            <a:r>
              <a:rPr kumimoji="0" lang="zh-CN" altLang="en-US" sz="1900" b="0" dirty="0"/>
              <a:t>上的锁后</a:t>
            </a:r>
            <a:r>
              <a:rPr kumimoji="0" lang="en-US" altLang="zh-CN" sz="1900" b="0" dirty="0"/>
              <a:t>T2</a:t>
            </a:r>
            <a:r>
              <a:rPr kumimoji="0" lang="zh-CN" altLang="en-US" sz="1900" b="0" dirty="0"/>
              <a:t>获得对</a:t>
            </a:r>
            <a:r>
              <a:rPr kumimoji="0" lang="en-US" altLang="zh-CN" sz="1900" b="0" dirty="0"/>
              <a:t>A</a:t>
            </a:r>
            <a:r>
              <a:rPr kumimoji="0" lang="zh-CN" altLang="en-US" sz="1900" b="0" dirty="0"/>
              <a:t>的</a:t>
            </a:r>
            <a:r>
              <a:rPr kumimoji="0" lang="en-US" altLang="zh-CN" sz="1900" b="0" dirty="0"/>
              <a:t>X</a:t>
            </a:r>
            <a:r>
              <a:rPr kumimoji="0" lang="zh-CN" altLang="en-US" sz="1900" b="0" dirty="0"/>
              <a:t>锁</a:t>
            </a:r>
          </a:p>
          <a:p>
            <a:pPr>
              <a:lnSpc>
                <a:spcPct val="100000"/>
              </a:lnSpc>
              <a:spcBef>
                <a:spcPct val="50000"/>
              </a:spcBef>
              <a:buClr>
                <a:schemeClr val="accent1"/>
              </a:buClr>
              <a:buFont typeface="Wingdings" panose="05000000000000000000" pitchFamily="2" charset="2"/>
              <a:buChar char="n"/>
            </a:pPr>
            <a:r>
              <a:rPr kumimoji="0" lang="zh-CN" altLang="en-US" sz="1900" b="0" dirty="0"/>
              <a:t>这时</a:t>
            </a:r>
            <a:r>
              <a:rPr kumimoji="0" lang="en-US" altLang="zh-CN" sz="1900" b="0" dirty="0"/>
              <a:t>T2</a:t>
            </a:r>
            <a:r>
              <a:rPr kumimoji="0" lang="zh-CN" altLang="en-US" sz="1900" b="0" dirty="0"/>
              <a:t>读到的</a:t>
            </a:r>
            <a:r>
              <a:rPr kumimoji="0" lang="en-US" altLang="zh-CN" sz="1900" b="0" dirty="0"/>
              <a:t>A</a:t>
            </a:r>
            <a:r>
              <a:rPr kumimoji="0" lang="zh-CN" altLang="en-US" sz="1900" b="0" dirty="0"/>
              <a:t>已经是</a:t>
            </a:r>
            <a:r>
              <a:rPr kumimoji="0" lang="en-US" altLang="zh-CN" sz="1900" b="0" dirty="0"/>
              <a:t>T1</a:t>
            </a:r>
            <a:r>
              <a:rPr kumimoji="0" lang="zh-CN" altLang="en-US" sz="1900" b="0" dirty="0"/>
              <a:t>更新过的值</a:t>
            </a:r>
            <a:r>
              <a:rPr kumimoji="0" lang="en-US" altLang="zh-CN" sz="1900" b="0" dirty="0"/>
              <a:t>15</a:t>
            </a:r>
          </a:p>
          <a:p>
            <a:pPr>
              <a:lnSpc>
                <a:spcPct val="100000"/>
              </a:lnSpc>
              <a:spcBef>
                <a:spcPct val="50000"/>
              </a:spcBef>
              <a:buClr>
                <a:schemeClr val="accent1"/>
              </a:buClr>
              <a:buFont typeface="Wingdings" panose="05000000000000000000" pitchFamily="2" charset="2"/>
              <a:buChar char="n"/>
            </a:pPr>
            <a:r>
              <a:rPr kumimoji="0" lang="en-US" altLang="zh-CN" sz="1900" b="0" dirty="0"/>
              <a:t>T2</a:t>
            </a:r>
            <a:r>
              <a:rPr kumimoji="0" lang="zh-CN" altLang="en-US" sz="1900" b="0" dirty="0"/>
              <a:t>按此新的</a:t>
            </a:r>
            <a:r>
              <a:rPr kumimoji="0" lang="en-US" altLang="zh-CN" sz="1900" b="0" dirty="0"/>
              <a:t>A</a:t>
            </a:r>
            <a:r>
              <a:rPr kumimoji="0" lang="zh-CN" altLang="en-US" sz="1900" b="0" dirty="0"/>
              <a:t>值进行运算，并将结果值</a:t>
            </a:r>
            <a:r>
              <a:rPr kumimoji="0" lang="en-US" altLang="zh-CN" sz="1900" b="0" dirty="0"/>
              <a:t>A=14</a:t>
            </a:r>
            <a:r>
              <a:rPr kumimoji="0" lang="zh-CN" altLang="en-US" sz="1900" b="0" dirty="0"/>
              <a:t>送回到磁盘。避免了丢失</a:t>
            </a:r>
            <a:r>
              <a:rPr kumimoji="0" lang="en-US" altLang="zh-CN" sz="1900" b="0" dirty="0"/>
              <a:t>T1</a:t>
            </a:r>
            <a:r>
              <a:rPr kumimoji="0" lang="zh-CN" altLang="en-US" sz="1900" b="0" dirty="0"/>
              <a:t>的更新。</a:t>
            </a:r>
          </a:p>
        </p:txBody>
      </p:sp>
      <p:sp>
        <p:nvSpPr>
          <p:cNvPr id="482545" name="Text Box 241"/>
          <p:cNvSpPr txBox="1">
            <a:spLocks noChangeArrowheads="1"/>
          </p:cNvSpPr>
          <p:nvPr/>
        </p:nvSpPr>
        <p:spPr bwMode="auto">
          <a:xfrm>
            <a:off x="5795963" y="1484660"/>
            <a:ext cx="1565275"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a:solidFill>
                  <a:schemeClr val="tx2"/>
                </a:solidFill>
              </a:rPr>
              <a:t>没有丢失修改</a:t>
            </a:r>
          </a:p>
        </p:txBody>
      </p:sp>
      <p:sp>
        <p:nvSpPr>
          <p:cNvPr id="2" name="动作按钮: 上一张 1">
            <a:hlinkClick r:id="rId3" action="ppaction://hlinksldjump" highlightClick="1"/>
            <a:extLst>
              <a:ext uri="{FF2B5EF4-FFF2-40B4-BE49-F238E27FC236}">
                <a16:creationId xmlns:a16="http://schemas.microsoft.com/office/drawing/2014/main" id="{C911AE8D-DF89-4180-C494-5AC9CB4C2BA1}"/>
              </a:ext>
            </a:extLst>
          </p:cNvPr>
          <p:cNvSpPr/>
          <p:nvPr/>
        </p:nvSpPr>
        <p:spPr bwMode="auto">
          <a:xfrm>
            <a:off x="827088" y="6381328"/>
            <a:ext cx="216520" cy="216024"/>
          </a:xfrm>
          <a:prstGeom prst="actionButtonReturn">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7935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a:xfrm>
            <a:off x="900113" y="597677"/>
            <a:ext cx="7391400" cy="563563"/>
          </a:xfrm>
        </p:spPr>
        <p:txBody>
          <a:bodyPr/>
          <a:lstStyle/>
          <a:p>
            <a:r>
              <a:rPr lang="zh-CN" altLang="en-US" sz="3400" dirty="0">
                <a:ea typeface="宋体" panose="02010600030101010101" pitchFamily="2" charset="-122"/>
              </a:rPr>
              <a:t>使用封锁机制解决不可重复读问题</a:t>
            </a:r>
          </a:p>
        </p:txBody>
      </p:sp>
      <p:graphicFrame>
        <p:nvGraphicFramePr>
          <p:cNvPr id="486147" name="Group 771"/>
          <p:cNvGraphicFramePr>
            <a:graphicFrameLocks noGrp="1"/>
          </p:cNvGraphicFramePr>
          <p:nvPr>
            <p:ph idx="1"/>
          </p:nvPr>
        </p:nvGraphicFramePr>
        <p:xfrm>
          <a:off x="684213" y="1123950"/>
          <a:ext cx="2871787" cy="5760720"/>
        </p:xfrm>
        <a:graphic>
          <a:graphicData uri="http://schemas.openxmlformats.org/drawingml/2006/table">
            <a:tbl>
              <a:tblPr/>
              <a:tblGrid>
                <a:gridCol w="1908175">
                  <a:extLst>
                    <a:ext uri="{9D8B030D-6E8A-4147-A177-3AD203B41FA5}">
                      <a16:colId xmlns:a16="http://schemas.microsoft.com/office/drawing/2014/main" val="20000"/>
                    </a:ext>
                  </a:extLst>
                </a:gridCol>
                <a:gridCol w="963612">
                  <a:extLst>
                    <a:ext uri="{9D8B030D-6E8A-4147-A177-3AD203B41FA5}">
                      <a16:colId xmlns:a16="http://schemas.microsoft.com/office/drawing/2014/main" val="20001"/>
                    </a:ext>
                  </a:extLst>
                </a:gridCol>
              </a:tblGrid>
              <a:tr h="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Slock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06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06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90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90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190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R(A)=50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174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190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06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190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190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190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B←B*2</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206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W(B)=200</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2190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219075">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bl>
          </a:graphicData>
        </a:graphic>
      </p:graphicFrame>
      <p:sp>
        <p:nvSpPr>
          <p:cNvPr id="486149" name="Text Box 773"/>
          <p:cNvSpPr txBox="1">
            <a:spLocks noChangeArrowheads="1"/>
          </p:cNvSpPr>
          <p:nvPr/>
        </p:nvSpPr>
        <p:spPr bwMode="auto">
          <a:xfrm>
            <a:off x="4595813" y="1558148"/>
            <a:ext cx="3889375" cy="47021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40000"/>
              </a:lnSpc>
              <a:buClr>
                <a:schemeClr val="accent1"/>
              </a:buClr>
              <a:buFont typeface="Wingdings" panose="05000000000000000000" pitchFamily="2" charset="2"/>
              <a:buChar char="n"/>
            </a:pPr>
            <a:r>
              <a:rPr kumimoji="0" lang="zh-CN" altLang="en-US" sz="1800" b="0" dirty="0"/>
              <a:t>事务</a:t>
            </a:r>
            <a:r>
              <a:rPr kumimoji="0" lang="en-US" altLang="zh-CN" sz="1800" b="0" dirty="0"/>
              <a:t>T1</a:t>
            </a:r>
            <a:r>
              <a:rPr kumimoji="0" lang="zh-CN" altLang="en-US" sz="1800" b="0" dirty="0"/>
              <a:t>在读</a:t>
            </a:r>
            <a:r>
              <a:rPr kumimoji="0" lang="en-US" altLang="zh-CN" sz="1800" b="0" dirty="0"/>
              <a:t>A</a:t>
            </a:r>
            <a:r>
              <a:rPr kumimoji="0" lang="zh-CN" altLang="en-US" sz="1800" b="0" dirty="0"/>
              <a:t>，</a:t>
            </a:r>
            <a:r>
              <a:rPr kumimoji="0" lang="en-US" altLang="zh-CN" sz="1800" b="0" dirty="0"/>
              <a:t>B</a:t>
            </a:r>
            <a:r>
              <a:rPr kumimoji="0" lang="zh-CN" altLang="en-US" sz="1800" b="0" dirty="0"/>
              <a:t>之前，先对</a:t>
            </a:r>
            <a:r>
              <a:rPr kumimoji="0" lang="en-US" altLang="zh-CN" sz="1800" b="0" dirty="0"/>
              <a:t>A</a:t>
            </a:r>
            <a:r>
              <a:rPr kumimoji="0" lang="zh-CN" altLang="en-US" sz="1800" b="0" dirty="0"/>
              <a:t>，</a:t>
            </a:r>
            <a:r>
              <a:rPr kumimoji="0" lang="en-US" altLang="zh-CN" sz="1800" b="0" dirty="0"/>
              <a:t>B</a:t>
            </a:r>
            <a:r>
              <a:rPr kumimoji="0" lang="zh-CN" altLang="en-US" sz="1800" b="0" dirty="0"/>
              <a:t>加</a:t>
            </a:r>
            <a:r>
              <a:rPr kumimoji="0" lang="en-US" altLang="zh-CN" sz="1800" b="0" dirty="0"/>
              <a:t>S</a:t>
            </a:r>
            <a:r>
              <a:rPr kumimoji="0" lang="zh-CN" altLang="en-US" sz="1800" b="0" dirty="0"/>
              <a:t>锁</a:t>
            </a:r>
          </a:p>
          <a:p>
            <a:pPr>
              <a:lnSpc>
                <a:spcPct val="140000"/>
              </a:lnSpc>
              <a:buClr>
                <a:schemeClr val="accent1"/>
              </a:buClr>
              <a:buFont typeface="Wingdings" panose="05000000000000000000" pitchFamily="2" charset="2"/>
              <a:buChar char="n"/>
            </a:pPr>
            <a:r>
              <a:rPr kumimoji="0" lang="zh-CN" altLang="en-US" sz="1800" b="0" dirty="0"/>
              <a:t>其他事务只能再对</a:t>
            </a:r>
            <a:r>
              <a:rPr kumimoji="0" lang="en-US" altLang="zh-CN" sz="1800" b="0" dirty="0"/>
              <a:t>A</a:t>
            </a:r>
            <a:r>
              <a:rPr kumimoji="0" lang="zh-CN" altLang="en-US" sz="1800" b="0" dirty="0"/>
              <a:t>，</a:t>
            </a:r>
            <a:r>
              <a:rPr kumimoji="0" lang="en-US" altLang="zh-CN" sz="1800" b="0" dirty="0"/>
              <a:t>B</a:t>
            </a:r>
            <a:r>
              <a:rPr kumimoji="0" lang="zh-CN" altLang="en-US" sz="1800" b="0" dirty="0"/>
              <a:t>加</a:t>
            </a:r>
            <a:r>
              <a:rPr kumimoji="0" lang="en-US" altLang="zh-CN" sz="1800" b="0" dirty="0"/>
              <a:t>S</a:t>
            </a:r>
            <a:r>
              <a:rPr kumimoji="0" lang="zh-CN" altLang="en-US" sz="1800" b="0" dirty="0"/>
              <a:t>锁，而不能加</a:t>
            </a:r>
            <a:r>
              <a:rPr kumimoji="0" lang="en-US" altLang="zh-CN" sz="1800" b="0" dirty="0"/>
              <a:t>X</a:t>
            </a:r>
            <a:r>
              <a:rPr kumimoji="0" lang="zh-CN" altLang="en-US" sz="1800" b="0" dirty="0"/>
              <a:t>锁，即其他事务只能读</a:t>
            </a:r>
            <a:r>
              <a:rPr kumimoji="0" lang="en-US" altLang="zh-CN" sz="1800" b="0" dirty="0"/>
              <a:t>A</a:t>
            </a:r>
            <a:r>
              <a:rPr kumimoji="0" lang="zh-CN" altLang="en-US" sz="1800" b="0" dirty="0"/>
              <a:t>，</a:t>
            </a:r>
            <a:r>
              <a:rPr kumimoji="0" lang="en-US" altLang="zh-CN" sz="1800" b="0" dirty="0"/>
              <a:t>B</a:t>
            </a:r>
            <a:r>
              <a:rPr kumimoji="0" lang="zh-CN" altLang="en-US" sz="1800" b="0" dirty="0"/>
              <a:t>，而不能修改</a:t>
            </a:r>
          </a:p>
          <a:p>
            <a:pPr>
              <a:lnSpc>
                <a:spcPct val="140000"/>
              </a:lnSpc>
              <a:buClr>
                <a:schemeClr val="accent1"/>
              </a:buClr>
              <a:buFont typeface="Wingdings" panose="05000000000000000000" pitchFamily="2" charset="2"/>
              <a:buChar char="n"/>
            </a:pPr>
            <a:r>
              <a:rPr kumimoji="0" lang="zh-CN" altLang="en-US" sz="1800" b="0" dirty="0"/>
              <a:t>当</a:t>
            </a:r>
            <a:r>
              <a:rPr kumimoji="0" lang="en-US" altLang="zh-CN" sz="1800" b="0" dirty="0"/>
              <a:t>T2</a:t>
            </a:r>
            <a:r>
              <a:rPr kumimoji="0" lang="zh-CN" altLang="en-US" sz="1800" b="0" dirty="0"/>
              <a:t>为修改</a:t>
            </a:r>
            <a:r>
              <a:rPr kumimoji="0" lang="en-US" altLang="zh-CN" sz="1800" b="0" dirty="0"/>
              <a:t>B</a:t>
            </a:r>
            <a:r>
              <a:rPr kumimoji="0" lang="zh-CN" altLang="en-US" sz="1800" b="0" dirty="0"/>
              <a:t>而申请对</a:t>
            </a:r>
            <a:r>
              <a:rPr kumimoji="0" lang="en-US" altLang="zh-CN" sz="1800" b="0" dirty="0"/>
              <a:t>B</a:t>
            </a:r>
            <a:r>
              <a:rPr kumimoji="0" lang="zh-CN" altLang="en-US" sz="1800" b="0" dirty="0"/>
              <a:t>的</a:t>
            </a:r>
            <a:r>
              <a:rPr kumimoji="0" lang="en-US" altLang="zh-CN" sz="1800" b="0" dirty="0"/>
              <a:t>X</a:t>
            </a:r>
            <a:r>
              <a:rPr kumimoji="0" lang="zh-CN" altLang="en-US" sz="1800" b="0" dirty="0"/>
              <a:t>锁时被拒绝只能等待</a:t>
            </a:r>
            <a:r>
              <a:rPr kumimoji="0" lang="en-US" altLang="zh-CN" sz="1800" b="0" dirty="0"/>
              <a:t>T1</a:t>
            </a:r>
            <a:r>
              <a:rPr kumimoji="0" lang="zh-CN" altLang="en-US" sz="1800" b="0" dirty="0"/>
              <a:t>释放</a:t>
            </a:r>
            <a:r>
              <a:rPr kumimoji="0" lang="en-US" altLang="zh-CN" sz="1800" b="0" dirty="0"/>
              <a:t>B</a:t>
            </a:r>
            <a:r>
              <a:rPr kumimoji="0" lang="zh-CN" altLang="en-US" sz="1800" b="0" dirty="0"/>
              <a:t>上的锁</a:t>
            </a:r>
          </a:p>
          <a:p>
            <a:pPr>
              <a:lnSpc>
                <a:spcPct val="140000"/>
              </a:lnSpc>
              <a:buClr>
                <a:schemeClr val="accent1"/>
              </a:buClr>
              <a:buFont typeface="Wingdings" panose="05000000000000000000" pitchFamily="2" charset="2"/>
              <a:buChar char="n"/>
            </a:pPr>
            <a:r>
              <a:rPr kumimoji="0" lang="en-US" altLang="zh-CN" sz="1800" b="0" dirty="0"/>
              <a:t>T1</a:t>
            </a:r>
            <a:r>
              <a:rPr kumimoji="0" lang="zh-CN" altLang="en-US" sz="1800" b="0" dirty="0"/>
              <a:t>为验算再读</a:t>
            </a:r>
            <a:r>
              <a:rPr kumimoji="0" lang="en-US" altLang="zh-CN" sz="1800" b="0" dirty="0"/>
              <a:t>A</a:t>
            </a:r>
            <a:r>
              <a:rPr kumimoji="0" lang="zh-CN" altLang="en-US" sz="1800" b="0" dirty="0"/>
              <a:t>，</a:t>
            </a:r>
            <a:r>
              <a:rPr kumimoji="0" lang="en-US" altLang="zh-CN" sz="1800" b="0" dirty="0"/>
              <a:t>B</a:t>
            </a:r>
            <a:r>
              <a:rPr kumimoji="0" lang="zh-CN" altLang="en-US" sz="1800" b="0" dirty="0"/>
              <a:t>，这时读出的</a:t>
            </a:r>
            <a:r>
              <a:rPr kumimoji="0" lang="en-US" altLang="zh-CN" sz="1800" b="0" dirty="0"/>
              <a:t>B</a:t>
            </a:r>
            <a:r>
              <a:rPr kumimoji="0" lang="zh-CN" altLang="en-US" sz="1800" b="0" dirty="0"/>
              <a:t>仍是</a:t>
            </a:r>
            <a:r>
              <a:rPr kumimoji="0" lang="en-US" altLang="zh-CN" sz="1800" b="0" dirty="0"/>
              <a:t>100</a:t>
            </a:r>
            <a:r>
              <a:rPr kumimoji="0" lang="zh-CN" altLang="en-US" sz="1800" b="0" dirty="0"/>
              <a:t>，求和结果仍为</a:t>
            </a:r>
            <a:r>
              <a:rPr kumimoji="0" lang="en-US" altLang="zh-CN" sz="1800" b="0" dirty="0"/>
              <a:t>150</a:t>
            </a:r>
            <a:r>
              <a:rPr kumimoji="0" lang="zh-CN" altLang="en-US" sz="1800" b="0" dirty="0"/>
              <a:t>，即可重复读</a:t>
            </a:r>
          </a:p>
          <a:p>
            <a:pPr>
              <a:lnSpc>
                <a:spcPct val="140000"/>
              </a:lnSpc>
              <a:buClr>
                <a:schemeClr val="accent1"/>
              </a:buClr>
              <a:buFont typeface="Wingdings" panose="05000000000000000000" pitchFamily="2" charset="2"/>
              <a:buChar char="n"/>
            </a:pPr>
            <a:r>
              <a:rPr kumimoji="0" lang="en-US" altLang="zh-CN" sz="1800" b="0" dirty="0"/>
              <a:t>T1</a:t>
            </a:r>
            <a:r>
              <a:rPr kumimoji="0" lang="zh-CN" altLang="en-US" sz="1800" b="0" dirty="0"/>
              <a:t>结束才释放</a:t>
            </a:r>
            <a:r>
              <a:rPr kumimoji="0" lang="en-US" altLang="zh-CN" sz="1800" b="0" dirty="0"/>
              <a:t>A</a:t>
            </a:r>
            <a:r>
              <a:rPr kumimoji="0" lang="zh-CN" altLang="en-US" sz="1800" b="0" dirty="0"/>
              <a:t>，</a:t>
            </a:r>
            <a:r>
              <a:rPr kumimoji="0" lang="en-US" altLang="zh-CN" sz="1800" b="0" dirty="0"/>
              <a:t>B</a:t>
            </a:r>
            <a:r>
              <a:rPr kumimoji="0" lang="zh-CN" altLang="en-US" sz="1800" b="0" dirty="0"/>
              <a:t>上的</a:t>
            </a:r>
            <a:r>
              <a:rPr kumimoji="0" lang="en-US" altLang="zh-CN" sz="1800" b="0" dirty="0"/>
              <a:t>S</a:t>
            </a:r>
            <a:r>
              <a:rPr kumimoji="0" lang="zh-CN" altLang="en-US" sz="1800" b="0" dirty="0"/>
              <a:t>锁。</a:t>
            </a:r>
            <a:r>
              <a:rPr kumimoji="0" lang="en-US" altLang="zh-CN" sz="1800" b="0" dirty="0"/>
              <a:t>T2</a:t>
            </a:r>
            <a:r>
              <a:rPr kumimoji="0" lang="zh-CN" altLang="en-US" sz="1800" b="0" dirty="0"/>
              <a:t>才获得对</a:t>
            </a:r>
            <a:r>
              <a:rPr kumimoji="0" lang="en-US" altLang="zh-CN" sz="1800" b="0" dirty="0"/>
              <a:t>B</a:t>
            </a:r>
            <a:r>
              <a:rPr kumimoji="0" lang="zh-CN" altLang="en-US" sz="1800" b="0" dirty="0"/>
              <a:t>的</a:t>
            </a:r>
            <a:r>
              <a:rPr kumimoji="0" lang="en-US" altLang="zh-CN" sz="1800" b="0" dirty="0"/>
              <a:t>X</a:t>
            </a:r>
            <a:r>
              <a:rPr kumimoji="0" lang="zh-CN" altLang="en-US" sz="1800" b="0" dirty="0"/>
              <a:t>锁 </a:t>
            </a:r>
          </a:p>
        </p:txBody>
      </p:sp>
      <p:sp>
        <p:nvSpPr>
          <p:cNvPr id="486150" name="Text Box 774"/>
          <p:cNvSpPr txBox="1">
            <a:spLocks noChangeArrowheads="1"/>
          </p:cNvSpPr>
          <p:nvPr/>
        </p:nvSpPr>
        <p:spPr bwMode="auto">
          <a:xfrm>
            <a:off x="4499992" y="1130723"/>
            <a:ext cx="11049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dirty="0">
                <a:solidFill>
                  <a:schemeClr val="tx2"/>
                </a:solidFill>
              </a:rPr>
              <a:t>可重复读</a:t>
            </a:r>
          </a:p>
        </p:txBody>
      </p:sp>
      <p:sp>
        <p:nvSpPr>
          <p:cNvPr id="2" name="动作按钮: 上一张 1">
            <a:hlinkClick r:id="rId3" action="ppaction://hlinksldjump" highlightClick="1"/>
            <a:extLst>
              <a:ext uri="{FF2B5EF4-FFF2-40B4-BE49-F238E27FC236}">
                <a16:creationId xmlns:a16="http://schemas.microsoft.com/office/drawing/2014/main" id="{5ACD2822-1C37-FB42-DE6D-F081BB2B15CF}"/>
              </a:ext>
            </a:extLst>
          </p:cNvPr>
          <p:cNvSpPr/>
          <p:nvPr/>
        </p:nvSpPr>
        <p:spPr bwMode="auto">
          <a:xfrm>
            <a:off x="827088" y="6381328"/>
            <a:ext cx="216520" cy="216024"/>
          </a:xfrm>
          <a:prstGeom prst="actionButtonReturn">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6598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r>
              <a:rPr lang="zh-CN" altLang="en-US" sz="3500" dirty="0">
                <a:ea typeface="宋体" panose="02010600030101010101" pitchFamily="2" charset="-122"/>
              </a:rPr>
              <a:t>使用封锁机制解决读“脏”数据问题</a:t>
            </a:r>
          </a:p>
        </p:txBody>
      </p:sp>
      <p:graphicFrame>
        <p:nvGraphicFramePr>
          <p:cNvPr id="487647" name="Group 223"/>
          <p:cNvGraphicFramePr>
            <a:graphicFrameLocks noGrp="1"/>
          </p:cNvGraphicFramePr>
          <p:nvPr>
            <p:ph idx="1"/>
          </p:nvPr>
        </p:nvGraphicFramePr>
        <p:xfrm>
          <a:off x="468313" y="1700213"/>
          <a:ext cx="3538537" cy="4907280"/>
        </p:xfrm>
        <a:graphic>
          <a:graphicData uri="http://schemas.openxmlformats.org/drawingml/2006/table">
            <a:tbl>
              <a:tblPr/>
              <a:tblGrid>
                <a:gridCol w="1935162">
                  <a:extLst>
                    <a:ext uri="{9D8B030D-6E8A-4147-A177-3AD203B41FA5}">
                      <a16:colId xmlns:a16="http://schemas.microsoft.com/office/drawing/2014/main" val="20000"/>
                    </a:ext>
                  </a:extLst>
                </a:gridCol>
                <a:gridCol w="1603375">
                  <a:extLst>
                    <a:ext uri="{9D8B030D-6E8A-4147-A177-3AD203B41FA5}">
                      <a16:colId xmlns:a16="http://schemas.microsoft.com/office/drawing/2014/main" val="20001"/>
                    </a:ext>
                  </a:extLst>
                </a:gridCol>
              </a:tblGrid>
              <a:tr h="2143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a:t>
                      </a: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Xlock C</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C←C*2</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W(C)=200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43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1" lang="en-US" altLang="zh-CN" sz="17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C</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59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③</a:t>
                      </a: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ROLLBACK</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43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恢复为</a:t>
                      </a: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143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143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C</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R(C)=100</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159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 C</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487646" name="Text Box 222"/>
          <p:cNvSpPr txBox="1">
            <a:spLocks noChangeArrowheads="1"/>
          </p:cNvSpPr>
          <p:nvPr/>
        </p:nvSpPr>
        <p:spPr bwMode="auto">
          <a:xfrm>
            <a:off x="611188" y="1341438"/>
            <a:ext cx="490537" cy="4572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a:t>例</a:t>
            </a:r>
          </a:p>
        </p:txBody>
      </p:sp>
      <p:sp>
        <p:nvSpPr>
          <p:cNvPr id="487649" name="Text Box 225"/>
          <p:cNvSpPr txBox="1">
            <a:spLocks noChangeArrowheads="1"/>
          </p:cNvSpPr>
          <p:nvPr/>
        </p:nvSpPr>
        <p:spPr bwMode="auto">
          <a:xfrm>
            <a:off x="4572000" y="2276475"/>
            <a:ext cx="3816350" cy="4049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60000"/>
              </a:lnSpc>
              <a:buClr>
                <a:schemeClr val="accent1"/>
              </a:buClr>
              <a:buFont typeface="Wingdings" panose="05000000000000000000" pitchFamily="2" charset="2"/>
              <a:buChar char="n"/>
            </a:pPr>
            <a:r>
              <a:rPr kumimoji="0" lang="zh-CN" altLang="en-US" sz="1800" b="0"/>
              <a:t>事务</a:t>
            </a:r>
            <a:r>
              <a:rPr kumimoji="0" lang="en-US" altLang="zh-CN" sz="1800" b="0"/>
              <a:t>T1</a:t>
            </a:r>
            <a:r>
              <a:rPr kumimoji="0" lang="zh-CN" altLang="en-US" sz="1800" b="0"/>
              <a:t>在对</a:t>
            </a:r>
            <a:r>
              <a:rPr kumimoji="0" lang="en-US" altLang="zh-CN" sz="1800" b="0"/>
              <a:t>C</a:t>
            </a:r>
            <a:r>
              <a:rPr kumimoji="0" lang="zh-CN" altLang="en-US" sz="1800" b="0"/>
              <a:t>进行修改之前，先对</a:t>
            </a:r>
            <a:r>
              <a:rPr kumimoji="0" lang="en-US" altLang="zh-CN" sz="1800" b="0"/>
              <a:t>C</a:t>
            </a:r>
            <a:r>
              <a:rPr kumimoji="0" lang="zh-CN" altLang="en-US" sz="1800" b="0"/>
              <a:t>加</a:t>
            </a:r>
            <a:r>
              <a:rPr kumimoji="0" lang="en-US" altLang="zh-CN" sz="1800" b="0"/>
              <a:t>X</a:t>
            </a:r>
            <a:r>
              <a:rPr kumimoji="0" lang="zh-CN" altLang="en-US" sz="1800" b="0"/>
              <a:t>锁，修改其值后写回磁盘</a:t>
            </a:r>
          </a:p>
          <a:p>
            <a:pPr>
              <a:lnSpc>
                <a:spcPct val="160000"/>
              </a:lnSpc>
              <a:buClr>
                <a:schemeClr val="accent1"/>
              </a:buClr>
              <a:buFont typeface="Wingdings" panose="05000000000000000000" pitchFamily="2" charset="2"/>
              <a:buChar char="n"/>
            </a:pPr>
            <a:r>
              <a:rPr kumimoji="0" lang="en-US" altLang="zh-CN" sz="1800" b="0"/>
              <a:t>T2</a:t>
            </a:r>
            <a:r>
              <a:rPr kumimoji="0" lang="zh-CN" altLang="en-US" sz="1800" b="0"/>
              <a:t>请求在</a:t>
            </a:r>
            <a:r>
              <a:rPr kumimoji="0" lang="en-US" altLang="zh-CN" sz="1800" b="0"/>
              <a:t>C</a:t>
            </a:r>
            <a:r>
              <a:rPr kumimoji="0" lang="zh-CN" altLang="en-US" sz="1800" b="0"/>
              <a:t>上加</a:t>
            </a:r>
            <a:r>
              <a:rPr kumimoji="0" lang="en-US" altLang="zh-CN" sz="1800" b="0"/>
              <a:t>S</a:t>
            </a:r>
            <a:r>
              <a:rPr kumimoji="0" lang="zh-CN" altLang="en-US" sz="1800" b="0"/>
              <a:t>锁，因</a:t>
            </a:r>
            <a:r>
              <a:rPr kumimoji="0" lang="en-US" altLang="zh-CN" sz="1800" b="0"/>
              <a:t>T1</a:t>
            </a:r>
            <a:r>
              <a:rPr kumimoji="0" lang="zh-CN" altLang="en-US" sz="1800" b="0"/>
              <a:t>已在</a:t>
            </a:r>
            <a:r>
              <a:rPr kumimoji="0" lang="en-US" altLang="zh-CN" sz="1800" b="0"/>
              <a:t>C</a:t>
            </a:r>
            <a:r>
              <a:rPr kumimoji="0" lang="zh-CN" altLang="en-US" sz="1800" b="0"/>
              <a:t>上加了</a:t>
            </a:r>
            <a:r>
              <a:rPr kumimoji="0" lang="en-US" altLang="zh-CN" sz="1800" b="0"/>
              <a:t>X</a:t>
            </a:r>
            <a:r>
              <a:rPr kumimoji="0" lang="zh-CN" altLang="en-US" sz="1800" b="0"/>
              <a:t>锁，</a:t>
            </a:r>
            <a:r>
              <a:rPr kumimoji="0" lang="en-US" altLang="zh-CN" sz="1800" b="0"/>
              <a:t>T2</a:t>
            </a:r>
            <a:r>
              <a:rPr kumimoji="0" lang="zh-CN" altLang="en-US" sz="1800" b="0"/>
              <a:t>只能等待</a:t>
            </a:r>
          </a:p>
          <a:p>
            <a:pPr>
              <a:lnSpc>
                <a:spcPct val="160000"/>
              </a:lnSpc>
              <a:buClr>
                <a:schemeClr val="accent1"/>
              </a:buClr>
              <a:buFont typeface="Wingdings" panose="05000000000000000000" pitchFamily="2" charset="2"/>
              <a:buChar char="n"/>
            </a:pPr>
            <a:r>
              <a:rPr kumimoji="0" lang="en-US" altLang="zh-CN" sz="1800" b="0"/>
              <a:t>T1</a:t>
            </a:r>
            <a:r>
              <a:rPr kumimoji="0" lang="zh-CN" altLang="en-US" sz="1800" b="0"/>
              <a:t>因某种原因被撤销，</a:t>
            </a:r>
            <a:r>
              <a:rPr kumimoji="0" lang="en-US" altLang="zh-CN" sz="1800" b="0"/>
              <a:t>C</a:t>
            </a:r>
            <a:r>
              <a:rPr kumimoji="0" lang="zh-CN" altLang="en-US" sz="1800" b="0"/>
              <a:t>恢复为原值</a:t>
            </a:r>
            <a:r>
              <a:rPr kumimoji="0" lang="en-US" altLang="zh-CN" sz="1800" b="0"/>
              <a:t>100</a:t>
            </a:r>
          </a:p>
          <a:p>
            <a:pPr>
              <a:lnSpc>
                <a:spcPct val="160000"/>
              </a:lnSpc>
              <a:buClr>
                <a:schemeClr val="accent1"/>
              </a:buClr>
              <a:buFont typeface="Wingdings" panose="05000000000000000000" pitchFamily="2" charset="2"/>
              <a:buChar char="n"/>
            </a:pPr>
            <a:r>
              <a:rPr kumimoji="0" lang="en-US" altLang="zh-CN" sz="1800" b="0"/>
              <a:t>T1</a:t>
            </a:r>
            <a:r>
              <a:rPr kumimoji="0" lang="zh-CN" altLang="en-US" sz="1800" b="0"/>
              <a:t>释放</a:t>
            </a:r>
            <a:r>
              <a:rPr kumimoji="0" lang="en-US" altLang="zh-CN" sz="1800" b="0"/>
              <a:t>C</a:t>
            </a:r>
            <a:r>
              <a:rPr kumimoji="0" lang="zh-CN" altLang="en-US" sz="1800" b="0"/>
              <a:t>上的</a:t>
            </a:r>
            <a:r>
              <a:rPr kumimoji="0" lang="en-US" altLang="zh-CN" sz="1800" b="0"/>
              <a:t>X</a:t>
            </a:r>
            <a:r>
              <a:rPr kumimoji="0" lang="zh-CN" altLang="en-US" sz="1800" b="0"/>
              <a:t>锁后</a:t>
            </a:r>
            <a:r>
              <a:rPr kumimoji="0" lang="en-US" altLang="zh-CN" sz="1800" b="0"/>
              <a:t>T2</a:t>
            </a:r>
            <a:r>
              <a:rPr kumimoji="0" lang="zh-CN" altLang="en-US" sz="1800" b="0"/>
              <a:t>获得</a:t>
            </a:r>
            <a:r>
              <a:rPr kumimoji="0" lang="en-US" altLang="zh-CN" sz="1800" b="0"/>
              <a:t>C</a:t>
            </a:r>
            <a:r>
              <a:rPr kumimoji="0" lang="zh-CN" altLang="en-US" sz="1800" b="0"/>
              <a:t>上的</a:t>
            </a:r>
            <a:r>
              <a:rPr kumimoji="0" lang="en-US" altLang="zh-CN" sz="1800" b="0"/>
              <a:t>S</a:t>
            </a:r>
            <a:r>
              <a:rPr kumimoji="0" lang="zh-CN" altLang="en-US" sz="1800" b="0"/>
              <a:t>锁，读</a:t>
            </a:r>
            <a:r>
              <a:rPr kumimoji="0" lang="en-US" altLang="zh-CN" sz="1800" b="0"/>
              <a:t>C=100</a:t>
            </a:r>
            <a:r>
              <a:rPr kumimoji="0" lang="zh-CN" altLang="en-US" sz="1800" b="0"/>
              <a:t>。避免了</a:t>
            </a:r>
            <a:r>
              <a:rPr kumimoji="0" lang="en-US" altLang="zh-CN" sz="1800" b="0"/>
              <a:t>T2</a:t>
            </a:r>
            <a:r>
              <a:rPr kumimoji="0" lang="zh-CN" altLang="en-US" sz="1800" b="0"/>
              <a:t>读“脏”数据</a:t>
            </a:r>
          </a:p>
        </p:txBody>
      </p:sp>
      <p:sp>
        <p:nvSpPr>
          <p:cNvPr id="487650" name="Text Box 226"/>
          <p:cNvSpPr txBox="1">
            <a:spLocks noChangeArrowheads="1"/>
          </p:cNvSpPr>
          <p:nvPr/>
        </p:nvSpPr>
        <p:spPr bwMode="auto">
          <a:xfrm>
            <a:off x="4500563" y="1773238"/>
            <a:ext cx="1620837"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a:solidFill>
                  <a:schemeClr val="tx2"/>
                </a:solidFill>
              </a:rPr>
              <a:t>不读“脏”数据</a:t>
            </a:r>
            <a:r>
              <a:rPr kumimoji="0" lang="zh-CN" altLang="en-US" sz="1800"/>
              <a:t> </a:t>
            </a:r>
          </a:p>
        </p:txBody>
      </p:sp>
      <p:sp>
        <p:nvSpPr>
          <p:cNvPr id="2" name="动作按钮: 上一张 1">
            <a:hlinkClick r:id="rId2" action="ppaction://hlinksldjump" highlightClick="1"/>
            <a:extLst>
              <a:ext uri="{FF2B5EF4-FFF2-40B4-BE49-F238E27FC236}">
                <a16:creationId xmlns:a16="http://schemas.microsoft.com/office/drawing/2014/main" id="{FA672C02-72AD-4BE2-1AF9-A6B272E34A26}"/>
              </a:ext>
            </a:extLst>
          </p:cNvPr>
          <p:cNvSpPr/>
          <p:nvPr/>
        </p:nvSpPr>
        <p:spPr bwMode="auto">
          <a:xfrm>
            <a:off x="827088" y="6381328"/>
            <a:ext cx="216520" cy="216024"/>
          </a:xfrm>
          <a:prstGeom prst="actionButtonReturn">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860530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r>
              <a:rPr lang="zh-CN" altLang="en-US" dirty="0">
                <a:ea typeface="宋体" panose="02010600030101010101" pitchFamily="2" charset="-122"/>
              </a:rPr>
              <a:t>第八章  并发控制</a:t>
            </a:r>
          </a:p>
        </p:txBody>
      </p:sp>
      <p:sp>
        <p:nvSpPr>
          <p:cNvPr id="489475"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ea typeface="宋体" panose="02010600030101010101" pitchFamily="2" charset="-122"/>
              </a:rPr>
              <a:t>8.1  </a:t>
            </a:r>
            <a:r>
              <a:rPr lang="zh-CN" altLang="en-US" b="1" dirty="0">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ea typeface="宋体" panose="02010600030101010101" pitchFamily="2" charset="-122"/>
              </a:rPr>
              <a:t>8.2  </a:t>
            </a:r>
            <a:r>
              <a:rPr lang="zh-CN" altLang="en-US" b="1" dirty="0">
                <a:ea typeface="宋体" panose="02010600030101010101" pitchFamily="2" charset="-122"/>
              </a:rPr>
              <a:t>封锁</a:t>
            </a:r>
          </a:p>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8.3  </a:t>
            </a:r>
            <a:r>
              <a:rPr lang="zh-CN" altLang="en-US" b="1" dirty="0">
                <a:solidFill>
                  <a:schemeClr val="tx2"/>
                </a:solidFill>
                <a:ea typeface="宋体" panose="02010600030101010101" pitchFamily="2" charset="-122"/>
              </a:rPr>
              <a:t>活锁和死锁</a:t>
            </a:r>
          </a:p>
          <a:p>
            <a:pPr algn="just">
              <a:lnSpc>
                <a:spcPct val="130000"/>
              </a:lnSpc>
              <a:buFont typeface="Wingdings" panose="05000000000000000000" pitchFamily="2" charset="2"/>
              <a:buNone/>
            </a:pPr>
            <a:r>
              <a:rPr lang="en-US" altLang="zh-CN" b="1" dirty="0">
                <a:ea typeface="宋体" panose="02010600030101010101" pitchFamily="2" charset="-122"/>
              </a:rPr>
              <a:t>8.4  </a:t>
            </a:r>
            <a:r>
              <a:rPr lang="zh-CN" altLang="en-US" b="1" dirty="0">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ea typeface="宋体" panose="02010600030101010101" pitchFamily="2" charset="-122"/>
              </a:rPr>
              <a:t>8.5   </a:t>
            </a:r>
            <a:r>
              <a:rPr lang="zh-CN" altLang="en-US" b="1" dirty="0">
                <a:ea typeface="宋体" panose="02010600030101010101" pitchFamily="2" charset="-122"/>
              </a:rPr>
              <a:t>两段锁协议</a:t>
            </a:r>
          </a:p>
          <a:p>
            <a:pPr algn="just">
              <a:lnSpc>
                <a:spcPct val="130000"/>
              </a:lnSpc>
              <a:buFont typeface="Wingdings" panose="05000000000000000000" pitchFamily="2" charset="2"/>
              <a:buNone/>
            </a:pPr>
            <a:r>
              <a:rPr lang="en-US" altLang="zh-CN" b="1" dirty="0">
                <a:ea typeface="宋体" panose="02010600030101010101" pitchFamily="2" charset="-122"/>
              </a:rPr>
              <a:t>8.6   </a:t>
            </a:r>
            <a:r>
              <a:rPr lang="zh-CN" altLang="en-US" b="1" dirty="0">
                <a:ea typeface="宋体" panose="02010600030101010101" pitchFamily="2" charset="-122"/>
              </a:rPr>
              <a:t>封锁的粒度</a:t>
            </a:r>
          </a:p>
          <a:p>
            <a:pPr algn="just">
              <a:lnSpc>
                <a:spcPct val="130000"/>
              </a:lnSpc>
              <a:buFont typeface="Wingdings" panose="05000000000000000000" pitchFamily="2" charset="2"/>
              <a:buNone/>
            </a:pPr>
            <a:r>
              <a:rPr lang="en-US" altLang="zh-CN" b="1" dirty="0">
                <a:ea typeface="宋体" panose="02010600030101010101" pitchFamily="2" charset="-122"/>
              </a:rPr>
              <a:t>8.7   </a:t>
            </a:r>
            <a:r>
              <a:rPr lang="zh-CN" altLang="en-US" b="1" dirty="0">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50</a:t>
            </a:fld>
            <a:endParaRPr lang="en-US" altLang="zh-CN"/>
          </a:p>
        </p:txBody>
      </p:sp>
    </p:spTree>
    <p:extLst>
      <p:ext uri="{BB962C8B-B14F-4D97-AF65-F5344CB8AC3E}">
        <p14:creationId xmlns:p14="http://schemas.microsoft.com/office/powerpoint/2010/main" val="179958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r>
              <a:rPr lang="en-US" altLang="zh-CN" dirty="0">
                <a:ea typeface="宋体" panose="02010600030101010101" pitchFamily="2" charset="-122"/>
              </a:rPr>
              <a:t>8.3  </a:t>
            </a:r>
            <a:r>
              <a:rPr lang="zh-CN" altLang="en-US" dirty="0">
                <a:ea typeface="宋体" panose="02010600030101010101" pitchFamily="2" charset="-122"/>
              </a:rPr>
              <a:t>活锁和死锁</a:t>
            </a:r>
          </a:p>
        </p:txBody>
      </p:sp>
      <p:sp>
        <p:nvSpPr>
          <p:cNvPr id="374787" name="Rectangle 3"/>
          <p:cNvSpPr>
            <a:spLocks noGrp="1" noChangeArrowheads="1"/>
          </p:cNvSpPr>
          <p:nvPr>
            <p:ph type="body" idx="1"/>
          </p:nvPr>
        </p:nvSpPr>
        <p:spPr/>
        <p:txBody>
          <a:bodyPr/>
          <a:lstStyle/>
          <a:p>
            <a:r>
              <a:rPr lang="zh-CN" altLang="en-US">
                <a:ea typeface="宋体" panose="02010600030101010101" pitchFamily="2" charset="-122"/>
              </a:rPr>
              <a:t>封锁技术可以有效地解决并行操作的一致性问题，但也带来一些新的问题</a:t>
            </a:r>
          </a:p>
          <a:p>
            <a:pPr lvl="1">
              <a:lnSpc>
                <a:spcPct val="160000"/>
              </a:lnSpc>
            </a:pPr>
            <a:r>
              <a:rPr lang="zh-CN" altLang="en-US">
                <a:ea typeface="宋体" panose="02010600030101010101" pitchFamily="2" charset="-122"/>
              </a:rPr>
              <a:t>死锁</a:t>
            </a:r>
          </a:p>
          <a:p>
            <a:pPr lvl="1">
              <a:lnSpc>
                <a:spcPct val="160000"/>
              </a:lnSpc>
            </a:pPr>
            <a:r>
              <a:rPr lang="zh-CN" altLang="en-US">
                <a:ea typeface="宋体" panose="02010600030101010101" pitchFamily="2" charset="-122"/>
              </a:rPr>
              <a:t>活锁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51</a:t>
            </a:fld>
            <a:endParaRPr lang="en-US" altLang="zh-CN"/>
          </a:p>
        </p:txBody>
      </p:sp>
    </p:spTree>
    <p:extLst>
      <p:ext uri="{BB962C8B-B14F-4D97-AF65-F5344CB8AC3E}">
        <p14:creationId xmlns:p14="http://schemas.microsoft.com/office/powerpoint/2010/main" val="6220138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dirty="0">
                <a:ea typeface="宋体" panose="02010600030101010101" pitchFamily="2" charset="-122"/>
              </a:rPr>
              <a:t>8.3.1 </a:t>
            </a:r>
            <a:r>
              <a:rPr lang="zh-CN" altLang="en-US" dirty="0">
                <a:ea typeface="宋体" panose="02010600030101010101" pitchFamily="2" charset="-122"/>
              </a:rPr>
              <a:t>活锁</a:t>
            </a:r>
          </a:p>
        </p:txBody>
      </p:sp>
      <p:sp>
        <p:nvSpPr>
          <p:cNvPr id="375813" name="Text Box 5"/>
          <p:cNvSpPr txBox="1">
            <a:spLocks noChangeArrowheads="1"/>
          </p:cNvSpPr>
          <p:nvPr/>
        </p:nvSpPr>
        <p:spPr bwMode="auto">
          <a:xfrm>
            <a:off x="2032000" y="2138363"/>
            <a:ext cx="18415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1800"/>
          </a:p>
        </p:txBody>
      </p:sp>
      <p:sp>
        <p:nvSpPr>
          <p:cNvPr id="375815" name="Rectangle 7"/>
          <p:cNvSpPr>
            <a:spLocks noGrp="1" noChangeArrowheads="1"/>
          </p:cNvSpPr>
          <p:nvPr>
            <p:ph type="body" idx="1"/>
          </p:nvPr>
        </p:nvSpPr>
        <p:spPr/>
        <p:txBody>
          <a:bodyPr/>
          <a:lstStyle/>
          <a:p>
            <a:pPr>
              <a:lnSpc>
                <a:spcPct val="150000"/>
              </a:lnSpc>
            </a:pPr>
            <a:r>
              <a:rPr lang="zh-CN" altLang="en-US" sz="2400">
                <a:ea typeface="宋体" panose="02010600030101010101" pitchFamily="2" charset="-122"/>
              </a:rPr>
              <a:t>事务</a:t>
            </a:r>
            <a:r>
              <a:rPr lang="en-US" altLang="zh-CN" sz="2400">
                <a:ea typeface="宋体" panose="02010600030101010101" pitchFamily="2" charset="-122"/>
              </a:rPr>
              <a:t>T1</a:t>
            </a:r>
            <a:r>
              <a:rPr lang="zh-CN" altLang="en-US" sz="2400">
                <a:ea typeface="宋体" panose="02010600030101010101" pitchFamily="2" charset="-122"/>
              </a:rPr>
              <a:t>封锁了数据</a:t>
            </a:r>
            <a:r>
              <a:rPr lang="en-US" altLang="zh-CN" sz="2400">
                <a:ea typeface="宋体" panose="02010600030101010101" pitchFamily="2" charset="-122"/>
              </a:rPr>
              <a:t>R</a:t>
            </a:r>
          </a:p>
          <a:p>
            <a:pPr>
              <a:lnSpc>
                <a:spcPct val="150000"/>
              </a:lnSpc>
            </a:pPr>
            <a:r>
              <a:rPr lang="zh-CN" altLang="en-US" sz="2400">
                <a:ea typeface="宋体" panose="02010600030101010101" pitchFamily="2" charset="-122"/>
              </a:rPr>
              <a:t>事务</a:t>
            </a:r>
            <a:r>
              <a:rPr lang="en-US" altLang="zh-CN" sz="2400">
                <a:ea typeface="宋体" panose="02010600030101010101" pitchFamily="2" charset="-122"/>
              </a:rPr>
              <a:t>T2</a:t>
            </a:r>
            <a:r>
              <a:rPr lang="zh-CN" altLang="en-US" sz="2400">
                <a:ea typeface="宋体" panose="02010600030101010101" pitchFamily="2" charset="-122"/>
              </a:rPr>
              <a:t>又请求封锁</a:t>
            </a:r>
            <a:r>
              <a:rPr lang="en-US" altLang="zh-CN" sz="2400">
                <a:ea typeface="宋体" panose="02010600030101010101" pitchFamily="2" charset="-122"/>
              </a:rPr>
              <a:t>R</a:t>
            </a:r>
            <a:r>
              <a:rPr lang="zh-CN" altLang="en-US" sz="2400">
                <a:ea typeface="宋体" panose="02010600030101010101" pitchFamily="2" charset="-122"/>
              </a:rPr>
              <a:t>，于是</a:t>
            </a:r>
            <a:r>
              <a:rPr lang="en-US" altLang="zh-CN" sz="2400">
                <a:ea typeface="宋体" panose="02010600030101010101" pitchFamily="2" charset="-122"/>
              </a:rPr>
              <a:t>T2</a:t>
            </a:r>
            <a:r>
              <a:rPr lang="zh-CN" altLang="en-US" sz="2400">
                <a:ea typeface="宋体" panose="02010600030101010101" pitchFamily="2" charset="-122"/>
              </a:rPr>
              <a:t>等待。</a:t>
            </a:r>
          </a:p>
          <a:p>
            <a:pPr>
              <a:lnSpc>
                <a:spcPct val="150000"/>
              </a:lnSpc>
            </a:pPr>
            <a:r>
              <a:rPr lang="en-US" altLang="zh-CN" sz="2400">
                <a:ea typeface="宋体" panose="02010600030101010101" pitchFamily="2" charset="-122"/>
              </a:rPr>
              <a:t>T3</a:t>
            </a:r>
            <a:r>
              <a:rPr lang="zh-CN" altLang="en-US" sz="2400">
                <a:ea typeface="宋体" panose="02010600030101010101" pitchFamily="2" charset="-122"/>
              </a:rPr>
              <a:t>也请求封锁</a:t>
            </a:r>
            <a:r>
              <a:rPr lang="en-US" altLang="zh-CN" sz="2400">
                <a:ea typeface="宋体" panose="02010600030101010101" pitchFamily="2" charset="-122"/>
              </a:rPr>
              <a:t>R</a:t>
            </a:r>
            <a:r>
              <a:rPr lang="zh-CN" altLang="en-US" sz="2400">
                <a:ea typeface="宋体" panose="02010600030101010101" pitchFamily="2" charset="-122"/>
              </a:rPr>
              <a:t>，当</a:t>
            </a:r>
            <a:r>
              <a:rPr lang="en-US" altLang="zh-CN" sz="2400">
                <a:ea typeface="宋体" panose="02010600030101010101" pitchFamily="2" charset="-122"/>
              </a:rPr>
              <a:t>T1</a:t>
            </a:r>
            <a:r>
              <a:rPr lang="zh-CN" altLang="en-US" sz="2400">
                <a:ea typeface="宋体" panose="02010600030101010101" pitchFamily="2" charset="-122"/>
              </a:rPr>
              <a:t>释放了</a:t>
            </a:r>
            <a:r>
              <a:rPr lang="en-US" altLang="zh-CN" sz="2400">
                <a:ea typeface="宋体" panose="02010600030101010101" pitchFamily="2" charset="-122"/>
              </a:rPr>
              <a:t>R</a:t>
            </a:r>
            <a:r>
              <a:rPr lang="zh-CN" altLang="en-US" sz="2400">
                <a:ea typeface="宋体" panose="02010600030101010101" pitchFamily="2" charset="-122"/>
              </a:rPr>
              <a:t>上的封锁之后系统首先批准了</a:t>
            </a:r>
            <a:r>
              <a:rPr lang="en-US" altLang="zh-CN" sz="2400">
                <a:ea typeface="宋体" panose="02010600030101010101" pitchFamily="2" charset="-122"/>
              </a:rPr>
              <a:t>T3</a:t>
            </a:r>
            <a:r>
              <a:rPr lang="zh-CN" altLang="en-US" sz="2400">
                <a:ea typeface="宋体" panose="02010600030101010101" pitchFamily="2" charset="-122"/>
              </a:rPr>
              <a:t>的请求，</a:t>
            </a:r>
            <a:r>
              <a:rPr lang="en-US" altLang="zh-CN" sz="2400">
                <a:ea typeface="宋体" panose="02010600030101010101" pitchFamily="2" charset="-122"/>
              </a:rPr>
              <a:t>T2</a:t>
            </a:r>
            <a:r>
              <a:rPr lang="zh-CN" altLang="en-US" sz="2400">
                <a:ea typeface="宋体" panose="02010600030101010101" pitchFamily="2" charset="-122"/>
              </a:rPr>
              <a:t>仍然等待。</a:t>
            </a:r>
          </a:p>
          <a:p>
            <a:pPr>
              <a:lnSpc>
                <a:spcPct val="150000"/>
              </a:lnSpc>
            </a:pPr>
            <a:r>
              <a:rPr lang="en-US" altLang="zh-CN" sz="2400">
                <a:ea typeface="宋体" panose="02010600030101010101" pitchFamily="2" charset="-122"/>
              </a:rPr>
              <a:t>T4</a:t>
            </a:r>
            <a:r>
              <a:rPr lang="zh-CN" altLang="en-US" sz="2400">
                <a:ea typeface="宋体" panose="02010600030101010101" pitchFamily="2" charset="-122"/>
              </a:rPr>
              <a:t>又请求封锁</a:t>
            </a:r>
            <a:r>
              <a:rPr lang="en-US" altLang="zh-CN" sz="2400">
                <a:ea typeface="宋体" panose="02010600030101010101" pitchFamily="2" charset="-122"/>
              </a:rPr>
              <a:t>R</a:t>
            </a:r>
            <a:r>
              <a:rPr lang="zh-CN" altLang="en-US" sz="2400">
                <a:ea typeface="宋体" panose="02010600030101010101" pitchFamily="2" charset="-122"/>
              </a:rPr>
              <a:t>，当</a:t>
            </a:r>
            <a:r>
              <a:rPr lang="en-US" altLang="zh-CN" sz="2400">
                <a:ea typeface="宋体" panose="02010600030101010101" pitchFamily="2" charset="-122"/>
              </a:rPr>
              <a:t>T3</a:t>
            </a:r>
            <a:r>
              <a:rPr lang="zh-CN" altLang="en-US" sz="2400">
                <a:ea typeface="宋体" panose="02010600030101010101" pitchFamily="2" charset="-122"/>
              </a:rPr>
              <a:t>释放了</a:t>
            </a:r>
            <a:r>
              <a:rPr lang="en-US" altLang="zh-CN" sz="2400">
                <a:ea typeface="宋体" panose="02010600030101010101" pitchFamily="2" charset="-122"/>
              </a:rPr>
              <a:t>R</a:t>
            </a:r>
            <a:r>
              <a:rPr lang="zh-CN" altLang="en-US" sz="2400">
                <a:ea typeface="宋体" panose="02010600030101010101" pitchFamily="2" charset="-122"/>
              </a:rPr>
              <a:t>上的封锁之后系统又批准了</a:t>
            </a:r>
            <a:r>
              <a:rPr lang="en-US" altLang="zh-CN" sz="2400">
                <a:ea typeface="宋体" panose="02010600030101010101" pitchFamily="2" charset="-122"/>
              </a:rPr>
              <a:t>T4</a:t>
            </a:r>
            <a:r>
              <a:rPr lang="zh-CN" altLang="en-US" sz="2400">
                <a:ea typeface="宋体" panose="02010600030101010101" pitchFamily="2" charset="-122"/>
              </a:rPr>
              <a:t>的请求</a:t>
            </a:r>
            <a:r>
              <a:rPr lang="en-US" altLang="zh-CN" sz="2400">
                <a:ea typeface="宋体" panose="02010600030101010101" pitchFamily="2" charset="-122"/>
              </a:rPr>
              <a:t>……</a:t>
            </a:r>
          </a:p>
          <a:p>
            <a:pPr>
              <a:lnSpc>
                <a:spcPct val="150000"/>
              </a:lnSpc>
            </a:pPr>
            <a:r>
              <a:rPr lang="en-US" altLang="zh-CN" sz="2400">
                <a:ea typeface="宋体" panose="02010600030101010101" pitchFamily="2" charset="-122"/>
              </a:rPr>
              <a:t>T2</a:t>
            </a:r>
            <a:r>
              <a:rPr lang="zh-CN" altLang="en-US" sz="2400">
                <a:ea typeface="宋体" panose="02010600030101010101" pitchFamily="2" charset="-122"/>
              </a:rPr>
              <a:t>有可能永远等待，这就是</a:t>
            </a:r>
            <a:r>
              <a:rPr lang="zh-CN" altLang="en-US" sz="2400">
                <a:solidFill>
                  <a:srgbClr val="FF00FF"/>
                </a:solidFill>
                <a:ea typeface="宋体" panose="02010600030101010101" pitchFamily="2" charset="-122"/>
              </a:rPr>
              <a:t>活锁</a:t>
            </a:r>
            <a:r>
              <a:rPr lang="zh-CN" altLang="en-US" sz="2400">
                <a:ea typeface="宋体" panose="02010600030101010101" pitchFamily="2" charset="-122"/>
              </a:rPr>
              <a:t>的情形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52</a:t>
            </a:fld>
            <a:endParaRPr lang="en-US" altLang="zh-CN"/>
          </a:p>
        </p:txBody>
      </p:sp>
    </p:spTree>
    <p:extLst>
      <p:ext uri="{BB962C8B-B14F-4D97-AF65-F5344CB8AC3E}">
        <p14:creationId xmlns:p14="http://schemas.microsoft.com/office/powerpoint/2010/main" val="21585866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zh-CN" altLang="en-US">
                <a:ea typeface="宋体" panose="02010600030101010101" pitchFamily="2" charset="-122"/>
              </a:rPr>
              <a:t>活锁（续）</a:t>
            </a:r>
          </a:p>
        </p:txBody>
      </p:sp>
      <p:pic>
        <p:nvPicPr>
          <p:cNvPr id="490500" name="Picture 4" descr="8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1600200"/>
            <a:ext cx="7620000" cy="4437063"/>
          </a:xfrm>
          <a:prstGeom prst="rect">
            <a:avLst/>
          </a:prstGeom>
          <a:noFill/>
          <a:extLst>
            <a:ext uri="{909E8E84-426E-40DD-AFC4-6F175D3DCCD1}">
              <a14:hiddenFill xmlns:a14="http://schemas.microsoft.com/office/drawing/2010/main">
                <a:solidFill>
                  <a:srgbClr val="FFFFFF"/>
                </a:solidFill>
              </a14:hiddenFill>
            </a:ext>
          </a:extLst>
        </p:spPr>
      </p:pic>
      <p:sp>
        <p:nvSpPr>
          <p:cNvPr id="490501" name="Text Box 5"/>
          <p:cNvSpPr txBox="1">
            <a:spLocks noChangeArrowheads="1"/>
          </p:cNvSpPr>
          <p:nvPr/>
        </p:nvSpPr>
        <p:spPr bwMode="auto">
          <a:xfrm>
            <a:off x="3938588" y="6181725"/>
            <a:ext cx="758825"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a:t>活  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53</a:t>
            </a:fld>
            <a:endParaRPr lang="en-US" altLang="zh-CN"/>
          </a:p>
        </p:txBody>
      </p:sp>
    </p:spTree>
    <p:extLst>
      <p:ext uri="{BB962C8B-B14F-4D97-AF65-F5344CB8AC3E}">
        <p14:creationId xmlns:p14="http://schemas.microsoft.com/office/powerpoint/2010/main" val="20906233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zh-CN" altLang="en-US">
                <a:ea typeface="宋体" panose="02010600030101010101" pitchFamily="2" charset="-122"/>
              </a:rPr>
              <a:t>活锁（续）</a:t>
            </a:r>
          </a:p>
        </p:txBody>
      </p:sp>
      <p:sp>
        <p:nvSpPr>
          <p:cNvPr id="376835" name="Rectangle 3"/>
          <p:cNvSpPr>
            <a:spLocks noGrp="1" noChangeArrowheads="1"/>
          </p:cNvSpPr>
          <p:nvPr>
            <p:ph type="body" idx="1"/>
          </p:nvPr>
        </p:nvSpPr>
        <p:spPr>
          <a:xfrm>
            <a:off x="457200" y="1828800"/>
            <a:ext cx="8229600" cy="3760440"/>
          </a:xfrm>
        </p:spPr>
        <p:txBody>
          <a:bodyPr/>
          <a:lstStyle/>
          <a:p>
            <a:pPr algn="just">
              <a:lnSpc>
                <a:spcPct val="170000"/>
              </a:lnSpc>
            </a:pPr>
            <a:r>
              <a:rPr lang="zh-CN" altLang="en-US" sz="3200" dirty="0">
                <a:ea typeface="宋体" panose="02010600030101010101" pitchFamily="2" charset="-122"/>
              </a:rPr>
              <a:t>避免活锁：</a:t>
            </a:r>
            <a:r>
              <a:rPr lang="zh-CN" altLang="en-US" dirty="0">
                <a:ea typeface="宋体" panose="02010600030101010101" pitchFamily="2" charset="-122"/>
              </a:rPr>
              <a:t>采用</a:t>
            </a:r>
            <a:r>
              <a:rPr lang="zh-CN" altLang="en-US" dirty="0">
                <a:solidFill>
                  <a:srgbClr val="3333FF"/>
                </a:solidFill>
                <a:ea typeface="宋体" panose="02010600030101010101" pitchFamily="2" charset="-122"/>
              </a:rPr>
              <a:t>先来先服务</a:t>
            </a:r>
            <a:r>
              <a:rPr lang="zh-CN" altLang="en-US" dirty="0">
                <a:ea typeface="宋体" panose="02010600030101010101" pitchFamily="2" charset="-122"/>
              </a:rPr>
              <a:t>的策略</a:t>
            </a:r>
          </a:p>
          <a:p>
            <a:pPr lvl="1" algn="just">
              <a:lnSpc>
                <a:spcPct val="170000"/>
              </a:lnSpc>
            </a:pPr>
            <a:r>
              <a:rPr lang="zh-CN" altLang="en-US" dirty="0">
                <a:ea typeface="宋体" panose="02010600030101010101" pitchFamily="2" charset="-122"/>
              </a:rPr>
              <a:t>当多个事务请求封锁同一数据对象时</a:t>
            </a:r>
          </a:p>
          <a:p>
            <a:pPr lvl="1" algn="just">
              <a:lnSpc>
                <a:spcPct val="170000"/>
              </a:lnSpc>
            </a:pPr>
            <a:r>
              <a:rPr lang="zh-CN" altLang="en-US" dirty="0">
                <a:ea typeface="宋体" panose="02010600030101010101" pitchFamily="2" charset="-122"/>
              </a:rPr>
              <a:t>按请求封锁的先后次序对这些事务排队</a:t>
            </a:r>
          </a:p>
          <a:p>
            <a:pPr lvl="1" algn="just">
              <a:lnSpc>
                <a:spcPct val="170000"/>
              </a:lnSpc>
            </a:pPr>
            <a:r>
              <a:rPr lang="zh-CN" altLang="en-US" dirty="0">
                <a:ea typeface="宋体" panose="02010600030101010101" pitchFamily="2" charset="-122"/>
              </a:rPr>
              <a:t>该数据对象上的锁一旦释放，首先批准申请队列中第一个事务获得锁。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54</a:t>
            </a:fld>
            <a:endParaRPr lang="en-US" altLang="zh-CN"/>
          </a:p>
        </p:txBody>
      </p:sp>
    </p:spTree>
    <p:extLst>
      <p:ext uri="{BB962C8B-B14F-4D97-AF65-F5344CB8AC3E}">
        <p14:creationId xmlns:p14="http://schemas.microsoft.com/office/powerpoint/2010/main" val="27317856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en-US" altLang="zh-CN" dirty="0">
                <a:ea typeface="宋体" panose="02010600030101010101" pitchFamily="2" charset="-122"/>
              </a:rPr>
              <a:t>8.3.2  </a:t>
            </a:r>
            <a:r>
              <a:rPr lang="zh-CN" altLang="en-US" dirty="0">
                <a:ea typeface="宋体" panose="02010600030101010101" pitchFamily="2" charset="-122"/>
              </a:rPr>
              <a:t>死锁</a:t>
            </a:r>
          </a:p>
        </p:txBody>
      </p:sp>
      <p:sp>
        <p:nvSpPr>
          <p:cNvPr id="377866" name="Rectangle 10"/>
          <p:cNvSpPr>
            <a:spLocks noGrp="1" noChangeArrowheads="1"/>
          </p:cNvSpPr>
          <p:nvPr>
            <p:ph type="body" idx="1"/>
          </p:nvPr>
        </p:nvSpPr>
        <p:spPr/>
        <p:txBody>
          <a:bodyPr/>
          <a:lstStyle/>
          <a:p>
            <a:pPr>
              <a:lnSpc>
                <a:spcPct val="130000"/>
              </a:lnSpc>
            </a:pPr>
            <a:r>
              <a:rPr lang="zh-CN" altLang="en-US" sz="2400" dirty="0">
                <a:ea typeface="宋体" panose="02010600030101010101" pitchFamily="2" charset="-122"/>
              </a:rPr>
              <a:t>事务</a:t>
            </a:r>
            <a:r>
              <a:rPr lang="en-US" altLang="zh-CN" sz="2400" dirty="0">
                <a:ea typeface="宋体" panose="02010600030101010101" pitchFamily="2" charset="-122"/>
              </a:rPr>
              <a:t>T1</a:t>
            </a:r>
            <a:r>
              <a:rPr lang="zh-CN" altLang="en-US" sz="2400" dirty="0">
                <a:ea typeface="宋体" panose="02010600030101010101" pitchFamily="2" charset="-122"/>
              </a:rPr>
              <a:t>封锁了数据</a:t>
            </a:r>
            <a:r>
              <a:rPr lang="en-US" altLang="zh-CN" sz="2400" dirty="0">
                <a:ea typeface="宋体" panose="02010600030101010101" pitchFamily="2" charset="-122"/>
              </a:rPr>
              <a:t>R1</a:t>
            </a:r>
          </a:p>
          <a:p>
            <a:pPr>
              <a:lnSpc>
                <a:spcPct val="130000"/>
              </a:lnSpc>
            </a:pPr>
            <a:r>
              <a:rPr lang="en-US" altLang="zh-CN" sz="2400" dirty="0">
                <a:ea typeface="宋体" panose="02010600030101010101" pitchFamily="2" charset="-122"/>
              </a:rPr>
              <a:t>T2</a:t>
            </a:r>
            <a:r>
              <a:rPr lang="zh-CN" altLang="en-US" sz="2400" dirty="0">
                <a:ea typeface="宋体" panose="02010600030101010101" pitchFamily="2" charset="-122"/>
              </a:rPr>
              <a:t>封锁了数据</a:t>
            </a:r>
            <a:r>
              <a:rPr lang="en-US" altLang="zh-CN" sz="2400" dirty="0">
                <a:ea typeface="宋体" panose="02010600030101010101" pitchFamily="2" charset="-122"/>
              </a:rPr>
              <a:t>R2</a:t>
            </a:r>
          </a:p>
          <a:p>
            <a:pPr>
              <a:lnSpc>
                <a:spcPct val="130000"/>
              </a:lnSpc>
            </a:pPr>
            <a:r>
              <a:rPr lang="en-US" altLang="zh-CN" sz="2400" dirty="0">
                <a:ea typeface="宋体" panose="02010600030101010101" pitchFamily="2" charset="-122"/>
              </a:rPr>
              <a:t>T1</a:t>
            </a:r>
            <a:r>
              <a:rPr lang="zh-CN" altLang="en-US" sz="2400" dirty="0">
                <a:ea typeface="宋体" panose="02010600030101010101" pitchFamily="2" charset="-122"/>
              </a:rPr>
              <a:t>又请求封锁</a:t>
            </a:r>
            <a:r>
              <a:rPr lang="en-US" altLang="zh-CN" sz="2400" dirty="0">
                <a:ea typeface="宋体" panose="02010600030101010101" pitchFamily="2" charset="-122"/>
              </a:rPr>
              <a:t>R2</a:t>
            </a:r>
            <a:r>
              <a:rPr lang="zh-CN" altLang="en-US" sz="2400" dirty="0">
                <a:ea typeface="宋体" panose="02010600030101010101" pitchFamily="2" charset="-122"/>
              </a:rPr>
              <a:t>，因</a:t>
            </a:r>
            <a:r>
              <a:rPr lang="en-US" altLang="zh-CN" sz="2400" dirty="0">
                <a:ea typeface="宋体" panose="02010600030101010101" pitchFamily="2" charset="-122"/>
              </a:rPr>
              <a:t>T2</a:t>
            </a:r>
            <a:r>
              <a:rPr lang="zh-CN" altLang="en-US" sz="2400" dirty="0">
                <a:ea typeface="宋体" panose="02010600030101010101" pitchFamily="2" charset="-122"/>
              </a:rPr>
              <a:t>已封锁了</a:t>
            </a:r>
            <a:r>
              <a:rPr lang="en-US" altLang="zh-CN" sz="2400" dirty="0">
                <a:ea typeface="宋体" panose="02010600030101010101" pitchFamily="2" charset="-122"/>
              </a:rPr>
              <a:t>R2</a:t>
            </a:r>
            <a:r>
              <a:rPr lang="zh-CN" altLang="en-US" sz="2400" dirty="0">
                <a:ea typeface="宋体" panose="02010600030101010101" pitchFamily="2" charset="-122"/>
              </a:rPr>
              <a:t>，于是</a:t>
            </a:r>
            <a:r>
              <a:rPr lang="en-US" altLang="zh-CN" sz="2400" dirty="0">
                <a:ea typeface="宋体" panose="02010600030101010101" pitchFamily="2" charset="-122"/>
              </a:rPr>
              <a:t>T1</a:t>
            </a:r>
            <a:r>
              <a:rPr lang="zh-CN" altLang="en-US" sz="2400" dirty="0">
                <a:ea typeface="宋体" panose="02010600030101010101" pitchFamily="2" charset="-122"/>
              </a:rPr>
              <a:t>等待</a:t>
            </a:r>
            <a:r>
              <a:rPr lang="en-US" altLang="zh-CN" sz="2400" dirty="0">
                <a:ea typeface="宋体" panose="02010600030101010101" pitchFamily="2" charset="-122"/>
              </a:rPr>
              <a:t>T2</a:t>
            </a:r>
            <a:r>
              <a:rPr lang="zh-CN" altLang="en-US" sz="2400" dirty="0">
                <a:ea typeface="宋体" panose="02010600030101010101" pitchFamily="2" charset="-122"/>
              </a:rPr>
              <a:t>释放</a:t>
            </a:r>
            <a:r>
              <a:rPr lang="en-US" altLang="zh-CN" sz="2400" dirty="0">
                <a:ea typeface="宋体" panose="02010600030101010101" pitchFamily="2" charset="-122"/>
              </a:rPr>
              <a:t>R2</a:t>
            </a:r>
            <a:r>
              <a:rPr lang="zh-CN" altLang="en-US" sz="2400" dirty="0">
                <a:ea typeface="宋体" panose="02010600030101010101" pitchFamily="2" charset="-122"/>
              </a:rPr>
              <a:t>上的锁</a:t>
            </a:r>
          </a:p>
          <a:p>
            <a:pPr>
              <a:lnSpc>
                <a:spcPct val="130000"/>
              </a:lnSpc>
            </a:pPr>
            <a:r>
              <a:rPr lang="zh-CN" altLang="en-US" sz="2400" dirty="0">
                <a:ea typeface="宋体" panose="02010600030101010101" pitchFamily="2" charset="-122"/>
              </a:rPr>
              <a:t>接着</a:t>
            </a:r>
            <a:r>
              <a:rPr lang="en-US" altLang="zh-CN" sz="2400" dirty="0">
                <a:ea typeface="宋体" panose="02010600030101010101" pitchFamily="2" charset="-122"/>
              </a:rPr>
              <a:t>T2</a:t>
            </a:r>
            <a:r>
              <a:rPr lang="zh-CN" altLang="en-US" sz="2400" dirty="0">
                <a:ea typeface="宋体" panose="02010600030101010101" pitchFamily="2" charset="-122"/>
              </a:rPr>
              <a:t>又申请封锁</a:t>
            </a:r>
            <a:r>
              <a:rPr lang="en-US" altLang="zh-CN" sz="2400" dirty="0">
                <a:ea typeface="宋体" panose="02010600030101010101" pitchFamily="2" charset="-122"/>
              </a:rPr>
              <a:t>R1</a:t>
            </a:r>
            <a:r>
              <a:rPr lang="zh-CN" altLang="en-US" sz="2400" dirty="0">
                <a:ea typeface="宋体" panose="02010600030101010101" pitchFamily="2" charset="-122"/>
              </a:rPr>
              <a:t>，因</a:t>
            </a:r>
            <a:r>
              <a:rPr lang="en-US" altLang="zh-CN" sz="2400" dirty="0">
                <a:ea typeface="宋体" panose="02010600030101010101" pitchFamily="2" charset="-122"/>
              </a:rPr>
              <a:t>T1</a:t>
            </a:r>
            <a:r>
              <a:rPr lang="zh-CN" altLang="en-US" sz="2400" dirty="0">
                <a:ea typeface="宋体" panose="02010600030101010101" pitchFamily="2" charset="-122"/>
              </a:rPr>
              <a:t>已封锁了</a:t>
            </a:r>
            <a:r>
              <a:rPr lang="en-US" altLang="zh-CN" sz="2400" dirty="0">
                <a:ea typeface="宋体" panose="02010600030101010101" pitchFamily="2" charset="-122"/>
              </a:rPr>
              <a:t>R1</a:t>
            </a:r>
            <a:r>
              <a:rPr lang="zh-CN" altLang="en-US" sz="2400" dirty="0">
                <a:ea typeface="宋体" panose="02010600030101010101" pitchFamily="2" charset="-122"/>
              </a:rPr>
              <a:t>，</a:t>
            </a:r>
            <a:r>
              <a:rPr lang="en-US" altLang="zh-CN" sz="2400" dirty="0">
                <a:ea typeface="宋体" panose="02010600030101010101" pitchFamily="2" charset="-122"/>
              </a:rPr>
              <a:t>T2</a:t>
            </a:r>
            <a:r>
              <a:rPr lang="zh-CN" altLang="en-US" sz="2400" dirty="0">
                <a:ea typeface="宋体" panose="02010600030101010101" pitchFamily="2" charset="-122"/>
              </a:rPr>
              <a:t>也只能等待</a:t>
            </a:r>
            <a:r>
              <a:rPr lang="en-US" altLang="zh-CN" sz="2400" dirty="0">
                <a:ea typeface="宋体" panose="02010600030101010101" pitchFamily="2" charset="-122"/>
              </a:rPr>
              <a:t>T1</a:t>
            </a:r>
            <a:r>
              <a:rPr lang="zh-CN" altLang="en-US" sz="2400" dirty="0">
                <a:ea typeface="宋体" panose="02010600030101010101" pitchFamily="2" charset="-122"/>
              </a:rPr>
              <a:t>释放</a:t>
            </a:r>
            <a:r>
              <a:rPr lang="en-US" altLang="zh-CN" sz="2400" dirty="0">
                <a:ea typeface="宋体" panose="02010600030101010101" pitchFamily="2" charset="-122"/>
              </a:rPr>
              <a:t>R1</a:t>
            </a:r>
            <a:r>
              <a:rPr lang="zh-CN" altLang="en-US" sz="2400" dirty="0">
                <a:ea typeface="宋体" panose="02010600030101010101" pitchFamily="2" charset="-122"/>
              </a:rPr>
              <a:t>上的锁</a:t>
            </a:r>
          </a:p>
          <a:p>
            <a:pPr>
              <a:lnSpc>
                <a:spcPct val="130000"/>
              </a:lnSpc>
            </a:pPr>
            <a:r>
              <a:rPr lang="zh-CN" altLang="en-US" sz="2400" dirty="0">
                <a:ea typeface="宋体" panose="02010600030101010101" pitchFamily="2" charset="-122"/>
              </a:rPr>
              <a:t>这样</a:t>
            </a:r>
            <a:r>
              <a:rPr lang="en-US" altLang="zh-CN" sz="2400" dirty="0">
                <a:ea typeface="宋体" panose="02010600030101010101" pitchFamily="2" charset="-122"/>
              </a:rPr>
              <a:t>T1</a:t>
            </a:r>
            <a:r>
              <a:rPr lang="zh-CN" altLang="en-US" sz="2400" dirty="0">
                <a:ea typeface="宋体" panose="02010600030101010101" pitchFamily="2" charset="-122"/>
              </a:rPr>
              <a:t>在等待</a:t>
            </a:r>
            <a:r>
              <a:rPr lang="en-US" altLang="zh-CN" sz="2400" dirty="0">
                <a:ea typeface="宋体" panose="02010600030101010101" pitchFamily="2" charset="-122"/>
              </a:rPr>
              <a:t>T2</a:t>
            </a:r>
            <a:r>
              <a:rPr lang="zh-CN" altLang="en-US" sz="2400" dirty="0">
                <a:ea typeface="宋体" panose="02010600030101010101" pitchFamily="2" charset="-122"/>
              </a:rPr>
              <a:t>，而</a:t>
            </a:r>
            <a:r>
              <a:rPr lang="en-US" altLang="zh-CN" sz="2400" dirty="0">
                <a:ea typeface="宋体" panose="02010600030101010101" pitchFamily="2" charset="-122"/>
              </a:rPr>
              <a:t>T2</a:t>
            </a:r>
            <a:r>
              <a:rPr lang="zh-CN" altLang="en-US" sz="2400" dirty="0">
                <a:ea typeface="宋体" panose="02010600030101010101" pitchFamily="2" charset="-122"/>
              </a:rPr>
              <a:t>又在等待</a:t>
            </a:r>
            <a:r>
              <a:rPr lang="en-US" altLang="zh-CN" sz="2400" dirty="0">
                <a:ea typeface="宋体" panose="02010600030101010101" pitchFamily="2" charset="-122"/>
              </a:rPr>
              <a:t>T1</a:t>
            </a:r>
            <a:r>
              <a:rPr lang="zh-CN" altLang="en-US" sz="2400" dirty="0">
                <a:ea typeface="宋体" panose="02010600030101010101" pitchFamily="2" charset="-122"/>
              </a:rPr>
              <a:t>，</a:t>
            </a:r>
            <a:r>
              <a:rPr lang="en-US" altLang="zh-CN" sz="2400" dirty="0">
                <a:ea typeface="宋体" panose="02010600030101010101" pitchFamily="2" charset="-122"/>
              </a:rPr>
              <a:t>T1</a:t>
            </a:r>
            <a:r>
              <a:rPr lang="zh-CN" altLang="en-US" sz="2400" dirty="0">
                <a:ea typeface="宋体" panose="02010600030101010101" pitchFamily="2" charset="-122"/>
              </a:rPr>
              <a:t>和</a:t>
            </a:r>
            <a:r>
              <a:rPr lang="en-US" altLang="zh-CN" sz="2400" dirty="0">
                <a:ea typeface="宋体" panose="02010600030101010101" pitchFamily="2" charset="-122"/>
              </a:rPr>
              <a:t>T2</a:t>
            </a:r>
            <a:r>
              <a:rPr lang="zh-CN" altLang="en-US" sz="2400" dirty="0">
                <a:ea typeface="宋体" panose="02010600030101010101" pitchFamily="2" charset="-122"/>
              </a:rPr>
              <a:t>两个事务永远不能结束，形成</a:t>
            </a:r>
            <a:r>
              <a:rPr lang="zh-CN" altLang="en-US" sz="2400" dirty="0">
                <a:solidFill>
                  <a:srgbClr val="FF00FF"/>
                </a:solidFill>
                <a:ea typeface="宋体" panose="02010600030101010101" pitchFamily="2" charset="-122"/>
              </a:rPr>
              <a:t>死锁。</a:t>
            </a:r>
            <a:r>
              <a:rPr lang="zh-CN" altLang="en-US" dirty="0">
                <a:ea typeface="宋体" panose="02010600030101010101" pitchFamily="2" charset="-122"/>
              </a:rPr>
              <a:t>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55</a:t>
            </a:fld>
            <a:endParaRPr lang="en-US" altLang="zh-CN"/>
          </a:p>
        </p:txBody>
      </p:sp>
    </p:spTree>
    <p:extLst>
      <p:ext uri="{BB962C8B-B14F-4D97-AF65-F5344CB8AC3E}">
        <p14:creationId xmlns:p14="http://schemas.microsoft.com/office/powerpoint/2010/main" val="636195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p:txBody>
          <a:bodyPr/>
          <a:lstStyle/>
          <a:p>
            <a:r>
              <a:rPr lang="zh-CN" altLang="en-US">
                <a:ea typeface="宋体" panose="02010600030101010101" pitchFamily="2" charset="-122"/>
              </a:rPr>
              <a:t>死锁（续）</a:t>
            </a:r>
          </a:p>
        </p:txBody>
      </p:sp>
      <p:graphicFrame>
        <p:nvGraphicFramePr>
          <p:cNvPr id="495942" name="Group 326"/>
          <p:cNvGraphicFramePr>
            <a:graphicFrameLocks noGrp="1"/>
          </p:cNvGraphicFramePr>
          <p:nvPr>
            <p:ph idx="1"/>
          </p:nvPr>
        </p:nvGraphicFramePr>
        <p:xfrm>
          <a:off x="971550" y="1557338"/>
          <a:ext cx="6923088" cy="4408490"/>
        </p:xfrm>
        <a:graphic>
          <a:graphicData uri="http://schemas.openxmlformats.org/drawingml/2006/table">
            <a:tbl>
              <a:tblPr/>
              <a:tblGrid>
                <a:gridCol w="3727450">
                  <a:extLst>
                    <a:ext uri="{9D8B030D-6E8A-4147-A177-3AD203B41FA5}">
                      <a16:colId xmlns:a16="http://schemas.microsoft.com/office/drawing/2014/main" val="20000"/>
                    </a:ext>
                  </a:extLst>
                </a:gridCol>
                <a:gridCol w="3195638">
                  <a:extLst>
                    <a:ext uri="{9D8B030D-6E8A-4147-A177-3AD203B41FA5}">
                      <a16:colId xmlns:a16="http://schemas.microsoft.com/office/drawing/2014/main" val="20001"/>
                    </a:ext>
                  </a:extLst>
                </a:gridCol>
              </a:tblGrid>
              <a:tr h="4079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079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079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4079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4079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74295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95805" name="Text Box 189"/>
          <p:cNvSpPr txBox="1">
            <a:spLocks noChangeArrowheads="1"/>
          </p:cNvSpPr>
          <p:nvPr/>
        </p:nvSpPr>
        <p:spPr bwMode="auto">
          <a:xfrm>
            <a:off x="4140200" y="6021388"/>
            <a:ext cx="873125"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a:t>死    锁</a:t>
            </a:r>
          </a:p>
        </p:txBody>
      </p:sp>
    </p:spTree>
    <p:extLst>
      <p:ext uri="{BB962C8B-B14F-4D97-AF65-F5344CB8AC3E}">
        <p14:creationId xmlns:p14="http://schemas.microsoft.com/office/powerpoint/2010/main" val="1631893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a:lstStyle/>
          <a:p>
            <a:r>
              <a:rPr lang="zh-CN" altLang="en-US">
                <a:ea typeface="宋体" panose="02010600030101010101" pitchFamily="2" charset="-122"/>
              </a:rPr>
              <a:t>解决死锁的方法</a:t>
            </a:r>
          </a:p>
        </p:txBody>
      </p:sp>
      <p:sp>
        <p:nvSpPr>
          <p:cNvPr id="378883" name="Rectangle 3"/>
          <p:cNvSpPr>
            <a:spLocks noGrp="1" noChangeArrowheads="1"/>
          </p:cNvSpPr>
          <p:nvPr>
            <p:ph type="body" idx="1"/>
          </p:nvPr>
        </p:nvSpPr>
        <p:spPr/>
        <p:txBody>
          <a:bodyPr/>
          <a:lstStyle/>
          <a:p>
            <a:pPr>
              <a:buFont typeface="Wingdings" panose="05000000000000000000" pitchFamily="2" charset="2"/>
              <a:buNone/>
            </a:pPr>
            <a:r>
              <a:rPr lang="zh-CN" altLang="en-US" sz="3200">
                <a:ea typeface="宋体" panose="02010600030101010101" pitchFamily="2" charset="-122"/>
              </a:rPr>
              <a:t>两类方法</a:t>
            </a:r>
          </a:p>
          <a:p>
            <a:pPr lvl="1">
              <a:lnSpc>
                <a:spcPct val="150000"/>
              </a:lnSpc>
              <a:buFont typeface="Wingdings" panose="05000000000000000000" pitchFamily="2" charset="2"/>
              <a:buNone/>
            </a:pPr>
            <a:r>
              <a:rPr lang="en-US" altLang="zh-CN">
                <a:ea typeface="宋体" panose="02010600030101010101" pitchFamily="2" charset="-122"/>
              </a:rPr>
              <a:t>1. </a:t>
            </a:r>
            <a:r>
              <a:rPr lang="zh-CN" altLang="en-US">
                <a:ea typeface="宋体" panose="02010600030101010101" pitchFamily="2" charset="-122"/>
              </a:rPr>
              <a:t>预防死锁</a:t>
            </a:r>
          </a:p>
          <a:p>
            <a:pPr lvl="1">
              <a:lnSpc>
                <a:spcPct val="150000"/>
              </a:lnSpc>
              <a:buFont typeface="Wingdings" panose="05000000000000000000" pitchFamily="2" charset="2"/>
              <a:buNone/>
            </a:pPr>
            <a:r>
              <a:rPr lang="en-US" altLang="zh-CN">
                <a:ea typeface="宋体" panose="02010600030101010101" pitchFamily="2" charset="-122"/>
              </a:rPr>
              <a:t>2. </a:t>
            </a:r>
            <a:r>
              <a:rPr lang="zh-CN" altLang="en-US">
                <a:ea typeface="宋体" panose="02010600030101010101" pitchFamily="2" charset="-122"/>
              </a:rPr>
              <a:t>死锁的诊断与解除</a:t>
            </a:r>
          </a:p>
          <a:p>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57</a:t>
            </a:fld>
            <a:endParaRPr lang="en-US" altLang="zh-CN"/>
          </a:p>
        </p:txBody>
      </p:sp>
    </p:spTree>
    <p:extLst>
      <p:ext uri="{BB962C8B-B14F-4D97-AF65-F5344CB8AC3E}">
        <p14:creationId xmlns:p14="http://schemas.microsoft.com/office/powerpoint/2010/main" val="713820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en-US" altLang="zh-CN">
                <a:ea typeface="宋体" panose="02010600030101010101" pitchFamily="2" charset="-122"/>
              </a:rPr>
              <a:t>1. </a:t>
            </a:r>
            <a:r>
              <a:rPr lang="zh-CN" altLang="en-US">
                <a:ea typeface="宋体" panose="02010600030101010101" pitchFamily="2" charset="-122"/>
              </a:rPr>
              <a:t>死锁的预防</a:t>
            </a:r>
          </a:p>
        </p:txBody>
      </p:sp>
      <p:sp>
        <p:nvSpPr>
          <p:cNvPr id="379907" name="Rectangle 3"/>
          <p:cNvSpPr>
            <a:spLocks noGrp="1" noChangeArrowheads="1"/>
          </p:cNvSpPr>
          <p:nvPr>
            <p:ph type="body" idx="1"/>
          </p:nvPr>
        </p:nvSpPr>
        <p:spPr/>
        <p:txBody>
          <a:bodyPr/>
          <a:lstStyle/>
          <a:p>
            <a:pPr>
              <a:lnSpc>
                <a:spcPct val="210000"/>
              </a:lnSpc>
            </a:pPr>
            <a:r>
              <a:rPr lang="zh-CN" altLang="en-US" sz="2400" dirty="0">
                <a:ea typeface="宋体" panose="02010600030101010101" pitchFamily="2" charset="-122"/>
              </a:rPr>
              <a:t>产生死锁的原因是两个或多个事务都已封锁了一些数据对象，然后又都请求对已为其他事务封锁的数据对象加锁，从而出现死等待。</a:t>
            </a:r>
          </a:p>
          <a:p>
            <a:pPr>
              <a:lnSpc>
                <a:spcPct val="210000"/>
              </a:lnSpc>
              <a:spcBef>
                <a:spcPct val="60000"/>
              </a:spcBef>
            </a:pPr>
            <a:r>
              <a:rPr lang="zh-CN" altLang="en-US" sz="2400" dirty="0">
                <a:ea typeface="宋体" panose="02010600030101010101" pitchFamily="2" charset="-122"/>
              </a:rPr>
              <a:t>预防死锁的发生就是要</a:t>
            </a:r>
            <a:r>
              <a:rPr lang="zh-CN" altLang="en-US" sz="2400" dirty="0">
                <a:solidFill>
                  <a:srgbClr val="C00000"/>
                </a:solidFill>
                <a:ea typeface="宋体" panose="02010600030101010101" pitchFamily="2" charset="-122"/>
              </a:rPr>
              <a:t>破坏</a:t>
            </a:r>
            <a:r>
              <a:rPr lang="zh-CN" altLang="en-US" sz="2400" dirty="0">
                <a:ea typeface="宋体" panose="02010600030101010101" pitchFamily="2" charset="-122"/>
              </a:rPr>
              <a:t>产生死锁的条件</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58</a:t>
            </a:fld>
            <a:endParaRPr lang="en-US" altLang="zh-CN"/>
          </a:p>
        </p:txBody>
      </p:sp>
    </p:spTree>
    <p:extLst>
      <p:ext uri="{BB962C8B-B14F-4D97-AF65-F5344CB8AC3E}">
        <p14:creationId xmlns:p14="http://schemas.microsoft.com/office/powerpoint/2010/main" val="19892719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r>
              <a:rPr lang="zh-CN" altLang="en-US">
                <a:ea typeface="宋体" panose="02010600030101010101" pitchFamily="2" charset="-122"/>
              </a:rPr>
              <a:t>死锁的预防（续）</a:t>
            </a:r>
          </a:p>
        </p:txBody>
      </p:sp>
      <p:sp>
        <p:nvSpPr>
          <p:cNvPr id="380931" name="Rectangle 3"/>
          <p:cNvSpPr>
            <a:spLocks noGrp="1" noChangeArrowheads="1"/>
          </p:cNvSpPr>
          <p:nvPr>
            <p:ph type="body" idx="1"/>
          </p:nvPr>
        </p:nvSpPr>
        <p:spPr>
          <a:xfrm>
            <a:off x="684213" y="1844675"/>
            <a:ext cx="7427912" cy="4495800"/>
          </a:xfrm>
        </p:spPr>
        <p:txBody>
          <a:bodyPr/>
          <a:lstStyle/>
          <a:p>
            <a:pPr>
              <a:lnSpc>
                <a:spcPct val="150000"/>
              </a:lnSpc>
              <a:buFont typeface="Wingdings" panose="05000000000000000000" pitchFamily="2" charset="2"/>
              <a:buNone/>
            </a:pPr>
            <a:r>
              <a:rPr lang="zh-CN" altLang="en-US">
                <a:ea typeface="宋体" panose="02010600030101010101" pitchFamily="2" charset="-122"/>
              </a:rPr>
              <a:t>预防死锁的方法</a:t>
            </a:r>
          </a:p>
          <a:p>
            <a:pPr>
              <a:lnSpc>
                <a:spcPct val="150000"/>
              </a:lnSpc>
            </a:pPr>
            <a:r>
              <a:rPr lang="zh-CN" altLang="en-US">
                <a:ea typeface="宋体" panose="02010600030101010101" pitchFamily="2" charset="-122"/>
              </a:rPr>
              <a:t> 一次封锁法</a:t>
            </a:r>
          </a:p>
          <a:p>
            <a:pPr>
              <a:lnSpc>
                <a:spcPct val="150000"/>
              </a:lnSpc>
            </a:pPr>
            <a:r>
              <a:rPr lang="zh-CN" altLang="en-US">
                <a:ea typeface="宋体" panose="02010600030101010101" pitchFamily="2" charset="-122"/>
              </a:rPr>
              <a:t> 顺序封锁法</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59</a:t>
            </a:fld>
            <a:endParaRPr lang="en-US" altLang="zh-CN"/>
          </a:p>
        </p:txBody>
      </p:sp>
    </p:spTree>
    <p:extLst>
      <p:ext uri="{BB962C8B-B14F-4D97-AF65-F5344CB8AC3E}">
        <p14:creationId xmlns:p14="http://schemas.microsoft.com/office/powerpoint/2010/main" val="24205251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en-US" altLang="zh-CN">
                <a:ea typeface="宋体" panose="02010600030101010101" pitchFamily="2" charset="-122"/>
              </a:rPr>
              <a:t>(1)</a:t>
            </a:r>
            <a:r>
              <a:rPr lang="zh-CN" altLang="en-US">
                <a:ea typeface="宋体" panose="02010600030101010101" pitchFamily="2" charset="-122"/>
              </a:rPr>
              <a:t>一次封锁法</a:t>
            </a:r>
          </a:p>
        </p:txBody>
      </p:sp>
      <p:sp>
        <p:nvSpPr>
          <p:cNvPr id="381955" name="Rectangle 3"/>
          <p:cNvSpPr>
            <a:spLocks noGrp="1" noChangeArrowheads="1"/>
          </p:cNvSpPr>
          <p:nvPr>
            <p:ph type="body" idx="1"/>
          </p:nvPr>
        </p:nvSpPr>
        <p:spPr>
          <a:xfrm>
            <a:off x="827088" y="1773238"/>
            <a:ext cx="7696200" cy="4114800"/>
          </a:xfrm>
        </p:spPr>
        <p:txBody>
          <a:bodyPr/>
          <a:lstStyle/>
          <a:p>
            <a:pPr>
              <a:lnSpc>
                <a:spcPct val="160000"/>
              </a:lnSpc>
            </a:pPr>
            <a:r>
              <a:rPr lang="zh-CN" altLang="en-US" dirty="0">
                <a:ea typeface="宋体" panose="02010600030101010101" pitchFamily="2" charset="-122"/>
              </a:rPr>
              <a:t>要求每个事务必须一次将所有要使用的数据</a:t>
            </a:r>
            <a:r>
              <a:rPr lang="zh-CN" altLang="en-US" dirty="0">
                <a:solidFill>
                  <a:srgbClr val="C00000"/>
                </a:solidFill>
                <a:ea typeface="宋体" panose="02010600030101010101" pitchFamily="2" charset="-122"/>
              </a:rPr>
              <a:t>全部加锁</a:t>
            </a:r>
            <a:r>
              <a:rPr lang="zh-CN" altLang="en-US" dirty="0">
                <a:ea typeface="宋体" panose="02010600030101010101" pitchFamily="2" charset="-122"/>
              </a:rPr>
              <a:t>，否则就不能继续执行</a:t>
            </a:r>
          </a:p>
          <a:p>
            <a:pPr>
              <a:lnSpc>
                <a:spcPct val="160000"/>
              </a:lnSpc>
            </a:pPr>
            <a:r>
              <a:rPr lang="zh-CN" altLang="en-US" dirty="0">
                <a:ea typeface="宋体" panose="02010600030101010101" pitchFamily="2" charset="-122"/>
              </a:rPr>
              <a:t>存在的问题</a:t>
            </a:r>
          </a:p>
          <a:p>
            <a:pPr lvl="1">
              <a:lnSpc>
                <a:spcPct val="160000"/>
              </a:lnSpc>
            </a:pPr>
            <a:r>
              <a:rPr lang="zh-CN" altLang="en-US" dirty="0">
                <a:ea typeface="宋体" panose="02010600030101010101" pitchFamily="2" charset="-122"/>
              </a:rPr>
              <a:t>降低系统并发度</a:t>
            </a:r>
          </a:p>
          <a:p>
            <a:pPr lvl="1">
              <a:lnSpc>
                <a:spcPct val="160000"/>
              </a:lnSpc>
            </a:pPr>
            <a:r>
              <a:rPr lang="zh-CN" altLang="en-US" dirty="0">
                <a:ea typeface="宋体" panose="02010600030101010101" pitchFamily="2" charset="-122"/>
              </a:rPr>
              <a:t>难于事先精确确定封锁对象</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60</a:t>
            </a:fld>
            <a:endParaRPr lang="en-US" altLang="zh-CN"/>
          </a:p>
        </p:txBody>
      </p:sp>
    </p:spTree>
    <p:extLst>
      <p:ext uri="{BB962C8B-B14F-4D97-AF65-F5344CB8AC3E}">
        <p14:creationId xmlns:p14="http://schemas.microsoft.com/office/powerpoint/2010/main" val="1391523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r>
              <a:rPr lang="en-US" altLang="zh-CN">
                <a:ea typeface="宋体" panose="02010600030101010101" pitchFamily="2" charset="-122"/>
              </a:rPr>
              <a:t>(2)</a:t>
            </a:r>
            <a:r>
              <a:rPr lang="zh-CN" altLang="en-US">
                <a:ea typeface="宋体" panose="02010600030101010101" pitchFamily="2" charset="-122"/>
              </a:rPr>
              <a:t>顺序封锁法</a:t>
            </a:r>
          </a:p>
        </p:txBody>
      </p:sp>
      <p:sp>
        <p:nvSpPr>
          <p:cNvPr id="384003" name="Rectangle 3"/>
          <p:cNvSpPr>
            <a:spLocks noGrp="1" noChangeArrowheads="1"/>
          </p:cNvSpPr>
          <p:nvPr>
            <p:ph type="body" idx="1"/>
          </p:nvPr>
        </p:nvSpPr>
        <p:spPr/>
        <p:txBody>
          <a:bodyPr/>
          <a:lstStyle/>
          <a:p>
            <a:pPr>
              <a:lnSpc>
                <a:spcPct val="110000"/>
              </a:lnSpc>
            </a:pPr>
            <a:r>
              <a:rPr lang="zh-CN" altLang="en-US" sz="2400">
                <a:ea typeface="宋体" panose="02010600030101010101" pitchFamily="2" charset="-122"/>
              </a:rPr>
              <a:t>顺序封锁法是预先对数据对象规定一个封锁顺序，所有事务都按这个顺序实行封锁。</a:t>
            </a:r>
          </a:p>
          <a:p>
            <a:pPr>
              <a:lnSpc>
                <a:spcPct val="110000"/>
              </a:lnSpc>
            </a:pPr>
            <a:r>
              <a:rPr lang="zh-CN" altLang="en-US" sz="2400">
                <a:ea typeface="宋体" panose="02010600030101010101" pitchFamily="2" charset="-122"/>
              </a:rPr>
              <a:t>顺序封锁法存在的问题</a:t>
            </a:r>
          </a:p>
          <a:p>
            <a:pPr lvl="1">
              <a:lnSpc>
                <a:spcPct val="110000"/>
              </a:lnSpc>
            </a:pPr>
            <a:r>
              <a:rPr lang="zh-CN" altLang="en-US">
                <a:ea typeface="宋体" panose="02010600030101010101" pitchFamily="2" charset="-122"/>
              </a:rPr>
              <a:t>维护成本</a:t>
            </a:r>
          </a:p>
          <a:p>
            <a:pPr lvl="1">
              <a:lnSpc>
                <a:spcPct val="110000"/>
              </a:lnSpc>
              <a:buFont typeface="Wingdings" panose="05000000000000000000" pitchFamily="2" charset="2"/>
              <a:buNone/>
            </a:pPr>
            <a:r>
              <a:rPr lang="zh-CN" altLang="en-US">
                <a:ea typeface="宋体" panose="02010600030101010101" pitchFamily="2" charset="-122"/>
              </a:rPr>
              <a:t>    数据库系统中封锁的数据对象极多，并且在不断地变化。</a:t>
            </a:r>
          </a:p>
          <a:p>
            <a:pPr lvl="1">
              <a:lnSpc>
                <a:spcPct val="110000"/>
              </a:lnSpc>
            </a:pPr>
            <a:r>
              <a:rPr lang="zh-CN" altLang="en-US">
                <a:ea typeface="宋体" panose="02010600030101010101" pitchFamily="2" charset="-122"/>
              </a:rPr>
              <a:t>难以实现：很难事先确定每一个事务要封锁哪些对象</a:t>
            </a:r>
          </a:p>
          <a:p>
            <a:pPr lvl="1">
              <a:lnSpc>
                <a:spcPct val="110000"/>
              </a:lnSpc>
              <a:buFont typeface="Wingdings" panose="05000000000000000000" pitchFamily="2" charset="2"/>
              <a:buNone/>
            </a:pPr>
            <a:r>
              <a:rPr lang="zh-CN" altLang="en-US">
                <a:ea typeface="宋体" panose="02010600030101010101" pitchFamily="2" charset="-122"/>
              </a:rPr>
              <a:t>    </a:t>
            </a:r>
            <a:endParaRPr lang="zh-CN" altLang="en-US">
              <a:solidFill>
                <a:srgbClr val="FF00FF"/>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61</a:t>
            </a:fld>
            <a:endParaRPr lang="en-US" altLang="zh-CN"/>
          </a:p>
        </p:txBody>
      </p:sp>
    </p:spTree>
    <p:extLst>
      <p:ext uri="{BB962C8B-B14F-4D97-AF65-F5344CB8AC3E}">
        <p14:creationId xmlns:p14="http://schemas.microsoft.com/office/powerpoint/2010/main" val="6502408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zh-CN" altLang="en-US">
                <a:ea typeface="宋体" panose="02010600030101010101" pitchFamily="2" charset="-122"/>
              </a:rPr>
              <a:t>死锁的预防（续）</a:t>
            </a:r>
          </a:p>
        </p:txBody>
      </p:sp>
      <p:sp>
        <p:nvSpPr>
          <p:cNvPr id="386051" name="Rectangle 3"/>
          <p:cNvSpPr>
            <a:spLocks noGrp="1" noChangeArrowheads="1"/>
          </p:cNvSpPr>
          <p:nvPr>
            <p:ph type="body" idx="1"/>
          </p:nvPr>
        </p:nvSpPr>
        <p:spPr/>
        <p:txBody>
          <a:bodyPr/>
          <a:lstStyle/>
          <a:p>
            <a:pPr>
              <a:lnSpc>
                <a:spcPct val="140000"/>
              </a:lnSpc>
            </a:pPr>
            <a:r>
              <a:rPr lang="zh-CN" altLang="en-US">
                <a:ea typeface="宋体" panose="02010600030101010101" pitchFamily="2" charset="-122"/>
              </a:rPr>
              <a:t>结论</a:t>
            </a:r>
          </a:p>
          <a:p>
            <a:pPr lvl="1">
              <a:lnSpc>
                <a:spcPct val="140000"/>
              </a:lnSpc>
            </a:pPr>
            <a:r>
              <a:rPr lang="zh-CN" altLang="en-US">
                <a:ea typeface="宋体" panose="02010600030101010101" pitchFamily="2" charset="-122"/>
              </a:rPr>
              <a:t>在操作系统中广为采用的预防死锁的策略并不很适合数据库的特点</a:t>
            </a:r>
          </a:p>
          <a:p>
            <a:pPr lvl="1">
              <a:lnSpc>
                <a:spcPct val="140000"/>
              </a:lnSpc>
              <a:spcBef>
                <a:spcPct val="80000"/>
              </a:spcBef>
            </a:pPr>
            <a:r>
              <a:rPr lang="en-US" altLang="zh-CN">
                <a:ea typeface="宋体" panose="02010600030101010101" pitchFamily="2" charset="-122"/>
              </a:rPr>
              <a:t>DBMS</a:t>
            </a:r>
            <a:r>
              <a:rPr lang="zh-CN" altLang="en-US">
                <a:ea typeface="宋体" panose="02010600030101010101" pitchFamily="2" charset="-122"/>
              </a:rPr>
              <a:t>在解决死锁的问题上更普遍采用的是诊断并解除死锁的方法</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62</a:t>
            </a:fld>
            <a:endParaRPr lang="en-US" altLang="zh-CN"/>
          </a:p>
        </p:txBody>
      </p:sp>
    </p:spTree>
    <p:extLst>
      <p:ext uri="{BB962C8B-B14F-4D97-AF65-F5344CB8AC3E}">
        <p14:creationId xmlns:p14="http://schemas.microsoft.com/office/powerpoint/2010/main" val="38000121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en-US" altLang="zh-CN">
                <a:ea typeface="宋体" panose="02010600030101010101" pitchFamily="2" charset="-122"/>
              </a:rPr>
              <a:t>2. </a:t>
            </a:r>
            <a:r>
              <a:rPr lang="zh-CN" altLang="en-US">
                <a:ea typeface="宋体" panose="02010600030101010101" pitchFamily="2" charset="-122"/>
              </a:rPr>
              <a:t>死锁的诊断与解除</a:t>
            </a:r>
          </a:p>
        </p:txBody>
      </p:sp>
      <p:sp>
        <p:nvSpPr>
          <p:cNvPr id="387075" name="Rectangle 3"/>
          <p:cNvSpPr>
            <a:spLocks noGrp="1" noChangeArrowheads="1"/>
          </p:cNvSpPr>
          <p:nvPr>
            <p:ph type="body" idx="1"/>
          </p:nvPr>
        </p:nvSpPr>
        <p:spPr>
          <a:xfrm>
            <a:off x="1066800" y="1676400"/>
            <a:ext cx="7772400" cy="4114800"/>
          </a:xfrm>
        </p:spPr>
        <p:txBody>
          <a:bodyPr/>
          <a:lstStyle/>
          <a:p>
            <a:pPr>
              <a:lnSpc>
                <a:spcPct val="190000"/>
              </a:lnSpc>
            </a:pPr>
            <a:r>
              <a:rPr lang="zh-CN" altLang="en-US">
                <a:ea typeface="宋体" panose="02010600030101010101" pitchFamily="2" charset="-122"/>
              </a:rPr>
              <a:t>死锁的诊断</a:t>
            </a:r>
          </a:p>
          <a:p>
            <a:pPr lvl="1">
              <a:lnSpc>
                <a:spcPct val="190000"/>
              </a:lnSpc>
              <a:buFont typeface="Wingdings" panose="05000000000000000000" pitchFamily="2" charset="2"/>
              <a:buChar char="n"/>
            </a:pPr>
            <a:r>
              <a:rPr lang="zh-CN" altLang="en-US">
                <a:ea typeface="宋体" panose="02010600030101010101" pitchFamily="2" charset="-122"/>
              </a:rPr>
              <a:t>超时法</a:t>
            </a:r>
          </a:p>
          <a:p>
            <a:pPr lvl="1">
              <a:lnSpc>
                <a:spcPct val="190000"/>
              </a:lnSpc>
              <a:buFont typeface="Wingdings" panose="05000000000000000000" pitchFamily="2" charset="2"/>
              <a:buChar char="n"/>
            </a:pPr>
            <a:r>
              <a:rPr lang="zh-CN" altLang="en-US">
                <a:ea typeface="宋体" panose="02010600030101010101" pitchFamily="2" charset="-122"/>
              </a:rPr>
              <a:t>事务等待图法 </a:t>
            </a:r>
            <a:endParaRPr lang="zh-CN" altLang="en-US" sz="2800">
              <a:ea typeface="宋体" panose="02010600030101010101" pitchFamily="2" charset="-122"/>
            </a:endParaRPr>
          </a:p>
          <a:p>
            <a:endParaRPr lang="en-US" altLang="zh-CN" sz="32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63</a:t>
            </a:fld>
            <a:endParaRPr lang="en-US" altLang="zh-CN"/>
          </a:p>
        </p:txBody>
      </p:sp>
    </p:spTree>
    <p:extLst>
      <p:ext uri="{BB962C8B-B14F-4D97-AF65-F5344CB8AC3E}">
        <p14:creationId xmlns:p14="http://schemas.microsoft.com/office/powerpoint/2010/main" val="33337627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r>
              <a:rPr lang="en-US" altLang="zh-CN">
                <a:ea typeface="宋体" panose="02010600030101010101" pitchFamily="2" charset="-122"/>
              </a:rPr>
              <a:t>(1) </a:t>
            </a:r>
            <a:r>
              <a:rPr lang="zh-CN" altLang="en-US">
                <a:ea typeface="宋体" panose="02010600030101010101" pitchFamily="2" charset="-122"/>
              </a:rPr>
              <a:t>超时法</a:t>
            </a:r>
          </a:p>
        </p:txBody>
      </p:sp>
      <p:sp>
        <p:nvSpPr>
          <p:cNvPr id="388099" name="Rectangle 3"/>
          <p:cNvSpPr>
            <a:spLocks noGrp="1" noChangeArrowheads="1"/>
          </p:cNvSpPr>
          <p:nvPr>
            <p:ph type="body" idx="1"/>
          </p:nvPr>
        </p:nvSpPr>
        <p:spPr>
          <a:xfrm>
            <a:off x="900113" y="1916113"/>
            <a:ext cx="7772400" cy="4114800"/>
          </a:xfrm>
        </p:spPr>
        <p:txBody>
          <a:bodyPr/>
          <a:lstStyle/>
          <a:p>
            <a:pPr>
              <a:lnSpc>
                <a:spcPct val="140000"/>
              </a:lnSpc>
            </a:pPr>
            <a:r>
              <a:rPr lang="zh-CN" altLang="en-US" sz="2400">
                <a:ea typeface="宋体" panose="02010600030101010101" pitchFamily="2" charset="-122"/>
              </a:rPr>
              <a:t>如果一个事务的等待时间超过了规定的时限，就认为发生了死锁</a:t>
            </a:r>
          </a:p>
          <a:p>
            <a:pPr>
              <a:lnSpc>
                <a:spcPct val="140000"/>
              </a:lnSpc>
            </a:pPr>
            <a:r>
              <a:rPr lang="zh-CN" altLang="en-US" sz="2400">
                <a:ea typeface="宋体" panose="02010600030101010101" pitchFamily="2" charset="-122"/>
              </a:rPr>
              <a:t>优点：实现简单</a:t>
            </a:r>
          </a:p>
          <a:p>
            <a:pPr>
              <a:lnSpc>
                <a:spcPct val="140000"/>
              </a:lnSpc>
            </a:pPr>
            <a:r>
              <a:rPr lang="zh-CN" altLang="en-US" sz="2400">
                <a:ea typeface="宋体" panose="02010600030101010101" pitchFamily="2" charset="-122"/>
              </a:rPr>
              <a:t>缺点</a:t>
            </a:r>
          </a:p>
          <a:p>
            <a:pPr lvl="1">
              <a:lnSpc>
                <a:spcPct val="140000"/>
              </a:lnSpc>
            </a:pPr>
            <a:r>
              <a:rPr lang="zh-CN" altLang="en-US">
                <a:ea typeface="宋体" panose="02010600030101010101" pitchFamily="2" charset="-122"/>
              </a:rPr>
              <a:t>有可能误判死锁</a:t>
            </a:r>
          </a:p>
          <a:p>
            <a:pPr lvl="1">
              <a:lnSpc>
                <a:spcPct val="140000"/>
              </a:lnSpc>
            </a:pPr>
            <a:r>
              <a:rPr lang="zh-CN" altLang="en-US">
                <a:ea typeface="宋体" panose="02010600030101010101" pitchFamily="2" charset="-122"/>
              </a:rPr>
              <a:t>时限若设置得太长，死锁发生后不能及时发现</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64</a:t>
            </a:fld>
            <a:endParaRPr lang="en-US" altLang="zh-CN"/>
          </a:p>
        </p:txBody>
      </p:sp>
    </p:spTree>
    <p:extLst>
      <p:ext uri="{BB962C8B-B14F-4D97-AF65-F5344CB8AC3E}">
        <p14:creationId xmlns:p14="http://schemas.microsoft.com/office/powerpoint/2010/main" val="39096449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r>
              <a:rPr lang="en-US" altLang="zh-CN">
                <a:ea typeface="宋体" panose="02010600030101010101" pitchFamily="2" charset="-122"/>
              </a:rPr>
              <a:t>(2)</a:t>
            </a:r>
            <a:r>
              <a:rPr lang="zh-CN" altLang="en-US">
                <a:ea typeface="宋体" panose="02010600030101010101" pitchFamily="2" charset="-122"/>
              </a:rPr>
              <a:t>等待图法</a:t>
            </a:r>
          </a:p>
        </p:txBody>
      </p:sp>
      <p:sp>
        <p:nvSpPr>
          <p:cNvPr id="389123" name="Rectangle 3"/>
          <p:cNvSpPr>
            <a:spLocks noGrp="1" noChangeArrowheads="1"/>
          </p:cNvSpPr>
          <p:nvPr>
            <p:ph type="body" sz="half" idx="1"/>
          </p:nvPr>
        </p:nvSpPr>
        <p:spPr>
          <a:xfrm>
            <a:off x="457200" y="1828800"/>
            <a:ext cx="8002588" cy="4408488"/>
          </a:xfrm>
        </p:spPr>
        <p:txBody>
          <a:bodyPr/>
          <a:lstStyle/>
          <a:p>
            <a:pPr>
              <a:lnSpc>
                <a:spcPct val="220000"/>
              </a:lnSpc>
            </a:pPr>
            <a:r>
              <a:rPr lang="zh-CN" altLang="en-US" sz="2400" dirty="0">
                <a:ea typeface="宋体" panose="02010600030101010101" pitchFamily="2" charset="-122"/>
              </a:rPr>
              <a:t>用</a:t>
            </a:r>
            <a:r>
              <a:rPr lang="zh-CN" altLang="en-US" sz="2400" u="sng" dirty="0">
                <a:ea typeface="宋体" panose="02010600030101010101" pitchFamily="2" charset="-122"/>
              </a:rPr>
              <a:t>事务等待图</a:t>
            </a:r>
            <a:r>
              <a:rPr lang="zh-CN" altLang="en-US" sz="2400" dirty="0">
                <a:ea typeface="宋体" panose="02010600030101010101" pitchFamily="2" charset="-122"/>
              </a:rPr>
              <a:t>动态反映所有事务的等待情况</a:t>
            </a:r>
            <a:endParaRPr lang="zh-CN" altLang="en-US" sz="2000" dirty="0">
              <a:ea typeface="宋体" panose="02010600030101010101" pitchFamily="2" charset="-122"/>
            </a:endParaRPr>
          </a:p>
          <a:p>
            <a:pPr lvl="1">
              <a:lnSpc>
                <a:spcPct val="220000"/>
              </a:lnSpc>
            </a:pPr>
            <a:r>
              <a:rPr lang="zh-CN" altLang="en-US" sz="2200" dirty="0">
                <a:ea typeface="宋体" panose="02010600030101010101" pitchFamily="2" charset="-122"/>
              </a:rPr>
              <a:t>事务等待图是一个有向图</a:t>
            </a:r>
            <a:r>
              <a:rPr lang="en-US" altLang="zh-CN" sz="2200" i="1" dirty="0">
                <a:ea typeface="宋体" panose="02010600030101010101" pitchFamily="2" charset="-122"/>
              </a:rPr>
              <a:t>G</a:t>
            </a:r>
            <a:r>
              <a:rPr lang="en-US" altLang="zh-CN" sz="2200" dirty="0">
                <a:ea typeface="宋体" panose="02010600030101010101" pitchFamily="2" charset="-122"/>
              </a:rPr>
              <a:t>=(</a:t>
            </a:r>
            <a:r>
              <a:rPr lang="en-US" altLang="zh-CN" sz="2200" i="1" dirty="0">
                <a:ea typeface="宋体" panose="02010600030101010101" pitchFamily="2" charset="-122"/>
              </a:rPr>
              <a:t>T</a:t>
            </a:r>
            <a:r>
              <a:rPr lang="zh-CN" altLang="en-US" sz="2200" dirty="0">
                <a:ea typeface="宋体" panose="02010600030101010101" pitchFamily="2" charset="-122"/>
              </a:rPr>
              <a:t>，</a:t>
            </a:r>
            <a:r>
              <a:rPr lang="en-US" altLang="zh-CN" sz="2200" i="1" dirty="0">
                <a:ea typeface="宋体" panose="02010600030101010101" pitchFamily="2" charset="-122"/>
              </a:rPr>
              <a:t>U</a:t>
            </a:r>
            <a:r>
              <a:rPr lang="en-US" altLang="zh-CN" sz="2200" dirty="0">
                <a:ea typeface="宋体" panose="02010600030101010101" pitchFamily="2" charset="-122"/>
              </a:rPr>
              <a:t>)</a:t>
            </a:r>
          </a:p>
          <a:p>
            <a:pPr lvl="1">
              <a:lnSpc>
                <a:spcPct val="220000"/>
              </a:lnSpc>
            </a:pPr>
            <a:r>
              <a:rPr lang="en-US" altLang="zh-CN" sz="2200" i="1" dirty="0">
                <a:ea typeface="宋体" panose="02010600030101010101" pitchFamily="2" charset="-122"/>
              </a:rPr>
              <a:t>T</a:t>
            </a:r>
            <a:r>
              <a:rPr lang="zh-CN" altLang="en-US" sz="2200" dirty="0">
                <a:ea typeface="宋体" panose="02010600030101010101" pitchFamily="2" charset="-122"/>
              </a:rPr>
              <a:t>为结点的集合，每个结点表示正运行的事务</a:t>
            </a:r>
          </a:p>
          <a:p>
            <a:pPr lvl="1">
              <a:lnSpc>
                <a:spcPct val="220000"/>
              </a:lnSpc>
            </a:pPr>
            <a:r>
              <a:rPr lang="en-US" altLang="zh-CN" sz="2200" i="1" dirty="0">
                <a:ea typeface="宋体" panose="02010600030101010101" pitchFamily="2" charset="-122"/>
              </a:rPr>
              <a:t>U</a:t>
            </a:r>
            <a:r>
              <a:rPr lang="zh-CN" altLang="en-US" sz="2200" dirty="0">
                <a:ea typeface="宋体" panose="02010600030101010101" pitchFamily="2" charset="-122"/>
              </a:rPr>
              <a:t>为边的集合，每条边表示事务等待的情况</a:t>
            </a:r>
          </a:p>
          <a:p>
            <a:pPr lvl="1">
              <a:lnSpc>
                <a:spcPct val="220000"/>
              </a:lnSpc>
            </a:pPr>
            <a:r>
              <a:rPr lang="zh-CN" altLang="en-US" sz="2200" dirty="0">
                <a:ea typeface="宋体" panose="02010600030101010101" pitchFamily="2" charset="-122"/>
              </a:rPr>
              <a:t>若</a:t>
            </a:r>
            <a:r>
              <a:rPr lang="en-US" altLang="zh-CN" sz="2200" dirty="0">
                <a:ea typeface="宋体" panose="02010600030101010101" pitchFamily="2" charset="-122"/>
              </a:rPr>
              <a:t>T</a:t>
            </a:r>
            <a:r>
              <a:rPr lang="en-US" altLang="zh-CN" sz="2200" baseline="-25000" dirty="0">
                <a:ea typeface="宋体" panose="02010600030101010101" pitchFamily="2" charset="-122"/>
              </a:rPr>
              <a:t>1</a:t>
            </a:r>
            <a:r>
              <a:rPr lang="zh-CN" altLang="en-US" sz="2200" dirty="0">
                <a:ea typeface="宋体" panose="02010600030101010101" pitchFamily="2" charset="-122"/>
              </a:rPr>
              <a:t>等待</a:t>
            </a:r>
            <a:r>
              <a:rPr lang="en-US" altLang="zh-CN" sz="2200" dirty="0">
                <a:ea typeface="宋体" panose="02010600030101010101" pitchFamily="2" charset="-122"/>
              </a:rPr>
              <a:t>T</a:t>
            </a:r>
            <a:r>
              <a:rPr lang="en-US" altLang="zh-CN" sz="2200" baseline="-25000" dirty="0">
                <a:ea typeface="宋体" panose="02010600030101010101" pitchFamily="2" charset="-122"/>
              </a:rPr>
              <a:t>2</a:t>
            </a:r>
            <a:r>
              <a:rPr lang="zh-CN" altLang="en-US" sz="2200" dirty="0">
                <a:ea typeface="宋体" panose="02010600030101010101" pitchFamily="2" charset="-122"/>
              </a:rPr>
              <a:t>，则</a:t>
            </a:r>
            <a:r>
              <a:rPr lang="en-US" altLang="zh-CN" sz="2200" dirty="0">
                <a:ea typeface="宋体" panose="02010600030101010101" pitchFamily="2" charset="-122"/>
              </a:rPr>
              <a:t>T</a:t>
            </a:r>
            <a:r>
              <a:rPr lang="en-US" altLang="zh-CN" sz="2200" baseline="-25000" dirty="0">
                <a:ea typeface="宋体" panose="02010600030101010101" pitchFamily="2" charset="-122"/>
              </a:rPr>
              <a:t>1</a:t>
            </a:r>
            <a:r>
              <a:rPr lang="zh-CN" altLang="en-US" sz="2200" dirty="0">
                <a:ea typeface="宋体" panose="02010600030101010101" pitchFamily="2" charset="-122"/>
              </a:rPr>
              <a:t>，</a:t>
            </a:r>
            <a:r>
              <a:rPr lang="en-US" altLang="zh-CN" sz="2200" dirty="0">
                <a:ea typeface="宋体" panose="02010600030101010101" pitchFamily="2" charset="-122"/>
              </a:rPr>
              <a:t>T</a:t>
            </a:r>
            <a:r>
              <a:rPr lang="en-US" altLang="zh-CN" sz="2200" baseline="-25000" dirty="0">
                <a:ea typeface="宋体" panose="02010600030101010101" pitchFamily="2" charset="-122"/>
              </a:rPr>
              <a:t>2</a:t>
            </a:r>
            <a:r>
              <a:rPr lang="zh-CN" altLang="en-US" sz="2200" dirty="0">
                <a:ea typeface="宋体" panose="02010600030101010101" pitchFamily="2" charset="-122"/>
              </a:rPr>
              <a:t>之间划一条有向边，从</a:t>
            </a:r>
            <a:r>
              <a:rPr lang="en-US" altLang="zh-CN" sz="2200" dirty="0">
                <a:ea typeface="宋体" panose="02010600030101010101" pitchFamily="2" charset="-122"/>
              </a:rPr>
              <a:t>T</a:t>
            </a:r>
            <a:r>
              <a:rPr lang="en-US" altLang="zh-CN" sz="2200" baseline="-25000" dirty="0">
                <a:ea typeface="宋体" panose="02010600030101010101" pitchFamily="2" charset="-122"/>
              </a:rPr>
              <a:t>1</a:t>
            </a:r>
            <a:r>
              <a:rPr lang="zh-CN" altLang="en-US" sz="2200" dirty="0">
                <a:ea typeface="宋体" panose="02010600030101010101" pitchFamily="2" charset="-122"/>
              </a:rPr>
              <a:t>指向</a:t>
            </a:r>
            <a:r>
              <a:rPr lang="en-US" altLang="zh-CN" sz="2200" dirty="0">
                <a:ea typeface="宋体" panose="02010600030101010101" pitchFamily="2" charset="-122"/>
              </a:rPr>
              <a:t>T</a:t>
            </a:r>
            <a:r>
              <a:rPr lang="en-US" altLang="zh-CN" sz="2200" baseline="-25000" dirty="0">
                <a:ea typeface="宋体" panose="02010600030101010101" pitchFamily="2" charset="-122"/>
              </a:rPr>
              <a:t>2</a:t>
            </a:r>
          </a:p>
        </p:txBody>
      </p:sp>
      <p:sp>
        <p:nvSpPr>
          <p:cNvPr id="2" name="灯片编号占位符 1"/>
          <p:cNvSpPr>
            <a:spLocks noGrp="1"/>
          </p:cNvSpPr>
          <p:nvPr>
            <p:ph type="sldNum" sz="quarter" idx="12"/>
          </p:nvPr>
        </p:nvSpPr>
        <p:spPr/>
        <p:txBody>
          <a:bodyPr/>
          <a:lstStyle/>
          <a:p>
            <a:fld id="{CD5C3753-734A-477F-97D0-D05E6A5C33B1}" type="slidenum">
              <a:rPr lang="en-US" altLang="zh-CN" smtClean="0"/>
              <a:pPr/>
              <a:t>65</a:t>
            </a:fld>
            <a:endParaRPr lang="en-US" altLang="zh-CN"/>
          </a:p>
        </p:txBody>
      </p:sp>
    </p:spTree>
    <p:extLst>
      <p:ext uri="{BB962C8B-B14F-4D97-AF65-F5344CB8AC3E}">
        <p14:creationId xmlns:p14="http://schemas.microsoft.com/office/powerpoint/2010/main" val="19196902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zh-CN" altLang="en-US">
                <a:ea typeface="宋体" panose="02010600030101010101" pitchFamily="2" charset="-122"/>
              </a:rPr>
              <a:t>等待图法（续）</a:t>
            </a:r>
          </a:p>
        </p:txBody>
      </p:sp>
      <p:grpSp>
        <p:nvGrpSpPr>
          <p:cNvPr id="499719" name="Group 7"/>
          <p:cNvGrpSpPr>
            <a:grpSpLocks/>
          </p:cNvGrpSpPr>
          <p:nvPr/>
        </p:nvGrpSpPr>
        <p:grpSpPr bwMode="auto">
          <a:xfrm>
            <a:off x="1547813" y="1844675"/>
            <a:ext cx="6337300" cy="2455863"/>
            <a:chOff x="975" y="1162"/>
            <a:chExt cx="3992" cy="1547"/>
          </a:xfrm>
        </p:grpSpPr>
        <p:graphicFrame>
          <p:nvGraphicFramePr>
            <p:cNvPr id="499716" name="Object 4"/>
            <p:cNvGraphicFramePr>
              <a:graphicFrameLocks noChangeAspect="1"/>
            </p:cNvGraphicFramePr>
            <p:nvPr/>
          </p:nvGraphicFramePr>
          <p:xfrm>
            <a:off x="975" y="1162"/>
            <a:ext cx="3992" cy="1268"/>
          </p:xfrm>
          <a:graphic>
            <a:graphicData uri="http://schemas.openxmlformats.org/presentationml/2006/ole">
              <mc:AlternateContent xmlns:mc="http://schemas.openxmlformats.org/markup-compatibility/2006">
                <mc:Choice xmlns:v="urn:schemas-microsoft-com:vml" Requires="v">
                  <p:oleObj spid="_x0000_s2053" name="图片" r:id="rId3" imgW="2244240" imgH="713160" progId="Word.Picture.8">
                    <p:embed/>
                  </p:oleObj>
                </mc:Choice>
                <mc:Fallback>
                  <p:oleObj name="图片" r:id="rId3" imgW="2244240" imgH="71316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 y="1162"/>
                          <a:ext cx="3992" cy="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9717" name="Text Box 5"/>
            <p:cNvSpPr txBox="1">
              <a:spLocks noChangeArrowheads="1"/>
            </p:cNvSpPr>
            <p:nvPr/>
          </p:nvSpPr>
          <p:spPr bwMode="auto">
            <a:xfrm>
              <a:off x="2245" y="2478"/>
              <a:ext cx="836" cy="231"/>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a:t>事务等待图</a:t>
              </a:r>
            </a:p>
          </p:txBody>
        </p:sp>
      </p:grpSp>
      <p:sp>
        <p:nvSpPr>
          <p:cNvPr id="499718" name="Text Box 6"/>
          <p:cNvSpPr txBox="1">
            <a:spLocks noChangeArrowheads="1"/>
          </p:cNvSpPr>
          <p:nvPr/>
        </p:nvSpPr>
        <p:spPr bwMode="auto">
          <a:xfrm>
            <a:off x="395288" y="4437063"/>
            <a:ext cx="8064500" cy="210502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buClr>
                <a:schemeClr val="accent1"/>
              </a:buClr>
              <a:buFont typeface="Wingdings" panose="05000000000000000000" pitchFamily="2" charset="2"/>
              <a:buChar char="n"/>
            </a:pPr>
            <a:r>
              <a:rPr kumimoji="0" lang="zh-CN" altLang="en-US" sz="2200" b="0"/>
              <a:t>图</a:t>
            </a:r>
            <a:r>
              <a:rPr kumimoji="0" lang="en-US" altLang="zh-CN" sz="2200" b="0"/>
              <a:t>(a)</a:t>
            </a:r>
            <a:r>
              <a:rPr kumimoji="0" lang="zh-CN" altLang="en-US" sz="2200" b="0"/>
              <a:t>中，事务</a:t>
            </a:r>
            <a:r>
              <a:rPr kumimoji="0" lang="en-US" altLang="zh-CN" sz="2200" b="0"/>
              <a:t>T1</a:t>
            </a:r>
            <a:r>
              <a:rPr kumimoji="0" lang="zh-CN" altLang="en-US" sz="2200" b="0"/>
              <a:t>等待</a:t>
            </a:r>
            <a:r>
              <a:rPr kumimoji="0" lang="en-US" altLang="zh-CN" sz="2200" b="0"/>
              <a:t>T2</a:t>
            </a:r>
            <a:r>
              <a:rPr kumimoji="0" lang="zh-CN" altLang="en-US" sz="2200" b="0"/>
              <a:t>，</a:t>
            </a:r>
            <a:r>
              <a:rPr kumimoji="0" lang="en-US" altLang="zh-CN" sz="2200" b="0"/>
              <a:t>T2</a:t>
            </a:r>
            <a:r>
              <a:rPr kumimoji="0" lang="zh-CN" altLang="en-US" sz="2200" b="0"/>
              <a:t>等待</a:t>
            </a:r>
            <a:r>
              <a:rPr kumimoji="0" lang="en-US" altLang="zh-CN" sz="2200" b="0"/>
              <a:t>T1</a:t>
            </a:r>
            <a:r>
              <a:rPr kumimoji="0" lang="zh-CN" altLang="en-US" sz="2200" b="0"/>
              <a:t>，产生了死锁</a:t>
            </a:r>
          </a:p>
          <a:p>
            <a:pPr>
              <a:lnSpc>
                <a:spcPct val="150000"/>
              </a:lnSpc>
              <a:buClr>
                <a:schemeClr val="accent1"/>
              </a:buClr>
              <a:buFont typeface="Wingdings" panose="05000000000000000000" pitchFamily="2" charset="2"/>
              <a:buChar char="n"/>
            </a:pPr>
            <a:r>
              <a:rPr kumimoji="0" lang="zh-CN" altLang="en-US" sz="2200" b="0"/>
              <a:t>图</a:t>
            </a:r>
            <a:r>
              <a:rPr kumimoji="0" lang="en-US" altLang="zh-CN" sz="2200" b="0"/>
              <a:t>(b)</a:t>
            </a:r>
            <a:r>
              <a:rPr kumimoji="0" lang="zh-CN" altLang="en-US" sz="2200" b="0"/>
              <a:t>中，事务</a:t>
            </a:r>
            <a:r>
              <a:rPr kumimoji="0" lang="en-US" altLang="zh-CN" sz="2200" b="0"/>
              <a:t>T1</a:t>
            </a:r>
            <a:r>
              <a:rPr kumimoji="0" lang="zh-CN" altLang="en-US" sz="2200" b="0"/>
              <a:t>等待</a:t>
            </a:r>
            <a:r>
              <a:rPr kumimoji="0" lang="en-US" altLang="zh-CN" sz="2200" b="0"/>
              <a:t>T2</a:t>
            </a:r>
            <a:r>
              <a:rPr kumimoji="0" lang="zh-CN" altLang="en-US" sz="2200" b="0"/>
              <a:t>，</a:t>
            </a:r>
            <a:r>
              <a:rPr kumimoji="0" lang="en-US" altLang="zh-CN" sz="2200" b="0"/>
              <a:t>T2</a:t>
            </a:r>
            <a:r>
              <a:rPr kumimoji="0" lang="zh-CN" altLang="en-US" sz="2200" b="0"/>
              <a:t>等待</a:t>
            </a:r>
            <a:r>
              <a:rPr kumimoji="0" lang="en-US" altLang="zh-CN" sz="2200" b="0"/>
              <a:t>T3</a:t>
            </a:r>
            <a:r>
              <a:rPr kumimoji="0" lang="zh-CN" altLang="en-US" sz="2200" b="0"/>
              <a:t>，</a:t>
            </a:r>
            <a:r>
              <a:rPr kumimoji="0" lang="en-US" altLang="zh-CN" sz="2200" b="0"/>
              <a:t>T3</a:t>
            </a:r>
            <a:r>
              <a:rPr kumimoji="0" lang="zh-CN" altLang="en-US" sz="2200" b="0"/>
              <a:t>等待</a:t>
            </a:r>
            <a:r>
              <a:rPr kumimoji="0" lang="en-US" altLang="zh-CN" sz="2200" b="0"/>
              <a:t>T4</a:t>
            </a:r>
            <a:r>
              <a:rPr kumimoji="0" lang="zh-CN" altLang="en-US" sz="2200" b="0"/>
              <a:t>，</a:t>
            </a:r>
            <a:r>
              <a:rPr kumimoji="0" lang="en-US" altLang="zh-CN" sz="2200" b="0"/>
              <a:t>T4</a:t>
            </a:r>
            <a:r>
              <a:rPr kumimoji="0" lang="zh-CN" altLang="en-US" sz="2200" b="0"/>
              <a:t>又等待</a:t>
            </a:r>
            <a:r>
              <a:rPr kumimoji="0" lang="en-US" altLang="zh-CN" sz="2200" b="0"/>
              <a:t>T1</a:t>
            </a:r>
            <a:r>
              <a:rPr kumimoji="0" lang="zh-CN" altLang="en-US" sz="2200" b="0"/>
              <a:t>，产生了死锁 </a:t>
            </a:r>
          </a:p>
          <a:p>
            <a:pPr>
              <a:lnSpc>
                <a:spcPct val="150000"/>
              </a:lnSpc>
              <a:buClr>
                <a:schemeClr val="accent1"/>
              </a:buClr>
              <a:buFont typeface="Wingdings" panose="05000000000000000000" pitchFamily="2" charset="2"/>
              <a:buChar char="n"/>
            </a:pPr>
            <a:r>
              <a:rPr kumimoji="0" lang="zh-CN" altLang="en-US" sz="2200" b="0"/>
              <a:t>图</a:t>
            </a:r>
            <a:r>
              <a:rPr kumimoji="0" lang="en-US" altLang="zh-CN" sz="2200" b="0"/>
              <a:t>(b)</a:t>
            </a:r>
            <a:r>
              <a:rPr kumimoji="0" lang="zh-CN" altLang="en-US" sz="2200" b="0"/>
              <a:t>中，事务</a:t>
            </a:r>
            <a:r>
              <a:rPr kumimoji="0" lang="en-US" altLang="zh-CN" sz="2200" b="0"/>
              <a:t>T3</a:t>
            </a:r>
            <a:r>
              <a:rPr kumimoji="0" lang="zh-CN" altLang="en-US" sz="2200" b="0"/>
              <a:t>可能还等待</a:t>
            </a:r>
            <a:r>
              <a:rPr kumimoji="0" lang="en-US" altLang="zh-CN" sz="2200" b="0"/>
              <a:t>T2</a:t>
            </a:r>
            <a:r>
              <a:rPr kumimoji="0" lang="zh-CN" altLang="en-US" sz="2200" b="0"/>
              <a:t>，在大回路中又有小的回路</a:t>
            </a:r>
            <a:r>
              <a:rPr kumimoji="0" lang="zh-CN" altLang="en-US" sz="1800"/>
              <a:t>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66</a:t>
            </a:fld>
            <a:endParaRPr lang="en-US" altLang="zh-CN"/>
          </a:p>
        </p:txBody>
      </p:sp>
    </p:spTree>
    <p:extLst>
      <p:ext uri="{BB962C8B-B14F-4D97-AF65-F5344CB8AC3E}">
        <p14:creationId xmlns:p14="http://schemas.microsoft.com/office/powerpoint/2010/main" val="3996212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99719"/>
                                        </p:tgtEl>
                                        <p:attrNameLst>
                                          <p:attrName>style.visibility</p:attrName>
                                        </p:attrNameLst>
                                      </p:cBhvr>
                                      <p:to>
                                        <p:strVal val="visible"/>
                                      </p:to>
                                    </p:set>
                                    <p:animEffect transition="in" filter="box(in)">
                                      <p:cBhvr>
                                        <p:cTn id="7" dur="2000"/>
                                        <p:tgtEl>
                                          <p:spTgt spid="4997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99718"/>
                                        </p:tgtEl>
                                        <p:attrNameLst>
                                          <p:attrName>style.visibility</p:attrName>
                                        </p:attrNameLst>
                                      </p:cBhvr>
                                      <p:to>
                                        <p:strVal val="visible"/>
                                      </p:to>
                                    </p:set>
                                    <p:anim calcmode="lin" valueType="num">
                                      <p:cBhvr additive="base">
                                        <p:cTn id="12" dur="1000" fill="hold"/>
                                        <p:tgtEl>
                                          <p:spTgt spid="499718"/>
                                        </p:tgtEl>
                                        <p:attrNameLst>
                                          <p:attrName>ppt_x</p:attrName>
                                        </p:attrNameLst>
                                      </p:cBhvr>
                                      <p:tavLst>
                                        <p:tav tm="0">
                                          <p:val>
                                            <p:strVal val="#ppt_x"/>
                                          </p:val>
                                        </p:tav>
                                        <p:tav tm="100000">
                                          <p:val>
                                            <p:strVal val="#ppt_x"/>
                                          </p:val>
                                        </p:tav>
                                      </p:tavLst>
                                    </p:anim>
                                    <p:anim calcmode="lin" valueType="num">
                                      <p:cBhvr additive="base">
                                        <p:cTn id="13" dur="1000" fill="hold"/>
                                        <p:tgtEl>
                                          <p:spTgt spid="4997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r>
              <a:rPr lang="zh-CN" altLang="en-US">
                <a:ea typeface="宋体" panose="02010600030101010101" pitchFamily="2" charset="-122"/>
              </a:rPr>
              <a:t>等待图法（续）</a:t>
            </a:r>
          </a:p>
        </p:txBody>
      </p:sp>
      <p:sp>
        <p:nvSpPr>
          <p:cNvPr id="497667" name="Rectangle 3"/>
          <p:cNvSpPr>
            <a:spLocks noGrp="1" noChangeArrowheads="1"/>
          </p:cNvSpPr>
          <p:nvPr>
            <p:ph type="body" idx="1"/>
          </p:nvPr>
        </p:nvSpPr>
        <p:spPr/>
        <p:txBody>
          <a:bodyPr/>
          <a:lstStyle/>
          <a:p>
            <a:pPr>
              <a:lnSpc>
                <a:spcPct val="170000"/>
              </a:lnSpc>
            </a:pPr>
            <a:r>
              <a:rPr lang="zh-CN" altLang="en-US" dirty="0">
                <a:ea typeface="宋体" panose="02010600030101010101" pitchFamily="2" charset="-122"/>
              </a:rPr>
              <a:t>并发控制子系统周期性地（比如每隔数秒）生成事务等待图，检测事务。如果发现图中存在</a:t>
            </a:r>
            <a:r>
              <a:rPr lang="zh-CN" altLang="en-US" dirty="0">
                <a:solidFill>
                  <a:srgbClr val="FF0000"/>
                </a:solidFill>
                <a:ea typeface="宋体" panose="02010600030101010101" pitchFamily="2" charset="-122"/>
              </a:rPr>
              <a:t>回路</a:t>
            </a:r>
            <a:r>
              <a:rPr lang="zh-CN" altLang="en-US" dirty="0">
                <a:ea typeface="宋体" panose="02010600030101010101" pitchFamily="2" charset="-122"/>
              </a:rPr>
              <a:t>，则表示系统中出现了死锁。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67</a:t>
            </a:fld>
            <a:endParaRPr lang="en-US" altLang="zh-CN"/>
          </a:p>
        </p:txBody>
      </p:sp>
    </p:spTree>
    <p:extLst>
      <p:ext uri="{BB962C8B-B14F-4D97-AF65-F5344CB8AC3E}">
        <p14:creationId xmlns:p14="http://schemas.microsoft.com/office/powerpoint/2010/main" val="2498883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zh-CN" altLang="en-US">
                <a:ea typeface="宋体" panose="02010600030101010101" pitchFamily="2" charset="-122"/>
              </a:rPr>
              <a:t>死锁的诊断与解除（续）</a:t>
            </a:r>
          </a:p>
        </p:txBody>
      </p:sp>
      <p:sp>
        <p:nvSpPr>
          <p:cNvPr id="390147" name="Rectangle 3"/>
          <p:cNvSpPr>
            <a:spLocks noGrp="1" noChangeArrowheads="1"/>
          </p:cNvSpPr>
          <p:nvPr>
            <p:ph type="body" idx="1"/>
          </p:nvPr>
        </p:nvSpPr>
        <p:spPr/>
        <p:txBody>
          <a:bodyPr/>
          <a:lstStyle/>
          <a:p>
            <a:r>
              <a:rPr lang="zh-CN" altLang="en-US" sz="3200">
                <a:ea typeface="宋体" panose="02010600030101010101" pitchFamily="2" charset="-122"/>
              </a:rPr>
              <a:t>解除死锁</a:t>
            </a:r>
          </a:p>
          <a:p>
            <a:pPr lvl="1">
              <a:lnSpc>
                <a:spcPct val="140000"/>
              </a:lnSpc>
            </a:pPr>
            <a:r>
              <a:rPr lang="zh-CN" altLang="en-US" sz="2800">
                <a:ea typeface="宋体" panose="02010600030101010101" pitchFamily="2" charset="-122"/>
              </a:rPr>
              <a:t>选择一个处理死锁代价最小的事务，将其撤消</a:t>
            </a:r>
          </a:p>
          <a:p>
            <a:pPr lvl="1">
              <a:lnSpc>
                <a:spcPct val="140000"/>
              </a:lnSpc>
            </a:pPr>
            <a:r>
              <a:rPr lang="zh-CN" altLang="en-US" sz="2800">
                <a:ea typeface="宋体" panose="02010600030101010101" pitchFamily="2" charset="-122"/>
              </a:rPr>
              <a:t>释放此事务持有的所有的锁，使其它事务能继续运行下去</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68</a:t>
            </a:fld>
            <a:endParaRPr lang="en-US" altLang="zh-CN"/>
          </a:p>
        </p:txBody>
      </p:sp>
    </p:spTree>
    <p:extLst>
      <p:ext uri="{BB962C8B-B14F-4D97-AF65-F5344CB8AC3E}">
        <p14:creationId xmlns:p14="http://schemas.microsoft.com/office/powerpoint/2010/main" val="3355002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zh-CN" altLang="en-US" dirty="0">
                <a:ea typeface="宋体" panose="02010600030101010101" pitchFamily="2" charset="-122"/>
              </a:rPr>
              <a:t>第八章  并发控制</a:t>
            </a:r>
          </a:p>
        </p:txBody>
      </p:sp>
      <p:sp>
        <p:nvSpPr>
          <p:cNvPr id="494595"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ea typeface="宋体" panose="02010600030101010101" pitchFamily="2" charset="-122"/>
              </a:rPr>
              <a:t>8.1  </a:t>
            </a:r>
            <a:r>
              <a:rPr lang="zh-CN" altLang="en-US" b="1" dirty="0">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ea typeface="宋体" panose="02010600030101010101" pitchFamily="2" charset="-122"/>
              </a:rPr>
              <a:t>8.2  </a:t>
            </a:r>
            <a:r>
              <a:rPr lang="zh-CN" altLang="en-US" b="1" dirty="0">
                <a:ea typeface="宋体" panose="02010600030101010101" pitchFamily="2" charset="-122"/>
              </a:rPr>
              <a:t>封锁</a:t>
            </a:r>
          </a:p>
          <a:p>
            <a:pPr algn="just">
              <a:lnSpc>
                <a:spcPct val="130000"/>
              </a:lnSpc>
              <a:buFont typeface="Wingdings" panose="05000000000000000000" pitchFamily="2" charset="2"/>
              <a:buNone/>
            </a:pPr>
            <a:r>
              <a:rPr lang="en-US" altLang="zh-CN" b="1" dirty="0">
                <a:ea typeface="宋体" panose="02010600030101010101" pitchFamily="2" charset="-122"/>
              </a:rPr>
              <a:t>8.3  </a:t>
            </a:r>
            <a:r>
              <a:rPr lang="zh-CN" altLang="en-US" b="1" dirty="0">
                <a:ea typeface="宋体" panose="02010600030101010101" pitchFamily="2" charset="-122"/>
              </a:rPr>
              <a:t>活锁和死锁</a:t>
            </a:r>
          </a:p>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8.4  </a:t>
            </a:r>
            <a:r>
              <a:rPr lang="zh-CN" altLang="en-US" b="1" dirty="0">
                <a:solidFill>
                  <a:schemeClr val="tx2"/>
                </a:solidFill>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ea typeface="宋体" panose="02010600030101010101" pitchFamily="2" charset="-122"/>
              </a:rPr>
              <a:t>8.5   </a:t>
            </a:r>
            <a:r>
              <a:rPr lang="zh-CN" altLang="en-US" b="1" dirty="0">
                <a:ea typeface="宋体" panose="02010600030101010101" pitchFamily="2" charset="-122"/>
              </a:rPr>
              <a:t>两段锁协议</a:t>
            </a:r>
          </a:p>
          <a:p>
            <a:pPr algn="just">
              <a:lnSpc>
                <a:spcPct val="130000"/>
              </a:lnSpc>
              <a:buFont typeface="Wingdings" panose="05000000000000000000" pitchFamily="2" charset="2"/>
              <a:buNone/>
            </a:pPr>
            <a:r>
              <a:rPr lang="en-US" altLang="zh-CN" b="1" dirty="0">
                <a:ea typeface="宋体" panose="02010600030101010101" pitchFamily="2" charset="-122"/>
              </a:rPr>
              <a:t>8.6   </a:t>
            </a:r>
            <a:r>
              <a:rPr lang="zh-CN" altLang="en-US" b="1" dirty="0">
                <a:ea typeface="宋体" panose="02010600030101010101" pitchFamily="2" charset="-122"/>
              </a:rPr>
              <a:t>封锁的粒度</a:t>
            </a:r>
          </a:p>
          <a:p>
            <a:pPr algn="just">
              <a:lnSpc>
                <a:spcPct val="130000"/>
              </a:lnSpc>
              <a:buFont typeface="Wingdings" panose="05000000000000000000" pitchFamily="2" charset="2"/>
              <a:buNone/>
            </a:pPr>
            <a:r>
              <a:rPr lang="en-US" altLang="zh-CN" b="1" dirty="0">
                <a:ea typeface="宋体" panose="02010600030101010101" pitchFamily="2" charset="-122"/>
              </a:rPr>
              <a:t>8.7   </a:t>
            </a:r>
            <a:r>
              <a:rPr lang="zh-CN" altLang="en-US" b="1" dirty="0">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69</a:t>
            </a:fld>
            <a:endParaRPr lang="en-US" altLang="zh-CN"/>
          </a:p>
        </p:txBody>
      </p:sp>
    </p:spTree>
    <p:extLst>
      <p:ext uri="{BB962C8B-B14F-4D97-AF65-F5344CB8AC3E}">
        <p14:creationId xmlns:p14="http://schemas.microsoft.com/office/powerpoint/2010/main" val="38089530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r>
              <a:rPr lang="en-US" altLang="zh-CN" dirty="0">
                <a:ea typeface="宋体" panose="02010600030101010101" pitchFamily="2" charset="-122"/>
              </a:rPr>
              <a:t>8.4  </a:t>
            </a:r>
            <a:r>
              <a:rPr lang="zh-CN" altLang="en-US" dirty="0">
                <a:ea typeface="宋体" panose="02010600030101010101" pitchFamily="2" charset="-122"/>
              </a:rPr>
              <a:t>并发调度的可串行性</a:t>
            </a:r>
          </a:p>
        </p:txBody>
      </p:sp>
      <p:sp>
        <p:nvSpPr>
          <p:cNvPr id="393219" name="Rectangle 3"/>
          <p:cNvSpPr>
            <a:spLocks noGrp="1" noChangeArrowheads="1"/>
          </p:cNvSpPr>
          <p:nvPr>
            <p:ph type="body" idx="1"/>
          </p:nvPr>
        </p:nvSpPr>
        <p:spPr/>
        <p:txBody>
          <a:bodyPr/>
          <a:lstStyle/>
          <a:p>
            <a:pPr>
              <a:lnSpc>
                <a:spcPct val="180000"/>
              </a:lnSpc>
            </a:pPr>
            <a:r>
              <a:rPr lang="en-US" altLang="zh-CN">
                <a:ea typeface="宋体" panose="02010600030101010101" pitchFamily="2" charset="-122"/>
              </a:rPr>
              <a:t>DBMS</a:t>
            </a:r>
            <a:r>
              <a:rPr lang="zh-CN" altLang="en-US">
                <a:ea typeface="宋体" panose="02010600030101010101" pitchFamily="2" charset="-122"/>
              </a:rPr>
              <a:t>对并发事务不同的调度可能会产生不同的结果</a:t>
            </a:r>
          </a:p>
          <a:p>
            <a:pPr>
              <a:lnSpc>
                <a:spcPct val="180000"/>
              </a:lnSpc>
            </a:pPr>
            <a:r>
              <a:rPr lang="zh-CN" altLang="en-US">
                <a:ea typeface="宋体" panose="02010600030101010101" pitchFamily="2" charset="-122"/>
              </a:rPr>
              <a:t>什么样的调度是正确的？</a:t>
            </a:r>
          </a:p>
          <a:p>
            <a:pPr>
              <a:lnSpc>
                <a:spcPct val="180000"/>
              </a:lnSpc>
              <a:buFont typeface="Wingdings" panose="05000000000000000000" pitchFamily="2" charset="2"/>
              <a:buNone/>
            </a:pPr>
            <a:r>
              <a:rPr lang="zh-CN" altLang="en-US">
                <a:ea typeface="宋体" panose="02010600030101010101" pitchFamily="2" charset="-122"/>
              </a:rPr>
              <a:t>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70</a:t>
            </a:fld>
            <a:endParaRPr lang="en-US" altLang="zh-CN"/>
          </a:p>
        </p:txBody>
      </p:sp>
    </p:spTree>
    <p:extLst>
      <p:ext uri="{BB962C8B-B14F-4D97-AF65-F5344CB8AC3E}">
        <p14:creationId xmlns:p14="http://schemas.microsoft.com/office/powerpoint/2010/main" val="17775180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ltLang="zh-CN" dirty="0">
                <a:ea typeface="宋体" panose="02010600030101010101" pitchFamily="2" charset="-122"/>
              </a:rPr>
              <a:t>8.4.1 </a:t>
            </a:r>
            <a:r>
              <a:rPr lang="zh-CN" altLang="en-US" dirty="0">
                <a:ea typeface="宋体" panose="02010600030101010101" pitchFamily="2" charset="-122"/>
              </a:rPr>
              <a:t>可串行化调度</a:t>
            </a:r>
          </a:p>
        </p:txBody>
      </p:sp>
      <p:sp>
        <p:nvSpPr>
          <p:cNvPr id="394243" name="Rectangle 3"/>
          <p:cNvSpPr>
            <a:spLocks noGrp="1" noChangeArrowheads="1"/>
          </p:cNvSpPr>
          <p:nvPr>
            <p:ph type="body" idx="1"/>
          </p:nvPr>
        </p:nvSpPr>
        <p:spPr>
          <a:xfrm>
            <a:off x="684213" y="1844675"/>
            <a:ext cx="7772400" cy="4321175"/>
          </a:xfrm>
        </p:spPr>
        <p:txBody>
          <a:bodyPr/>
          <a:lstStyle/>
          <a:p>
            <a:pPr>
              <a:lnSpc>
                <a:spcPct val="140000"/>
              </a:lnSpc>
            </a:pPr>
            <a:r>
              <a:rPr lang="zh-CN" altLang="en-US">
                <a:ea typeface="宋体" panose="02010600030101010101" pitchFamily="2" charset="-122"/>
              </a:rPr>
              <a:t>可串行化</a:t>
            </a:r>
            <a:r>
              <a:rPr lang="en-US" altLang="zh-CN">
                <a:ea typeface="宋体" panose="02010600030101010101" pitchFamily="2" charset="-122"/>
              </a:rPr>
              <a:t>(Serializable)</a:t>
            </a:r>
            <a:r>
              <a:rPr lang="zh-CN" altLang="en-US">
                <a:ea typeface="宋体" panose="02010600030101010101" pitchFamily="2" charset="-122"/>
              </a:rPr>
              <a:t>调度</a:t>
            </a:r>
          </a:p>
          <a:p>
            <a:pPr lvl="1">
              <a:lnSpc>
                <a:spcPct val="140000"/>
              </a:lnSpc>
              <a:buSzPct val="70000"/>
              <a:buFont typeface="Wingdings" panose="05000000000000000000" pitchFamily="2" charset="2"/>
              <a:buChar char="n"/>
            </a:pPr>
            <a:r>
              <a:rPr lang="zh-CN" altLang="en-US">
                <a:ea typeface="宋体" panose="02010600030101010101" pitchFamily="2" charset="-122"/>
              </a:rPr>
              <a:t>多个事务的并发执行是正确的，当且仅当其结果与按某一次序串行地执行这些事务时的结果相同</a:t>
            </a:r>
          </a:p>
          <a:p>
            <a:pPr>
              <a:lnSpc>
                <a:spcPct val="140000"/>
              </a:lnSpc>
            </a:pPr>
            <a:r>
              <a:rPr lang="zh-CN" altLang="en-US">
                <a:ea typeface="宋体" panose="02010600030101010101" pitchFamily="2" charset="-122"/>
              </a:rPr>
              <a:t>可串行性</a:t>
            </a:r>
            <a:r>
              <a:rPr lang="en-US" altLang="zh-CN">
                <a:ea typeface="宋体" panose="02010600030101010101" pitchFamily="2" charset="-122"/>
              </a:rPr>
              <a:t>(Serializability)</a:t>
            </a:r>
          </a:p>
          <a:p>
            <a:pPr lvl="1">
              <a:lnSpc>
                <a:spcPct val="140000"/>
              </a:lnSpc>
            </a:pPr>
            <a:r>
              <a:rPr lang="zh-CN" altLang="en-US">
                <a:ea typeface="宋体" panose="02010600030101010101" pitchFamily="2" charset="-122"/>
              </a:rPr>
              <a:t>是并发事务正确调度的准则</a:t>
            </a:r>
          </a:p>
          <a:p>
            <a:pPr lvl="1">
              <a:lnSpc>
                <a:spcPct val="140000"/>
              </a:lnSpc>
            </a:pPr>
            <a:r>
              <a:rPr lang="zh-CN" altLang="en-US">
                <a:ea typeface="宋体" panose="02010600030101010101" pitchFamily="2" charset="-122"/>
              </a:rPr>
              <a:t>一个给定的并发调度，当且仅当它是可串行化的，才认为是正确调度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71</a:t>
            </a:fld>
            <a:endParaRPr lang="en-US" altLang="zh-CN"/>
          </a:p>
        </p:txBody>
      </p:sp>
    </p:spTree>
    <p:extLst>
      <p:ext uri="{BB962C8B-B14F-4D97-AF65-F5344CB8AC3E}">
        <p14:creationId xmlns:p14="http://schemas.microsoft.com/office/powerpoint/2010/main" val="6944484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zh-CN" altLang="en-US">
                <a:ea typeface="宋体" panose="02010600030101010101" pitchFamily="2" charset="-122"/>
              </a:rPr>
              <a:t>可串行化调度（续）</a:t>
            </a:r>
          </a:p>
        </p:txBody>
      </p:sp>
      <p:sp>
        <p:nvSpPr>
          <p:cNvPr id="500739" name="Rectangle 3"/>
          <p:cNvSpPr>
            <a:spLocks noGrp="1" noChangeArrowheads="1"/>
          </p:cNvSpPr>
          <p:nvPr>
            <p:ph type="body" idx="1"/>
          </p:nvPr>
        </p:nvSpPr>
        <p:spPr/>
        <p:txBody>
          <a:bodyPr/>
          <a:lstStyle/>
          <a:p>
            <a:pPr>
              <a:lnSpc>
                <a:spcPct val="170000"/>
              </a:lnSpc>
              <a:buFont typeface="Wingdings" panose="05000000000000000000" pitchFamily="2" charset="2"/>
              <a:buNone/>
            </a:pPr>
            <a:r>
              <a:rPr lang="en-US" altLang="zh-CN">
                <a:ea typeface="宋体" panose="02010600030101010101" pitchFamily="2" charset="-122"/>
              </a:rPr>
              <a:t>[</a:t>
            </a:r>
            <a:r>
              <a:rPr lang="zh-CN" altLang="en-US">
                <a:ea typeface="宋体" panose="02010600030101010101" pitchFamily="2" charset="-122"/>
              </a:rPr>
              <a:t>例</a:t>
            </a:r>
            <a:r>
              <a:rPr lang="en-US" altLang="zh-CN">
                <a:ea typeface="宋体" panose="02010600030101010101" pitchFamily="2" charset="-122"/>
              </a:rPr>
              <a:t>]</a:t>
            </a:r>
            <a:r>
              <a:rPr lang="zh-CN" altLang="en-US">
                <a:ea typeface="宋体" panose="02010600030101010101" pitchFamily="2" charset="-122"/>
              </a:rPr>
              <a:t>现在有两个事务，分别包含下列操作：</a:t>
            </a:r>
          </a:p>
          <a:p>
            <a:pPr lvl="1">
              <a:lnSpc>
                <a:spcPct val="170000"/>
              </a:lnSpc>
            </a:pPr>
            <a:r>
              <a:rPr lang="zh-CN" altLang="en-US">
                <a:ea typeface="宋体" panose="02010600030101010101" pitchFamily="2" charset="-122"/>
              </a:rPr>
              <a:t>事务</a:t>
            </a:r>
            <a:r>
              <a:rPr lang="en-US" altLang="zh-CN">
                <a:ea typeface="宋体" panose="02010600030101010101" pitchFamily="2" charset="-122"/>
              </a:rPr>
              <a:t>T1</a:t>
            </a:r>
            <a:r>
              <a:rPr lang="zh-CN" altLang="en-US">
                <a:ea typeface="宋体" panose="02010600030101010101" pitchFamily="2" charset="-122"/>
              </a:rPr>
              <a:t>：读</a:t>
            </a:r>
            <a:r>
              <a:rPr lang="en-US" altLang="zh-CN">
                <a:ea typeface="宋体" panose="02010600030101010101" pitchFamily="2" charset="-122"/>
              </a:rPr>
              <a:t>B</a:t>
            </a:r>
            <a:r>
              <a:rPr lang="zh-CN" altLang="en-US">
                <a:ea typeface="宋体" panose="02010600030101010101" pitchFamily="2" charset="-122"/>
              </a:rPr>
              <a:t>；</a:t>
            </a:r>
            <a:r>
              <a:rPr lang="en-US" altLang="zh-CN">
                <a:ea typeface="宋体" panose="02010600030101010101" pitchFamily="2" charset="-122"/>
              </a:rPr>
              <a:t>A=B+1</a:t>
            </a:r>
            <a:r>
              <a:rPr lang="zh-CN" altLang="en-US">
                <a:ea typeface="宋体" panose="02010600030101010101" pitchFamily="2" charset="-122"/>
              </a:rPr>
              <a:t>；写回</a:t>
            </a:r>
            <a:r>
              <a:rPr lang="en-US" altLang="zh-CN">
                <a:ea typeface="宋体" panose="02010600030101010101" pitchFamily="2" charset="-122"/>
              </a:rPr>
              <a:t>A</a:t>
            </a:r>
          </a:p>
          <a:p>
            <a:pPr lvl="1">
              <a:lnSpc>
                <a:spcPct val="170000"/>
              </a:lnSpc>
            </a:pPr>
            <a:r>
              <a:rPr lang="zh-CN" altLang="en-US">
                <a:ea typeface="宋体" panose="02010600030101010101" pitchFamily="2" charset="-122"/>
              </a:rPr>
              <a:t>事务</a:t>
            </a:r>
            <a:r>
              <a:rPr lang="en-US" altLang="zh-CN">
                <a:ea typeface="宋体" panose="02010600030101010101" pitchFamily="2" charset="-122"/>
              </a:rPr>
              <a:t>T2</a:t>
            </a:r>
            <a:r>
              <a:rPr lang="zh-CN" altLang="en-US">
                <a:ea typeface="宋体" panose="02010600030101010101" pitchFamily="2" charset="-122"/>
              </a:rPr>
              <a:t>：读</a:t>
            </a:r>
            <a:r>
              <a:rPr lang="en-US" altLang="zh-CN">
                <a:ea typeface="宋体" panose="02010600030101010101" pitchFamily="2" charset="-122"/>
              </a:rPr>
              <a:t>A</a:t>
            </a:r>
            <a:r>
              <a:rPr lang="zh-CN" altLang="en-US">
                <a:ea typeface="宋体" panose="02010600030101010101" pitchFamily="2" charset="-122"/>
              </a:rPr>
              <a:t>；</a:t>
            </a:r>
            <a:r>
              <a:rPr lang="en-US" altLang="zh-CN">
                <a:ea typeface="宋体" panose="02010600030101010101" pitchFamily="2" charset="-122"/>
              </a:rPr>
              <a:t>B=A+1</a:t>
            </a:r>
            <a:r>
              <a:rPr lang="zh-CN" altLang="en-US">
                <a:ea typeface="宋体" panose="02010600030101010101" pitchFamily="2" charset="-122"/>
              </a:rPr>
              <a:t>；写回</a:t>
            </a:r>
            <a:r>
              <a:rPr lang="en-US" altLang="zh-CN">
                <a:ea typeface="宋体" panose="02010600030101010101" pitchFamily="2" charset="-122"/>
              </a:rPr>
              <a:t>B</a:t>
            </a:r>
          </a:p>
          <a:p>
            <a:pPr lvl="1">
              <a:lnSpc>
                <a:spcPct val="170000"/>
              </a:lnSpc>
              <a:buFont typeface="Wingdings" panose="05000000000000000000" pitchFamily="2" charset="2"/>
              <a:buNone/>
            </a:pPr>
            <a:r>
              <a:rPr lang="zh-CN" altLang="en-US">
                <a:ea typeface="宋体" panose="02010600030101010101" pitchFamily="2" charset="-122"/>
              </a:rPr>
              <a:t>现给出对这两个事务不同的调度策略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72</a:t>
            </a:fld>
            <a:endParaRPr lang="en-US" altLang="zh-CN"/>
          </a:p>
        </p:txBody>
      </p:sp>
    </p:spTree>
    <p:extLst>
      <p:ext uri="{BB962C8B-B14F-4D97-AF65-F5344CB8AC3E}">
        <p14:creationId xmlns:p14="http://schemas.microsoft.com/office/powerpoint/2010/main" val="4017425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a:ea typeface="宋体" panose="02010600030101010101" pitchFamily="2" charset="-122"/>
              </a:rPr>
              <a:t>串行化调度</a:t>
            </a:r>
            <a:r>
              <a:rPr lang="en-US" altLang="zh-CN">
                <a:ea typeface="宋体" panose="02010600030101010101" pitchFamily="2" charset="-122"/>
              </a:rPr>
              <a:t>,</a:t>
            </a:r>
            <a:r>
              <a:rPr lang="zh-CN" altLang="en-US">
                <a:ea typeface="宋体" panose="02010600030101010101" pitchFamily="2" charset="-122"/>
              </a:rPr>
              <a:t>正确的调度</a:t>
            </a:r>
          </a:p>
        </p:txBody>
      </p:sp>
      <p:graphicFrame>
        <p:nvGraphicFramePr>
          <p:cNvPr id="502308" name="Group 548"/>
          <p:cNvGraphicFramePr>
            <a:graphicFrameLocks noGrp="1"/>
          </p:cNvGraphicFramePr>
          <p:nvPr>
            <p:ph idx="1"/>
          </p:nvPr>
        </p:nvGraphicFramePr>
        <p:xfrm>
          <a:off x="1403350" y="1268413"/>
          <a:ext cx="4013200" cy="5257800"/>
        </p:xfrm>
        <a:graphic>
          <a:graphicData uri="http://schemas.openxmlformats.org/drawingml/2006/table">
            <a:tbl>
              <a:tblPr/>
              <a:tblGrid>
                <a:gridCol w="1976438">
                  <a:extLst>
                    <a:ext uri="{9D8B030D-6E8A-4147-A177-3AD203B41FA5}">
                      <a16:colId xmlns:a16="http://schemas.microsoft.com/office/drawing/2014/main" val="20000"/>
                    </a:ext>
                  </a:extLst>
                </a:gridCol>
                <a:gridCol w="2036762">
                  <a:extLst>
                    <a:ext uri="{9D8B030D-6E8A-4147-A177-3AD203B41FA5}">
                      <a16:colId xmlns:a16="http://schemas.microsoft.com/office/drawing/2014/main" val="20001"/>
                    </a:ext>
                  </a:extLst>
                </a:gridCol>
              </a:tblGrid>
              <a:tr h="1555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X=R(A)=3</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B=X+1=4</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502309" name="Text Box 549"/>
          <p:cNvSpPr txBox="1">
            <a:spLocks noChangeArrowheads="1"/>
          </p:cNvSpPr>
          <p:nvPr/>
        </p:nvSpPr>
        <p:spPr bwMode="auto">
          <a:xfrm>
            <a:off x="2500313" y="6381328"/>
            <a:ext cx="135255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dirty="0"/>
              <a:t>串行调度</a:t>
            </a:r>
            <a:r>
              <a:rPr kumimoji="0" lang="en-US" altLang="zh-CN" sz="1800" b="0" dirty="0"/>
              <a:t>(a)</a:t>
            </a:r>
          </a:p>
        </p:txBody>
      </p:sp>
      <p:sp>
        <p:nvSpPr>
          <p:cNvPr id="502310" name="Text Box 550"/>
          <p:cNvSpPr txBox="1">
            <a:spLocks noChangeArrowheads="1"/>
          </p:cNvSpPr>
          <p:nvPr/>
        </p:nvSpPr>
        <p:spPr bwMode="auto">
          <a:xfrm>
            <a:off x="5300663" y="2276475"/>
            <a:ext cx="3303587" cy="19939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60000"/>
              </a:lnSpc>
              <a:buClr>
                <a:schemeClr val="accent1"/>
              </a:buClr>
              <a:buFont typeface="Wingdings" panose="05000000000000000000" pitchFamily="2" charset="2"/>
              <a:buChar char="n"/>
            </a:pPr>
            <a:r>
              <a:rPr kumimoji="0" lang="zh-CN" altLang="en-US" sz="2000" b="0"/>
              <a:t>假设</a:t>
            </a:r>
            <a:r>
              <a:rPr kumimoji="0" lang="en-US" altLang="zh-CN" sz="2000" b="0"/>
              <a:t>A</a:t>
            </a:r>
            <a:r>
              <a:rPr kumimoji="0" lang="zh-CN" altLang="en-US" sz="2000" b="0"/>
              <a:t>、</a:t>
            </a:r>
            <a:r>
              <a:rPr kumimoji="0" lang="en-US" altLang="zh-CN" sz="2000" b="0"/>
              <a:t>B</a:t>
            </a:r>
            <a:r>
              <a:rPr kumimoji="0" lang="zh-CN" altLang="en-US" sz="2000" b="0"/>
              <a:t>的初值均为</a:t>
            </a:r>
            <a:r>
              <a:rPr kumimoji="0" lang="en-US" altLang="zh-CN" sz="2000" b="0"/>
              <a:t>2</a:t>
            </a:r>
            <a:r>
              <a:rPr kumimoji="0" lang="zh-CN" altLang="en-US" sz="2000" b="0"/>
              <a:t>。</a:t>
            </a:r>
          </a:p>
          <a:p>
            <a:pPr>
              <a:lnSpc>
                <a:spcPct val="160000"/>
              </a:lnSpc>
              <a:buClr>
                <a:schemeClr val="accent1"/>
              </a:buClr>
              <a:buFont typeface="Wingdings" panose="05000000000000000000" pitchFamily="2" charset="2"/>
              <a:buChar char="n"/>
            </a:pPr>
            <a:r>
              <a:rPr kumimoji="0" lang="zh-CN" altLang="en-US" sz="2000" b="0"/>
              <a:t>按</a:t>
            </a:r>
            <a:r>
              <a:rPr kumimoji="0" lang="en-US" altLang="zh-CN" sz="2000" b="0"/>
              <a:t>T1→T2</a:t>
            </a:r>
            <a:r>
              <a:rPr kumimoji="0" lang="zh-CN" altLang="en-US" sz="2000" b="0"/>
              <a:t>次序执行结果为</a:t>
            </a:r>
            <a:r>
              <a:rPr kumimoji="0" lang="en-US" altLang="zh-CN" sz="2000" b="0"/>
              <a:t>A=3</a:t>
            </a:r>
            <a:r>
              <a:rPr kumimoji="0" lang="zh-CN" altLang="en-US" sz="2000" b="0"/>
              <a:t>，</a:t>
            </a:r>
            <a:r>
              <a:rPr kumimoji="0" lang="en-US" altLang="zh-CN" sz="2000" b="0"/>
              <a:t>B=4 </a:t>
            </a:r>
          </a:p>
          <a:p>
            <a:pPr>
              <a:lnSpc>
                <a:spcPct val="160000"/>
              </a:lnSpc>
              <a:buClr>
                <a:schemeClr val="accent1"/>
              </a:buClr>
              <a:buFont typeface="Wingdings" panose="05000000000000000000" pitchFamily="2" charset="2"/>
              <a:buChar char="n"/>
            </a:pPr>
            <a:r>
              <a:rPr kumimoji="0" lang="zh-CN" altLang="en-US" sz="1800" b="0"/>
              <a:t>串行调度策略</a:t>
            </a:r>
            <a:r>
              <a:rPr kumimoji="0" lang="en-US" altLang="zh-CN" sz="1800"/>
              <a:t>,</a:t>
            </a:r>
            <a:r>
              <a:rPr kumimoji="0" lang="zh-CN" altLang="en-US" sz="1800" b="0"/>
              <a:t>正确的调度 </a:t>
            </a:r>
          </a:p>
        </p:txBody>
      </p:sp>
    </p:spTree>
    <p:extLst>
      <p:ext uri="{BB962C8B-B14F-4D97-AF65-F5344CB8AC3E}">
        <p14:creationId xmlns:p14="http://schemas.microsoft.com/office/powerpoint/2010/main" val="3734862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zh-CN" altLang="en-US">
                <a:ea typeface="宋体" panose="02010600030101010101" pitchFamily="2" charset="-122"/>
              </a:rPr>
              <a:t>串行化调度</a:t>
            </a:r>
            <a:r>
              <a:rPr lang="en-US" altLang="zh-CN">
                <a:ea typeface="宋体" panose="02010600030101010101" pitchFamily="2" charset="-122"/>
              </a:rPr>
              <a:t>,</a:t>
            </a:r>
            <a:r>
              <a:rPr lang="zh-CN" altLang="en-US">
                <a:ea typeface="宋体" panose="02010600030101010101" pitchFamily="2" charset="-122"/>
              </a:rPr>
              <a:t>正确的调度</a:t>
            </a:r>
          </a:p>
        </p:txBody>
      </p:sp>
      <p:graphicFrame>
        <p:nvGraphicFramePr>
          <p:cNvPr id="504080" name="Group 272"/>
          <p:cNvGraphicFramePr>
            <a:graphicFrameLocks noGrp="1"/>
          </p:cNvGraphicFramePr>
          <p:nvPr>
            <p:ph idx="1"/>
          </p:nvPr>
        </p:nvGraphicFramePr>
        <p:xfrm>
          <a:off x="611188" y="1412875"/>
          <a:ext cx="3816350" cy="5029200"/>
        </p:xfrm>
        <a:graphic>
          <a:graphicData uri="http://schemas.openxmlformats.org/drawingml/2006/table">
            <a:tbl>
              <a:tblPr/>
              <a:tblGrid>
                <a:gridCol w="1906587">
                  <a:extLst>
                    <a:ext uri="{9D8B030D-6E8A-4147-A177-3AD203B41FA5}">
                      <a16:colId xmlns:a16="http://schemas.microsoft.com/office/drawing/2014/main" val="20000"/>
                    </a:ext>
                  </a:extLst>
                </a:gridCol>
                <a:gridCol w="1909763">
                  <a:extLst>
                    <a:ext uri="{9D8B030D-6E8A-4147-A177-3AD203B41FA5}">
                      <a16:colId xmlns:a16="http://schemas.microsoft.com/office/drawing/2014/main" val="20001"/>
                    </a:ext>
                  </a:extLst>
                </a:gridCol>
              </a:tblGrid>
              <a:tr h="1397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X=R(A)=2</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Y=R(B)=3</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504081" name="Text Box 273"/>
          <p:cNvSpPr txBox="1">
            <a:spLocks noChangeArrowheads="1"/>
          </p:cNvSpPr>
          <p:nvPr/>
        </p:nvSpPr>
        <p:spPr bwMode="auto">
          <a:xfrm>
            <a:off x="1846263" y="6309320"/>
            <a:ext cx="136525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dirty="0"/>
              <a:t>串行调度</a:t>
            </a:r>
            <a:r>
              <a:rPr kumimoji="0" lang="en-US" altLang="zh-CN" sz="1800" b="0" dirty="0"/>
              <a:t>(b)</a:t>
            </a:r>
          </a:p>
        </p:txBody>
      </p:sp>
      <p:sp>
        <p:nvSpPr>
          <p:cNvPr id="504082" name="Text Box 274"/>
          <p:cNvSpPr txBox="1">
            <a:spLocks noChangeArrowheads="1"/>
          </p:cNvSpPr>
          <p:nvPr/>
        </p:nvSpPr>
        <p:spPr bwMode="auto">
          <a:xfrm>
            <a:off x="5300663" y="2276475"/>
            <a:ext cx="3303587" cy="18986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60000"/>
              </a:lnSpc>
              <a:buClr>
                <a:schemeClr val="accent1"/>
              </a:buClr>
              <a:buFont typeface="Wingdings" panose="05000000000000000000" pitchFamily="2" charset="2"/>
              <a:buChar char="n"/>
            </a:pPr>
            <a:r>
              <a:rPr kumimoji="0" lang="zh-CN" altLang="en-US" sz="2000" b="0"/>
              <a:t>假设</a:t>
            </a:r>
            <a:r>
              <a:rPr kumimoji="0" lang="en-US" altLang="zh-CN" sz="2000" b="0"/>
              <a:t>A</a:t>
            </a:r>
            <a:r>
              <a:rPr kumimoji="0" lang="zh-CN" altLang="en-US" sz="2000" b="0"/>
              <a:t>、</a:t>
            </a:r>
            <a:r>
              <a:rPr kumimoji="0" lang="en-US" altLang="zh-CN" sz="2000" b="0"/>
              <a:t>B</a:t>
            </a:r>
            <a:r>
              <a:rPr kumimoji="0" lang="zh-CN" altLang="en-US" sz="2000" b="0"/>
              <a:t>的初值均为</a:t>
            </a:r>
            <a:r>
              <a:rPr kumimoji="0" lang="en-US" altLang="zh-CN" sz="2000" b="0"/>
              <a:t>2</a:t>
            </a:r>
            <a:r>
              <a:rPr kumimoji="0" lang="zh-CN" altLang="en-US" sz="2000" b="0"/>
              <a:t>。</a:t>
            </a:r>
          </a:p>
          <a:p>
            <a:pPr>
              <a:lnSpc>
                <a:spcPct val="160000"/>
              </a:lnSpc>
              <a:buClr>
                <a:schemeClr val="accent1"/>
              </a:buClr>
              <a:buFont typeface="Wingdings" panose="05000000000000000000" pitchFamily="2" charset="2"/>
              <a:buChar char="n"/>
            </a:pPr>
            <a:r>
              <a:rPr kumimoji="0" lang="en-US" altLang="zh-CN" sz="1800" b="0"/>
              <a:t>T2→T1</a:t>
            </a:r>
            <a:r>
              <a:rPr kumimoji="0" lang="zh-CN" altLang="en-US" sz="1800" b="0"/>
              <a:t>次序执行结果为</a:t>
            </a:r>
            <a:r>
              <a:rPr kumimoji="0" lang="en-US" altLang="zh-CN" sz="1800" b="0"/>
              <a:t>B=3</a:t>
            </a:r>
            <a:r>
              <a:rPr kumimoji="0" lang="zh-CN" altLang="en-US" sz="1800" b="0"/>
              <a:t>，</a:t>
            </a:r>
            <a:r>
              <a:rPr kumimoji="0" lang="en-US" altLang="zh-CN" sz="1800" b="0"/>
              <a:t>A=4</a:t>
            </a:r>
            <a:r>
              <a:rPr kumimoji="0" lang="en-US" altLang="zh-CN" sz="1800"/>
              <a:t> </a:t>
            </a:r>
            <a:endParaRPr kumimoji="0" lang="en-US" altLang="zh-CN" sz="2000" b="0"/>
          </a:p>
          <a:p>
            <a:pPr>
              <a:lnSpc>
                <a:spcPct val="160000"/>
              </a:lnSpc>
              <a:buClr>
                <a:schemeClr val="accent1"/>
              </a:buClr>
              <a:buFont typeface="Wingdings" panose="05000000000000000000" pitchFamily="2" charset="2"/>
              <a:buChar char="n"/>
            </a:pPr>
            <a:r>
              <a:rPr kumimoji="0" lang="zh-CN" altLang="en-US" sz="1800" b="0"/>
              <a:t>串行调度策略</a:t>
            </a:r>
            <a:r>
              <a:rPr kumimoji="0" lang="en-US" altLang="zh-CN" sz="1800"/>
              <a:t>,</a:t>
            </a:r>
            <a:r>
              <a:rPr kumimoji="0" lang="zh-CN" altLang="en-US" sz="1800" b="0"/>
              <a:t>正确的调度 </a:t>
            </a:r>
          </a:p>
        </p:txBody>
      </p:sp>
    </p:spTree>
    <p:extLst>
      <p:ext uri="{BB962C8B-B14F-4D97-AF65-F5344CB8AC3E}">
        <p14:creationId xmlns:p14="http://schemas.microsoft.com/office/powerpoint/2010/main" val="31324396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r>
              <a:rPr lang="zh-CN" altLang="en-US">
                <a:ea typeface="宋体" panose="02010600030101010101" pitchFamily="2" charset="-122"/>
              </a:rPr>
              <a:t>不可串行化调度，错误的调度</a:t>
            </a:r>
          </a:p>
        </p:txBody>
      </p:sp>
      <p:graphicFrame>
        <p:nvGraphicFramePr>
          <p:cNvPr id="506125" name="Group 269"/>
          <p:cNvGraphicFramePr>
            <a:graphicFrameLocks noGrp="1"/>
          </p:cNvGraphicFramePr>
          <p:nvPr>
            <p:ph idx="1"/>
          </p:nvPr>
        </p:nvGraphicFramePr>
        <p:xfrm>
          <a:off x="468313" y="1484313"/>
          <a:ext cx="5111750" cy="5029200"/>
        </p:xfrm>
        <a:graphic>
          <a:graphicData uri="http://schemas.openxmlformats.org/drawingml/2006/table">
            <a:tbl>
              <a:tblPr/>
              <a:tblGrid>
                <a:gridCol w="2552700">
                  <a:extLst>
                    <a:ext uri="{9D8B030D-6E8A-4147-A177-3AD203B41FA5}">
                      <a16:colId xmlns:a16="http://schemas.microsoft.com/office/drawing/2014/main" val="20000"/>
                    </a:ext>
                  </a:extLst>
                </a:gridCol>
                <a:gridCol w="2559050">
                  <a:extLst>
                    <a:ext uri="{9D8B030D-6E8A-4147-A177-3AD203B41FA5}">
                      <a16:colId xmlns:a16="http://schemas.microsoft.com/office/drawing/2014/main" val="20001"/>
                    </a:ext>
                  </a:extLst>
                </a:gridCol>
              </a:tblGrid>
              <a:tr h="1555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X=R(A)=2</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Unlock B</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506092" name="Text Box 236"/>
          <p:cNvSpPr txBox="1">
            <a:spLocks noChangeArrowheads="1"/>
          </p:cNvSpPr>
          <p:nvPr/>
        </p:nvSpPr>
        <p:spPr bwMode="auto">
          <a:xfrm>
            <a:off x="1482725" y="6309320"/>
            <a:ext cx="20701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dirty="0"/>
              <a:t>不可串行化的调度</a:t>
            </a:r>
            <a:r>
              <a:rPr kumimoji="0" lang="zh-CN" altLang="en-US" sz="1800" dirty="0"/>
              <a:t> </a:t>
            </a:r>
          </a:p>
        </p:txBody>
      </p:sp>
      <p:sp>
        <p:nvSpPr>
          <p:cNvPr id="506093" name="Text Box 237"/>
          <p:cNvSpPr txBox="1">
            <a:spLocks noChangeArrowheads="1"/>
          </p:cNvSpPr>
          <p:nvPr/>
        </p:nvSpPr>
        <p:spPr bwMode="auto">
          <a:xfrm>
            <a:off x="5508625" y="2276475"/>
            <a:ext cx="3203575" cy="16446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70000"/>
              </a:lnSpc>
              <a:buClr>
                <a:schemeClr val="accent1"/>
              </a:buClr>
              <a:buFont typeface="Wingdings" panose="05000000000000000000" pitchFamily="2" charset="2"/>
              <a:buChar char="n"/>
            </a:pPr>
            <a:r>
              <a:rPr kumimoji="0" lang="zh-CN" altLang="en-US" sz="2000" b="0"/>
              <a:t>执行结果与</a:t>
            </a:r>
            <a:r>
              <a:rPr kumimoji="0" lang="en-US" altLang="zh-CN" sz="2000" b="0"/>
              <a:t>(a)</a:t>
            </a:r>
            <a:r>
              <a:rPr kumimoji="0" lang="zh-CN" altLang="en-US" sz="2000" b="0"/>
              <a:t>、</a:t>
            </a:r>
            <a:r>
              <a:rPr kumimoji="0" lang="en-US" altLang="zh-CN" sz="2000" b="0"/>
              <a:t>(b)</a:t>
            </a:r>
            <a:r>
              <a:rPr kumimoji="0" lang="zh-CN" altLang="en-US" sz="2000" b="0"/>
              <a:t>的结果都不同</a:t>
            </a:r>
          </a:p>
          <a:p>
            <a:pPr>
              <a:lnSpc>
                <a:spcPct val="170000"/>
              </a:lnSpc>
              <a:buClr>
                <a:schemeClr val="accent1"/>
              </a:buClr>
              <a:buFont typeface="Wingdings" panose="05000000000000000000" pitchFamily="2" charset="2"/>
              <a:buChar char="n"/>
            </a:pPr>
            <a:r>
              <a:rPr kumimoji="0" lang="zh-CN" altLang="en-US" sz="2000" b="0"/>
              <a:t>是错误的调度 </a:t>
            </a:r>
          </a:p>
        </p:txBody>
      </p:sp>
    </p:spTree>
    <p:extLst>
      <p:ext uri="{BB962C8B-B14F-4D97-AF65-F5344CB8AC3E}">
        <p14:creationId xmlns:p14="http://schemas.microsoft.com/office/powerpoint/2010/main" val="11426500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r>
              <a:rPr lang="zh-CN" altLang="en-US">
                <a:ea typeface="宋体" panose="02010600030101010101" pitchFamily="2" charset="-122"/>
              </a:rPr>
              <a:t>可串行化调度，正确的调度</a:t>
            </a:r>
          </a:p>
        </p:txBody>
      </p:sp>
      <p:graphicFrame>
        <p:nvGraphicFramePr>
          <p:cNvPr id="508203" name="Group 299"/>
          <p:cNvGraphicFramePr>
            <a:graphicFrameLocks noGrp="1"/>
          </p:cNvGraphicFramePr>
          <p:nvPr>
            <p:ph idx="1"/>
          </p:nvPr>
        </p:nvGraphicFramePr>
        <p:xfrm>
          <a:off x="468313" y="1484313"/>
          <a:ext cx="5410200" cy="5029200"/>
        </p:xfrm>
        <a:graphic>
          <a:graphicData uri="http://schemas.openxmlformats.org/drawingml/2006/table">
            <a:tbl>
              <a:tblPr/>
              <a:tblGrid>
                <a:gridCol w="271780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tblGrid>
              <a:tr h="1730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730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730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7462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X=R(A)=3</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Unlock B</a:t>
                      </a: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508142" name="Text Box 238"/>
          <p:cNvSpPr txBox="1">
            <a:spLocks noChangeArrowheads="1"/>
          </p:cNvSpPr>
          <p:nvPr/>
        </p:nvSpPr>
        <p:spPr bwMode="auto">
          <a:xfrm>
            <a:off x="1697038" y="6309320"/>
            <a:ext cx="18415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b="0" dirty="0"/>
              <a:t>可串行化的调度</a:t>
            </a:r>
            <a:r>
              <a:rPr kumimoji="0" lang="zh-CN" altLang="en-US" sz="1800" dirty="0"/>
              <a:t> </a:t>
            </a:r>
          </a:p>
        </p:txBody>
      </p:sp>
      <p:sp>
        <p:nvSpPr>
          <p:cNvPr id="508143" name="Text Box 239"/>
          <p:cNvSpPr txBox="1">
            <a:spLocks noChangeArrowheads="1"/>
          </p:cNvSpPr>
          <p:nvPr/>
        </p:nvSpPr>
        <p:spPr bwMode="auto">
          <a:xfrm>
            <a:off x="5940425" y="2276475"/>
            <a:ext cx="2952750" cy="16446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70000"/>
              </a:lnSpc>
              <a:buClr>
                <a:schemeClr val="accent1"/>
              </a:buClr>
              <a:buFont typeface="Wingdings" panose="05000000000000000000" pitchFamily="2" charset="2"/>
              <a:buChar char="n"/>
            </a:pPr>
            <a:r>
              <a:rPr kumimoji="0" lang="zh-CN" altLang="en-US" sz="2000" b="0"/>
              <a:t>执行结果与串行调度</a:t>
            </a:r>
            <a:r>
              <a:rPr kumimoji="0" lang="en-US" altLang="zh-CN" sz="2000" b="0"/>
              <a:t>(a)</a:t>
            </a:r>
            <a:r>
              <a:rPr kumimoji="0" lang="zh-CN" altLang="en-US" sz="2000" b="0"/>
              <a:t>的执行结果相同</a:t>
            </a:r>
          </a:p>
          <a:p>
            <a:pPr>
              <a:lnSpc>
                <a:spcPct val="170000"/>
              </a:lnSpc>
              <a:buClr>
                <a:schemeClr val="accent1"/>
              </a:buClr>
              <a:buFont typeface="Wingdings" panose="05000000000000000000" pitchFamily="2" charset="2"/>
              <a:buChar char="n"/>
            </a:pPr>
            <a:r>
              <a:rPr kumimoji="0" lang="zh-CN" altLang="en-US" sz="2000" b="0"/>
              <a:t>是正确的调度 </a:t>
            </a:r>
          </a:p>
        </p:txBody>
      </p:sp>
    </p:spTree>
    <p:extLst>
      <p:ext uri="{BB962C8B-B14F-4D97-AF65-F5344CB8AC3E}">
        <p14:creationId xmlns:p14="http://schemas.microsoft.com/office/powerpoint/2010/main" val="32903552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r>
              <a:rPr lang="en-US" altLang="zh-CN" dirty="0">
                <a:ea typeface="宋体" panose="02010600030101010101" pitchFamily="2" charset="-122"/>
              </a:rPr>
              <a:t>8.4.2  </a:t>
            </a:r>
            <a:r>
              <a:rPr lang="zh-CN" altLang="en-US" dirty="0">
                <a:ea typeface="宋体" panose="02010600030101010101" pitchFamily="2" charset="-122"/>
              </a:rPr>
              <a:t>冲突可串行化调度</a:t>
            </a:r>
          </a:p>
        </p:txBody>
      </p:sp>
      <p:sp>
        <p:nvSpPr>
          <p:cNvPr id="509955" name="Rectangle 3"/>
          <p:cNvSpPr>
            <a:spLocks noGrp="1" noChangeArrowheads="1"/>
          </p:cNvSpPr>
          <p:nvPr>
            <p:ph type="body" idx="1"/>
          </p:nvPr>
        </p:nvSpPr>
        <p:spPr/>
        <p:txBody>
          <a:bodyPr/>
          <a:lstStyle/>
          <a:p>
            <a:pPr>
              <a:lnSpc>
                <a:spcPct val="170000"/>
              </a:lnSpc>
            </a:pPr>
            <a:r>
              <a:rPr lang="zh-CN" altLang="en-US">
                <a:ea typeface="宋体" panose="02010600030101010101" pitchFamily="2" charset="-122"/>
              </a:rPr>
              <a:t>可串行化调度的</a:t>
            </a:r>
            <a:r>
              <a:rPr lang="zh-CN" altLang="en-US" b="1">
                <a:solidFill>
                  <a:srgbClr val="FF00FF"/>
                </a:solidFill>
                <a:ea typeface="宋体" panose="02010600030101010101" pitchFamily="2" charset="-122"/>
              </a:rPr>
              <a:t>充分条件</a:t>
            </a:r>
          </a:p>
          <a:p>
            <a:pPr lvl="1">
              <a:lnSpc>
                <a:spcPct val="170000"/>
              </a:lnSpc>
            </a:pPr>
            <a:r>
              <a:rPr lang="zh-CN" altLang="en-US" sz="2200">
                <a:ea typeface="宋体" panose="02010600030101010101" pitchFamily="2" charset="-122"/>
              </a:rPr>
              <a:t>一个调度</a:t>
            </a:r>
            <a:r>
              <a:rPr lang="en-US" altLang="zh-CN" sz="2200">
                <a:ea typeface="宋体" panose="02010600030101010101" pitchFamily="2" charset="-122"/>
              </a:rPr>
              <a:t>Sc</a:t>
            </a:r>
            <a:r>
              <a:rPr lang="zh-CN" altLang="en-US" sz="2200">
                <a:ea typeface="宋体" panose="02010600030101010101" pitchFamily="2" charset="-122"/>
              </a:rPr>
              <a:t>在保证</a:t>
            </a:r>
            <a:r>
              <a:rPr lang="zh-CN" altLang="en-US" sz="2200" b="1">
                <a:solidFill>
                  <a:srgbClr val="4B7D1D"/>
                </a:solidFill>
                <a:ea typeface="宋体" panose="02010600030101010101" pitchFamily="2" charset="-122"/>
              </a:rPr>
              <a:t>冲突操作</a:t>
            </a:r>
            <a:r>
              <a:rPr lang="zh-CN" altLang="en-US" sz="2200">
                <a:ea typeface="宋体" panose="02010600030101010101" pitchFamily="2" charset="-122"/>
              </a:rPr>
              <a:t>的次序不变的情况下，通过交换两个事务不冲突操作的次序得到另一个调度</a:t>
            </a:r>
            <a:r>
              <a:rPr lang="en-US" altLang="zh-CN" sz="2200">
                <a:ea typeface="宋体" panose="02010600030101010101" pitchFamily="2" charset="-122"/>
              </a:rPr>
              <a:t>Sc‘</a:t>
            </a:r>
            <a:r>
              <a:rPr lang="zh-CN" altLang="en-US" sz="2200">
                <a:ea typeface="宋体" panose="02010600030101010101" pitchFamily="2" charset="-122"/>
              </a:rPr>
              <a:t>，如果</a:t>
            </a:r>
            <a:r>
              <a:rPr lang="en-US" altLang="zh-CN" sz="2200">
                <a:ea typeface="宋体" panose="02010600030101010101" pitchFamily="2" charset="-122"/>
              </a:rPr>
              <a:t>Sc’</a:t>
            </a:r>
            <a:r>
              <a:rPr lang="zh-CN" altLang="en-US" sz="2200">
                <a:ea typeface="宋体" panose="02010600030101010101" pitchFamily="2" charset="-122"/>
              </a:rPr>
              <a:t>是串行的，称调度</a:t>
            </a:r>
            <a:r>
              <a:rPr lang="en-US" altLang="zh-CN" sz="2200">
                <a:ea typeface="宋体" panose="02010600030101010101" pitchFamily="2" charset="-122"/>
              </a:rPr>
              <a:t>Sc</a:t>
            </a:r>
            <a:r>
              <a:rPr lang="zh-CN" altLang="en-US" sz="2200">
                <a:ea typeface="宋体" panose="02010600030101010101" pitchFamily="2" charset="-122"/>
              </a:rPr>
              <a:t>为冲突可串行化的调度</a:t>
            </a:r>
          </a:p>
          <a:p>
            <a:pPr lvl="1">
              <a:lnSpc>
                <a:spcPct val="170000"/>
              </a:lnSpc>
            </a:pPr>
            <a:r>
              <a:rPr lang="zh-CN" altLang="en-US" sz="2200">
                <a:ea typeface="宋体" panose="02010600030101010101" pitchFamily="2" charset="-122"/>
              </a:rPr>
              <a:t>一个调度是冲突可串行化，一定是可串行化的调度</a:t>
            </a:r>
            <a:endParaRPr lang="zh-CN" altLang="en-US" sz="2200" b="1">
              <a:solidFill>
                <a:srgbClr val="FF66FF"/>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77</a:t>
            </a:fld>
            <a:endParaRPr lang="en-US" altLang="zh-CN"/>
          </a:p>
        </p:txBody>
      </p:sp>
    </p:spTree>
    <p:extLst>
      <p:ext uri="{BB962C8B-B14F-4D97-AF65-F5344CB8AC3E}">
        <p14:creationId xmlns:p14="http://schemas.microsoft.com/office/powerpoint/2010/main" val="38474204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r>
              <a:rPr lang="zh-CN" altLang="en-US">
                <a:ea typeface="宋体" panose="02010600030101010101" pitchFamily="2" charset="-122"/>
              </a:rPr>
              <a:t>冲突可串行化调度（续）</a:t>
            </a:r>
          </a:p>
        </p:txBody>
      </p:sp>
      <p:sp>
        <p:nvSpPr>
          <p:cNvPr id="510979" name="Rectangle 3"/>
          <p:cNvSpPr>
            <a:spLocks noGrp="1" noChangeArrowheads="1"/>
          </p:cNvSpPr>
          <p:nvPr>
            <p:ph type="body" idx="1"/>
          </p:nvPr>
        </p:nvSpPr>
        <p:spPr/>
        <p:txBody>
          <a:bodyPr/>
          <a:lstStyle/>
          <a:p>
            <a:pPr>
              <a:buFont typeface="Wingdings" panose="05000000000000000000" pitchFamily="2" charset="2"/>
              <a:buNone/>
            </a:pPr>
            <a:r>
              <a:rPr lang="zh-CN" altLang="en-US" sz="2600" b="1" dirty="0">
                <a:solidFill>
                  <a:srgbClr val="4B7D1D"/>
                </a:solidFill>
                <a:ea typeface="宋体" panose="02010600030101010101" pitchFamily="2" charset="-122"/>
              </a:rPr>
              <a:t>冲突操作</a:t>
            </a:r>
          </a:p>
          <a:p>
            <a:pPr>
              <a:lnSpc>
                <a:spcPct val="140000"/>
              </a:lnSpc>
            </a:pPr>
            <a:r>
              <a:rPr lang="zh-CN" altLang="en-US" sz="2400" dirty="0">
                <a:ea typeface="宋体" panose="02010600030101010101" pitchFamily="2" charset="-122"/>
              </a:rPr>
              <a:t>冲突操作是指不同的事务对</a:t>
            </a:r>
            <a:r>
              <a:rPr lang="zh-CN" altLang="en-US" sz="2400" dirty="0">
                <a:solidFill>
                  <a:srgbClr val="FF0000"/>
                </a:solidFill>
                <a:ea typeface="宋体" panose="02010600030101010101" pitchFamily="2" charset="-122"/>
              </a:rPr>
              <a:t>同一个数据</a:t>
            </a:r>
            <a:r>
              <a:rPr lang="zh-CN" altLang="en-US" sz="2400" dirty="0">
                <a:ea typeface="宋体" panose="02010600030101010101" pitchFamily="2" charset="-122"/>
              </a:rPr>
              <a:t>的读写操作和写写操作</a:t>
            </a:r>
          </a:p>
          <a:p>
            <a:pPr lvl="1">
              <a:lnSpc>
                <a:spcPct val="140000"/>
              </a:lnSpc>
            </a:pPr>
            <a:r>
              <a:rPr lang="en-US" altLang="zh-CN" sz="2200" dirty="0">
                <a:ea typeface="宋体" panose="02010600030101010101" pitchFamily="2" charset="-122"/>
              </a:rPr>
              <a:t>Ri (x)</a:t>
            </a:r>
            <a:r>
              <a:rPr lang="zh-CN" altLang="en-US" sz="2200" dirty="0">
                <a:ea typeface="宋体" panose="02010600030101010101" pitchFamily="2" charset="-122"/>
              </a:rPr>
              <a:t>与</a:t>
            </a:r>
            <a:r>
              <a:rPr lang="en-US" altLang="zh-CN" sz="2200" dirty="0" err="1">
                <a:ea typeface="宋体" panose="02010600030101010101" pitchFamily="2" charset="-122"/>
              </a:rPr>
              <a:t>Wj</a:t>
            </a:r>
            <a:r>
              <a:rPr lang="en-US" altLang="zh-CN" sz="2200" dirty="0">
                <a:ea typeface="宋体" panose="02010600030101010101" pitchFamily="2" charset="-122"/>
              </a:rPr>
              <a:t>(x)	          /* </a:t>
            </a:r>
            <a:r>
              <a:rPr lang="zh-CN" altLang="en-US" sz="2200" dirty="0">
                <a:ea typeface="宋体" panose="02010600030101010101" pitchFamily="2" charset="-122"/>
              </a:rPr>
              <a:t>事务</a:t>
            </a:r>
            <a:r>
              <a:rPr lang="en-US" altLang="zh-CN" sz="2200" dirty="0" err="1">
                <a:ea typeface="宋体" panose="02010600030101010101" pitchFamily="2" charset="-122"/>
              </a:rPr>
              <a:t>Ti</a:t>
            </a:r>
            <a:r>
              <a:rPr lang="zh-CN" altLang="en-US" sz="2200" dirty="0">
                <a:ea typeface="宋体" panose="02010600030101010101" pitchFamily="2" charset="-122"/>
              </a:rPr>
              <a:t>读</a:t>
            </a:r>
            <a:r>
              <a:rPr lang="en-US" altLang="zh-CN" sz="2200" dirty="0">
                <a:ea typeface="宋体" panose="02010600030101010101" pitchFamily="2" charset="-122"/>
              </a:rPr>
              <a:t>x</a:t>
            </a:r>
            <a:r>
              <a:rPr lang="zh-CN" altLang="en-US" sz="2200" dirty="0">
                <a:ea typeface="宋体" panose="02010600030101010101" pitchFamily="2" charset="-122"/>
              </a:rPr>
              <a:t>，</a:t>
            </a:r>
            <a:r>
              <a:rPr lang="en-US" altLang="zh-CN" sz="2200" dirty="0" err="1">
                <a:ea typeface="宋体" panose="02010600030101010101" pitchFamily="2" charset="-122"/>
              </a:rPr>
              <a:t>Tj</a:t>
            </a:r>
            <a:r>
              <a:rPr lang="zh-CN" altLang="en-US" sz="2200" dirty="0">
                <a:ea typeface="宋体" panose="02010600030101010101" pitchFamily="2" charset="-122"/>
              </a:rPr>
              <a:t>写</a:t>
            </a:r>
            <a:r>
              <a:rPr lang="en-US" altLang="zh-CN" sz="2200" dirty="0">
                <a:ea typeface="宋体" panose="02010600030101010101" pitchFamily="2" charset="-122"/>
              </a:rPr>
              <a:t>x*/</a:t>
            </a:r>
          </a:p>
          <a:p>
            <a:pPr lvl="1">
              <a:lnSpc>
                <a:spcPct val="140000"/>
              </a:lnSpc>
            </a:pPr>
            <a:r>
              <a:rPr lang="en-US" altLang="zh-CN" sz="2200" dirty="0">
                <a:ea typeface="宋体" panose="02010600030101010101" pitchFamily="2" charset="-122"/>
              </a:rPr>
              <a:t>Wi(x)</a:t>
            </a:r>
            <a:r>
              <a:rPr lang="zh-CN" altLang="en-US" sz="2200" dirty="0">
                <a:ea typeface="宋体" panose="02010600030101010101" pitchFamily="2" charset="-122"/>
              </a:rPr>
              <a:t>与</a:t>
            </a:r>
            <a:r>
              <a:rPr lang="en-US" altLang="zh-CN" sz="2200" dirty="0" err="1">
                <a:ea typeface="宋体" panose="02010600030101010101" pitchFamily="2" charset="-122"/>
              </a:rPr>
              <a:t>Wj</a:t>
            </a:r>
            <a:r>
              <a:rPr lang="en-US" altLang="zh-CN" sz="2200" dirty="0">
                <a:ea typeface="宋体" panose="02010600030101010101" pitchFamily="2" charset="-122"/>
              </a:rPr>
              <a:t>(x)	          /* </a:t>
            </a:r>
            <a:r>
              <a:rPr lang="zh-CN" altLang="en-US" sz="2200" dirty="0">
                <a:ea typeface="宋体" panose="02010600030101010101" pitchFamily="2" charset="-122"/>
              </a:rPr>
              <a:t>事务</a:t>
            </a:r>
            <a:r>
              <a:rPr lang="en-US" altLang="zh-CN" sz="2200" dirty="0" err="1">
                <a:ea typeface="宋体" panose="02010600030101010101" pitchFamily="2" charset="-122"/>
              </a:rPr>
              <a:t>Ti</a:t>
            </a:r>
            <a:r>
              <a:rPr lang="zh-CN" altLang="en-US" sz="2200" dirty="0">
                <a:ea typeface="宋体" panose="02010600030101010101" pitchFamily="2" charset="-122"/>
              </a:rPr>
              <a:t>写</a:t>
            </a:r>
            <a:r>
              <a:rPr lang="en-US" altLang="zh-CN" sz="2200" dirty="0">
                <a:ea typeface="宋体" panose="02010600030101010101" pitchFamily="2" charset="-122"/>
              </a:rPr>
              <a:t>x</a:t>
            </a:r>
            <a:r>
              <a:rPr lang="zh-CN" altLang="en-US" sz="2200" dirty="0">
                <a:ea typeface="宋体" panose="02010600030101010101" pitchFamily="2" charset="-122"/>
              </a:rPr>
              <a:t>，</a:t>
            </a:r>
            <a:r>
              <a:rPr lang="en-US" altLang="zh-CN" sz="2200" dirty="0" err="1">
                <a:ea typeface="宋体" panose="02010600030101010101" pitchFamily="2" charset="-122"/>
              </a:rPr>
              <a:t>Tj</a:t>
            </a:r>
            <a:r>
              <a:rPr lang="zh-CN" altLang="en-US" sz="2200" dirty="0">
                <a:ea typeface="宋体" panose="02010600030101010101" pitchFamily="2" charset="-122"/>
              </a:rPr>
              <a:t>写</a:t>
            </a:r>
            <a:r>
              <a:rPr lang="en-US" altLang="zh-CN" sz="2200" dirty="0">
                <a:ea typeface="宋体" panose="02010600030101010101" pitchFamily="2" charset="-122"/>
              </a:rPr>
              <a:t>x*/</a:t>
            </a:r>
          </a:p>
          <a:p>
            <a:pPr>
              <a:lnSpc>
                <a:spcPct val="140000"/>
              </a:lnSpc>
            </a:pPr>
            <a:r>
              <a:rPr lang="zh-CN" altLang="en-US" sz="2400" dirty="0">
                <a:ea typeface="宋体" panose="02010600030101010101" pitchFamily="2" charset="-122"/>
              </a:rPr>
              <a:t>其他操作是不冲突操作</a:t>
            </a:r>
          </a:p>
          <a:p>
            <a:pPr>
              <a:lnSpc>
                <a:spcPct val="140000"/>
              </a:lnSpc>
            </a:pPr>
            <a:r>
              <a:rPr lang="zh-CN" altLang="en-US" sz="2400" dirty="0">
                <a:ea typeface="宋体" panose="02010600030101010101" pitchFamily="2" charset="-122"/>
              </a:rPr>
              <a:t>不同事务的冲突操作和同一事务的两个操作不能交换</a:t>
            </a:r>
            <a:r>
              <a:rPr lang="en-US" altLang="zh-CN" sz="2400" dirty="0">
                <a:ea typeface="宋体" panose="02010600030101010101" pitchFamily="2" charset="-122"/>
              </a:rPr>
              <a:t>(Swap)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78</a:t>
            </a:fld>
            <a:endParaRPr lang="en-US" altLang="zh-CN"/>
          </a:p>
        </p:txBody>
      </p:sp>
    </p:spTree>
    <p:extLst>
      <p:ext uri="{BB962C8B-B14F-4D97-AF65-F5344CB8AC3E}">
        <p14:creationId xmlns:p14="http://schemas.microsoft.com/office/powerpoint/2010/main" val="16734690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p:txBody>
          <a:bodyPr/>
          <a:lstStyle/>
          <a:p>
            <a:r>
              <a:rPr lang="zh-CN" altLang="en-US">
                <a:ea typeface="宋体" panose="02010600030101010101" pitchFamily="2" charset="-122"/>
              </a:rPr>
              <a:t>冲突可串行化调度（续）</a:t>
            </a:r>
          </a:p>
        </p:txBody>
      </p:sp>
      <p:sp>
        <p:nvSpPr>
          <p:cNvPr id="512003" name="Rectangle 3"/>
          <p:cNvSpPr>
            <a:spLocks noGrp="1" noChangeArrowheads="1"/>
          </p:cNvSpPr>
          <p:nvPr>
            <p:ph type="body" idx="1"/>
          </p:nvPr>
        </p:nvSpPr>
        <p:spPr>
          <a:xfrm>
            <a:off x="457200" y="1828800"/>
            <a:ext cx="8362950" cy="4495800"/>
          </a:xfrm>
        </p:spPr>
        <p:txBody>
          <a:bodyPr/>
          <a:lstStyle/>
          <a:p>
            <a:pPr>
              <a:lnSpc>
                <a:spcPct val="160000"/>
              </a:lnSpc>
              <a:buFont typeface="Wingdings" panose="05000000000000000000" pitchFamily="2" charset="2"/>
              <a:buNone/>
            </a:pPr>
            <a:r>
              <a:rPr lang="zh-CN" altLang="en-US" sz="2400">
                <a:ea typeface="宋体" panose="02010600030101010101" pitchFamily="2" charset="-122"/>
              </a:rPr>
              <a:t>［例］今有调度</a:t>
            </a:r>
            <a:r>
              <a:rPr lang="en-US" altLang="zh-CN" sz="2400">
                <a:ea typeface="宋体" panose="02010600030101010101" pitchFamily="2" charset="-122"/>
              </a:rPr>
              <a:t>Sc1=r1(A)w1(A)r2(A)</a:t>
            </a:r>
            <a:r>
              <a:rPr lang="en-US" altLang="zh-CN" sz="2400" u="sng">
                <a:ea typeface="宋体" panose="02010600030101010101" pitchFamily="2" charset="-122"/>
              </a:rPr>
              <a:t>w2(A)</a:t>
            </a:r>
            <a:r>
              <a:rPr lang="en-US" altLang="zh-CN" sz="2400">
                <a:ea typeface="宋体" panose="02010600030101010101" pitchFamily="2" charset="-122"/>
              </a:rPr>
              <a:t>r1(B)w1(B)r2(B)w2(B)</a:t>
            </a:r>
          </a:p>
          <a:p>
            <a:pPr lvl="1">
              <a:lnSpc>
                <a:spcPct val="160000"/>
              </a:lnSpc>
            </a:pPr>
            <a:r>
              <a:rPr lang="zh-CN" altLang="en-US" sz="2200">
                <a:ea typeface="宋体" panose="02010600030101010101" pitchFamily="2" charset="-122"/>
              </a:rPr>
              <a:t>把</a:t>
            </a:r>
            <a:r>
              <a:rPr lang="en-US" altLang="zh-CN" sz="2200">
                <a:ea typeface="宋体" panose="02010600030101010101" pitchFamily="2" charset="-122"/>
              </a:rPr>
              <a:t>w2(A)</a:t>
            </a:r>
            <a:r>
              <a:rPr lang="zh-CN" altLang="en-US" sz="2200">
                <a:ea typeface="宋体" panose="02010600030101010101" pitchFamily="2" charset="-122"/>
              </a:rPr>
              <a:t>与</a:t>
            </a:r>
            <a:r>
              <a:rPr lang="en-US" altLang="zh-CN" sz="2200">
                <a:ea typeface="宋体" panose="02010600030101010101" pitchFamily="2" charset="-122"/>
              </a:rPr>
              <a:t>r1(B)w1(B)</a:t>
            </a:r>
            <a:r>
              <a:rPr lang="zh-CN" altLang="en-US" sz="2200">
                <a:ea typeface="宋体" panose="02010600030101010101" pitchFamily="2" charset="-122"/>
              </a:rPr>
              <a:t>交换，得到：</a:t>
            </a:r>
          </a:p>
          <a:p>
            <a:pPr lvl="1">
              <a:lnSpc>
                <a:spcPct val="160000"/>
              </a:lnSpc>
              <a:buFont typeface="Wingdings" panose="05000000000000000000" pitchFamily="2" charset="2"/>
              <a:buNone/>
            </a:pPr>
            <a:r>
              <a:rPr lang="zh-CN" altLang="en-US" sz="2200">
                <a:ea typeface="宋体" panose="02010600030101010101" pitchFamily="2" charset="-122"/>
              </a:rPr>
              <a:t>    </a:t>
            </a:r>
            <a:r>
              <a:rPr lang="en-US" altLang="zh-CN" sz="2200">
                <a:ea typeface="宋体" panose="02010600030101010101" pitchFamily="2" charset="-122"/>
              </a:rPr>
              <a:t>r1(A)w1(A)</a:t>
            </a:r>
            <a:r>
              <a:rPr lang="en-US" altLang="zh-CN" sz="2200" u="sng">
                <a:ea typeface="宋体" panose="02010600030101010101" pitchFamily="2" charset="-122"/>
              </a:rPr>
              <a:t>r2(A)</a:t>
            </a:r>
            <a:r>
              <a:rPr lang="en-US" altLang="zh-CN" sz="2200">
                <a:ea typeface="宋体" panose="02010600030101010101" pitchFamily="2" charset="-122"/>
              </a:rPr>
              <a:t>r1(B)w1(B)</a:t>
            </a:r>
            <a:r>
              <a:rPr lang="en-US" altLang="zh-CN" sz="2200" u="sng">
                <a:ea typeface="宋体" panose="02010600030101010101" pitchFamily="2" charset="-122"/>
              </a:rPr>
              <a:t>w2(A)</a:t>
            </a:r>
            <a:r>
              <a:rPr lang="en-US" altLang="zh-CN" sz="2200">
                <a:ea typeface="宋体" panose="02010600030101010101" pitchFamily="2" charset="-122"/>
              </a:rPr>
              <a:t>r2(B)w2(B)</a:t>
            </a:r>
          </a:p>
          <a:p>
            <a:pPr lvl="1">
              <a:lnSpc>
                <a:spcPct val="160000"/>
              </a:lnSpc>
            </a:pPr>
            <a:r>
              <a:rPr lang="zh-CN" altLang="en-US" sz="2200">
                <a:ea typeface="宋体" panose="02010600030101010101" pitchFamily="2" charset="-122"/>
              </a:rPr>
              <a:t>再把</a:t>
            </a:r>
            <a:r>
              <a:rPr lang="en-US" altLang="zh-CN" sz="2200">
                <a:ea typeface="宋体" panose="02010600030101010101" pitchFamily="2" charset="-122"/>
              </a:rPr>
              <a:t>r2(A)</a:t>
            </a:r>
            <a:r>
              <a:rPr lang="zh-CN" altLang="en-US" sz="2200">
                <a:ea typeface="宋体" panose="02010600030101010101" pitchFamily="2" charset="-122"/>
              </a:rPr>
              <a:t>与</a:t>
            </a:r>
            <a:r>
              <a:rPr lang="en-US" altLang="zh-CN" sz="2200">
                <a:ea typeface="宋体" panose="02010600030101010101" pitchFamily="2" charset="-122"/>
              </a:rPr>
              <a:t>r1(B)w1(B)</a:t>
            </a:r>
            <a:r>
              <a:rPr lang="zh-CN" altLang="en-US" sz="2200">
                <a:ea typeface="宋体" panose="02010600030101010101" pitchFamily="2" charset="-122"/>
              </a:rPr>
              <a:t>交换：</a:t>
            </a:r>
          </a:p>
          <a:p>
            <a:pPr lvl="1">
              <a:lnSpc>
                <a:spcPct val="160000"/>
              </a:lnSpc>
              <a:buFont typeface="Wingdings" panose="05000000000000000000" pitchFamily="2" charset="2"/>
              <a:buNone/>
            </a:pPr>
            <a:r>
              <a:rPr lang="zh-CN" altLang="en-US" sz="2200">
                <a:ea typeface="宋体" panose="02010600030101010101" pitchFamily="2" charset="-122"/>
              </a:rPr>
              <a:t>   </a:t>
            </a:r>
            <a:r>
              <a:rPr lang="en-US" altLang="zh-CN" sz="2200">
                <a:ea typeface="宋体" panose="02010600030101010101" pitchFamily="2" charset="-122"/>
              </a:rPr>
              <a:t>Sc2</a:t>
            </a:r>
            <a:r>
              <a:rPr lang="zh-CN" altLang="en-US" sz="2200">
                <a:ea typeface="宋体" panose="02010600030101010101" pitchFamily="2" charset="-122"/>
              </a:rPr>
              <a:t>＝</a:t>
            </a:r>
            <a:r>
              <a:rPr lang="en-US" altLang="zh-CN" sz="2200">
                <a:ea typeface="宋体" panose="02010600030101010101" pitchFamily="2" charset="-122"/>
              </a:rPr>
              <a:t>r1(A)w1(A)r1(B)w1(B)</a:t>
            </a:r>
            <a:r>
              <a:rPr lang="en-US" altLang="zh-CN" sz="2200" u="sng">
                <a:ea typeface="宋体" panose="02010600030101010101" pitchFamily="2" charset="-122"/>
              </a:rPr>
              <a:t>r2(A)</a:t>
            </a:r>
            <a:r>
              <a:rPr lang="en-US" altLang="zh-CN" sz="2200">
                <a:ea typeface="宋体" panose="02010600030101010101" pitchFamily="2" charset="-122"/>
              </a:rPr>
              <a:t>w2(A)r2(B)w2(B)</a:t>
            </a:r>
          </a:p>
          <a:p>
            <a:pPr lvl="1">
              <a:lnSpc>
                <a:spcPct val="160000"/>
              </a:lnSpc>
            </a:pPr>
            <a:r>
              <a:rPr lang="en-US" altLang="zh-CN" sz="2200">
                <a:ea typeface="宋体" panose="02010600030101010101" pitchFamily="2" charset="-122"/>
              </a:rPr>
              <a:t>Sc2</a:t>
            </a:r>
            <a:r>
              <a:rPr lang="zh-CN" altLang="en-US" sz="2200">
                <a:ea typeface="宋体" panose="02010600030101010101" pitchFamily="2" charset="-122"/>
              </a:rPr>
              <a:t>等价于一个串行调度</a:t>
            </a:r>
            <a:r>
              <a:rPr lang="en-US" altLang="zh-CN" sz="2200">
                <a:ea typeface="宋体" panose="02010600030101010101" pitchFamily="2" charset="-122"/>
              </a:rPr>
              <a:t>T1</a:t>
            </a:r>
            <a:r>
              <a:rPr lang="zh-CN" altLang="en-US" sz="2200">
                <a:ea typeface="宋体" panose="02010600030101010101" pitchFamily="2" charset="-122"/>
              </a:rPr>
              <a:t>，</a:t>
            </a:r>
            <a:r>
              <a:rPr lang="en-US" altLang="zh-CN" sz="2200">
                <a:ea typeface="宋体" panose="02010600030101010101" pitchFamily="2" charset="-122"/>
              </a:rPr>
              <a:t>T2</a:t>
            </a:r>
            <a:r>
              <a:rPr lang="zh-CN" altLang="en-US" sz="2200">
                <a:ea typeface="宋体" panose="02010600030101010101" pitchFamily="2" charset="-122"/>
              </a:rPr>
              <a:t>，</a:t>
            </a:r>
            <a:r>
              <a:rPr lang="en-US" altLang="zh-CN" sz="2200">
                <a:ea typeface="宋体" panose="02010600030101010101" pitchFamily="2" charset="-122"/>
              </a:rPr>
              <a:t>Sc1</a:t>
            </a:r>
            <a:r>
              <a:rPr lang="zh-CN" altLang="en-US" sz="2200">
                <a:ea typeface="宋体" panose="02010600030101010101" pitchFamily="2" charset="-122"/>
              </a:rPr>
              <a:t>冲突可串行化的调度</a:t>
            </a:r>
            <a:endParaRPr lang="zh-CN" altLang="en-US">
              <a:ea typeface="宋体" panose="02010600030101010101" pitchFamily="2" charset="-122"/>
            </a:endParaRPr>
          </a:p>
          <a:p>
            <a:pPr>
              <a:lnSpc>
                <a:spcPct val="120000"/>
              </a:lnSpc>
            </a:pPr>
            <a:endParaRPr lang="en-US" altLang="zh-CN" sz="24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79</a:t>
            </a:fld>
            <a:endParaRPr lang="en-US" altLang="zh-CN"/>
          </a:p>
        </p:txBody>
      </p:sp>
    </p:spTree>
    <p:extLst>
      <p:ext uri="{BB962C8B-B14F-4D97-AF65-F5344CB8AC3E}">
        <p14:creationId xmlns:p14="http://schemas.microsoft.com/office/powerpoint/2010/main" val="21431215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r>
              <a:rPr lang="zh-CN" altLang="en-US">
                <a:ea typeface="宋体" panose="02010600030101010101" pitchFamily="2" charset="-122"/>
              </a:rPr>
              <a:t>冲突可串行化调度（续）</a:t>
            </a:r>
          </a:p>
        </p:txBody>
      </p:sp>
      <p:sp>
        <p:nvSpPr>
          <p:cNvPr id="513027" name="Rectangle 3"/>
          <p:cNvSpPr>
            <a:spLocks noGrp="1" noChangeArrowheads="1"/>
          </p:cNvSpPr>
          <p:nvPr>
            <p:ph type="body" idx="1"/>
          </p:nvPr>
        </p:nvSpPr>
        <p:spPr/>
        <p:txBody>
          <a:bodyPr/>
          <a:lstStyle/>
          <a:p>
            <a:pPr>
              <a:lnSpc>
                <a:spcPct val="130000"/>
              </a:lnSpc>
            </a:pPr>
            <a:r>
              <a:rPr lang="zh-CN" altLang="en-US" sz="2400">
                <a:ea typeface="宋体" panose="02010600030101010101" pitchFamily="2" charset="-122"/>
              </a:rPr>
              <a:t>冲突可串行化调度是可串行化调度的</a:t>
            </a:r>
            <a:r>
              <a:rPr lang="zh-CN" altLang="en-US" sz="2400">
                <a:solidFill>
                  <a:srgbClr val="FF00FF"/>
                </a:solidFill>
                <a:ea typeface="宋体" panose="02010600030101010101" pitchFamily="2" charset="-122"/>
              </a:rPr>
              <a:t>充分条件</a:t>
            </a:r>
            <a:r>
              <a:rPr lang="zh-CN" altLang="en-US" sz="2400">
                <a:ea typeface="宋体" panose="02010600030101010101" pitchFamily="2" charset="-122"/>
              </a:rPr>
              <a:t>，不是必要条件。还有不满足冲突可串行化条件的可串行化调度。</a:t>
            </a:r>
            <a:endParaRPr lang="zh-CN" altLang="en-US">
              <a:ea typeface="宋体" panose="02010600030101010101" pitchFamily="2" charset="-122"/>
            </a:endParaRPr>
          </a:p>
          <a:p>
            <a:pPr>
              <a:lnSpc>
                <a:spcPct val="130000"/>
              </a:lnSpc>
              <a:buFont typeface="Wingdings" panose="05000000000000000000" pitchFamily="2" charset="2"/>
              <a:buNone/>
            </a:pPr>
            <a:r>
              <a:rPr lang="zh-CN" altLang="en-US" sz="2400">
                <a:ea typeface="宋体" panose="02010600030101010101" pitchFamily="2" charset="-122"/>
              </a:rPr>
              <a:t>    </a:t>
            </a:r>
            <a:r>
              <a:rPr lang="en-US" altLang="zh-CN" sz="2400">
                <a:ea typeface="宋体" panose="02010600030101010101" pitchFamily="2" charset="-122"/>
              </a:rPr>
              <a:t>[</a:t>
            </a:r>
            <a:r>
              <a:rPr lang="zh-CN" altLang="en-US" sz="2400">
                <a:ea typeface="宋体" panose="02010600030101010101" pitchFamily="2" charset="-122"/>
              </a:rPr>
              <a:t>例</a:t>
            </a:r>
            <a:r>
              <a:rPr lang="en-US" altLang="zh-CN" sz="2400">
                <a:ea typeface="宋体" panose="02010600030101010101" pitchFamily="2" charset="-122"/>
              </a:rPr>
              <a:t>]</a:t>
            </a:r>
            <a:r>
              <a:rPr lang="zh-CN" altLang="en-US" sz="2400">
                <a:ea typeface="宋体" panose="02010600030101010101" pitchFamily="2" charset="-122"/>
              </a:rPr>
              <a:t>有</a:t>
            </a:r>
            <a:r>
              <a:rPr lang="en-US" altLang="zh-CN" sz="2400">
                <a:ea typeface="宋体" panose="02010600030101010101" pitchFamily="2" charset="-122"/>
              </a:rPr>
              <a:t>3</a:t>
            </a:r>
            <a:r>
              <a:rPr lang="zh-CN" altLang="en-US" sz="2400">
                <a:ea typeface="宋体" panose="02010600030101010101" pitchFamily="2" charset="-122"/>
              </a:rPr>
              <a:t>个事务</a:t>
            </a:r>
          </a:p>
          <a:p>
            <a:pPr>
              <a:lnSpc>
                <a:spcPct val="130000"/>
              </a:lnSpc>
              <a:buFont typeface="Wingdings" panose="05000000000000000000" pitchFamily="2" charset="2"/>
              <a:buNone/>
            </a:pPr>
            <a:r>
              <a:rPr lang="zh-CN" altLang="en-US" sz="2400">
                <a:ea typeface="宋体" panose="02010600030101010101" pitchFamily="2" charset="-122"/>
              </a:rPr>
              <a:t>       </a:t>
            </a:r>
            <a:r>
              <a:rPr lang="en-US" altLang="zh-CN" sz="2400">
                <a:ea typeface="宋体" panose="02010600030101010101" pitchFamily="2" charset="-122"/>
              </a:rPr>
              <a:t>T1=W1(Y)W1(X)</a:t>
            </a:r>
            <a:r>
              <a:rPr lang="zh-CN" altLang="en-US" sz="2400">
                <a:ea typeface="宋体" panose="02010600030101010101" pitchFamily="2" charset="-122"/>
              </a:rPr>
              <a:t>，</a:t>
            </a:r>
            <a:r>
              <a:rPr lang="en-US" altLang="zh-CN" sz="2400">
                <a:ea typeface="宋体" panose="02010600030101010101" pitchFamily="2" charset="-122"/>
              </a:rPr>
              <a:t>T2=W2(Y)W2(X)</a:t>
            </a:r>
            <a:r>
              <a:rPr lang="zh-CN" altLang="en-US" sz="2400">
                <a:ea typeface="宋体" panose="02010600030101010101" pitchFamily="2" charset="-122"/>
              </a:rPr>
              <a:t>，</a:t>
            </a:r>
            <a:r>
              <a:rPr lang="en-US" altLang="zh-CN" sz="2400">
                <a:ea typeface="宋体" panose="02010600030101010101" pitchFamily="2" charset="-122"/>
              </a:rPr>
              <a:t>T3=W3(X)</a:t>
            </a:r>
          </a:p>
          <a:p>
            <a:pPr lvl="1">
              <a:lnSpc>
                <a:spcPct val="130000"/>
              </a:lnSpc>
            </a:pPr>
            <a:r>
              <a:rPr lang="zh-CN" altLang="en-US" sz="2200">
                <a:ea typeface="宋体" panose="02010600030101010101" pitchFamily="2" charset="-122"/>
              </a:rPr>
              <a:t>调度</a:t>
            </a:r>
            <a:r>
              <a:rPr lang="en-US" altLang="zh-CN" sz="2200">
                <a:ea typeface="宋体" panose="02010600030101010101" pitchFamily="2" charset="-122"/>
              </a:rPr>
              <a:t>L1=W1(Y)</a:t>
            </a:r>
            <a:r>
              <a:rPr lang="en-US" altLang="zh-CN" sz="2200" u="sng">
                <a:ea typeface="宋体" panose="02010600030101010101" pitchFamily="2" charset="-122"/>
              </a:rPr>
              <a:t>W1(X)</a:t>
            </a:r>
            <a:r>
              <a:rPr lang="en-US" altLang="zh-CN" sz="2200">
                <a:ea typeface="宋体" panose="02010600030101010101" pitchFamily="2" charset="-122"/>
              </a:rPr>
              <a:t>W2(Y)W2(X) W</a:t>
            </a:r>
            <a:r>
              <a:rPr lang="en-US" altLang="zh-CN" sz="2200" u="sng">
                <a:ea typeface="宋体" panose="02010600030101010101" pitchFamily="2" charset="-122"/>
              </a:rPr>
              <a:t>3</a:t>
            </a:r>
            <a:r>
              <a:rPr lang="en-US" altLang="zh-CN" sz="2200">
                <a:ea typeface="宋体" panose="02010600030101010101" pitchFamily="2" charset="-122"/>
              </a:rPr>
              <a:t>(X)</a:t>
            </a:r>
            <a:r>
              <a:rPr lang="zh-CN" altLang="en-US" sz="2200">
                <a:ea typeface="宋体" panose="02010600030101010101" pitchFamily="2" charset="-122"/>
              </a:rPr>
              <a:t>是一个串行调度。</a:t>
            </a:r>
          </a:p>
          <a:p>
            <a:pPr lvl="1">
              <a:lnSpc>
                <a:spcPct val="130000"/>
              </a:lnSpc>
            </a:pPr>
            <a:r>
              <a:rPr lang="zh-CN" altLang="en-US" sz="2200">
                <a:ea typeface="宋体" panose="02010600030101010101" pitchFamily="2" charset="-122"/>
              </a:rPr>
              <a:t>调度</a:t>
            </a:r>
            <a:r>
              <a:rPr lang="en-US" altLang="zh-CN" sz="2200">
                <a:ea typeface="宋体" panose="02010600030101010101" pitchFamily="2" charset="-122"/>
              </a:rPr>
              <a:t>L2=W1(Y)W2(Y)W2(X)</a:t>
            </a:r>
            <a:r>
              <a:rPr lang="en-US" altLang="zh-CN" sz="2200" u="sng">
                <a:ea typeface="宋体" panose="02010600030101010101" pitchFamily="2" charset="-122"/>
              </a:rPr>
              <a:t>W1(X)</a:t>
            </a:r>
            <a:r>
              <a:rPr lang="en-US" altLang="zh-CN" sz="2200">
                <a:ea typeface="宋体" panose="02010600030101010101" pitchFamily="2" charset="-122"/>
              </a:rPr>
              <a:t>W3(X)</a:t>
            </a:r>
            <a:r>
              <a:rPr lang="zh-CN" altLang="en-US" sz="2200">
                <a:ea typeface="宋体" panose="02010600030101010101" pitchFamily="2" charset="-122"/>
              </a:rPr>
              <a:t>不满足冲突可串行化。但是调度</a:t>
            </a:r>
            <a:r>
              <a:rPr lang="en-US" altLang="zh-CN" sz="2200">
                <a:ea typeface="宋体" panose="02010600030101010101" pitchFamily="2" charset="-122"/>
              </a:rPr>
              <a:t>L2</a:t>
            </a:r>
            <a:r>
              <a:rPr lang="zh-CN" altLang="en-US" sz="2200">
                <a:ea typeface="宋体" panose="02010600030101010101" pitchFamily="2" charset="-122"/>
              </a:rPr>
              <a:t>是可串行化的，因为</a:t>
            </a:r>
            <a:r>
              <a:rPr lang="en-US" altLang="zh-CN" sz="2200">
                <a:ea typeface="宋体" panose="02010600030101010101" pitchFamily="2" charset="-122"/>
              </a:rPr>
              <a:t>L2</a:t>
            </a:r>
            <a:r>
              <a:rPr lang="zh-CN" altLang="en-US" sz="2200">
                <a:ea typeface="宋体" panose="02010600030101010101" pitchFamily="2" charset="-122"/>
              </a:rPr>
              <a:t>执行的结果与调度</a:t>
            </a:r>
            <a:r>
              <a:rPr lang="en-US" altLang="zh-CN" sz="2200">
                <a:ea typeface="宋体" panose="02010600030101010101" pitchFamily="2" charset="-122"/>
              </a:rPr>
              <a:t>L1</a:t>
            </a:r>
            <a:r>
              <a:rPr lang="zh-CN" altLang="en-US" sz="2200">
                <a:ea typeface="宋体" panose="02010600030101010101" pitchFamily="2" charset="-122"/>
              </a:rPr>
              <a:t>相同，</a:t>
            </a:r>
            <a:r>
              <a:rPr lang="en-US" altLang="zh-CN" sz="2200">
                <a:ea typeface="宋体" panose="02010600030101010101" pitchFamily="2" charset="-122"/>
              </a:rPr>
              <a:t>Y</a:t>
            </a:r>
            <a:r>
              <a:rPr lang="zh-CN" altLang="en-US" sz="2200">
                <a:ea typeface="宋体" panose="02010600030101010101" pitchFamily="2" charset="-122"/>
              </a:rPr>
              <a:t>的值都等于</a:t>
            </a:r>
            <a:r>
              <a:rPr lang="en-US" altLang="zh-CN" sz="2200">
                <a:ea typeface="宋体" panose="02010600030101010101" pitchFamily="2" charset="-122"/>
              </a:rPr>
              <a:t>T2</a:t>
            </a:r>
            <a:r>
              <a:rPr lang="zh-CN" altLang="en-US" sz="2200">
                <a:ea typeface="宋体" panose="02010600030101010101" pitchFamily="2" charset="-122"/>
              </a:rPr>
              <a:t>的值，</a:t>
            </a:r>
            <a:r>
              <a:rPr lang="en-US" altLang="zh-CN" sz="2200">
                <a:ea typeface="宋体" panose="02010600030101010101" pitchFamily="2" charset="-122"/>
              </a:rPr>
              <a:t>X</a:t>
            </a:r>
            <a:r>
              <a:rPr lang="zh-CN" altLang="en-US" sz="2200">
                <a:ea typeface="宋体" panose="02010600030101010101" pitchFamily="2" charset="-122"/>
              </a:rPr>
              <a:t>的值都等于</a:t>
            </a:r>
            <a:r>
              <a:rPr lang="en-US" altLang="zh-CN" sz="2200">
                <a:ea typeface="宋体" panose="02010600030101010101" pitchFamily="2" charset="-122"/>
              </a:rPr>
              <a:t>T3</a:t>
            </a:r>
            <a:r>
              <a:rPr lang="zh-CN" altLang="en-US" sz="2200">
                <a:ea typeface="宋体" panose="02010600030101010101" pitchFamily="2" charset="-122"/>
              </a:rPr>
              <a:t>的值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80</a:t>
            </a:fld>
            <a:endParaRPr lang="en-US" altLang="zh-CN"/>
          </a:p>
        </p:txBody>
      </p:sp>
    </p:spTree>
    <p:extLst>
      <p:ext uri="{BB962C8B-B14F-4D97-AF65-F5344CB8AC3E}">
        <p14:creationId xmlns:p14="http://schemas.microsoft.com/office/powerpoint/2010/main" val="18308477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lstStyle/>
          <a:p>
            <a:r>
              <a:rPr lang="zh-CN" altLang="en-US" dirty="0">
                <a:ea typeface="宋体" panose="02010600030101010101" pitchFamily="2" charset="-122"/>
              </a:rPr>
              <a:t>第八章  并发控制</a:t>
            </a:r>
          </a:p>
        </p:txBody>
      </p:sp>
      <p:sp>
        <p:nvSpPr>
          <p:cNvPr id="493571"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ea typeface="宋体" panose="02010600030101010101" pitchFamily="2" charset="-122"/>
              </a:rPr>
              <a:t>8.1  </a:t>
            </a:r>
            <a:r>
              <a:rPr lang="zh-CN" altLang="en-US" b="1" dirty="0">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ea typeface="宋体" panose="02010600030101010101" pitchFamily="2" charset="-122"/>
              </a:rPr>
              <a:t>8.2  </a:t>
            </a:r>
            <a:r>
              <a:rPr lang="zh-CN" altLang="en-US" b="1" dirty="0">
                <a:ea typeface="宋体" panose="02010600030101010101" pitchFamily="2" charset="-122"/>
              </a:rPr>
              <a:t>封锁</a:t>
            </a:r>
          </a:p>
          <a:p>
            <a:pPr algn="just">
              <a:lnSpc>
                <a:spcPct val="130000"/>
              </a:lnSpc>
              <a:buFont typeface="Wingdings" panose="05000000000000000000" pitchFamily="2" charset="2"/>
              <a:buNone/>
            </a:pPr>
            <a:r>
              <a:rPr lang="en-US" altLang="zh-CN" b="1" dirty="0">
                <a:ea typeface="宋体" panose="02010600030101010101" pitchFamily="2" charset="-122"/>
              </a:rPr>
              <a:t>8.3  </a:t>
            </a:r>
            <a:r>
              <a:rPr lang="zh-CN" altLang="en-US" b="1" dirty="0">
                <a:ea typeface="宋体" panose="02010600030101010101" pitchFamily="2" charset="-122"/>
              </a:rPr>
              <a:t>活锁和死锁</a:t>
            </a:r>
          </a:p>
          <a:p>
            <a:pPr algn="just">
              <a:lnSpc>
                <a:spcPct val="130000"/>
              </a:lnSpc>
              <a:buFont typeface="Wingdings" panose="05000000000000000000" pitchFamily="2" charset="2"/>
              <a:buNone/>
            </a:pPr>
            <a:r>
              <a:rPr lang="en-US" altLang="zh-CN" b="1" dirty="0">
                <a:ea typeface="宋体" panose="02010600030101010101" pitchFamily="2" charset="-122"/>
              </a:rPr>
              <a:t>8.4  </a:t>
            </a:r>
            <a:r>
              <a:rPr lang="zh-CN" altLang="en-US" b="1" dirty="0">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8.5   </a:t>
            </a:r>
            <a:r>
              <a:rPr lang="zh-CN" altLang="en-US" b="1" dirty="0">
                <a:solidFill>
                  <a:schemeClr val="tx2"/>
                </a:solidFill>
                <a:ea typeface="宋体" panose="02010600030101010101" pitchFamily="2" charset="-122"/>
              </a:rPr>
              <a:t>两段锁协议</a:t>
            </a:r>
          </a:p>
          <a:p>
            <a:pPr algn="just">
              <a:lnSpc>
                <a:spcPct val="130000"/>
              </a:lnSpc>
              <a:buFont typeface="Wingdings" panose="05000000000000000000" pitchFamily="2" charset="2"/>
              <a:buNone/>
            </a:pPr>
            <a:r>
              <a:rPr lang="en-US" altLang="zh-CN" b="1" dirty="0">
                <a:ea typeface="宋体" panose="02010600030101010101" pitchFamily="2" charset="-122"/>
              </a:rPr>
              <a:t>8.6   </a:t>
            </a:r>
            <a:r>
              <a:rPr lang="zh-CN" altLang="en-US" b="1" dirty="0">
                <a:ea typeface="宋体" panose="02010600030101010101" pitchFamily="2" charset="-122"/>
              </a:rPr>
              <a:t>封锁的粒度</a:t>
            </a:r>
          </a:p>
          <a:p>
            <a:pPr algn="just">
              <a:lnSpc>
                <a:spcPct val="130000"/>
              </a:lnSpc>
              <a:buFont typeface="Wingdings" panose="05000000000000000000" pitchFamily="2" charset="2"/>
              <a:buNone/>
            </a:pPr>
            <a:r>
              <a:rPr lang="en-US" altLang="zh-CN" b="1" dirty="0">
                <a:ea typeface="宋体" panose="02010600030101010101" pitchFamily="2" charset="-122"/>
              </a:rPr>
              <a:t>8.7   </a:t>
            </a:r>
            <a:r>
              <a:rPr lang="zh-CN" altLang="en-US" b="1" dirty="0">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81</a:t>
            </a:fld>
            <a:endParaRPr lang="en-US" altLang="zh-CN"/>
          </a:p>
        </p:txBody>
      </p:sp>
    </p:spTree>
    <p:extLst>
      <p:ext uri="{BB962C8B-B14F-4D97-AF65-F5344CB8AC3E}">
        <p14:creationId xmlns:p14="http://schemas.microsoft.com/office/powerpoint/2010/main" val="9513816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r>
              <a:rPr lang="en-US" altLang="zh-CN" dirty="0">
                <a:ea typeface="宋体" panose="02010600030101010101" pitchFamily="2" charset="-122"/>
              </a:rPr>
              <a:t>8.5  </a:t>
            </a:r>
            <a:r>
              <a:rPr lang="zh-CN" altLang="en-US" dirty="0">
                <a:ea typeface="宋体" panose="02010600030101010101" pitchFamily="2" charset="-122"/>
              </a:rPr>
              <a:t>两段锁协议</a:t>
            </a:r>
          </a:p>
        </p:txBody>
      </p:sp>
      <p:sp>
        <p:nvSpPr>
          <p:cNvPr id="408579" name="Rectangle 3"/>
          <p:cNvSpPr>
            <a:spLocks noGrp="1" noChangeArrowheads="1"/>
          </p:cNvSpPr>
          <p:nvPr>
            <p:ph type="body" idx="1"/>
          </p:nvPr>
        </p:nvSpPr>
        <p:spPr/>
        <p:txBody>
          <a:bodyPr/>
          <a:lstStyle/>
          <a:p>
            <a:pPr>
              <a:lnSpc>
                <a:spcPct val="120000"/>
              </a:lnSpc>
            </a:pPr>
            <a:r>
              <a:rPr lang="zh-CN" altLang="en-US" sz="2200" dirty="0">
                <a:ea typeface="宋体" panose="02010600030101010101" pitchFamily="2" charset="-122"/>
              </a:rPr>
              <a:t>封锁协议</a:t>
            </a:r>
          </a:p>
          <a:p>
            <a:pPr>
              <a:lnSpc>
                <a:spcPct val="120000"/>
              </a:lnSpc>
              <a:buFont typeface="Wingdings" panose="05000000000000000000" pitchFamily="2" charset="2"/>
              <a:buNone/>
            </a:pPr>
            <a:r>
              <a:rPr lang="zh-CN" altLang="en-US" sz="2200" dirty="0">
                <a:ea typeface="宋体" panose="02010600030101010101" pitchFamily="2" charset="-122"/>
              </a:rPr>
              <a:t>     运用封锁方法时，对数据对象加锁时需要约定一些规则 </a:t>
            </a:r>
          </a:p>
          <a:p>
            <a:pPr lvl="1">
              <a:lnSpc>
                <a:spcPct val="120000"/>
              </a:lnSpc>
            </a:pPr>
            <a:r>
              <a:rPr lang="zh-CN" altLang="en-US" sz="2000" dirty="0">
                <a:ea typeface="宋体" panose="02010600030101010101" pitchFamily="2" charset="-122"/>
              </a:rPr>
              <a:t>何时申请封锁</a:t>
            </a:r>
          </a:p>
          <a:p>
            <a:pPr lvl="1">
              <a:lnSpc>
                <a:spcPct val="120000"/>
              </a:lnSpc>
            </a:pPr>
            <a:r>
              <a:rPr lang="zh-CN" altLang="en-US" sz="2000" dirty="0">
                <a:ea typeface="宋体" panose="02010600030101010101" pitchFamily="2" charset="-122"/>
              </a:rPr>
              <a:t>持锁时间</a:t>
            </a:r>
          </a:p>
          <a:p>
            <a:pPr lvl="1">
              <a:lnSpc>
                <a:spcPct val="120000"/>
              </a:lnSpc>
            </a:pPr>
            <a:r>
              <a:rPr lang="zh-CN" altLang="en-US" sz="2000" dirty="0">
                <a:ea typeface="宋体" panose="02010600030101010101" pitchFamily="2" charset="-122"/>
              </a:rPr>
              <a:t>何时释放封锁等</a:t>
            </a:r>
          </a:p>
          <a:p>
            <a:pPr>
              <a:lnSpc>
                <a:spcPct val="120000"/>
              </a:lnSpc>
            </a:pPr>
            <a:r>
              <a:rPr lang="zh-CN" altLang="en-US" sz="2200" dirty="0">
                <a:ea typeface="宋体" panose="02010600030101010101" pitchFamily="2" charset="-122"/>
              </a:rPr>
              <a:t>两段封锁协议</a:t>
            </a:r>
            <a:r>
              <a:rPr lang="en-US" altLang="zh-CN" sz="2200" dirty="0">
                <a:ea typeface="宋体" panose="02010600030101010101" pitchFamily="2" charset="-122"/>
              </a:rPr>
              <a:t>(Two-Phase Locking</a:t>
            </a:r>
            <a:r>
              <a:rPr lang="zh-CN" altLang="en-US" sz="2200" dirty="0">
                <a:ea typeface="宋体" panose="02010600030101010101" pitchFamily="2" charset="-122"/>
              </a:rPr>
              <a:t>，简称</a:t>
            </a:r>
            <a:r>
              <a:rPr lang="en-US" altLang="zh-CN" sz="2200" dirty="0">
                <a:ea typeface="宋体" panose="02010600030101010101" pitchFamily="2" charset="-122"/>
              </a:rPr>
              <a:t>2PL)</a:t>
            </a:r>
            <a:r>
              <a:rPr lang="zh-CN" altLang="en-US" sz="2200" dirty="0">
                <a:ea typeface="宋体" panose="02010600030101010101" pitchFamily="2" charset="-122"/>
              </a:rPr>
              <a:t>是最常用的一种封锁协议，理论上证明使用两段封锁协议产生的是可串行化调度</a:t>
            </a:r>
          </a:p>
          <a:p>
            <a:pPr>
              <a:lnSpc>
                <a:spcPct val="120000"/>
              </a:lnSpc>
            </a:pPr>
            <a:endParaRPr lang="en-US" altLang="zh-CN" sz="2200" dirty="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82</a:t>
            </a:fld>
            <a:endParaRPr lang="en-US" altLang="zh-CN"/>
          </a:p>
        </p:txBody>
      </p:sp>
    </p:spTree>
    <p:extLst>
      <p:ext uri="{BB962C8B-B14F-4D97-AF65-F5344CB8AC3E}">
        <p14:creationId xmlns:p14="http://schemas.microsoft.com/office/powerpoint/2010/main" val="20437562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r>
              <a:rPr lang="zh-CN" altLang="en-US">
                <a:ea typeface="宋体" panose="02010600030101010101" pitchFamily="2" charset="-122"/>
              </a:rPr>
              <a:t>两段锁协议（续）</a:t>
            </a:r>
          </a:p>
        </p:txBody>
      </p:sp>
      <p:sp>
        <p:nvSpPr>
          <p:cNvPr id="514051" name="Rectangle 3"/>
          <p:cNvSpPr>
            <a:spLocks noGrp="1" noChangeArrowheads="1"/>
          </p:cNvSpPr>
          <p:nvPr>
            <p:ph type="body" idx="1"/>
          </p:nvPr>
        </p:nvSpPr>
        <p:spPr/>
        <p:txBody>
          <a:bodyPr/>
          <a:lstStyle/>
          <a:p>
            <a:pPr>
              <a:lnSpc>
                <a:spcPct val="170000"/>
              </a:lnSpc>
            </a:pPr>
            <a:r>
              <a:rPr lang="zh-CN" altLang="en-US">
                <a:ea typeface="宋体" panose="02010600030101010101" pitchFamily="2" charset="-122"/>
              </a:rPr>
              <a:t>两段锁协议</a:t>
            </a:r>
          </a:p>
          <a:p>
            <a:pPr>
              <a:lnSpc>
                <a:spcPct val="170000"/>
              </a:lnSpc>
              <a:buFont typeface="Wingdings" panose="05000000000000000000" pitchFamily="2" charset="2"/>
              <a:buNone/>
            </a:pPr>
            <a:r>
              <a:rPr lang="zh-CN" altLang="en-US" sz="2400">
                <a:ea typeface="宋体" panose="02010600030101010101" pitchFamily="2" charset="-122"/>
              </a:rPr>
              <a:t>     指所有事务必须分两个阶段对数据项加锁和解锁</a:t>
            </a:r>
            <a:r>
              <a:rPr lang="zh-CN" altLang="en-US">
                <a:ea typeface="宋体" panose="02010600030101010101" pitchFamily="2" charset="-122"/>
              </a:rPr>
              <a:t> </a:t>
            </a:r>
          </a:p>
          <a:p>
            <a:pPr lvl="1">
              <a:lnSpc>
                <a:spcPct val="170000"/>
              </a:lnSpc>
              <a:buFont typeface="Wingdings" panose="05000000000000000000" pitchFamily="2" charset="2"/>
              <a:buChar char="n"/>
            </a:pPr>
            <a:r>
              <a:rPr lang="zh-CN" altLang="en-US">
                <a:ea typeface="宋体" panose="02010600030101010101" pitchFamily="2" charset="-122"/>
              </a:rPr>
              <a:t>在对任何数据进行读、写操作之前，事务首先要获得对该数据的封锁</a:t>
            </a:r>
          </a:p>
          <a:p>
            <a:pPr lvl="1">
              <a:lnSpc>
                <a:spcPct val="170000"/>
              </a:lnSpc>
              <a:buFont typeface="Wingdings" panose="05000000000000000000" pitchFamily="2" charset="2"/>
              <a:buChar char="n"/>
            </a:pPr>
            <a:r>
              <a:rPr lang="zh-CN" altLang="en-US">
                <a:ea typeface="宋体" panose="02010600030101010101" pitchFamily="2" charset="-122"/>
              </a:rPr>
              <a:t> 在释放一个封锁之后，事务不再申请和获得任何其他封锁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83</a:t>
            </a:fld>
            <a:endParaRPr lang="en-US" altLang="zh-CN"/>
          </a:p>
        </p:txBody>
      </p:sp>
    </p:spTree>
    <p:extLst>
      <p:ext uri="{BB962C8B-B14F-4D97-AF65-F5344CB8AC3E}">
        <p14:creationId xmlns:p14="http://schemas.microsoft.com/office/powerpoint/2010/main" val="6340334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zh-CN" altLang="en-US">
                <a:ea typeface="宋体" panose="02010600030101010101" pitchFamily="2" charset="-122"/>
              </a:rPr>
              <a:t>两段锁协议（续）</a:t>
            </a:r>
          </a:p>
        </p:txBody>
      </p:sp>
      <p:sp>
        <p:nvSpPr>
          <p:cNvPr id="409603" name="Rectangle 3"/>
          <p:cNvSpPr>
            <a:spLocks noGrp="1" noChangeArrowheads="1"/>
          </p:cNvSpPr>
          <p:nvPr>
            <p:ph type="body" idx="1"/>
          </p:nvPr>
        </p:nvSpPr>
        <p:spPr>
          <a:xfrm>
            <a:off x="611188" y="1773238"/>
            <a:ext cx="8135937" cy="4537075"/>
          </a:xfrm>
        </p:spPr>
        <p:txBody>
          <a:bodyPr/>
          <a:lstStyle/>
          <a:p>
            <a:pPr>
              <a:lnSpc>
                <a:spcPct val="90000"/>
              </a:lnSpc>
            </a:pPr>
            <a:r>
              <a:rPr lang="en-US" altLang="zh-CN" sz="2400">
                <a:ea typeface="宋体" panose="02010600030101010101" pitchFamily="2" charset="-122"/>
              </a:rPr>
              <a:t>“</a:t>
            </a:r>
            <a:r>
              <a:rPr lang="zh-CN" altLang="en-US" sz="2400">
                <a:ea typeface="宋体" panose="02010600030101010101" pitchFamily="2" charset="-122"/>
              </a:rPr>
              <a:t>两段”锁的含义</a:t>
            </a:r>
          </a:p>
          <a:p>
            <a:pPr lvl="1">
              <a:lnSpc>
                <a:spcPct val="160000"/>
              </a:lnSpc>
              <a:buFont typeface="Wingdings" panose="05000000000000000000" pitchFamily="2" charset="2"/>
              <a:buNone/>
            </a:pPr>
            <a:r>
              <a:rPr lang="zh-CN" altLang="en-US" sz="2600">
                <a:ea typeface="宋体" panose="02010600030101010101" pitchFamily="2" charset="-122"/>
              </a:rPr>
              <a:t>事务分为两个阶段</a:t>
            </a:r>
          </a:p>
          <a:p>
            <a:pPr lvl="1">
              <a:lnSpc>
                <a:spcPct val="160000"/>
              </a:lnSpc>
            </a:pPr>
            <a:r>
              <a:rPr lang="zh-CN" altLang="en-US" sz="2200">
                <a:ea typeface="宋体" panose="02010600030101010101" pitchFamily="2" charset="-122"/>
              </a:rPr>
              <a:t> 第一阶段是获得封锁，也称为扩展阶段</a:t>
            </a:r>
          </a:p>
          <a:p>
            <a:pPr lvl="2">
              <a:lnSpc>
                <a:spcPct val="160000"/>
              </a:lnSpc>
              <a:buFont typeface="Wingdings" panose="05000000000000000000" pitchFamily="2" charset="2"/>
              <a:buChar char="Ø"/>
            </a:pPr>
            <a:r>
              <a:rPr lang="zh-CN" altLang="en-US" sz="1800">
                <a:ea typeface="宋体" panose="02010600030101010101" pitchFamily="2" charset="-122"/>
              </a:rPr>
              <a:t>事务可以申请获得任何数据项上的任何类型的锁，但是不能释放任何锁 </a:t>
            </a:r>
            <a:endParaRPr lang="zh-CN" altLang="en-US" sz="2000">
              <a:ea typeface="宋体" panose="02010600030101010101" pitchFamily="2" charset="-122"/>
            </a:endParaRPr>
          </a:p>
          <a:p>
            <a:pPr lvl="1">
              <a:lnSpc>
                <a:spcPct val="160000"/>
              </a:lnSpc>
            </a:pPr>
            <a:r>
              <a:rPr lang="zh-CN" altLang="en-US" sz="2200">
                <a:ea typeface="宋体" panose="02010600030101010101" pitchFamily="2" charset="-122"/>
              </a:rPr>
              <a:t> 第二阶段是释放封锁，也称为收缩阶段</a:t>
            </a:r>
          </a:p>
          <a:p>
            <a:pPr lvl="2">
              <a:lnSpc>
                <a:spcPct val="160000"/>
              </a:lnSpc>
              <a:buFont typeface="Wingdings" panose="05000000000000000000" pitchFamily="2" charset="2"/>
              <a:buChar char="Ø"/>
            </a:pPr>
            <a:r>
              <a:rPr lang="zh-CN" altLang="en-US" sz="1800">
                <a:ea typeface="宋体" panose="02010600030101010101" pitchFamily="2" charset="-122"/>
              </a:rPr>
              <a:t>事务可以释放任何数据项上的任何类型的锁，但是不能再申请任何锁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84</a:t>
            </a:fld>
            <a:endParaRPr lang="en-US" altLang="zh-CN"/>
          </a:p>
        </p:txBody>
      </p:sp>
    </p:spTree>
    <p:extLst>
      <p:ext uri="{BB962C8B-B14F-4D97-AF65-F5344CB8AC3E}">
        <p14:creationId xmlns:p14="http://schemas.microsoft.com/office/powerpoint/2010/main" val="17173171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r>
              <a:rPr lang="zh-CN" altLang="en-US">
                <a:ea typeface="宋体" panose="02010600030101010101" pitchFamily="2" charset="-122"/>
              </a:rPr>
              <a:t>两段锁协议（续）</a:t>
            </a:r>
          </a:p>
        </p:txBody>
      </p:sp>
      <p:sp>
        <p:nvSpPr>
          <p:cNvPr id="410627" name="Rectangle 3"/>
          <p:cNvSpPr>
            <a:spLocks noGrp="1" noChangeArrowheads="1"/>
          </p:cNvSpPr>
          <p:nvPr>
            <p:ph type="body" idx="1"/>
          </p:nvPr>
        </p:nvSpPr>
        <p:spPr>
          <a:xfrm>
            <a:off x="684213" y="1916113"/>
            <a:ext cx="8064500" cy="4114800"/>
          </a:xfrm>
        </p:spPr>
        <p:txBody>
          <a:bodyPr/>
          <a:lstStyle/>
          <a:p>
            <a:pPr>
              <a:lnSpc>
                <a:spcPct val="160000"/>
              </a:lnSpc>
              <a:buFont typeface="Wingdings" panose="05000000000000000000" pitchFamily="2" charset="2"/>
              <a:buNone/>
            </a:pPr>
            <a:r>
              <a:rPr lang="zh-CN" altLang="en-US" sz="2400" dirty="0">
                <a:ea typeface="宋体" panose="02010600030101010101" pitchFamily="2" charset="-122"/>
              </a:rPr>
              <a:t>例</a:t>
            </a:r>
          </a:p>
          <a:p>
            <a:pPr>
              <a:lnSpc>
                <a:spcPct val="160000"/>
              </a:lnSpc>
              <a:buFont typeface="Wingdings" panose="05000000000000000000" pitchFamily="2" charset="2"/>
              <a:buNone/>
            </a:pPr>
            <a:r>
              <a:rPr lang="zh-CN" altLang="en-US" sz="2400" dirty="0">
                <a:ea typeface="宋体" panose="02010600030101010101" pitchFamily="2" charset="-122"/>
              </a:rPr>
              <a:t>事务</a:t>
            </a:r>
            <a:r>
              <a:rPr lang="en-US" altLang="zh-CN" sz="2400" dirty="0">
                <a:ea typeface="宋体" panose="02010600030101010101" pitchFamily="2" charset="-122"/>
              </a:rPr>
              <a:t>T</a:t>
            </a:r>
            <a:r>
              <a:rPr lang="en-US" altLang="zh-CN" sz="2400" i="1" dirty="0">
                <a:ea typeface="宋体" panose="02010600030101010101" pitchFamily="2" charset="-122"/>
              </a:rPr>
              <a:t>i</a:t>
            </a:r>
            <a:r>
              <a:rPr lang="zh-CN" altLang="en-US" sz="2400" dirty="0">
                <a:ea typeface="宋体" panose="02010600030101010101" pitchFamily="2" charset="-122"/>
              </a:rPr>
              <a:t>遵守两段锁协议，其封锁序列是 ：</a:t>
            </a:r>
          </a:p>
          <a:p>
            <a:pPr>
              <a:lnSpc>
                <a:spcPct val="160000"/>
              </a:lnSpc>
              <a:buFont typeface="Wingdings" panose="05000000000000000000" pitchFamily="2" charset="2"/>
              <a:buNone/>
            </a:pPr>
            <a:r>
              <a:rPr lang="en-US" altLang="zh-CN" sz="2000" dirty="0">
                <a:ea typeface="宋体" panose="02010600030101010101" pitchFamily="2" charset="-122"/>
              </a:rPr>
              <a:t>Slock A    Slock B    Xlock C     Unlock B    Unlock A   Unlock C</a:t>
            </a:r>
            <a:r>
              <a:rPr lang="zh-CN" altLang="en-US" sz="2000" dirty="0">
                <a:ea typeface="宋体" panose="02010600030101010101" pitchFamily="2" charset="-122"/>
              </a:rPr>
              <a:t>；</a:t>
            </a:r>
            <a:endParaRPr lang="zh-CN" altLang="en-US" sz="2400" dirty="0">
              <a:ea typeface="宋体" panose="02010600030101010101" pitchFamily="2" charset="-122"/>
            </a:endParaRPr>
          </a:p>
          <a:p>
            <a:pPr>
              <a:lnSpc>
                <a:spcPct val="160000"/>
              </a:lnSpc>
              <a:buFont typeface="Wingdings" panose="05000000000000000000" pitchFamily="2" charset="2"/>
              <a:buNone/>
            </a:pPr>
            <a:r>
              <a:rPr lang="en-US" altLang="zh-CN" sz="2000" dirty="0">
                <a:ea typeface="宋体" panose="02010600030101010101" pitchFamily="2" charset="-122"/>
              </a:rPr>
              <a:t>|←		</a:t>
            </a:r>
            <a:r>
              <a:rPr lang="zh-CN" altLang="en-US" sz="2000" dirty="0">
                <a:ea typeface="宋体" panose="02010600030101010101" pitchFamily="2" charset="-122"/>
              </a:rPr>
              <a:t>扩展阶段	→</a:t>
            </a:r>
            <a:r>
              <a:rPr lang="en-US" altLang="zh-CN" sz="2000" dirty="0">
                <a:ea typeface="宋体" panose="02010600030101010101" pitchFamily="2" charset="-122"/>
              </a:rPr>
              <a:t>|	|←	    </a:t>
            </a:r>
            <a:r>
              <a:rPr lang="zh-CN" altLang="en-US" sz="2000" dirty="0">
                <a:ea typeface="宋体" panose="02010600030101010101" pitchFamily="2" charset="-122"/>
              </a:rPr>
              <a:t>收缩阶段           →</a:t>
            </a:r>
            <a:r>
              <a:rPr lang="en-US" altLang="zh-CN" sz="2000" dirty="0">
                <a:ea typeface="宋体" panose="02010600030101010101" pitchFamily="2" charset="-122"/>
              </a:rPr>
              <a:t>|</a:t>
            </a:r>
          </a:p>
          <a:p>
            <a:pPr>
              <a:lnSpc>
                <a:spcPct val="160000"/>
              </a:lnSpc>
              <a:buFont typeface="Wingdings" panose="05000000000000000000" pitchFamily="2" charset="2"/>
              <a:buNone/>
            </a:pPr>
            <a:r>
              <a:rPr lang="zh-CN" altLang="en-US" sz="2400" dirty="0">
                <a:ea typeface="宋体" panose="02010600030101010101" pitchFamily="2" charset="-122"/>
              </a:rPr>
              <a:t>事务</a:t>
            </a:r>
            <a:r>
              <a:rPr lang="en-US" altLang="zh-CN" sz="2400" dirty="0" err="1">
                <a:ea typeface="宋体" panose="02010600030101010101" pitchFamily="2" charset="-122"/>
              </a:rPr>
              <a:t>T</a:t>
            </a:r>
            <a:r>
              <a:rPr lang="en-US" altLang="zh-CN" sz="2400" i="1" dirty="0" err="1">
                <a:ea typeface="宋体" panose="02010600030101010101" pitchFamily="2" charset="-122"/>
              </a:rPr>
              <a:t>j</a:t>
            </a:r>
            <a:r>
              <a:rPr lang="zh-CN" altLang="en-US" sz="2400" dirty="0">
                <a:ea typeface="宋体" panose="02010600030101010101" pitchFamily="2" charset="-122"/>
              </a:rPr>
              <a:t>不遵守两段锁协议，其封锁序列是：</a:t>
            </a:r>
            <a:r>
              <a:rPr lang="zh-CN" altLang="en-US" dirty="0">
                <a:ea typeface="宋体" panose="02010600030101010101" pitchFamily="2" charset="-122"/>
              </a:rPr>
              <a:t> </a:t>
            </a:r>
            <a:endParaRPr lang="zh-CN" altLang="en-US" sz="2400" dirty="0">
              <a:ea typeface="宋体" panose="02010600030101010101" pitchFamily="2" charset="-122"/>
            </a:endParaRPr>
          </a:p>
          <a:p>
            <a:pPr>
              <a:lnSpc>
                <a:spcPct val="160000"/>
              </a:lnSpc>
              <a:buFont typeface="Wingdings" panose="05000000000000000000" pitchFamily="2" charset="2"/>
              <a:buNone/>
            </a:pPr>
            <a:r>
              <a:rPr lang="en-US" altLang="zh-CN" sz="2000" dirty="0">
                <a:ea typeface="宋体" panose="02010600030101010101" pitchFamily="2" charset="-122"/>
              </a:rPr>
              <a:t>Slock A    Unlock A    Slock B    Xlock C    Unlock C    Unlock B</a:t>
            </a:r>
            <a:r>
              <a:rPr lang="zh-CN" altLang="en-US" sz="2000" dirty="0">
                <a:ea typeface="宋体" panose="02010600030101010101" pitchFamily="2" charset="-122"/>
              </a:rPr>
              <a:t>；</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85</a:t>
            </a:fld>
            <a:endParaRPr lang="en-US" altLang="zh-CN"/>
          </a:p>
        </p:txBody>
      </p:sp>
    </p:spTree>
    <p:extLst>
      <p:ext uri="{BB962C8B-B14F-4D97-AF65-F5344CB8AC3E}">
        <p14:creationId xmlns:p14="http://schemas.microsoft.com/office/powerpoint/2010/main" val="28814924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r>
              <a:rPr lang="zh-CN" altLang="en-US">
                <a:ea typeface="宋体" panose="02010600030101010101" pitchFamily="2" charset="-122"/>
              </a:rPr>
              <a:t>两段锁协议（续）</a:t>
            </a:r>
          </a:p>
        </p:txBody>
      </p:sp>
      <p:graphicFrame>
        <p:nvGraphicFramePr>
          <p:cNvPr id="515654" name="Group 582"/>
          <p:cNvGraphicFramePr>
            <a:graphicFrameLocks noGrp="1"/>
          </p:cNvGraphicFramePr>
          <p:nvPr>
            <p:ph idx="1"/>
          </p:nvPr>
        </p:nvGraphicFramePr>
        <p:xfrm>
          <a:off x="395288" y="1169988"/>
          <a:ext cx="4762500" cy="5669280"/>
        </p:xfrm>
        <a:graphic>
          <a:graphicData uri="http://schemas.openxmlformats.org/drawingml/2006/table">
            <a:tbl>
              <a:tblPr/>
              <a:tblGrid>
                <a:gridCol w="2647950">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tblGrid>
              <a:tr h="1333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事务</a:t>
                      </a: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事务</a:t>
                      </a: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R(A=260)</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Slock(C)</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R(C=300)</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W(A=160)</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C )</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W(C=250)</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1317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Slock(B)</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1333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R(B=1000)</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1333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Xlock(B)</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2"/>
                  </a:ext>
                </a:extLst>
              </a:tr>
              <a:tr h="13176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W(B=1100)</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3"/>
                  </a:ext>
                </a:extLst>
              </a:tr>
              <a:tr h="1333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Unlock(A)</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4"/>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R(A=160)</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5"/>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6"/>
                  </a:ext>
                </a:extLst>
              </a:tr>
              <a:tr h="2286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Unlock(B)</a:t>
                      </a: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7"/>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W(A=210)</a:t>
                      </a:r>
                    </a:p>
                  </a:txBody>
                  <a:tcPr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8"/>
                  </a:ext>
                </a:extLst>
              </a:tr>
              <a:tr h="2286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algn="l">
                        <a:spcBef>
                          <a:spcPct val="20000"/>
                        </a:spcBef>
                        <a:buClr>
                          <a:schemeClr val="tx1"/>
                        </a:buClr>
                        <a:defRPr sz="2000">
                          <a:solidFill>
                            <a:schemeClr val="tx1"/>
                          </a:solidFill>
                          <a:latin typeface="Arial" panose="020B0604020202020204" pitchFamily="34" charset="0"/>
                        </a:defRPr>
                      </a:lvl3pPr>
                      <a:lvl4pPr algn="l">
                        <a:spcBef>
                          <a:spcPct val="20000"/>
                        </a:spcBef>
                        <a:defRPr>
                          <a:solidFill>
                            <a:schemeClr val="tx1"/>
                          </a:solidFill>
                          <a:latin typeface="Arial" panose="020B0604020202020204" pitchFamily="34" charset="0"/>
                        </a:defRPr>
                      </a:lvl4pPr>
                      <a:lvl5pPr algn="l">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lgn="l">
                        <a:spcBef>
                          <a:spcPct val="20000"/>
                        </a:spcBef>
                        <a:buClr>
                          <a:schemeClr val="tx1"/>
                        </a:buClr>
                        <a:defRPr sz="2000">
                          <a:solidFill>
                            <a:schemeClr val="tx1"/>
                          </a:solidFill>
                          <a:latin typeface="Arial" panose="020B0604020202020204" pitchFamily="34" charset="0"/>
                        </a:defRPr>
                      </a:lvl3pPr>
                      <a:lvl4pPr marL="1600200" indent="-228600" algn="l">
                        <a:spcBef>
                          <a:spcPct val="20000"/>
                        </a:spcBef>
                        <a:defRPr>
                          <a:solidFill>
                            <a:schemeClr val="tx1"/>
                          </a:solidFill>
                          <a:latin typeface="Arial" panose="020B0604020202020204" pitchFamily="34" charset="0"/>
                        </a:defRPr>
                      </a:lvl4pPr>
                      <a:lvl5pPr marL="2057400" indent="-228600" algn="l">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 )</a:t>
                      </a:r>
                    </a:p>
                  </a:txBody>
                  <a:tcPr horzOverflow="overflow">
                    <a:lnL w="12700" cap="flat" cmpd="sng" algn="ctr">
                      <a:solidFill>
                        <a:srgbClr val="000000"/>
                      </a:solidFill>
                      <a:prstDash val="solid"/>
                      <a:roun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19"/>
                  </a:ext>
                </a:extLst>
              </a:tr>
            </a:tbl>
          </a:graphicData>
        </a:graphic>
      </p:graphicFrame>
      <p:sp>
        <p:nvSpPr>
          <p:cNvPr id="515656" name="Text Box 584"/>
          <p:cNvSpPr txBox="1">
            <a:spLocks noChangeArrowheads="1"/>
          </p:cNvSpPr>
          <p:nvPr/>
        </p:nvSpPr>
        <p:spPr bwMode="auto">
          <a:xfrm>
            <a:off x="914400" y="6441460"/>
            <a:ext cx="2317750" cy="274637"/>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200" b="0" dirty="0"/>
              <a:t>遵守两段锁协议的可串行化调度</a:t>
            </a:r>
          </a:p>
        </p:txBody>
      </p:sp>
      <p:sp>
        <p:nvSpPr>
          <p:cNvPr id="515658" name="Text Box 586"/>
          <p:cNvSpPr txBox="1">
            <a:spLocks noChangeArrowheads="1"/>
          </p:cNvSpPr>
          <p:nvPr/>
        </p:nvSpPr>
        <p:spPr bwMode="auto">
          <a:xfrm>
            <a:off x="4872038" y="1989138"/>
            <a:ext cx="3948112" cy="25304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200000"/>
              </a:lnSpc>
              <a:buClr>
                <a:schemeClr val="accent1"/>
              </a:buClr>
              <a:buFont typeface="Wingdings" panose="05000000000000000000" pitchFamily="2" charset="2"/>
              <a:buChar char="n"/>
            </a:pPr>
            <a:r>
              <a:rPr kumimoji="0" lang="zh-CN" altLang="en-US" sz="2000" b="0"/>
              <a:t>左图的调度是遵守两段锁协议的，因此一定是一个可串行化调度。</a:t>
            </a:r>
          </a:p>
          <a:p>
            <a:pPr>
              <a:lnSpc>
                <a:spcPct val="200000"/>
              </a:lnSpc>
              <a:buClr>
                <a:schemeClr val="accent1"/>
              </a:buClr>
              <a:buFont typeface="Wingdings" panose="05000000000000000000" pitchFamily="2" charset="2"/>
              <a:buNone/>
            </a:pPr>
            <a:endParaRPr kumimoji="0" lang="en-US" altLang="zh-CN" sz="2000" b="0"/>
          </a:p>
        </p:txBody>
      </p:sp>
    </p:spTree>
    <p:extLst>
      <p:ext uri="{BB962C8B-B14F-4D97-AF65-F5344CB8AC3E}">
        <p14:creationId xmlns:p14="http://schemas.microsoft.com/office/powerpoint/2010/main" val="23495884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r>
              <a:rPr lang="zh-CN" altLang="en-US">
                <a:ea typeface="宋体" panose="02010600030101010101" pitchFamily="2" charset="-122"/>
              </a:rPr>
              <a:t>两段锁协议（续）</a:t>
            </a:r>
          </a:p>
        </p:txBody>
      </p:sp>
      <p:sp>
        <p:nvSpPr>
          <p:cNvPr id="517123" name="Rectangle 3"/>
          <p:cNvSpPr>
            <a:spLocks noGrp="1" noChangeArrowheads="1"/>
          </p:cNvSpPr>
          <p:nvPr>
            <p:ph type="body" idx="1"/>
          </p:nvPr>
        </p:nvSpPr>
        <p:spPr/>
        <p:txBody>
          <a:bodyPr/>
          <a:lstStyle/>
          <a:p>
            <a:pPr>
              <a:lnSpc>
                <a:spcPct val="170000"/>
              </a:lnSpc>
            </a:pPr>
            <a:r>
              <a:rPr lang="zh-CN" altLang="en-US" sz="2400">
                <a:ea typeface="宋体" panose="02010600030101010101" pitchFamily="2" charset="-122"/>
              </a:rPr>
              <a:t>事务遵守两段锁协议是可串行化调度的充分条件，而不是必要条件。</a:t>
            </a:r>
          </a:p>
          <a:p>
            <a:pPr>
              <a:lnSpc>
                <a:spcPct val="170000"/>
              </a:lnSpc>
            </a:pPr>
            <a:r>
              <a:rPr lang="zh-CN" altLang="en-US" sz="2400">
                <a:ea typeface="宋体" panose="02010600030101010101" pitchFamily="2" charset="-122"/>
              </a:rPr>
              <a:t>若并发事务都遵守两段锁协议，则对这些事务的任何并发调度策略都是可串行化的</a:t>
            </a:r>
          </a:p>
          <a:p>
            <a:pPr>
              <a:lnSpc>
                <a:spcPct val="170000"/>
              </a:lnSpc>
            </a:pPr>
            <a:r>
              <a:rPr lang="zh-CN" altLang="en-US" sz="2400">
                <a:ea typeface="宋体" panose="02010600030101010101" pitchFamily="2" charset="-122"/>
              </a:rPr>
              <a:t>若并发事务的一个调度是可串行化的，不一定所有事务都符合两段锁协议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87</a:t>
            </a:fld>
            <a:endParaRPr lang="en-US" altLang="zh-CN"/>
          </a:p>
        </p:txBody>
      </p:sp>
    </p:spTree>
    <p:extLst>
      <p:ext uri="{BB962C8B-B14F-4D97-AF65-F5344CB8AC3E}">
        <p14:creationId xmlns:p14="http://schemas.microsoft.com/office/powerpoint/2010/main" val="8066189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zh-CN" altLang="en-US">
                <a:ea typeface="宋体" panose="02010600030101010101" pitchFamily="2" charset="-122"/>
              </a:rPr>
              <a:t>两段锁协议（续）</a:t>
            </a:r>
          </a:p>
        </p:txBody>
      </p:sp>
      <p:sp>
        <p:nvSpPr>
          <p:cNvPr id="413699" name="Rectangle 3"/>
          <p:cNvSpPr>
            <a:spLocks noGrp="1" noChangeArrowheads="1"/>
          </p:cNvSpPr>
          <p:nvPr>
            <p:ph type="body" idx="1"/>
          </p:nvPr>
        </p:nvSpPr>
        <p:spPr/>
        <p:txBody>
          <a:bodyPr/>
          <a:lstStyle/>
          <a:p>
            <a:r>
              <a:rPr lang="zh-CN" altLang="en-US">
                <a:ea typeface="宋体" panose="02010600030101010101" pitchFamily="2" charset="-122"/>
              </a:rPr>
              <a:t>两段锁协议与防止死锁的一次封锁法</a:t>
            </a:r>
            <a:endParaRPr lang="zh-CN" altLang="en-US" sz="2400">
              <a:ea typeface="宋体" panose="02010600030101010101" pitchFamily="2" charset="-122"/>
            </a:endParaRPr>
          </a:p>
          <a:p>
            <a:pPr lvl="1">
              <a:lnSpc>
                <a:spcPct val="115000"/>
              </a:lnSpc>
              <a:spcBef>
                <a:spcPct val="60000"/>
              </a:spcBef>
            </a:pPr>
            <a:r>
              <a:rPr lang="zh-CN" altLang="en-US">
                <a:ea typeface="宋体" panose="02010600030101010101" pitchFamily="2" charset="-122"/>
              </a:rPr>
              <a:t>一次封锁法要求每个事务必须一次将所有要使用的数据全部加锁，否则就不能继续执行，因此一次封锁法遵守两段锁协议</a:t>
            </a:r>
          </a:p>
          <a:p>
            <a:pPr lvl="1">
              <a:lnSpc>
                <a:spcPct val="115000"/>
              </a:lnSpc>
              <a:spcBef>
                <a:spcPct val="60000"/>
              </a:spcBef>
            </a:pPr>
            <a:r>
              <a:rPr lang="zh-CN" altLang="en-US">
                <a:ea typeface="宋体" panose="02010600030101010101" pitchFamily="2" charset="-122"/>
              </a:rPr>
              <a:t>但是两段锁协议并不要求事务必须一次将所有要使用的数据全部加锁，因此遵守两段锁协议的事务可能发生死锁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88</a:t>
            </a:fld>
            <a:endParaRPr lang="en-US" altLang="zh-CN"/>
          </a:p>
        </p:txBody>
      </p:sp>
    </p:spTree>
    <p:extLst>
      <p:ext uri="{BB962C8B-B14F-4D97-AF65-F5344CB8AC3E}">
        <p14:creationId xmlns:p14="http://schemas.microsoft.com/office/powerpoint/2010/main" val="10536946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a:xfrm>
            <a:off x="1043608" y="731837"/>
            <a:ext cx="7391400" cy="563563"/>
          </a:xfrm>
        </p:spPr>
        <p:txBody>
          <a:bodyPr/>
          <a:lstStyle/>
          <a:p>
            <a:r>
              <a:rPr lang="zh-CN" altLang="en-US" dirty="0">
                <a:ea typeface="宋体" panose="02010600030101010101" pitchFamily="2" charset="-122"/>
              </a:rPr>
              <a:t>两段锁协议（续）</a:t>
            </a:r>
          </a:p>
        </p:txBody>
      </p:sp>
      <p:sp>
        <p:nvSpPr>
          <p:cNvPr id="414723" name="Rectangle 3"/>
          <p:cNvSpPr>
            <a:spLocks noGrp="1" noChangeArrowheads="1"/>
          </p:cNvSpPr>
          <p:nvPr>
            <p:ph type="body" idx="1"/>
          </p:nvPr>
        </p:nvSpPr>
        <p:spPr/>
        <p:txBody>
          <a:bodyPr/>
          <a:lstStyle/>
          <a:p>
            <a:pPr>
              <a:buFont typeface="Wingdings" panose="05000000000000000000" pitchFamily="2" charset="2"/>
              <a:buNone/>
            </a:pPr>
            <a:r>
              <a:rPr lang="en-US" altLang="zh-CN" sz="2400" dirty="0">
                <a:ea typeface="宋体" panose="02010600030101010101" pitchFamily="2" charset="-122"/>
              </a:rPr>
              <a:t>[</a:t>
            </a:r>
            <a:r>
              <a:rPr lang="zh-CN" altLang="en-US" sz="2400" dirty="0">
                <a:ea typeface="宋体" panose="02010600030101010101" pitchFamily="2" charset="-122"/>
              </a:rPr>
              <a:t>例</a:t>
            </a:r>
            <a:r>
              <a:rPr lang="en-US" altLang="zh-CN" sz="2400" dirty="0">
                <a:ea typeface="宋体" panose="02010600030101010101" pitchFamily="2" charset="-122"/>
              </a:rPr>
              <a:t>]  </a:t>
            </a:r>
            <a:r>
              <a:rPr lang="zh-CN" altLang="en-US" sz="2400" dirty="0">
                <a:ea typeface="宋体" panose="02010600030101010101" pitchFamily="2" charset="-122"/>
              </a:rPr>
              <a:t>遵守两段锁协议的事务发生死锁</a:t>
            </a:r>
          </a:p>
        </p:txBody>
      </p:sp>
      <p:sp>
        <p:nvSpPr>
          <p:cNvPr id="414724" name="Rectangle 4"/>
          <p:cNvSpPr>
            <a:spLocks noChangeArrowheads="1"/>
          </p:cNvSpPr>
          <p:nvPr/>
        </p:nvSpPr>
        <p:spPr bwMode="auto">
          <a:xfrm>
            <a:off x="2732001" y="3336925"/>
            <a:ext cx="1220787" cy="246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nSpc>
                <a:spcPct val="100000"/>
              </a:lnSpc>
            </a:pPr>
            <a:r>
              <a:rPr kumimoji="1" lang="en-US" altLang="zh-CN" sz="2000" dirty="0"/>
              <a:t>Slock B</a:t>
            </a:r>
            <a:endParaRPr kumimoji="1" lang="en-US" altLang="zh-CN" sz="2000" b="0" dirty="0"/>
          </a:p>
          <a:p>
            <a:pPr>
              <a:lnSpc>
                <a:spcPct val="100000"/>
              </a:lnSpc>
            </a:pPr>
            <a:r>
              <a:rPr kumimoji="1" lang="en-US" altLang="zh-CN" sz="2000" dirty="0"/>
              <a:t>R(B)=2</a:t>
            </a:r>
            <a:endParaRPr kumimoji="1" lang="en-US" altLang="zh-CN" sz="2000" b="0" dirty="0"/>
          </a:p>
          <a:p>
            <a:pPr>
              <a:lnSpc>
                <a:spcPct val="120000"/>
              </a:lnSpc>
            </a:pPr>
            <a:r>
              <a:rPr kumimoji="1" lang="en-US" altLang="zh-CN" sz="2400" dirty="0"/>
              <a:t> </a:t>
            </a:r>
            <a:endParaRPr kumimoji="1" lang="en-US" altLang="zh-CN" sz="1600" b="0" dirty="0"/>
          </a:p>
          <a:p>
            <a:pPr>
              <a:lnSpc>
                <a:spcPct val="120000"/>
              </a:lnSpc>
            </a:pPr>
            <a:r>
              <a:rPr kumimoji="1" lang="en-US" altLang="zh-CN" sz="1600" dirty="0"/>
              <a:t> </a:t>
            </a:r>
            <a:endParaRPr kumimoji="1" lang="en-US" altLang="zh-CN" sz="1600" b="0" dirty="0"/>
          </a:p>
          <a:p>
            <a:pPr>
              <a:lnSpc>
                <a:spcPct val="100000"/>
              </a:lnSpc>
            </a:pPr>
            <a:r>
              <a:rPr kumimoji="1" lang="en-US" altLang="zh-CN" sz="2000" dirty="0"/>
              <a:t>Xlock A</a:t>
            </a:r>
            <a:endParaRPr kumimoji="1" lang="en-US" altLang="zh-CN" sz="2000" b="0" dirty="0"/>
          </a:p>
          <a:p>
            <a:pPr>
              <a:lnSpc>
                <a:spcPct val="100000"/>
              </a:lnSpc>
            </a:pPr>
            <a:r>
              <a:rPr kumimoji="1" lang="zh-CN" altLang="en-US" sz="2000" dirty="0"/>
              <a:t>等待</a:t>
            </a:r>
            <a:endParaRPr kumimoji="1" lang="zh-CN" altLang="en-US" sz="2000" b="0" dirty="0"/>
          </a:p>
          <a:p>
            <a:pPr>
              <a:lnSpc>
                <a:spcPct val="100000"/>
              </a:lnSpc>
            </a:pPr>
            <a:r>
              <a:rPr kumimoji="1" lang="zh-CN" altLang="en-US" sz="2000" dirty="0"/>
              <a:t>等待</a:t>
            </a:r>
            <a:endParaRPr kumimoji="1" lang="zh-CN" altLang="en-US" sz="2000" b="0" dirty="0"/>
          </a:p>
          <a:p>
            <a:endParaRPr kumimoji="1" lang="en-US" altLang="zh-CN" sz="2400" b="0" dirty="0"/>
          </a:p>
        </p:txBody>
      </p:sp>
      <p:sp>
        <p:nvSpPr>
          <p:cNvPr id="414725" name="Rectangle 5"/>
          <p:cNvSpPr>
            <a:spLocks noChangeArrowheads="1"/>
          </p:cNvSpPr>
          <p:nvPr/>
        </p:nvSpPr>
        <p:spPr bwMode="auto">
          <a:xfrm>
            <a:off x="4128914" y="3140968"/>
            <a:ext cx="1220788" cy="2761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kumimoji="1" lang="en-US" altLang="zh-CN" sz="2400" dirty="0"/>
              <a:t> </a:t>
            </a:r>
            <a:endParaRPr kumimoji="1" lang="en-US" altLang="zh-CN" sz="2400" b="0" dirty="0"/>
          </a:p>
          <a:p>
            <a:r>
              <a:rPr kumimoji="1" lang="en-US" altLang="zh-CN" sz="2400" dirty="0"/>
              <a:t> </a:t>
            </a:r>
            <a:endParaRPr kumimoji="1" lang="en-US" altLang="zh-CN" sz="2400" b="0" dirty="0"/>
          </a:p>
          <a:p>
            <a:pPr>
              <a:lnSpc>
                <a:spcPct val="120000"/>
              </a:lnSpc>
            </a:pPr>
            <a:r>
              <a:rPr kumimoji="1" lang="en-US" altLang="zh-CN" sz="2000" dirty="0"/>
              <a:t>Slock A</a:t>
            </a:r>
            <a:endParaRPr kumimoji="1" lang="en-US" altLang="zh-CN" sz="2000" b="0" dirty="0"/>
          </a:p>
          <a:p>
            <a:pPr>
              <a:lnSpc>
                <a:spcPct val="120000"/>
              </a:lnSpc>
            </a:pPr>
            <a:r>
              <a:rPr kumimoji="1" lang="en-US" altLang="zh-CN" sz="2000" dirty="0"/>
              <a:t>R(A)=2</a:t>
            </a:r>
            <a:endParaRPr kumimoji="1" lang="en-US" altLang="zh-CN" sz="2000" b="0" dirty="0"/>
          </a:p>
          <a:p>
            <a:pPr>
              <a:lnSpc>
                <a:spcPct val="120000"/>
              </a:lnSpc>
            </a:pPr>
            <a:r>
              <a:rPr kumimoji="1" lang="en-US" altLang="zh-CN" sz="2400" dirty="0"/>
              <a:t> </a:t>
            </a:r>
            <a:endParaRPr kumimoji="1" lang="en-US" altLang="zh-CN" sz="2400" b="0" dirty="0"/>
          </a:p>
          <a:p>
            <a:pPr>
              <a:lnSpc>
                <a:spcPct val="120000"/>
              </a:lnSpc>
            </a:pPr>
            <a:r>
              <a:rPr kumimoji="1" lang="en-US" altLang="zh-CN" sz="2000"/>
              <a:t>Xlock B</a:t>
            </a:r>
            <a:endParaRPr kumimoji="1" lang="en-US" altLang="zh-CN" sz="2000" b="0" dirty="0"/>
          </a:p>
          <a:p>
            <a:pPr>
              <a:lnSpc>
                <a:spcPct val="120000"/>
              </a:lnSpc>
            </a:pPr>
            <a:r>
              <a:rPr kumimoji="1" lang="zh-CN" altLang="en-US" sz="2000" dirty="0"/>
              <a:t>等待</a:t>
            </a:r>
            <a:endParaRPr kumimoji="1" lang="zh-CN" altLang="en-US" sz="2000" b="0" dirty="0"/>
          </a:p>
          <a:p>
            <a:endParaRPr kumimoji="1" lang="zh-CN" altLang="en-US" sz="2400" b="0" dirty="0"/>
          </a:p>
          <a:p>
            <a:endParaRPr kumimoji="1" lang="en-US" altLang="zh-CN" sz="2400" b="0" dirty="0"/>
          </a:p>
        </p:txBody>
      </p:sp>
      <p:sp>
        <p:nvSpPr>
          <p:cNvPr id="414726" name="Line 6"/>
          <p:cNvSpPr>
            <a:spLocks noChangeShapeType="1"/>
          </p:cNvSpPr>
          <p:nvPr/>
        </p:nvSpPr>
        <p:spPr bwMode="auto">
          <a:xfrm>
            <a:off x="2286000" y="2895600"/>
            <a:ext cx="3429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14727" name="Line 7"/>
          <p:cNvSpPr>
            <a:spLocks noChangeShapeType="1"/>
          </p:cNvSpPr>
          <p:nvPr/>
        </p:nvSpPr>
        <p:spPr bwMode="auto">
          <a:xfrm>
            <a:off x="3886200" y="2514600"/>
            <a:ext cx="0" cy="3200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14728" name="Text Box 8"/>
          <p:cNvSpPr txBox="1">
            <a:spLocks noChangeArrowheads="1"/>
          </p:cNvSpPr>
          <p:nvPr/>
        </p:nvSpPr>
        <p:spPr bwMode="auto">
          <a:xfrm>
            <a:off x="2555875" y="5805488"/>
            <a:ext cx="34925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600" b="0"/>
              <a:t>遵守两段锁协议的事务可能发生死锁</a:t>
            </a:r>
            <a:r>
              <a:rPr kumimoji="0" lang="zh-CN" altLang="en-US" sz="1800"/>
              <a:t> </a:t>
            </a:r>
          </a:p>
        </p:txBody>
      </p:sp>
      <p:sp>
        <p:nvSpPr>
          <p:cNvPr id="2" name="矩形 1"/>
          <p:cNvSpPr/>
          <p:nvPr/>
        </p:nvSpPr>
        <p:spPr>
          <a:xfrm>
            <a:off x="4328985" y="2237280"/>
            <a:ext cx="486030" cy="757130"/>
          </a:xfrm>
          <a:prstGeom prst="rect">
            <a:avLst/>
          </a:prstGeom>
        </p:spPr>
        <p:txBody>
          <a:bodyPr wrap="none">
            <a:spAutoFit/>
          </a:bodyPr>
          <a:lstStyle/>
          <a:p>
            <a:r>
              <a:rPr kumimoji="1" lang="en-US" altLang="zh-CN" dirty="0"/>
              <a:t>T</a:t>
            </a:r>
            <a:r>
              <a:rPr kumimoji="1" lang="en-US" altLang="zh-CN" baseline="-30000" dirty="0"/>
              <a:t>2</a:t>
            </a:r>
            <a:endParaRPr kumimoji="1" lang="en-US" altLang="zh-CN" b="0" dirty="0"/>
          </a:p>
        </p:txBody>
      </p:sp>
      <p:sp>
        <p:nvSpPr>
          <p:cNvPr id="3" name="矩形 2"/>
          <p:cNvSpPr/>
          <p:nvPr/>
        </p:nvSpPr>
        <p:spPr>
          <a:xfrm>
            <a:off x="2895203" y="2360069"/>
            <a:ext cx="486030" cy="535531"/>
          </a:xfrm>
          <a:prstGeom prst="rect">
            <a:avLst/>
          </a:prstGeom>
        </p:spPr>
        <p:txBody>
          <a:bodyPr wrap="none">
            <a:spAutoFit/>
          </a:bodyPr>
          <a:lstStyle/>
          <a:p>
            <a:pPr>
              <a:lnSpc>
                <a:spcPct val="120000"/>
              </a:lnSpc>
            </a:pPr>
            <a:r>
              <a:rPr kumimoji="1" lang="en-US" altLang="zh-CN" dirty="0"/>
              <a:t>T</a:t>
            </a:r>
            <a:r>
              <a:rPr kumimoji="1" lang="en-US" altLang="zh-CN" baseline="-30000" dirty="0"/>
              <a:t>1</a:t>
            </a:r>
            <a:endParaRPr kumimoji="1" lang="en-US" altLang="zh-CN" b="0" dirty="0"/>
          </a:p>
        </p:txBody>
      </p:sp>
      <p:sp>
        <p:nvSpPr>
          <p:cNvPr id="4" name="灯片编号占位符 3"/>
          <p:cNvSpPr>
            <a:spLocks noGrp="1"/>
          </p:cNvSpPr>
          <p:nvPr>
            <p:ph type="sldNum" sz="quarter" idx="12"/>
          </p:nvPr>
        </p:nvSpPr>
        <p:spPr/>
        <p:txBody>
          <a:bodyPr/>
          <a:lstStyle/>
          <a:p>
            <a:fld id="{945D2E7A-0FED-4726-9E29-881D901EFE19}" type="slidenum">
              <a:rPr lang="en-US" altLang="zh-CN" smtClean="0"/>
              <a:pPr/>
              <a:t>89</a:t>
            </a:fld>
            <a:endParaRPr lang="en-US" altLang="zh-CN"/>
          </a:p>
        </p:txBody>
      </p:sp>
    </p:spTree>
    <p:extLst>
      <p:ext uri="{BB962C8B-B14F-4D97-AF65-F5344CB8AC3E}">
        <p14:creationId xmlns:p14="http://schemas.microsoft.com/office/powerpoint/2010/main" val="31039117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zh-CN" altLang="en-US" dirty="0">
                <a:ea typeface="宋体" panose="02010600030101010101" pitchFamily="2" charset="-122"/>
              </a:rPr>
              <a:t>第八章  并发控制</a:t>
            </a:r>
          </a:p>
        </p:txBody>
      </p:sp>
      <p:sp>
        <p:nvSpPr>
          <p:cNvPr id="492547"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ea typeface="宋体" panose="02010600030101010101" pitchFamily="2" charset="-122"/>
              </a:rPr>
              <a:t>8.1  </a:t>
            </a:r>
            <a:r>
              <a:rPr lang="zh-CN" altLang="en-US" b="1" dirty="0">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ea typeface="宋体" panose="02010600030101010101" pitchFamily="2" charset="-122"/>
              </a:rPr>
              <a:t>8.2  </a:t>
            </a:r>
            <a:r>
              <a:rPr lang="zh-CN" altLang="en-US" b="1" dirty="0">
                <a:ea typeface="宋体" panose="02010600030101010101" pitchFamily="2" charset="-122"/>
              </a:rPr>
              <a:t>封锁</a:t>
            </a:r>
          </a:p>
          <a:p>
            <a:pPr algn="just">
              <a:lnSpc>
                <a:spcPct val="130000"/>
              </a:lnSpc>
              <a:buFont typeface="Wingdings" panose="05000000000000000000" pitchFamily="2" charset="2"/>
              <a:buNone/>
            </a:pPr>
            <a:r>
              <a:rPr lang="en-US" altLang="zh-CN" b="1" dirty="0">
                <a:ea typeface="宋体" panose="02010600030101010101" pitchFamily="2" charset="-122"/>
              </a:rPr>
              <a:t>8.3  </a:t>
            </a:r>
            <a:r>
              <a:rPr lang="zh-CN" altLang="en-US" b="1" dirty="0">
                <a:ea typeface="宋体" panose="02010600030101010101" pitchFamily="2" charset="-122"/>
              </a:rPr>
              <a:t>活锁和死锁</a:t>
            </a:r>
          </a:p>
          <a:p>
            <a:pPr algn="just">
              <a:lnSpc>
                <a:spcPct val="130000"/>
              </a:lnSpc>
              <a:buFont typeface="Wingdings" panose="05000000000000000000" pitchFamily="2" charset="2"/>
              <a:buNone/>
            </a:pPr>
            <a:r>
              <a:rPr lang="en-US" altLang="zh-CN" b="1" dirty="0">
                <a:ea typeface="宋体" panose="02010600030101010101" pitchFamily="2" charset="-122"/>
              </a:rPr>
              <a:t>8.4  </a:t>
            </a:r>
            <a:r>
              <a:rPr lang="zh-CN" altLang="en-US" b="1" dirty="0">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ea typeface="宋体" panose="02010600030101010101" pitchFamily="2" charset="-122"/>
              </a:rPr>
              <a:t>8.5   </a:t>
            </a:r>
            <a:r>
              <a:rPr lang="zh-CN" altLang="en-US" b="1" dirty="0">
                <a:ea typeface="宋体" panose="02010600030101010101" pitchFamily="2" charset="-122"/>
              </a:rPr>
              <a:t>两段锁协议</a:t>
            </a:r>
          </a:p>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8.6   </a:t>
            </a:r>
            <a:r>
              <a:rPr lang="zh-CN" altLang="en-US" b="1" dirty="0">
                <a:solidFill>
                  <a:schemeClr val="tx2"/>
                </a:solidFill>
                <a:ea typeface="宋体" panose="02010600030101010101" pitchFamily="2" charset="-122"/>
              </a:rPr>
              <a:t>封锁的粒度</a:t>
            </a:r>
          </a:p>
          <a:p>
            <a:pPr algn="just">
              <a:lnSpc>
                <a:spcPct val="130000"/>
              </a:lnSpc>
              <a:buFont typeface="Wingdings" panose="05000000000000000000" pitchFamily="2" charset="2"/>
              <a:buNone/>
            </a:pPr>
            <a:r>
              <a:rPr lang="en-US" altLang="zh-CN" b="1" dirty="0">
                <a:ea typeface="宋体" panose="02010600030101010101" pitchFamily="2" charset="-122"/>
              </a:rPr>
              <a:t>8.7   </a:t>
            </a:r>
            <a:r>
              <a:rPr lang="zh-CN" altLang="en-US" b="1" dirty="0">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90</a:t>
            </a:fld>
            <a:endParaRPr lang="en-US" altLang="zh-CN"/>
          </a:p>
        </p:txBody>
      </p:sp>
    </p:spTree>
    <p:extLst>
      <p:ext uri="{BB962C8B-B14F-4D97-AF65-F5344CB8AC3E}">
        <p14:creationId xmlns:p14="http://schemas.microsoft.com/office/powerpoint/2010/main" val="4791923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zh-CN" altLang="en-US">
                <a:ea typeface="宋体" panose="02010600030101010101" pitchFamily="2" charset="-122"/>
              </a:rPr>
              <a:t>封锁粒度</a:t>
            </a:r>
          </a:p>
        </p:txBody>
      </p:sp>
      <p:sp>
        <p:nvSpPr>
          <p:cNvPr id="419843" name="Rectangle 3"/>
          <p:cNvSpPr>
            <a:spLocks noGrp="1" noChangeArrowheads="1"/>
          </p:cNvSpPr>
          <p:nvPr>
            <p:ph type="body" idx="1"/>
          </p:nvPr>
        </p:nvSpPr>
        <p:spPr/>
        <p:txBody>
          <a:bodyPr/>
          <a:lstStyle/>
          <a:p>
            <a:pPr>
              <a:lnSpc>
                <a:spcPct val="170000"/>
              </a:lnSpc>
            </a:pPr>
            <a:r>
              <a:rPr lang="zh-CN" altLang="en-US" sz="2400">
                <a:ea typeface="宋体" panose="02010600030101010101" pitchFamily="2" charset="-122"/>
              </a:rPr>
              <a:t>封锁对象的大小称为封锁粒度</a:t>
            </a:r>
            <a:r>
              <a:rPr lang="en-US" altLang="zh-CN" sz="2400">
                <a:ea typeface="宋体" panose="02010600030101010101" pitchFamily="2" charset="-122"/>
              </a:rPr>
              <a:t>(Granularity) </a:t>
            </a:r>
          </a:p>
          <a:p>
            <a:pPr>
              <a:lnSpc>
                <a:spcPct val="170000"/>
              </a:lnSpc>
            </a:pPr>
            <a:r>
              <a:rPr lang="zh-CN" altLang="en-US" sz="2400">
                <a:ea typeface="宋体" panose="02010600030101010101" pitchFamily="2" charset="-122"/>
              </a:rPr>
              <a:t>封锁的对象：逻辑单元，物理单元 </a:t>
            </a:r>
          </a:p>
          <a:p>
            <a:pPr>
              <a:lnSpc>
                <a:spcPct val="170000"/>
              </a:lnSpc>
              <a:buFont typeface="Wingdings" panose="05000000000000000000" pitchFamily="2" charset="2"/>
              <a:buNone/>
            </a:pPr>
            <a:r>
              <a:rPr lang="zh-CN" altLang="en-US" sz="2400">
                <a:ea typeface="宋体" panose="02010600030101010101" pitchFamily="2" charset="-122"/>
              </a:rPr>
              <a:t>     例：在关系数据库中，封锁对象：</a:t>
            </a:r>
            <a:endParaRPr lang="zh-CN" altLang="en-US">
              <a:ea typeface="宋体" panose="02010600030101010101" pitchFamily="2" charset="-122"/>
            </a:endParaRPr>
          </a:p>
          <a:p>
            <a:pPr lvl="1">
              <a:lnSpc>
                <a:spcPct val="170000"/>
              </a:lnSpc>
            </a:pPr>
            <a:r>
              <a:rPr lang="zh-CN" altLang="en-US" sz="2200">
                <a:ea typeface="宋体" panose="02010600030101010101" pitchFamily="2" charset="-122"/>
              </a:rPr>
              <a:t>逻辑单元</a:t>
            </a:r>
            <a:r>
              <a:rPr lang="en-US" altLang="zh-CN" sz="2200">
                <a:ea typeface="宋体" panose="02010600030101010101" pitchFamily="2" charset="-122"/>
              </a:rPr>
              <a:t>: </a:t>
            </a:r>
            <a:r>
              <a:rPr lang="zh-CN" altLang="en-US" sz="2200">
                <a:ea typeface="宋体" panose="02010600030101010101" pitchFamily="2" charset="-122"/>
              </a:rPr>
              <a:t>属性值、属性值集合、元组、关系、索引项、整个索引、整个数据库等</a:t>
            </a:r>
          </a:p>
          <a:p>
            <a:pPr lvl="1">
              <a:lnSpc>
                <a:spcPct val="170000"/>
              </a:lnSpc>
            </a:pPr>
            <a:r>
              <a:rPr lang="zh-CN" altLang="en-US" sz="2200">
                <a:ea typeface="宋体" panose="02010600030101010101" pitchFamily="2" charset="-122"/>
              </a:rPr>
              <a:t>物理单元：页（数据页或索引页）、物理记录等</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91</a:t>
            </a:fld>
            <a:endParaRPr lang="en-US" altLang="zh-CN"/>
          </a:p>
        </p:txBody>
      </p:sp>
    </p:spTree>
    <p:extLst>
      <p:ext uri="{BB962C8B-B14F-4D97-AF65-F5344CB8AC3E}">
        <p14:creationId xmlns:p14="http://schemas.microsoft.com/office/powerpoint/2010/main" val="37199025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zh-CN" altLang="en-US">
                <a:ea typeface="宋体" panose="02010600030101010101" pitchFamily="2" charset="-122"/>
              </a:rPr>
              <a:t>选择封锁粒度原则</a:t>
            </a:r>
          </a:p>
        </p:txBody>
      </p:sp>
      <p:sp>
        <p:nvSpPr>
          <p:cNvPr id="420867" name="Rectangle 3"/>
          <p:cNvSpPr>
            <a:spLocks noGrp="1" noChangeArrowheads="1"/>
          </p:cNvSpPr>
          <p:nvPr>
            <p:ph type="body" idx="1"/>
          </p:nvPr>
        </p:nvSpPr>
        <p:spPr/>
        <p:txBody>
          <a:bodyPr/>
          <a:lstStyle/>
          <a:p>
            <a:pPr>
              <a:lnSpc>
                <a:spcPct val="140000"/>
              </a:lnSpc>
            </a:pPr>
            <a:r>
              <a:rPr lang="zh-CN" altLang="en-US">
                <a:ea typeface="宋体" panose="02010600030101010101" pitchFamily="2" charset="-122"/>
              </a:rPr>
              <a:t>封锁粒度与系统的并发度和并发控制的开销密切相关。</a:t>
            </a:r>
          </a:p>
          <a:p>
            <a:pPr lvl="1">
              <a:lnSpc>
                <a:spcPct val="180000"/>
              </a:lnSpc>
            </a:pPr>
            <a:r>
              <a:rPr lang="zh-CN" altLang="en-US">
                <a:ea typeface="宋体" panose="02010600030101010101" pitchFamily="2" charset="-122"/>
              </a:rPr>
              <a:t>封锁的粒度越大，数据库所能够封锁的数据单元就越少，并发度就越小，系统开销也越小；</a:t>
            </a:r>
          </a:p>
          <a:p>
            <a:pPr lvl="1">
              <a:lnSpc>
                <a:spcPct val="180000"/>
              </a:lnSpc>
            </a:pPr>
            <a:r>
              <a:rPr lang="zh-CN" altLang="en-US">
                <a:ea typeface="宋体" panose="02010600030101010101" pitchFamily="2" charset="-122"/>
              </a:rPr>
              <a:t>封锁的粒度越小，并发度较高，但系统开销也就越大</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92</a:t>
            </a:fld>
            <a:endParaRPr lang="en-US" altLang="zh-CN"/>
          </a:p>
        </p:txBody>
      </p:sp>
    </p:spTree>
    <p:extLst>
      <p:ext uri="{BB962C8B-B14F-4D97-AF65-F5344CB8AC3E}">
        <p14:creationId xmlns:p14="http://schemas.microsoft.com/office/powerpoint/2010/main" val="40638070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title"/>
          </p:nvPr>
        </p:nvSpPr>
        <p:spPr/>
        <p:txBody>
          <a:bodyPr/>
          <a:lstStyle/>
          <a:p>
            <a:r>
              <a:rPr lang="zh-CN" altLang="en-US">
                <a:ea typeface="宋体" panose="02010600030101010101" pitchFamily="2" charset="-122"/>
              </a:rPr>
              <a:t>选择封锁粒度的原则（续）</a:t>
            </a:r>
          </a:p>
        </p:txBody>
      </p:sp>
      <p:sp>
        <p:nvSpPr>
          <p:cNvPr id="519171" name="Rectangle 3"/>
          <p:cNvSpPr>
            <a:spLocks noGrp="1" noChangeArrowheads="1"/>
          </p:cNvSpPr>
          <p:nvPr>
            <p:ph type="body" idx="1"/>
          </p:nvPr>
        </p:nvSpPr>
        <p:spPr/>
        <p:txBody>
          <a:bodyPr/>
          <a:lstStyle/>
          <a:p>
            <a:pPr>
              <a:buFont typeface="Wingdings" panose="05000000000000000000" pitchFamily="2" charset="2"/>
              <a:buNone/>
            </a:pPr>
            <a:r>
              <a:rPr lang="zh-CN" altLang="en-US" sz="2400">
                <a:ea typeface="宋体" panose="02010600030101010101" pitchFamily="2" charset="-122"/>
              </a:rPr>
              <a:t>例</a:t>
            </a:r>
          </a:p>
          <a:p>
            <a:pPr>
              <a:lnSpc>
                <a:spcPct val="140000"/>
              </a:lnSpc>
            </a:pPr>
            <a:r>
              <a:rPr lang="zh-CN" altLang="en-US" sz="2400">
                <a:ea typeface="宋体" panose="02010600030101010101" pitchFamily="2" charset="-122"/>
              </a:rPr>
              <a:t>若封锁粒度是数据页，事务</a:t>
            </a:r>
            <a:r>
              <a:rPr lang="en-US" altLang="zh-CN" sz="2400">
                <a:ea typeface="宋体" panose="02010600030101010101" pitchFamily="2" charset="-122"/>
              </a:rPr>
              <a:t>T1</a:t>
            </a:r>
            <a:r>
              <a:rPr lang="zh-CN" altLang="en-US" sz="2400">
                <a:ea typeface="宋体" panose="02010600030101010101" pitchFamily="2" charset="-122"/>
              </a:rPr>
              <a:t>需要修改元组</a:t>
            </a:r>
            <a:r>
              <a:rPr lang="en-US" altLang="zh-CN" sz="2400">
                <a:ea typeface="宋体" panose="02010600030101010101" pitchFamily="2" charset="-122"/>
              </a:rPr>
              <a:t>L1</a:t>
            </a:r>
            <a:r>
              <a:rPr lang="zh-CN" altLang="en-US" sz="2400">
                <a:ea typeface="宋体" panose="02010600030101010101" pitchFamily="2" charset="-122"/>
              </a:rPr>
              <a:t>，则</a:t>
            </a:r>
            <a:r>
              <a:rPr lang="en-US" altLang="zh-CN" sz="2400">
                <a:ea typeface="宋体" panose="02010600030101010101" pitchFamily="2" charset="-122"/>
              </a:rPr>
              <a:t>T1</a:t>
            </a:r>
            <a:r>
              <a:rPr lang="zh-CN" altLang="en-US" sz="2400">
                <a:ea typeface="宋体" panose="02010600030101010101" pitchFamily="2" charset="-122"/>
              </a:rPr>
              <a:t>必须对包含</a:t>
            </a:r>
            <a:r>
              <a:rPr lang="en-US" altLang="zh-CN" sz="2400">
                <a:ea typeface="宋体" panose="02010600030101010101" pitchFamily="2" charset="-122"/>
              </a:rPr>
              <a:t>L1</a:t>
            </a:r>
            <a:r>
              <a:rPr lang="zh-CN" altLang="en-US" sz="2400">
                <a:ea typeface="宋体" panose="02010600030101010101" pitchFamily="2" charset="-122"/>
              </a:rPr>
              <a:t>的整个数据页</a:t>
            </a:r>
            <a:r>
              <a:rPr lang="en-US" altLang="zh-CN" sz="2400">
                <a:ea typeface="宋体" panose="02010600030101010101" pitchFamily="2" charset="-122"/>
              </a:rPr>
              <a:t>A</a:t>
            </a:r>
            <a:r>
              <a:rPr lang="zh-CN" altLang="en-US" sz="2400">
                <a:ea typeface="宋体" panose="02010600030101010101" pitchFamily="2" charset="-122"/>
              </a:rPr>
              <a:t>加锁。如果</a:t>
            </a:r>
            <a:r>
              <a:rPr lang="en-US" altLang="zh-CN" sz="2400">
                <a:ea typeface="宋体" panose="02010600030101010101" pitchFamily="2" charset="-122"/>
              </a:rPr>
              <a:t>T1</a:t>
            </a:r>
            <a:r>
              <a:rPr lang="zh-CN" altLang="en-US" sz="2400">
                <a:ea typeface="宋体" panose="02010600030101010101" pitchFamily="2" charset="-122"/>
              </a:rPr>
              <a:t>对</a:t>
            </a:r>
            <a:r>
              <a:rPr lang="en-US" altLang="zh-CN" sz="2400">
                <a:ea typeface="宋体" panose="02010600030101010101" pitchFamily="2" charset="-122"/>
              </a:rPr>
              <a:t>A</a:t>
            </a:r>
            <a:r>
              <a:rPr lang="zh-CN" altLang="en-US" sz="2400">
                <a:ea typeface="宋体" panose="02010600030101010101" pitchFamily="2" charset="-122"/>
              </a:rPr>
              <a:t>加锁后事务</a:t>
            </a:r>
            <a:r>
              <a:rPr lang="en-US" altLang="zh-CN" sz="2400">
                <a:ea typeface="宋体" panose="02010600030101010101" pitchFamily="2" charset="-122"/>
              </a:rPr>
              <a:t>T2</a:t>
            </a:r>
            <a:r>
              <a:rPr lang="zh-CN" altLang="en-US" sz="2400">
                <a:ea typeface="宋体" panose="02010600030101010101" pitchFamily="2" charset="-122"/>
              </a:rPr>
              <a:t>要修改</a:t>
            </a:r>
            <a:r>
              <a:rPr lang="en-US" altLang="zh-CN" sz="2400">
                <a:ea typeface="宋体" panose="02010600030101010101" pitchFamily="2" charset="-122"/>
              </a:rPr>
              <a:t>A</a:t>
            </a:r>
            <a:r>
              <a:rPr lang="zh-CN" altLang="en-US" sz="2400">
                <a:ea typeface="宋体" panose="02010600030101010101" pitchFamily="2" charset="-122"/>
              </a:rPr>
              <a:t>中元组</a:t>
            </a:r>
            <a:r>
              <a:rPr lang="en-US" altLang="zh-CN" sz="2400">
                <a:ea typeface="宋体" panose="02010600030101010101" pitchFamily="2" charset="-122"/>
              </a:rPr>
              <a:t>L2</a:t>
            </a:r>
            <a:r>
              <a:rPr lang="zh-CN" altLang="en-US" sz="2400">
                <a:ea typeface="宋体" panose="02010600030101010101" pitchFamily="2" charset="-122"/>
              </a:rPr>
              <a:t>，则</a:t>
            </a:r>
            <a:r>
              <a:rPr lang="en-US" altLang="zh-CN" sz="2400">
                <a:ea typeface="宋体" panose="02010600030101010101" pitchFamily="2" charset="-122"/>
              </a:rPr>
              <a:t>T2</a:t>
            </a:r>
            <a:r>
              <a:rPr lang="zh-CN" altLang="en-US" sz="2400">
                <a:ea typeface="宋体" panose="02010600030101010101" pitchFamily="2" charset="-122"/>
              </a:rPr>
              <a:t>被迫等待，直到</a:t>
            </a:r>
            <a:r>
              <a:rPr lang="en-US" altLang="zh-CN" sz="2400">
                <a:ea typeface="宋体" panose="02010600030101010101" pitchFamily="2" charset="-122"/>
              </a:rPr>
              <a:t>T1</a:t>
            </a:r>
            <a:r>
              <a:rPr lang="zh-CN" altLang="en-US" sz="2400">
                <a:ea typeface="宋体" panose="02010600030101010101" pitchFamily="2" charset="-122"/>
              </a:rPr>
              <a:t>释放</a:t>
            </a:r>
            <a:r>
              <a:rPr lang="en-US" altLang="zh-CN" sz="2400">
                <a:ea typeface="宋体" panose="02010600030101010101" pitchFamily="2" charset="-122"/>
              </a:rPr>
              <a:t>A</a:t>
            </a:r>
            <a:r>
              <a:rPr lang="zh-CN" altLang="en-US" sz="2400">
                <a:ea typeface="宋体" panose="02010600030101010101" pitchFamily="2" charset="-122"/>
              </a:rPr>
              <a:t>。</a:t>
            </a:r>
          </a:p>
          <a:p>
            <a:pPr>
              <a:lnSpc>
                <a:spcPct val="140000"/>
              </a:lnSpc>
            </a:pPr>
            <a:r>
              <a:rPr lang="zh-CN" altLang="en-US" sz="2400">
                <a:ea typeface="宋体" panose="02010600030101010101" pitchFamily="2" charset="-122"/>
              </a:rPr>
              <a:t>如果封锁粒度是元组，则</a:t>
            </a:r>
            <a:r>
              <a:rPr lang="en-US" altLang="zh-CN" sz="2400">
                <a:ea typeface="宋体" panose="02010600030101010101" pitchFamily="2" charset="-122"/>
              </a:rPr>
              <a:t>T1</a:t>
            </a:r>
            <a:r>
              <a:rPr lang="zh-CN" altLang="en-US" sz="2400">
                <a:ea typeface="宋体" panose="02010600030101010101" pitchFamily="2" charset="-122"/>
              </a:rPr>
              <a:t>和</a:t>
            </a:r>
            <a:r>
              <a:rPr lang="en-US" altLang="zh-CN" sz="2400">
                <a:ea typeface="宋体" panose="02010600030101010101" pitchFamily="2" charset="-122"/>
              </a:rPr>
              <a:t>T2</a:t>
            </a:r>
            <a:r>
              <a:rPr lang="zh-CN" altLang="en-US" sz="2400">
                <a:ea typeface="宋体" panose="02010600030101010101" pitchFamily="2" charset="-122"/>
              </a:rPr>
              <a:t>可以同时对</a:t>
            </a:r>
            <a:r>
              <a:rPr lang="en-US" altLang="zh-CN" sz="2400">
                <a:ea typeface="宋体" panose="02010600030101010101" pitchFamily="2" charset="-122"/>
              </a:rPr>
              <a:t>L1</a:t>
            </a:r>
            <a:r>
              <a:rPr lang="zh-CN" altLang="en-US" sz="2400">
                <a:ea typeface="宋体" panose="02010600030101010101" pitchFamily="2" charset="-122"/>
              </a:rPr>
              <a:t>和</a:t>
            </a:r>
            <a:r>
              <a:rPr lang="en-US" altLang="zh-CN" sz="2400">
                <a:ea typeface="宋体" panose="02010600030101010101" pitchFamily="2" charset="-122"/>
              </a:rPr>
              <a:t>L2</a:t>
            </a:r>
            <a:r>
              <a:rPr lang="zh-CN" altLang="en-US" sz="2400">
                <a:ea typeface="宋体" panose="02010600030101010101" pitchFamily="2" charset="-122"/>
              </a:rPr>
              <a:t>加锁，不需要互相等待，提高了系统的并行度。</a:t>
            </a:r>
          </a:p>
          <a:p>
            <a:pPr>
              <a:lnSpc>
                <a:spcPct val="140000"/>
              </a:lnSpc>
            </a:pPr>
            <a:r>
              <a:rPr lang="zh-CN" altLang="en-US" sz="2400">
                <a:ea typeface="宋体" panose="02010600030101010101" pitchFamily="2" charset="-122"/>
              </a:rPr>
              <a:t>又如，事务</a:t>
            </a:r>
            <a:r>
              <a:rPr lang="en-US" altLang="zh-CN" sz="2400">
                <a:ea typeface="宋体" panose="02010600030101010101" pitchFamily="2" charset="-122"/>
              </a:rPr>
              <a:t>T</a:t>
            </a:r>
            <a:r>
              <a:rPr lang="zh-CN" altLang="en-US" sz="2400">
                <a:ea typeface="宋体" panose="02010600030101010101" pitchFamily="2" charset="-122"/>
              </a:rPr>
              <a:t>需要读取整个表，若封锁粒度是元组，</a:t>
            </a:r>
            <a:r>
              <a:rPr lang="en-US" altLang="zh-CN" sz="2400">
                <a:ea typeface="宋体" panose="02010600030101010101" pitchFamily="2" charset="-122"/>
              </a:rPr>
              <a:t>T</a:t>
            </a:r>
            <a:r>
              <a:rPr lang="zh-CN" altLang="en-US" sz="2400">
                <a:ea typeface="宋体" panose="02010600030101010101" pitchFamily="2" charset="-122"/>
              </a:rPr>
              <a:t>必须对表中的每一个元组加锁，开销极大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93</a:t>
            </a:fld>
            <a:endParaRPr lang="en-US" altLang="zh-CN"/>
          </a:p>
        </p:txBody>
      </p:sp>
    </p:spTree>
    <p:extLst>
      <p:ext uri="{BB962C8B-B14F-4D97-AF65-F5344CB8AC3E}">
        <p14:creationId xmlns:p14="http://schemas.microsoft.com/office/powerpoint/2010/main" val="35208365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r>
              <a:rPr lang="zh-CN" altLang="en-US">
                <a:ea typeface="宋体" panose="02010600030101010101" pitchFamily="2" charset="-122"/>
              </a:rPr>
              <a:t>选择封锁粒度的原则（续）</a:t>
            </a:r>
          </a:p>
        </p:txBody>
      </p:sp>
      <p:sp>
        <p:nvSpPr>
          <p:cNvPr id="423939" name="Rectangle 3"/>
          <p:cNvSpPr>
            <a:spLocks noGrp="1" noChangeArrowheads="1"/>
          </p:cNvSpPr>
          <p:nvPr>
            <p:ph type="body" idx="1"/>
          </p:nvPr>
        </p:nvSpPr>
        <p:spPr>
          <a:xfrm>
            <a:off x="684213" y="1916113"/>
            <a:ext cx="8135937" cy="4537075"/>
          </a:xfrm>
        </p:spPr>
        <p:txBody>
          <a:bodyPr/>
          <a:lstStyle/>
          <a:p>
            <a:pPr>
              <a:lnSpc>
                <a:spcPct val="170000"/>
              </a:lnSpc>
            </a:pPr>
            <a:r>
              <a:rPr lang="zh-CN" altLang="en-US" sz="2200">
                <a:ea typeface="宋体" panose="02010600030101010101" pitchFamily="2" charset="-122"/>
              </a:rPr>
              <a:t>多粒度封锁</a:t>
            </a:r>
            <a:r>
              <a:rPr lang="en-US" altLang="zh-CN" sz="2200">
                <a:ea typeface="宋体" panose="02010600030101010101" pitchFamily="2" charset="-122"/>
              </a:rPr>
              <a:t>(Multiple Granularity Locking)</a:t>
            </a:r>
          </a:p>
          <a:p>
            <a:pPr>
              <a:lnSpc>
                <a:spcPct val="170000"/>
              </a:lnSpc>
              <a:buFont typeface="Wingdings" panose="05000000000000000000" pitchFamily="2" charset="2"/>
              <a:buNone/>
            </a:pPr>
            <a:r>
              <a:rPr lang="en-US" altLang="zh-CN" sz="2200">
                <a:ea typeface="宋体" panose="02010600030101010101" pitchFamily="2" charset="-122"/>
              </a:rPr>
              <a:t>    </a:t>
            </a:r>
            <a:r>
              <a:rPr lang="zh-CN" altLang="en-US" sz="2200">
                <a:ea typeface="宋体" panose="02010600030101010101" pitchFamily="2" charset="-122"/>
              </a:rPr>
              <a:t>在一个系统中同时支持多种封锁粒度供不同的事务选择</a:t>
            </a:r>
          </a:p>
          <a:p>
            <a:pPr>
              <a:lnSpc>
                <a:spcPct val="170000"/>
              </a:lnSpc>
            </a:pPr>
            <a:r>
              <a:rPr lang="zh-CN" altLang="en-US" sz="2200">
                <a:ea typeface="宋体" panose="02010600030101010101" pitchFamily="2" charset="-122"/>
              </a:rPr>
              <a:t>选择封锁粒度</a:t>
            </a:r>
          </a:p>
          <a:p>
            <a:pPr>
              <a:lnSpc>
                <a:spcPct val="170000"/>
              </a:lnSpc>
              <a:buFont typeface="Wingdings" panose="05000000000000000000" pitchFamily="2" charset="2"/>
              <a:buNone/>
            </a:pPr>
            <a:r>
              <a:rPr lang="zh-CN" altLang="en-US" sz="2200">
                <a:ea typeface="宋体" panose="02010600030101010101" pitchFamily="2" charset="-122"/>
              </a:rPr>
              <a:t>     同时考虑封锁开销和并发度两个因素，适当选择封锁粒度</a:t>
            </a:r>
          </a:p>
          <a:p>
            <a:pPr lvl="1">
              <a:lnSpc>
                <a:spcPct val="170000"/>
              </a:lnSpc>
            </a:pPr>
            <a:r>
              <a:rPr lang="zh-CN" altLang="en-US" sz="2000">
                <a:ea typeface="宋体" panose="02010600030101010101" pitchFamily="2" charset="-122"/>
              </a:rPr>
              <a:t>需要处理多个关系的大量元组的用户事务：以数据库为封锁单位</a:t>
            </a:r>
          </a:p>
          <a:p>
            <a:pPr lvl="1">
              <a:lnSpc>
                <a:spcPct val="170000"/>
              </a:lnSpc>
            </a:pPr>
            <a:r>
              <a:rPr lang="zh-CN" altLang="en-US" sz="2000">
                <a:ea typeface="宋体" panose="02010600030101010101" pitchFamily="2" charset="-122"/>
              </a:rPr>
              <a:t>需要处理大量元组的用户事务：以关系为封锁单元</a:t>
            </a:r>
          </a:p>
          <a:p>
            <a:pPr lvl="1">
              <a:lnSpc>
                <a:spcPct val="170000"/>
              </a:lnSpc>
            </a:pPr>
            <a:r>
              <a:rPr lang="zh-CN" altLang="en-US" sz="2000">
                <a:ea typeface="宋体" panose="02010600030101010101" pitchFamily="2" charset="-122"/>
              </a:rPr>
              <a:t>只处理少量元组的用户事务：以元组为封锁单位</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94</a:t>
            </a:fld>
            <a:endParaRPr lang="en-US" altLang="zh-CN"/>
          </a:p>
        </p:txBody>
      </p:sp>
    </p:spTree>
    <p:extLst>
      <p:ext uri="{BB962C8B-B14F-4D97-AF65-F5344CB8AC3E}">
        <p14:creationId xmlns:p14="http://schemas.microsoft.com/office/powerpoint/2010/main" val="16730375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r>
              <a:rPr lang="en-US" altLang="zh-CN" dirty="0">
                <a:ea typeface="宋体" panose="02010600030101010101" pitchFamily="2" charset="-122"/>
              </a:rPr>
              <a:t>8.6.1 </a:t>
            </a:r>
            <a:r>
              <a:rPr lang="zh-CN" altLang="en-US" dirty="0">
                <a:ea typeface="宋体" panose="02010600030101010101" pitchFamily="2" charset="-122"/>
              </a:rPr>
              <a:t>多粒度封锁</a:t>
            </a:r>
          </a:p>
        </p:txBody>
      </p:sp>
      <p:sp>
        <p:nvSpPr>
          <p:cNvPr id="425987" name="Rectangle 3"/>
          <p:cNvSpPr>
            <a:spLocks noGrp="1" noChangeArrowheads="1"/>
          </p:cNvSpPr>
          <p:nvPr>
            <p:ph type="body" idx="1"/>
          </p:nvPr>
        </p:nvSpPr>
        <p:spPr/>
        <p:txBody>
          <a:bodyPr/>
          <a:lstStyle/>
          <a:p>
            <a:pPr>
              <a:lnSpc>
                <a:spcPct val="190000"/>
              </a:lnSpc>
            </a:pPr>
            <a:r>
              <a:rPr lang="zh-CN" altLang="en-US">
                <a:ea typeface="宋体" panose="02010600030101010101" pitchFamily="2" charset="-122"/>
              </a:rPr>
              <a:t>多粒度树</a:t>
            </a:r>
          </a:p>
          <a:p>
            <a:pPr lvl="1">
              <a:lnSpc>
                <a:spcPct val="190000"/>
              </a:lnSpc>
              <a:spcBef>
                <a:spcPct val="60000"/>
              </a:spcBef>
            </a:pPr>
            <a:r>
              <a:rPr lang="zh-CN" altLang="en-US">
                <a:ea typeface="宋体" panose="02010600030101010101" pitchFamily="2" charset="-122"/>
              </a:rPr>
              <a:t>以树形结构来表示多级封锁粒度</a:t>
            </a:r>
          </a:p>
          <a:p>
            <a:pPr lvl="1">
              <a:lnSpc>
                <a:spcPct val="190000"/>
              </a:lnSpc>
              <a:spcBef>
                <a:spcPct val="60000"/>
              </a:spcBef>
            </a:pPr>
            <a:r>
              <a:rPr lang="zh-CN" altLang="en-US">
                <a:ea typeface="宋体" panose="02010600030101010101" pitchFamily="2" charset="-122"/>
              </a:rPr>
              <a:t>根结点是整个数据库，表示最大的数据粒度</a:t>
            </a:r>
          </a:p>
          <a:p>
            <a:pPr lvl="1">
              <a:lnSpc>
                <a:spcPct val="190000"/>
              </a:lnSpc>
              <a:spcBef>
                <a:spcPct val="60000"/>
              </a:spcBef>
            </a:pPr>
            <a:r>
              <a:rPr lang="zh-CN" altLang="en-US">
                <a:ea typeface="宋体" panose="02010600030101010101" pitchFamily="2" charset="-122"/>
              </a:rPr>
              <a:t>叶结点表示最小的数据粒度</a:t>
            </a:r>
          </a:p>
          <a:p>
            <a:pPr lvl="3">
              <a:lnSpc>
                <a:spcPct val="90000"/>
              </a:lnSpc>
            </a:pPr>
            <a:endParaRPr lang="zh-CN" altLang="en-US" sz="2400">
              <a:ea typeface="宋体" panose="02010600030101010101" pitchFamily="2" charset="-122"/>
            </a:endParaRPr>
          </a:p>
          <a:p>
            <a:pPr>
              <a:lnSpc>
                <a:spcPct val="90000"/>
              </a:lnSpc>
              <a:buFont typeface="Wingdings" panose="05000000000000000000" pitchFamily="2" charset="2"/>
              <a:buNone/>
            </a:pPr>
            <a:r>
              <a:rPr lang="zh-CN" altLang="en-US" sz="2400">
                <a:ea typeface="宋体" panose="02010600030101010101" pitchFamily="2" charset="-122"/>
              </a:rPr>
              <a:t>    </a:t>
            </a:r>
            <a:endParaRPr lang="zh-CN" altLang="en-US" sz="20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95</a:t>
            </a:fld>
            <a:endParaRPr lang="en-US" altLang="zh-CN"/>
          </a:p>
        </p:txBody>
      </p:sp>
    </p:spTree>
    <p:extLst>
      <p:ext uri="{BB962C8B-B14F-4D97-AF65-F5344CB8AC3E}">
        <p14:creationId xmlns:p14="http://schemas.microsoft.com/office/powerpoint/2010/main" val="23780166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zh-CN" altLang="en-US">
                <a:ea typeface="宋体" panose="02010600030101010101" pitchFamily="2" charset="-122"/>
              </a:rPr>
              <a:t>多粒度封锁（续）</a:t>
            </a:r>
          </a:p>
        </p:txBody>
      </p:sp>
      <p:sp>
        <p:nvSpPr>
          <p:cNvPr id="427011" name="Rectangle 3"/>
          <p:cNvSpPr>
            <a:spLocks noGrp="1" noChangeArrowheads="1"/>
          </p:cNvSpPr>
          <p:nvPr>
            <p:ph type="body" idx="1"/>
          </p:nvPr>
        </p:nvSpPr>
        <p:spPr/>
        <p:txBody>
          <a:bodyPr/>
          <a:lstStyle/>
          <a:p>
            <a:pPr>
              <a:lnSpc>
                <a:spcPct val="130000"/>
              </a:lnSpc>
              <a:buFont typeface="Wingdings" panose="05000000000000000000" pitchFamily="2" charset="2"/>
              <a:buNone/>
            </a:pPr>
            <a:r>
              <a:rPr lang="zh-CN" altLang="en-US" sz="2400">
                <a:ea typeface="宋体" panose="02010600030101010101" pitchFamily="2" charset="-122"/>
              </a:rPr>
              <a:t>例：三级粒度树。根结点为数据库，数据库的子结点为关系，关系的子结点为元组。</a:t>
            </a:r>
          </a:p>
        </p:txBody>
      </p:sp>
      <p:grpSp>
        <p:nvGrpSpPr>
          <p:cNvPr id="427012" name="Group 4"/>
          <p:cNvGrpSpPr>
            <a:grpSpLocks/>
          </p:cNvGrpSpPr>
          <p:nvPr/>
        </p:nvGrpSpPr>
        <p:grpSpPr bwMode="auto">
          <a:xfrm>
            <a:off x="2286000" y="3200400"/>
            <a:ext cx="5257800" cy="2536825"/>
            <a:chOff x="3447" y="9625"/>
            <a:chExt cx="3183" cy="1829"/>
          </a:xfrm>
        </p:grpSpPr>
        <p:sp>
          <p:nvSpPr>
            <p:cNvPr id="427013" name="Line 5"/>
            <p:cNvSpPr>
              <a:spLocks noChangeShapeType="1"/>
            </p:cNvSpPr>
            <p:nvPr/>
          </p:nvSpPr>
          <p:spPr bwMode="auto">
            <a:xfrm flipH="1">
              <a:off x="4226" y="9995"/>
              <a:ext cx="510" cy="38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27014" name="Line 6"/>
            <p:cNvSpPr>
              <a:spLocks noChangeShapeType="1"/>
            </p:cNvSpPr>
            <p:nvPr/>
          </p:nvSpPr>
          <p:spPr bwMode="auto">
            <a:xfrm>
              <a:off x="4976" y="9995"/>
              <a:ext cx="645" cy="36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27015" name="Line 7"/>
            <p:cNvSpPr>
              <a:spLocks noChangeShapeType="1"/>
            </p:cNvSpPr>
            <p:nvPr/>
          </p:nvSpPr>
          <p:spPr bwMode="auto">
            <a:xfrm flipH="1">
              <a:off x="3761" y="10680"/>
              <a:ext cx="345" cy="43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27016" name="Line 8"/>
            <p:cNvSpPr>
              <a:spLocks noChangeShapeType="1"/>
            </p:cNvSpPr>
            <p:nvPr/>
          </p:nvSpPr>
          <p:spPr bwMode="auto">
            <a:xfrm>
              <a:off x="4271" y="10678"/>
              <a:ext cx="330" cy="443"/>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27017" name="Line 9"/>
            <p:cNvSpPr>
              <a:spLocks noChangeShapeType="1"/>
            </p:cNvSpPr>
            <p:nvPr/>
          </p:nvSpPr>
          <p:spPr bwMode="auto">
            <a:xfrm flipH="1">
              <a:off x="5201" y="10704"/>
              <a:ext cx="315" cy="390"/>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27018" name="Line 10"/>
            <p:cNvSpPr>
              <a:spLocks noChangeShapeType="1"/>
            </p:cNvSpPr>
            <p:nvPr/>
          </p:nvSpPr>
          <p:spPr bwMode="auto">
            <a:xfrm>
              <a:off x="5756" y="10715"/>
              <a:ext cx="375" cy="379"/>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27019" name="Text Box 11"/>
            <p:cNvSpPr txBox="1">
              <a:spLocks noChangeArrowheads="1"/>
            </p:cNvSpPr>
            <p:nvPr/>
          </p:nvSpPr>
          <p:spPr bwMode="auto">
            <a:xfrm>
              <a:off x="4515" y="9625"/>
              <a:ext cx="795"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400"/>
                <a:t>数据库</a:t>
              </a:r>
            </a:p>
          </p:txBody>
        </p:sp>
        <p:sp>
          <p:nvSpPr>
            <p:cNvPr id="427020" name="Text Box 12"/>
            <p:cNvSpPr txBox="1">
              <a:spLocks noChangeArrowheads="1"/>
            </p:cNvSpPr>
            <p:nvPr/>
          </p:nvSpPr>
          <p:spPr bwMode="auto">
            <a:xfrm>
              <a:off x="5265" y="10315"/>
              <a:ext cx="810"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400"/>
                <a:t>关系</a:t>
              </a:r>
              <a:r>
                <a:rPr lang="en-US" altLang="zh-CN" sz="2400"/>
                <a:t>R</a:t>
              </a:r>
              <a:r>
                <a:rPr lang="en-US" altLang="zh-CN" sz="2400" i="1" baseline="-25000"/>
                <a:t>n</a:t>
              </a:r>
              <a:endParaRPr lang="en-US" altLang="zh-CN" sz="2400"/>
            </a:p>
          </p:txBody>
        </p:sp>
        <p:sp>
          <p:nvSpPr>
            <p:cNvPr id="427021" name="Text Box 13"/>
            <p:cNvSpPr txBox="1">
              <a:spLocks noChangeArrowheads="1"/>
            </p:cNvSpPr>
            <p:nvPr/>
          </p:nvSpPr>
          <p:spPr bwMode="auto">
            <a:xfrm>
              <a:off x="3810" y="10315"/>
              <a:ext cx="930" cy="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000"/>
                <a:t>关系</a:t>
              </a:r>
              <a:r>
                <a:rPr lang="en-US" altLang="zh-CN" sz="2000"/>
                <a:t>R</a:t>
              </a:r>
              <a:r>
                <a:rPr lang="en-US" altLang="zh-CN" sz="2000" baseline="-25000"/>
                <a:t>1</a:t>
              </a:r>
              <a:endParaRPr lang="en-US" altLang="zh-CN" sz="2000"/>
            </a:p>
          </p:txBody>
        </p:sp>
        <p:sp>
          <p:nvSpPr>
            <p:cNvPr id="427022" name="Text Box 14"/>
            <p:cNvSpPr txBox="1">
              <a:spLocks noChangeArrowheads="1"/>
            </p:cNvSpPr>
            <p:nvPr/>
          </p:nvSpPr>
          <p:spPr bwMode="auto">
            <a:xfrm>
              <a:off x="3447" y="11005"/>
              <a:ext cx="630"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400"/>
                <a:t>元组</a:t>
              </a:r>
            </a:p>
          </p:txBody>
        </p:sp>
        <p:sp>
          <p:nvSpPr>
            <p:cNvPr id="427023" name="Text Box 15"/>
            <p:cNvSpPr txBox="1">
              <a:spLocks noChangeArrowheads="1"/>
            </p:cNvSpPr>
            <p:nvPr/>
          </p:nvSpPr>
          <p:spPr bwMode="auto">
            <a:xfrm>
              <a:off x="5835" y="11005"/>
              <a:ext cx="795"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400"/>
                <a:t>元组</a:t>
              </a:r>
            </a:p>
          </p:txBody>
        </p:sp>
        <p:sp>
          <p:nvSpPr>
            <p:cNvPr id="427024" name="Text Box 16"/>
            <p:cNvSpPr txBox="1">
              <a:spLocks noChangeArrowheads="1"/>
            </p:cNvSpPr>
            <p:nvPr/>
          </p:nvSpPr>
          <p:spPr bwMode="auto">
            <a:xfrm>
              <a:off x="4257" y="11023"/>
              <a:ext cx="630"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400"/>
                <a:t>元组</a:t>
              </a:r>
            </a:p>
          </p:txBody>
        </p:sp>
        <p:sp>
          <p:nvSpPr>
            <p:cNvPr id="427025" name="Text Box 17"/>
            <p:cNvSpPr txBox="1">
              <a:spLocks noChangeArrowheads="1"/>
            </p:cNvSpPr>
            <p:nvPr/>
          </p:nvSpPr>
          <p:spPr bwMode="auto">
            <a:xfrm>
              <a:off x="4902" y="11023"/>
              <a:ext cx="630"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96000"/>
                </a:lnSpc>
              </a:pPr>
              <a:r>
                <a:rPr lang="zh-CN" altLang="en-US" sz="2400"/>
                <a:t>元组</a:t>
              </a:r>
            </a:p>
          </p:txBody>
        </p:sp>
        <p:sp>
          <p:nvSpPr>
            <p:cNvPr id="427026" name="Text Box 18"/>
            <p:cNvSpPr txBox="1">
              <a:spLocks noChangeArrowheads="1"/>
            </p:cNvSpPr>
            <p:nvPr/>
          </p:nvSpPr>
          <p:spPr bwMode="auto">
            <a:xfrm>
              <a:off x="4692" y="10405"/>
              <a:ext cx="1170" cy="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lnSpc>
                  <a:spcPct val="96000"/>
                </a:lnSpc>
              </a:pPr>
              <a:endParaRPr lang="zh-CN" altLang="zh-CN" sz="700" b="0"/>
            </a:p>
          </p:txBody>
        </p:sp>
        <p:sp>
          <p:nvSpPr>
            <p:cNvPr id="427027" name="Text Box 19"/>
            <p:cNvSpPr txBox="1">
              <a:spLocks noChangeArrowheads="1"/>
            </p:cNvSpPr>
            <p:nvPr/>
          </p:nvSpPr>
          <p:spPr bwMode="auto">
            <a:xfrm>
              <a:off x="4665" y="10330"/>
              <a:ext cx="810"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lnSpc>
                  <a:spcPct val="96000"/>
                </a:lnSpc>
              </a:pPr>
              <a:r>
                <a:rPr lang="en-US" altLang="zh-CN" sz="2400" b="0"/>
                <a:t>……</a:t>
              </a:r>
            </a:p>
          </p:txBody>
        </p:sp>
        <p:sp>
          <p:nvSpPr>
            <p:cNvPr id="427028" name="Text Box 20"/>
            <p:cNvSpPr txBox="1">
              <a:spLocks noChangeArrowheads="1"/>
            </p:cNvSpPr>
            <p:nvPr/>
          </p:nvSpPr>
          <p:spPr bwMode="auto">
            <a:xfrm>
              <a:off x="5355" y="11020"/>
              <a:ext cx="810" cy="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lnSpc>
                  <a:spcPct val="96000"/>
                </a:lnSpc>
              </a:pPr>
              <a:r>
                <a:rPr lang="en-US" altLang="zh-CN" sz="2000" b="0">
                  <a:latin typeface="宋体" panose="02010600030101010101" pitchFamily="2" charset="-122"/>
                </a:rPr>
                <a:t>   </a:t>
              </a:r>
              <a:r>
                <a:rPr lang="en-US" altLang="zh-CN" sz="2000" b="0"/>
                <a:t>……</a:t>
              </a:r>
            </a:p>
          </p:txBody>
        </p:sp>
        <p:sp>
          <p:nvSpPr>
            <p:cNvPr id="427029" name="Text Box 21"/>
            <p:cNvSpPr txBox="1">
              <a:spLocks noChangeArrowheads="1"/>
            </p:cNvSpPr>
            <p:nvPr/>
          </p:nvSpPr>
          <p:spPr bwMode="auto">
            <a:xfrm>
              <a:off x="3840" y="11020"/>
              <a:ext cx="810" cy="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lnSpc>
                  <a:spcPct val="96000"/>
                </a:lnSpc>
              </a:pPr>
              <a:r>
                <a:rPr lang="en-US" altLang="zh-CN" sz="2000" b="0">
                  <a:latin typeface="宋体" panose="02010600030101010101" pitchFamily="2" charset="-122"/>
                </a:rPr>
                <a:t>  </a:t>
              </a:r>
              <a:r>
                <a:rPr lang="en-US" altLang="zh-CN" sz="2000" b="0"/>
                <a:t>……</a:t>
              </a:r>
            </a:p>
          </p:txBody>
        </p:sp>
      </p:grpSp>
      <p:sp>
        <p:nvSpPr>
          <p:cNvPr id="427030" name="Text Box 22"/>
          <p:cNvSpPr txBox="1">
            <a:spLocks noChangeArrowheads="1"/>
          </p:cNvSpPr>
          <p:nvPr/>
        </p:nvSpPr>
        <p:spPr bwMode="auto">
          <a:xfrm>
            <a:off x="3924300" y="5876925"/>
            <a:ext cx="1335088"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a:t>三级粒度树</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96</a:t>
            </a:fld>
            <a:endParaRPr lang="en-US" altLang="zh-CN"/>
          </a:p>
        </p:txBody>
      </p:sp>
    </p:spTree>
    <p:extLst>
      <p:ext uri="{BB962C8B-B14F-4D97-AF65-F5344CB8AC3E}">
        <p14:creationId xmlns:p14="http://schemas.microsoft.com/office/powerpoint/2010/main" val="38085015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r>
              <a:rPr lang="zh-CN" altLang="en-US">
                <a:ea typeface="宋体" panose="02010600030101010101" pitchFamily="2" charset="-122"/>
              </a:rPr>
              <a:t>多粒度封锁协议</a:t>
            </a:r>
          </a:p>
        </p:txBody>
      </p:sp>
      <p:sp>
        <p:nvSpPr>
          <p:cNvPr id="428035" name="Rectangle 3"/>
          <p:cNvSpPr>
            <a:spLocks noGrp="1" noChangeArrowheads="1"/>
          </p:cNvSpPr>
          <p:nvPr>
            <p:ph type="body" idx="1"/>
          </p:nvPr>
        </p:nvSpPr>
        <p:spPr/>
        <p:txBody>
          <a:bodyPr/>
          <a:lstStyle/>
          <a:p>
            <a:pPr>
              <a:lnSpc>
                <a:spcPct val="150000"/>
              </a:lnSpc>
            </a:pPr>
            <a:r>
              <a:rPr lang="zh-CN" altLang="en-US">
                <a:ea typeface="宋体" panose="02010600030101010101" pitchFamily="2" charset="-122"/>
              </a:rPr>
              <a:t>允许多粒度树中的每个结点被独立地加锁</a:t>
            </a:r>
          </a:p>
          <a:p>
            <a:pPr>
              <a:lnSpc>
                <a:spcPct val="150000"/>
              </a:lnSpc>
              <a:spcBef>
                <a:spcPct val="60000"/>
              </a:spcBef>
            </a:pPr>
            <a:r>
              <a:rPr lang="zh-CN" altLang="en-US">
                <a:ea typeface="宋体" panose="02010600030101010101" pitchFamily="2" charset="-122"/>
              </a:rPr>
              <a:t>对一个结点加锁意味着这个结点的所有后裔结点也被加以同样类型的锁</a:t>
            </a:r>
          </a:p>
          <a:p>
            <a:pPr>
              <a:lnSpc>
                <a:spcPct val="150000"/>
              </a:lnSpc>
              <a:spcBef>
                <a:spcPct val="60000"/>
              </a:spcBef>
            </a:pPr>
            <a:r>
              <a:rPr lang="zh-CN" altLang="en-US">
                <a:ea typeface="宋体" panose="02010600030101010101" pitchFamily="2" charset="-122"/>
              </a:rPr>
              <a:t>在多粒度封锁中一个数据对象可能以两种方式封锁：</a:t>
            </a:r>
            <a:r>
              <a:rPr lang="zh-CN" altLang="en-US">
                <a:solidFill>
                  <a:srgbClr val="FF00FF"/>
                </a:solidFill>
                <a:ea typeface="宋体" panose="02010600030101010101" pitchFamily="2" charset="-122"/>
              </a:rPr>
              <a:t>显式封锁和隐式封锁</a:t>
            </a:r>
            <a:endParaRPr lang="zh-CN" altLang="en-US" sz="3200">
              <a:solidFill>
                <a:srgbClr val="FF00FF"/>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97</a:t>
            </a:fld>
            <a:endParaRPr lang="en-US" altLang="zh-CN"/>
          </a:p>
        </p:txBody>
      </p:sp>
    </p:spTree>
    <p:extLst>
      <p:ext uri="{BB962C8B-B14F-4D97-AF65-F5344CB8AC3E}">
        <p14:creationId xmlns:p14="http://schemas.microsoft.com/office/powerpoint/2010/main" val="10197433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r>
              <a:rPr lang="zh-CN" altLang="en-US">
                <a:ea typeface="宋体" panose="02010600030101010101" pitchFamily="2" charset="-122"/>
              </a:rPr>
              <a:t>显式封锁和隐式封锁</a:t>
            </a:r>
          </a:p>
        </p:txBody>
      </p:sp>
      <p:sp>
        <p:nvSpPr>
          <p:cNvPr id="429059" name="Rectangle 3"/>
          <p:cNvSpPr>
            <a:spLocks noGrp="1" noChangeArrowheads="1"/>
          </p:cNvSpPr>
          <p:nvPr>
            <p:ph type="body" idx="1"/>
          </p:nvPr>
        </p:nvSpPr>
        <p:spPr/>
        <p:txBody>
          <a:bodyPr/>
          <a:lstStyle/>
          <a:p>
            <a:pPr>
              <a:lnSpc>
                <a:spcPct val="140000"/>
              </a:lnSpc>
            </a:pPr>
            <a:r>
              <a:rPr lang="zh-CN" altLang="en-US">
                <a:ea typeface="宋体" panose="02010600030101010101" pitchFamily="2" charset="-122"/>
              </a:rPr>
              <a:t>显式封锁</a:t>
            </a:r>
            <a:r>
              <a:rPr lang="en-US" altLang="zh-CN">
                <a:ea typeface="宋体" panose="02010600030101010101" pitchFamily="2" charset="-122"/>
              </a:rPr>
              <a:t>: </a:t>
            </a:r>
            <a:r>
              <a:rPr lang="zh-CN" altLang="en-US">
                <a:ea typeface="宋体" panose="02010600030101010101" pitchFamily="2" charset="-122"/>
              </a:rPr>
              <a:t>直接加到数据对象上的封锁</a:t>
            </a:r>
          </a:p>
          <a:p>
            <a:pPr>
              <a:lnSpc>
                <a:spcPct val="140000"/>
              </a:lnSpc>
              <a:spcBef>
                <a:spcPct val="60000"/>
              </a:spcBef>
            </a:pPr>
            <a:r>
              <a:rPr lang="zh-CN" altLang="en-US">
                <a:ea typeface="宋体" panose="02010600030101010101" pitchFamily="2" charset="-122"/>
              </a:rPr>
              <a:t>隐式封锁</a:t>
            </a:r>
            <a:r>
              <a:rPr lang="en-US" altLang="zh-CN">
                <a:ea typeface="宋体" panose="02010600030101010101" pitchFamily="2" charset="-122"/>
              </a:rPr>
              <a:t>: </a:t>
            </a:r>
            <a:r>
              <a:rPr lang="zh-CN" altLang="en-US">
                <a:ea typeface="宋体" panose="02010600030101010101" pitchFamily="2" charset="-122"/>
              </a:rPr>
              <a:t>该数据对象没有独立加锁，是由于其上级结点加锁而使该数据对象加上了锁</a:t>
            </a:r>
          </a:p>
          <a:p>
            <a:pPr>
              <a:lnSpc>
                <a:spcPct val="140000"/>
              </a:lnSpc>
              <a:spcBef>
                <a:spcPct val="60000"/>
              </a:spcBef>
            </a:pPr>
            <a:r>
              <a:rPr lang="zh-CN" altLang="en-US">
                <a:ea typeface="宋体" panose="02010600030101010101" pitchFamily="2" charset="-122"/>
              </a:rPr>
              <a:t>显式封锁和隐式封锁的效果是一样的</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98</a:t>
            </a:fld>
            <a:endParaRPr lang="en-US" altLang="zh-CN"/>
          </a:p>
        </p:txBody>
      </p:sp>
    </p:spTree>
    <p:extLst>
      <p:ext uri="{BB962C8B-B14F-4D97-AF65-F5344CB8AC3E}">
        <p14:creationId xmlns:p14="http://schemas.microsoft.com/office/powerpoint/2010/main" val="29401815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title"/>
          </p:nvPr>
        </p:nvSpPr>
        <p:spPr/>
        <p:txBody>
          <a:bodyPr/>
          <a:lstStyle/>
          <a:p>
            <a:r>
              <a:rPr lang="zh-CN" altLang="en-US" sz="3200">
                <a:ea typeface="宋体" panose="02010600030101010101" pitchFamily="2" charset="-122"/>
              </a:rPr>
              <a:t>显式封锁和隐式封锁（续）</a:t>
            </a:r>
          </a:p>
        </p:txBody>
      </p:sp>
      <p:sp>
        <p:nvSpPr>
          <p:cNvPr id="520195" name="Rectangle 3"/>
          <p:cNvSpPr>
            <a:spLocks noGrp="1" noChangeArrowheads="1"/>
          </p:cNvSpPr>
          <p:nvPr>
            <p:ph type="body" idx="1"/>
          </p:nvPr>
        </p:nvSpPr>
        <p:spPr/>
        <p:txBody>
          <a:bodyPr/>
          <a:lstStyle/>
          <a:p>
            <a:pPr>
              <a:lnSpc>
                <a:spcPct val="160000"/>
              </a:lnSpc>
            </a:pPr>
            <a:r>
              <a:rPr lang="zh-CN" altLang="en-US" sz="2400">
                <a:ea typeface="宋体" panose="02010600030101010101" pitchFamily="2" charset="-122"/>
              </a:rPr>
              <a:t>系统检查封锁冲突时</a:t>
            </a:r>
          </a:p>
          <a:p>
            <a:pPr lvl="1">
              <a:lnSpc>
                <a:spcPct val="160000"/>
              </a:lnSpc>
              <a:buFont typeface="Wingdings" panose="05000000000000000000" pitchFamily="2" charset="2"/>
              <a:buChar char="n"/>
            </a:pPr>
            <a:r>
              <a:rPr lang="zh-CN" altLang="en-US" sz="2200">
                <a:ea typeface="宋体" panose="02010600030101010101" pitchFamily="2" charset="-122"/>
              </a:rPr>
              <a:t>要检查显式封锁</a:t>
            </a:r>
          </a:p>
          <a:p>
            <a:pPr lvl="1">
              <a:lnSpc>
                <a:spcPct val="160000"/>
              </a:lnSpc>
              <a:buFont typeface="Wingdings" panose="05000000000000000000" pitchFamily="2" charset="2"/>
              <a:buChar char="n"/>
            </a:pPr>
            <a:r>
              <a:rPr lang="zh-CN" altLang="en-US" sz="2200">
                <a:ea typeface="宋体" panose="02010600030101010101" pitchFamily="2" charset="-122"/>
              </a:rPr>
              <a:t>还要检查隐式封锁</a:t>
            </a:r>
          </a:p>
          <a:p>
            <a:pPr>
              <a:lnSpc>
                <a:spcPct val="160000"/>
              </a:lnSpc>
            </a:pPr>
            <a:r>
              <a:rPr lang="zh-CN" altLang="en-US" sz="2400">
                <a:ea typeface="宋体" panose="02010600030101010101" pitchFamily="2" charset="-122"/>
              </a:rPr>
              <a:t>例如事务</a:t>
            </a:r>
            <a:r>
              <a:rPr lang="en-US" altLang="zh-CN" sz="2400">
                <a:ea typeface="宋体" panose="02010600030101010101" pitchFamily="2" charset="-122"/>
              </a:rPr>
              <a:t>T</a:t>
            </a:r>
            <a:r>
              <a:rPr lang="zh-CN" altLang="en-US" sz="2400">
                <a:ea typeface="宋体" panose="02010600030101010101" pitchFamily="2" charset="-122"/>
              </a:rPr>
              <a:t>要对关系</a:t>
            </a:r>
            <a:r>
              <a:rPr lang="en-US" altLang="zh-CN" sz="2400" i="1">
                <a:ea typeface="宋体" panose="02010600030101010101" pitchFamily="2" charset="-122"/>
              </a:rPr>
              <a:t>R</a:t>
            </a:r>
            <a:r>
              <a:rPr lang="en-US" altLang="zh-CN" sz="2400">
                <a:ea typeface="宋体" panose="02010600030101010101" pitchFamily="2" charset="-122"/>
              </a:rPr>
              <a:t>1</a:t>
            </a:r>
            <a:r>
              <a:rPr lang="zh-CN" altLang="en-US" sz="2400">
                <a:ea typeface="宋体" panose="02010600030101010101" pitchFamily="2" charset="-122"/>
              </a:rPr>
              <a:t>加</a:t>
            </a:r>
            <a:r>
              <a:rPr lang="en-US" altLang="zh-CN" sz="2400">
                <a:ea typeface="宋体" panose="02010600030101010101" pitchFamily="2" charset="-122"/>
              </a:rPr>
              <a:t>X</a:t>
            </a:r>
            <a:r>
              <a:rPr lang="zh-CN" altLang="en-US" sz="2400">
                <a:ea typeface="宋体" panose="02010600030101010101" pitchFamily="2" charset="-122"/>
              </a:rPr>
              <a:t>锁</a:t>
            </a:r>
          </a:p>
          <a:p>
            <a:pPr lvl="1">
              <a:lnSpc>
                <a:spcPct val="160000"/>
              </a:lnSpc>
            </a:pPr>
            <a:r>
              <a:rPr lang="zh-CN" altLang="en-US" sz="2200">
                <a:ea typeface="宋体" panose="02010600030101010101" pitchFamily="2" charset="-122"/>
              </a:rPr>
              <a:t>系统必须搜索其上级结点数据库、关系</a:t>
            </a:r>
            <a:r>
              <a:rPr lang="en-US" altLang="zh-CN" sz="2200" i="1">
                <a:ea typeface="宋体" panose="02010600030101010101" pitchFamily="2" charset="-122"/>
              </a:rPr>
              <a:t>R</a:t>
            </a:r>
            <a:r>
              <a:rPr lang="en-US" altLang="zh-CN" sz="2200">
                <a:ea typeface="宋体" panose="02010600030101010101" pitchFamily="2" charset="-122"/>
              </a:rPr>
              <a:t>1</a:t>
            </a:r>
          </a:p>
          <a:p>
            <a:pPr lvl="1">
              <a:lnSpc>
                <a:spcPct val="160000"/>
              </a:lnSpc>
            </a:pPr>
            <a:r>
              <a:rPr lang="zh-CN" altLang="en-US" sz="2200">
                <a:ea typeface="宋体" panose="02010600030101010101" pitchFamily="2" charset="-122"/>
              </a:rPr>
              <a:t>还要搜索</a:t>
            </a:r>
            <a:r>
              <a:rPr lang="en-US" altLang="zh-CN" sz="2200" i="1">
                <a:ea typeface="宋体" panose="02010600030101010101" pitchFamily="2" charset="-122"/>
              </a:rPr>
              <a:t>R</a:t>
            </a:r>
            <a:r>
              <a:rPr lang="en-US" altLang="zh-CN" sz="2200">
                <a:ea typeface="宋体" panose="02010600030101010101" pitchFamily="2" charset="-122"/>
              </a:rPr>
              <a:t>1</a:t>
            </a:r>
            <a:r>
              <a:rPr lang="zh-CN" altLang="en-US" sz="2200">
                <a:ea typeface="宋体" panose="02010600030101010101" pitchFamily="2" charset="-122"/>
              </a:rPr>
              <a:t>的下级结点，即</a:t>
            </a:r>
            <a:r>
              <a:rPr lang="en-US" altLang="zh-CN" sz="2200" i="1">
                <a:ea typeface="宋体" panose="02010600030101010101" pitchFamily="2" charset="-122"/>
              </a:rPr>
              <a:t>R</a:t>
            </a:r>
            <a:r>
              <a:rPr lang="en-US" altLang="zh-CN" sz="2200">
                <a:ea typeface="宋体" panose="02010600030101010101" pitchFamily="2" charset="-122"/>
              </a:rPr>
              <a:t>1</a:t>
            </a:r>
            <a:r>
              <a:rPr lang="zh-CN" altLang="en-US" sz="2200">
                <a:ea typeface="宋体" panose="02010600030101010101" pitchFamily="2" charset="-122"/>
              </a:rPr>
              <a:t>中的每一个元组</a:t>
            </a:r>
          </a:p>
          <a:p>
            <a:pPr lvl="1">
              <a:lnSpc>
                <a:spcPct val="160000"/>
              </a:lnSpc>
            </a:pPr>
            <a:r>
              <a:rPr lang="zh-CN" altLang="en-US" sz="2200">
                <a:ea typeface="宋体" panose="02010600030101010101" pitchFamily="2" charset="-122"/>
              </a:rPr>
              <a:t>如果其中某一个数据对象已经加了不相容锁，则</a:t>
            </a:r>
            <a:r>
              <a:rPr lang="en-US" altLang="zh-CN" sz="2200">
                <a:ea typeface="宋体" panose="02010600030101010101" pitchFamily="2" charset="-122"/>
              </a:rPr>
              <a:t>T</a:t>
            </a:r>
            <a:r>
              <a:rPr lang="zh-CN" altLang="en-US" sz="2200">
                <a:ea typeface="宋体" panose="02010600030101010101" pitchFamily="2" charset="-122"/>
              </a:rPr>
              <a:t>必须等待</a:t>
            </a:r>
            <a:r>
              <a:rPr lang="zh-CN" altLang="en-US" sz="2000">
                <a:ea typeface="宋体" panose="02010600030101010101" pitchFamily="2" charset="-122"/>
              </a:rPr>
              <a:t>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99</a:t>
            </a:fld>
            <a:endParaRPr lang="en-US" altLang="zh-CN"/>
          </a:p>
        </p:txBody>
      </p:sp>
    </p:spTree>
    <p:extLst>
      <p:ext uri="{BB962C8B-B14F-4D97-AF65-F5344CB8AC3E}">
        <p14:creationId xmlns:p14="http://schemas.microsoft.com/office/powerpoint/2010/main" val="2641251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zh-CN" altLang="en-US" sz="3200">
                <a:ea typeface="宋体" panose="02010600030101010101" pitchFamily="2" charset="-122"/>
              </a:rPr>
              <a:t>显式封锁和隐式封锁（续）</a:t>
            </a:r>
          </a:p>
        </p:txBody>
      </p:sp>
      <p:sp>
        <p:nvSpPr>
          <p:cNvPr id="430083" name="Rectangle 3"/>
          <p:cNvSpPr>
            <a:spLocks noGrp="1" noChangeArrowheads="1"/>
          </p:cNvSpPr>
          <p:nvPr>
            <p:ph type="body" idx="1"/>
          </p:nvPr>
        </p:nvSpPr>
        <p:spPr>
          <a:xfrm>
            <a:off x="468313" y="1628775"/>
            <a:ext cx="8229600" cy="4495800"/>
          </a:xfrm>
        </p:spPr>
        <p:txBody>
          <a:bodyPr/>
          <a:lstStyle/>
          <a:p>
            <a:pPr>
              <a:spcBef>
                <a:spcPct val="60000"/>
              </a:spcBef>
            </a:pPr>
            <a:r>
              <a:rPr lang="zh-CN" altLang="en-US" sz="2400">
                <a:ea typeface="宋体" panose="02010600030101010101" pitchFamily="2" charset="-122"/>
              </a:rPr>
              <a:t>对某个数据对象加锁，系统要检查</a:t>
            </a:r>
          </a:p>
          <a:p>
            <a:pPr lvl="1">
              <a:lnSpc>
                <a:spcPct val="130000"/>
              </a:lnSpc>
              <a:spcBef>
                <a:spcPct val="60000"/>
              </a:spcBef>
            </a:pPr>
            <a:r>
              <a:rPr lang="zh-CN" altLang="en-US" sz="2200">
                <a:ea typeface="宋体" panose="02010600030101010101" pitchFamily="2" charset="-122"/>
              </a:rPr>
              <a:t> </a:t>
            </a:r>
            <a:r>
              <a:rPr lang="zh-CN" altLang="en-US" sz="2200">
                <a:solidFill>
                  <a:srgbClr val="0000FF"/>
                </a:solidFill>
                <a:ea typeface="宋体" panose="02010600030101010101" pitchFamily="2" charset="-122"/>
              </a:rPr>
              <a:t>该数据对象</a:t>
            </a:r>
          </a:p>
          <a:p>
            <a:pPr lvl="2">
              <a:lnSpc>
                <a:spcPct val="130000"/>
              </a:lnSpc>
              <a:buFont typeface="Wingdings" panose="05000000000000000000" pitchFamily="2" charset="2"/>
              <a:buChar char="Ø"/>
            </a:pPr>
            <a:r>
              <a:rPr lang="zh-CN" altLang="en-US">
                <a:ea typeface="宋体" panose="02010600030101010101" pitchFamily="2" charset="-122"/>
              </a:rPr>
              <a:t>有无显式封锁与之冲突</a:t>
            </a:r>
          </a:p>
          <a:p>
            <a:pPr lvl="1">
              <a:lnSpc>
                <a:spcPct val="130000"/>
              </a:lnSpc>
              <a:spcBef>
                <a:spcPct val="40000"/>
              </a:spcBef>
            </a:pPr>
            <a:r>
              <a:rPr lang="zh-CN" altLang="en-US" sz="2200">
                <a:ea typeface="宋体" panose="02010600030101010101" pitchFamily="2" charset="-122"/>
              </a:rPr>
              <a:t> </a:t>
            </a:r>
            <a:r>
              <a:rPr lang="zh-CN" altLang="en-US" sz="2200">
                <a:solidFill>
                  <a:srgbClr val="0000FF"/>
                </a:solidFill>
                <a:ea typeface="宋体" panose="02010600030101010101" pitchFamily="2" charset="-122"/>
              </a:rPr>
              <a:t>所有上级结点</a:t>
            </a:r>
            <a:endParaRPr lang="zh-CN" altLang="en-US" sz="2200">
              <a:ea typeface="宋体" panose="02010600030101010101" pitchFamily="2" charset="-122"/>
            </a:endParaRPr>
          </a:p>
          <a:p>
            <a:pPr lvl="2">
              <a:lnSpc>
                <a:spcPct val="130000"/>
              </a:lnSpc>
              <a:buFont typeface="Wingdings" panose="05000000000000000000" pitchFamily="2" charset="2"/>
              <a:buChar char="Ø"/>
            </a:pPr>
            <a:r>
              <a:rPr lang="zh-CN" altLang="en-US">
                <a:ea typeface="宋体" panose="02010600030101010101" pitchFamily="2" charset="-122"/>
              </a:rPr>
              <a:t>检查本事务的显式封锁是否与该数据对象上的隐式封锁冲突：</a:t>
            </a:r>
            <a:r>
              <a:rPr lang="en-US" altLang="zh-CN">
                <a:solidFill>
                  <a:srgbClr val="0000FF"/>
                </a:solidFill>
                <a:ea typeface="宋体" panose="02010600030101010101" pitchFamily="2" charset="-122"/>
              </a:rPr>
              <a:t>(</a:t>
            </a:r>
            <a:r>
              <a:rPr lang="zh-CN" altLang="en-US">
                <a:solidFill>
                  <a:srgbClr val="0000FF"/>
                </a:solidFill>
                <a:ea typeface="宋体" panose="02010600030101010101" pitchFamily="2" charset="-122"/>
              </a:rPr>
              <a:t>由上级结点已加的封锁造成的）</a:t>
            </a:r>
            <a:endParaRPr lang="zh-CN" altLang="en-US">
              <a:ea typeface="宋体" panose="02010600030101010101" pitchFamily="2" charset="-122"/>
            </a:endParaRPr>
          </a:p>
          <a:p>
            <a:pPr lvl="1">
              <a:lnSpc>
                <a:spcPct val="130000"/>
              </a:lnSpc>
              <a:spcBef>
                <a:spcPct val="40000"/>
              </a:spcBef>
            </a:pPr>
            <a:r>
              <a:rPr lang="zh-CN" altLang="en-US" sz="2200">
                <a:solidFill>
                  <a:srgbClr val="0000FF"/>
                </a:solidFill>
                <a:ea typeface="宋体" panose="02010600030101010101" pitchFamily="2" charset="-122"/>
              </a:rPr>
              <a:t>所有下级结点</a:t>
            </a:r>
            <a:endParaRPr lang="zh-CN" altLang="en-US" sz="2200">
              <a:ea typeface="宋体" panose="02010600030101010101" pitchFamily="2" charset="-122"/>
            </a:endParaRPr>
          </a:p>
          <a:p>
            <a:pPr lvl="2">
              <a:lnSpc>
                <a:spcPct val="130000"/>
              </a:lnSpc>
              <a:buFont typeface="Wingdings" panose="05000000000000000000" pitchFamily="2" charset="2"/>
              <a:buChar char="Ø"/>
            </a:pPr>
            <a:r>
              <a:rPr lang="zh-CN" altLang="en-US">
                <a:ea typeface="宋体" panose="02010600030101010101" pitchFamily="2" charset="-122"/>
              </a:rPr>
              <a:t>看上面的显式封锁是否与本事务的隐式封锁</a:t>
            </a:r>
            <a:r>
              <a:rPr lang="zh-CN" altLang="en-US">
                <a:solidFill>
                  <a:srgbClr val="0000FF"/>
                </a:solidFill>
                <a:ea typeface="宋体" panose="02010600030101010101" pitchFamily="2" charset="-122"/>
              </a:rPr>
              <a:t>（将加到下级结点的封锁）</a:t>
            </a:r>
            <a:r>
              <a:rPr lang="zh-CN" altLang="en-US">
                <a:ea typeface="宋体" panose="02010600030101010101" pitchFamily="2" charset="-122"/>
              </a:rPr>
              <a:t>冲突</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100</a:t>
            </a:fld>
            <a:endParaRPr lang="en-US" altLang="zh-CN"/>
          </a:p>
        </p:txBody>
      </p:sp>
    </p:spTree>
    <p:extLst>
      <p:ext uri="{BB962C8B-B14F-4D97-AF65-F5344CB8AC3E}">
        <p14:creationId xmlns:p14="http://schemas.microsoft.com/office/powerpoint/2010/main" val="2634200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r>
              <a:rPr lang="en-US" altLang="zh-CN">
                <a:ea typeface="宋体" panose="02010600030101010101" pitchFamily="2" charset="-122"/>
              </a:rPr>
              <a:t>11.6.2 </a:t>
            </a:r>
            <a:r>
              <a:rPr lang="zh-CN" altLang="en-US">
                <a:ea typeface="宋体" panose="02010600030101010101" pitchFamily="2" charset="-122"/>
              </a:rPr>
              <a:t>意向锁</a:t>
            </a:r>
          </a:p>
        </p:txBody>
      </p:sp>
      <p:sp>
        <p:nvSpPr>
          <p:cNvPr id="432131" name="Rectangle 3"/>
          <p:cNvSpPr>
            <a:spLocks noGrp="1" noChangeArrowheads="1"/>
          </p:cNvSpPr>
          <p:nvPr>
            <p:ph type="body" idx="1"/>
          </p:nvPr>
        </p:nvSpPr>
        <p:spPr/>
        <p:txBody>
          <a:bodyPr/>
          <a:lstStyle/>
          <a:p>
            <a:pPr>
              <a:lnSpc>
                <a:spcPct val="120000"/>
              </a:lnSpc>
            </a:pPr>
            <a:r>
              <a:rPr lang="zh-CN" altLang="en-US">
                <a:ea typeface="宋体" panose="02010600030101010101" pitchFamily="2" charset="-122"/>
              </a:rPr>
              <a:t>引进意向锁（</a:t>
            </a:r>
            <a:r>
              <a:rPr lang="en-US" altLang="zh-CN">
                <a:ea typeface="宋体" panose="02010600030101010101" pitchFamily="2" charset="-122"/>
              </a:rPr>
              <a:t>intention lock</a:t>
            </a:r>
            <a:r>
              <a:rPr lang="zh-CN" altLang="en-US">
                <a:ea typeface="宋体" panose="02010600030101010101" pitchFamily="2" charset="-122"/>
              </a:rPr>
              <a:t>）目的</a:t>
            </a:r>
            <a:endParaRPr lang="zh-CN" altLang="en-US" sz="2400">
              <a:ea typeface="宋体" panose="02010600030101010101" pitchFamily="2" charset="-122"/>
            </a:endParaRPr>
          </a:p>
          <a:p>
            <a:pPr lvl="1">
              <a:lnSpc>
                <a:spcPct val="150000"/>
              </a:lnSpc>
            </a:pPr>
            <a:r>
              <a:rPr lang="zh-CN" altLang="en-US">
                <a:ea typeface="宋体" panose="02010600030101010101" pitchFamily="2" charset="-122"/>
              </a:rPr>
              <a:t>提高对某个数据对象加锁时系统的检查效率</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101</a:t>
            </a:fld>
            <a:endParaRPr lang="en-US" altLang="zh-CN"/>
          </a:p>
        </p:txBody>
      </p:sp>
    </p:spTree>
    <p:extLst>
      <p:ext uri="{BB962C8B-B14F-4D97-AF65-F5344CB8AC3E}">
        <p14:creationId xmlns:p14="http://schemas.microsoft.com/office/powerpoint/2010/main" val="9630197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r>
              <a:rPr lang="zh-CN" altLang="en-US">
                <a:ea typeface="宋体" panose="02010600030101010101" pitchFamily="2" charset="-122"/>
              </a:rPr>
              <a:t>意向锁</a:t>
            </a:r>
            <a:r>
              <a:rPr lang="en-US" altLang="zh-CN">
                <a:ea typeface="宋体" panose="02010600030101010101" pitchFamily="2" charset="-122"/>
              </a:rPr>
              <a:t>(</a:t>
            </a:r>
            <a:r>
              <a:rPr lang="zh-CN" altLang="en-US">
                <a:ea typeface="宋体" panose="02010600030101010101" pitchFamily="2" charset="-122"/>
              </a:rPr>
              <a:t>续</a:t>
            </a:r>
            <a:r>
              <a:rPr lang="en-US" altLang="zh-CN">
                <a:ea typeface="宋体" panose="02010600030101010101" pitchFamily="2" charset="-122"/>
              </a:rPr>
              <a:t>)</a:t>
            </a:r>
          </a:p>
        </p:txBody>
      </p:sp>
      <p:sp>
        <p:nvSpPr>
          <p:cNvPr id="433155" name="Rectangle 3"/>
          <p:cNvSpPr>
            <a:spLocks noGrp="1" noChangeArrowheads="1"/>
          </p:cNvSpPr>
          <p:nvPr>
            <p:ph type="body" idx="1"/>
          </p:nvPr>
        </p:nvSpPr>
        <p:spPr/>
        <p:txBody>
          <a:bodyPr/>
          <a:lstStyle/>
          <a:p>
            <a:pPr>
              <a:lnSpc>
                <a:spcPct val="190000"/>
              </a:lnSpc>
              <a:spcBef>
                <a:spcPct val="60000"/>
              </a:spcBef>
            </a:pPr>
            <a:r>
              <a:rPr lang="zh-CN" altLang="en-US" sz="2400">
                <a:ea typeface="宋体" panose="02010600030101010101" pitchFamily="2" charset="-122"/>
              </a:rPr>
              <a:t>如果对一个结点加意向锁，则说明该结点的</a:t>
            </a:r>
            <a:r>
              <a:rPr lang="zh-CN" altLang="en-US" sz="2400">
                <a:solidFill>
                  <a:srgbClr val="FF66FF"/>
                </a:solidFill>
                <a:ea typeface="宋体" panose="02010600030101010101" pitchFamily="2" charset="-122"/>
              </a:rPr>
              <a:t>下层结点</a:t>
            </a:r>
            <a:r>
              <a:rPr lang="zh-CN" altLang="en-US" sz="2400">
                <a:ea typeface="宋体" panose="02010600030101010101" pitchFamily="2" charset="-122"/>
              </a:rPr>
              <a:t>正在被加锁</a:t>
            </a:r>
          </a:p>
          <a:p>
            <a:pPr>
              <a:lnSpc>
                <a:spcPct val="190000"/>
              </a:lnSpc>
            </a:pPr>
            <a:r>
              <a:rPr lang="zh-CN" altLang="en-US" sz="2400">
                <a:ea typeface="宋体" panose="02010600030101010101" pitchFamily="2" charset="-122"/>
              </a:rPr>
              <a:t>对任一结点加基本锁，必须</a:t>
            </a:r>
            <a:r>
              <a:rPr lang="zh-CN" altLang="en-US" sz="2400">
                <a:solidFill>
                  <a:srgbClr val="FF66FF"/>
                </a:solidFill>
                <a:ea typeface="宋体" panose="02010600030101010101" pitchFamily="2" charset="-122"/>
              </a:rPr>
              <a:t>先</a:t>
            </a:r>
            <a:r>
              <a:rPr lang="zh-CN" altLang="en-US" sz="2400">
                <a:ea typeface="宋体" panose="02010600030101010101" pitchFamily="2" charset="-122"/>
              </a:rPr>
              <a:t>对它的上层结点</a:t>
            </a:r>
            <a:r>
              <a:rPr lang="zh-CN" altLang="en-US" sz="2400">
                <a:solidFill>
                  <a:srgbClr val="FF66FF"/>
                </a:solidFill>
                <a:ea typeface="宋体" panose="02010600030101010101" pitchFamily="2" charset="-122"/>
              </a:rPr>
              <a:t>加意向锁</a:t>
            </a:r>
          </a:p>
          <a:p>
            <a:pPr>
              <a:lnSpc>
                <a:spcPct val="190000"/>
              </a:lnSpc>
            </a:pPr>
            <a:r>
              <a:rPr lang="zh-CN" altLang="en-US" sz="2400">
                <a:ea typeface="宋体" panose="02010600030101010101" pitchFamily="2" charset="-122"/>
              </a:rPr>
              <a:t>例如，对任一元组加锁时，必须先对它所在的数据库和关系加意向锁 </a:t>
            </a:r>
            <a:endParaRPr lang="zh-CN" altLang="en-US" sz="2400">
              <a:solidFill>
                <a:srgbClr val="FF66FF"/>
              </a:solidFill>
              <a:ea typeface="宋体" panose="02010600030101010101" pitchFamily="2" charset="-122"/>
            </a:endParaRPr>
          </a:p>
          <a:p>
            <a:pPr lvl="1">
              <a:lnSpc>
                <a:spcPct val="90000"/>
              </a:lnSpc>
              <a:buFont typeface="Wingdings" panose="05000000000000000000" pitchFamily="2" charset="2"/>
              <a:buNone/>
            </a:pPr>
            <a:endParaRPr lang="en-US" altLang="zh-CN" sz="1800">
              <a:solidFill>
                <a:srgbClr val="FF66FF"/>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102</a:t>
            </a:fld>
            <a:endParaRPr lang="en-US" altLang="zh-CN"/>
          </a:p>
        </p:txBody>
      </p:sp>
    </p:spTree>
    <p:extLst>
      <p:ext uri="{BB962C8B-B14F-4D97-AF65-F5344CB8AC3E}">
        <p14:creationId xmlns:p14="http://schemas.microsoft.com/office/powerpoint/2010/main" val="405116292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zh-CN" altLang="en-US">
                <a:ea typeface="宋体" panose="02010600030101010101" pitchFamily="2" charset="-122"/>
              </a:rPr>
              <a:t>常用意向锁</a:t>
            </a:r>
          </a:p>
        </p:txBody>
      </p:sp>
      <p:sp>
        <p:nvSpPr>
          <p:cNvPr id="435203" name="Rectangle 3"/>
          <p:cNvSpPr>
            <a:spLocks noGrp="1" noChangeArrowheads="1"/>
          </p:cNvSpPr>
          <p:nvPr>
            <p:ph type="body" idx="1"/>
          </p:nvPr>
        </p:nvSpPr>
        <p:spPr>
          <a:xfrm>
            <a:off x="762000" y="1752600"/>
            <a:ext cx="7986713" cy="4114800"/>
          </a:xfrm>
        </p:spPr>
        <p:txBody>
          <a:bodyPr/>
          <a:lstStyle/>
          <a:p>
            <a:pPr>
              <a:lnSpc>
                <a:spcPct val="160000"/>
              </a:lnSpc>
            </a:pPr>
            <a:r>
              <a:rPr lang="zh-CN" altLang="en-US">
                <a:ea typeface="宋体" panose="02010600030101010101" pitchFamily="2" charset="-122"/>
              </a:rPr>
              <a:t>意向共享锁</a:t>
            </a:r>
            <a:r>
              <a:rPr lang="en-US" altLang="zh-CN">
                <a:ea typeface="宋体" panose="02010600030101010101" pitchFamily="2" charset="-122"/>
              </a:rPr>
              <a:t>(Intent Share Lock</a:t>
            </a:r>
            <a:r>
              <a:rPr lang="zh-CN" altLang="en-US">
                <a:ea typeface="宋体" panose="02010600030101010101" pitchFamily="2" charset="-122"/>
              </a:rPr>
              <a:t>，简称</a:t>
            </a:r>
            <a:r>
              <a:rPr lang="en-US" altLang="zh-CN">
                <a:ea typeface="宋体" panose="02010600030101010101" pitchFamily="2" charset="-122"/>
              </a:rPr>
              <a:t>IS</a:t>
            </a:r>
            <a:r>
              <a:rPr lang="zh-CN" altLang="en-US">
                <a:ea typeface="宋体" panose="02010600030101010101" pitchFamily="2" charset="-122"/>
              </a:rPr>
              <a:t>锁</a:t>
            </a:r>
            <a:r>
              <a:rPr lang="en-US" altLang="zh-CN">
                <a:ea typeface="宋体" panose="02010600030101010101" pitchFamily="2" charset="-122"/>
              </a:rPr>
              <a:t>)</a:t>
            </a:r>
          </a:p>
          <a:p>
            <a:pPr>
              <a:lnSpc>
                <a:spcPct val="160000"/>
              </a:lnSpc>
              <a:spcBef>
                <a:spcPct val="60000"/>
              </a:spcBef>
            </a:pPr>
            <a:r>
              <a:rPr lang="zh-CN" altLang="en-US">
                <a:ea typeface="宋体" panose="02010600030101010101" pitchFamily="2" charset="-122"/>
              </a:rPr>
              <a:t>意向排它锁</a:t>
            </a:r>
            <a:r>
              <a:rPr lang="en-US" altLang="zh-CN">
                <a:ea typeface="宋体" panose="02010600030101010101" pitchFamily="2" charset="-122"/>
              </a:rPr>
              <a:t>(Intent Exclusive Lock</a:t>
            </a:r>
            <a:r>
              <a:rPr lang="zh-CN" altLang="en-US">
                <a:ea typeface="宋体" panose="02010600030101010101" pitchFamily="2" charset="-122"/>
              </a:rPr>
              <a:t>，简称</a:t>
            </a:r>
            <a:r>
              <a:rPr lang="en-US" altLang="zh-CN">
                <a:ea typeface="宋体" panose="02010600030101010101" pitchFamily="2" charset="-122"/>
              </a:rPr>
              <a:t>IX</a:t>
            </a:r>
            <a:r>
              <a:rPr lang="zh-CN" altLang="en-US">
                <a:ea typeface="宋体" panose="02010600030101010101" pitchFamily="2" charset="-122"/>
              </a:rPr>
              <a:t>锁</a:t>
            </a:r>
            <a:r>
              <a:rPr lang="en-US" altLang="zh-CN">
                <a:ea typeface="宋体" panose="02010600030101010101" pitchFamily="2" charset="-122"/>
              </a:rPr>
              <a:t>)</a:t>
            </a:r>
          </a:p>
          <a:p>
            <a:pPr>
              <a:lnSpc>
                <a:spcPct val="160000"/>
              </a:lnSpc>
              <a:spcBef>
                <a:spcPct val="60000"/>
              </a:spcBef>
            </a:pPr>
            <a:r>
              <a:rPr lang="zh-CN" altLang="en-US">
                <a:ea typeface="宋体" panose="02010600030101010101" pitchFamily="2" charset="-122"/>
              </a:rPr>
              <a:t>共享意向排它锁</a:t>
            </a:r>
            <a:r>
              <a:rPr lang="en-US" altLang="zh-CN">
                <a:ea typeface="宋体" panose="02010600030101010101" pitchFamily="2" charset="-122"/>
              </a:rPr>
              <a:t>(Share Intent Exclusive Lock</a:t>
            </a:r>
            <a:r>
              <a:rPr lang="zh-CN" altLang="en-US">
                <a:ea typeface="宋体" panose="02010600030101010101" pitchFamily="2" charset="-122"/>
              </a:rPr>
              <a:t>，简称</a:t>
            </a:r>
            <a:r>
              <a:rPr lang="en-US" altLang="zh-CN">
                <a:ea typeface="宋体" panose="02010600030101010101" pitchFamily="2" charset="-122"/>
              </a:rPr>
              <a:t>SIX</a:t>
            </a:r>
            <a:r>
              <a:rPr lang="zh-CN" altLang="en-US">
                <a:ea typeface="宋体" panose="02010600030101010101" pitchFamily="2" charset="-122"/>
              </a:rPr>
              <a:t>锁</a:t>
            </a:r>
            <a:r>
              <a:rPr lang="en-US" altLang="zh-CN">
                <a:ea typeface="宋体" panose="02010600030101010101" pitchFamily="2" charset="-122"/>
              </a:rPr>
              <a:t>)</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103</a:t>
            </a:fld>
            <a:endParaRPr lang="en-US" altLang="zh-CN"/>
          </a:p>
        </p:txBody>
      </p:sp>
    </p:spTree>
    <p:extLst>
      <p:ext uri="{BB962C8B-B14F-4D97-AF65-F5344CB8AC3E}">
        <p14:creationId xmlns:p14="http://schemas.microsoft.com/office/powerpoint/2010/main" val="25791375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sp>
        <p:nvSpPr>
          <p:cNvPr id="436227" name="Rectangle 3"/>
          <p:cNvSpPr>
            <a:spLocks noGrp="1" noChangeArrowheads="1"/>
          </p:cNvSpPr>
          <p:nvPr>
            <p:ph type="body" idx="1"/>
          </p:nvPr>
        </p:nvSpPr>
        <p:spPr/>
        <p:txBody>
          <a:bodyPr/>
          <a:lstStyle/>
          <a:p>
            <a:pPr algn="just"/>
            <a:r>
              <a:rPr lang="en-US" altLang="zh-CN" sz="3200">
                <a:ea typeface="宋体" panose="02010600030101010101" pitchFamily="2" charset="-122"/>
              </a:rPr>
              <a:t>IS</a:t>
            </a:r>
            <a:r>
              <a:rPr lang="zh-CN" altLang="en-US" sz="3200">
                <a:ea typeface="宋体" panose="02010600030101010101" pitchFamily="2" charset="-122"/>
              </a:rPr>
              <a:t>锁</a:t>
            </a:r>
          </a:p>
          <a:p>
            <a:pPr lvl="1" algn="just">
              <a:lnSpc>
                <a:spcPct val="180000"/>
              </a:lnSpc>
            </a:pPr>
            <a:r>
              <a:rPr lang="zh-CN" altLang="en-US">
                <a:ea typeface="宋体" panose="02010600030101010101" pitchFamily="2" charset="-122"/>
              </a:rPr>
              <a:t>如果对一个数据对象加</a:t>
            </a:r>
            <a:r>
              <a:rPr lang="en-US" altLang="zh-CN">
                <a:ea typeface="宋体" panose="02010600030101010101" pitchFamily="2" charset="-122"/>
              </a:rPr>
              <a:t>IS</a:t>
            </a:r>
            <a:r>
              <a:rPr lang="zh-CN" altLang="en-US">
                <a:ea typeface="宋体" panose="02010600030101010101" pitchFamily="2" charset="-122"/>
              </a:rPr>
              <a:t>锁，表示它的后裔结点拟（意向）加</a:t>
            </a:r>
            <a:r>
              <a:rPr lang="en-US" altLang="zh-CN">
                <a:ea typeface="宋体" panose="02010600030101010101" pitchFamily="2" charset="-122"/>
              </a:rPr>
              <a:t>S</a:t>
            </a:r>
            <a:r>
              <a:rPr lang="zh-CN" altLang="en-US">
                <a:ea typeface="宋体" panose="02010600030101010101" pitchFamily="2" charset="-122"/>
              </a:rPr>
              <a:t>锁。</a:t>
            </a:r>
            <a:endParaRPr lang="zh-CN" altLang="en-US" sz="2800">
              <a:ea typeface="宋体" panose="02010600030101010101" pitchFamily="2" charset="-122"/>
            </a:endParaRPr>
          </a:p>
          <a:p>
            <a:pPr lvl="1" algn="just">
              <a:lnSpc>
                <a:spcPct val="180000"/>
              </a:lnSpc>
              <a:buFont typeface="Wingdings" panose="05000000000000000000" pitchFamily="2" charset="2"/>
              <a:buNone/>
            </a:pPr>
            <a:r>
              <a:rPr lang="zh-CN" altLang="en-US">
                <a:ea typeface="宋体" panose="02010600030101010101" pitchFamily="2" charset="-122"/>
              </a:rPr>
              <a:t>  例如：事务</a:t>
            </a:r>
            <a:r>
              <a:rPr lang="en-US" altLang="zh-CN">
                <a:ea typeface="宋体" panose="02010600030101010101" pitchFamily="2" charset="-122"/>
              </a:rPr>
              <a:t>T1</a:t>
            </a:r>
            <a:r>
              <a:rPr lang="zh-CN" altLang="en-US">
                <a:ea typeface="宋体" panose="02010600030101010101" pitchFamily="2" charset="-122"/>
              </a:rPr>
              <a:t>要对</a:t>
            </a:r>
            <a:r>
              <a:rPr lang="en-US" altLang="zh-CN" i="1">
                <a:ea typeface="宋体" panose="02010600030101010101" pitchFamily="2" charset="-122"/>
              </a:rPr>
              <a:t>R</a:t>
            </a:r>
            <a:r>
              <a:rPr lang="en-US" altLang="zh-CN">
                <a:ea typeface="宋体" panose="02010600030101010101" pitchFamily="2" charset="-122"/>
              </a:rPr>
              <a:t>1</a:t>
            </a:r>
            <a:r>
              <a:rPr lang="zh-CN" altLang="en-US">
                <a:ea typeface="宋体" panose="02010600030101010101" pitchFamily="2" charset="-122"/>
              </a:rPr>
              <a:t>中某个元组加</a:t>
            </a:r>
            <a:r>
              <a:rPr lang="en-US" altLang="zh-CN">
                <a:ea typeface="宋体" panose="02010600030101010101" pitchFamily="2" charset="-122"/>
              </a:rPr>
              <a:t>S</a:t>
            </a:r>
            <a:r>
              <a:rPr lang="zh-CN" altLang="en-US">
                <a:ea typeface="宋体" panose="02010600030101010101" pitchFamily="2" charset="-122"/>
              </a:rPr>
              <a:t>锁，则要首先对关系</a:t>
            </a:r>
            <a:r>
              <a:rPr lang="en-US" altLang="zh-CN" i="1">
                <a:ea typeface="宋体" panose="02010600030101010101" pitchFamily="2" charset="-122"/>
              </a:rPr>
              <a:t>R</a:t>
            </a:r>
            <a:r>
              <a:rPr lang="en-US" altLang="zh-CN">
                <a:ea typeface="宋体" panose="02010600030101010101" pitchFamily="2" charset="-122"/>
              </a:rPr>
              <a:t>1</a:t>
            </a:r>
            <a:r>
              <a:rPr lang="zh-CN" altLang="en-US">
                <a:ea typeface="宋体" panose="02010600030101010101" pitchFamily="2" charset="-122"/>
              </a:rPr>
              <a:t>和数据库加</a:t>
            </a:r>
            <a:r>
              <a:rPr lang="en-US" altLang="zh-CN">
                <a:ea typeface="宋体" panose="02010600030101010101" pitchFamily="2" charset="-122"/>
              </a:rPr>
              <a:t>IS</a:t>
            </a:r>
            <a:r>
              <a:rPr lang="zh-CN" altLang="en-US">
                <a:ea typeface="宋体" panose="02010600030101010101" pitchFamily="2" charset="-122"/>
              </a:rPr>
              <a:t>锁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104</a:t>
            </a:fld>
            <a:endParaRPr lang="en-US" altLang="zh-CN"/>
          </a:p>
        </p:txBody>
      </p:sp>
    </p:spTree>
    <p:extLst>
      <p:ext uri="{BB962C8B-B14F-4D97-AF65-F5344CB8AC3E}">
        <p14:creationId xmlns:p14="http://schemas.microsoft.com/office/powerpoint/2010/main" val="4431777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sp>
        <p:nvSpPr>
          <p:cNvPr id="437251" name="Rectangle 3"/>
          <p:cNvSpPr>
            <a:spLocks noGrp="1" noChangeArrowheads="1"/>
          </p:cNvSpPr>
          <p:nvPr>
            <p:ph type="body" idx="1"/>
          </p:nvPr>
        </p:nvSpPr>
        <p:spPr/>
        <p:txBody>
          <a:bodyPr/>
          <a:lstStyle/>
          <a:p>
            <a:pPr>
              <a:lnSpc>
                <a:spcPct val="150000"/>
              </a:lnSpc>
            </a:pPr>
            <a:r>
              <a:rPr lang="en-US" altLang="zh-CN" sz="3200">
                <a:ea typeface="宋体" panose="02010600030101010101" pitchFamily="2" charset="-122"/>
              </a:rPr>
              <a:t>IX</a:t>
            </a:r>
            <a:r>
              <a:rPr lang="zh-CN" altLang="en-US" sz="3200">
                <a:ea typeface="宋体" panose="02010600030101010101" pitchFamily="2" charset="-122"/>
              </a:rPr>
              <a:t>锁</a:t>
            </a:r>
          </a:p>
          <a:p>
            <a:pPr lvl="1">
              <a:lnSpc>
                <a:spcPct val="150000"/>
              </a:lnSpc>
            </a:pPr>
            <a:r>
              <a:rPr lang="zh-CN" altLang="en-US">
                <a:ea typeface="宋体" panose="02010600030101010101" pitchFamily="2" charset="-122"/>
              </a:rPr>
              <a:t>如果对一个数据对象加</a:t>
            </a:r>
            <a:r>
              <a:rPr lang="en-US" altLang="zh-CN">
                <a:ea typeface="宋体" panose="02010600030101010101" pitchFamily="2" charset="-122"/>
              </a:rPr>
              <a:t>IX</a:t>
            </a:r>
            <a:r>
              <a:rPr lang="zh-CN" altLang="en-US">
                <a:ea typeface="宋体" panose="02010600030101010101" pitchFamily="2" charset="-122"/>
              </a:rPr>
              <a:t>锁，表示它的后裔结点拟（意向）加</a:t>
            </a:r>
            <a:r>
              <a:rPr lang="en-US" altLang="zh-CN">
                <a:ea typeface="宋体" panose="02010600030101010101" pitchFamily="2" charset="-122"/>
              </a:rPr>
              <a:t>X</a:t>
            </a:r>
            <a:r>
              <a:rPr lang="zh-CN" altLang="en-US">
                <a:ea typeface="宋体" panose="02010600030101010101" pitchFamily="2" charset="-122"/>
              </a:rPr>
              <a:t>锁。</a:t>
            </a:r>
          </a:p>
          <a:p>
            <a:pPr>
              <a:lnSpc>
                <a:spcPct val="150000"/>
              </a:lnSpc>
              <a:buFont typeface="Wingdings" panose="05000000000000000000" pitchFamily="2" charset="2"/>
              <a:buNone/>
            </a:pPr>
            <a:r>
              <a:rPr lang="zh-CN" altLang="en-US" sz="2400">
                <a:ea typeface="宋体" panose="02010600030101010101" pitchFamily="2" charset="-122"/>
              </a:rPr>
              <a:t>      例如：事务</a:t>
            </a:r>
            <a:r>
              <a:rPr lang="en-US" altLang="zh-CN" sz="2400">
                <a:ea typeface="宋体" panose="02010600030101010101" pitchFamily="2" charset="-122"/>
              </a:rPr>
              <a:t>T1</a:t>
            </a:r>
            <a:r>
              <a:rPr lang="zh-CN" altLang="en-US" sz="2400">
                <a:ea typeface="宋体" panose="02010600030101010101" pitchFamily="2" charset="-122"/>
              </a:rPr>
              <a:t>要对</a:t>
            </a:r>
            <a:r>
              <a:rPr lang="en-US" altLang="zh-CN" sz="2400" i="1">
                <a:ea typeface="宋体" panose="02010600030101010101" pitchFamily="2" charset="-122"/>
              </a:rPr>
              <a:t>R</a:t>
            </a:r>
            <a:r>
              <a:rPr lang="en-US" altLang="zh-CN" sz="2400">
                <a:ea typeface="宋体" panose="02010600030101010101" pitchFamily="2" charset="-122"/>
              </a:rPr>
              <a:t>1</a:t>
            </a:r>
            <a:r>
              <a:rPr lang="zh-CN" altLang="en-US" sz="2400">
                <a:ea typeface="宋体" panose="02010600030101010101" pitchFamily="2" charset="-122"/>
              </a:rPr>
              <a:t>中某个元组加</a:t>
            </a:r>
            <a:r>
              <a:rPr lang="en-US" altLang="zh-CN" sz="2400">
                <a:ea typeface="宋体" panose="02010600030101010101" pitchFamily="2" charset="-122"/>
              </a:rPr>
              <a:t>X</a:t>
            </a:r>
            <a:r>
              <a:rPr lang="zh-CN" altLang="en-US" sz="2400">
                <a:ea typeface="宋体" panose="02010600030101010101" pitchFamily="2" charset="-122"/>
              </a:rPr>
              <a:t>锁，则要首先对关 系</a:t>
            </a:r>
            <a:r>
              <a:rPr lang="en-US" altLang="zh-CN" sz="2400" i="1">
                <a:ea typeface="宋体" panose="02010600030101010101" pitchFamily="2" charset="-122"/>
              </a:rPr>
              <a:t>R</a:t>
            </a:r>
            <a:r>
              <a:rPr lang="en-US" altLang="zh-CN" sz="2400">
                <a:ea typeface="宋体" panose="02010600030101010101" pitchFamily="2" charset="-122"/>
              </a:rPr>
              <a:t>1</a:t>
            </a:r>
            <a:r>
              <a:rPr lang="zh-CN" altLang="en-US" sz="2400">
                <a:ea typeface="宋体" panose="02010600030101010101" pitchFamily="2" charset="-122"/>
              </a:rPr>
              <a:t>和数据库加</a:t>
            </a:r>
            <a:r>
              <a:rPr lang="en-US" altLang="zh-CN" sz="2400">
                <a:ea typeface="宋体" panose="02010600030101010101" pitchFamily="2" charset="-122"/>
              </a:rPr>
              <a:t>IX</a:t>
            </a:r>
            <a:r>
              <a:rPr lang="zh-CN" altLang="en-US" sz="2400">
                <a:ea typeface="宋体" panose="02010600030101010101" pitchFamily="2" charset="-122"/>
              </a:rPr>
              <a:t>锁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105</a:t>
            </a:fld>
            <a:endParaRPr lang="en-US" altLang="zh-CN"/>
          </a:p>
        </p:txBody>
      </p:sp>
    </p:spTree>
    <p:extLst>
      <p:ext uri="{BB962C8B-B14F-4D97-AF65-F5344CB8AC3E}">
        <p14:creationId xmlns:p14="http://schemas.microsoft.com/office/powerpoint/2010/main" val="104269659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sp>
        <p:nvSpPr>
          <p:cNvPr id="438275" name="Rectangle 3"/>
          <p:cNvSpPr>
            <a:spLocks noGrp="1" noChangeArrowheads="1"/>
          </p:cNvSpPr>
          <p:nvPr>
            <p:ph type="body" idx="1"/>
          </p:nvPr>
        </p:nvSpPr>
        <p:spPr/>
        <p:txBody>
          <a:bodyPr/>
          <a:lstStyle/>
          <a:p>
            <a:pPr>
              <a:lnSpc>
                <a:spcPct val="90000"/>
              </a:lnSpc>
            </a:pPr>
            <a:r>
              <a:rPr lang="en-US" altLang="zh-CN" sz="3200">
                <a:ea typeface="宋体" panose="02010600030101010101" pitchFamily="2" charset="-122"/>
              </a:rPr>
              <a:t>SIX</a:t>
            </a:r>
            <a:r>
              <a:rPr lang="zh-CN" altLang="en-US" sz="3200">
                <a:ea typeface="宋体" panose="02010600030101010101" pitchFamily="2" charset="-122"/>
              </a:rPr>
              <a:t>锁</a:t>
            </a:r>
          </a:p>
          <a:p>
            <a:pPr lvl="1">
              <a:lnSpc>
                <a:spcPct val="110000"/>
              </a:lnSpc>
            </a:pPr>
            <a:r>
              <a:rPr lang="zh-CN" altLang="en-US">
                <a:ea typeface="宋体" panose="02010600030101010101" pitchFamily="2" charset="-122"/>
              </a:rPr>
              <a:t>如果对一个数据对象加</a:t>
            </a:r>
            <a:r>
              <a:rPr lang="en-US" altLang="zh-CN">
                <a:ea typeface="宋体" panose="02010600030101010101" pitchFamily="2" charset="-122"/>
              </a:rPr>
              <a:t>SIX</a:t>
            </a:r>
            <a:r>
              <a:rPr lang="zh-CN" altLang="en-US">
                <a:ea typeface="宋体" panose="02010600030101010101" pitchFamily="2" charset="-122"/>
              </a:rPr>
              <a:t>锁，表示对它加</a:t>
            </a:r>
            <a:r>
              <a:rPr lang="en-US" altLang="zh-CN">
                <a:ea typeface="宋体" panose="02010600030101010101" pitchFamily="2" charset="-122"/>
              </a:rPr>
              <a:t>S</a:t>
            </a:r>
            <a:r>
              <a:rPr lang="zh-CN" altLang="en-US">
                <a:ea typeface="宋体" panose="02010600030101010101" pitchFamily="2" charset="-122"/>
              </a:rPr>
              <a:t>锁，再加</a:t>
            </a:r>
            <a:r>
              <a:rPr lang="en-US" altLang="zh-CN">
                <a:ea typeface="宋体" panose="02010600030101010101" pitchFamily="2" charset="-122"/>
              </a:rPr>
              <a:t>IX</a:t>
            </a:r>
            <a:r>
              <a:rPr lang="zh-CN" altLang="en-US">
                <a:ea typeface="宋体" panose="02010600030101010101" pitchFamily="2" charset="-122"/>
              </a:rPr>
              <a:t>锁，即</a:t>
            </a:r>
            <a:r>
              <a:rPr lang="en-US" altLang="zh-CN">
                <a:ea typeface="宋体" panose="02010600030101010101" pitchFamily="2" charset="-122"/>
              </a:rPr>
              <a:t>SIX = S + IX</a:t>
            </a:r>
            <a:r>
              <a:rPr lang="zh-CN" altLang="en-US">
                <a:ea typeface="宋体" panose="02010600030101010101" pitchFamily="2" charset="-122"/>
              </a:rPr>
              <a:t>。</a:t>
            </a:r>
          </a:p>
          <a:p>
            <a:pPr lvl="1">
              <a:lnSpc>
                <a:spcPct val="110000"/>
              </a:lnSpc>
            </a:pPr>
            <a:endParaRPr lang="zh-CN" altLang="en-US">
              <a:ea typeface="宋体" panose="02010600030101010101" pitchFamily="2" charset="-122"/>
            </a:endParaRPr>
          </a:p>
          <a:p>
            <a:pPr>
              <a:lnSpc>
                <a:spcPct val="110000"/>
              </a:lnSpc>
              <a:buFont typeface="Wingdings" panose="05000000000000000000" pitchFamily="2" charset="2"/>
              <a:buNone/>
            </a:pPr>
            <a:r>
              <a:rPr lang="zh-CN" altLang="en-US" sz="2400">
                <a:ea typeface="宋体" panose="02010600030101010101" pitchFamily="2" charset="-122"/>
              </a:rPr>
              <a:t>    例：对某个表加</a:t>
            </a:r>
            <a:r>
              <a:rPr lang="en-US" altLang="zh-CN" sz="2400">
                <a:ea typeface="宋体" panose="02010600030101010101" pitchFamily="2" charset="-122"/>
              </a:rPr>
              <a:t>SIX</a:t>
            </a:r>
            <a:r>
              <a:rPr lang="zh-CN" altLang="en-US" sz="2400">
                <a:ea typeface="宋体" panose="02010600030101010101" pitchFamily="2" charset="-122"/>
              </a:rPr>
              <a:t>锁，则表示该事务要读整个表（所以要对该表加</a:t>
            </a:r>
            <a:r>
              <a:rPr lang="en-US" altLang="zh-CN" sz="2400">
                <a:ea typeface="宋体" panose="02010600030101010101" pitchFamily="2" charset="-122"/>
              </a:rPr>
              <a:t>S</a:t>
            </a:r>
            <a:r>
              <a:rPr lang="zh-CN" altLang="en-US" sz="2400">
                <a:ea typeface="宋体" panose="02010600030101010101" pitchFamily="2" charset="-122"/>
              </a:rPr>
              <a:t>锁），同时会更新个别元组（所以要对该表加</a:t>
            </a:r>
            <a:r>
              <a:rPr lang="en-US" altLang="zh-CN" sz="2400">
                <a:ea typeface="宋体" panose="02010600030101010101" pitchFamily="2" charset="-122"/>
              </a:rPr>
              <a:t>IX</a:t>
            </a:r>
            <a:r>
              <a:rPr lang="zh-CN" altLang="en-US" sz="2400">
                <a:ea typeface="宋体" panose="02010600030101010101" pitchFamily="2" charset="-122"/>
              </a:rPr>
              <a:t>锁）。</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106</a:t>
            </a:fld>
            <a:endParaRPr lang="en-US" altLang="zh-CN"/>
          </a:p>
        </p:txBody>
      </p:sp>
    </p:spTree>
    <p:extLst>
      <p:ext uri="{BB962C8B-B14F-4D97-AF65-F5344CB8AC3E}">
        <p14:creationId xmlns:p14="http://schemas.microsoft.com/office/powerpoint/2010/main" val="32959085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pic>
        <p:nvPicPr>
          <p:cNvPr id="439307" name="Picture 11" descr="未标题-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2276475"/>
            <a:ext cx="7704138" cy="3940175"/>
          </a:xfrm>
          <a:prstGeom prst="rect">
            <a:avLst/>
          </a:prstGeom>
          <a:noFill/>
          <a:extLst>
            <a:ext uri="{909E8E84-426E-40DD-AFC4-6F175D3DCCD1}">
              <a14:hiddenFill xmlns:a14="http://schemas.microsoft.com/office/drawing/2010/main">
                <a:solidFill>
                  <a:srgbClr val="FFFFFF"/>
                </a:solidFill>
              </a14:hiddenFill>
            </a:ext>
          </a:extLst>
        </p:spPr>
      </p:pic>
      <p:sp>
        <p:nvSpPr>
          <p:cNvPr id="439308" name="Text Box 12"/>
          <p:cNvSpPr txBox="1">
            <a:spLocks noChangeArrowheads="1"/>
          </p:cNvSpPr>
          <p:nvPr/>
        </p:nvSpPr>
        <p:spPr bwMode="auto">
          <a:xfrm>
            <a:off x="808038" y="1417638"/>
            <a:ext cx="18415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1800"/>
          </a:p>
        </p:txBody>
      </p:sp>
      <p:sp>
        <p:nvSpPr>
          <p:cNvPr id="439309" name="Text Box 13"/>
          <p:cNvSpPr txBox="1">
            <a:spLocks noChangeArrowheads="1"/>
          </p:cNvSpPr>
          <p:nvPr/>
        </p:nvSpPr>
        <p:spPr bwMode="auto">
          <a:xfrm>
            <a:off x="539750" y="1628775"/>
            <a:ext cx="2635250" cy="4572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a:solidFill>
                  <a:srgbClr val="3333FF"/>
                </a:solidFill>
              </a:rPr>
              <a:t>意向锁的相容矩阵</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107</a:t>
            </a:fld>
            <a:endParaRPr lang="en-US" altLang="zh-CN"/>
          </a:p>
        </p:txBody>
      </p:sp>
    </p:spTree>
    <p:extLst>
      <p:ext uri="{BB962C8B-B14F-4D97-AF65-F5344CB8AC3E}">
        <p14:creationId xmlns:p14="http://schemas.microsoft.com/office/powerpoint/2010/main" val="40590547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sp>
        <p:nvSpPr>
          <p:cNvPr id="440323" name="Rectangle 3"/>
          <p:cNvSpPr>
            <a:spLocks noGrp="1" noChangeArrowheads="1"/>
          </p:cNvSpPr>
          <p:nvPr>
            <p:ph type="body" sz="half" idx="1"/>
          </p:nvPr>
        </p:nvSpPr>
        <p:spPr/>
        <p:txBody>
          <a:bodyPr/>
          <a:lstStyle/>
          <a:p>
            <a:pPr>
              <a:lnSpc>
                <a:spcPct val="180000"/>
              </a:lnSpc>
            </a:pPr>
            <a:r>
              <a:rPr lang="zh-CN" altLang="en-US">
                <a:ea typeface="宋体" panose="02010600030101010101" pitchFamily="2" charset="-122"/>
              </a:rPr>
              <a:t>锁的强度</a:t>
            </a:r>
            <a:endParaRPr lang="zh-CN" altLang="en-US" sz="2400">
              <a:ea typeface="宋体" panose="02010600030101010101" pitchFamily="2" charset="-122"/>
            </a:endParaRPr>
          </a:p>
          <a:p>
            <a:pPr lvl="1">
              <a:lnSpc>
                <a:spcPct val="180000"/>
              </a:lnSpc>
            </a:pPr>
            <a:r>
              <a:rPr lang="zh-CN" altLang="en-US">
                <a:ea typeface="宋体" panose="02010600030101010101" pitchFamily="2" charset="-122"/>
              </a:rPr>
              <a:t>锁的强度是指它对其他锁的排斥程度</a:t>
            </a:r>
          </a:p>
          <a:p>
            <a:pPr lvl="1">
              <a:lnSpc>
                <a:spcPct val="180000"/>
              </a:lnSpc>
            </a:pPr>
            <a:r>
              <a:rPr lang="zh-CN" altLang="en-US">
                <a:ea typeface="宋体" panose="02010600030101010101" pitchFamily="2" charset="-122"/>
              </a:rPr>
              <a:t>一个事务在申请封锁时以强锁代替弱锁是安全的，反之则不然</a:t>
            </a:r>
          </a:p>
        </p:txBody>
      </p:sp>
      <p:graphicFrame>
        <p:nvGraphicFramePr>
          <p:cNvPr id="440341" name="Object 21"/>
          <p:cNvGraphicFramePr>
            <a:graphicFrameLocks noGrp="1" noChangeAspect="1"/>
          </p:cNvGraphicFramePr>
          <p:nvPr>
            <p:ph sz="half" idx="2"/>
          </p:nvPr>
        </p:nvGraphicFramePr>
        <p:xfrm>
          <a:off x="5148263" y="1700213"/>
          <a:ext cx="3084512" cy="4495800"/>
        </p:xfrm>
        <a:graphic>
          <a:graphicData uri="http://schemas.openxmlformats.org/presentationml/2006/ole">
            <mc:AlternateContent xmlns:mc="http://schemas.openxmlformats.org/markup-compatibility/2006">
              <mc:Choice xmlns:v="urn:schemas-microsoft-com:vml" Requires="v">
                <p:oleObj spid="_x0000_s3077" name="Image" r:id="rId3" imgW="10158730" imgH="14806349" progId="Photoshop.Image.7">
                  <p:embed/>
                </p:oleObj>
              </mc:Choice>
              <mc:Fallback>
                <p:oleObj name="Image" r:id="rId3" imgW="10158730" imgH="14806349"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1700213"/>
                        <a:ext cx="3084512" cy="44958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CD5C3753-734A-477F-97D0-D05E6A5C33B1}" type="slidenum">
              <a:rPr lang="en-US" altLang="zh-CN" smtClean="0"/>
              <a:pPr/>
              <a:t>108</a:t>
            </a:fld>
            <a:endParaRPr lang="en-US" altLang="zh-CN"/>
          </a:p>
        </p:txBody>
      </p:sp>
    </p:spTree>
    <p:extLst>
      <p:ext uri="{BB962C8B-B14F-4D97-AF65-F5344CB8AC3E}">
        <p14:creationId xmlns:p14="http://schemas.microsoft.com/office/powerpoint/2010/main" val="23562965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sp>
        <p:nvSpPr>
          <p:cNvPr id="441347" name="Rectangle 3"/>
          <p:cNvSpPr>
            <a:spLocks noGrp="1" noChangeArrowheads="1"/>
          </p:cNvSpPr>
          <p:nvPr>
            <p:ph type="body" idx="1"/>
          </p:nvPr>
        </p:nvSpPr>
        <p:spPr/>
        <p:txBody>
          <a:bodyPr/>
          <a:lstStyle/>
          <a:p>
            <a:pPr>
              <a:lnSpc>
                <a:spcPct val="130000"/>
              </a:lnSpc>
            </a:pPr>
            <a:r>
              <a:rPr lang="zh-CN" altLang="en-US" sz="2400">
                <a:ea typeface="宋体" panose="02010600030101010101" pitchFamily="2" charset="-122"/>
              </a:rPr>
              <a:t>具有意向锁的多粒度封锁方法</a:t>
            </a:r>
          </a:p>
          <a:p>
            <a:pPr marL="819150" lvl="1">
              <a:lnSpc>
                <a:spcPct val="130000"/>
              </a:lnSpc>
              <a:spcBef>
                <a:spcPct val="60000"/>
              </a:spcBef>
            </a:pPr>
            <a:r>
              <a:rPr lang="zh-CN" altLang="en-US" sz="2200">
                <a:ea typeface="宋体" panose="02010600030101010101" pitchFamily="2" charset="-122"/>
              </a:rPr>
              <a:t>申请封锁时应该按自上而下的次序进行</a:t>
            </a:r>
          </a:p>
          <a:p>
            <a:pPr marL="819150" lvl="1">
              <a:lnSpc>
                <a:spcPct val="130000"/>
              </a:lnSpc>
              <a:spcBef>
                <a:spcPct val="60000"/>
              </a:spcBef>
            </a:pPr>
            <a:r>
              <a:rPr lang="zh-CN" altLang="en-US" sz="2200">
                <a:ea typeface="宋体" panose="02010600030101010101" pitchFamily="2" charset="-122"/>
              </a:rPr>
              <a:t>释放封锁时则应该按自下而上的次序进行</a:t>
            </a:r>
          </a:p>
          <a:p>
            <a:pPr>
              <a:lnSpc>
                <a:spcPct val="130000"/>
              </a:lnSpc>
              <a:spcBef>
                <a:spcPct val="60000"/>
              </a:spcBef>
              <a:buFont typeface="Wingdings" panose="05000000000000000000" pitchFamily="2" charset="2"/>
              <a:buNone/>
            </a:pPr>
            <a:r>
              <a:rPr lang="zh-CN" altLang="en-US" sz="2400">
                <a:ea typeface="宋体" panose="02010600030101010101" pitchFamily="2" charset="-122"/>
              </a:rPr>
              <a:t>   例如：事务</a:t>
            </a:r>
            <a:r>
              <a:rPr lang="en-US" altLang="zh-CN" sz="2400">
                <a:ea typeface="宋体" panose="02010600030101010101" pitchFamily="2" charset="-122"/>
              </a:rPr>
              <a:t>T1</a:t>
            </a:r>
            <a:r>
              <a:rPr lang="zh-CN" altLang="en-US" sz="2400">
                <a:ea typeface="宋体" panose="02010600030101010101" pitchFamily="2" charset="-122"/>
              </a:rPr>
              <a:t>要对关系</a:t>
            </a:r>
            <a:r>
              <a:rPr lang="en-US" altLang="zh-CN" sz="2400" i="1">
                <a:ea typeface="宋体" panose="02010600030101010101" pitchFamily="2" charset="-122"/>
              </a:rPr>
              <a:t>R</a:t>
            </a:r>
            <a:r>
              <a:rPr lang="en-US" altLang="zh-CN" sz="2400">
                <a:ea typeface="宋体" panose="02010600030101010101" pitchFamily="2" charset="-122"/>
              </a:rPr>
              <a:t>1</a:t>
            </a:r>
            <a:r>
              <a:rPr lang="zh-CN" altLang="en-US" sz="2400">
                <a:ea typeface="宋体" panose="02010600030101010101" pitchFamily="2" charset="-122"/>
              </a:rPr>
              <a:t>加</a:t>
            </a:r>
            <a:r>
              <a:rPr lang="en-US" altLang="zh-CN" sz="2400">
                <a:ea typeface="宋体" panose="02010600030101010101" pitchFamily="2" charset="-122"/>
              </a:rPr>
              <a:t>S</a:t>
            </a:r>
            <a:r>
              <a:rPr lang="zh-CN" altLang="en-US" sz="2400">
                <a:ea typeface="宋体" panose="02010600030101010101" pitchFamily="2" charset="-122"/>
              </a:rPr>
              <a:t>锁</a:t>
            </a:r>
          </a:p>
          <a:p>
            <a:pPr marL="819150" lvl="1">
              <a:lnSpc>
                <a:spcPct val="130000"/>
              </a:lnSpc>
              <a:spcBef>
                <a:spcPct val="60000"/>
              </a:spcBef>
              <a:buFont typeface="Wingdings" panose="05000000000000000000" pitchFamily="2" charset="2"/>
              <a:buChar char="n"/>
            </a:pPr>
            <a:r>
              <a:rPr lang="zh-CN" altLang="en-US" sz="2200">
                <a:ea typeface="宋体" panose="02010600030101010101" pitchFamily="2" charset="-122"/>
              </a:rPr>
              <a:t>要首先对数据库加</a:t>
            </a:r>
            <a:r>
              <a:rPr lang="en-US" altLang="zh-CN" sz="2200">
                <a:ea typeface="宋体" panose="02010600030101010101" pitchFamily="2" charset="-122"/>
              </a:rPr>
              <a:t>IS</a:t>
            </a:r>
            <a:r>
              <a:rPr lang="zh-CN" altLang="en-US" sz="2200">
                <a:ea typeface="宋体" panose="02010600030101010101" pitchFamily="2" charset="-122"/>
              </a:rPr>
              <a:t>锁</a:t>
            </a:r>
          </a:p>
          <a:p>
            <a:pPr marL="819150" lvl="1">
              <a:lnSpc>
                <a:spcPct val="130000"/>
              </a:lnSpc>
              <a:spcBef>
                <a:spcPct val="60000"/>
              </a:spcBef>
              <a:buFont typeface="Wingdings" panose="05000000000000000000" pitchFamily="2" charset="2"/>
              <a:buChar char="n"/>
            </a:pPr>
            <a:r>
              <a:rPr lang="zh-CN" altLang="en-US" sz="2200">
                <a:ea typeface="宋体" panose="02010600030101010101" pitchFamily="2" charset="-122"/>
              </a:rPr>
              <a:t>检查数据库和</a:t>
            </a:r>
            <a:r>
              <a:rPr lang="en-US" altLang="zh-CN" sz="2200" i="1">
                <a:ea typeface="宋体" panose="02010600030101010101" pitchFamily="2" charset="-122"/>
              </a:rPr>
              <a:t>R</a:t>
            </a:r>
            <a:r>
              <a:rPr lang="en-US" altLang="zh-CN" sz="2200">
                <a:ea typeface="宋体" panose="02010600030101010101" pitchFamily="2" charset="-122"/>
              </a:rPr>
              <a:t>1</a:t>
            </a:r>
            <a:r>
              <a:rPr lang="zh-CN" altLang="en-US" sz="2200">
                <a:ea typeface="宋体" panose="02010600030101010101" pitchFamily="2" charset="-122"/>
              </a:rPr>
              <a:t>是否已加了不相容的锁</a:t>
            </a:r>
            <a:r>
              <a:rPr lang="en-US" altLang="zh-CN" sz="2200">
                <a:ea typeface="宋体" panose="02010600030101010101" pitchFamily="2" charset="-122"/>
              </a:rPr>
              <a:t>(X</a:t>
            </a:r>
            <a:r>
              <a:rPr lang="zh-CN" altLang="en-US" sz="2200">
                <a:ea typeface="宋体" panose="02010600030101010101" pitchFamily="2" charset="-122"/>
              </a:rPr>
              <a:t>或</a:t>
            </a:r>
            <a:r>
              <a:rPr lang="en-US" altLang="zh-CN" sz="2200">
                <a:ea typeface="宋体" panose="02010600030101010101" pitchFamily="2" charset="-122"/>
              </a:rPr>
              <a:t>IX)</a:t>
            </a:r>
          </a:p>
          <a:p>
            <a:pPr marL="819150" lvl="1">
              <a:lnSpc>
                <a:spcPct val="130000"/>
              </a:lnSpc>
              <a:spcBef>
                <a:spcPct val="60000"/>
              </a:spcBef>
              <a:buFont typeface="Wingdings" panose="05000000000000000000" pitchFamily="2" charset="2"/>
              <a:buChar char="n"/>
            </a:pPr>
            <a:r>
              <a:rPr lang="zh-CN" altLang="en-US" sz="2200">
                <a:ea typeface="宋体" panose="02010600030101010101" pitchFamily="2" charset="-122"/>
              </a:rPr>
              <a:t>不再需要搜索和检查</a:t>
            </a:r>
            <a:r>
              <a:rPr lang="en-US" altLang="zh-CN" sz="2200" i="1">
                <a:ea typeface="宋体" panose="02010600030101010101" pitchFamily="2" charset="-122"/>
              </a:rPr>
              <a:t>R</a:t>
            </a:r>
            <a:r>
              <a:rPr lang="en-US" altLang="zh-CN" sz="2200">
                <a:ea typeface="宋体" panose="02010600030101010101" pitchFamily="2" charset="-122"/>
              </a:rPr>
              <a:t>1</a:t>
            </a:r>
            <a:r>
              <a:rPr lang="zh-CN" altLang="en-US" sz="2200">
                <a:ea typeface="宋体" panose="02010600030101010101" pitchFamily="2" charset="-122"/>
              </a:rPr>
              <a:t>中的元组是否加了不相容的锁</a:t>
            </a:r>
            <a:r>
              <a:rPr lang="en-US" altLang="zh-CN" sz="2200">
                <a:ea typeface="宋体" panose="02010600030101010101" pitchFamily="2" charset="-122"/>
              </a:rPr>
              <a:t>(X</a:t>
            </a:r>
            <a:r>
              <a:rPr lang="zh-CN" altLang="en-US" sz="2200">
                <a:ea typeface="宋体" panose="02010600030101010101" pitchFamily="2" charset="-122"/>
              </a:rPr>
              <a:t>锁</a:t>
            </a:r>
            <a:r>
              <a:rPr lang="en-US" altLang="zh-CN" sz="2200">
                <a:ea typeface="宋体" panose="02010600030101010101" pitchFamily="2" charset="-122"/>
              </a:rPr>
              <a:t>)</a:t>
            </a:r>
            <a:r>
              <a:rPr lang="en-US" altLang="zh-CN" sz="2000">
                <a:ea typeface="宋体" panose="02010600030101010101" pitchFamily="2" charset="-122"/>
              </a:rPr>
              <a:t>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109</a:t>
            </a:fld>
            <a:endParaRPr lang="en-US" altLang="zh-CN"/>
          </a:p>
        </p:txBody>
      </p:sp>
    </p:spTree>
    <p:extLst>
      <p:ext uri="{BB962C8B-B14F-4D97-AF65-F5344CB8AC3E}">
        <p14:creationId xmlns:p14="http://schemas.microsoft.com/office/powerpoint/2010/main" val="33910923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r>
              <a:rPr lang="zh-CN" altLang="en-US">
                <a:ea typeface="宋体" panose="02010600030101010101" pitchFamily="2" charset="-122"/>
              </a:rPr>
              <a:t>意向锁（续）</a:t>
            </a:r>
          </a:p>
        </p:txBody>
      </p:sp>
      <p:sp>
        <p:nvSpPr>
          <p:cNvPr id="522243" name="Rectangle 3"/>
          <p:cNvSpPr>
            <a:spLocks noGrp="1" noChangeArrowheads="1"/>
          </p:cNvSpPr>
          <p:nvPr>
            <p:ph type="body" idx="1"/>
          </p:nvPr>
        </p:nvSpPr>
        <p:spPr/>
        <p:txBody>
          <a:bodyPr/>
          <a:lstStyle/>
          <a:p>
            <a:pPr>
              <a:lnSpc>
                <a:spcPct val="160000"/>
              </a:lnSpc>
            </a:pPr>
            <a:r>
              <a:rPr lang="zh-CN" altLang="en-US">
                <a:ea typeface="宋体" panose="02010600030101010101" pitchFamily="2" charset="-122"/>
              </a:rPr>
              <a:t>具有意向锁的多粒度封锁方法</a:t>
            </a:r>
          </a:p>
          <a:p>
            <a:pPr lvl="1">
              <a:lnSpc>
                <a:spcPct val="160000"/>
              </a:lnSpc>
            </a:pPr>
            <a:r>
              <a:rPr lang="zh-CN" altLang="en-US">
                <a:ea typeface="宋体" panose="02010600030101010101" pitchFamily="2" charset="-122"/>
              </a:rPr>
              <a:t>提高了系统的并发度</a:t>
            </a:r>
          </a:p>
          <a:p>
            <a:pPr lvl="1">
              <a:lnSpc>
                <a:spcPct val="160000"/>
              </a:lnSpc>
            </a:pPr>
            <a:r>
              <a:rPr lang="zh-CN" altLang="en-US">
                <a:ea typeface="宋体" panose="02010600030101010101" pitchFamily="2" charset="-122"/>
              </a:rPr>
              <a:t>减少了加锁和解锁的开销</a:t>
            </a:r>
          </a:p>
          <a:p>
            <a:pPr lvl="1">
              <a:lnSpc>
                <a:spcPct val="160000"/>
              </a:lnSpc>
            </a:pPr>
            <a:r>
              <a:rPr lang="zh-CN" altLang="en-US">
                <a:ea typeface="宋体" panose="02010600030101010101" pitchFamily="2" charset="-122"/>
              </a:rPr>
              <a:t>在实际的数据库管理系统产品中得到广泛应用 </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110</a:t>
            </a:fld>
            <a:endParaRPr lang="en-US" altLang="zh-CN"/>
          </a:p>
        </p:txBody>
      </p:sp>
    </p:spTree>
    <p:extLst>
      <p:ext uri="{BB962C8B-B14F-4D97-AF65-F5344CB8AC3E}">
        <p14:creationId xmlns:p14="http://schemas.microsoft.com/office/powerpoint/2010/main" val="628127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p:txBody>
          <a:bodyPr/>
          <a:lstStyle/>
          <a:p>
            <a:r>
              <a:rPr lang="zh-CN" altLang="en-US" dirty="0">
                <a:ea typeface="宋体" panose="02010600030101010101" pitchFamily="2" charset="-122"/>
              </a:rPr>
              <a:t>第八章  并发控制</a:t>
            </a:r>
          </a:p>
        </p:txBody>
      </p:sp>
      <p:sp>
        <p:nvSpPr>
          <p:cNvPr id="491523" name="Rectangle 3"/>
          <p:cNvSpPr>
            <a:spLocks noGrp="1" noChangeArrowheads="1"/>
          </p:cNvSpPr>
          <p:nvPr>
            <p:ph type="body" idx="1"/>
          </p:nvPr>
        </p:nvSpPr>
        <p:spPr>
          <a:xfrm>
            <a:off x="971550" y="1828800"/>
            <a:ext cx="7715250" cy="4495800"/>
          </a:xfrm>
        </p:spPr>
        <p:txBody>
          <a:bodyPr/>
          <a:lstStyle/>
          <a:p>
            <a:pPr algn="just">
              <a:lnSpc>
                <a:spcPct val="130000"/>
              </a:lnSpc>
              <a:buFont typeface="Wingdings" panose="05000000000000000000" pitchFamily="2" charset="2"/>
              <a:buNone/>
            </a:pPr>
            <a:r>
              <a:rPr lang="en-US" altLang="zh-CN" b="1" dirty="0">
                <a:ea typeface="宋体" panose="02010600030101010101" pitchFamily="2" charset="-122"/>
              </a:rPr>
              <a:t>8.1  </a:t>
            </a:r>
            <a:r>
              <a:rPr lang="zh-CN" altLang="en-US" b="1" dirty="0">
                <a:ea typeface="宋体" panose="02010600030101010101" pitchFamily="2" charset="-122"/>
              </a:rPr>
              <a:t>并发控制概述</a:t>
            </a:r>
          </a:p>
          <a:p>
            <a:pPr algn="just">
              <a:lnSpc>
                <a:spcPct val="130000"/>
              </a:lnSpc>
              <a:buFont typeface="Wingdings" panose="05000000000000000000" pitchFamily="2" charset="2"/>
              <a:buNone/>
            </a:pPr>
            <a:r>
              <a:rPr lang="en-US" altLang="zh-CN" b="1" dirty="0">
                <a:ea typeface="宋体" panose="02010600030101010101" pitchFamily="2" charset="-122"/>
              </a:rPr>
              <a:t>8.2  </a:t>
            </a:r>
            <a:r>
              <a:rPr lang="zh-CN" altLang="en-US" b="1" dirty="0">
                <a:ea typeface="宋体" panose="02010600030101010101" pitchFamily="2" charset="-122"/>
              </a:rPr>
              <a:t>封锁</a:t>
            </a:r>
          </a:p>
          <a:p>
            <a:pPr algn="just">
              <a:lnSpc>
                <a:spcPct val="130000"/>
              </a:lnSpc>
              <a:buFont typeface="Wingdings" panose="05000000000000000000" pitchFamily="2" charset="2"/>
              <a:buNone/>
            </a:pPr>
            <a:r>
              <a:rPr lang="en-US" altLang="zh-CN" b="1" dirty="0">
                <a:ea typeface="宋体" panose="02010600030101010101" pitchFamily="2" charset="-122"/>
              </a:rPr>
              <a:t>8.3  </a:t>
            </a:r>
            <a:r>
              <a:rPr lang="zh-CN" altLang="en-US" b="1" dirty="0">
                <a:ea typeface="宋体" panose="02010600030101010101" pitchFamily="2" charset="-122"/>
              </a:rPr>
              <a:t>活锁和死锁</a:t>
            </a:r>
          </a:p>
          <a:p>
            <a:pPr algn="just">
              <a:lnSpc>
                <a:spcPct val="130000"/>
              </a:lnSpc>
              <a:buFont typeface="Wingdings" panose="05000000000000000000" pitchFamily="2" charset="2"/>
              <a:buNone/>
            </a:pPr>
            <a:r>
              <a:rPr lang="en-US" altLang="zh-CN" b="1" dirty="0">
                <a:ea typeface="宋体" panose="02010600030101010101" pitchFamily="2" charset="-122"/>
              </a:rPr>
              <a:t>8.4  </a:t>
            </a:r>
            <a:r>
              <a:rPr lang="zh-CN" altLang="en-US" b="1" dirty="0">
                <a:ea typeface="宋体" panose="02010600030101010101" pitchFamily="2" charset="-122"/>
              </a:rPr>
              <a:t>并发调度的可串行性</a:t>
            </a:r>
          </a:p>
          <a:p>
            <a:pPr algn="just">
              <a:lnSpc>
                <a:spcPct val="130000"/>
              </a:lnSpc>
              <a:buFont typeface="Wingdings" panose="05000000000000000000" pitchFamily="2" charset="2"/>
              <a:buNone/>
            </a:pPr>
            <a:r>
              <a:rPr lang="en-US" altLang="zh-CN" b="1" dirty="0">
                <a:ea typeface="宋体" panose="02010600030101010101" pitchFamily="2" charset="-122"/>
              </a:rPr>
              <a:t>8.5   </a:t>
            </a:r>
            <a:r>
              <a:rPr lang="zh-CN" altLang="en-US" b="1" dirty="0">
                <a:ea typeface="宋体" panose="02010600030101010101" pitchFamily="2" charset="-122"/>
              </a:rPr>
              <a:t>两段锁协议</a:t>
            </a:r>
          </a:p>
          <a:p>
            <a:pPr algn="just">
              <a:lnSpc>
                <a:spcPct val="130000"/>
              </a:lnSpc>
              <a:buFont typeface="Wingdings" panose="05000000000000000000" pitchFamily="2" charset="2"/>
              <a:buNone/>
            </a:pPr>
            <a:r>
              <a:rPr lang="en-US" altLang="zh-CN" b="1" dirty="0">
                <a:ea typeface="宋体" panose="02010600030101010101" pitchFamily="2" charset="-122"/>
              </a:rPr>
              <a:t>8.6   </a:t>
            </a:r>
            <a:r>
              <a:rPr lang="zh-CN" altLang="en-US" b="1" dirty="0">
                <a:ea typeface="宋体" panose="02010600030101010101" pitchFamily="2" charset="-122"/>
              </a:rPr>
              <a:t>封锁的粒度</a:t>
            </a:r>
          </a:p>
          <a:p>
            <a:pPr algn="just">
              <a:lnSpc>
                <a:spcPct val="130000"/>
              </a:lnSpc>
              <a:buFont typeface="Wingdings" panose="05000000000000000000" pitchFamily="2" charset="2"/>
              <a:buNone/>
            </a:pPr>
            <a:r>
              <a:rPr lang="en-US" altLang="zh-CN" b="1" dirty="0">
                <a:solidFill>
                  <a:schemeClr val="tx2"/>
                </a:solidFill>
                <a:ea typeface="宋体" panose="02010600030101010101" pitchFamily="2" charset="-122"/>
              </a:rPr>
              <a:t>8.7   </a:t>
            </a:r>
            <a:r>
              <a:rPr lang="zh-CN" altLang="en-US" b="1" dirty="0">
                <a:solidFill>
                  <a:schemeClr val="tx2"/>
                </a:solidFill>
                <a:ea typeface="宋体" panose="02010600030101010101" pitchFamily="2" charset="-122"/>
              </a:rPr>
              <a:t>小结</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111</a:t>
            </a:fld>
            <a:endParaRPr lang="en-US" altLang="zh-CN"/>
          </a:p>
        </p:txBody>
      </p:sp>
    </p:spTree>
    <p:extLst>
      <p:ext uri="{BB962C8B-B14F-4D97-AF65-F5344CB8AC3E}">
        <p14:creationId xmlns:p14="http://schemas.microsoft.com/office/powerpoint/2010/main" val="33613365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en-US" altLang="zh-CN" dirty="0">
                <a:ea typeface="宋体" panose="02010600030101010101" pitchFamily="2" charset="-122"/>
              </a:rPr>
              <a:t>8.7 </a:t>
            </a:r>
            <a:r>
              <a:rPr lang="zh-CN" altLang="en-US" dirty="0">
                <a:ea typeface="宋体" panose="02010600030101010101" pitchFamily="2" charset="-122"/>
              </a:rPr>
              <a:t>小结</a:t>
            </a:r>
          </a:p>
        </p:txBody>
      </p:sp>
      <p:sp>
        <p:nvSpPr>
          <p:cNvPr id="452611" name="Rectangle 3"/>
          <p:cNvSpPr>
            <a:spLocks noGrp="1" noChangeArrowheads="1"/>
          </p:cNvSpPr>
          <p:nvPr>
            <p:ph type="body" idx="1"/>
          </p:nvPr>
        </p:nvSpPr>
        <p:spPr/>
        <p:txBody>
          <a:bodyPr/>
          <a:lstStyle/>
          <a:p>
            <a:pPr>
              <a:lnSpc>
                <a:spcPct val="130000"/>
              </a:lnSpc>
            </a:pPr>
            <a:r>
              <a:rPr lang="zh-CN" altLang="en-US" sz="2300">
                <a:ea typeface="宋体" panose="02010600030101010101" pitchFamily="2" charset="-122"/>
              </a:rPr>
              <a:t>数据共享与数据一致性是一对矛盾</a:t>
            </a:r>
          </a:p>
          <a:p>
            <a:pPr>
              <a:lnSpc>
                <a:spcPct val="130000"/>
              </a:lnSpc>
            </a:pPr>
            <a:r>
              <a:rPr lang="zh-CN" altLang="en-US" sz="2300">
                <a:ea typeface="宋体" panose="02010600030101010101" pitchFamily="2" charset="-122"/>
              </a:rPr>
              <a:t>数据库的价值在很大程度上取决于它所能提供的数据共享度</a:t>
            </a:r>
          </a:p>
          <a:p>
            <a:pPr>
              <a:lnSpc>
                <a:spcPct val="130000"/>
              </a:lnSpc>
              <a:spcBef>
                <a:spcPct val="40000"/>
              </a:spcBef>
            </a:pPr>
            <a:r>
              <a:rPr lang="zh-CN" altLang="en-US" sz="2300">
                <a:ea typeface="宋体" panose="02010600030101010101" pitchFamily="2" charset="-122"/>
              </a:rPr>
              <a:t>数据共享在很大程度上取决于系统允许对数据并发操作的程度</a:t>
            </a:r>
          </a:p>
          <a:p>
            <a:pPr>
              <a:lnSpc>
                <a:spcPct val="130000"/>
              </a:lnSpc>
              <a:spcBef>
                <a:spcPct val="40000"/>
              </a:spcBef>
            </a:pPr>
            <a:r>
              <a:rPr lang="zh-CN" altLang="en-US" sz="2300">
                <a:ea typeface="宋体" panose="02010600030101010101" pitchFamily="2" charset="-122"/>
              </a:rPr>
              <a:t>数据并发程度又取决于数据库中的并发控制机制</a:t>
            </a:r>
          </a:p>
          <a:p>
            <a:pPr>
              <a:lnSpc>
                <a:spcPct val="130000"/>
              </a:lnSpc>
              <a:spcBef>
                <a:spcPct val="40000"/>
              </a:spcBef>
            </a:pPr>
            <a:r>
              <a:rPr lang="zh-CN" altLang="en-US" sz="2300">
                <a:ea typeface="宋体" panose="02010600030101010101" pitchFamily="2" charset="-122"/>
              </a:rPr>
              <a:t>数据的一致性也取决于并发控制的程度。施加的并发控制愈多，数据的一致性往往愈好</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112</a:t>
            </a:fld>
            <a:endParaRPr lang="en-US" altLang="zh-CN"/>
          </a:p>
        </p:txBody>
      </p:sp>
    </p:spTree>
    <p:extLst>
      <p:ext uri="{BB962C8B-B14F-4D97-AF65-F5344CB8AC3E}">
        <p14:creationId xmlns:p14="http://schemas.microsoft.com/office/powerpoint/2010/main" val="26486249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r>
              <a:rPr lang="zh-CN" altLang="en-US">
                <a:ea typeface="宋体" panose="02010600030101010101" pitchFamily="2" charset="-122"/>
              </a:rPr>
              <a:t>小结（续）</a:t>
            </a:r>
          </a:p>
        </p:txBody>
      </p:sp>
      <p:sp>
        <p:nvSpPr>
          <p:cNvPr id="453635" name="Rectangle 3"/>
          <p:cNvSpPr>
            <a:spLocks noGrp="1" noChangeArrowheads="1"/>
          </p:cNvSpPr>
          <p:nvPr>
            <p:ph type="body" idx="1"/>
          </p:nvPr>
        </p:nvSpPr>
        <p:spPr/>
        <p:txBody>
          <a:bodyPr/>
          <a:lstStyle/>
          <a:p>
            <a:pPr>
              <a:lnSpc>
                <a:spcPct val="190000"/>
              </a:lnSpc>
            </a:pPr>
            <a:r>
              <a:rPr lang="zh-CN" altLang="en-US" sz="2400">
                <a:ea typeface="宋体" panose="02010600030101010101" pitchFamily="2" charset="-122"/>
              </a:rPr>
              <a:t>数据库的并发控制以事务为单位</a:t>
            </a:r>
          </a:p>
          <a:p>
            <a:pPr>
              <a:lnSpc>
                <a:spcPct val="190000"/>
              </a:lnSpc>
            </a:pPr>
            <a:r>
              <a:rPr lang="zh-CN" altLang="en-US" sz="2400">
                <a:ea typeface="宋体" panose="02010600030101010101" pitchFamily="2" charset="-122"/>
              </a:rPr>
              <a:t>数据库的并发控制通常使用封锁机制</a:t>
            </a:r>
          </a:p>
          <a:p>
            <a:pPr lvl="1">
              <a:lnSpc>
                <a:spcPct val="190000"/>
              </a:lnSpc>
            </a:pPr>
            <a:r>
              <a:rPr lang="zh-CN" altLang="en-US">
                <a:ea typeface="宋体" panose="02010600030101010101" pitchFamily="2" charset="-122"/>
              </a:rPr>
              <a:t>两类最常用的封锁</a:t>
            </a:r>
          </a:p>
          <a:p>
            <a:endParaRPr lang="en-US" altLang="zh-CN" sz="2400">
              <a:ea typeface="宋体" panose="02010600030101010101" pitchFamily="2" charset="-122"/>
            </a:endParaRP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113</a:t>
            </a:fld>
            <a:endParaRPr lang="en-US" altLang="zh-CN"/>
          </a:p>
        </p:txBody>
      </p:sp>
    </p:spTree>
    <p:extLst>
      <p:ext uri="{BB962C8B-B14F-4D97-AF65-F5344CB8AC3E}">
        <p14:creationId xmlns:p14="http://schemas.microsoft.com/office/powerpoint/2010/main" val="393174317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zh-CN" altLang="en-US">
                <a:ea typeface="宋体" panose="02010600030101010101" pitchFamily="2" charset="-122"/>
              </a:rPr>
              <a:t>小结（续）</a:t>
            </a:r>
          </a:p>
        </p:txBody>
      </p:sp>
      <p:sp>
        <p:nvSpPr>
          <p:cNvPr id="454659" name="Rectangle 3"/>
          <p:cNvSpPr>
            <a:spLocks noGrp="1" noChangeArrowheads="1"/>
          </p:cNvSpPr>
          <p:nvPr>
            <p:ph type="body" idx="1"/>
          </p:nvPr>
        </p:nvSpPr>
        <p:spPr/>
        <p:txBody>
          <a:bodyPr/>
          <a:lstStyle/>
          <a:p>
            <a:pPr>
              <a:lnSpc>
                <a:spcPct val="190000"/>
              </a:lnSpc>
            </a:pPr>
            <a:r>
              <a:rPr lang="zh-CN" altLang="en-US" sz="2400">
                <a:ea typeface="宋体" panose="02010600030101010101" pitchFamily="2" charset="-122"/>
              </a:rPr>
              <a:t>并发控制机制调度并发事务操作是否正确的判别准则是可串行性</a:t>
            </a:r>
          </a:p>
          <a:p>
            <a:pPr lvl="1">
              <a:lnSpc>
                <a:spcPct val="190000"/>
              </a:lnSpc>
              <a:spcBef>
                <a:spcPct val="60000"/>
              </a:spcBef>
            </a:pPr>
            <a:r>
              <a:rPr lang="zh-CN" altLang="en-US">
                <a:ea typeface="宋体" panose="02010600030101010101" pitchFamily="2" charset="-122"/>
              </a:rPr>
              <a:t>并发操作的正确性则通常由两段锁协议来保证。</a:t>
            </a:r>
          </a:p>
          <a:p>
            <a:pPr lvl="1">
              <a:lnSpc>
                <a:spcPct val="190000"/>
              </a:lnSpc>
              <a:spcBef>
                <a:spcPct val="60000"/>
              </a:spcBef>
            </a:pPr>
            <a:r>
              <a:rPr lang="zh-CN" altLang="en-US">
                <a:ea typeface="宋体" panose="02010600030101010101" pitchFamily="2" charset="-122"/>
              </a:rPr>
              <a:t>两段锁协议是可串行化调度的充分条件，但不是必要条件</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114</a:t>
            </a:fld>
            <a:endParaRPr lang="en-US" altLang="zh-CN"/>
          </a:p>
        </p:txBody>
      </p:sp>
    </p:spTree>
    <p:extLst>
      <p:ext uri="{BB962C8B-B14F-4D97-AF65-F5344CB8AC3E}">
        <p14:creationId xmlns:p14="http://schemas.microsoft.com/office/powerpoint/2010/main" val="5505838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r>
              <a:rPr lang="zh-CN" altLang="en-US">
                <a:ea typeface="宋体" panose="02010600030101010101" pitchFamily="2" charset="-122"/>
              </a:rPr>
              <a:t>小结（续）</a:t>
            </a:r>
          </a:p>
        </p:txBody>
      </p:sp>
      <p:sp>
        <p:nvSpPr>
          <p:cNvPr id="455683" name="Rectangle 3"/>
          <p:cNvSpPr>
            <a:spLocks noGrp="1" noChangeArrowheads="1"/>
          </p:cNvSpPr>
          <p:nvPr>
            <p:ph type="body" idx="1"/>
          </p:nvPr>
        </p:nvSpPr>
        <p:spPr>
          <a:xfrm>
            <a:off x="611188" y="1844675"/>
            <a:ext cx="7993062" cy="4114800"/>
          </a:xfrm>
        </p:spPr>
        <p:txBody>
          <a:bodyPr/>
          <a:lstStyle/>
          <a:p>
            <a:pPr>
              <a:lnSpc>
                <a:spcPct val="110000"/>
              </a:lnSpc>
            </a:pPr>
            <a:r>
              <a:rPr lang="zh-CN" altLang="en-US" sz="2400">
                <a:ea typeface="宋体" panose="02010600030101010101" pitchFamily="2" charset="-122"/>
              </a:rPr>
              <a:t>对数据对象施加封锁，带来问题</a:t>
            </a:r>
          </a:p>
          <a:p>
            <a:pPr>
              <a:lnSpc>
                <a:spcPct val="110000"/>
              </a:lnSpc>
            </a:pPr>
            <a:r>
              <a:rPr lang="zh-CN" altLang="en-US" sz="2400">
                <a:ea typeface="宋体" panose="02010600030101010101" pitchFamily="2" charset="-122"/>
              </a:rPr>
              <a:t>活锁： 先来先服务</a:t>
            </a:r>
          </a:p>
          <a:p>
            <a:pPr>
              <a:lnSpc>
                <a:spcPct val="110000"/>
              </a:lnSpc>
            </a:pPr>
            <a:r>
              <a:rPr lang="zh-CN" altLang="en-US" sz="2400">
                <a:ea typeface="宋体" panose="02010600030101010101" pitchFamily="2" charset="-122"/>
              </a:rPr>
              <a:t> 死锁：</a:t>
            </a:r>
          </a:p>
          <a:p>
            <a:pPr lvl="1">
              <a:lnSpc>
                <a:spcPct val="110000"/>
              </a:lnSpc>
            </a:pPr>
            <a:r>
              <a:rPr lang="zh-CN" altLang="en-US">
                <a:ea typeface="宋体" panose="02010600030101010101" pitchFamily="2" charset="-122"/>
              </a:rPr>
              <a:t>预防方法</a:t>
            </a:r>
          </a:p>
          <a:p>
            <a:pPr lvl="2">
              <a:lnSpc>
                <a:spcPct val="110000"/>
              </a:lnSpc>
              <a:buFont typeface="Wingdings" panose="05000000000000000000" pitchFamily="2" charset="2"/>
              <a:buChar char="Ø"/>
            </a:pPr>
            <a:r>
              <a:rPr lang="zh-CN" altLang="en-US" sz="2400">
                <a:ea typeface="宋体" panose="02010600030101010101" pitchFamily="2" charset="-122"/>
              </a:rPr>
              <a:t>一次封锁法</a:t>
            </a:r>
          </a:p>
          <a:p>
            <a:pPr lvl="2">
              <a:lnSpc>
                <a:spcPct val="110000"/>
              </a:lnSpc>
              <a:buFont typeface="Wingdings" panose="05000000000000000000" pitchFamily="2" charset="2"/>
              <a:buChar char="Ø"/>
            </a:pPr>
            <a:r>
              <a:rPr lang="zh-CN" altLang="en-US" sz="2400">
                <a:ea typeface="宋体" panose="02010600030101010101" pitchFamily="2" charset="-122"/>
              </a:rPr>
              <a:t>顺序封锁法</a:t>
            </a:r>
          </a:p>
          <a:p>
            <a:pPr lvl="1">
              <a:lnSpc>
                <a:spcPct val="110000"/>
              </a:lnSpc>
            </a:pPr>
            <a:r>
              <a:rPr lang="zh-CN" altLang="en-US">
                <a:ea typeface="宋体" panose="02010600030101010101" pitchFamily="2" charset="-122"/>
              </a:rPr>
              <a:t> 死锁的诊断与解除</a:t>
            </a:r>
          </a:p>
          <a:p>
            <a:pPr lvl="2">
              <a:lnSpc>
                <a:spcPct val="110000"/>
              </a:lnSpc>
              <a:buFont typeface="Wingdings" panose="05000000000000000000" pitchFamily="2" charset="2"/>
              <a:buChar char="Ø"/>
            </a:pPr>
            <a:r>
              <a:rPr lang="zh-CN" altLang="en-US" sz="2400">
                <a:ea typeface="宋体" panose="02010600030101010101" pitchFamily="2" charset="-122"/>
              </a:rPr>
              <a:t>超时法</a:t>
            </a:r>
          </a:p>
          <a:p>
            <a:pPr lvl="2">
              <a:lnSpc>
                <a:spcPct val="110000"/>
              </a:lnSpc>
              <a:buFont typeface="Wingdings" panose="05000000000000000000" pitchFamily="2" charset="2"/>
              <a:buChar char="Ø"/>
            </a:pPr>
            <a:r>
              <a:rPr lang="zh-CN" altLang="en-US" sz="2400">
                <a:ea typeface="宋体" panose="02010600030101010101" pitchFamily="2" charset="-122"/>
              </a:rPr>
              <a:t>等待图法</a:t>
            </a:r>
          </a:p>
        </p:txBody>
      </p:sp>
      <p:sp>
        <p:nvSpPr>
          <p:cNvPr id="2" name="灯片编号占位符 1"/>
          <p:cNvSpPr>
            <a:spLocks noGrp="1"/>
          </p:cNvSpPr>
          <p:nvPr>
            <p:ph type="sldNum" sz="quarter" idx="12"/>
          </p:nvPr>
        </p:nvSpPr>
        <p:spPr/>
        <p:txBody>
          <a:bodyPr/>
          <a:lstStyle/>
          <a:p>
            <a:fld id="{945D2E7A-0FED-4726-9E29-881D901EFE19}" type="slidenum">
              <a:rPr lang="en-US" altLang="zh-CN" smtClean="0"/>
              <a:pPr/>
              <a:t>115</a:t>
            </a:fld>
            <a:endParaRPr lang="en-US" altLang="zh-CN"/>
          </a:p>
        </p:txBody>
      </p:sp>
    </p:spTree>
    <p:extLst>
      <p:ext uri="{BB962C8B-B14F-4D97-AF65-F5344CB8AC3E}">
        <p14:creationId xmlns:p14="http://schemas.microsoft.com/office/powerpoint/2010/main" val="21381625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FI" val=""/>
</p:tagLst>
</file>

<file path=ppt/theme/theme1.xml><?xml version="1.0" encoding="utf-8"?>
<a:theme xmlns:a="http://schemas.openxmlformats.org/drawingml/2006/main" name="1_商务模板系列34">
  <a:themeElements>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1_商务模板系列34">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54000" tIns="0" rIns="54000" bIns="0" numCol="1" anchor="t" anchorCtr="0" compatLnSpc="1">
        <a:prstTxWarp prst="textNoShape">
          <a:avLst/>
        </a:prstTxWarp>
      </a:bodyPr>
      <a:lstStyle>
        <a:def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54000" tIns="0" rIns="54000" bIns="0" numCol="1" anchor="t" anchorCtr="0" compatLnSpc="1">
        <a:prstTxWarp prst="textNoShape">
          <a:avLst/>
        </a:prstTxWarp>
      </a:bodyPr>
      <a:lstStyle>
        <a:def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1_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_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6412</TotalTime>
  <Words>7549</Words>
  <Application>Microsoft Office PowerPoint</Application>
  <PresentationFormat>全屏显示(4:3)</PresentationFormat>
  <Paragraphs>976</Paragraphs>
  <Slides>115</Slides>
  <Notes>7</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115</vt:i4>
      </vt:variant>
    </vt:vector>
  </HeadingPairs>
  <TitlesOfParts>
    <vt:vector size="125" baseType="lpstr">
      <vt:lpstr>-apple-system</vt:lpstr>
      <vt:lpstr>楷体_GB2312</vt:lpstr>
      <vt:lpstr>宋体</vt:lpstr>
      <vt:lpstr>Arial</vt:lpstr>
      <vt:lpstr>Tahoma</vt:lpstr>
      <vt:lpstr>Times New Roman</vt:lpstr>
      <vt:lpstr>Wingdings</vt:lpstr>
      <vt:lpstr>1_商务模板系列34</vt:lpstr>
      <vt:lpstr>Image</vt:lpstr>
      <vt:lpstr>图片</vt:lpstr>
      <vt:lpstr>PowerPoint 演示文稿</vt:lpstr>
      <vt:lpstr>事务的基本概念</vt:lpstr>
      <vt:lpstr>一、事务(Transaction)</vt:lpstr>
      <vt:lpstr>事  务</vt:lpstr>
      <vt:lpstr>二、事务的ACID特性 </vt:lpstr>
      <vt:lpstr>1  原子性</vt:lpstr>
      <vt:lpstr>PowerPoint 演示文稿</vt:lpstr>
      <vt:lpstr>如何实现事务的原子性呢？ </vt:lpstr>
      <vt:lpstr>2  一致性</vt:lpstr>
      <vt:lpstr>       下面通过实例来理解完整性约束如何实现数据库的一致性。</vt:lpstr>
      <vt:lpstr>PowerPoint 演示文稿</vt:lpstr>
      <vt:lpstr>PowerPoint 演示文稿</vt:lpstr>
      <vt:lpstr>3  隔离性</vt:lpstr>
      <vt:lpstr>4  持久性</vt:lpstr>
      <vt:lpstr>PowerPoint 演示文稿</vt:lpstr>
      <vt:lpstr>练习：</vt:lpstr>
      <vt:lpstr>PowerPoint 演示文稿</vt:lpstr>
      <vt:lpstr>并发控制</vt:lpstr>
      <vt:lpstr>问题的产生（续）</vt:lpstr>
      <vt:lpstr>问题的产生（续）</vt:lpstr>
      <vt:lpstr>问题的产生（续）</vt:lpstr>
      <vt:lpstr>问题的产生（续）</vt:lpstr>
      <vt:lpstr>问题的产生（续）</vt:lpstr>
      <vt:lpstr>第十二章  并发控制</vt:lpstr>
      <vt:lpstr>12.1  并发控制概述</vt:lpstr>
      <vt:lpstr>T1的修改被T2覆盖了！</vt:lpstr>
      <vt:lpstr>并发控制概述（续）</vt:lpstr>
      <vt:lpstr>并发控制概述（续）</vt:lpstr>
      <vt:lpstr>1. 丢失修改</vt:lpstr>
      <vt:lpstr>丢失修改（续）</vt:lpstr>
      <vt:lpstr>2. 不可重复读</vt:lpstr>
      <vt:lpstr>不可重复读（续）</vt:lpstr>
      <vt:lpstr>不可重复读（续）</vt:lpstr>
      <vt:lpstr>不可重复读（续）</vt:lpstr>
      <vt:lpstr>3. 读“脏”数据</vt:lpstr>
      <vt:lpstr>读“脏”数据（续）</vt:lpstr>
      <vt:lpstr>并发控制概述（续）</vt:lpstr>
      <vt:lpstr>并发控制概述（续）</vt:lpstr>
      <vt:lpstr>第十二章  并发控制</vt:lpstr>
      <vt:lpstr>12.2  封锁</vt:lpstr>
      <vt:lpstr>什么是封锁</vt:lpstr>
      <vt:lpstr>基本封锁类型</vt:lpstr>
      <vt:lpstr>排它锁（ X锁）</vt:lpstr>
      <vt:lpstr>共享锁（ S锁）</vt:lpstr>
      <vt:lpstr>锁的相容矩阵</vt:lpstr>
      <vt:lpstr>锁的相容矩阵（续）</vt:lpstr>
      <vt:lpstr>使用封锁机制解决丢失修改问题</vt:lpstr>
      <vt:lpstr>使用封锁机制解决不可重复读问题</vt:lpstr>
      <vt:lpstr>使用封锁机制解决读“脏”数据问题</vt:lpstr>
      <vt:lpstr>第八章  并发控制</vt:lpstr>
      <vt:lpstr>8.3  活锁和死锁</vt:lpstr>
      <vt:lpstr>8.3.1 活锁</vt:lpstr>
      <vt:lpstr>活锁（续）</vt:lpstr>
      <vt:lpstr>活锁（续）</vt:lpstr>
      <vt:lpstr>8.3.2  死锁</vt:lpstr>
      <vt:lpstr>死锁（续）</vt:lpstr>
      <vt:lpstr>解决死锁的方法</vt:lpstr>
      <vt:lpstr>1. 死锁的预防</vt:lpstr>
      <vt:lpstr>死锁的预防（续）</vt:lpstr>
      <vt:lpstr>(1)一次封锁法</vt:lpstr>
      <vt:lpstr>(2)顺序封锁法</vt:lpstr>
      <vt:lpstr>死锁的预防（续）</vt:lpstr>
      <vt:lpstr>2. 死锁的诊断与解除</vt:lpstr>
      <vt:lpstr>(1) 超时法</vt:lpstr>
      <vt:lpstr>(2)等待图法</vt:lpstr>
      <vt:lpstr>等待图法（续）</vt:lpstr>
      <vt:lpstr>等待图法（续）</vt:lpstr>
      <vt:lpstr>死锁的诊断与解除（续）</vt:lpstr>
      <vt:lpstr>第八章  并发控制</vt:lpstr>
      <vt:lpstr>8.4  并发调度的可串行性</vt:lpstr>
      <vt:lpstr>8.4.1 可串行化调度</vt:lpstr>
      <vt:lpstr>可串行化调度（续）</vt:lpstr>
      <vt:lpstr>串行化调度,正确的调度</vt:lpstr>
      <vt:lpstr>串行化调度,正确的调度</vt:lpstr>
      <vt:lpstr>不可串行化调度，错误的调度</vt:lpstr>
      <vt:lpstr>可串行化调度，正确的调度</vt:lpstr>
      <vt:lpstr>8.4.2  冲突可串行化调度</vt:lpstr>
      <vt:lpstr>冲突可串行化调度（续）</vt:lpstr>
      <vt:lpstr>冲突可串行化调度（续）</vt:lpstr>
      <vt:lpstr>冲突可串行化调度（续）</vt:lpstr>
      <vt:lpstr>第八章  并发控制</vt:lpstr>
      <vt:lpstr>8.5  两段锁协议</vt:lpstr>
      <vt:lpstr>两段锁协议（续）</vt:lpstr>
      <vt:lpstr>两段锁协议（续）</vt:lpstr>
      <vt:lpstr>两段锁协议（续）</vt:lpstr>
      <vt:lpstr>两段锁协议（续）</vt:lpstr>
      <vt:lpstr>两段锁协议（续）</vt:lpstr>
      <vt:lpstr>两段锁协议（续）</vt:lpstr>
      <vt:lpstr>两段锁协议（续）</vt:lpstr>
      <vt:lpstr>第八章  并发控制</vt:lpstr>
      <vt:lpstr>封锁粒度</vt:lpstr>
      <vt:lpstr>选择封锁粒度原则</vt:lpstr>
      <vt:lpstr>选择封锁粒度的原则（续）</vt:lpstr>
      <vt:lpstr>选择封锁粒度的原则（续）</vt:lpstr>
      <vt:lpstr>8.6.1 多粒度封锁</vt:lpstr>
      <vt:lpstr>多粒度封锁（续）</vt:lpstr>
      <vt:lpstr>多粒度封锁协议</vt:lpstr>
      <vt:lpstr>显式封锁和隐式封锁</vt:lpstr>
      <vt:lpstr>显式封锁和隐式封锁（续）</vt:lpstr>
      <vt:lpstr>显式封锁和隐式封锁（续）</vt:lpstr>
      <vt:lpstr>11.6.2 意向锁</vt:lpstr>
      <vt:lpstr>意向锁(续)</vt:lpstr>
      <vt:lpstr>常用意向锁</vt:lpstr>
      <vt:lpstr>意向锁（续）</vt:lpstr>
      <vt:lpstr>意向锁（续）</vt:lpstr>
      <vt:lpstr>意向锁（续）</vt:lpstr>
      <vt:lpstr>意向锁（续）</vt:lpstr>
      <vt:lpstr>意向锁（续）</vt:lpstr>
      <vt:lpstr>意向锁（续）</vt:lpstr>
      <vt:lpstr>意向锁（续）</vt:lpstr>
      <vt:lpstr>第八章  并发控制</vt:lpstr>
      <vt:lpstr>8.7 小结</vt:lpstr>
      <vt:lpstr>小结（续）</vt:lpstr>
      <vt:lpstr>小结（续）</vt:lpstr>
      <vt:lpstr>小结（续）</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XU</cp:lastModifiedBy>
  <cp:revision>320</cp:revision>
  <dcterms:created xsi:type="dcterms:W3CDTF">2000-08-09T08:19:19Z</dcterms:created>
  <dcterms:modified xsi:type="dcterms:W3CDTF">2025-12-16T21:57:41Z</dcterms:modified>
</cp:coreProperties>
</file>