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3" r:id="rId7"/>
    <p:sldId id="284" r:id="rId8"/>
    <p:sldId id="261" r:id="rId9"/>
    <p:sldId id="264" r:id="rId10"/>
    <p:sldId id="262" r:id="rId11"/>
    <p:sldId id="265" r:id="rId12"/>
    <p:sldId id="266" r:id="rId13"/>
    <p:sldId id="283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6" r:id="rId23"/>
    <p:sldId id="275" r:id="rId24"/>
    <p:sldId id="278" r:id="rId25"/>
    <p:sldId id="279" r:id="rId26"/>
    <p:sldId id="277" r:id="rId27"/>
    <p:sldId id="280" r:id="rId28"/>
    <p:sldId id="281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0EA9C9-6F30-40DE-A7E8-9A5E105E957A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F4B27-8BAF-4010-AE08-66B3D47F4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89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6F4B27-8BAF-4010-AE08-66B3D47F470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52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85FC9-20B4-4668-949D-C3FB150C8CA9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8D42-0CCF-4B92-89C2-69835E5AC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145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85FC9-20B4-4668-949D-C3FB150C8CA9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8D42-0CCF-4B92-89C2-69835E5AC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92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85FC9-20B4-4668-949D-C3FB150C8CA9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8D42-0CCF-4B92-89C2-69835E5AC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10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85FC9-20B4-4668-949D-C3FB150C8CA9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8D42-0CCF-4B92-89C2-69835E5AC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49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85FC9-20B4-4668-949D-C3FB150C8CA9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8D42-0CCF-4B92-89C2-69835E5AC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265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85FC9-20B4-4668-949D-C3FB150C8CA9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8D42-0CCF-4B92-89C2-69835E5AC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553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85FC9-20B4-4668-949D-C3FB150C8CA9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8D42-0CCF-4B92-89C2-69835E5AC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356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85FC9-20B4-4668-949D-C3FB150C8CA9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8D42-0CCF-4B92-89C2-69835E5AC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53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85FC9-20B4-4668-949D-C3FB150C8CA9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8D42-0CCF-4B92-89C2-69835E5AC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176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85FC9-20B4-4668-949D-C3FB150C8CA9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8D42-0CCF-4B92-89C2-69835E5AC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08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85FC9-20B4-4668-949D-C3FB150C8CA9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8D42-0CCF-4B92-89C2-69835E5AC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409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85FC9-20B4-4668-949D-C3FB150C8CA9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98D42-0CCF-4B92-89C2-69835E5AC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157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MySQL </a:t>
            </a:r>
            <a:r>
              <a:rPr lang="zh-CN" altLang="en-US" smtClean="0"/>
              <a:t>用户及权限管理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64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内容大纲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用户创建</a:t>
            </a:r>
            <a:endParaRPr lang="en-US" altLang="zh-CN" dirty="0" smtClean="0"/>
          </a:p>
          <a:p>
            <a:r>
              <a:rPr lang="zh-CN" altLang="en-US" dirty="0" smtClean="0"/>
              <a:t>用户密码</a:t>
            </a:r>
            <a:endParaRPr lang="en-US" altLang="zh-CN" dirty="0" smtClean="0"/>
          </a:p>
          <a:p>
            <a:r>
              <a:rPr lang="zh-CN" altLang="en-US" dirty="0" smtClean="0"/>
              <a:t>权限授予</a:t>
            </a:r>
            <a:endParaRPr lang="en-US" altLang="zh-CN" dirty="0" smtClean="0"/>
          </a:p>
          <a:p>
            <a:r>
              <a:rPr lang="zh-CN" altLang="en-US" dirty="0" smtClean="0"/>
              <a:t>权限撤销</a:t>
            </a:r>
            <a:endParaRPr lang="en-US" altLang="zh-CN" dirty="0" smtClean="0"/>
          </a:p>
          <a:p>
            <a:r>
              <a:rPr lang="zh-CN" altLang="en-US" dirty="0" smtClean="0"/>
              <a:t>角色</a:t>
            </a:r>
            <a:endParaRPr lang="en-US" altLang="zh-CN" dirty="0" smtClean="0"/>
          </a:p>
          <a:p>
            <a:r>
              <a:rPr lang="zh-CN" altLang="en-US" dirty="0" smtClean="0"/>
              <a:t>删除用户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425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访问控制实现原理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979460" cy="4351338"/>
          </a:xfrm>
        </p:spPr>
        <p:txBody>
          <a:bodyPr/>
          <a:lstStyle/>
          <a:p>
            <a:r>
              <a:rPr lang="zh-CN" altLang="en-US" b="1" dirty="0" smtClean="0"/>
              <a:t>用户管理模块</a:t>
            </a:r>
            <a:endParaRPr lang="en-US" altLang="zh-CN" b="1" dirty="0" smtClean="0"/>
          </a:p>
          <a:p>
            <a:pPr lvl="1"/>
            <a:r>
              <a:rPr lang="zh-CN" altLang="en-US" dirty="0" smtClean="0"/>
              <a:t>负责“看守</a:t>
            </a:r>
            <a:r>
              <a:rPr lang="en-US" altLang="zh-CN" dirty="0" smtClean="0"/>
              <a:t>MySQL</a:t>
            </a:r>
            <a:r>
              <a:rPr lang="zh-CN" altLang="en-US" dirty="0" smtClean="0"/>
              <a:t>大门”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用户名</a:t>
            </a:r>
            <a:r>
              <a:rPr lang="en-US" altLang="zh-CN" dirty="0" smtClean="0"/>
              <a:t>+</a:t>
            </a:r>
            <a:r>
              <a:rPr lang="zh-CN" altLang="en-US" dirty="0" smtClean="0"/>
              <a:t>密码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CREATE/DROP user</a:t>
            </a:r>
            <a:endParaRPr lang="en-US" altLang="zh-CN" dirty="0"/>
          </a:p>
          <a:p>
            <a:r>
              <a:rPr lang="zh-CN" altLang="en-US" b="1" dirty="0">
                <a:solidFill>
                  <a:schemeClr val="accent4">
                    <a:lumMod val="50000"/>
                  </a:schemeClr>
                </a:solidFill>
              </a:rPr>
              <a:t>访问控制</a:t>
            </a:r>
            <a:r>
              <a:rPr lang="zh-CN" altLang="en-US" b="1" dirty="0" smtClean="0">
                <a:solidFill>
                  <a:schemeClr val="accent4">
                    <a:lumMod val="50000"/>
                  </a:schemeClr>
                </a:solidFill>
              </a:rPr>
              <a:t>模块</a:t>
            </a:r>
            <a:endParaRPr lang="en-US" altLang="zh-CN" b="1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accent4">
                    <a:lumMod val="50000"/>
                  </a:schemeClr>
                </a:solidFill>
              </a:rPr>
              <a:t>负责监控合法用户的每一个动作</a:t>
            </a:r>
            <a:endParaRPr lang="en-US" altLang="zh-CN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accent4">
                    <a:lumMod val="50000"/>
                  </a:schemeClr>
                </a:solidFill>
              </a:rPr>
              <a:t>权限机制</a:t>
            </a:r>
            <a:endParaRPr lang="en-US" altLang="zh-CN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altLang="zh-CN" dirty="0" smtClean="0">
                <a:solidFill>
                  <a:schemeClr val="accent4">
                    <a:lumMod val="50000"/>
                  </a:schemeClr>
                </a:solidFill>
              </a:rPr>
              <a:t>GRANT/REVOK</a:t>
            </a:r>
            <a:endParaRPr lang="zh-CN" alt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656" y="1690688"/>
            <a:ext cx="6707070" cy="448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04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权限机制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4266241"/>
              </p:ext>
            </p:extLst>
          </p:nvPr>
        </p:nvGraphicFramePr>
        <p:xfrm>
          <a:off x="169454" y="1470780"/>
          <a:ext cx="5603543" cy="413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573"/>
                <a:gridCol w="410797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表名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user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用户帐户和全局权限列。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MySQL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使用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表来接受或拒绝来自主机的连接。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表中授予的权限对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MySQL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服务器上的所有数据库都有效。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db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数据库级别权限。确定用户可以访问哪个数据库以及从哪个主机访问。在</a:t>
                      </a:r>
                      <a:r>
                        <a:rPr lang="en-US" altLang="zh-CN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表中的数据库级别授予的权限适用于数据库，并且所有对象都属于数据库，例如表，触发器，视图，存储过程等。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table_priv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表级权限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columns_priv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列级权限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procs_priv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存储过程和存储的函数权限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883" y="2715670"/>
            <a:ext cx="3536615" cy="17473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0602" y="166545"/>
            <a:ext cx="2679510" cy="665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92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用户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4517409"/>
            <a:ext cx="10515600" cy="1659554"/>
          </a:xfrm>
        </p:spPr>
        <p:txBody>
          <a:bodyPr/>
          <a:lstStyle/>
          <a:p>
            <a:r>
              <a:rPr lang="zh-CN" altLang="en-US" dirty="0" smtClean="0"/>
              <a:t>指定用户</a:t>
            </a:r>
            <a:r>
              <a:rPr lang="en-US" altLang="zh-CN" dirty="0" smtClean="0"/>
              <a:t>: </a:t>
            </a:r>
            <a:r>
              <a:rPr lang="en-US" altLang="zh-CN" dirty="0" smtClean="0">
                <a:solidFill>
                  <a:srgbClr val="FF0000"/>
                </a:solidFill>
              </a:rPr>
              <a:t>‘username‘</a:t>
            </a:r>
            <a:r>
              <a:rPr lang="zh-CN" altLang="en-US" dirty="0" smtClean="0"/>
              <a:t>从主机</a:t>
            </a:r>
            <a:r>
              <a:rPr lang="en-US" altLang="zh-CN" dirty="0" smtClean="0"/>
              <a:t>: </a:t>
            </a:r>
            <a:r>
              <a:rPr lang="en-US" altLang="zh-CN" dirty="0" smtClean="0">
                <a:solidFill>
                  <a:srgbClr val="FF0000"/>
                </a:solidFill>
              </a:rPr>
              <a:t>'hostname'</a:t>
            </a:r>
            <a:r>
              <a:rPr lang="zh-CN" altLang="en-US" dirty="0" smtClean="0"/>
              <a:t>连接到数据库服务器</a:t>
            </a:r>
            <a:endParaRPr lang="en-US" altLang="zh-CN" dirty="0" smtClean="0"/>
          </a:p>
          <a:p>
            <a:r>
              <a:rPr lang="zh-CN" altLang="en-US" dirty="0" smtClean="0"/>
              <a:t>例如：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292024" y="1690688"/>
            <a:ext cx="96079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/>
              <a:t>CREATE USER </a:t>
            </a:r>
            <a:r>
              <a:rPr lang="en-US" altLang="zh-CN" sz="3200" dirty="0" smtClean="0">
                <a:solidFill>
                  <a:srgbClr val="00B050"/>
                </a:solidFill>
              </a:rPr>
              <a:t>[</a:t>
            </a:r>
            <a:r>
              <a:rPr lang="en-US" altLang="zh-CN" sz="3200" dirty="0" err="1" smtClean="0">
                <a:solidFill>
                  <a:srgbClr val="00B050"/>
                </a:solidFill>
              </a:rPr>
              <a:t>user_account</a:t>
            </a:r>
            <a:r>
              <a:rPr lang="en-US" altLang="zh-CN" sz="3200" dirty="0" smtClean="0">
                <a:solidFill>
                  <a:srgbClr val="00B050"/>
                </a:solidFill>
              </a:rPr>
              <a:t>] </a:t>
            </a:r>
            <a:r>
              <a:rPr lang="en-US" altLang="zh-CN" sz="3200" dirty="0" smtClean="0"/>
              <a:t>IDENTIFIED BY </a:t>
            </a:r>
            <a:r>
              <a:rPr lang="en-US" altLang="zh-CN" sz="3200" dirty="0" smtClean="0">
                <a:solidFill>
                  <a:srgbClr val="00B050"/>
                </a:solidFill>
              </a:rPr>
              <a:t>[password]</a:t>
            </a:r>
            <a:r>
              <a:rPr lang="en-US" altLang="zh-CN" sz="3200" dirty="0" smtClean="0"/>
              <a:t>; </a:t>
            </a:r>
            <a:endParaRPr lang="zh-CN" altLang="en-US" sz="3200" dirty="0"/>
          </a:p>
        </p:txBody>
      </p:sp>
      <p:sp>
        <p:nvSpPr>
          <p:cNvPr id="5" name="线形标注 1 4"/>
          <p:cNvSpPr/>
          <p:nvPr/>
        </p:nvSpPr>
        <p:spPr>
          <a:xfrm>
            <a:off x="1501254" y="2606723"/>
            <a:ext cx="4039737" cy="752705"/>
          </a:xfrm>
          <a:prstGeom prst="borderCallout1">
            <a:avLst>
              <a:gd name="adj1" fmla="val -4705"/>
              <a:gd name="adj2" fmla="val 56310"/>
              <a:gd name="adj3" fmla="val -39557"/>
              <a:gd name="adj4" fmla="val 69500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rgbClr val="FF0000"/>
                </a:solidFill>
              </a:rPr>
              <a:t>'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username'@'hostname</a:t>
            </a:r>
            <a:r>
              <a:rPr lang="en-US" altLang="zh-CN" sz="2800" dirty="0" smtClean="0">
                <a:solidFill>
                  <a:srgbClr val="FF0000"/>
                </a:solidFill>
              </a:rPr>
              <a:t>'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6" name="线形标注 1 5"/>
          <p:cNvSpPr/>
          <p:nvPr/>
        </p:nvSpPr>
        <p:spPr>
          <a:xfrm>
            <a:off x="1665028" y="3684892"/>
            <a:ext cx="1296538" cy="450376"/>
          </a:xfrm>
          <a:prstGeom prst="borderCallout1">
            <a:avLst>
              <a:gd name="adj1" fmla="val -5492"/>
              <a:gd name="adj2" fmla="val 50417"/>
              <a:gd name="adj3" fmla="val -120834"/>
              <a:gd name="adj4" fmla="val 50812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</a:rPr>
              <a:t>用户名</a:t>
            </a:r>
          </a:p>
        </p:txBody>
      </p:sp>
      <p:sp>
        <p:nvSpPr>
          <p:cNvPr id="7" name="线形标注 1 6"/>
          <p:cNvSpPr/>
          <p:nvPr/>
        </p:nvSpPr>
        <p:spPr>
          <a:xfrm>
            <a:off x="3850943" y="3684892"/>
            <a:ext cx="1348854" cy="450376"/>
          </a:xfrm>
          <a:prstGeom prst="borderCallout1">
            <a:avLst>
              <a:gd name="adj1" fmla="val -5492"/>
              <a:gd name="adj2" fmla="val 50417"/>
              <a:gd name="adj3" fmla="val -111743"/>
              <a:gd name="adj4" fmla="val 51191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</a:rPr>
              <a:t>主机名</a:t>
            </a:r>
          </a:p>
        </p:txBody>
      </p:sp>
      <p:sp>
        <p:nvSpPr>
          <p:cNvPr id="9" name="线形标注 1 8"/>
          <p:cNvSpPr/>
          <p:nvPr/>
        </p:nvSpPr>
        <p:spPr>
          <a:xfrm>
            <a:off x="8889242" y="2677041"/>
            <a:ext cx="1348854" cy="450376"/>
          </a:xfrm>
          <a:prstGeom prst="borderCallout1">
            <a:avLst>
              <a:gd name="adj1" fmla="val -5492"/>
              <a:gd name="adj2" fmla="val 50417"/>
              <a:gd name="adj3" fmla="val -111743"/>
              <a:gd name="adj4" fmla="val 51191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rgbClr val="FF0000"/>
                </a:solidFill>
              </a:rPr>
              <a:t>密码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02" y="5540616"/>
            <a:ext cx="9378122" cy="43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61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修改</a:t>
            </a:r>
            <a:r>
              <a:rPr lang="en-US" altLang="zh-CN" dirty="0" smtClean="0"/>
              <a:t>MySQL</a:t>
            </a:r>
            <a:r>
              <a:rPr lang="zh-CN" altLang="en-US" dirty="0" smtClean="0"/>
              <a:t>用户密码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b="1" dirty="0">
                <a:solidFill>
                  <a:srgbClr val="FF0000"/>
                </a:solidFill>
              </a:rPr>
              <a:t>ALTER USER</a:t>
            </a:r>
            <a:r>
              <a:rPr lang="zh-CN" altLang="en-US" dirty="0" smtClean="0"/>
              <a:t>语句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使用</a:t>
            </a:r>
            <a:r>
              <a:rPr lang="en-US" altLang="zh-CN" b="1" dirty="0" smtClean="0">
                <a:solidFill>
                  <a:srgbClr val="FF0000"/>
                </a:solidFill>
              </a:rPr>
              <a:t>SET PASSWORD For</a:t>
            </a:r>
            <a:r>
              <a:rPr lang="zh-CN" altLang="en-US" dirty="0" smtClean="0"/>
              <a:t>语句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使用 </a:t>
            </a:r>
            <a:r>
              <a:rPr lang="en-US" altLang="zh-CN" b="1" dirty="0" smtClean="0">
                <a:solidFill>
                  <a:srgbClr val="FF0000"/>
                </a:solidFill>
              </a:rPr>
              <a:t>UPDATE </a:t>
            </a:r>
            <a:r>
              <a:rPr lang="zh-CN" altLang="en-US" dirty="0" smtClean="0"/>
              <a:t>语句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69" y="2496473"/>
            <a:ext cx="9568969" cy="4377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69" y="4001294"/>
            <a:ext cx="9492295" cy="42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50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查看用户权限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show grants for  </a:t>
            </a:r>
            <a:r>
              <a:rPr lang="zh-CN" altLang="en-US" dirty="0" smtClean="0"/>
              <a:t>用户名</a:t>
            </a:r>
            <a:r>
              <a:rPr lang="en-US" altLang="zh-CN" dirty="0" smtClean="0"/>
              <a:t>;</a:t>
            </a:r>
          </a:p>
          <a:p>
            <a:r>
              <a:rPr lang="zh-CN" altLang="en-US" dirty="0" smtClean="0"/>
              <a:t>例如：</a:t>
            </a:r>
            <a:r>
              <a:rPr lang="en-US" altLang="zh-CN" dirty="0" smtClean="0"/>
              <a:t>show grants for u1;  </a:t>
            </a:r>
          </a:p>
          <a:p>
            <a:pPr lvl="1"/>
            <a:r>
              <a:rPr lang="zh-CN" altLang="en-US" dirty="0" smtClean="0"/>
              <a:t>查看用户 </a:t>
            </a:r>
            <a:r>
              <a:rPr lang="en-US" altLang="zh-CN" dirty="0" smtClean="0"/>
              <a:t>u1 </a:t>
            </a:r>
            <a:r>
              <a:rPr lang="zh-CN" altLang="en-US" dirty="0" smtClean="0"/>
              <a:t>的权限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3552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权限授予</a:t>
            </a:r>
            <a:r>
              <a:rPr lang="en-US" altLang="zh-CN" dirty="0" smtClean="0"/>
              <a:t>GRANT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63" y="1797737"/>
            <a:ext cx="5233447" cy="440711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608" y="1825625"/>
            <a:ext cx="2667572" cy="141395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608" y="3374521"/>
            <a:ext cx="3710653" cy="219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49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权限授予</a:t>
            </a:r>
            <a:r>
              <a:rPr lang="en-US" altLang="zh-CN" dirty="0" smtClean="0"/>
              <a:t>GRANT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44959" y="1690688"/>
            <a:ext cx="3531736" cy="353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/>
              <a:t>grant  </a:t>
            </a:r>
            <a:r>
              <a:rPr lang="zh-CN" altLang="en-US" sz="3200" b="1" dirty="0">
                <a:solidFill>
                  <a:schemeClr val="accent6">
                    <a:lumMod val="75000"/>
                  </a:schemeClr>
                </a:solidFill>
              </a:rPr>
              <a:t>权限</a:t>
            </a:r>
            <a:r>
              <a:rPr lang="en-US" altLang="zh-CN" sz="3200" dirty="0" smtClean="0"/>
              <a:t>  </a:t>
            </a:r>
          </a:p>
          <a:p>
            <a:endParaRPr lang="en-US" altLang="zh-CN" sz="3200" dirty="0" smtClean="0"/>
          </a:p>
          <a:p>
            <a:r>
              <a:rPr lang="en-US" altLang="zh-CN" sz="3200" dirty="0" smtClean="0"/>
              <a:t>on 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对象</a:t>
            </a:r>
            <a:r>
              <a:rPr lang="en-US" altLang="zh-CN" sz="3200" dirty="0" smtClean="0"/>
              <a:t>  </a:t>
            </a:r>
          </a:p>
          <a:p>
            <a:endParaRPr lang="en-US" altLang="zh-CN" sz="3200" dirty="0" smtClean="0"/>
          </a:p>
          <a:p>
            <a:r>
              <a:rPr lang="en-US" altLang="zh-CN" sz="3200" dirty="0" smtClean="0"/>
              <a:t>To </a:t>
            </a:r>
            <a:r>
              <a:rPr lang="zh-CN" altLang="en-US" sz="3200" b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用户</a:t>
            </a:r>
            <a:endParaRPr lang="en-US" altLang="zh-CN" sz="3200" b="1" dirty="0" smtClean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3200" dirty="0" smtClean="0"/>
          </a:p>
          <a:p>
            <a:r>
              <a:rPr lang="en-US" altLang="zh-CN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[with grant option]</a:t>
            </a:r>
            <a:r>
              <a:rPr lang="en-US" altLang="zh-CN" sz="3200" dirty="0" smtClean="0"/>
              <a:t>;</a:t>
            </a:r>
            <a:endParaRPr lang="zh-CN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5671380" y="4741157"/>
            <a:ext cx="43536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允许 用户 给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其他用户授予权限</a:t>
            </a:r>
          </a:p>
        </p:txBody>
      </p:sp>
      <p:sp>
        <p:nvSpPr>
          <p:cNvPr id="11" name="矩形 10"/>
          <p:cNvSpPr/>
          <p:nvPr/>
        </p:nvSpPr>
        <p:spPr>
          <a:xfrm>
            <a:off x="4250057" y="2767905"/>
            <a:ext cx="51532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*.* / database.* / </a:t>
            </a:r>
            <a:r>
              <a:rPr lang="en-US" altLang="zh-CN" sz="28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database.table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26666" y="1723589"/>
            <a:ext cx="53435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/ alter / create / drop / select …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326666" y="3627808"/>
            <a:ext cx="30575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super@localhost</a:t>
            </a:r>
            <a:r>
              <a:rPr lang="en-US" altLang="zh-CN" sz="2800" b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</a:t>
            </a:r>
            <a:endParaRPr lang="en-US" altLang="zh-CN" sz="2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右箭头 14"/>
          <p:cNvSpPr/>
          <p:nvPr/>
        </p:nvSpPr>
        <p:spPr>
          <a:xfrm rot="10800000">
            <a:off x="3210827" y="2804800"/>
            <a:ext cx="569603" cy="2866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6" name="右箭头 15"/>
          <p:cNvSpPr/>
          <p:nvPr/>
        </p:nvSpPr>
        <p:spPr>
          <a:xfrm rot="10800000">
            <a:off x="3567666" y="1874291"/>
            <a:ext cx="553958" cy="275936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 rot="10800000">
            <a:off x="3210827" y="3789558"/>
            <a:ext cx="633818" cy="272594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F0"/>
              </a:solidFill>
            </a:endParaRPr>
          </a:p>
        </p:txBody>
      </p:sp>
      <p:sp>
        <p:nvSpPr>
          <p:cNvPr id="18" name="右箭头 17"/>
          <p:cNvSpPr/>
          <p:nvPr/>
        </p:nvSpPr>
        <p:spPr>
          <a:xfrm rot="10800000">
            <a:off x="5049673" y="4849157"/>
            <a:ext cx="559559" cy="230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标注 2"/>
          <p:cNvSpPr/>
          <p:nvPr/>
        </p:nvSpPr>
        <p:spPr>
          <a:xfrm>
            <a:off x="3976582" y="5820247"/>
            <a:ext cx="4951757" cy="735434"/>
          </a:xfrm>
          <a:prstGeom prst="wedgeRectCallout">
            <a:avLst>
              <a:gd name="adj1" fmla="val -66288"/>
              <a:gd name="adj2" fmla="val -148296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可</a:t>
            </a:r>
            <a:r>
              <a:rPr lang="zh-CN" altLang="en-US" dirty="0" smtClean="0">
                <a:solidFill>
                  <a:srgbClr val="FF0000"/>
                </a:solidFill>
              </a:rPr>
              <a:t>选项，添加之后允许该用户将对应的权限授予给其他用户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矩形标注 18"/>
          <p:cNvSpPr/>
          <p:nvPr/>
        </p:nvSpPr>
        <p:spPr>
          <a:xfrm>
            <a:off x="6665148" y="0"/>
            <a:ext cx="4951757" cy="1723589"/>
          </a:xfrm>
          <a:prstGeom prst="wedgeRectCallout">
            <a:avLst>
              <a:gd name="adj1" fmla="val -68030"/>
              <a:gd name="adj2" fmla="val 52406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表级权限：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 smtClean="0">
                <a:solidFill>
                  <a:srgbClr val="FF0000"/>
                </a:solidFill>
              </a:rPr>
              <a:t>	all [privileges]: </a:t>
            </a:r>
            <a:r>
              <a:rPr lang="zh-CN" altLang="en-US" dirty="0" smtClean="0">
                <a:solidFill>
                  <a:srgbClr val="FF0000"/>
                </a:solidFill>
              </a:rPr>
              <a:t>所有权限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 smtClean="0">
                <a:solidFill>
                  <a:srgbClr val="FF0000"/>
                </a:solidFill>
              </a:rPr>
              <a:t>	select, create, alter, update…</a:t>
            </a:r>
            <a:r>
              <a:rPr lang="zh-CN" altLang="en-US" dirty="0" smtClean="0">
                <a:solidFill>
                  <a:srgbClr val="FF0000"/>
                </a:solidFill>
              </a:rPr>
              <a:t>；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列级权限：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 smtClean="0">
                <a:solidFill>
                  <a:srgbClr val="FF0000"/>
                </a:solidFill>
              </a:rPr>
              <a:t>	</a:t>
            </a:r>
            <a:r>
              <a:rPr lang="zh-CN" altLang="en-US" dirty="0" smtClean="0">
                <a:solidFill>
                  <a:srgbClr val="FF0000"/>
                </a:solidFill>
              </a:rPr>
              <a:t>例如：</a:t>
            </a:r>
            <a:r>
              <a:rPr lang="en-US" altLang="zh-CN" dirty="0" smtClean="0">
                <a:solidFill>
                  <a:srgbClr val="FF0000"/>
                </a:solidFill>
              </a:rPr>
              <a:t>select(</a:t>
            </a:r>
            <a:r>
              <a:rPr lang="zh-CN" altLang="en-US" dirty="0" smtClean="0">
                <a:solidFill>
                  <a:srgbClr val="FF0000"/>
                </a:solidFill>
              </a:rPr>
              <a:t>列名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r>
              <a:rPr lang="zh-CN" altLang="en-US" dirty="0" smtClean="0">
                <a:solidFill>
                  <a:srgbClr val="FF0000"/>
                </a:solidFill>
              </a:rPr>
              <a:t>，</a:t>
            </a:r>
            <a:r>
              <a:rPr lang="en-US" altLang="zh-CN" dirty="0" smtClean="0">
                <a:solidFill>
                  <a:srgbClr val="FF0000"/>
                </a:solidFill>
              </a:rPr>
              <a:t>update(</a:t>
            </a:r>
            <a:r>
              <a:rPr lang="zh-CN" altLang="en-US" dirty="0" smtClean="0">
                <a:solidFill>
                  <a:srgbClr val="FF0000"/>
                </a:solidFill>
              </a:rPr>
              <a:t>列名</a:t>
            </a:r>
            <a:r>
              <a:rPr lang="en-US" altLang="zh-CN" dirty="0" smtClean="0">
                <a:solidFill>
                  <a:srgbClr val="FF0000"/>
                </a:solidFill>
              </a:rPr>
              <a:t>) …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97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权限授予</a:t>
            </a:r>
            <a:r>
              <a:rPr lang="en-US" altLang="zh-CN" dirty="0" smtClean="0"/>
              <a:t>GRANT(</a:t>
            </a:r>
            <a:r>
              <a:rPr lang="zh-CN" altLang="en-US" dirty="0" smtClean="0"/>
              <a:t>实例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创建新用户</a:t>
            </a:r>
            <a:r>
              <a:rPr lang="en-US" altLang="zh-CN" dirty="0" err="1" smtClean="0"/>
              <a:t>super@localhost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查看用户</a:t>
            </a:r>
            <a:r>
              <a:rPr lang="en-US" altLang="zh-CN" dirty="0" err="1" smtClean="0"/>
              <a:t>super@localhost</a:t>
            </a:r>
            <a:r>
              <a:rPr lang="zh-CN" altLang="en-US" dirty="0" smtClean="0"/>
              <a:t>权限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授予用户</a:t>
            </a:r>
            <a:r>
              <a:rPr lang="en-US" altLang="zh-CN" dirty="0" err="1" smtClean="0"/>
              <a:t>super@localhost</a:t>
            </a:r>
            <a:r>
              <a:rPr lang="zh-CN" altLang="en-US" dirty="0" smtClean="0"/>
              <a:t>所有权限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768" y="2368866"/>
            <a:ext cx="8909589" cy="41527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768" y="3327383"/>
            <a:ext cx="6318144" cy="19679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768" y="5986436"/>
            <a:ext cx="10571874" cy="42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66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权限授予</a:t>
            </a:r>
            <a:r>
              <a:rPr lang="en-US" altLang="zh-CN" dirty="0" smtClean="0"/>
              <a:t>GRANT(</a:t>
            </a:r>
            <a:r>
              <a:rPr lang="zh-CN" altLang="en-US" dirty="0" smtClean="0"/>
              <a:t>实例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83" y="1690688"/>
            <a:ext cx="9911720" cy="5051306"/>
          </a:xfrm>
        </p:spPr>
      </p:pic>
    </p:spTree>
    <p:extLst>
      <p:ext uri="{BB962C8B-B14F-4D97-AF65-F5344CB8AC3E}">
        <p14:creationId xmlns:p14="http://schemas.microsoft.com/office/powerpoint/2010/main" val="113666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权限授予</a:t>
            </a:r>
            <a:r>
              <a:rPr lang="en-US" altLang="zh-CN" dirty="0" smtClean="0"/>
              <a:t>GRANT(</a:t>
            </a:r>
            <a:r>
              <a:rPr lang="zh-CN" altLang="en-US" dirty="0" smtClean="0"/>
              <a:t>实例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84431"/>
            <a:ext cx="10515600" cy="4351338"/>
          </a:xfrm>
        </p:spPr>
        <p:txBody>
          <a:bodyPr/>
          <a:lstStyle/>
          <a:p>
            <a:r>
              <a:rPr lang="zh-CN" altLang="en-US" dirty="0" smtClean="0"/>
              <a:t>创建一个新用户</a:t>
            </a:r>
            <a:r>
              <a:rPr lang="en-US" altLang="zh-CN" dirty="0" err="1" smtClean="0"/>
              <a:t>rfc@localhost</a:t>
            </a:r>
            <a:endParaRPr lang="en-US" altLang="zh-CN" dirty="0" smtClean="0"/>
          </a:p>
          <a:p>
            <a:r>
              <a:rPr lang="zh-CN" altLang="en-US" dirty="0" smtClean="0"/>
              <a:t>授予用户</a:t>
            </a:r>
            <a:r>
              <a:rPr lang="en-US" altLang="zh-CN" dirty="0" err="1" smtClean="0"/>
              <a:t>rfc@localhost</a:t>
            </a:r>
            <a:r>
              <a:rPr lang="zh-CN" altLang="en-US" dirty="0" smtClean="0"/>
              <a:t>对</a:t>
            </a:r>
            <a:r>
              <a:rPr lang="en-US" altLang="zh-CN" dirty="0" err="1" smtClean="0"/>
              <a:t>mysqldemo</a:t>
            </a:r>
            <a:r>
              <a:rPr lang="zh-CN" altLang="en-US" dirty="0" smtClean="0"/>
              <a:t>数据库的</a:t>
            </a:r>
            <a:r>
              <a:rPr lang="en-US" altLang="zh-CN" dirty="0" smtClean="0"/>
              <a:t>SELECT</a:t>
            </a:r>
            <a:r>
              <a:rPr lang="zh-CN" altLang="en-US" dirty="0" smtClean="0"/>
              <a:t>，</a:t>
            </a:r>
            <a:r>
              <a:rPr lang="en-US" altLang="zh-CN" dirty="0" smtClean="0"/>
              <a:t>UPDATE</a:t>
            </a:r>
            <a:r>
              <a:rPr lang="zh-CN" altLang="en-US" dirty="0" smtClean="0"/>
              <a:t>和</a:t>
            </a:r>
            <a:r>
              <a:rPr lang="en-US" altLang="zh-CN" dirty="0" smtClean="0"/>
              <a:t>DELETE</a:t>
            </a:r>
            <a:r>
              <a:rPr lang="zh-CN" altLang="en-US" dirty="0" smtClean="0"/>
              <a:t>权限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73" y="2848194"/>
            <a:ext cx="8802806" cy="144987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73" y="4353503"/>
            <a:ext cx="9968800" cy="250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8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撤销权限</a:t>
            </a:r>
            <a:r>
              <a:rPr lang="en-US" altLang="zh-CN" dirty="0"/>
              <a:t>Revoke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44959" y="1690688"/>
            <a:ext cx="2494273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prstClr val="black"/>
                </a:solidFill>
              </a:rPr>
              <a:t>revoke  </a:t>
            </a:r>
            <a:r>
              <a:rPr lang="zh-CN" altLang="en-US" sz="3200" b="1" dirty="0">
                <a:solidFill>
                  <a:srgbClr val="70AD47">
                    <a:lumMod val="75000"/>
                  </a:srgbClr>
                </a:solidFill>
              </a:rPr>
              <a:t>权限</a:t>
            </a:r>
            <a:r>
              <a:rPr lang="en-US" altLang="zh-CN" sz="3200" dirty="0" smtClean="0">
                <a:solidFill>
                  <a:prstClr val="black"/>
                </a:solidFill>
              </a:rPr>
              <a:t>  </a:t>
            </a:r>
          </a:p>
          <a:p>
            <a:endParaRPr lang="en-US" altLang="zh-CN" sz="3200" dirty="0" smtClean="0">
              <a:solidFill>
                <a:prstClr val="black"/>
              </a:solidFill>
            </a:endParaRPr>
          </a:p>
          <a:p>
            <a:r>
              <a:rPr lang="en-US" altLang="zh-CN" sz="3200" dirty="0" smtClean="0">
                <a:solidFill>
                  <a:prstClr val="black"/>
                </a:solidFill>
              </a:rPr>
              <a:t>on 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对象</a:t>
            </a:r>
            <a:r>
              <a:rPr lang="en-US" altLang="zh-CN" sz="3200" dirty="0" smtClean="0">
                <a:solidFill>
                  <a:prstClr val="black"/>
                </a:solidFill>
              </a:rPr>
              <a:t>  </a:t>
            </a:r>
          </a:p>
          <a:p>
            <a:endParaRPr lang="en-US" altLang="zh-CN" sz="3200" dirty="0" smtClean="0">
              <a:solidFill>
                <a:prstClr val="black"/>
              </a:solidFill>
            </a:endParaRPr>
          </a:p>
          <a:p>
            <a:r>
              <a:rPr lang="en-US" altLang="zh-CN" sz="3200" dirty="0" smtClean="0">
                <a:solidFill>
                  <a:prstClr val="black"/>
                </a:solidFill>
              </a:rPr>
              <a:t>from </a:t>
            </a:r>
            <a:r>
              <a:rPr lang="zh-CN" altLang="en-US" sz="3200" b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用户</a:t>
            </a:r>
            <a:endParaRPr lang="en-US" altLang="zh-CN" sz="3200" b="1" dirty="0" smtClean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3200" dirty="0" smtClean="0">
              <a:solidFill>
                <a:prstClr val="black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250057" y="2767905"/>
            <a:ext cx="51532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*.* / database.* / </a:t>
            </a:r>
            <a:r>
              <a:rPr lang="en-US" altLang="zh-CN" sz="28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database.table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26666" y="1723589"/>
            <a:ext cx="53435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70AD47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/ alter / create / drop / select …</a:t>
            </a:r>
            <a:endParaRPr lang="zh-CN" altLang="en-US" sz="2800" b="1" dirty="0">
              <a:solidFill>
                <a:srgbClr val="70AD47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326666" y="3627808"/>
            <a:ext cx="30575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super@localhost</a:t>
            </a:r>
            <a:r>
              <a:rPr lang="en-US" altLang="zh-CN" sz="2800" b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</a:t>
            </a:r>
            <a:endParaRPr lang="en-US" altLang="zh-CN" sz="2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右箭头 14"/>
          <p:cNvSpPr/>
          <p:nvPr/>
        </p:nvSpPr>
        <p:spPr>
          <a:xfrm rot="10800000">
            <a:off x="3210827" y="2804800"/>
            <a:ext cx="569603" cy="2866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6" name="右箭头 15"/>
          <p:cNvSpPr/>
          <p:nvPr/>
        </p:nvSpPr>
        <p:spPr>
          <a:xfrm rot="10800000">
            <a:off x="3567666" y="1874291"/>
            <a:ext cx="553958" cy="275936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7" name="右箭头 16"/>
          <p:cNvSpPr/>
          <p:nvPr/>
        </p:nvSpPr>
        <p:spPr>
          <a:xfrm rot="10800000">
            <a:off x="3210827" y="3789558"/>
            <a:ext cx="633818" cy="272594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31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撤销权限</a:t>
            </a:r>
            <a:r>
              <a:rPr lang="en-US" altLang="zh-CN" dirty="0" smtClean="0"/>
              <a:t>Revoke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8079"/>
            <a:ext cx="10515600" cy="4351338"/>
          </a:xfrm>
        </p:spPr>
        <p:txBody>
          <a:bodyPr/>
          <a:lstStyle/>
          <a:p>
            <a:r>
              <a:rPr lang="zh-CN" altLang="en-US" dirty="0" smtClean="0"/>
              <a:t>撤销用户</a:t>
            </a:r>
            <a:r>
              <a:rPr lang="en-US" altLang="zh-CN" dirty="0" err="1" smtClean="0"/>
              <a:t>rfc@localhost</a:t>
            </a:r>
            <a:r>
              <a:rPr lang="zh-CN" altLang="en-US" dirty="0" smtClean="0"/>
              <a:t>对</a:t>
            </a:r>
            <a:r>
              <a:rPr lang="en-US" altLang="zh-CN" dirty="0" err="1" smtClean="0"/>
              <a:t>mysqldemo</a:t>
            </a:r>
            <a:r>
              <a:rPr lang="zh-CN" altLang="en-US" dirty="0" smtClean="0"/>
              <a:t>数据库的</a:t>
            </a:r>
            <a:r>
              <a:rPr lang="en-US" altLang="zh-CN" dirty="0" smtClean="0"/>
              <a:t>UPDATE</a:t>
            </a:r>
            <a:r>
              <a:rPr lang="zh-CN" altLang="en-US" dirty="0" smtClean="0"/>
              <a:t>，</a:t>
            </a:r>
            <a:r>
              <a:rPr lang="en-US" altLang="zh-CN" dirty="0" smtClean="0"/>
              <a:t>DELETE</a:t>
            </a:r>
            <a:r>
              <a:rPr lang="zh-CN" altLang="en-US" dirty="0" smtClean="0"/>
              <a:t>权限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985" y="2423588"/>
            <a:ext cx="6354620" cy="438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2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撤销权限</a:t>
            </a:r>
            <a:r>
              <a:rPr lang="en-US" altLang="zh-CN" dirty="0" smtClean="0"/>
              <a:t>Revoke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118" y="2266241"/>
            <a:ext cx="8060294" cy="3520405"/>
          </a:xfrm>
        </p:spPr>
      </p:pic>
      <p:sp>
        <p:nvSpPr>
          <p:cNvPr id="5" name="内容占位符 2"/>
          <p:cNvSpPr txBox="1">
            <a:spLocks/>
          </p:cNvSpPr>
          <p:nvPr/>
        </p:nvSpPr>
        <p:spPr>
          <a:xfrm>
            <a:off x="838200" y="14980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撤销授予用户</a:t>
            </a:r>
            <a:r>
              <a:rPr lang="en-US" altLang="zh-CN" dirty="0" err="1" smtClean="0"/>
              <a:t>rfc@localhost</a:t>
            </a:r>
            <a:r>
              <a:rPr lang="zh-CN" altLang="en-US" dirty="0" smtClean="0"/>
              <a:t>的所有权限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2534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角色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为多个用户授予相同的权限时，使用角色更方便</a:t>
            </a:r>
            <a:endParaRPr lang="en-US" altLang="zh-CN" dirty="0" smtClean="0"/>
          </a:p>
          <a:p>
            <a:r>
              <a:rPr lang="zh-CN" altLang="en-US" dirty="0" smtClean="0"/>
              <a:t>如果要更改用户的权限，则只需更改其被授予的角色的权限</a:t>
            </a:r>
            <a:endParaRPr lang="en-US" altLang="zh-CN" dirty="0" smtClean="0"/>
          </a:p>
          <a:p>
            <a:r>
              <a:rPr lang="zh-CN" altLang="en-US" dirty="0" smtClean="0"/>
              <a:t>对角色权限的修改对所有被授予该角色的用户都有效</a:t>
            </a:r>
          </a:p>
          <a:p>
            <a:endParaRPr lang="zh-CN" altLang="en-US" dirty="0" smtClean="0"/>
          </a:p>
          <a:p>
            <a:r>
              <a:rPr lang="zh-CN" altLang="en-US" dirty="0" smtClean="0"/>
              <a:t>具体流程：</a:t>
            </a:r>
          </a:p>
          <a:p>
            <a:pPr lvl="1"/>
            <a:r>
              <a:rPr lang="zh-CN" altLang="en-US" dirty="0" smtClean="0"/>
              <a:t>首先，创建一个新角色。</a:t>
            </a:r>
          </a:p>
          <a:p>
            <a:pPr lvl="1"/>
            <a:r>
              <a:rPr lang="zh-CN" altLang="en-US" dirty="0" smtClean="0"/>
              <a:t>其次，授予角色特权。</a:t>
            </a:r>
          </a:p>
          <a:p>
            <a:pPr lvl="1"/>
            <a:r>
              <a:rPr lang="zh-CN" altLang="en-US" dirty="0" smtClean="0"/>
              <a:t>第三，将角色授予用户。</a:t>
            </a:r>
          </a:p>
          <a:p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06080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角色</a:t>
            </a:r>
            <a:r>
              <a:rPr lang="en-US" altLang="zh-CN" dirty="0" smtClean="0"/>
              <a:t>(</a:t>
            </a:r>
            <a:r>
              <a:rPr lang="zh-CN" altLang="en-US" dirty="0" smtClean="0"/>
              <a:t>实例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88895"/>
            <a:ext cx="10515600" cy="4351338"/>
          </a:xfrm>
        </p:spPr>
        <p:txBody>
          <a:bodyPr/>
          <a:lstStyle/>
          <a:p>
            <a:r>
              <a:rPr lang="zh-CN" altLang="en-US" dirty="0" smtClean="0"/>
              <a:t>准备实例数据库</a:t>
            </a:r>
            <a:r>
              <a:rPr lang="en-US" altLang="zh-CN" dirty="0" err="1" smtClean="0"/>
              <a:t>crm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7" y="1936988"/>
            <a:ext cx="5466394" cy="28274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836" y="3725839"/>
            <a:ext cx="6525631" cy="29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87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角色</a:t>
            </a:r>
            <a:r>
              <a:rPr lang="en-US" altLang="zh-CN" dirty="0" smtClean="0"/>
              <a:t>(</a:t>
            </a:r>
            <a:r>
              <a:rPr lang="zh-CN" altLang="en-US" dirty="0" smtClean="0"/>
              <a:t>实例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创建角色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授予角色权限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99" y="2345959"/>
            <a:ext cx="6448708" cy="7111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99" y="4001293"/>
            <a:ext cx="6916032" cy="21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0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角色</a:t>
            </a:r>
            <a:r>
              <a:rPr lang="en-US" altLang="zh-CN" dirty="0" smtClean="0"/>
              <a:t>(</a:t>
            </a:r>
            <a:r>
              <a:rPr lang="zh-CN" altLang="en-US" dirty="0" smtClean="0"/>
              <a:t>实例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07260"/>
            <a:ext cx="10515600" cy="4351338"/>
          </a:xfrm>
        </p:spPr>
        <p:txBody>
          <a:bodyPr/>
          <a:lstStyle/>
          <a:p>
            <a:r>
              <a:rPr lang="zh-CN" altLang="en-US" dirty="0" smtClean="0"/>
              <a:t>创建用户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授予用户权限</a:t>
            </a:r>
            <a:r>
              <a:rPr lang="en-US" altLang="zh-CN" dirty="0" smtClean="0"/>
              <a:t>(</a:t>
            </a:r>
            <a:r>
              <a:rPr lang="zh-CN" altLang="en-US" dirty="0" smtClean="0"/>
              <a:t>用角色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916" y="2070410"/>
            <a:ext cx="5435908" cy="2269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916" y="5132918"/>
            <a:ext cx="7300181" cy="172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68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角色</a:t>
            </a:r>
            <a:r>
              <a:rPr lang="en-US" altLang="zh-CN" dirty="0" smtClean="0"/>
              <a:t>(</a:t>
            </a:r>
            <a:r>
              <a:rPr lang="zh-CN" altLang="en-US" dirty="0" smtClean="0"/>
              <a:t>实例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41" y="1928603"/>
            <a:ext cx="6619201" cy="4403957"/>
          </a:xfrm>
        </p:spPr>
      </p:pic>
      <p:sp>
        <p:nvSpPr>
          <p:cNvPr id="5" name="矩形 4"/>
          <p:cNvSpPr/>
          <p:nvPr/>
        </p:nvSpPr>
        <p:spPr>
          <a:xfrm>
            <a:off x="6942161" y="2422421"/>
            <a:ext cx="524983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注意：</a:t>
            </a:r>
            <a:endParaRPr lang="en-US" altLang="zh-CN" sz="2400" dirty="0" smtClean="0"/>
          </a:p>
          <a:p>
            <a:r>
              <a:rPr lang="en-US" altLang="zh-CN" sz="2400" dirty="0" smtClean="0"/>
              <a:t> </a:t>
            </a:r>
            <a:r>
              <a:rPr lang="en-US" altLang="zh-CN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show grants for crm_dev1@localhost</a:t>
            </a:r>
            <a:r>
              <a:rPr lang="en-US" altLang="zh-CN" sz="2400" dirty="0" smtClean="0"/>
              <a:t>;</a:t>
            </a:r>
            <a:endParaRPr lang="en-US" altLang="zh-CN" sz="2400" dirty="0"/>
          </a:p>
          <a:p>
            <a:r>
              <a:rPr lang="zh-CN" altLang="en-US" sz="2400" dirty="0" smtClean="0"/>
              <a:t>只返回授予的角色。</a:t>
            </a:r>
            <a:endParaRPr lang="en-US" altLang="zh-CN" sz="2400" dirty="0" smtClean="0"/>
          </a:p>
          <a:p>
            <a:endParaRPr lang="en-US" altLang="zh-CN" sz="2400" dirty="0"/>
          </a:p>
          <a:p>
            <a:r>
              <a:rPr lang="zh-CN" altLang="en-US" sz="2400" dirty="0" smtClean="0"/>
              <a:t>要显示角色所代表的权限，</a:t>
            </a:r>
            <a:endParaRPr lang="en-US" altLang="zh-CN" sz="2400" dirty="0" smtClean="0"/>
          </a:p>
          <a:p>
            <a:r>
              <a:rPr lang="zh-CN" altLang="en-US" sz="2400" dirty="0" smtClean="0"/>
              <a:t>需加上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USING</a:t>
            </a:r>
            <a:r>
              <a:rPr lang="zh-CN" altLang="en-US" sz="2400" dirty="0" smtClean="0"/>
              <a:t> 角色名称</a:t>
            </a:r>
            <a:r>
              <a:rPr lang="en-US" altLang="zh-CN" sz="2400" dirty="0"/>
              <a:t>:</a:t>
            </a:r>
            <a:endParaRPr lang="en-US" altLang="zh-CN" sz="2400" dirty="0" smtClean="0"/>
          </a:p>
          <a:p>
            <a:r>
              <a:rPr lang="en-US" altLang="zh-CN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show grants for crm_dev1@localhost </a:t>
            </a:r>
            <a:r>
              <a:rPr lang="en-US" altLang="zh-CN" sz="24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</a:t>
            </a:r>
            <a:r>
              <a:rPr lang="en-US" altLang="zh-CN" sz="2400" b="1" u="sng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crm_dev</a:t>
            </a:r>
            <a:r>
              <a:rPr lang="en-US" altLang="zh-CN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4293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角色激活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508" y="1622448"/>
            <a:ext cx="8237561" cy="5148476"/>
          </a:xfrm>
        </p:spPr>
      </p:pic>
      <p:sp>
        <p:nvSpPr>
          <p:cNvPr id="7" name="矩形 6"/>
          <p:cNvSpPr/>
          <p:nvPr/>
        </p:nvSpPr>
        <p:spPr>
          <a:xfrm>
            <a:off x="9481625" y="2857858"/>
            <a:ext cx="271037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注意：以角色的方式为用户授予权限时，该用户连接到数据库服务器时，不会自动激活角色，需要设置默认角色或手动激活角色。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8457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设置默认角色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322" y="1402544"/>
            <a:ext cx="5369676" cy="5455455"/>
          </a:xfrm>
        </p:spPr>
      </p:pic>
      <p:sp>
        <p:nvSpPr>
          <p:cNvPr id="5" name="矩形 4"/>
          <p:cNvSpPr/>
          <p:nvPr/>
        </p:nvSpPr>
        <p:spPr>
          <a:xfrm>
            <a:off x="8901859" y="2791443"/>
            <a:ext cx="304161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注意：</a:t>
            </a:r>
            <a:endParaRPr lang="en-US" altLang="zh-CN" sz="2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设置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默认</a:t>
            </a:r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角色后，</a:t>
            </a:r>
            <a:endParaRPr lang="en-US" altLang="zh-CN" sz="2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(1) </a:t>
            </a:r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需重新登陆才生效；</a:t>
            </a:r>
            <a:endParaRPr lang="en-US" altLang="zh-CN" sz="2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(2) </a:t>
            </a:r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之后用户每次登陆会自动激活该默认角色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9906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设置活动角色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 ROLE NONE; </a:t>
            </a:r>
          </a:p>
          <a:p>
            <a:pPr lvl="1"/>
            <a:r>
              <a:rPr lang="zh-CN" altLang="en-US" dirty="0" smtClean="0"/>
              <a:t>设置活动角色为</a:t>
            </a:r>
            <a:r>
              <a:rPr lang="en-US" altLang="zh-CN" dirty="0" smtClean="0"/>
              <a:t>NONE</a:t>
            </a:r>
          </a:p>
          <a:p>
            <a:pPr lvl="1"/>
            <a:r>
              <a:rPr lang="zh-CN" altLang="en-US" dirty="0" smtClean="0"/>
              <a:t>可理解为关闭活动角色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en-US" altLang="zh-C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 ROLE ALL; </a:t>
            </a:r>
          </a:p>
          <a:p>
            <a:pPr lvl="1"/>
            <a:r>
              <a:rPr lang="zh-CN" altLang="en-US" dirty="0" smtClean="0"/>
              <a:t>设置活动角色为当前用户被授予的所有角色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en-US" altLang="zh-C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 ROLE DEFAULT</a:t>
            </a:r>
            <a:r>
              <a:rPr lang="en-US" altLang="zh-CN" dirty="0" smtClean="0"/>
              <a:t>; </a:t>
            </a:r>
          </a:p>
          <a:p>
            <a:pPr lvl="1"/>
            <a:r>
              <a:rPr lang="zh-CN" altLang="en-US" dirty="0" smtClean="0"/>
              <a:t>设置活动角色为由</a:t>
            </a:r>
            <a:r>
              <a:rPr lang="en-US" altLang="zh-CN" dirty="0" smtClean="0"/>
              <a:t>SET DEFAULT ROLE</a:t>
            </a:r>
            <a:r>
              <a:rPr lang="zh-CN" altLang="en-US" dirty="0" smtClean="0"/>
              <a:t>语句设置的默认角色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049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设置活动角色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289" y="1320655"/>
            <a:ext cx="6528677" cy="5456519"/>
          </a:xfrm>
        </p:spPr>
      </p:pic>
    </p:spTree>
    <p:extLst>
      <p:ext uri="{BB962C8B-B14F-4D97-AF65-F5344CB8AC3E}">
        <p14:creationId xmlns:p14="http://schemas.microsoft.com/office/powerpoint/2010/main" val="3309046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设置活动角色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275" y="1361600"/>
            <a:ext cx="6243481" cy="5496399"/>
          </a:xfrm>
        </p:spPr>
      </p:pic>
    </p:spTree>
    <p:extLst>
      <p:ext uri="{BB962C8B-B14F-4D97-AF65-F5344CB8AC3E}">
        <p14:creationId xmlns:p14="http://schemas.microsoft.com/office/powerpoint/2010/main" val="3662649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撤销角色权限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撤消角色的权限，也使用</a:t>
            </a:r>
            <a:r>
              <a:rPr lang="en-US" altLang="zh-CN" dirty="0" smtClean="0"/>
              <a:t>REVOKE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恢复权限，即重新授予权限，使用</a:t>
            </a:r>
            <a:r>
              <a:rPr lang="en-US" altLang="zh-CN" dirty="0" smtClean="0"/>
              <a:t>GRANT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删除角色，用</a:t>
            </a:r>
            <a:r>
              <a:rPr lang="en-US" altLang="zh-CN" dirty="0"/>
              <a:t>DROP </a:t>
            </a:r>
            <a:r>
              <a:rPr lang="en-US" altLang="zh-CN" dirty="0" smtClean="0"/>
              <a:t>ROLE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855" y="2296803"/>
            <a:ext cx="9351729" cy="7466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559" y="3907236"/>
            <a:ext cx="9293562" cy="7875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854" y="5490374"/>
            <a:ext cx="5308041" cy="75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393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权限从用户复制到另一用户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824" y="1388896"/>
            <a:ext cx="6415515" cy="5390051"/>
          </a:xfrm>
        </p:spPr>
      </p:pic>
    </p:spTree>
    <p:extLst>
      <p:ext uri="{BB962C8B-B14F-4D97-AF65-F5344CB8AC3E}">
        <p14:creationId xmlns:p14="http://schemas.microsoft.com/office/powerpoint/2010/main" val="24597362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删除用户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DROP USER </a:t>
            </a:r>
            <a:r>
              <a:rPr lang="en-US" altLang="zh-CN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</a:t>
            </a:r>
            <a:r>
              <a:rPr lang="en-US" altLang="zh-C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[user],...;</a:t>
            </a:r>
          </a:p>
          <a:p>
            <a:pPr lvl="1"/>
            <a:r>
              <a:rPr lang="zh-CN" altLang="en-US" dirty="0" smtClean="0"/>
              <a:t>删除一个或多个用户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如果删除不存在的用户，</a:t>
            </a:r>
            <a:r>
              <a:rPr lang="en-US" altLang="zh-CN" dirty="0" smtClean="0"/>
              <a:t>MySQL</a:t>
            </a:r>
            <a:r>
              <a:rPr lang="zh-CN" altLang="en-US" dirty="0" smtClean="0"/>
              <a:t>会报错</a:t>
            </a:r>
            <a:endParaRPr lang="en-US" altLang="zh-CN" dirty="0" smtClean="0"/>
          </a:p>
          <a:p>
            <a:r>
              <a:rPr lang="en-US" altLang="zh-C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DROP USER [IF EXISTS] user, [user],...; </a:t>
            </a:r>
          </a:p>
          <a:p>
            <a:pPr lvl="1"/>
            <a:r>
              <a:rPr lang="zh-CN" altLang="en-US" dirty="0" smtClean="0"/>
              <a:t>使用</a:t>
            </a:r>
            <a:r>
              <a:rPr lang="en-US" altLang="zh-CN" dirty="0" smtClean="0"/>
              <a:t>IF EXISTS</a:t>
            </a:r>
            <a:r>
              <a:rPr lang="zh-CN" altLang="en-US" dirty="0" smtClean="0"/>
              <a:t>子句，当删除不存在的用户时仅发出警告，而不是报错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4717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751</Words>
  <Application>Microsoft Office PowerPoint</Application>
  <PresentationFormat>宽屏</PresentationFormat>
  <Paragraphs>162</Paragraphs>
  <Slides>28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3" baseType="lpstr">
      <vt:lpstr>宋体</vt:lpstr>
      <vt:lpstr>Arial</vt:lpstr>
      <vt:lpstr>Calibri</vt:lpstr>
      <vt:lpstr>Calibri Light</vt:lpstr>
      <vt:lpstr>Office 主题</vt:lpstr>
      <vt:lpstr>MySQL 用户及权限管理</vt:lpstr>
      <vt:lpstr>内容大纲</vt:lpstr>
      <vt:lpstr>MySQL访问控制实现原理</vt:lpstr>
      <vt:lpstr>MySQL权限机制</vt:lpstr>
      <vt:lpstr>MySQL用户</vt:lpstr>
      <vt:lpstr>修改MySQL用户密码</vt:lpstr>
      <vt:lpstr>查看用户权限</vt:lpstr>
      <vt:lpstr>权限授予GRANT</vt:lpstr>
      <vt:lpstr>权限授予GRANT</vt:lpstr>
      <vt:lpstr>权限授予GRANT(实例)</vt:lpstr>
      <vt:lpstr>权限授予GRANT(实例)</vt:lpstr>
      <vt:lpstr>权限授予GRANT(实例)</vt:lpstr>
      <vt:lpstr>撤销权限Revoke</vt:lpstr>
      <vt:lpstr>撤销权限Revoke</vt:lpstr>
      <vt:lpstr>撤销权限Revoke</vt:lpstr>
      <vt:lpstr>角色</vt:lpstr>
      <vt:lpstr>角色(实例)</vt:lpstr>
      <vt:lpstr>角色(实例)</vt:lpstr>
      <vt:lpstr>角色(实例)</vt:lpstr>
      <vt:lpstr>角色(实例)</vt:lpstr>
      <vt:lpstr>角色激活</vt:lpstr>
      <vt:lpstr>设置默认角色</vt:lpstr>
      <vt:lpstr>设置活动角色</vt:lpstr>
      <vt:lpstr>设置活动角色</vt:lpstr>
      <vt:lpstr>设置活动角色</vt:lpstr>
      <vt:lpstr>撤销角色权限</vt:lpstr>
      <vt:lpstr>权限从用户复制到另一用户</vt:lpstr>
      <vt:lpstr>删除用户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访问控制</dc:title>
  <dc:creator>Administrator</dc:creator>
  <cp:lastModifiedBy>yu</cp:lastModifiedBy>
  <cp:revision>102</cp:revision>
  <dcterms:created xsi:type="dcterms:W3CDTF">2020-03-19T01:30:41Z</dcterms:created>
  <dcterms:modified xsi:type="dcterms:W3CDTF">2021-10-27T02:23:02Z</dcterms:modified>
</cp:coreProperties>
</file>